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charts/chart3.xml" ContentType="application/vnd.openxmlformats-officedocument.drawingml.chart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tags/tag10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tags/tag10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345" r:id="rId2"/>
    <p:sldId id="476" r:id="rId3"/>
    <p:sldId id="464" r:id="rId4"/>
    <p:sldId id="441" r:id="rId5"/>
    <p:sldId id="473" r:id="rId6"/>
    <p:sldId id="488" r:id="rId7"/>
    <p:sldId id="460" r:id="rId8"/>
    <p:sldId id="497" r:id="rId9"/>
    <p:sldId id="498" r:id="rId10"/>
    <p:sldId id="499" r:id="rId11"/>
    <p:sldId id="500" r:id="rId12"/>
    <p:sldId id="437" r:id="rId13"/>
    <p:sldId id="474" r:id="rId14"/>
    <p:sldId id="471" r:id="rId15"/>
    <p:sldId id="495" r:id="rId16"/>
    <p:sldId id="501" r:id="rId17"/>
    <p:sldId id="502" r:id="rId18"/>
    <p:sldId id="479" r:id="rId19"/>
    <p:sldId id="365" r:id="rId20"/>
    <p:sldId id="480" r:id="rId21"/>
    <p:sldId id="412" r:id="rId22"/>
    <p:sldId id="469" r:id="rId23"/>
    <p:sldId id="415" r:id="rId24"/>
    <p:sldId id="433" r:id="rId25"/>
    <p:sldId id="366" r:id="rId26"/>
    <p:sldId id="487" r:id="rId27"/>
    <p:sldId id="404" r:id="rId28"/>
    <p:sldId id="483" r:id="rId29"/>
    <p:sldId id="432" r:id="rId30"/>
    <p:sldId id="475" r:id="rId31"/>
    <p:sldId id="489" r:id="rId32"/>
    <p:sldId id="481" r:id="rId33"/>
    <p:sldId id="484" r:id="rId34"/>
    <p:sldId id="405" r:id="rId35"/>
    <p:sldId id="468" r:id="rId36"/>
    <p:sldId id="430" r:id="rId37"/>
    <p:sldId id="411" r:id="rId38"/>
    <p:sldId id="408" r:id="rId39"/>
    <p:sldId id="427" r:id="rId40"/>
    <p:sldId id="421" r:id="rId41"/>
    <p:sldId id="422" r:id="rId42"/>
    <p:sldId id="424" r:id="rId43"/>
    <p:sldId id="425" r:id="rId44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195121951219513E-2"/>
          <c:y val="2.9229904440697022E-2"/>
          <c:w val="0.97560975609756095"/>
          <c:h val="0.9415401911186059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</c:spPr>
          <c:invertIfNegative val="0"/>
          <c:val>
            <c:numRef>
              <c:f>Sheet1!$A$1:$E$1</c:f>
              <c:numCache>
                <c:formatCode>General</c:formatCode>
                <c:ptCount val="5"/>
                <c:pt idx="0">
                  <c:v>8633.7868781419966</c:v>
                </c:pt>
                <c:pt idx="1">
                  <c:v>11643</c:v>
                </c:pt>
                <c:pt idx="2">
                  <c:v>15776.806859268567</c:v>
                </c:pt>
                <c:pt idx="3">
                  <c:v>21753.045333544404</c:v>
                </c:pt>
                <c:pt idx="4">
                  <c:v>30514.489672349213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1A-3343-B2A0-419CA258ECA4}"/>
            </c:ext>
          </c:extLst>
        </c:ser>
        <c:ser>
          <c:idx val="1"/>
          <c:order val="1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Sheet1!$A$2:$E$2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2057.8443729480714</c:v>
                </c:pt>
                <c:pt idx="3">
                  <c:v>5304.6178601648899</c:v>
                </c:pt>
                <c:pt idx="4">
                  <c:v>10450.717388401339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1A-3343-B2A0-419CA258ECA4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val>
            <c:numRef>
              <c:f>Sheet1!$A$3:$E$3</c:f>
              <c:numCache>
                <c:formatCode>General</c:formatCode>
                <c:ptCount val="5"/>
                <c:pt idx="0">
                  <c:v>2451.552795031057</c:v>
                </c:pt>
                <c:pt idx="1">
                  <c:v>3947</c:v>
                </c:pt>
                <c:pt idx="2">
                  <c:v>3947</c:v>
                </c:pt>
                <c:pt idx="3">
                  <c:v>3947</c:v>
                </c:pt>
                <c:pt idx="4">
                  <c:v>3947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1A-3343-B2A0-419CA258ECA4}"/>
            </c:ext>
          </c:extLst>
        </c:ser>
        <c:ser>
          <c:idx val="3"/>
          <c:order val="3"/>
          <c:spPr>
            <a:solidFill>
              <a:schemeClr val="accent2"/>
            </a:solidFill>
            <a:ln>
              <a:noFill/>
            </a:ln>
          </c:spPr>
          <c:invertIfNegative val="0"/>
          <c:val>
            <c:numRef>
              <c:f>Sheet1!$A$4:$E$4</c:f>
              <c:numCache>
                <c:formatCode>General</c:formatCode>
                <c:ptCount val="5"/>
                <c:pt idx="0">
                  <c:v>3986.8852459016398</c:v>
                </c:pt>
                <c:pt idx="1">
                  <c:v>4864</c:v>
                </c:pt>
                <c:pt idx="2">
                  <c:v>5766.909677679887</c:v>
                </c:pt>
                <c:pt idx="3">
                  <c:v>6837.4274733795137</c:v>
                </c:pt>
                <c:pt idx="4">
                  <c:v>8106.6666666666642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31A-3343-B2A0-419CA258ECA4}"/>
            </c:ext>
          </c:extLst>
        </c:ser>
        <c:ser>
          <c:idx val="4"/>
          <c:order val="4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Sheet1!$A$5:$E$5</c:f>
              <c:numCache>
                <c:formatCode>General</c:formatCode>
                <c:ptCount val="5"/>
                <c:pt idx="0">
                  <c:v>2195.3488372093034</c:v>
                </c:pt>
                <c:pt idx="1">
                  <c:v>2832</c:v>
                </c:pt>
                <c:pt idx="2">
                  <c:v>4005.0528086406048</c:v>
                </c:pt>
                <c:pt idx="3">
                  <c:v>5664</c:v>
                </c:pt>
                <c:pt idx="4">
                  <c:v>8010.1056172812096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31A-3343-B2A0-419CA258EC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32353456"/>
        <c:axId val="1"/>
      </c:barChart>
      <c:catAx>
        <c:axId val="53235345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1028.979344698426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53235345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78.599999999999994</c:v>
              </c:pt>
              <c:pt idx="1">
                <c:v>196.5</c:v>
              </c:pt>
              <c:pt idx="2">
                <c:v>275.2</c:v>
              </c:pt>
              <c:pt idx="3">
                <c:v>275.10000000000002</c:v>
              </c:pt>
              <c:pt idx="4">
                <c:v>275.2</c:v>
              </c:pt>
              <c:pt idx="5">
                <c:v>275.2</c:v>
              </c:pt>
              <c:pt idx="6">
                <c:v>275.2</c:v>
              </c:pt>
              <c:pt idx="7">
                <c:v>314.39999999999998</c:v>
              </c:pt>
              <c:pt idx="8">
                <c:v>314.39999999999998</c:v>
              </c:pt>
              <c:pt idx="9">
                <c:v>432.4</c:v>
              </c:pt>
              <c:pt idx="10">
                <c:v>550.29999999999995</c:v>
              </c:pt>
              <c:pt idx="11">
                <c:v>668.3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57</c:v>
              </c:pt>
              <c:pt idx="1">
                <c:v>142.5</c:v>
              </c:pt>
              <c:pt idx="2">
                <c:v>199.5</c:v>
              </c:pt>
              <c:pt idx="3">
                <c:v>199.5</c:v>
              </c:pt>
              <c:pt idx="4">
                <c:v>199.5</c:v>
              </c:pt>
              <c:pt idx="5">
                <c:v>199.5</c:v>
              </c:pt>
              <c:pt idx="6">
                <c:v>199.5</c:v>
              </c:pt>
              <c:pt idx="7">
                <c:v>228</c:v>
              </c:pt>
              <c:pt idx="8">
                <c:v>228</c:v>
              </c:pt>
              <c:pt idx="9">
                <c:v>313.60000000000002</c:v>
              </c:pt>
              <c:pt idx="10">
                <c:v>399.1</c:v>
              </c:pt>
              <c:pt idx="11">
                <c:v>484.6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289.60000000000002</c:v>
              </c:pt>
              <c:pt idx="1">
                <c:v>723.9</c:v>
              </c:pt>
              <c:pt idx="2">
                <c:v>1013.4</c:v>
              </c:pt>
              <c:pt idx="3">
                <c:v>1013.4</c:v>
              </c:pt>
              <c:pt idx="4">
                <c:v>1013.4</c:v>
              </c:pt>
              <c:pt idx="5">
                <c:v>1013.4</c:v>
              </c:pt>
              <c:pt idx="6">
                <c:v>1013.4</c:v>
              </c:pt>
              <c:pt idx="7">
                <c:v>1158.2</c:v>
              </c:pt>
              <c:pt idx="8">
                <c:v>1158.2</c:v>
              </c:pt>
              <c:pt idx="9">
                <c:v>1592.5</c:v>
              </c:pt>
              <c:pt idx="10">
                <c:v>2026.9</c:v>
              </c:pt>
              <c:pt idx="11">
                <c:v>2461.1999999999998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12948.09</c:v>
              </c:pt>
              <c:pt idx="2">
                <c:v>13798.3</c:v>
              </c:pt>
              <c:pt idx="3">
                <c:v>14334.86</c:v>
              </c:pt>
              <c:pt idx="4">
                <c:v>14780.29</c:v>
              </c:pt>
              <c:pt idx="5">
                <c:v>14993.59</c:v>
              </c:pt>
              <c:pt idx="6">
                <c:v>14477.58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6">
                <c:v>578.33000000000004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12948.09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12 948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7CD-6C49-8B92-091A89458B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7CD-6C49-8B92-091A89458B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7CD-6C49-8B92-091A89458B1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7CD-6C49-8B92-091A89458B1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7CD-6C49-8B92-091A89458B1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47CD-6C49-8B92-091A89458B1F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−578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47CD-6C49-8B92-091A89458B1F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47CD-6C49-8B92-091A89458B1F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10323.450000000001</c:v>
              </c:pt>
              <c:pt idx="2">
                <c:v>11824.28</c:v>
              </c:pt>
              <c:pt idx="3">
                <c:v>13309.03</c:v>
              </c:pt>
              <c:pt idx="4">
                <c:v>13922.03</c:v>
              </c:pt>
              <c:pt idx="5">
                <c:v>14179.68</c:v>
              </c:pt>
              <c:pt idx="6">
                <c:v>14392.98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1500.83</c:v>
              </c:pt>
              <c:pt idx="2">
                <c:v>1484.75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10323.450000000001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10 323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AD27-D940-853A-020BFC05B7F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D27-D940-853A-020BFC05B7F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AD27-D940-853A-020BFC05B7F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AD27-D940-853A-020BFC05B7F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D27-D940-853A-020BFC05B7F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D27-D940-853A-020BFC05B7F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D27-D940-853A-020BFC05B7F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AD27-D940-853A-020BFC05B7F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10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72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8084.69</c:v>
              </c:pt>
              <c:pt idx="2">
                <c:v>9585.52</c:v>
              </c:pt>
              <c:pt idx="3">
                <c:v>11070.27</c:v>
              </c:pt>
              <c:pt idx="4">
                <c:v>11190.93</c:v>
              </c:pt>
              <c:pt idx="5">
                <c:v>10874.64</c:v>
              </c:pt>
              <c:pt idx="6">
                <c:v>10841.14</c:v>
              </c:pt>
              <c:pt idx="7">
                <c:v>10823.46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1484.75</c:v>
              </c:pt>
              <c:pt idx="3">
                <c:v>1168.56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1047.9000000000001</c:v>
              </c:pt>
              <c:pt idx="5">
                <c:v>316.29000000000002</c:v>
              </c:pt>
              <c:pt idx="6">
                <c:v>33.5</c:v>
              </c:pt>
              <c:pt idx="7">
                <c:v>17.68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8084.69</c:v>
              </c:pt>
              <c:pt idx="8">
                <c:v>10823.45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8 085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FA9-234B-8AE8-E9A014A8A0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FA9-234B-8AE8-E9A014A8A0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FA9-234B-8AE8-E9A014A8A0C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+1 169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FA9-234B-8AE8-E9A014A8A0C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−1 048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FA9-234B-8AE8-E9A014A8A0C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FA9-234B-8AE8-E9A014A8A0C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FA9-234B-8AE8-E9A014A8A0C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6FA9-234B-8AE8-E9A014A8A0C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10 823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6FA9-234B-8AE8-E9A014A8A0C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16.10.2026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69.xml"/><Relationship Id="rId18" Type="http://schemas.openxmlformats.org/officeDocument/2006/relationships/tags" Target="../tags/tag74.xml"/><Relationship Id="rId26" Type="http://schemas.openxmlformats.org/officeDocument/2006/relationships/tags" Target="../tags/tag82.xml"/><Relationship Id="rId39" Type="http://schemas.openxmlformats.org/officeDocument/2006/relationships/tags" Target="../tags/tag95.xml"/><Relationship Id="rId21" Type="http://schemas.openxmlformats.org/officeDocument/2006/relationships/tags" Target="../tags/tag77.xml"/><Relationship Id="rId34" Type="http://schemas.openxmlformats.org/officeDocument/2006/relationships/tags" Target="../tags/tag90.xml"/><Relationship Id="rId42" Type="http://schemas.openxmlformats.org/officeDocument/2006/relationships/oleObject" Target="../embeddings/oleObject6.bin"/><Relationship Id="rId7" Type="http://schemas.openxmlformats.org/officeDocument/2006/relationships/tags" Target="../tags/tag63.xml"/><Relationship Id="rId2" Type="http://schemas.openxmlformats.org/officeDocument/2006/relationships/tags" Target="../tags/tag58.xml"/><Relationship Id="rId16" Type="http://schemas.openxmlformats.org/officeDocument/2006/relationships/tags" Target="../tags/tag72.xml"/><Relationship Id="rId20" Type="http://schemas.openxmlformats.org/officeDocument/2006/relationships/tags" Target="../tags/tag76.xml"/><Relationship Id="rId29" Type="http://schemas.openxmlformats.org/officeDocument/2006/relationships/tags" Target="../tags/tag85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24" Type="http://schemas.openxmlformats.org/officeDocument/2006/relationships/tags" Target="../tags/tag80.xml"/><Relationship Id="rId32" Type="http://schemas.openxmlformats.org/officeDocument/2006/relationships/tags" Target="../tags/tag88.xml"/><Relationship Id="rId37" Type="http://schemas.openxmlformats.org/officeDocument/2006/relationships/tags" Target="../tags/tag93.xml"/><Relationship Id="rId40" Type="http://schemas.openxmlformats.org/officeDocument/2006/relationships/tags" Target="../tags/tag96.xml"/><Relationship Id="rId5" Type="http://schemas.openxmlformats.org/officeDocument/2006/relationships/tags" Target="../tags/tag61.xml"/><Relationship Id="rId15" Type="http://schemas.openxmlformats.org/officeDocument/2006/relationships/tags" Target="../tags/tag71.xml"/><Relationship Id="rId23" Type="http://schemas.openxmlformats.org/officeDocument/2006/relationships/tags" Target="../tags/tag79.xml"/><Relationship Id="rId28" Type="http://schemas.openxmlformats.org/officeDocument/2006/relationships/tags" Target="../tags/tag84.xml"/><Relationship Id="rId36" Type="http://schemas.openxmlformats.org/officeDocument/2006/relationships/tags" Target="../tags/tag92.xml"/><Relationship Id="rId10" Type="http://schemas.openxmlformats.org/officeDocument/2006/relationships/tags" Target="../tags/tag66.xml"/><Relationship Id="rId19" Type="http://schemas.openxmlformats.org/officeDocument/2006/relationships/tags" Target="../tags/tag75.xml"/><Relationship Id="rId31" Type="http://schemas.openxmlformats.org/officeDocument/2006/relationships/tags" Target="../tags/tag87.xml"/><Relationship Id="rId44" Type="http://schemas.openxmlformats.org/officeDocument/2006/relationships/chart" Target="../charts/chart3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tags" Target="../tags/tag70.xml"/><Relationship Id="rId22" Type="http://schemas.openxmlformats.org/officeDocument/2006/relationships/tags" Target="../tags/tag78.xml"/><Relationship Id="rId27" Type="http://schemas.openxmlformats.org/officeDocument/2006/relationships/tags" Target="../tags/tag83.xml"/><Relationship Id="rId30" Type="http://schemas.openxmlformats.org/officeDocument/2006/relationships/tags" Target="../tags/tag86.xml"/><Relationship Id="rId35" Type="http://schemas.openxmlformats.org/officeDocument/2006/relationships/tags" Target="../tags/tag91.xml"/><Relationship Id="rId43" Type="http://schemas.openxmlformats.org/officeDocument/2006/relationships/image" Target="../media/image8.emf"/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12" Type="http://schemas.openxmlformats.org/officeDocument/2006/relationships/tags" Target="../tags/tag68.xml"/><Relationship Id="rId17" Type="http://schemas.openxmlformats.org/officeDocument/2006/relationships/tags" Target="../tags/tag73.xml"/><Relationship Id="rId25" Type="http://schemas.openxmlformats.org/officeDocument/2006/relationships/tags" Target="../tags/tag81.xml"/><Relationship Id="rId33" Type="http://schemas.openxmlformats.org/officeDocument/2006/relationships/tags" Target="../tags/tag89.xml"/><Relationship Id="rId38" Type="http://schemas.openxmlformats.org/officeDocument/2006/relationships/tags" Target="../tags/tag9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7.xml"/><Relationship Id="rId4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8.x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</a:t>
            </a:r>
            <a:r>
              <a:rPr lang="en-US" dirty="0"/>
              <a:t>ADS</a:t>
            </a:r>
            <a:r>
              <a:rPr lang="ru-RU" dirty="0"/>
              <a:t>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14 478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10 823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+34%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9 673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+11%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+40%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1 529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1 415 млн руб.</a:t>
            </a:r>
            <a:r>
              <a:rPr lang="ru-RU" sz="1400" dirty="0">
                <a:solidFill>
                  <a:srgbClr val="000000"/>
                </a:solidFill>
              </a:rPr>
              <a:t> (+63%); 71%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9 673 млн руб.</a:t>
            </a:r>
            <a:r>
              <a:rPr lang="ru-RU" sz="1400" dirty="0">
                <a:solidFill>
                  <a:srgbClr val="000000"/>
                </a:solidFill>
              </a:rPr>
              <a:t> — на 962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900" noProof="1">
                <a:solidFill>
                  <a:srgbClr val="6E6E6E"/>
                </a:solidFill>
              </a:rPr>
              <a:t>Revenue </a:t>
            </a:r>
            <a:r>
              <a:rPr lang="ru-RU" sz="900" noProof="1">
                <a:solidFill>
                  <a:srgbClr val="6E6E6E"/>
                </a:solidFill>
              </a:rPr>
              <a:t>(</a:t>
            </a:r>
            <a:r>
              <a:rPr lang="en-US" sz="900" noProof="1">
                <a:solidFill>
                  <a:srgbClr val="6E6E6E"/>
                </a:solidFill>
              </a:rPr>
              <a:t>incr</a:t>
            </a:r>
            <a:r>
              <a:rPr lang="en-US" noProof="1">
                <a:solidFill>
                  <a:srgbClr val="6E6E6E"/>
                </a:solidFill>
              </a:rPr>
              <a:t>ease)</a:t>
            </a:r>
            <a:r>
              <a:rPr lang="en-US" sz="900" noProof="1">
                <a:solidFill>
                  <a:srgbClr val="6E6E6E"/>
                </a:solidFill>
              </a:rPr>
              <a:t> </a:t>
            </a:r>
            <a:r>
              <a:rPr lang="ru-RU" sz="900" dirty="0">
                <a:solidFill>
                  <a:srgbClr val="6E6E6E"/>
                </a:solidFill>
              </a:rPr>
              <a:t>— </a:t>
            </a:r>
            <a:r>
              <a:rPr lang="ru-RU" dirty="0">
                <a:solidFill>
                  <a:srgbClr val="6E6E6E"/>
                </a:solidFill>
              </a:rPr>
              <a:t>дополнительная выручка </a:t>
            </a:r>
            <a:r>
              <a:rPr lang="en-US" dirty="0">
                <a:solidFill>
                  <a:srgbClr val="6E6E6E"/>
                </a:solidFill>
              </a:rPr>
              <a:t>vs 2026FC8+4. </a:t>
            </a:r>
            <a:r>
              <a:rPr lang="ru-RU" sz="900" dirty="0">
                <a:solidFill>
                  <a:srgbClr val="6E6E6E"/>
                </a:solidFill>
              </a:rPr>
              <a:t>Млн руб. без НДС.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top-down targets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таргеты,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Выручка: </a:t>
            </a:r>
            <a:r>
              <a:rPr lang="ru-RU" sz="1400" dirty="0">
                <a:solidFill>
                  <a:srgbClr val="000000"/>
                </a:solidFill>
              </a:rPr>
              <a:t>инкрементальная выручка </a:t>
            </a:r>
            <a:r>
              <a:rPr lang="ru-RU" sz="1400" b="1" dirty="0">
                <a:solidFill>
                  <a:srgbClr val="000000"/>
                </a:solidFill>
              </a:rPr>
              <a:t>4 154 млн руб.</a:t>
            </a:r>
            <a:r>
              <a:rPr lang="ru-RU" sz="1400" dirty="0">
                <a:solidFill>
                  <a:srgbClr val="000000"/>
                </a:solidFill>
              </a:rPr>
              <a:t> — на 675 млн руб. (+19%)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EBITDA: 500 млн руб.</a:t>
            </a:r>
            <a:r>
              <a:rPr lang="ru-RU" sz="1400" dirty="0">
                <a:solidFill>
                  <a:srgbClr val="000000"/>
                </a:solidFill>
              </a:rPr>
              <a:t> — на уровне стратегии (+15) и на 2 000 млн руб. выше таргета (−1 500)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CAPEX: 1 151 млн руб.</a:t>
            </a:r>
            <a:r>
              <a:rPr lang="ru-RU" sz="1400" dirty="0">
                <a:solidFill>
                  <a:srgbClr val="000000"/>
                </a:solidFill>
              </a:rPr>
              <a:t> — ниже стратегии на 92 (−7%) и таргета на 151 (−12%)</a:t>
            </a:r>
          </a:p>
        </p:txBody>
      </p:sp>
      <p:graphicFrame>
        <p:nvGraphicFramePr>
          <p:cNvPr id="200" name="BU vs Targ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34902"/>
              </p:ext>
            </p:extLst>
          </p:nvPr>
        </p:nvGraphicFramePr>
        <p:xfrm>
          <a:off x="368299" y="1574800"/>
          <a:ext cx="7810502" cy="3708400"/>
        </p:xfrm>
        <a:graphic>
          <a:graphicData uri="http://schemas.openxmlformats.org/drawingml/2006/table">
            <a:tbl>
              <a:tblPr firstRow="1"/>
              <a:tblGrid>
                <a:gridCol w="1340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0109">
                  <a:extLst>
                    <a:ext uri="{9D8B030D-6E8A-4147-A177-3AD203B41FA5}">
                      <a16:colId xmlns:a16="http://schemas.microsoft.com/office/drawing/2014/main" val="1974067606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Показатель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Стратегия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Таргеты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Бюджет 2027 (</a:t>
                      </a:r>
                      <a:r>
                        <a:rPr lang="en-US" sz="1100" b="1" dirty="0">
                          <a:solidFill>
                            <a:srgbClr val="6E6E6E"/>
                          </a:solidFill>
                        </a:rPr>
                        <a:t>AdTech)</a:t>
                      </a:r>
                      <a:endParaRPr lang="ru-RU" sz="1100" b="1" dirty="0">
                        <a:solidFill>
                          <a:srgbClr val="6E6E6E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Стрейч форматов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стратегии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таргетам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 err="1">
                          <a:solidFill>
                            <a:srgbClr val="000000"/>
                          </a:solidFill>
                        </a:rPr>
                        <a:t>Revenue</a:t>
                      </a:r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(increase)</a:t>
                      </a:r>
                      <a:endParaRPr lang="ru-RU" sz="1200" b="1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3 479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4 154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+675 (+19%)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EBITDA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485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−1 500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-2 000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+15 (+3%)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CAPEX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1 242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1 302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1 151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−92 (−7%)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−151 (−12%)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531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</a:t>
            </a:r>
            <a:r>
              <a:rPr lang="en-US" dirty="0"/>
              <a:t>Magnit ADS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>
                <a:solidFill>
                  <a:srgbClr val="6E6E6E"/>
                </a:solidFill>
              </a:rPr>
              <a:t>Magnit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Magnit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Magnit ADS,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</a:t>
            </a:r>
            <a:r>
              <a:rPr lang="ru-RU" dirty="0" err="1">
                <a:solidFill>
                  <a:srgbClr val="6E6E6E"/>
                </a:solidFill>
              </a:rPr>
              <a:t>AdTech</a:t>
            </a:r>
            <a:r>
              <a:rPr lang="ru-RU" dirty="0">
                <a:solidFill>
                  <a:srgbClr val="6E6E6E"/>
                </a:solidFill>
              </a:rPr>
              <a:t>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Magnit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3 931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+61%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213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13 414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1 064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40%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  <a:r>
              <a:rPr lang="ru-RU" sz="1400" dirty="0">
                <a:solidFill>
                  <a:srgbClr val="000000"/>
                </a:solidFill>
              </a:rPr>
              <a:t> (+40%)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think-cell data - do not delete" hidden="1">
            <a:extLst>
              <a:ext uri="{FF2B5EF4-FFF2-40B4-BE49-F238E27FC236}">
                <a16:creationId xmlns:a16="http://schemas.microsoft.com/office/drawing/2014/main" id="{4910A7A2-3A49-6B6B-FA02-CFB97075C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15430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2" imgW="7772400" imgH="10058400" progId="TCLayout.ActiveDocument.1">
                  <p:embed/>
                </p:oleObj>
              </mc:Choice>
              <mc:Fallback>
                <p:oleObj name="Слайд think-cell" r:id="rId42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1. </a:t>
            </a:r>
            <a:r>
              <a:rPr dirty="0" err="1">
                <a:solidFill>
                  <a:srgbClr val="6E6E6E"/>
                </a:solidFill>
              </a:rPr>
              <a:t>Доля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коммерческом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инвентаре</a:t>
            </a:r>
            <a:r>
              <a:rPr dirty="0">
                <a:solidFill>
                  <a:srgbClr val="6E6E6E"/>
                </a:solidFill>
              </a:rPr>
              <a:t> AdTech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учетом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эффекта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платформы</a:t>
            </a:r>
            <a:r>
              <a:rPr dirty="0">
                <a:solidFill>
                  <a:srgbClr val="6E6E6E"/>
                </a:solidFill>
              </a:rPr>
              <a:t>. 2026-2027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бюджет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рекламной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выручки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трейд-бюджетов</a:t>
            </a:r>
            <a:r>
              <a:rPr dirty="0">
                <a:solidFill>
                  <a:srgbClr val="6E6E6E"/>
                </a:solidFill>
              </a:rPr>
              <a:t> (APP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in-store), 2028-2030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модель</a:t>
            </a:r>
            <a:r>
              <a:rPr dirty="0">
                <a:solidFill>
                  <a:srgbClr val="6E6E6E"/>
                </a:solidFill>
              </a:rPr>
              <a:t>; </a:t>
            </a:r>
            <a:r>
              <a:rPr dirty="0" err="1">
                <a:solidFill>
                  <a:srgbClr val="6E6E6E"/>
                </a:solidFill>
              </a:rPr>
              <a:t>без</a:t>
            </a:r>
            <a:r>
              <a:rPr dirty="0">
                <a:solidFill>
                  <a:srgbClr val="6E6E6E"/>
                </a:solidFill>
              </a:rPr>
              <a:t> RMN, UGC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DMP + Online. </a:t>
            </a:r>
            <a:r>
              <a:rPr dirty="0" err="1">
                <a:solidFill>
                  <a:srgbClr val="6E6E6E"/>
                </a:solidFill>
              </a:rPr>
              <a:t>Капасити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денежная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емкость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инвентаря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коммерческая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часть</a:t>
            </a:r>
            <a:r>
              <a:rPr dirty="0">
                <a:solidFill>
                  <a:srgbClr val="6E6E6E"/>
                </a:solidFill>
              </a:rPr>
              <a:t> AdTech + </a:t>
            </a:r>
            <a:r>
              <a:rPr dirty="0" err="1">
                <a:solidFill>
                  <a:srgbClr val="6E6E6E"/>
                </a:solidFill>
              </a:rPr>
              <a:t>квота</a:t>
            </a:r>
            <a:r>
              <a:rPr dirty="0">
                <a:solidFill>
                  <a:srgbClr val="6E6E6E"/>
                </a:solidFill>
              </a:rPr>
              <a:t> 50% </a:t>
            </a:r>
            <a:r>
              <a:rPr dirty="0" err="1">
                <a:solidFill>
                  <a:srgbClr val="6E6E6E"/>
                </a:solidFill>
              </a:rPr>
              <a:t>внутренних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заказчиков</a:t>
            </a:r>
            <a:r>
              <a:rPr dirty="0">
                <a:solidFill>
                  <a:srgbClr val="6E6E6E"/>
                </a:solidFill>
              </a:rPr>
              <a:t>. 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 err="1"/>
              <a:t>Капасити</a:t>
            </a:r>
            <a:r>
              <a:rPr dirty="0"/>
              <a:t> </a:t>
            </a:r>
            <a:r>
              <a:rPr dirty="0" err="1"/>
              <a:t>инвентаря</a:t>
            </a:r>
            <a:r>
              <a:rPr dirty="0"/>
              <a:t> </a:t>
            </a:r>
            <a:r>
              <a:rPr dirty="0" err="1"/>
              <a:t>вырастет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3,5 </a:t>
            </a:r>
            <a:r>
              <a:rPr dirty="0" err="1"/>
              <a:t>раза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~61 </a:t>
            </a:r>
            <a:r>
              <a:rPr dirty="0" err="1"/>
              <a:t>млрд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 </a:t>
            </a:r>
            <a:r>
              <a:rPr dirty="0" err="1"/>
              <a:t>к</a:t>
            </a:r>
            <a:r>
              <a:rPr dirty="0"/>
              <a:t> 2030 </a:t>
            </a:r>
            <a:r>
              <a:rPr dirty="0" err="1"/>
              <a:t>г</a:t>
            </a:r>
            <a:r>
              <a:rPr dirty="0"/>
              <a:t>. </a:t>
            </a:r>
            <a:br>
              <a:rPr lang="en-US" dirty="0"/>
            </a:b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росте</a:t>
            </a:r>
            <a:r>
              <a:rPr dirty="0"/>
              <a:t> online GMV, DAC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эффективности</a:t>
            </a:r>
            <a:r>
              <a:rPr dirty="0"/>
              <a:t> </a:t>
            </a:r>
            <a:r>
              <a:rPr dirty="0" err="1"/>
              <a:t>платформы</a:t>
            </a:r>
            <a:endParaRPr dirty="0"/>
          </a:p>
        </p:txBody>
      </p:sp>
      <p:sp>
        <p:nvSpPr>
          <p:cNvPr id="5" name="ADS bar 5"/>
          <p:cNvSpPr/>
          <p:nvPr/>
        </p:nvSpPr>
        <p:spPr>
          <a:xfrm>
            <a:off x="365760" y="1005840"/>
            <a:ext cx="8138160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Капасити рекламного инвентаря Магнита, млрд руб.</a:t>
            </a:r>
          </a:p>
        </p:txBody>
      </p:sp>
      <p:sp>
        <p:nvSpPr>
          <p:cNvPr id="6" name="ADS bar 6"/>
          <p:cNvSpPr/>
          <p:nvPr/>
        </p:nvSpPr>
        <p:spPr>
          <a:xfrm>
            <a:off x="8677656" y="1005840"/>
            <a:ext cx="3145536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Комментарии</a:t>
            </a:r>
          </a:p>
        </p:txBody>
      </p:sp>
      <p:sp>
        <p:nvSpPr>
          <p:cNvPr id="10" name="ADS label 10"/>
          <p:cNvSpPr txBox="1"/>
          <p:nvPr/>
        </p:nvSpPr>
        <p:spPr>
          <a:xfrm>
            <a:off x="1955352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2026</a:t>
            </a:r>
            <a:endParaRPr lang="ru-RU" sz="1200" dirty="0"/>
          </a:p>
        </p:txBody>
      </p:sp>
      <p:sp>
        <p:nvSpPr>
          <p:cNvPr id="11" name="ADS label 11"/>
          <p:cNvSpPr txBox="1"/>
          <p:nvPr/>
        </p:nvSpPr>
        <p:spPr>
          <a:xfrm>
            <a:off x="1955352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3263676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2027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3263676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572000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2028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4572000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5880323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2029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880323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7188647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2030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7188647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47" name="ADS line 47"/>
          <p:cNvSpPr/>
          <p:nvPr/>
        </p:nvSpPr>
        <p:spPr>
          <a:xfrm>
            <a:off x="365760" y="4992166"/>
            <a:ext cx="813816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8" name="ADS label 48"/>
          <p:cNvSpPr txBox="1"/>
          <p:nvPr/>
        </p:nvSpPr>
        <p:spPr>
          <a:xfrm>
            <a:off x="365760" y="504703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Online GMV, млрд руб.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1955352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250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3263676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354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4572000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500</a:t>
            </a:r>
            <a:endParaRPr lang="ru-RU" sz="1200" dirty="0"/>
          </a:p>
        </p:txBody>
      </p:sp>
      <p:sp>
        <p:nvSpPr>
          <p:cNvPr id="52" name="ADS label 52"/>
          <p:cNvSpPr txBox="1"/>
          <p:nvPr/>
        </p:nvSpPr>
        <p:spPr>
          <a:xfrm>
            <a:off x="5880323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707</a:t>
            </a:r>
            <a:endParaRPr lang="ru-RU" sz="1200" dirty="0"/>
          </a:p>
        </p:txBody>
      </p:sp>
      <p:sp>
        <p:nvSpPr>
          <p:cNvPr id="53" name="ADS label 53"/>
          <p:cNvSpPr txBox="1"/>
          <p:nvPr/>
        </p:nvSpPr>
        <p:spPr>
          <a:xfrm>
            <a:off x="7188647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1 000</a:t>
            </a:r>
            <a:endParaRPr lang="ru-RU" sz="1200" dirty="0"/>
          </a:p>
        </p:txBody>
      </p:sp>
      <p:sp>
        <p:nvSpPr>
          <p:cNvPr id="54" name="ADS label 54"/>
          <p:cNvSpPr txBox="1"/>
          <p:nvPr/>
        </p:nvSpPr>
        <p:spPr>
          <a:xfrm>
            <a:off x="365760" y="526648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DAC, млн</a:t>
            </a:r>
            <a:endParaRPr lang="ru-RU" sz="1200" dirty="0"/>
          </a:p>
        </p:txBody>
      </p:sp>
      <p:sp>
        <p:nvSpPr>
          <p:cNvPr id="55" name="ADS label 55"/>
          <p:cNvSpPr txBox="1"/>
          <p:nvPr/>
        </p:nvSpPr>
        <p:spPr>
          <a:xfrm>
            <a:off x="1955352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</a:t>
            </a:r>
            <a:endParaRPr lang="ru-RU" sz="1200" dirty="0"/>
          </a:p>
        </p:txBody>
      </p:sp>
      <p:sp>
        <p:nvSpPr>
          <p:cNvPr id="56" name="ADS label 56"/>
          <p:cNvSpPr txBox="1"/>
          <p:nvPr/>
        </p:nvSpPr>
        <p:spPr>
          <a:xfrm>
            <a:off x="3263676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30</a:t>
            </a:r>
            <a:endParaRPr lang="ru-RU" sz="1200" dirty="0"/>
          </a:p>
        </p:txBody>
      </p:sp>
      <p:sp>
        <p:nvSpPr>
          <p:cNvPr id="57" name="ADS label 57"/>
          <p:cNvSpPr txBox="1"/>
          <p:nvPr/>
        </p:nvSpPr>
        <p:spPr>
          <a:xfrm>
            <a:off x="4572000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36</a:t>
            </a:r>
            <a:endParaRPr lang="ru-RU" sz="1200" dirty="0"/>
          </a:p>
        </p:txBody>
      </p:sp>
      <p:sp>
        <p:nvSpPr>
          <p:cNvPr id="58" name="ADS label 58"/>
          <p:cNvSpPr txBox="1"/>
          <p:nvPr/>
        </p:nvSpPr>
        <p:spPr>
          <a:xfrm>
            <a:off x="5880323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42</a:t>
            </a:r>
            <a:endParaRPr lang="ru-RU" sz="1200" dirty="0"/>
          </a:p>
        </p:txBody>
      </p:sp>
      <p:sp>
        <p:nvSpPr>
          <p:cNvPr id="59" name="ADS label 59"/>
          <p:cNvSpPr txBox="1"/>
          <p:nvPr/>
        </p:nvSpPr>
        <p:spPr>
          <a:xfrm>
            <a:off x="7188647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50</a:t>
            </a:r>
            <a:endParaRPr lang="ru-RU" sz="1200" dirty="0"/>
          </a:p>
        </p:txBody>
      </p:sp>
      <p:sp>
        <p:nvSpPr>
          <p:cNvPr id="60" name="ADS label 60"/>
          <p:cNvSpPr txBox="1"/>
          <p:nvPr/>
        </p:nvSpPr>
        <p:spPr>
          <a:xfrm>
            <a:off x="365760" y="548594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Индекс эффективности</a:t>
            </a:r>
            <a:endParaRPr lang="ru-RU" sz="1200" dirty="0"/>
          </a:p>
        </p:txBody>
      </p:sp>
      <p:sp>
        <p:nvSpPr>
          <p:cNvPr id="61" name="ADS label 61"/>
          <p:cNvSpPr txBox="1"/>
          <p:nvPr/>
        </p:nvSpPr>
        <p:spPr>
          <a:xfrm>
            <a:off x="1955352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2" name="ADS label 62"/>
          <p:cNvSpPr txBox="1"/>
          <p:nvPr/>
        </p:nvSpPr>
        <p:spPr>
          <a:xfrm>
            <a:off x="3263676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3" name="ADS label 63"/>
          <p:cNvSpPr txBox="1"/>
          <p:nvPr/>
        </p:nvSpPr>
        <p:spPr>
          <a:xfrm>
            <a:off x="4572000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1,15</a:t>
            </a:r>
            <a:endParaRPr lang="ru-RU" sz="1200" dirty="0"/>
          </a:p>
        </p:txBody>
      </p:sp>
      <p:sp>
        <p:nvSpPr>
          <p:cNvPr id="64" name="ADS label 64"/>
          <p:cNvSpPr txBox="1"/>
          <p:nvPr/>
        </p:nvSpPr>
        <p:spPr>
          <a:xfrm>
            <a:off x="5880323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1,32</a:t>
            </a:r>
            <a:endParaRPr lang="ru-RU" sz="1200" dirty="0"/>
          </a:p>
        </p:txBody>
      </p:sp>
      <p:sp>
        <p:nvSpPr>
          <p:cNvPr id="65" name="ADS label 65"/>
          <p:cNvSpPr txBox="1"/>
          <p:nvPr/>
        </p:nvSpPr>
        <p:spPr>
          <a:xfrm>
            <a:off x="7188647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1,52</a:t>
            </a:r>
            <a:endParaRPr lang="ru-RU" sz="1200" dirty="0"/>
          </a:p>
        </p:txBody>
      </p:sp>
      <p:sp>
        <p:nvSpPr>
          <p:cNvPr id="66" name="ADS label 66"/>
          <p:cNvSpPr txBox="1"/>
          <p:nvPr/>
        </p:nvSpPr>
        <p:spPr>
          <a:xfrm>
            <a:off x="365760" y="5705398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Доля перформанса¹</a:t>
            </a:r>
            <a:endParaRPr lang="ru-RU" sz="1200" dirty="0"/>
          </a:p>
        </p:txBody>
      </p:sp>
      <p:sp>
        <p:nvSpPr>
          <p:cNvPr id="67" name="ADS label 67"/>
          <p:cNvSpPr txBox="1"/>
          <p:nvPr/>
        </p:nvSpPr>
        <p:spPr>
          <a:xfrm>
            <a:off x="1955352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25%</a:t>
            </a:r>
            <a:endParaRPr lang="ru-RU" sz="1200" dirty="0"/>
          </a:p>
        </p:txBody>
      </p:sp>
      <p:sp>
        <p:nvSpPr>
          <p:cNvPr id="68" name="ADS label 68"/>
          <p:cNvSpPr txBox="1"/>
          <p:nvPr/>
        </p:nvSpPr>
        <p:spPr>
          <a:xfrm>
            <a:off x="3263676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24%</a:t>
            </a:r>
            <a:endParaRPr lang="ru-RU" sz="1200" dirty="0"/>
          </a:p>
        </p:txBody>
      </p:sp>
      <p:sp>
        <p:nvSpPr>
          <p:cNvPr id="69" name="ADS label 69"/>
          <p:cNvSpPr txBox="1"/>
          <p:nvPr/>
        </p:nvSpPr>
        <p:spPr>
          <a:xfrm>
            <a:off x="4572000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29%</a:t>
            </a:r>
            <a:endParaRPr lang="ru-RU" sz="1200" dirty="0"/>
          </a:p>
        </p:txBody>
      </p:sp>
      <p:sp>
        <p:nvSpPr>
          <p:cNvPr id="70" name="ADS label 70"/>
          <p:cNvSpPr txBox="1"/>
          <p:nvPr/>
        </p:nvSpPr>
        <p:spPr>
          <a:xfrm>
            <a:off x="5880323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34%</a:t>
            </a:r>
            <a:endParaRPr lang="ru-RU" sz="1200" dirty="0"/>
          </a:p>
        </p:txBody>
      </p:sp>
      <p:sp>
        <p:nvSpPr>
          <p:cNvPr id="71" name="ADS label 71"/>
          <p:cNvSpPr txBox="1"/>
          <p:nvPr/>
        </p:nvSpPr>
        <p:spPr>
          <a:xfrm>
            <a:off x="7188647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40%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8677656" y="1481328"/>
            <a:ext cx="3145536" cy="448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Капасити x3,5: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с 17,3 до ~61 млрд руб. к 2030 г., половина - квота марком под задачи Магнита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Перформанс - главный драйвер: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online GMV растет с ~250 млрд до 1 трлн руб. (CAGR ~41%), доля перформанса в коммерческом инвентаре - с 25% до 40%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Медиа растет вместе с DAC: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25 млн сейчас, 30 млн в 2027 г. и 50 млн к 2030 г.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+10-20% эффективности в год: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аукцион, пропускная способность трафика, ниже порог входа и весь инвентарь на одной платформе. Диапазон капасити 2030 г. - 53-69 млрд руб.</a:t>
            </a:r>
            <a:endParaRPr lang="ru-RU" sz="1200" dirty="0"/>
          </a:p>
        </p:txBody>
      </p:sp>
      <p:graphicFrame>
        <p:nvGraphicFramePr>
          <p:cNvPr id="233" name="Chart 3">
            <a:extLst>
              <a:ext uri="{FF2B5EF4-FFF2-40B4-BE49-F238E27FC236}">
                <a16:creationId xmlns:a16="http://schemas.microsoft.com/office/drawing/2014/main" id="{9953BAF5-CE52-3E78-AC90-30C36389EA24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01063"/>
              </p:ext>
            </p:extLst>
          </p:nvPr>
        </p:nvGraphicFramePr>
        <p:xfrm>
          <a:off x="1752600" y="1684338"/>
          <a:ext cx="6769100" cy="2824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4"/>
          </a:graphicData>
        </a:graphic>
      </p:graphicFrame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9840F08-B37A-D886-007D-9CDEAF2FD293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6329363" y="284321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FECD2DD-9403-45E2-AC5E-59DFDB47071C}" type="datetime'6'',''''''''''''''''8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B4A8A989-42C2-330C-2E92-14848CC0D2C1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2235200" y="363855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1FA5-0663-4183-9A8B-86FE8D653DC6}" type="datetime'''''''2,''''''''''2'''''''''''''''''''''''''''''''''">
              <a:rPr lang="ru-RU" altLang="en-US" sz="12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2,2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CADAD01D-766B-AFFF-FAF1-C00AFCE4218D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2366963" y="4154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24419B9-9340-4052-96FD-24DFC35ACB92}" type="datetime'''''''8'',''''''''''''''''''''6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2B09566D-F1E0-F85F-7825-050C7276B42C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>
            <a:off x="3687763" y="339090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44ECA5F-BE1F-4E6F-8376-D85B84C3A409}" type="datetime'''''''''''''''''''''''''''''''''''''2'''',''''''''8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2,8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37670F74-2BF8-8BFE-708B-BC6041AFF717}"/>
              </a:ext>
            </a:extLst>
          </p:cNvPr>
          <p:cNvSpPr/>
          <p:nvPr>
            <p:custDataLst>
              <p:tags r:id="rId7"/>
            </p:custDataLst>
          </p:nvPr>
        </p:nvSpPr>
        <p:spPr bwMode="gray">
          <a:xfrm>
            <a:off x="3687763" y="35575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11B083-6E98-4AA5-8DC4-B69A69E18E2F}" type="datetime'''''''''''''4,9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A48E7BE2-7B78-5F80-1F31-8D628ABC6AFA}"/>
              </a:ext>
            </a:extLst>
          </p:cNvPr>
          <p:cNvSpPr/>
          <p:nvPr>
            <p:custDataLst>
              <p:tags r:id="rId8"/>
            </p:custDataLst>
          </p:nvPr>
        </p:nvSpPr>
        <p:spPr bwMode="gray">
          <a:xfrm>
            <a:off x="3687763" y="37496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ED98D99-B4A8-4F86-A355-BD9C94FAC476}" type="datetime'''''''''3'',''''''''9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46B54562-FC34-6AB7-54A4-A4D9EBAF11B2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3651250" y="4089400"/>
            <a:ext cx="328613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4D13661-57F0-4247-969D-4A9AE9392AF9}" type="datetime'''''''''''''''1''''1'''''',''''''''6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11,6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A5C0E79D-1D4C-04E0-F2BD-C9F002E5B0C9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5008563" y="30559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72D7F4C-3E81-409A-AAB3-2E8FAA6B6A49}" type="datetime'''''''''''''4,''''''''''''''0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939D6CE9-F3C1-06CC-45AA-816DDE2C07D2}"/>
              </a:ext>
            </a:extLst>
          </p:cNvPr>
          <p:cNvSpPr/>
          <p:nvPr>
            <p:custDataLst>
              <p:tags r:id="rId11"/>
            </p:custDataLst>
          </p:nvPr>
        </p:nvSpPr>
        <p:spPr bwMode="gray">
          <a:xfrm>
            <a:off x="5008563" y="32686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098872D-0232-4FF0-A67E-701FD0E36CD4}" type="datetime'5'''''''''''''''''''''''''''''''''''',''''''''''''8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066815E2-F41B-7AF6-1DF5-9B8BDB3E2739}"/>
              </a:ext>
            </a:extLst>
          </p:cNvPr>
          <p:cNvSpPr/>
          <p:nvPr>
            <p:custDataLst>
              <p:tags r:id="rId12"/>
            </p:custDataLst>
          </p:nvPr>
        </p:nvSpPr>
        <p:spPr bwMode="gray">
          <a:xfrm>
            <a:off x="5141913" y="347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D76CF59-E36E-48A3-BC7E-E33A27E607AF}" type="datetime'''''''''''3'''''''''''''''',''''''9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1AD9CD2D-C49A-C344-3F92-572D39E64ABD}"/>
              </a:ext>
            </a:extLst>
          </p:cNvPr>
          <p:cNvSpPr/>
          <p:nvPr>
            <p:custDataLst>
              <p:tags r:id="rId13"/>
            </p:custDataLst>
          </p:nvPr>
        </p:nvSpPr>
        <p:spPr bwMode="gray">
          <a:xfrm>
            <a:off x="4876800" y="3611563"/>
            <a:ext cx="255588" cy="165100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68A904F-5BED-49A9-96AD-4205CDB0B445}" type="datetime'''''''''''''''''2'''''''''''''''''',''''1''''''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645A5430-8DF3-CB1E-D90B-B152D7313FC7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965700" y="399891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0E44043-646A-4F9E-8362-08CDD1A9C838}" type="datetime'1''''''5'''''''''''''''''''''''''''''''',''8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EE2292E0-47E4-A371-5C86-61C9E79E371B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6329363" y="2570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79F6B63-B563-43CC-A975-B274F374D8CE}" type="datetime'5'''''''''''',''''''''''''''7''''''''''''''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5,7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D1C5B7A1-AABA-2706-F1AE-819ADC23AF81}"/>
              </a:ext>
            </a:extLst>
          </p:cNvPr>
          <p:cNvSpPr/>
          <p:nvPr>
            <p:custDataLst>
              <p:tags r:id="rId16"/>
            </p:custDataLst>
          </p:nvPr>
        </p:nvSpPr>
        <p:spPr bwMode="gray">
          <a:xfrm>
            <a:off x="2500313" y="3773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6BD03B9-9134-43F5-94FB-0339891A262F}" type="datetime'''4,0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2A37ED83-0562-CFFA-B2A1-33C2D17CD816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6329363" y="3078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BA996C4-BEBC-4E7C-87E4-80002E45CE1F}" type="datetime'''''''''3'''''''''''''''',''''9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D03D5CB3-C4DA-1B86-7FF5-3FF22593DEF7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6329363" y="32797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FB7EF19-8629-43F3-82B9-A2EDD520A0DE}" type="datetime'''''5'''''''''',3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5,3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05CD601C-DFA1-5989-FB5E-CE7173588610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6286500" y="38687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7D49689-D805-46B0-9B3F-FFA5518CB83C}" type="datetime'''''''''''2''''''''''''''1'''',''''''''''''''''''8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21,8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C40FD1C6-4F86-25C6-3E2B-5221DE9556F0}"/>
              </a:ext>
            </a:extLst>
          </p:cNvPr>
          <p:cNvSpPr/>
          <p:nvPr>
            <p:custDataLst>
              <p:tags r:id="rId20"/>
            </p:custDataLst>
          </p:nvPr>
        </p:nvSpPr>
        <p:spPr bwMode="gray">
          <a:xfrm>
            <a:off x="7650163" y="18589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B7F64AC-566C-43CD-90C9-064389E0B80F}" type="datetime'8'''''''''''''''''''''''''''''''''''',''''''''''''''''''0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A7C422E4-E795-EB25-CCBB-0D7306F793AD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7650163" y="220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7288BFC-4A32-45D8-8A18-4324AFDDAA15}" type="datetime'''''''''''8'''''''''''''''''''''',''''''''1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437F097B-314E-F274-F69B-ACD59A38F81E}"/>
              </a:ext>
            </a:extLst>
          </p:cNvPr>
          <p:cNvSpPr/>
          <p:nvPr>
            <p:custDataLst>
              <p:tags r:id="rId22"/>
            </p:custDataLst>
          </p:nvPr>
        </p:nvSpPr>
        <p:spPr bwMode="gray">
          <a:xfrm>
            <a:off x="7650163" y="24717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4B1A89E-E898-4040-8C86-25CF69E63B62}" type="datetime'''''''''''''''''''''''''''''3'''''''',9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DDA19E67-C52D-5AF6-E6AD-05776E2BC5B3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7607300" y="278606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43B683E-EF24-4C31-BFE6-D6E7D20E5961}" type="datetime'''''''''''''''''1''''''''''0'''''',''''''''''''5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1F079E78-A4F4-E859-6C01-8A51AE7A86CF}"/>
              </a:ext>
            </a:extLst>
          </p:cNvPr>
          <p:cNvSpPr/>
          <p:nvPr>
            <p:custDataLst>
              <p:tags r:id="rId24"/>
            </p:custDataLst>
          </p:nvPr>
        </p:nvSpPr>
        <p:spPr bwMode="gray">
          <a:xfrm>
            <a:off x="7607300" y="36782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F187030-9A14-480E-B677-5D60EE76C806}" type="datetime'''''''''3''''''''''''''''''0'''',''''''''''''5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5D80E6BA-F74B-8DC6-FC93-266F7539FBE0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2324100" y="3473450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B312-B8B3-495B-9DC1-0D51B14D0403}" type="datetime'''''''''''''''''1''''''7'''''''',''3''''''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17,3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9774F003-A8F7-30E8-DCC7-6FF1DB509686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3644900" y="32210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27C4BF-7C88-4DC0-8E9D-2092A97321F2}" type="datetime'''''''''''''''''23,''''3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23,3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301CAE5D-539B-179C-04CA-1135E61C498B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4965700" y="28606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5FA89C5-E9E3-4EE8-A435-6B879000AA60}" type="datetime'''''''''''''''3''''''1'''''''''''''',''''''''6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31,6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8AD940B-3D0F-7F61-4D93-C9C70D5AB69C}"/>
              </a:ext>
            </a:extLst>
          </p:cNvPr>
          <p:cNvSpPr/>
          <p:nvPr>
            <p:custDataLst>
              <p:tags r:id="rId28"/>
            </p:custDataLst>
          </p:nvPr>
        </p:nvSpPr>
        <p:spPr bwMode="gray">
          <a:xfrm>
            <a:off x="6286500" y="23399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A3166AA-8725-48B0-A71B-B8A970E4821B}" type="datetime'''''''''''''''''''43'''',''''''''''''5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43,5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7A670A87-C218-1521-EABE-D057C909CE00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607300" y="157638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96B2E34-DDF8-4EF1-9824-19002BE197CA}" type="datetime'''''''''''''''''''6''''''''''''1'',''0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61,0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E2F64644-8C8C-DB30-6532-D46C2E9ADA98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2235200" y="3913188"/>
            <a:ext cx="255588" cy="165100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6DC2988-567E-4ACE-8AD6-8675A76AD7FB}" type="datetime'''''''''''''''''''''2'',''''''''''''''''''''5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7E96CAE1-F0CE-8871-B5B4-577F1D73ECB6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425450" y="1549400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6D6BDB5B-DEFF-3162-9E83-F386AA82E682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425450" y="1782763"/>
            <a:ext cx="214313" cy="160338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7" name="Прямоугольник 216">
            <a:extLst>
              <a:ext uri="{FF2B5EF4-FFF2-40B4-BE49-F238E27FC236}">
                <a16:creationId xmlns:a16="http://schemas.microsoft.com/office/drawing/2014/main" id="{6B5AC6D9-3D69-ED82-FB1B-310FA603358B}"/>
              </a:ext>
            </a:extLst>
          </p:cNvPr>
          <p:cNvSpPr/>
          <p:nvPr>
            <p:custDataLst>
              <p:tags r:id="rId33"/>
            </p:custDataLst>
          </p:nvPr>
        </p:nvSpPr>
        <p:spPr bwMode="auto">
          <a:xfrm>
            <a:off x="425450" y="2016125"/>
            <a:ext cx="214313" cy="160338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8" name="Прямоугольник 217">
            <a:extLst>
              <a:ext uri="{FF2B5EF4-FFF2-40B4-BE49-F238E27FC236}">
                <a16:creationId xmlns:a16="http://schemas.microsoft.com/office/drawing/2014/main" id="{C6F6F94E-7BB8-36DD-39EE-3C9FE1BEE39E}"/>
              </a:ext>
            </a:extLst>
          </p:cNvPr>
          <p:cNvSpPr/>
          <p:nvPr>
            <p:custDataLst>
              <p:tags r:id="rId34"/>
            </p:custDataLst>
          </p:nvPr>
        </p:nvSpPr>
        <p:spPr bwMode="auto">
          <a:xfrm>
            <a:off x="425450" y="2249488"/>
            <a:ext cx="214313" cy="160338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4BECD3BA-B8AB-3779-3BD8-63FF494BC0F5}"/>
              </a:ext>
            </a:extLst>
          </p:cNvPr>
          <p:cNvSpPr/>
          <p:nvPr>
            <p:custDataLst>
              <p:tags r:id="rId35"/>
            </p:custDataLst>
          </p:nvPr>
        </p:nvSpPr>
        <p:spPr bwMode="auto">
          <a:xfrm>
            <a:off x="425450" y="2482850"/>
            <a:ext cx="214313" cy="160338"/>
          </a:xfrm>
          <a:prstGeom prst="rect">
            <a:avLst/>
          </a:prstGeom>
          <a:solidFill>
            <a:schemeClr val="accent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4DDE5D5-F312-EDF3-631B-D357B0D21CB9}"/>
              </a:ext>
            </a:extLst>
          </p:cNvPr>
          <p:cNvSpPr/>
          <p:nvPr>
            <p:custDataLst>
              <p:tags r:id="rId36"/>
            </p:custDataLst>
          </p:nvPr>
        </p:nvSpPr>
        <p:spPr bwMode="auto">
          <a:xfrm>
            <a:off x="690563" y="2478088"/>
            <a:ext cx="2741613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C533AACF-591A-4C4E-A8AA-EBBA888ACD06}" type="datetime'Квота'''' в''''н''''утренних зака''зчиков (марко''м'''''''')'">
              <a:rPr lang="ru-RU" altLang="en-US" sz="1200" smtClean="0">
                <a:solidFill>
                  <a:schemeClr val="tx1"/>
                </a:solidFill>
              </a:rPr>
              <a:pPr/>
              <a:t>Квота внутренних заказчиков (марком)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8" name="Прямоугольник 87">
            <a:extLst>
              <a:ext uri="{FF2B5EF4-FFF2-40B4-BE49-F238E27FC236}">
                <a16:creationId xmlns:a16="http://schemas.microsoft.com/office/drawing/2014/main" id="{6DB81C1F-DF1B-AE09-6D06-4B4BF9198BD6}"/>
              </a:ext>
            </a:extLst>
          </p:cNvPr>
          <p:cNvSpPr/>
          <p:nvPr>
            <p:custDataLst>
              <p:tags r:id="rId37"/>
            </p:custDataLst>
          </p:nvPr>
        </p:nvSpPr>
        <p:spPr bwMode="auto">
          <a:xfrm>
            <a:off x="690563" y="2244725"/>
            <a:ext cx="30559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47CE905-D730-492D-A851-454BBABBD888}" type="datetime'Эфф''''ект ''роста эффе''ктивно''сти платфор''м''''ы'''">
              <a:rPr lang="ru-RU" altLang="en-US" sz="1200" smtClean="0">
                <a:solidFill>
                  <a:schemeClr val="tx1"/>
                </a:solidFill>
              </a:rPr>
              <a:pPr/>
              <a:t>Эффект роста эффективности платформы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9" name="Прямоугольник 78">
            <a:extLst>
              <a:ext uri="{FF2B5EF4-FFF2-40B4-BE49-F238E27FC236}">
                <a16:creationId xmlns:a16="http://schemas.microsoft.com/office/drawing/2014/main" id="{AA5D9B71-4077-46E6-C9EC-7AF4EF13A08F}"/>
              </a:ext>
            </a:extLst>
          </p:cNvPr>
          <p:cNvSpPr/>
          <p:nvPr>
            <p:custDataLst>
              <p:tags r:id="rId38"/>
            </p:custDataLst>
          </p:nvPr>
        </p:nvSpPr>
        <p:spPr bwMode="auto">
          <a:xfrm>
            <a:off x="690563" y="2011363"/>
            <a:ext cx="24606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DE6733FF-CC56-401F-9B4E-71ABF7507AEE}" type="datetime'''''In-''store - база ''(''от ''па''рка ''устр''ойств)'''''''">
              <a:rPr lang="ru-RU" altLang="en-US" sz="1200" smtClean="0">
                <a:solidFill>
                  <a:schemeClr val="tx1"/>
                </a:solidFill>
              </a:rPr>
              <a:pPr/>
              <a:t>In-store - база (от парка устройств)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427C304C-DB1E-0BAC-1700-E5C8D3605D96}"/>
              </a:ext>
            </a:extLst>
          </p:cNvPr>
          <p:cNvSpPr/>
          <p:nvPr>
            <p:custDataLst>
              <p:tags r:id="rId39"/>
            </p:custDataLst>
          </p:nvPr>
        </p:nvSpPr>
        <p:spPr bwMode="auto">
          <a:xfrm>
            <a:off x="690563" y="1778000"/>
            <a:ext cx="15843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1F11B19B-EF2B-4CFF-9F62-C42C81467A52}" type="datetime'М''''''''''ед''''''''и''а'' - ''ба''за ''''(от'' ''D''''AC)'">
              <a:rPr lang="ru-RU" altLang="en-US" sz="1200" smtClean="0">
                <a:solidFill>
                  <a:schemeClr val="tx1"/>
                </a:solidFill>
              </a:rPr>
              <a:pPr/>
              <a:t>Медиа - база (от DAC)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E100D17F-939D-1B39-B1FC-F97AB4BA4575}"/>
              </a:ext>
            </a:extLst>
          </p:cNvPr>
          <p:cNvSpPr/>
          <p:nvPr>
            <p:custDataLst>
              <p:tags r:id="rId40"/>
            </p:custDataLst>
          </p:nvPr>
        </p:nvSpPr>
        <p:spPr bwMode="auto">
          <a:xfrm>
            <a:off x="690563" y="1544638"/>
            <a:ext cx="25098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DCF8F2A-87D5-4B2F-89AD-28D1043E5521}" type="datetime'Пе''''''рформ''а''''''нс ''-'' база (от on''l''''in''e ''GMV)'">
              <a:rPr lang="ru-RU" altLang="en-US" sz="1200" smtClean="0">
                <a:solidFill>
                  <a:schemeClr val="tx1"/>
                </a:solidFill>
              </a:rPr>
              <a:pPr/>
              <a:t>Перформанс - база (от online GMV)</a:t>
            </a:fld>
            <a:endParaRPr lang="ru-RU" sz="12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Источники</a:t>
            </a:r>
            <a:r>
              <a:rPr dirty="0">
                <a:solidFill>
                  <a:srgbClr val="6E6E6E"/>
                </a:solidFill>
              </a:rPr>
              <a:t>: Ads Market Calc (</a:t>
            </a:r>
            <a:r>
              <a:rPr dirty="0" err="1">
                <a:solidFill>
                  <a:srgbClr val="6E6E6E"/>
                </a:solidFill>
              </a:rPr>
              <a:t>внутренняя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рынка</a:t>
            </a:r>
            <a:r>
              <a:rPr dirty="0">
                <a:solidFill>
                  <a:srgbClr val="6E6E6E"/>
                </a:solidFill>
              </a:rPr>
              <a:t>), WPP Media </a:t>
            </a:r>
            <a:r>
              <a:rPr dirty="0" err="1">
                <a:solidFill>
                  <a:srgbClr val="6E6E6E"/>
                </a:solidFill>
              </a:rPr>
              <a:t>через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Sostav</a:t>
            </a:r>
            <a:r>
              <a:rPr dirty="0">
                <a:solidFill>
                  <a:srgbClr val="6E6E6E"/>
                </a:solidFill>
              </a:rPr>
              <a:t> (2025), Авито Реклама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Soloway (</a:t>
            </a:r>
            <a:r>
              <a:rPr dirty="0" err="1">
                <a:solidFill>
                  <a:srgbClr val="6E6E6E"/>
                </a:solidFill>
              </a:rPr>
              <a:t>сентябрь</a:t>
            </a:r>
            <a:r>
              <a:rPr dirty="0">
                <a:solidFill>
                  <a:srgbClr val="6E6E6E"/>
                </a:solidFill>
              </a:rPr>
              <a:t> 2026), НРА, </a:t>
            </a:r>
            <a:r>
              <a:rPr dirty="0" err="1">
                <a:solidFill>
                  <a:srgbClr val="6E6E6E"/>
                </a:solidFill>
              </a:rPr>
              <a:t>внутреннее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исследование</a:t>
            </a:r>
            <a:r>
              <a:rPr dirty="0">
                <a:solidFill>
                  <a:srgbClr val="6E6E6E"/>
                </a:solidFill>
              </a:rPr>
              <a:t> Magnit ADS. </a:t>
            </a:r>
            <a:r>
              <a:rPr dirty="0" err="1">
                <a:solidFill>
                  <a:srgbClr val="6E6E6E"/>
                </a:solidFill>
              </a:rPr>
              <a:t>Гипотезы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экспертная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Magnit ADS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FMCG-</a:t>
            </a:r>
            <a:r>
              <a:rPr lang="ru-RU" noProof="0" dirty="0"/>
              <a:t>бюджеты</a:t>
            </a:r>
            <a:r>
              <a:rPr dirty="0"/>
              <a:t> </a:t>
            </a:r>
            <a:r>
              <a:rPr lang="ru-RU" noProof="0" dirty="0"/>
              <a:t>смещаются к транзакции: у места покупки растет роль перформанса, в начале пути - охватных медиа</a:t>
            </a:r>
            <a:endParaRPr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24128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покупателя и инструменты FMCG-маркетинга</a:t>
            </a:r>
            <a:endParaRPr lang="ru-RU" sz="1200" dirty="0"/>
          </a:p>
        </p:txBody>
      </p:sp>
      <p:sp>
        <p:nvSpPr>
          <p:cNvPr id="6" name="ADS chip 6"/>
          <p:cNvSpPr/>
          <p:nvPr/>
        </p:nvSpPr>
        <p:spPr>
          <a:xfrm>
            <a:off x="36576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" name="ADS chiptxt 7"/>
          <p:cNvSpPr txBox="1"/>
          <p:nvPr/>
        </p:nvSpPr>
        <p:spPr>
          <a:xfrm>
            <a:off x="45720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Знание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 и DOOH, OLV, инфлюенсеры</a:t>
            </a:r>
            <a:endParaRPr lang="ru-RU" sz="1200" dirty="0"/>
          </a:p>
        </p:txBody>
      </p:sp>
      <p:sp>
        <p:nvSpPr>
          <p:cNvPr id="8" name="ADS chip 8"/>
          <p:cNvSpPr/>
          <p:nvPr/>
        </p:nvSpPr>
        <p:spPr>
          <a:xfrm>
            <a:off x="325755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chiptxt 9"/>
          <p:cNvSpPr txBox="1"/>
          <p:nvPr/>
        </p:nvSpPr>
        <p:spPr>
          <a:xfrm>
            <a:off x="334899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соцсети и UGC, персонализированные медиа в приложении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614934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24078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in-store у полки, ИИ-рекомендации, медиа в приложении ритейлера</a:t>
            </a:r>
            <a:endParaRPr lang="ru-RU" sz="1200" dirty="0"/>
          </a:p>
        </p:txBody>
      </p:sp>
      <p:sp>
        <p:nvSpPr>
          <p:cNvPr id="12" name="ADS chip 12"/>
          <p:cNvSpPr/>
          <p:nvPr/>
        </p:nvSpPr>
        <p:spPr>
          <a:xfrm>
            <a:off x="904113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txt 13"/>
          <p:cNvSpPr txBox="1"/>
          <p:nvPr/>
        </p:nvSpPr>
        <p:spPr>
          <a:xfrm>
            <a:off x="913257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Покупка и повтор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14" name="Freeform 13"/>
          <p:cNvSpPr/>
          <p:nvPr/>
        </p:nvSpPr>
        <p:spPr>
          <a:xfrm>
            <a:off x="365760" y="2121408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0"/>
                </a:moveTo>
                <a:lnTo>
                  <a:pt x="11457432" y="0"/>
                </a:lnTo>
                <a:lnTo>
                  <a:pt x="11457432" y="73152"/>
                </a:lnTo>
                <a:lnTo>
                  <a:pt x="0" y="457200"/>
                </a:lnTo>
                <a:close/>
              </a:path>
            </a:pathLst>
          </a:cu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365760" y="2615184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384048"/>
                </a:moveTo>
                <a:lnTo>
                  <a:pt x="11457432" y="0"/>
                </a:lnTo>
                <a:lnTo>
                  <a:pt x="11457432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DS label 16"/>
          <p:cNvSpPr txBox="1"/>
          <p:nvPr/>
        </p:nvSpPr>
        <p:spPr>
          <a:xfrm>
            <a:off x="457200" y="215798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Охватные медиа: знание и интерес</a:t>
            </a:r>
            <a:endParaRPr lang="ru-RU" sz="1200" dirty="0"/>
          </a:p>
        </p:txBody>
      </p:sp>
      <p:sp>
        <p:nvSpPr>
          <p:cNvPr id="17" name="ADS label 17"/>
          <p:cNvSpPr txBox="1"/>
          <p:nvPr/>
        </p:nvSpPr>
        <p:spPr>
          <a:xfrm>
            <a:off x="6309360" y="2798064"/>
            <a:ext cx="53949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Arial"/>
                <a:cs typeface="Arial"/>
              </a:rPr>
              <a:t>Перформанс: конверсия у полки и в приложении</a:t>
            </a:r>
            <a:endParaRPr lang="ru-RU" sz="1200" dirty="0"/>
          </a:p>
        </p:txBody>
      </p:sp>
      <p:sp>
        <p:nvSpPr>
          <p:cNvPr id="18" name="ADS chip 18"/>
          <p:cNvSpPr/>
          <p:nvPr/>
        </p:nvSpPr>
        <p:spPr>
          <a:xfrm>
            <a:off x="36576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chiptxt 19"/>
          <p:cNvSpPr txBox="1"/>
          <p:nvPr/>
        </p:nvSpPr>
        <p:spPr>
          <a:xfrm>
            <a:off x="45720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Бренд-бюджеты ~60-80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OOH, digital - выходим через RMN и ЮЛ Магнит Маркета</a:t>
            </a:r>
            <a:endParaRPr lang="ru-RU" sz="1200" dirty="0"/>
          </a:p>
        </p:txBody>
      </p:sp>
      <p:sp>
        <p:nvSpPr>
          <p:cNvPr id="20" name="ADS pink 20"/>
          <p:cNvSpPr/>
          <p:nvPr/>
        </p:nvSpPr>
        <p:spPr>
          <a:xfrm>
            <a:off x="614934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1" name="ADS pinktxt 21"/>
          <p:cNvSpPr txBox="1"/>
          <p:nvPr/>
        </p:nvSpPr>
        <p:spPr>
          <a:xfrm>
            <a:off x="624078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Трейд-бюджеты ~120-140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 рамках коммерческих условий - у транзакции, через Коммерцию форматов</a:t>
            </a:r>
            <a:endParaRPr lang="ru-RU" sz="1200" dirty="0"/>
          </a:p>
        </p:txBody>
      </p:sp>
      <p:sp>
        <p:nvSpPr>
          <p:cNvPr id="22" name="ADS line 22"/>
          <p:cNvSpPr/>
          <p:nvPr/>
        </p:nvSpPr>
        <p:spPr>
          <a:xfrm>
            <a:off x="365760" y="3904487"/>
            <a:ext cx="114574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label 23"/>
          <p:cNvSpPr txBox="1"/>
          <p:nvPr/>
        </p:nvSpPr>
        <p:spPr>
          <a:xfrm>
            <a:off x="365760" y="3977639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Гипотезы и что их подтверждает</a:t>
            </a:r>
            <a:endParaRPr lang="ru-RU" sz="1200" dirty="0"/>
          </a:p>
        </p:txBody>
      </p:sp>
      <p:sp>
        <p:nvSpPr>
          <p:cNvPr id="24" name="ADS card 24"/>
          <p:cNvSpPr/>
          <p:nvPr/>
        </p:nvSpPr>
        <p:spPr>
          <a:xfrm>
            <a:off x="36576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ADS head 25"/>
          <p:cNvSpPr txBox="1"/>
          <p:nvPr/>
        </p:nvSpPr>
        <p:spPr>
          <a:xfrm>
            <a:off x="53035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1</a:t>
            </a:r>
            <a:endParaRPr lang="ru-RU" sz="1200" dirty="0"/>
          </a:p>
        </p:txBody>
      </p:sp>
      <p:sp>
        <p:nvSpPr>
          <p:cNvPr id="26" name="ADS thesis 26"/>
          <p:cNvSpPr txBox="1"/>
          <p:nvPr/>
        </p:nvSpPr>
        <p:spPr>
          <a:xfrm>
            <a:off x="53035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Бюджеты идут туда, где виден эффект в продажах</a:t>
            </a:r>
            <a:endParaRPr lang="ru-RU" sz="1200" dirty="0"/>
          </a:p>
        </p:txBody>
      </p:sp>
      <p:sp>
        <p:nvSpPr>
          <p:cNvPr id="27" name="ADS line 27"/>
          <p:cNvSpPr/>
          <p:nvPr/>
        </p:nvSpPr>
        <p:spPr>
          <a:xfrm>
            <a:off x="53035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3035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Доля retail media в рекламном рынке РФ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19%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2023 г. и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42%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2027 г.; в мире commerce media обогнала ТВ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15,6%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рынка в 2025 г.</a:t>
            </a:r>
            <a:endParaRPr lang="ru-RU" sz="1200" dirty="0"/>
          </a:p>
        </p:txBody>
      </p:sp>
      <p:sp>
        <p:nvSpPr>
          <p:cNvPr id="29" name="ADS card 29"/>
          <p:cNvSpPr/>
          <p:nvPr/>
        </p:nvSpPr>
        <p:spPr>
          <a:xfrm>
            <a:off x="325755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head 30"/>
          <p:cNvSpPr txBox="1"/>
          <p:nvPr/>
        </p:nvSpPr>
        <p:spPr>
          <a:xfrm>
            <a:off x="342214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2</a:t>
            </a:r>
            <a:endParaRPr lang="ru-RU" sz="1200" dirty="0"/>
          </a:p>
        </p:txBody>
      </p:sp>
      <p:sp>
        <p:nvSpPr>
          <p:cNvPr id="31" name="ADS thesis 31"/>
          <p:cNvSpPr txBox="1"/>
          <p:nvPr/>
        </p:nvSpPr>
        <p:spPr>
          <a:xfrm>
            <a:off x="342214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 все чаще принимается в точке продаж</a:t>
            </a:r>
            <a:endParaRPr lang="ru-RU" sz="1200" dirty="0"/>
          </a:p>
        </p:txBody>
      </p:sp>
      <p:sp>
        <p:nvSpPr>
          <p:cNvPr id="32" name="ADS line 32"/>
          <p:cNvSpPr/>
          <p:nvPr/>
        </p:nvSpPr>
        <p:spPr>
          <a:xfrm>
            <a:off x="342214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label 33"/>
          <p:cNvSpPr txBox="1"/>
          <p:nvPr/>
        </p:nvSpPr>
        <p:spPr>
          <a:xfrm>
            <a:off x="342214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Каждый четвертый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покупатель узнает о новинке FMCG уже в магазине,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13%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впервые видят ее на полке</a:t>
            </a:r>
            <a:endParaRPr lang="ru-RU" sz="1200" dirty="0"/>
          </a:p>
        </p:txBody>
      </p:sp>
      <p:sp>
        <p:nvSpPr>
          <p:cNvPr id="34" name="ADS card 34"/>
          <p:cNvSpPr/>
          <p:nvPr/>
        </p:nvSpPr>
        <p:spPr>
          <a:xfrm>
            <a:off x="614934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5" name="ADS head 35"/>
          <p:cNvSpPr txBox="1"/>
          <p:nvPr/>
        </p:nvSpPr>
        <p:spPr>
          <a:xfrm>
            <a:off x="631393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3</a:t>
            </a:r>
            <a:endParaRPr lang="ru-RU" sz="1200" dirty="0"/>
          </a:p>
        </p:txBody>
      </p:sp>
      <p:sp>
        <p:nvSpPr>
          <p:cNvPr id="36" name="ADS thesis 36"/>
          <p:cNvSpPr txBox="1"/>
          <p:nvPr/>
        </p:nvSpPr>
        <p:spPr>
          <a:xfrm>
            <a:off x="631393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Медиаинфляция удорожает охват и требует доказательств</a:t>
            </a:r>
            <a:endParaRPr lang="ru-RU" sz="1200" dirty="0"/>
          </a:p>
        </p:txBody>
      </p:sp>
      <p:sp>
        <p:nvSpPr>
          <p:cNvPr id="37" name="ADS line 37"/>
          <p:cNvSpPr/>
          <p:nvPr/>
        </p:nvSpPr>
        <p:spPr>
          <a:xfrm>
            <a:off x="631393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ADS label 38"/>
          <p:cNvSpPr txBox="1"/>
          <p:nvPr/>
        </p:nvSpPr>
        <p:spPr>
          <a:xfrm>
            <a:off x="631393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 дорожает в среднем на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28%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2026 г., медиаинфляция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20%+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: охватным бюджетам нужна измеримая альтернатива</a:t>
            </a:r>
            <a:endParaRPr lang="ru-RU" sz="1200" dirty="0"/>
          </a:p>
        </p:txBody>
      </p:sp>
      <p:sp>
        <p:nvSpPr>
          <p:cNvPr id="39" name="ADS card 39"/>
          <p:cNvSpPr/>
          <p:nvPr/>
        </p:nvSpPr>
        <p:spPr>
          <a:xfrm>
            <a:off x="904113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ADS head 40"/>
          <p:cNvSpPr txBox="1"/>
          <p:nvPr/>
        </p:nvSpPr>
        <p:spPr>
          <a:xfrm>
            <a:off x="920572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4</a:t>
            </a:r>
            <a:endParaRPr lang="ru-RU" sz="1200" dirty="0"/>
          </a:p>
        </p:txBody>
      </p:sp>
      <p:sp>
        <p:nvSpPr>
          <p:cNvPr id="41" name="ADS thesis 41"/>
          <p:cNvSpPr txBox="1"/>
          <p:nvPr/>
        </p:nvSpPr>
        <p:spPr>
          <a:xfrm>
            <a:off x="920572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Трейд - якорь, бренд - точка роста ритейл-медиа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920572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20572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60-65%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маркетинговых бюджетов FMCG (~200 млрд руб.) - трейд у транзакции; бренд-бюджеты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60-80 млрд руб.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- зона RMN</a:t>
            </a:r>
            <a:endParaRPr lang="ru-RU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анализ</a:t>
            </a:r>
            <a:r>
              <a:rPr dirty="0">
                <a:solidFill>
                  <a:srgbClr val="6E6E6E"/>
                </a:solidFill>
              </a:rPr>
              <a:t> Magnit ADS; KPI - </a:t>
            </a:r>
            <a:r>
              <a:rPr dirty="0" err="1">
                <a:solidFill>
                  <a:srgbClr val="6E6E6E"/>
                </a:solidFill>
              </a:rPr>
              <a:t>ключевые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метрики</a:t>
            </a:r>
            <a:r>
              <a:rPr dirty="0">
                <a:solidFill>
                  <a:srgbClr val="6E6E6E"/>
                </a:solidFill>
              </a:rPr>
              <a:t>, </a:t>
            </a:r>
            <a:r>
              <a:rPr dirty="0" err="1">
                <a:solidFill>
                  <a:srgbClr val="6E6E6E"/>
                </a:solidFill>
              </a:rPr>
              <a:t>по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которым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рекламодатель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оценивает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канал</a:t>
            </a:r>
            <a:endParaRPr dirty="0">
              <a:solidFill>
                <a:srgbClr val="6E6E6E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Матрица </a:t>
            </a:r>
            <a:r>
              <a:rPr dirty="0" err="1"/>
              <a:t>каналов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воронке</a:t>
            </a:r>
            <a:r>
              <a:rPr dirty="0"/>
              <a:t>: Magnit ADS </a:t>
            </a:r>
            <a:r>
              <a:rPr dirty="0" err="1"/>
              <a:t>закрывает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 </a:t>
            </a:r>
            <a:br>
              <a:rPr lang="en-US" dirty="0"/>
            </a:br>
            <a:r>
              <a:rPr dirty="0" err="1"/>
              <a:t>покупателя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охвата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транзакции</a:t>
            </a:r>
            <a:r>
              <a:rPr lang="ru-RU" dirty="0"/>
              <a:t> на 360</a:t>
            </a:r>
            <a:r>
              <a:rPr lang="ru-RU" baseline="30000" dirty="0"/>
              <a:t>о</a:t>
            </a:r>
            <a:endParaRPr baseline="30000"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51560"/>
            <a:ext cx="4114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Канал</a:t>
            </a:r>
            <a:endParaRPr lang="ru-RU" sz="1200" dirty="0"/>
          </a:p>
        </p:txBody>
      </p:sp>
      <p:sp>
        <p:nvSpPr>
          <p:cNvPr id="6" name="ADS label 6"/>
          <p:cNvSpPr txBox="1"/>
          <p:nvPr/>
        </p:nvSpPr>
        <p:spPr>
          <a:xfrm>
            <a:off x="4709160" y="10515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Задача в воронке</a:t>
            </a:r>
            <a:endParaRPr lang="ru-RU" sz="1200" dirty="0"/>
          </a:p>
        </p:txBody>
      </p:sp>
      <p:sp>
        <p:nvSpPr>
          <p:cNvPr id="7" name="ADS label 7"/>
          <p:cNvSpPr txBox="1"/>
          <p:nvPr/>
        </p:nvSpPr>
        <p:spPr>
          <a:xfrm>
            <a:off x="6675120" y="1051560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Инвентарь Magnit ADS</a:t>
            </a:r>
            <a:endParaRPr lang="ru-RU" sz="1200" dirty="0"/>
          </a:p>
        </p:txBody>
      </p:sp>
      <p:sp>
        <p:nvSpPr>
          <p:cNvPr id="8" name="ADS label 8"/>
          <p:cNvSpPr txBox="1"/>
          <p:nvPr/>
        </p:nvSpPr>
        <p:spPr>
          <a:xfrm>
            <a:off x="9601200" y="105156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Модель оплаты и KPI</a:t>
            </a:r>
            <a:endParaRPr lang="ru-RU" sz="1200" dirty="0"/>
          </a:p>
        </p:txBody>
      </p:sp>
      <p:sp>
        <p:nvSpPr>
          <p:cNvPr id="9" name="ADS label 9"/>
          <p:cNvSpPr txBox="1"/>
          <p:nvPr/>
        </p:nvSpPr>
        <p:spPr>
          <a:xfrm>
            <a:off x="11155680" y="1051560"/>
            <a:ext cx="6675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0" name="ADS line 10"/>
          <p:cNvSpPr/>
          <p:nvPr/>
        </p:nvSpPr>
        <p:spPr>
          <a:xfrm>
            <a:off x="4709160" y="12984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Freeform 10"/>
          <p:cNvSpPr/>
          <p:nvPr/>
        </p:nvSpPr>
        <p:spPr>
          <a:xfrm>
            <a:off x="365759" y="1371600"/>
            <a:ext cx="4114801" cy="676655"/>
          </a:xfrm>
          <a:custGeom>
            <a:avLst/>
            <a:gdLst/>
            <a:ahLst/>
            <a:cxnLst/>
            <a:rect l="l" t="t" r="r" b="b"/>
            <a:pathLst>
              <a:path w="4114801" h="676655">
                <a:moveTo>
                  <a:pt x="0" y="0"/>
                </a:moveTo>
                <a:lnTo>
                  <a:pt x="4114801" y="0"/>
                </a:lnTo>
                <a:lnTo>
                  <a:pt x="3901440" y="676655"/>
                </a:lnTo>
                <a:lnTo>
                  <a:pt x="213361" y="676655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DS chiptxt 12"/>
          <p:cNvSpPr txBox="1"/>
          <p:nvPr/>
        </p:nvSpPr>
        <p:spPr>
          <a:xfrm>
            <a:off x="624840" y="1408176"/>
            <a:ext cx="35966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OOH / TV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охват и знание</a:t>
            </a:r>
            <a:endParaRPr lang="ru-RU" sz="1200" dirty="0"/>
          </a:p>
        </p:txBody>
      </p:sp>
      <p:sp>
        <p:nvSpPr>
          <p:cNvPr id="13" name="ADS label 13"/>
          <p:cNvSpPr txBox="1"/>
          <p:nvPr/>
        </p:nvSpPr>
        <p:spPr>
          <a:xfrm>
            <a:off x="4709160" y="13716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Знание бренда и широкий охват</a:t>
            </a:r>
            <a:endParaRPr lang="ru-RU" sz="1200" dirty="0"/>
          </a:p>
        </p:txBody>
      </p:sp>
      <p:sp>
        <p:nvSpPr>
          <p:cNvPr id="14" name="ADS label 14"/>
          <p:cNvSpPr txBox="1"/>
          <p:nvPr/>
        </p:nvSpPr>
        <p:spPr>
          <a:xfrm>
            <a:off x="6675120" y="13716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RMN: DOOH и внешние охватные площадки через ЮЛ Магнит Маркета, фасадные экраны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9601200" y="13716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CPM; охват, brand lift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11155680" y="13716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</a:t>
            </a:r>
            <a:endParaRPr lang="ru-RU" sz="1200" dirty="0"/>
          </a:p>
        </p:txBody>
      </p:sp>
      <p:sp>
        <p:nvSpPr>
          <p:cNvPr id="17" name="ADS line 17"/>
          <p:cNvSpPr/>
          <p:nvPr/>
        </p:nvSpPr>
        <p:spPr>
          <a:xfrm>
            <a:off x="4709160" y="20756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Freeform 17"/>
          <p:cNvSpPr/>
          <p:nvPr/>
        </p:nvSpPr>
        <p:spPr>
          <a:xfrm>
            <a:off x="579120" y="2103120"/>
            <a:ext cx="3688079" cy="676655"/>
          </a:xfrm>
          <a:custGeom>
            <a:avLst/>
            <a:gdLst/>
            <a:ahLst/>
            <a:cxnLst/>
            <a:rect l="l" t="t" r="r" b="b"/>
            <a:pathLst>
              <a:path w="3688079" h="676655">
                <a:moveTo>
                  <a:pt x="0" y="0"/>
                </a:moveTo>
                <a:lnTo>
                  <a:pt x="3688079" y="0"/>
                </a:lnTo>
                <a:lnTo>
                  <a:pt x="3474720" y="676655"/>
                </a:lnTo>
                <a:lnTo>
                  <a:pt x="213359" y="676655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DS chiptxt 19"/>
          <p:cNvSpPr txBox="1"/>
          <p:nvPr/>
        </p:nvSpPr>
        <p:spPr>
          <a:xfrm>
            <a:off x="838199" y="2139696"/>
            <a:ext cx="3169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классический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экраны, радио, КСО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709160" y="210312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Напоминание в магазине, охват офлайн-трафика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6675120" y="210312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ТВ-панели, радио, КСО, дисплеи покупателя - 81 тыс. устройств в 2027 г.</a:t>
            </a:r>
            <a:endParaRPr lang="ru-RU" sz="1200" dirty="0"/>
          </a:p>
        </p:txBody>
      </p:sp>
      <p:sp>
        <p:nvSpPr>
          <p:cNvPr id="22" name="ADS label 22"/>
          <p:cNvSpPr txBox="1"/>
          <p:nvPr/>
        </p:nvSpPr>
        <p:spPr>
          <a:xfrm>
            <a:off x="9601200" y="210312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пакеты; OTS</a:t>
            </a:r>
            <a:endParaRPr lang="ru-RU" sz="1200" dirty="0"/>
          </a:p>
        </p:txBody>
      </p:sp>
      <p:sp>
        <p:nvSpPr>
          <p:cNvPr id="23" name="ADS label 23"/>
          <p:cNvSpPr txBox="1"/>
          <p:nvPr/>
        </p:nvSpPr>
        <p:spPr>
          <a:xfrm>
            <a:off x="11155680" y="210312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Трейд, бренд</a:t>
            </a:r>
            <a:endParaRPr lang="ru-RU" sz="1200" dirty="0"/>
          </a:p>
        </p:txBody>
      </p:sp>
      <p:sp>
        <p:nvSpPr>
          <p:cNvPr id="24" name="ADS line 24"/>
          <p:cNvSpPr/>
          <p:nvPr/>
        </p:nvSpPr>
        <p:spPr>
          <a:xfrm>
            <a:off x="4709160" y="280720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Freeform 24"/>
          <p:cNvSpPr/>
          <p:nvPr/>
        </p:nvSpPr>
        <p:spPr>
          <a:xfrm>
            <a:off x="792479" y="2834640"/>
            <a:ext cx="3261361" cy="676656"/>
          </a:xfrm>
          <a:custGeom>
            <a:avLst/>
            <a:gdLst/>
            <a:ahLst/>
            <a:cxnLst/>
            <a:rect l="l" t="t" r="r" b="b"/>
            <a:pathLst>
              <a:path w="3261361" h="676656">
                <a:moveTo>
                  <a:pt x="0" y="0"/>
                </a:moveTo>
                <a:lnTo>
                  <a:pt x="3261361" y="0"/>
                </a:lnTo>
                <a:lnTo>
                  <a:pt x="304800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ADS chiptxt 26"/>
          <p:cNvSpPr txBox="1"/>
          <p:nvPr/>
        </p:nvSpPr>
        <p:spPr>
          <a:xfrm>
            <a:off x="1051559" y="2871216"/>
            <a:ext cx="2743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у полки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шелф-баннеры, РИМ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4709160" y="283464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Переключение в момент выбора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6675120" y="283464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Шелф-баннеры, прайсчекеры, РИМ; аукцион за место на полке</a:t>
            </a:r>
            <a:endParaRPr lang="ru-RU" sz="1200" dirty="0"/>
          </a:p>
        </p:txBody>
      </p:sp>
      <p:sp>
        <p:nvSpPr>
          <p:cNvPr id="29" name="ADS label 29"/>
          <p:cNvSpPr txBox="1"/>
          <p:nvPr/>
        </p:nvSpPr>
        <p:spPr>
          <a:xfrm>
            <a:off x="9601200" y="283464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Пакеты, CPM; sales lift</a:t>
            </a:r>
            <a:endParaRPr lang="ru-RU" sz="1200" dirty="0"/>
          </a:p>
        </p:txBody>
      </p:sp>
      <p:sp>
        <p:nvSpPr>
          <p:cNvPr id="30" name="ADS label 30"/>
          <p:cNvSpPr txBox="1"/>
          <p:nvPr/>
        </p:nvSpPr>
        <p:spPr>
          <a:xfrm>
            <a:off x="11155680" y="283464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31" name="ADS line 31"/>
          <p:cNvSpPr/>
          <p:nvPr/>
        </p:nvSpPr>
        <p:spPr>
          <a:xfrm>
            <a:off x="4709160" y="353872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Freeform 31"/>
          <p:cNvSpPr/>
          <p:nvPr/>
        </p:nvSpPr>
        <p:spPr>
          <a:xfrm>
            <a:off x="1005839" y="3566160"/>
            <a:ext cx="2834641" cy="676656"/>
          </a:xfrm>
          <a:custGeom>
            <a:avLst/>
            <a:gdLst/>
            <a:ahLst/>
            <a:cxnLst/>
            <a:rect l="l" t="t" r="r" b="b"/>
            <a:pathLst>
              <a:path w="2834641" h="676656">
                <a:moveTo>
                  <a:pt x="0" y="0"/>
                </a:moveTo>
                <a:lnTo>
                  <a:pt x="2834641" y="0"/>
                </a:lnTo>
                <a:lnTo>
                  <a:pt x="262128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ADS chiptxt 33"/>
          <p:cNvSpPr txBox="1"/>
          <p:nvPr/>
        </p:nvSpPr>
        <p:spPr>
          <a:xfrm>
            <a:off x="1264919" y="3602736"/>
            <a:ext cx="231648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Персонализированные медиа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соцсети и медиа в приложении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4709160" y="356616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 по сегментам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6675120" y="356616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UGC-factory и соцсети, баннеры и сторис в приложении, сегменты DMP</a:t>
            </a:r>
            <a:endParaRPr lang="ru-RU" sz="1200" dirty="0"/>
          </a:p>
        </p:txBody>
      </p:sp>
      <p:sp>
        <p:nvSpPr>
          <p:cNvPr id="36" name="ADS label 36"/>
          <p:cNvSpPr txBox="1"/>
          <p:nvPr/>
        </p:nvSpPr>
        <p:spPr>
          <a:xfrm>
            <a:off x="9601200" y="356616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CPV; CTR, охват сегмента</a:t>
            </a:r>
            <a:endParaRPr lang="ru-RU" sz="1200" dirty="0"/>
          </a:p>
        </p:txBody>
      </p:sp>
      <p:sp>
        <p:nvSpPr>
          <p:cNvPr id="37" name="ADS label 37"/>
          <p:cNvSpPr txBox="1"/>
          <p:nvPr/>
        </p:nvSpPr>
        <p:spPr>
          <a:xfrm>
            <a:off x="11155680" y="356616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Бренд, трейд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4709160" y="42702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Freeform 38"/>
          <p:cNvSpPr/>
          <p:nvPr/>
        </p:nvSpPr>
        <p:spPr>
          <a:xfrm>
            <a:off x="1219199" y="4297680"/>
            <a:ext cx="2407921" cy="676656"/>
          </a:xfrm>
          <a:custGeom>
            <a:avLst/>
            <a:gdLst/>
            <a:ahLst/>
            <a:cxnLst/>
            <a:rect l="l" t="t" r="r" b="b"/>
            <a:pathLst>
              <a:path w="2407921" h="676656">
                <a:moveTo>
                  <a:pt x="0" y="0"/>
                </a:moveTo>
                <a:lnTo>
                  <a:pt x="2407921" y="0"/>
                </a:lnTo>
                <a:lnTo>
                  <a:pt x="2194561" y="676656"/>
                </a:lnTo>
                <a:lnTo>
                  <a:pt x="213361" y="676656"/>
                </a:lnTo>
                <a:close/>
              </a:path>
            </a:pathLst>
          </a:custGeom>
          <a:solidFill>
            <a:srgbClr val="FF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ADS chiptxt 40"/>
          <p:cNvSpPr txBox="1"/>
          <p:nvPr/>
        </p:nvSpPr>
        <p:spPr>
          <a:xfrm>
            <a:off x="1478280" y="4334256"/>
            <a:ext cx="1889759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ИИ-рекомендации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подбор под контекст покупателя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4709160" y="429768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Подбор товара под задачу покупателя</a:t>
            </a:r>
            <a:endParaRPr lang="ru-RU" sz="1200" dirty="0"/>
          </a:p>
        </p:txBody>
      </p:sp>
      <p:sp>
        <p:nvSpPr>
          <p:cNvPr id="42" name="ADS label 42"/>
          <p:cNvSpPr txBox="1"/>
          <p:nvPr/>
        </p:nvSpPr>
        <p:spPr>
          <a:xfrm>
            <a:off x="6675120" y="429768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Рекомендательные блоки, ИИ-ассистент, триггеры и контекст покупки</a:t>
            </a:r>
            <a:endParaRPr lang="ru-RU" sz="12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601200" y="429768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CPA; конверсия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11155680" y="429768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45" name="ADS line 45"/>
          <p:cNvSpPr/>
          <p:nvPr/>
        </p:nvSpPr>
        <p:spPr>
          <a:xfrm>
            <a:off x="4709160" y="500176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6" name="Freeform 45"/>
          <p:cNvSpPr/>
          <p:nvPr/>
        </p:nvSpPr>
        <p:spPr>
          <a:xfrm>
            <a:off x="1432560" y="5029200"/>
            <a:ext cx="1981200" cy="676656"/>
          </a:xfrm>
          <a:custGeom>
            <a:avLst/>
            <a:gdLst/>
            <a:ahLst/>
            <a:cxnLst/>
            <a:rect l="l" t="t" r="r" b="b"/>
            <a:pathLst>
              <a:path w="1981200" h="676656">
                <a:moveTo>
                  <a:pt x="0" y="0"/>
                </a:moveTo>
                <a:lnTo>
                  <a:pt x="1981200" y="0"/>
                </a:lnTo>
                <a:lnTo>
                  <a:pt x="1767840" y="676656"/>
                </a:lnTo>
                <a:lnTo>
                  <a:pt x="213359" y="676656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ADS chiptxt 47"/>
          <p:cNvSpPr txBox="1"/>
          <p:nvPr/>
        </p:nvSpPr>
        <p:spPr>
          <a:xfrm>
            <a:off x="1691639" y="5065776"/>
            <a:ext cx="14630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Performance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поиск и рекомендации</a:t>
            </a:r>
            <a:endParaRPr lang="ru-RU" sz="1200" dirty="0"/>
          </a:p>
        </p:txBody>
      </p:sp>
      <p:sp>
        <p:nvSpPr>
          <p:cNvPr id="48" name="ADS label 48"/>
          <p:cNvSpPr txBox="1"/>
          <p:nvPr/>
        </p:nvSpPr>
        <p:spPr>
          <a:xfrm>
            <a:off x="4709160" y="50292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Покупка здесь и сейчас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6675120" y="50292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9601200" y="50292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CPA, CPO; ROAS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11155680" y="50292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52" name="ADS line 52"/>
          <p:cNvSpPr/>
          <p:nvPr/>
        </p:nvSpPr>
        <p:spPr>
          <a:xfrm>
            <a:off x="4709160" y="57332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>
          <a:xfrm>
            <a:off x="1619251" y="6238124"/>
            <a:ext cx="9277350" cy="391275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стратегия </a:t>
            </a:r>
            <a:r>
              <a:rPr lang="en" dirty="0">
                <a:solidFill>
                  <a:srgbClr val="6E6E6E"/>
                </a:solidFill>
              </a:rPr>
              <a:t>Magnit AdTech 2026-2031 (</a:t>
            </a:r>
            <a:r>
              <a:rPr lang="ru-RU" dirty="0">
                <a:solidFill>
                  <a:srgbClr val="6E6E6E"/>
                </a:solidFill>
              </a:rPr>
              <a:t>потенциал инвентаря М+ и </a:t>
            </a:r>
            <a:r>
              <a:rPr lang="en" dirty="0">
                <a:solidFill>
                  <a:srgbClr val="6E6E6E"/>
                </a:solidFill>
              </a:rPr>
              <a:t>DAC </a:t>
            </a:r>
            <a:r>
              <a:rPr lang="ru-RU" dirty="0">
                <a:solidFill>
                  <a:srgbClr val="6E6E6E"/>
                </a:solidFill>
              </a:rPr>
              <a:t>программы лояльности - оценка июня 2026 г.)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660733"/>
          </a:xfrm>
        </p:spPr>
        <p:txBody>
          <a:bodyPr/>
          <a:lstStyle/>
          <a:p>
            <a:r>
              <a:rPr lang="ru-RU" dirty="0"/>
              <a:t>М+ как перформанс-инструмент: кешбэк баллами – </a:t>
            </a:r>
            <a:br>
              <a:rPr lang="en-US" dirty="0"/>
            </a:br>
            <a:r>
              <a:rPr lang="ru-RU" dirty="0"/>
              <a:t>оплата за покупку, а не за показ</a:t>
            </a:r>
          </a:p>
        </p:txBody>
      </p:sp>
      <p:sp>
        <p:nvSpPr>
          <p:cNvPr id="5" name="ADS card 5"/>
          <p:cNvSpPr/>
          <p:nvPr/>
        </p:nvSpPr>
        <p:spPr>
          <a:xfrm>
            <a:off x="365760" y="1024128"/>
            <a:ext cx="73152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ADS head 6"/>
          <p:cNvSpPr txBox="1"/>
          <p:nvPr/>
        </p:nvSpPr>
        <p:spPr>
          <a:xfrm>
            <a:off x="548640" y="1152144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Как работает механика</a:t>
            </a:r>
            <a:endParaRPr lang="ru-RU" sz="1200" dirty="0"/>
          </a:p>
        </p:txBody>
      </p:sp>
      <p:sp>
        <p:nvSpPr>
          <p:cNvPr id="7" name="ADS thesis 7"/>
          <p:cNvSpPr txBox="1"/>
          <p:nvPr/>
        </p:nvSpPr>
        <p:spPr>
          <a:xfrm>
            <a:off x="548640" y="1499616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Поставщик платит за покупку своего товара, а не за показ - это модель перформанса</a:t>
            </a:r>
            <a:endParaRPr lang="ru-RU" sz="1200" dirty="0"/>
          </a:p>
        </p:txBody>
      </p:sp>
      <p:sp>
        <p:nvSpPr>
          <p:cNvPr id="8" name="ADS line 8"/>
          <p:cNvSpPr/>
          <p:nvPr/>
        </p:nvSpPr>
        <p:spPr>
          <a:xfrm>
            <a:off x="548640" y="2011680"/>
            <a:ext cx="69494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label 9"/>
          <p:cNvSpPr txBox="1"/>
          <p:nvPr/>
        </p:nvSpPr>
        <p:spPr>
          <a:xfrm>
            <a:off x="548640" y="208483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от бюджета поставщика до повторной покупки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548640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40080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Бюджет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повышенный кэшбэк баллами на SKU</a:t>
            </a:r>
            <a:endParaRPr lang="ru-RU" sz="1200" dirty="0"/>
          </a:p>
        </p:txBody>
      </p:sp>
      <p:sp>
        <p:nvSpPr>
          <p:cNvPr id="12" name="ADS arrow 12"/>
          <p:cNvSpPr/>
          <p:nvPr/>
        </p:nvSpPr>
        <p:spPr>
          <a:xfrm rot="5400000">
            <a:off x="1772107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 13"/>
          <p:cNvSpPr/>
          <p:nvPr/>
        </p:nvSpPr>
        <p:spPr>
          <a:xfrm>
            <a:off x="1982419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4" name="ADS chiptxt 14"/>
          <p:cNvSpPr txBox="1"/>
          <p:nvPr/>
        </p:nvSpPr>
        <p:spPr>
          <a:xfrm>
            <a:off x="2073859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Таргетинг М+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оффер по истории покупок в приложении и чеке</a:t>
            </a:r>
            <a:endParaRPr lang="ru-RU" sz="1200" dirty="0"/>
          </a:p>
        </p:txBody>
      </p:sp>
      <p:sp>
        <p:nvSpPr>
          <p:cNvPr id="15" name="ADS arrow 15"/>
          <p:cNvSpPr/>
          <p:nvPr/>
        </p:nvSpPr>
        <p:spPr>
          <a:xfrm rot="5400000">
            <a:off x="3205886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chip 16"/>
          <p:cNvSpPr/>
          <p:nvPr/>
        </p:nvSpPr>
        <p:spPr>
          <a:xfrm>
            <a:off x="3416198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ADS chiptxt 17"/>
          <p:cNvSpPr txBox="1"/>
          <p:nvPr/>
        </p:nvSpPr>
        <p:spPr>
          <a:xfrm>
            <a:off x="3507638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Покупка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онлайн или в магазине по карте М+</a:t>
            </a:r>
            <a:endParaRPr lang="ru-RU" sz="1200" dirty="0"/>
          </a:p>
        </p:txBody>
      </p:sp>
      <p:sp>
        <p:nvSpPr>
          <p:cNvPr id="18" name="ADS arrow 18"/>
          <p:cNvSpPr/>
          <p:nvPr/>
        </p:nvSpPr>
        <p:spPr>
          <a:xfrm rot="5400000">
            <a:off x="4639665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pink 19"/>
          <p:cNvSpPr/>
          <p:nvPr/>
        </p:nvSpPr>
        <p:spPr>
          <a:xfrm>
            <a:off x="4849977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ADS pinktxt 20"/>
          <p:cNvSpPr txBox="1"/>
          <p:nvPr/>
        </p:nvSpPr>
        <p:spPr>
          <a:xfrm>
            <a:off x="4941417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Начисление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только после покупки - оплата за результат</a:t>
            </a:r>
            <a:endParaRPr lang="ru-RU" sz="1200" dirty="0"/>
          </a:p>
        </p:txBody>
      </p:sp>
      <p:sp>
        <p:nvSpPr>
          <p:cNvPr id="21" name="ADS arrow 21"/>
          <p:cNvSpPr/>
          <p:nvPr/>
        </p:nvSpPr>
        <p:spPr>
          <a:xfrm rot="5400000">
            <a:off x="6073444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2" name="ADS chip 22"/>
          <p:cNvSpPr/>
          <p:nvPr/>
        </p:nvSpPr>
        <p:spPr>
          <a:xfrm>
            <a:off x="6283756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chiptxt 23"/>
          <p:cNvSpPr txBox="1"/>
          <p:nvPr/>
        </p:nvSpPr>
        <p:spPr>
          <a:xfrm>
            <a:off x="6375196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Списание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покупатель возвращается в Магнит</a:t>
            </a:r>
            <a:endParaRPr lang="ru-RU" sz="1200" dirty="0"/>
          </a:p>
        </p:txBody>
      </p:sp>
      <p:sp>
        <p:nvSpPr>
          <p:cNvPr id="24" name="ADS label 24"/>
          <p:cNvSpPr txBox="1"/>
          <p:nvPr/>
        </p:nvSpPr>
        <p:spPr>
          <a:xfrm>
            <a:off x="548640" y="351129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Почему это перформанс-инструмент</a:t>
            </a:r>
            <a:endParaRPr lang="ru-RU" sz="1200" dirty="0"/>
          </a:p>
        </p:txBody>
      </p:sp>
      <p:sp>
        <p:nvSpPr>
          <p:cNvPr id="25" name="ADS chip 25"/>
          <p:cNvSpPr/>
          <p:nvPr/>
        </p:nvSpPr>
        <p:spPr>
          <a:xfrm>
            <a:off x="548640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chiptxt 26"/>
          <p:cNvSpPr txBox="1"/>
          <p:nvPr/>
        </p:nvSpPr>
        <p:spPr>
          <a:xfrm>
            <a:off x="658368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Оплата за результат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расходуется только на фактические покупки SKU - аналог CPA и CPO</a:t>
            </a:r>
            <a:endParaRPr lang="ru-RU" sz="1200" dirty="0"/>
          </a:p>
        </p:txBody>
      </p:sp>
      <p:sp>
        <p:nvSpPr>
          <p:cNvPr id="27" name="ADS chip 27"/>
          <p:cNvSpPr/>
          <p:nvPr/>
        </p:nvSpPr>
        <p:spPr>
          <a:xfrm>
            <a:off x="2901696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chiptxt 28"/>
          <p:cNvSpPr txBox="1"/>
          <p:nvPr/>
        </p:nvSpPr>
        <p:spPr>
          <a:xfrm>
            <a:off x="3011424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Замкнутая аналитика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покупка привязана к ID лояльности: видим инкремент продаж и повтор онлайн и офлайн</a:t>
            </a:r>
            <a:endParaRPr lang="ru-RU" sz="1200" dirty="0"/>
          </a:p>
        </p:txBody>
      </p:sp>
      <p:sp>
        <p:nvSpPr>
          <p:cNvPr id="29" name="ADS chip 29"/>
          <p:cNvSpPr/>
          <p:nvPr/>
        </p:nvSpPr>
        <p:spPr>
          <a:xfrm>
            <a:off x="5254751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chiptxt 30"/>
          <p:cNvSpPr txBox="1"/>
          <p:nvPr/>
        </p:nvSpPr>
        <p:spPr>
          <a:xfrm>
            <a:off x="5364480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Точный таргетинг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сегменты по чекам М+: новые покупатели, отток, кросс-категории</a:t>
            </a:r>
            <a:endParaRPr lang="ru-RU" sz="1200" dirty="0"/>
          </a:p>
        </p:txBody>
      </p:sp>
      <p:sp>
        <p:nvSpPr>
          <p:cNvPr id="31" name="ADS pink 31"/>
          <p:cNvSpPr/>
          <p:nvPr/>
        </p:nvSpPr>
        <p:spPr>
          <a:xfrm>
            <a:off x="548640" y="4901183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ADS pinktxt 32"/>
          <p:cNvSpPr txBox="1"/>
          <p:nvPr/>
        </p:nvSpPr>
        <p:spPr>
          <a:xfrm>
            <a:off x="640080" y="4946903"/>
            <a:ext cx="6766559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Эффект для поставщика - измеримый прирост продаж и новых покупателей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Магнита - рост трафика и частоты покупок без отдельного рекламного бюджета</a:t>
            </a:r>
            <a:endParaRPr lang="ru-RU" sz="1200" dirty="0"/>
          </a:p>
        </p:txBody>
      </p:sp>
      <p:sp>
        <p:nvSpPr>
          <p:cNvPr id="33" name="ADS card 33"/>
          <p:cNvSpPr/>
          <p:nvPr/>
        </p:nvSpPr>
        <p:spPr>
          <a:xfrm>
            <a:off x="7863840" y="1024128"/>
            <a:ext cx="395935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head 34"/>
          <p:cNvSpPr txBox="1"/>
          <p:nvPr/>
        </p:nvSpPr>
        <p:spPr>
          <a:xfrm>
            <a:off x="8046719" y="1152144"/>
            <a:ext cx="35935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М+ в контуре AdTech</a:t>
            </a:r>
            <a:endParaRPr lang="ru-RU" sz="1200" dirty="0"/>
          </a:p>
        </p:txBody>
      </p:sp>
      <p:sp>
        <p:nvSpPr>
          <p:cNvPr id="35" name="ADS thesis 35"/>
          <p:cNvSpPr txBox="1"/>
          <p:nvPr/>
        </p:nvSpPr>
        <p:spPr>
          <a:xfrm>
            <a:off x="8046719" y="1499616"/>
            <a:ext cx="35935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Монетизацию М+ ведет общий sales force AdTech</a:t>
            </a:r>
            <a:endParaRPr lang="ru-RU" sz="1200" dirty="0"/>
          </a:p>
        </p:txBody>
      </p:sp>
      <p:sp>
        <p:nvSpPr>
          <p:cNvPr id="36" name="ADS line 36"/>
          <p:cNvSpPr/>
          <p:nvPr/>
        </p:nvSpPr>
        <p:spPr>
          <a:xfrm>
            <a:off x="8046719" y="2011680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label 37"/>
          <p:cNvSpPr txBox="1"/>
          <p:nvPr/>
        </p:nvSpPr>
        <p:spPr>
          <a:xfrm>
            <a:off x="8046719" y="2084832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Масштаб</a:t>
            </a:r>
            <a:endParaRPr lang="ru-RU" sz="1200" dirty="0"/>
          </a:p>
        </p:txBody>
      </p:sp>
      <p:sp>
        <p:nvSpPr>
          <p:cNvPr id="38" name="ADS label 38"/>
          <p:cNvSpPr txBox="1"/>
          <p:nvPr/>
        </p:nvSpPr>
        <p:spPr>
          <a:xfrm>
            <a:off x="8046720" y="234086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~</a:t>
            </a:r>
            <a:r>
              <a:rPr lang="en-US" sz="2200" b="1" dirty="0">
                <a:solidFill>
                  <a:srgbClr val="FF452C"/>
                </a:solidFill>
                <a:latin typeface="Arial"/>
                <a:cs typeface="Arial"/>
              </a:rPr>
              <a:t>5,4</a:t>
            </a: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 млрд руб.</a:t>
            </a:r>
            <a:endParaRPr lang="ru-RU" sz="1200" dirty="0"/>
          </a:p>
        </p:txBody>
      </p:sp>
      <p:sp>
        <p:nvSpPr>
          <p:cNvPr id="39" name="ADS label 39"/>
          <p:cNvSpPr txBox="1"/>
          <p:nvPr/>
        </p:nvSpPr>
        <p:spPr>
          <a:xfrm>
            <a:off x="8046720" y="272491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потенциал инвентаря М+ (CRM / CVM) в 2026 г.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8046720" y="311810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20-25 млн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8046720" y="350215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DAC, которые пользуются программой лояльности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8046720" y="3968496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8046720" y="4041648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Что делаем в 2027 г.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8046720" y="4315968"/>
            <a:ext cx="359359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Реализуем условные бонусы на инвентаре М+ (кроме игр)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Включаем кэшбэк баллами в перформанс-пакеты вместе с поиском и in-store у полки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Продаем М+ единым оффером с другим инвентарем - кратный рост выручки г/г</a:t>
            </a:r>
            <a:endParaRPr lang="ru-RU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Magnit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Magnit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Magnit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1 484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213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3 931 млн руб. 2027 ·  +61%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2 851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477105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КУ - </a:t>
            </a:r>
            <a:r>
              <a:rPr dirty="0" err="1">
                <a:solidFill>
                  <a:srgbClr val="6E6E6E"/>
                </a:solidFill>
              </a:rPr>
              <a:t>коммерческие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условия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поставщиками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Объединяем управление маркетинговым инвентарем Магнита в AdTech и забираем весь остаточный рекламный инструментарий</a:t>
            </a:r>
          </a:p>
        </p:txBody>
      </p:sp>
      <p:sp>
        <p:nvSpPr>
          <p:cNvPr id="66" name="ADS card 66"/>
          <p:cNvSpPr/>
          <p:nvPr/>
        </p:nvSpPr>
        <p:spPr>
          <a:xfrm>
            <a:off x="365760" y="1024128"/>
            <a:ext cx="54864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7" name="ADS head 67"/>
          <p:cNvSpPr txBox="1"/>
          <p:nvPr/>
        </p:nvSpPr>
        <p:spPr>
          <a:xfrm>
            <a:off x="548640" y="1152144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Маркетинговый инвентарь Магнит</a:t>
            </a:r>
            <a:endParaRPr lang="ru-RU" sz="1200" dirty="0"/>
          </a:p>
        </p:txBody>
      </p:sp>
      <p:sp>
        <p:nvSpPr>
          <p:cNvPr id="68" name="ADS thesis 68"/>
          <p:cNvSpPr txBox="1"/>
          <p:nvPr/>
        </p:nvSpPr>
        <p:spPr>
          <a:xfrm>
            <a:off x="548640" y="1499616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Сегодня инвентарь распределен по бизнесам - собираем его в одном контуре AdTech</a:t>
            </a:r>
            <a:endParaRPr lang="ru-RU" sz="1200" dirty="0"/>
          </a:p>
        </p:txBody>
      </p:sp>
      <p:sp>
        <p:nvSpPr>
          <p:cNvPr id="69" name="ADS line 69"/>
          <p:cNvSpPr/>
          <p:nvPr/>
        </p:nvSpPr>
        <p:spPr>
          <a:xfrm>
            <a:off x="548640" y="1965960"/>
            <a:ext cx="51206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0" name="ADS chip 70"/>
          <p:cNvSpPr/>
          <p:nvPr/>
        </p:nvSpPr>
        <p:spPr>
          <a:xfrm>
            <a:off x="548640" y="207568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1" name="ADS chiptxt 71"/>
          <p:cNvSpPr txBox="1"/>
          <p:nvPr/>
        </p:nvSpPr>
        <p:spPr>
          <a:xfrm>
            <a:off x="640080" y="212140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Приложение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2350008" y="207568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Медиа, поиск и рекомендации</a:t>
            </a:r>
            <a:endParaRPr lang="ru-RU" sz="1200" dirty="0"/>
          </a:p>
        </p:txBody>
      </p:sp>
      <p:sp>
        <p:nvSpPr>
          <p:cNvPr id="73" name="ADS chip 73"/>
          <p:cNvSpPr/>
          <p:nvPr/>
        </p:nvSpPr>
        <p:spPr>
          <a:xfrm>
            <a:off x="4709160" y="216712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4" name="ADS label 74"/>
          <p:cNvSpPr txBox="1"/>
          <p:nvPr/>
        </p:nvSpPr>
        <p:spPr>
          <a:xfrm>
            <a:off x="4709160" y="216712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75" name="ADS chip 75"/>
          <p:cNvSpPr/>
          <p:nvPr/>
        </p:nvSpPr>
        <p:spPr>
          <a:xfrm>
            <a:off x="548640" y="256032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6" name="ADS chiptxt 76"/>
          <p:cNvSpPr txBox="1"/>
          <p:nvPr/>
        </p:nvSpPr>
        <p:spPr>
          <a:xfrm>
            <a:off x="640080" y="260604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Digital in-store</a:t>
            </a:r>
            <a:endParaRPr lang="ru-RU" sz="1200" dirty="0"/>
          </a:p>
        </p:txBody>
      </p:sp>
      <p:sp>
        <p:nvSpPr>
          <p:cNvPr id="77" name="ADS label 77"/>
          <p:cNvSpPr txBox="1"/>
          <p:nvPr/>
        </p:nvSpPr>
        <p:spPr>
          <a:xfrm>
            <a:off x="2350008" y="256032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81 тыс. устройств, Online + DMP, DMP</a:t>
            </a:r>
            <a:endParaRPr lang="ru-RU" sz="1200" dirty="0"/>
          </a:p>
        </p:txBody>
      </p:sp>
      <p:sp>
        <p:nvSpPr>
          <p:cNvPr id="78" name="ADS chip 78"/>
          <p:cNvSpPr/>
          <p:nvPr/>
        </p:nvSpPr>
        <p:spPr>
          <a:xfrm>
            <a:off x="4709160" y="265176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9" name="ADS label 79"/>
          <p:cNvSpPr txBox="1"/>
          <p:nvPr/>
        </p:nvSpPr>
        <p:spPr>
          <a:xfrm>
            <a:off x="4709160" y="265176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80" name="ADS chip 80"/>
          <p:cNvSpPr/>
          <p:nvPr/>
        </p:nvSpPr>
        <p:spPr>
          <a:xfrm>
            <a:off x="548640" y="304495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1" name="ADS chiptxt 81"/>
          <p:cNvSpPr txBox="1"/>
          <p:nvPr/>
        </p:nvSpPr>
        <p:spPr>
          <a:xfrm>
            <a:off x="640080" y="309067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</p:txBody>
      </p:sp>
      <p:sp>
        <p:nvSpPr>
          <p:cNvPr id="82" name="ADS label 82"/>
          <p:cNvSpPr txBox="1"/>
          <p:nvPr/>
        </p:nvSpPr>
        <p:spPr>
          <a:xfrm>
            <a:off x="2350008" y="304495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Инвентарь лояльности, кроме игр</a:t>
            </a:r>
            <a:endParaRPr lang="ru-RU" sz="1200" dirty="0"/>
          </a:p>
        </p:txBody>
      </p:sp>
      <p:sp>
        <p:nvSpPr>
          <p:cNvPr id="83" name="ADS chip 83"/>
          <p:cNvSpPr/>
          <p:nvPr/>
        </p:nvSpPr>
        <p:spPr>
          <a:xfrm>
            <a:off x="4709160" y="313639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4" name="ADS label 84"/>
          <p:cNvSpPr txBox="1"/>
          <p:nvPr/>
        </p:nvSpPr>
        <p:spPr>
          <a:xfrm>
            <a:off x="4709160" y="313639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С 2026 г.</a:t>
            </a:r>
            <a:endParaRPr lang="ru-RU" sz="1200" dirty="0"/>
          </a:p>
        </p:txBody>
      </p:sp>
      <p:sp>
        <p:nvSpPr>
          <p:cNvPr id="85" name="ADS chip 85"/>
          <p:cNvSpPr/>
          <p:nvPr/>
        </p:nvSpPr>
        <p:spPr>
          <a:xfrm>
            <a:off x="548640" y="3529584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6" name="ADS chiptxt 86"/>
          <p:cNvSpPr txBox="1"/>
          <p:nvPr/>
        </p:nvSpPr>
        <p:spPr>
          <a:xfrm>
            <a:off x="640080" y="3575304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UGC и соцсети</a:t>
            </a:r>
            <a:endParaRPr lang="ru-RU" sz="1200" dirty="0"/>
          </a:p>
        </p:txBody>
      </p:sp>
      <p:sp>
        <p:nvSpPr>
          <p:cNvPr id="87" name="ADS label 87"/>
          <p:cNvSpPr txBox="1"/>
          <p:nvPr/>
        </p:nvSpPr>
        <p:spPr>
          <a:xfrm>
            <a:off x="2350008" y="3529584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UGC-factory: 12,3 млн → 500+ млн просмотров</a:t>
            </a:r>
            <a:endParaRPr lang="ru-RU" sz="1200" dirty="0"/>
          </a:p>
        </p:txBody>
      </p:sp>
      <p:sp>
        <p:nvSpPr>
          <p:cNvPr id="88" name="ADS chip 88"/>
          <p:cNvSpPr/>
          <p:nvPr/>
        </p:nvSpPr>
        <p:spPr>
          <a:xfrm>
            <a:off x="4709160" y="3621024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9" name="ADS label 89"/>
          <p:cNvSpPr txBox="1"/>
          <p:nvPr/>
        </p:nvSpPr>
        <p:spPr>
          <a:xfrm>
            <a:off x="4709160" y="3621024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Пилот</a:t>
            </a:r>
            <a:endParaRPr lang="ru-RU" sz="1200" dirty="0"/>
          </a:p>
        </p:txBody>
      </p:sp>
      <p:sp>
        <p:nvSpPr>
          <p:cNvPr id="90" name="ADS chip 90"/>
          <p:cNvSpPr/>
          <p:nvPr/>
        </p:nvSpPr>
        <p:spPr>
          <a:xfrm>
            <a:off x="548640" y="4014216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1" name="ADS chiptxt 91"/>
          <p:cNvSpPr txBox="1"/>
          <p:nvPr/>
        </p:nvSpPr>
        <p:spPr>
          <a:xfrm>
            <a:off x="640080" y="4059936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</p:txBody>
      </p:sp>
      <p:sp>
        <p:nvSpPr>
          <p:cNvPr id="92" name="ADS label 92"/>
          <p:cNvSpPr txBox="1"/>
          <p:nvPr/>
        </p:nvSpPr>
        <p:spPr>
          <a:xfrm>
            <a:off x="2350008" y="4014216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Витрина финансовых продуктов</a:t>
            </a:r>
            <a:endParaRPr lang="ru-RU" sz="1200" dirty="0"/>
          </a:p>
        </p:txBody>
      </p:sp>
      <p:sp>
        <p:nvSpPr>
          <p:cNvPr id="93" name="ADS chip 93"/>
          <p:cNvSpPr/>
          <p:nvPr/>
        </p:nvSpPr>
        <p:spPr>
          <a:xfrm>
            <a:off x="4709160" y="4105656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4" name="ADS label 94"/>
          <p:cNvSpPr txBox="1"/>
          <p:nvPr/>
        </p:nvSpPr>
        <p:spPr>
          <a:xfrm>
            <a:off x="4709160" y="4105656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Магнит</a:t>
            </a:r>
            <a:endParaRPr lang="ru-RU" sz="1200" dirty="0"/>
          </a:p>
        </p:txBody>
      </p:sp>
      <p:sp>
        <p:nvSpPr>
          <p:cNvPr id="95" name="ADS chip 95"/>
          <p:cNvSpPr/>
          <p:nvPr/>
        </p:nvSpPr>
        <p:spPr>
          <a:xfrm>
            <a:off x="548640" y="449884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6" name="ADS chiptxt 96"/>
          <p:cNvSpPr txBox="1"/>
          <p:nvPr/>
        </p:nvSpPr>
        <p:spPr>
          <a:xfrm>
            <a:off x="640080" y="454456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РИМ и полка</a:t>
            </a:r>
            <a:endParaRPr lang="ru-RU" sz="1200" dirty="0"/>
          </a:p>
        </p:txBody>
      </p:sp>
      <p:sp>
        <p:nvSpPr>
          <p:cNvPr id="97" name="ADS label 97"/>
          <p:cNvSpPr txBox="1"/>
          <p:nvPr/>
        </p:nvSpPr>
        <p:spPr>
          <a:xfrm>
            <a:off x="2350008" y="449884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Бронирование, фиксация, аукцион за полку</a:t>
            </a:r>
            <a:endParaRPr lang="ru-RU" sz="1200" dirty="0"/>
          </a:p>
        </p:txBody>
      </p:sp>
      <p:sp>
        <p:nvSpPr>
          <p:cNvPr id="98" name="ADS chip 98"/>
          <p:cNvSpPr/>
          <p:nvPr/>
        </p:nvSpPr>
        <p:spPr>
          <a:xfrm>
            <a:off x="4709160" y="459028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9" name="ADS label 99"/>
          <p:cNvSpPr txBox="1"/>
          <p:nvPr/>
        </p:nvSpPr>
        <p:spPr>
          <a:xfrm>
            <a:off x="4709160" y="459028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Переводим</a:t>
            </a:r>
            <a:endParaRPr lang="ru-RU" sz="1200" dirty="0"/>
          </a:p>
        </p:txBody>
      </p:sp>
      <p:sp>
        <p:nvSpPr>
          <p:cNvPr id="100" name="ADS chip 100"/>
          <p:cNvSpPr/>
          <p:nvPr/>
        </p:nvSpPr>
        <p:spPr>
          <a:xfrm>
            <a:off x="548640" y="498348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ADS chiptxt 101"/>
          <p:cNvSpPr txBox="1"/>
          <p:nvPr/>
        </p:nvSpPr>
        <p:spPr>
          <a:xfrm>
            <a:off x="640080" y="502920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Внутренние коммуникации</a:t>
            </a:r>
            <a:endParaRPr lang="ru-RU" sz="1200" dirty="0"/>
          </a:p>
        </p:txBody>
      </p:sp>
      <p:sp>
        <p:nvSpPr>
          <p:cNvPr id="102" name="ADS label 102"/>
          <p:cNvSpPr txBox="1"/>
          <p:nvPr/>
        </p:nvSpPr>
        <p:spPr>
          <a:xfrm>
            <a:off x="2350008" y="498348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Промо, лояльность, A/B-виджеты - квота 50%</a:t>
            </a:r>
            <a:endParaRPr lang="ru-RU" sz="1200" dirty="0"/>
          </a:p>
        </p:txBody>
      </p:sp>
      <p:sp>
        <p:nvSpPr>
          <p:cNvPr id="103" name="ADS chip 103"/>
          <p:cNvSpPr/>
          <p:nvPr/>
        </p:nvSpPr>
        <p:spPr>
          <a:xfrm>
            <a:off x="4709160" y="507492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" name="ADS label 104"/>
          <p:cNvSpPr txBox="1"/>
          <p:nvPr/>
        </p:nvSpPr>
        <p:spPr>
          <a:xfrm>
            <a:off x="4709160" y="507492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Delivery</a:t>
            </a:r>
            <a:endParaRPr lang="ru-RU" sz="1200" dirty="0"/>
          </a:p>
        </p:txBody>
      </p:sp>
      <p:sp>
        <p:nvSpPr>
          <p:cNvPr id="105" name="ADS chip 105"/>
          <p:cNvSpPr/>
          <p:nvPr/>
        </p:nvSpPr>
        <p:spPr>
          <a:xfrm>
            <a:off x="548640" y="546811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ADS chiptxt 106"/>
          <p:cNvSpPr txBox="1"/>
          <p:nvPr/>
        </p:nvSpPr>
        <p:spPr>
          <a:xfrm>
            <a:off x="640080" y="551383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Бренд-бюджеты вне КУ</a:t>
            </a:r>
            <a:endParaRPr lang="ru-RU" sz="1200" dirty="0"/>
          </a:p>
        </p:txBody>
      </p:sp>
      <p:sp>
        <p:nvSpPr>
          <p:cNvPr id="107" name="ADS label 107"/>
          <p:cNvSpPr txBox="1"/>
          <p:nvPr/>
        </p:nvSpPr>
        <p:spPr>
          <a:xfrm>
            <a:off x="2350008" y="546811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Весь инвентарь через ЮЛ Магнит Маркета</a:t>
            </a:r>
            <a:endParaRPr lang="ru-RU" sz="1200" dirty="0"/>
          </a:p>
        </p:txBody>
      </p:sp>
      <p:sp>
        <p:nvSpPr>
          <p:cNvPr id="108" name="ADS chip 108"/>
          <p:cNvSpPr/>
          <p:nvPr/>
        </p:nvSpPr>
        <p:spPr>
          <a:xfrm>
            <a:off x="4709160" y="555955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" name="ADS label 109"/>
          <p:cNvSpPr txBox="1"/>
          <p:nvPr/>
        </p:nvSpPr>
        <p:spPr>
          <a:xfrm>
            <a:off x="4709160" y="555955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595959"/>
                </a:solidFill>
                <a:latin typeface="Arial"/>
                <a:cs typeface="Arial"/>
              </a:rPr>
              <a:t>Q4 2027</a:t>
            </a:r>
            <a:endParaRPr lang="ru-RU" sz="1200" dirty="0"/>
          </a:p>
        </p:txBody>
      </p:sp>
      <p:sp>
        <p:nvSpPr>
          <p:cNvPr id="110" name="ADS arrow 110"/>
          <p:cNvSpPr/>
          <p:nvPr/>
        </p:nvSpPr>
        <p:spPr>
          <a:xfrm rot="5400000">
            <a:off x="5865876" y="3506724"/>
            <a:ext cx="310896" cy="155448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1" name="ADS card 111"/>
          <p:cNvSpPr/>
          <p:nvPr/>
        </p:nvSpPr>
        <p:spPr>
          <a:xfrm>
            <a:off x="6355080" y="1024128"/>
            <a:ext cx="5468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2" name="ADS head 112"/>
          <p:cNvSpPr txBox="1"/>
          <p:nvPr/>
        </p:nvSpPr>
        <p:spPr>
          <a:xfrm>
            <a:off x="6537960" y="1152144"/>
            <a:ext cx="5102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AdTech - единый оператор инвентаря</a:t>
            </a:r>
            <a:endParaRPr lang="ru-RU" sz="1200" dirty="0"/>
          </a:p>
        </p:txBody>
      </p:sp>
      <p:sp>
        <p:nvSpPr>
          <p:cNvPr id="113" name="ADS thesis 113"/>
          <p:cNvSpPr txBox="1"/>
          <p:nvPr/>
        </p:nvSpPr>
        <p:spPr>
          <a:xfrm>
            <a:off x="6537960" y="1499616"/>
            <a:ext cx="5102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Весь инвентарь - через одну платформу, одну команду продаж и один процесс</a:t>
            </a:r>
            <a:endParaRPr lang="ru-RU" sz="1200" dirty="0"/>
          </a:p>
        </p:txBody>
      </p:sp>
      <p:sp>
        <p:nvSpPr>
          <p:cNvPr id="114" name="ADS line 114"/>
          <p:cNvSpPr/>
          <p:nvPr/>
        </p:nvSpPr>
        <p:spPr>
          <a:xfrm>
            <a:off x="6537960" y="1965960"/>
            <a:ext cx="5102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5" name="ADS label 115"/>
          <p:cNvSpPr txBox="1"/>
          <p:nvPr/>
        </p:nvSpPr>
        <p:spPr>
          <a:xfrm>
            <a:off x="6537960" y="203911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работает</a:t>
            </a:r>
            <a:endParaRPr lang="ru-RU" sz="1200" dirty="0"/>
          </a:p>
        </p:txBody>
      </p:sp>
      <p:sp>
        <p:nvSpPr>
          <p:cNvPr id="116" name="ADS chip 116"/>
          <p:cNvSpPr/>
          <p:nvPr/>
        </p:nvSpPr>
        <p:spPr>
          <a:xfrm>
            <a:off x="6537960" y="2295144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7" name="ADS chiptxt 117"/>
          <p:cNvSpPr txBox="1"/>
          <p:nvPr/>
        </p:nvSpPr>
        <p:spPr>
          <a:xfrm>
            <a:off x="6675120" y="2340864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Единая delivery-платформа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выбирает показ между рекламой поставщиков и НЕ поставщиков, промо, лояльностью и экспериментами по единой политике</a:t>
            </a:r>
            <a:endParaRPr lang="ru-RU" sz="1200" dirty="0"/>
          </a:p>
        </p:txBody>
      </p:sp>
      <p:sp>
        <p:nvSpPr>
          <p:cNvPr id="118" name="ADS chip 118"/>
          <p:cNvSpPr/>
          <p:nvPr/>
        </p:nvSpPr>
        <p:spPr>
          <a:xfrm>
            <a:off x="6537960" y="3008376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9" name="ADS chiptxt 119"/>
          <p:cNvSpPr txBox="1"/>
          <p:nvPr/>
        </p:nvSpPr>
        <p:spPr>
          <a:xfrm>
            <a:off x="6675120" y="3054096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sales force и оффер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поставщики, НЕ поставщики и бренд-бюджеты получают один пакет на весь инвентарь группы</a:t>
            </a:r>
            <a:endParaRPr lang="ru-RU" sz="1200" dirty="0"/>
          </a:p>
        </p:txBody>
      </p:sp>
      <p:sp>
        <p:nvSpPr>
          <p:cNvPr id="120" name="ADS chip 120"/>
          <p:cNvSpPr/>
          <p:nvPr/>
        </p:nvSpPr>
        <p:spPr>
          <a:xfrm>
            <a:off x="6537960" y="3721608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1" name="ADS chiptxt 121"/>
          <p:cNvSpPr txBox="1"/>
          <p:nvPr/>
        </p:nvSpPr>
        <p:spPr>
          <a:xfrm>
            <a:off x="6675120" y="3767328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процесс размещения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бронирование, расчет емкости, фиксация, подсчет результатов и закрывающие документы - в платформе</a:t>
            </a:r>
            <a:endParaRPr lang="ru-RU" sz="1200" dirty="0"/>
          </a:p>
        </p:txBody>
      </p:sp>
      <p:sp>
        <p:nvSpPr>
          <p:cNvPr id="122" name="ADS label 122"/>
          <p:cNvSpPr txBox="1"/>
          <p:nvPr/>
        </p:nvSpPr>
        <p:spPr>
          <a:xfrm>
            <a:off x="6537960" y="450799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Эффект для Магнита</a:t>
            </a:r>
            <a:endParaRPr lang="ru-RU" sz="1200" dirty="0"/>
          </a:p>
        </p:txBody>
      </p:sp>
      <p:sp>
        <p:nvSpPr>
          <p:cNvPr id="123" name="ADS pink 123"/>
          <p:cNvSpPr/>
          <p:nvPr/>
        </p:nvSpPr>
        <p:spPr>
          <a:xfrm>
            <a:off x="6537960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4" name="ADS pinktxt 124"/>
          <p:cNvSpPr txBox="1"/>
          <p:nvPr/>
        </p:nvSpPr>
        <p:spPr>
          <a:xfrm>
            <a:off x="6629400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Одна точка входа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поставщика на весь инвентарь</a:t>
            </a:r>
            <a:endParaRPr lang="ru-RU" sz="1200" dirty="0"/>
          </a:p>
        </p:txBody>
      </p:sp>
      <p:sp>
        <p:nvSpPr>
          <p:cNvPr id="125" name="ADS pink 125"/>
          <p:cNvSpPr/>
          <p:nvPr/>
        </p:nvSpPr>
        <p:spPr>
          <a:xfrm>
            <a:off x="8269224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6" name="ADS pinktxt 126"/>
          <p:cNvSpPr txBox="1"/>
          <p:nvPr/>
        </p:nvSpPr>
        <p:spPr>
          <a:xfrm>
            <a:off x="8360663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Омниканальные пакеты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приложение, in-store, соцсети и внешние площадки</a:t>
            </a:r>
            <a:endParaRPr lang="ru-RU" sz="1200" dirty="0"/>
          </a:p>
        </p:txBody>
      </p:sp>
      <p:sp>
        <p:nvSpPr>
          <p:cNvPr id="127" name="ADS pink 127"/>
          <p:cNvSpPr/>
          <p:nvPr/>
        </p:nvSpPr>
        <p:spPr>
          <a:xfrm>
            <a:off x="10000488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8" name="ADS pinktxt 128"/>
          <p:cNvSpPr txBox="1"/>
          <p:nvPr/>
        </p:nvSpPr>
        <p:spPr>
          <a:xfrm>
            <a:off x="10091928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Остаточный инвентарь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монетизируем без ущерба задачам марком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3360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54864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ADS label 39"/>
          <p:cNvSpPr txBox="1"/>
          <p:nvPr/>
        </p:nvSpPr>
        <p:spPr>
          <a:xfrm>
            <a:off x="54864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54864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Трейд-бюджеты драйвит Коммерция Магнита.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Задача AdTech - освоить эти бюджеты и создать максимальную добавочную ценность рекламы, чтобы поставщик был готов инвестировать в инструментарий дальше</a:t>
            </a:r>
            <a:endParaRPr lang="ru-RU" sz="1200" dirty="0"/>
          </a:p>
        </p:txBody>
      </p:sp>
      <p:sp>
        <p:nvSpPr>
          <p:cNvPr id="41" name="ADS pink 41"/>
          <p:cNvSpPr/>
          <p:nvPr/>
        </p:nvSpPr>
        <p:spPr>
          <a:xfrm>
            <a:off x="54864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ADS pinktxt 42"/>
          <p:cNvSpPr txBox="1"/>
          <p:nvPr/>
        </p:nvSpPr>
        <p:spPr>
          <a:xfrm>
            <a:off x="64008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освоение бюджетов, sales lift и ROAS кампаний, рост повторных инвестиций поставщиков</a:t>
            </a:r>
            <a:endParaRPr lang="ru-RU" sz="1200" dirty="0"/>
          </a:p>
        </p:txBody>
      </p:sp>
      <p:sp>
        <p:nvSpPr>
          <p:cNvPr id="43" name="ADS line 43"/>
          <p:cNvSpPr/>
          <p:nvPr/>
        </p:nvSpPr>
        <p:spPr>
          <a:xfrm>
            <a:off x="640080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4" name="ADS label 44"/>
          <p:cNvSpPr txBox="1"/>
          <p:nvPr/>
        </p:nvSpPr>
        <p:spPr>
          <a:xfrm>
            <a:off x="640080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5" name="ADS label 45"/>
          <p:cNvSpPr txBox="1"/>
          <p:nvPr/>
        </p:nvSpPr>
        <p:spPr>
          <a:xfrm>
            <a:off x="640080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Бренд-бюджеты - выход в новые охватные сегменты.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Конкурируем со всем рынком рекламы и доказываем брендам, что ритейл-медиа эффективнее внешних охватных инструментов: традиционного digital (РСЯ, VK) и DOOH (Russ Outdoor)</a:t>
            </a:r>
            <a:endParaRPr lang="ru-RU" sz="1200" dirty="0"/>
          </a:p>
        </p:txBody>
      </p:sp>
      <p:sp>
        <p:nvSpPr>
          <p:cNvPr id="46" name="ADS pink 46"/>
          <p:cNvSpPr/>
          <p:nvPr/>
        </p:nvSpPr>
        <p:spPr>
          <a:xfrm>
            <a:off x="640080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ADS pinktxt 47"/>
          <p:cNvSpPr txBox="1"/>
          <p:nvPr/>
        </p:nvSpPr>
        <p:spPr>
          <a:xfrm>
            <a:off x="649224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инкрементальная выручка RMN, доля в бренд-бюджетах, brand lift и sales lift против внешних охватов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59756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13 414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3 931;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1 064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- 213)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14,5 млрд руб. (+40%), EBITDA 10,8 млрд руб. (+34%)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47955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(578)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4 154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COGS (маркетинг)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(1 883)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(1 002)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Net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9 443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12 595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3 152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11 656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 (прочий)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(1 358)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(1 771)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(413)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(69)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−2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6 905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роста выручки и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APP +1 501: </a:t>
            </a:r>
            <a:r>
              <a:rPr lang="ru-RU" sz="1100" dirty="0">
                <a:solidFill>
                  <a:srgbClr val="000000"/>
                </a:solidFill>
              </a:rPr>
              <a:t>~60% (+873) — полный год нового прайса (CPM +17%, чек перформанса +26%), ~40% (+628) — рост аудитории: DAC +18% по прогнозу М+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In-store +1 485: </a:t>
            </a:r>
            <a:r>
              <a:rPr lang="ru-RU" sz="1100" dirty="0">
                <a:solidFill>
                  <a:srgbClr val="000000"/>
                </a:solidFill>
              </a:rPr>
              <a:t>полный год оборудования, введённого в 2026 г. (+2 462), ввод 2027 г. (+228); доход на устройство ниже (−1 264, в основном КСО −40%): после быстрого роста парка закладываем снижение утилизации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DMP + Online +613: </a:t>
            </a:r>
            <a:r>
              <a:rPr lang="ru-RU" sz="1100" dirty="0">
                <a:solidFill>
                  <a:srgbClr val="000000"/>
                </a:solidFill>
              </a:rPr>
              <a:t>план команды DMP — новые площадки SmartTV, Авито, маркетплейсы (420) и рост пакетов, баннеров и OLV (+193); маржинальность 37,5%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Новые стримы: </a:t>
            </a:r>
            <a:r>
              <a:rPr lang="ru-RU" sz="1100" dirty="0">
                <a:solidFill>
                  <a:srgbClr val="000000"/>
                </a:solidFill>
              </a:rPr>
              <a:t>RMN 850 (+258) — бренд-бюджеты поставщиков через внешнее ЮЛ; Content factory 213 — продажи внешним рекламодателям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COGS 1 883: </a:t>
            </a:r>
            <a:r>
              <a:rPr lang="ru-RU" sz="1100" dirty="0">
                <a:solidFill>
                  <a:srgbClr val="000000"/>
                </a:solidFill>
              </a:rPr>
              <a:t>закупка трафика DMP 1 000, агентства 795, креаторы Content </a:t>
            </a:r>
            <a:r>
              <a:rPr lang="en-US" sz="1100" noProof="0" dirty="0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88; Net Revenue — 87% Gross Revenue (91% в FC 2026)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PEX 1 436: </a:t>
            </a:r>
            <a:r>
              <a:rPr lang="ru-RU" sz="1100" dirty="0">
                <a:solidFill>
                  <a:srgbClr val="000000"/>
                </a:solidFill>
              </a:rPr>
              <a:t>ФОТ </a:t>
            </a:r>
            <a:r>
              <a:rPr lang="ru-RU" sz="1100" dirty="0" err="1">
                <a:solidFill>
                  <a:srgbClr val="000000"/>
                </a:solidFill>
              </a:rPr>
              <a:t>AdTech</a:t>
            </a:r>
            <a:r>
              <a:rPr lang="ru-RU" sz="1100" dirty="0">
                <a:solidFill>
                  <a:srgbClr val="000000"/>
                </a:solidFill>
              </a:rPr>
              <a:t> 1 370 + команда Content </a:t>
            </a:r>
            <a:r>
              <a:rPr lang="ru-RU" sz="1100" dirty="0" err="1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66; 354 FTE на конец 2027 г. (312 на конец 2026 г.), в 2027 г. штат работает полный год (</a:t>
            </a:r>
            <a:r>
              <a:rPr lang="ru-RU" sz="1100" dirty="0" err="1">
                <a:solidFill>
                  <a:srgbClr val="000000"/>
                </a:solidFill>
              </a:rPr>
              <a:t>full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year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run-rate</a:t>
            </a:r>
            <a:r>
              <a:rPr lang="ru-RU" sz="1100" dirty="0">
                <a:solidFill>
                  <a:srgbClr val="000000"/>
                </a:solidFill>
              </a:rPr>
              <a:t>); 27% ФОТ (510 млн руб.)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2 027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3 040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3 330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6 081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+1 529 млн руб. (+12%), EBITDA +870 млн руб. (+9%)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(3 654)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659: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+654)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1,1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3 931 млн руб.  ·  +61%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1 064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59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28%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внутренних заказчиков — не более 50% инвентаря; доля AdTech в показах на уровне 2026 г., переход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 </a:t>
            </a:r>
            <a:r>
              <a:rPr lang="ru-RU" sz="1200" dirty="0">
                <a:solidFill>
                  <a:srgbClr val="000000"/>
                </a:solidFill>
              </a:rPr>
              <a:t>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Квота 50%: </a:t>
            </a:r>
            <a:r>
              <a:rPr lang="ru-RU" sz="1200" dirty="0">
                <a:solidFill>
                  <a:srgbClr val="000000"/>
                </a:solidFill>
              </a:rPr>
              <a:t>половина инвентаря приложения и digital in-store закреплена за задачами команд Магнита; бюджет 2027 построен на фактической доле AdTech в показах 2026 г. по каждому плейсменту — рост внутренней квоты сверх 50% напрямую сокращает коммерческий инвентарь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 </a:t>
            </a:r>
            <a:r>
              <a:rPr lang="ru-RU" sz="1200" dirty="0">
                <a:solidFill>
                  <a:srgbClr val="000000"/>
                </a:solidFill>
              </a:rPr>
              <a:t>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 </a:t>
            </a:r>
            <a:r>
              <a:rPr lang="ru-RU" sz="1200" dirty="0">
                <a:solidFill>
                  <a:srgbClr val="000000"/>
                </a:solidFill>
              </a:rPr>
              <a:t>при невыполнении плана по аудитории, изменении квоты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4 154 млн руб.: 72%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+865, перформанс +636; ~60% — полный год нового прайса, ~40% — рост аудитории (DAC +18%); 50% квота на инвентарь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+1 485 (+61%): </a:t>
            </a:r>
            <a:r>
              <a:rPr lang="ru-RU" sz="1200" b="0" dirty="0">
                <a:solidFill>
                  <a:srgbClr val="000000"/>
                </a:solidFill>
              </a:rPr>
              <a:t>полный год оборудования, введённого в 2026 г. (+2 462), ввод 2027 г. (+228), доход на устройство −1 264 (КСО −40%)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+213: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креаторов, продажи внешним рекламодателям; ВГО в P&amp;L не отражается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 +1 501 млн руб. (+24%): ~60% роста — полный год нового прайса, ~40% — рост аудитории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Почему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Прайс, +873 (~60%): </a:t>
            </a:r>
            <a:r>
              <a:rPr lang="ru-RU" sz="1200" dirty="0">
                <a:solidFill>
                  <a:srgbClr val="000000"/>
                </a:solidFill>
              </a:rPr>
              <a:t>новый прайс с 09.2026 в 2027 г. действует весь год (в 2026 г. — 4 мес.): средневзвешенный CPM +17%, сторис 70 → 100 тыс. руб. за день, чек перформанса +26% за счёт новых форматов — приоритетный вывод в категории, брендированная категория, подборка «Покупайте с выгодой»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Аудитория, +628 (~40%): </a:t>
            </a:r>
            <a:r>
              <a:rPr lang="ru-RU" sz="1200" dirty="0">
                <a:solidFill>
                  <a:srgbClr val="000000"/>
                </a:solidFill>
              </a:rPr>
              <a:t>DAC +18% по прогнозу М+ — больше показов (+8%) и кампаний (сторис +18%, перформанс +12%)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От чего зависит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План М+ по DAC: </a:t>
            </a:r>
            <a:r>
              <a:rPr lang="ru-RU" sz="1200" dirty="0">
                <a:solidFill>
                  <a:srgbClr val="000000"/>
                </a:solidFill>
              </a:rPr>
              <a:t>число кампаний растёт вместе с аудиторией; при отклонении цель пересматривается пропорционально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Принятие прайса: </a:t>
            </a:r>
            <a:r>
              <a:rPr lang="ru-RU" sz="1200" dirty="0">
                <a:solidFill>
                  <a:srgbClr val="000000"/>
                </a:solidFill>
              </a:rPr>
              <a:t>цены — на уровне прайса 09.2026, дополнительной индексации в 2027 г. не закладываем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Квота: </a:t>
            </a:r>
            <a:r>
              <a:rPr lang="ru-RU" sz="1200" dirty="0">
                <a:solidFill>
                  <a:srgbClr val="000000"/>
                </a:solidFill>
              </a:rPr>
              <a:t>доля AdTech в показах — на уровне факта 2026 г.</a:t>
            </a:r>
          </a:p>
        </p:txBody>
      </p:sp>
      <p:sp>
        <p:nvSpPr>
          <p:cNvPr id="303" name="Sticker 1"/>
          <p:cNvSpPr/>
          <p:nvPr/>
        </p:nvSpPr>
        <p:spPr>
          <a:xfrm>
            <a:off x="7670480" y="5173979"/>
            <a:ext cx="3474720" cy="118872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ru-RU" sz="1100" b="1" dirty="0">
                <a:solidFill>
                  <a:srgbClr val="FFFFFF"/>
                </a:solidFill>
                <a:latin typeface="Arial"/>
              </a:rPr>
              <a:t>Вводные к причинам роста нужно описать подробнее </a:t>
            </a:r>
            <a:r>
              <a:rPr lang="ru-RU" sz="1100" b="1" dirty="0" err="1">
                <a:solidFill>
                  <a:srgbClr val="FFFFFF"/>
                </a:solidFill>
                <a:latin typeface="Arial"/>
              </a:rPr>
              <a:t>бизнесово</a:t>
            </a:r>
            <a:endParaRPr lang="ru-RU" sz="1100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начало года; на конец 2027 г. — 81 419 (ввод 3 250 шелф-баннеров, 428 фасадных экранов, 20 медиафасадов).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+1 485 млн руб. (+61%): основной рост — полный год оборудования, введённого в 2026 г.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221407"/>
              </p:ext>
            </p:extLst>
          </p:nvPr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16 500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4 809 → 2 885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1 853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2 024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33 664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Почему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Полный год ввода 2026 г., +2 462: </a:t>
            </a:r>
            <a:r>
              <a:rPr lang="ru-RU" sz="1100" dirty="0">
                <a:solidFill>
                  <a:srgbClr val="000000"/>
                </a:solidFill>
              </a:rPr>
              <a:t xml:space="preserve">за 2026 г. парк вырос в 2,3 раза (33,7 → 77,7 тыс. устройств): 40,5 тыс. КСО, 2 725 шелф-баннеров и 831 фасадный экран работали 3–4 мес., в 2027 г. — 12 мес.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Ввод 2027 г., +228: </a:t>
            </a:r>
            <a:r>
              <a:rPr lang="ru-RU" sz="1100" dirty="0">
                <a:solidFill>
                  <a:srgbClr val="000000"/>
                </a:solidFill>
              </a:rPr>
              <a:t xml:space="preserve">3 250 шелф-баннеров, 428 фасадных экранов, 20 медиафасадов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Реализация инвентаря, +58: </a:t>
            </a:r>
            <a:r>
              <a:rPr lang="ru-RU" sz="1100" dirty="0">
                <a:solidFill>
                  <a:srgbClr val="000000"/>
                </a:solidFill>
              </a:rPr>
              <a:t xml:space="preserve">92,5% → 100%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Доход на устройство, −1 264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Почему снижается: </a:t>
            </a:r>
            <a:r>
              <a:rPr lang="ru-RU" sz="1100" dirty="0">
                <a:solidFill>
                  <a:srgbClr val="000000"/>
                </a:solidFill>
              </a:rPr>
              <a:t xml:space="preserve">в 2026 г. парк рос опережающими темпами, а в 2027 г. всё новое оборудование работает полный год. Рекламный спрос распределяется на кратно большее число экранов, поэтому закладываем снижение утилизации и, как следствие, среднего дохода на устройство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КСО −40% (4 809 → 2 885 руб.), −1 217: </a:t>
            </a:r>
            <a:r>
              <a:rPr lang="ru-RU" sz="1100" dirty="0">
                <a:solidFill>
                  <a:srgbClr val="000000"/>
                </a:solidFill>
              </a:rPr>
              <a:t xml:space="preserve">парк вырос в 3,5 раза (16,5 → 57 тыс.)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Фасадные экраны −20%, −92: </a:t>
            </a:r>
            <a:r>
              <a:rPr lang="ru-RU" sz="1100" dirty="0">
                <a:solidFill>
                  <a:srgbClr val="000000"/>
                </a:solidFill>
              </a:rPr>
              <a:t xml:space="preserve">парк вырос втрое (0,4 → 1,2 тыс.); TFT −20%, −74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Радио ×4 (506 → 2 024 руб.), +64; шелф-баннеры +5%, +53: </a:t>
            </a:r>
            <a:r>
              <a:rPr lang="ru-RU" sz="1100" dirty="0">
                <a:solidFill>
                  <a:srgbClr val="FF452C"/>
                </a:solidFill>
              </a:rPr>
              <a:t xml:space="preserve">причина изменения</a:t>
            </a: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2 851 млн руб. выручки (+69%)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213 млн руб.  ·  результат 59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18669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(88)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(154)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28%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213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+1 415 млн руб. (+63%): 71%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88 млн руб. (50% оплаты ячеек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213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+2 739 млн руб. (+34%): 66%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+4 154: APP +1 501, In-store +1 485</a:t>
            </a:r>
            <a:r>
              <a:rPr lang="ru-RU" sz="1200" dirty="0">
                <a:solidFill>
                  <a:srgbClr val="000000"/>
                </a:solidFill>
              </a:rPr>
              <a:t>, DMP, RMN и CF +1 169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−1 048: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(−72)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5O74yTO8Uay_BO5VN.wN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D65n4_3AKo_kd2W7q02A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IChs_XHtoIKQSk3DEZTg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xndNDiQkOC2Dw732pXs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1Hip06KFGQ8t.JYFV.0Y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rtd0lF3fVdUzwCD2w7qC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oAklxPwvv.hbifrNwwrX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8vXDZc0daG3T8C._cS4L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B58Jwmp2kz0ufzNjI.I4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HtyNQWBt.tV3u7ISl6Ya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aJEAhlID8bFTf7DyiYxO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gTm.5S5S5.KuDzlyShDA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yHdHEflJCOSn4KtZY1oR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zLUYz3wq7.4gd8dE3btHg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Hd8KVsNoIj.LAb0FAPmzQ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4HCmqO8W7n5wwNnhacjN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W_INeQz_4BC1X8DPHCVaw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wnyFuutbPWpA2Q.1piF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qVxZKhqZJ5jp8x.FXzu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mZUpFPbw1mjmrGHaxJ9KQ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46u1spz0Dpg43Sysp45c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kKavfu9w8O.6smfyo6RX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ueT4VoSmn5jhfhMUeGC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Pe54zukJl5fA4kYR3cA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auqT87YaQZS2.pVPI4Za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6aFhD3MxA3fS5L_ljZOw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lzNv4WwbX1igzybM9o.3g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3ECwPjEXoM6VPgRiEzXrw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OPavhpQ5ztiampnUwhA2w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JuLTRsYlHM4O9crRJ.VUA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0t_J6vzglxSIqZXQrUSJw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HTNugafa.Ew02arbUnk3w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ZhGnc4YthrGngoQoknkX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Yxmz2OgDMcuVAnkC3t2Bw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dd1z39SDwVgS3mYXLlOcA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9FRJKaIYDSu0ePNBu_Dq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d__RAXuM6S7EAnU_onar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biZ3TtJS3ARdo_s6ro_Z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UCwRjSoqOorC.v9z3kxl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1744</TotalTime>
  <Words>8308</Words>
  <Application>Microsoft Macintosh PowerPoint</Application>
  <PresentationFormat>Widescreen</PresentationFormat>
  <Paragraphs>1432</Paragraphs>
  <Slides>43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19</cp:revision>
  <dcterms:created xsi:type="dcterms:W3CDTF">2026-10-05T11:53:56Z</dcterms:created>
  <dcterms:modified xsi:type="dcterms:W3CDTF">2026-10-16T09:01:59Z</dcterms:modified>
  <cp:category/>
</cp:coreProperties>
</file>