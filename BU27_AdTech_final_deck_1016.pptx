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3.xml" ContentType="application/vnd.openxmlformats-officedocument.drawingml.chart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10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0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345" r:id="rId2"/>
    <p:sldId id="476" r:id="rId3"/>
    <p:sldId id="464" r:id="rId4"/>
    <p:sldId id="441" r:id="rId5"/>
    <p:sldId id="473" r:id="rId6"/>
    <p:sldId id="488" r:id="rId7"/>
    <p:sldId id="460" r:id="rId8"/>
    <p:sldId id="497" r:id="rId9"/>
    <p:sldId id="498" r:id="rId10"/>
    <p:sldId id="499" r:id="rId11"/>
    <p:sldId id="500" r:id="rId12"/>
    <p:sldId id="437" r:id="rId13"/>
    <p:sldId id="474" r:id="rId14"/>
    <p:sldId id="471" r:id="rId15"/>
    <p:sldId id="495" r:id="rId16"/>
    <p:sldId id="501" r:id="rId17"/>
    <p:sldId id="502" r:id="rId18"/>
    <p:sldId id="479" r:id="rId19"/>
    <p:sldId id="365" r:id="rId20"/>
    <p:sldId id="480" r:id="rId21"/>
    <p:sldId id="412" r:id="rId22"/>
    <p:sldId id="469" r:id="rId23"/>
    <p:sldId id="415" r:id="rId24"/>
    <p:sldId id="433" r:id="rId25"/>
    <p:sldId id="366" r:id="rId26"/>
    <p:sldId id="487" r:id="rId27"/>
    <p:sldId id="404" r:id="rId28"/>
    <p:sldId id="483" r:id="rId29"/>
    <p:sldId id="432" r:id="rId30"/>
    <p:sldId id="475" r:id="rId31"/>
    <p:sldId id="489" r:id="rId32"/>
    <p:sldId id="481" r:id="rId33"/>
    <p:sldId id="484" r:id="rId34"/>
    <p:sldId id="405" r:id="rId35"/>
    <p:sldId id="468" r:id="rId36"/>
    <p:sldId id="430" r:id="rId37"/>
    <p:sldId id="411" r:id="rId38"/>
    <p:sldId id="408" r:id="rId39"/>
    <p:sldId id="427" r:id="rId40"/>
    <p:sldId id="421" r:id="rId41"/>
    <p:sldId id="422" r:id="rId42"/>
    <p:sldId id="424" r:id="rId43"/>
    <p:sldId id="425" r:id="rId44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78.599999999999994</c:v>
              </c:pt>
              <c:pt idx="1">
                <c:v>196.5</c:v>
              </c:pt>
              <c:pt idx="2">
                <c:v>275.2</c:v>
              </c:pt>
              <c:pt idx="3">
                <c:v>275.10000000000002</c:v>
              </c:pt>
              <c:pt idx="4">
                <c:v>275.2</c:v>
              </c:pt>
              <c:pt idx="5">
                <c:v>275.2</c:v>
              </c:pt>
              <c:pt idx="6">
                <c:v>275.2</c:v>
              </c:pt>
              <c:pt idx="7">
                <c:v>314.39999999999998</c:v>
              </c:pt>
              <c:pt idx="8">
                <c:v>314.39999999999998</c:v>
              </c:pt>
              <c:pt idx="9">
                <c:v>432.4</c:v>
              </c:pt>
              <c:pt idx="10">
                <c:v>550.29999999999995</c:v>
              </c:pt>
              <c:pt idx="11">
                <c:v>668.3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289.60000000000002</c:v>
              </c:pt>
              <c:pt idx="1">
                <c:v>723.9</c:v>
              </c:pt>
              <c:pt idx="2">
                <c:v>1013.4</c:v>
              </c:pt>
              <c:pt idx="3">
                <c:v>1013.4</c:v>
              </c:pt>
              <c:pt idx="4">
                <c:v>1013.4</c:v>
              </c:pt>
              <c:pt idx="5">
                <c:v>1013.4</c:v>
              </c:pt>
              <c:pt idx="6">
                <c:v>1013.4</c:v>
              </c:pt>
              <c:pt idx="7">
                <c:v>1158.2</c:v>
              </c:pt>
              <c:pt idx="8">
                <c:v>1158.2</c:v>
              </c:pt>
              <c:pt idx="9">
                <c:v>1592.5</c:v>
              </c:pt>
              <c:pt idx="10">
                <c:v>2026.9</c:v>
              </c:pt>
              <c:pt idx="11">
                <c:v>2461.1999999999998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14477.58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578.33000000000004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14477.59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−578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14 478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10323.450000000001</c:v>
              </c:pt>
              <c:pt idx="2">
                <c:v>11824.28</c:v>
              </c:pt>
              <c:pt idx="3">
                <c:v>13309.03</c:v>
              </c:pt>
              <c:pt idx="4">
                <c:v>13922.03</c:v>
              </c:pt>
              <c:pt idx="5">
                <c:v>14179.68</c:v>
              </c:pt>
              <c:pt idx="6">
                <c:v>14392.98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5FB-C74E-AF9C-EE151BC377A8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1500.83</c:v>
              </c:pt>
              <c:pt idx="2">
                <c:v>1484.75</c:v>
              </c:pt>
              <c:pt idx="3">
                <c:v>613</c:v>
              </c:pt>
              <c:pt idx="4">
                <c:v>257.64999999999998</c:v>
              </c:pt>
              <c:pt idx="5">
                <c:v>213.3</c:v>
              </c:pt>
              <c:pt idx="6">
                <c:v>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5FB-C74E-AF9C-EE151BC377A8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5FB-C74E-AF9C-EE151BC377A8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10323.450000000001</c:v>
              </c:pt>
              <c:pt idx="7">
                <c:v>14477.59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5FB-C74E-AF9C-EE151BC377A8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10 323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D27-D940-853A-020BFC05B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D27-D940-853A-020BFC05B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+1 485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D27-D940-853A-020BFC05B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+613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D27-D940-853A-020BFC05B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D27-D940-853A-020BFC05B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D27-D940-853A-020BFC05B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D27-D940-853A-020BFC05B7F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14 478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D27-D940-853A-020BFC05B7F8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147.471</c:v>
              </c:pt>
              <c:pt idx="1">
                <c:v>147.471</c:v>
              </c:pt>
              <c:pt idx="2">
                <c:v>147.471</c:v>
              </c:pt>
              <c:pt idx="3">
                <c:v>147.471</c:v>
              </c:pt>
              <c:pt idx="4">
                <c:v>147.471</c:v>
              </c:pt>
              <c:pt idx="5">
                <c:v>147.471</c:v>
              </c:pt>
              <c:pt idx="6">
                <c:v>147.471</c:v>
              </c:pt>
              <c:pt idx="7">
                <c:v>147.471</c:v>
              </c:pt>
            </c:numLit>
          </c:val>
          <c:extLst>
            <c:ext xmlns:c16="http://schemas.microsoft.com/office/drawing/2014/chart" uri="{C3380CC4-5D6E-409C-BE32-E72D297353CC}">
              <c16:uniqueId val="{0000000D-05FB-C74E-AF9C-EE151BC37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83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10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72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11070.27</c:v>
              </c:pt>
              <c:pt idx="4">
                <c:v>11190.93</c:v>
              </c:pt>
              <c:pt idx="5">
                <c:v>10874.64</c:v>
              </c:pt>
              <c:pt idx="6">
                <c:v>10841.14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1484.75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1047.9000000000001</c:v>
              </c:pt>
              <c:pt idx="5">
                <c:v>316.29000000000002</c:v>
              </c:pt>
              <c:pt idx="6">
                <c:v>33.5</c:v>
              </c:pt>
              <c:pt idx="7">
                <c:v>17.68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+1 485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−1 048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1150.4999999999998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15.10.2026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tags" Target="../tags/tag44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50" Type="http://schemas.openxmlformats.org/officeDocument/2006/relationships/tags" Target="../tags/tag55.xml"/><Relationship Id="rId55" Type="http://schemas.openxmlformats.org/officeDocument/2006/relationships/chart" Target="../charts/chart1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oleObject" Target="../embeddings/oleObject5.bin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image" Target="../media/image7.emf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tags" Target="../tags/tag82.xml"/><Relationship Id="rId39" Type="http://schemas.openxmlformats.org/officeDocument/2006/relationships/tags" Target="../tags/tag95.xml"/><Relationship Id="rId21" Type="http://schemas.openxmlformats.org/officeDocument/2006/relationships/tags" Target="../tags/tag77.xml"/><Relationship Id="rId34" Type="http://schemas.openxmlformats.org/officeDocument/2006/relationships/tags" Target="../tags/tag90.xml"/><Relationship Id="rId42" Type="http://schemas.openxmlformats.org/officeDocument/2006/relationships/oleObject" Target="../embeddings/oleObject6.bin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29" Type="http://schemas.openxmlformats.org/officeDocument/2006/relationships/tags" Target="../tags/tag85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tags" Target="../tags/tag80.xml"/><Relationship Id="rId32" Type="http://schemas.openxmlformats.org/officeDocument/2006/relationships/tags" Target="../tags/tag88.xml"/><Relationship Id="rId37" Type="http://schemas.openxmlformats.org/officeDocument/2006/relationships/tags" Target="../tags/tag93.xml"/><Relationship Id="rId40" Type="http://schemas.openxmlformats.org/officeDocument/2006/relationships/tags" Target="../tags/tag96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tags" Target="../tags/tag79.xml"/><Relationship Id="rId28" Type="http://schemas.openxmlformats.org/officeDocument/2006/relationships/tags" Target="../tags/tag84.xml"/><Relationship Id="rId36" Type="http://schemas.openxmlformats.org/officeDocument/2006/relationships/tags" Target="../tags/tag92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31" Type="http://schemas.openxmlformats.org/officeDocument/2006/relationships/tags" Target="../tags/tag87.xml"/><Relationship Id="rId44" Type="http://schemas.openxmlformats.org/officeDocument/2006/relationships/chart" Target="../charts/chart3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tags" Target="../tags/tag83.xml"/><Relationship Id="rId30" Type="http://schemas.openxmlformats.org/officeDocument/2006/relationships/tags" Target="../tags/tag86.xml"/><Relationship Id="rId35" Type="http://schemas.openxmlformats.org/officeDocument/2006/relationships/tags" Target="../tags/tag91.xml"/><Relationship Id="rId43" Type="http://schemas.openxmlformats.org/officeDocument/2006/relationships/image" Target="../media/image8.emf"/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tags" Target="../tags/tag81.xml"/><Relationship Id="rId33" Type="http://schemas.openxmlformats.org/officeDocument/2006/relationships/tags" Target="../tags/tag89.xml"/><Relationship Id="rId38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14 478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+40%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1 529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растёт на </a:t>
            </a:r>
            <a:r>
              <a:rPr lang="ru-RU" sz="1400" b="1" dirty="0">
                <a:solidFill>
                  <a:srgbClr val="000000"/>
                </a:solidFill>
              </a:rPr>
              <a:t>1 415 млн руб.</a:t>
            </a:r>
            <a:r>
              <a:rPr lang="ru-RU" sz="1400" dirty="0">
                <a:solidFill>
                  <a:srgbClr val="000000"/>
                </a:solidFill>
              </a:rPr>
              <a:t> (+63%); 71%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9 673 млн руб.</a:t>
            </a:r>
            <a:r>
              <a:rPr lang="ru-RU" sz="1400" dirty="0">
                <a:solidFill>
                  <a:srgbClr val="000000"/>
                </a:solidFill>
              </a:rPr>
              <a:t> — на 962 млн руб. выше стратегии</a:t>
            </a:r>
          </a:p>
        </p:txBody>
      </p:sp>
      <p:sp>
        <p:nvSpPr>
          <p:cNvPr id="113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Доля «около 1,2% Retail Media»: бизнес убрал её со своих слайдов — оставляем или убираем?</a:t>
            </a:r>
          </a:p>
        </p:txBody>
      </p:sp>
      <p:sp>
        <p:nvSpPr>
          <p:cNvPr id="114" name="Sticker 2"/>
          <p:cNvSpPr/>
          <p:nvPr/>
        </p:nvSpPr>
        <p:spPr>
          <a:xfrm>
            <a:off x="8625840" y="128016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OPEX +1 415 (+63%) посчитан с маркетингом, связанным с выручкой; на P&amp;L он выделен в COGS (OPEX +413) — привести к одной логике?</a:t>
            </a:r>
          </a:p>
        </p:txBody>
      </p:sp>
    </p:spTree>
    <p:extLst>
      <p:ext uri="{BB962C8B-B14F-4D97-AF65-F5344CB8AC3E}">
        <p14:creationId xmlns:p14="http://schemas.microsoft.com/office/powerpoint/2010/main" val="213371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900" noProof="1">
                <a:solidFill>
                  <a:srgbClr val="6E6E6E"/>
                </a:solidFill>
              </a:rPr>
              <a:t>Revenue </a:t>
            </a:r>
            <a:r>
              <a:rPr lang="ru-RU" sz="900" noProof="1">
                <a:solidFill>
                  <a:srgbClr val="6E6E6E"/>
                </a:solidFill>
              </a:rPr>
              <a:t>(</a:t>
            </a:r>
            <a:r>
              <a:rPr lang="en-US" sz="900" noProof="1">
                <a:solidFill>
                  <a:srgbClr val="6E6E6E"/>
                </a:solidFill>
              </a:rPr>
              <a:t>incr</a:t>
            </a:r>
            <a:r>
              <a:rPr lang="en-US" noProof="1">
                <a:solidFill>
                  <a:srgbClr val="6E6E6E"/>
                </a:solidFill>
              </a:rPr>
              <a:t>ease)</a:t>
            </a:r>
            <a:r>
              <a:rPr lang="en-US" sz="900" noProof="1">
                <a:solidFill>
                  <a:srgbClr val="6E6E6E"/>
                </a:solidFill>
              </a:rPr>
              <a:t> </a:t>
            </a:r>
            <a:r>
              <a:rPr lang="ru-RU" sz="900" dirty="0">
                <a:solidFill>
                  <a:srgbClr val="6E6E6E"/>
                </a:solidFill>
              </a:rPr>
              <a:t>— </a:t>
            </a:r>
            <a:r>
              <a:rPr lang="ru-RU" dirty="0">
                <a:solidFill>
                  <a:srgbClr val="6E6E6E"/>
                </a:solidFill>
              </a:rPr>
              <a:t>дополнительная выручка </a:t>
            </a:r>
            <a:r>
              <a:rPr lang="en-US" dirty="0">
                <a:solidFill>
                  <a:srgbClr val="6E6E6E"/>
                </a:solidFill>
              </a:rPr>
              <a:t>vs 2026FC8+4. </a:t>
            </a:r>
            <a:r>
              <a:rPr lang="ru-RU" sz="900" dirty="0">
                <a:solidFill>
                  <a:srgbClr val="6E6E6E"/>
                </a:solidFill>
              </a:rPr>
              <a:t>Млн руб. без НДС.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Сравнение с </a:t>
            </a:r>
            <a:r>
              <a:rPr lang="en-US" dirty="0"/>
              <a:t>top-down targets</a:t>
            </a:r>
            <a:endParaRPr lang="ru-RU" dirty="0"/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таргеты,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Выручка: </a:t>
            </a:r>
            <a:r>
              <a:rPr lang="ru-RU" sz="1400" dirty="0">
                <a:solidFill>
                  <a:srgbClr val="000000"/>
                </a:solidFill>
              </a:rPr>
              <a:t>инкрементальная выручка </a:t>
            </a:r>
            <a:r>
              <a:rPr lang="ru-RU" sz="1400" b="1" dirty="0">
                <a:solidFill>
                  <a:srgbClr val="000000"/>
                </a:solidFill>
              </a:rPr>
              <a:t>4 154 млн руб.</a:t>
            </a:r>
            <a:r>
              <a:rPr lang="ru-RU" sz="1400" dirty="0">
                <a:solidFill>
                  <a:srgbClr val="000000"/>
                </a:solidFill>
              </a:rPr>
              <a:t> — на 675 млн руб. (+19%) выше стратегии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EBITDA: 500 млн руб.</a:t>
            </a:r>
            <a:r>
              <a:rPr lang="ru-RU" sz="1400" dirty="0">
                <a:solidFill>
                  <a:srgbClr val="000000"/>
                </a:solidFill>
              </a:rPr>
              <a:t> — на уровне стратегии (+15) и на 2 000 млн руб. выше таргета (−1 500)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CAPEX: 1 151 млн руб.</a:t>
            </a:r>
            <a:r>
              <a:rPr lang="ru-RU" sz="1400" dirty="0">
                <a:solidFill>
                  <a:srgbClr val="000000"/>
                </a:solidFill>
              </a:rPr>
              <a:t> — ниже стратегии на 92 (−7%) и таргета на 151 (−12%)</a:t>
            </a:r>
          </a:p>
        </p:txBody>
      </p:sp>
      <p:graphicFrame>
        <p:nvGraphicFramePr>
          <p:cNvPr id="200" name="BU vs Targ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34902"/>
              </p:ext>
            </p:extLst>
          </p:nvPr>
        </p:nvGraphicFramePr>
        <p:xfrm>
          <a:off x="368299" y="1574800"/>
          <a:ext cx="7810502" cy="3708400"/>
        </p:xfrm>
        <a:graphic>
          <a:graphicData uri="http://schemas.openxmlformats.org/drawingml/2006/table">
            <a:tbl>
              <a:tblPr firstRow="1"/>
              <a:tblGrid>
                <a:gridCol w="1340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109">
                  <a:extLst>
                    <a:ext uri="{9D8B030D-6E8A-4147-A177-3AD203B41FA5}">
                      <a16:colId xmlns:a16="http://schemas.microsoft.com/office/drawing/2014/main" val="1974067606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Показатель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Стратегия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Таргеты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Бюджет 2027 (</a:t>
                      </a:r>
                      <a:r>
                        <a:rPr lang="en-US" sz="1100" b="1" dirty="0">
                          <a:solidFill>
                            <a:srgbClr val="6E6E6E"/>
                          </a:solidFill>
                        </a:rPr>
                        <a:t>AdTech)</a:t>
                      </a:r>
                      <a:endParaRPr lang="ru-RU" sz="1100" b="1" dirty="0">
                        <a:solidFill>
                          <a:srgbClr val="6E6E6E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Стрейч форматов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Δ к стратегии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6E6E6E"/>
                          </a:solidFill>
                        </a:rPr>
                        <a:t>Δ к таргетам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 err="1">
                          <a:solidFill>
                            <a:srgbClr val="000000"/>
                          </a:solidFill>
                        </a:rPr>
                        <a:t>Revenue</a:t>
                      </a:r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(increase)</a:t>
                      </a:r>
                      <a:endParaRPr lang="ru-RU" sz="12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3 479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4 154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+675 (+19%)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EBITDA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485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−1 500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500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-2 000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+15 (+3%)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1 242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1 302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</a:rPr>
                        <a:t>1 151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−92 (−7%)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</a:rPr>
                        <a:t>−151 (−12%)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1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Комментарий CFO: «Ин прогресс» — слайд в работе</a:t>
            </a:r>
          </a:p>
        </p:txBody>
      </p:sp>
    </p:spTree>
    <p:extLst>
      <p:ext uri="{BB962C8B-B14F-4D97-AF65-F5344CB8AC3E}">
        <p14:creationId xmlns:p14="http://schemas.microsoft.com/office/powerpoint/2010/main" val="139553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</a:t>
            </a:r>
            <a:r>
              <a:rPr lang="ru-RU" dirty="0"/>
              <a:t>50% </a:t>
            </a:r>
            <a:r>
              <a:rPr lang="en-US" dirty="0"/>
              <a:t>vs. +15%</a:t>
            </a:r>
            <a:r>
              <a:rPr lang="ru-RU" dirty="0"/>
              <a:t> </a:t>
            </a:r>
            <a:r>
              <a:rPr lang="en-US" dirty="0"/>
              <a:t>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14,5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290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2027 - 42%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5100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33483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+50%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-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3 931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+61%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UGC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13 414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-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0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40%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14,5 млрд руб.</a:t>
            </a:r>
            <a:r>
              <a:rPr lang="ru-RU" sz="1400" dirty="0">
                <a:solidFill>
                  <a:srgbClr val="000000"/>
                </a:solidFill>
              </a:rPr>
              <a:t> (+40%)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  <p:sp>
        <p:nvSpPr>
          <p:cNvPr id="212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Доля «около 1,2% Retail Media»: бизнес убрал её со своих слайдов — оставляем или убираем?</a:t>
            </a:r>
          </a:p>
        </p:txBody>
      </p: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15430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2" imgW="7772400" imgH="10058400" progId="TCLayout.ActiveDocument.1">
                  <p:embed/>
                </p:oleObj>
              </mc:Choice>
              <mc:Fallback>
                <p:oleObj name="Слайд think-cell" r:id="rId4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-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-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-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-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-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-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- 53-69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01063"/>
              </p:ext>
            </p:ext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-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-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-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-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- якорь, бренд -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-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- зона RMN</a:t>
            </a:r>
            <a:endParaRPr lang="ru-RU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-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</a:t>
            </a:r>
            <a:r>
              <a:rPr lang="ru-RU" baseline="30000" dirty="0"/>
              <a:t>о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- 81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UGC-factory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-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кешбэк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-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-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-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-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-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2026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- кратный рост выручки г/г</a:t>
            </a:r>
            <a:endParaRPr lang="ru-RU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6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20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Х5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Магнит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ADS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20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37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Магнит </a:t>
            </a:r>
            <a:r>
              <a:rPr lang="en-US" dirty="0"/>
              <a:t>ADS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25618"/>
              </p:ext>
            </p:extLst>
          </p:nvPr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59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3 931 млн руб. 2027 ·  +61%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UGC-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en-US" sz="1400" dirty="0">
                <a:solidFill>
                  <a:srgbClr val="000000"/>
                </a:solidFill>
              </a:rPr>
              <a:t>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93648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77105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-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-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UGC-factory: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-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-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-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-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336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- развиваемся через внешнее ЮЛ Магнит Маркет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-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-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59756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61515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Азбука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13 414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3 931;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- 850; UGC - 213)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52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14,5 млрд руб. (+40%),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3 931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(578)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14 478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4 154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(1 883)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(1 002)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(69)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−2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 xml:space="preserve"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+1 485: </a:t>
            </a:r>
            <a:r>
              <a:rPr lang="ru-RU" sz="1100" dirty="0">
                <a:solidFill>
                  <a:srgbClr val="000000"/>
                </a:solidFill>
              </a:rPr>
              <a:t xml:space="preserve">полный год оборудования, введённого в 2026 г. (+2 462), ввод 2027 г. (+228); доход на устройство ниже (−1 264,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 xml:space="preserve"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 xml:space="preserve"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1 883: </a:t>
            </a:r>
            <a:r>
              <a:rPr lang="ru-RU" sz="1100" dirty="0">
                <a:solidFill>
                  <a:srgbClr val="000000"/>
                </a:solidFill>
              </a:rPr>
              <a:t xml:space="preserve">закупка трафика DMP 1 000, агентства 795, креаторы CF 88; Net Revenue — 87% Gross Revenue (91% в FC 2026)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 xml:space="preserve">ФОТ AdTech 1 370 + команда CF 66; 354 FTE на конец 2027 г. (312 в 2026 г.); 27% ФОТ капитализируется</a:t>
            </a:r>
          </a:p>
        </p:txBody>
      </p:sp>
      <p:sp>
        <p:nvSpPr>
          <p:cNvPr id="202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Комментарий CFO: DAC 29,3 млн (+18%) — проверить с М+ (в модели — прогноз М+, лист «Вводные»)</a:t>
            </a:r>
          </a:p>
        </p:txBody>
      </p:sp>
    </p:spTree>
    <p:extLst>
      <p:ext uri="{BB962C8B-B14F-4D97-AF65-F5344CB8AC3E}">
        <p14:creationId xmlns:p14="http://schemas.microsoft.com/office/powerpoint/2010/main" val="15362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2 027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3 040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3 330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6 081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+1 529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14 478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+1 529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(3 654)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: снижение выручки относительно стратегии из-за корректировки утилизации ввиду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выше на 659: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+654)</a:t>
            </a:r>
          </a:p>
        </p:txBody>
      </p:sp>
    </p:spTree>
    <p:extLst>
      <p:ext uri="{BB962C8B-B14F-4D97-AF65-F5344CB8AC3E}">
        <p14:creationId xmlns:p14="http://schemas.microsoft.com/office/powerpoint/2010/main" val="3586144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3 931 млн руб.  ·  +61%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CF: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Результат CF: </a:t>
            </a:r>
            <a:r>
              <a:rPr lang="ru-RU" sz="1400" b="1" dirty="0">
                <a:solidFill>
                  <a:srgbClr val="000000"/>
                </a:solidFill>
              </a:rPr>
              <a:t>59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28%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 xml:space="preserve"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Квота 50%: </a:t>
            </a:r>
            <a:r>
              <a:rPr lang="ru-RU" sz="1200" dirty="0">
                <a:solidFill>
                  <a:srgbClr val="000000"/>
                </a:solidFill>
              </a:rPr>
              <a:t xml:space="preserve">половина инвентаря приложения и digital in-store закреплена за задачами команд Магнита; бюджет 2027 построен на фактической доле AdTech в показах 2026 г. по каждому плейсменту — рост внутренней квоты сверх 50% напрямую сокращает коммерческий инвентарь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 xml:space="preserve"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 xml:space="preserve"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16F84-7008-B85C-1BA3-8FE843276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мес.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2792A-D6CD-18B8-079A-4922E33C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53B8-7239-64EC-489A-A05C52230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Выручка растёт на 4 154 млн руб.: 72% прироста дают APP и In-store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APP +1 501 (+24%): </a:t>
            </a:r>
            <a:r>
              <a:rPr lang="ru-RU" sz="1200" dirty="0">
                <a:solidFill>
                  <a:srgbClr val="000000"/>
                </a:solidFill>
              </a:rPr>
              <a:t>медиа +865, перформанс +636; ~60% — полный год нового прайса, ~40% — рост аудитории (DAC +18%)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+1 485 (+61%): </a:t>
            </a:r>
            <a:r>
              <a:rPr lang="ru-RU" sz="1200" b="0" dirty="0">
                <a:solidFill>
                  <a:srgbClr val="000000"/>
                </a:solidFill>
              </a:rPr>
              <a:t>полный год оборудования, введённого в 2026 г. (+2 462), ввод 2027 г. (+228), доход на устройство −1 264 (КСО −40%)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Online +613 (+62%): </a:t>
            </a:r>
            <a:r>
              <a:rPr lang="ru-RU" sz="1200" dirty="0">
                <a:solidFill>
                  <a:srgbClr val="000000"/>
                </a:solidFill>
              </a:rPr>
              <a:t>новые площадки SmartTV, Авито, маркетплейсы, партнёрские интеграции ЦМ — 420 млн руб.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+258 (+43%): </a:t>
            </a:r>
            <a:r>
              <a:rPr lang="ru-RU" sz="1200" dirty="0">
                <a:solidFill>
                  <a:srgbClr val="000000"/>
                </a:solidFill>
              </a:rPr>
              <a:t>850 млн руб. против 593 млн руб.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Content factory +213: </a:t>
            </a:r>
            <a:r>
              <a:rPr lang="ru-RU" sz="1200" dirty="0">
                <a:solidFill>
                  <a:srgbClr val="000000"/>
                </a:solidFill>
              </a:rPr>
              <a:t>запуск 6 ячеек креаторов, продажи внешним рекламодателям; ВГО в P&amp;L не отражается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Analytics +85 (+83%): </a:t>
            </a:r>
            <a:r>
              <a:rPr lang="ru-RU" sz="1200" dirty="0">
                <a:solidFill>
                  <a:srgbClr val="000000"/>
                </a:solidFill>
              </a:rPr>
              <a:t>рост </a:t>
            </a:r>
            <a:r>
              <a:rPr lang="ru-RU" sz="1200" dirty="0" err="1">
                <a:solidFill>
                  <a:srgbClr val="000000"/>
                </a:solidFill>
              </a:rPr>
              <a:t>ad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dirty="0" err="1">
                <a:solidFill>
                  <a:srgbClr val="000000"/>
                </a:solidFill>
              </a:rPr>
              <a:t>hoc</a:t>
            </a:r>
            <a:r>
              <a:rPr lang="ru-RU" sz="1200" dirty="0">
                <a:solidFill>
                  <a:srgbClr val="000000"/>
                </a:solidFill>
              </a:rPr>
              <a:t> до 133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470228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Прайс, +873 (~60%): </a:t>
            </a:r>
            <a:r>
              <a:rPr lang="ru-RU" sz="1200" dirty="0">
                <a:solidFill>
                  <a:srgbClr val="000000"/>
                </a:solidFill>
              </a:rPr>
              <a:t xml:space="preserve">новый прайс с 09.2026 в 2027 г. действует весь год (в 2026 г. — 4 мес.): средневзвешенный CPM +17%, сторис 70 → 100 тыс. руб. за день, чек перформанса +26% за счёт новых форматов — приоритетный вывод в категории, брендированная категория, подборка «Покупайте с выгодой»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Аудитория, +628 (~40%): </a:t>
            </a:r>
            <a:r>
              <a:rPr lang="ru-RU" sz="1200" dirty="0">
                <a:solidFill>
                  <a:srgbClr val="000000"/>
                </a:solidFill>
              </a:rPr>
              <a:t xml:space="preserve">DAC +18% по прогнозу М+ — больше показов (+8%) и кампаний (сторис +18%, перформанс +12%)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От чего зависит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План М+ по DAC: </a:t>
            </a:r>
            <a:r>
              <a:rPr lang="ru-RU" sz="1200" dirty="0">
                <a:solidFill>
                  <a:srgbClr val="000000"/>
                </a:solidFill>
              </a:rPr>
              <a:t xml:space="preserve">число кампаний растёт вместе с аудиторией; при отклонении цель пересматривается пропорционально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Принятие прайса: </a:t>
            </a:r>
            <a:r>
              <a:rPr lang="ru-RU" sz="1200" dirty="0">
                <a:solidFill>
                  <a:srgbClr val="000000"/>
                </a:solidFill>
              </a:rPr>
              <a:t xml:space="preserve">цены — на уровне прайса 09.2026, дополнительной индексации в 2027 г. не закладываем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Квота: </a:t>
            </a:r>
            <a:r>
              <a:rPr lang="ru-RU" sz="1200" dirty="0">
                <a:solidFill>
                  <a:srgbClr val="000000"/>
                </a:solidFill>
              </a:rPr>
              <a:t xml:space="preserve">доля AdTech в показах — на уровне факта 2026 г.</a:t>
            </a:r>
          </a:p>
        </p:txBody>
      </p:sp>
      <p:sp>
        <p:nvSpPr>
          <p:cNvPr id="303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Показы AdTech +8% при росте DAC +18%: в модели показы 2027 введены значениями, обоснования нет — подготовить ответ CFO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конец года.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+1 485 млн руб. (+61%):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Устройств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Устройств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4 809 → 2 885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1 853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2 024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81 419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+2 462: </a:t>
            </a:r>
            <a:r>
              <a:rPr lang="ru-RU" sz="1100" dirty="0">
                <a:solidFill>
                  <a:srgbClr val="000000"/>
                </a:solidFill>
              </a:rPr>
              <a:t xml:space="preserve">40,5 тыс. КСО, 2 725 шелф-баннеров и 831 фасадный экран введены в Q3–Q4 2026 г. и работали 3–4 мес.;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 xml:space="preserve">3 250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 утилизация, +58: </a:t>
            </a:r>
            <a:r>
              <a:rPr lang="ru-RU" sz="1100" dirty="0">
                <a:solidFill>
                  <a:srgbClr val="000000"/>
                </a:solidFill>
              </a:rPr>
              <a:t xml:space="preserve">реализация 92,5% → 100%, утилизация 60% (44% в 2026 г.)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−1 264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(4 809 → 2 885 руб.), −1 217: </a:t>
            </a:r>
            <a:r>
              <a:rPr lang="ru-RU" sz="1100" dirty="0">
                <a:solidFill>
                  <a:srgbClr val="000000"/>
                </a:solidFill>
              </a:rPr>
              <a:t xml:space="preserve">парк КСО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и TFT −20%, −166: </a:t>
            </a:r>
            <a:r>
              <a:rPr lang="ru-RU" sz="1100" dirty="0">
                <a:solidFill>
                  <a:srgbClr val="FF452C"/>
                </a:solidFill>
              </a:rPr>
              <a:t xml:space="preserve">причину уточнить у команды in-store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2 024 руб.), +64; шелф-баннеры +5%: </a:t>
            </a:r>
            <a:r>
              <a:rPr lang="ru-RU" sz="1100" dirty="0">
                <a:solidFill>
                  <a:srgbClr val="FF452C"/>
                </a:solidFill>
              </a:rPr>
              <a:t xml:space="preserve">причину уточнить у команды in-store</a:t>
            </a:r>
          </a:p>
        </p:txBody>
      </p:sp>
      <p:sp>
        <p:nvSpPr>
          <p:cNvPr id="303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Комментарий CFO: объяснить изменение дохода на устройство. Подтвердить у команды in-store: КСО −40% (гипотеза — рост парка ×3,5), фасады и TFT −20%, радио ×4, шелф-баннеры +5%</a:t>
            </a: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59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18669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(88)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(154)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28%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+1 415 млн руб. (+63%): 71%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+4,6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+3,6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88 млн руб. (50% оплаты ячеек CF 176)</a:t>
            </a:r>
            <a:r>
              <a:rPr lang="ru-RU" sz="1200" dirty="0">
                <a:solidFill>
                  <a:srgbClr val="000000"/>
                </a:solidFill>
              </a:rPr>
              <a:t> при выручке CF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  <p:sp>
        <p:nvSpPr>
          <p:cNvPr id="304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OPEX показан с маркетингом, связанным с выручкой; на P&amp;L он выделен в COGS (OPEX +413) — привести к одной логике?</a:t>
            </a:r>
          </a:p>
        </p:txBody>
      </p:sp>
    </p:spTree>
    <p:extLst>
      <p:ext uri="{BB962C8B-B14F-4D97-AF65-F5344CB8AC3E}">
        <p14:creationId xmlns:p14="http://schemas.microsoft.com/office/powerpoint/2010/main" val="409093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66%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+4 154: APP +1 501, In-store +1 485</a:t>
            </a:r>
            <a:r>
              <a:rPr lang="ru-RU" sz="1200" dirty="0">
                <a:solidFill>
                  <a:srgbClr val="000000"/>
                </a:solidFill>
              </a:rPr>
              <a:t>, DMP, RMN и CF +1 169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−1 048: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(−72)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  <p:sp>
        <p:nvSpPr>
          <p:cNvPr id="302" name="Sticker 1"/>
          <p:cNvSpPr/>
          <p:nvPr/>
        </p:nvSpPr>
        <p:spPr>
          <a:xfrm>
            <a:off x="8625840" y="45720"/>
            <a:ext cx="3474720" cy="118872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ru-RU" sz="1100" b="1">
                <a:solidFill>
                  <a:srgbClr val="FFFFFF"/>
                </a:solidFill>
                <a:latin typeface="Arial"/>
              </a:rPr>
              <a:t>Открытый вопрос</a:t>
            </a:r>
          </a:p>
          <a:p>
            <a:pPr algn="l"/>
            <a:r>
              <a:rPr lang="ru-RU" sz="1100">
                <a:solidFill>
                  <a:srgbClr val="FFFFFF"/>
                </a:solidFill>
                <a:latin typeface="Arial"/>
              </a:rPr>
              <a:t>Marketing −1 048 включает COGS (трафик DMP, агентства, креаторы); на P&amp;L он выделен отдельно — привести к одной логике?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651424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socialcom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8144</Words>
  <Application>Microsoft Macintosh PowerPoint</Application>
  <PresentationFormat>Widescreen</PresentationFormat>
  <Paragraphs>1460</Paragraphs>
  <Slides>43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17</cp:revision>
  <dcterms:created xsi:type="dcterms:W3CDTF">2026-10-05T11:53:56Z</dcterms:created>
  <dcterms:modified xsi:type="dcterms:W3CDTF">2026-10-15T13:34:36Z</dcterms:modified>
  <cp:category/>
</cp:coreProperties>
</file>