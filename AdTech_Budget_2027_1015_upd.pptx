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89" r:id="rId5"/>
    <p:sldId id="293" r:id="rId6"/>
    <p:sldId id="292" r:id="rId7"/>
    <p:sldId id="291" r:id="rId8"/>
    <p:sldId id="29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FCE"/>
    <a:srgbClr val="FFC7CE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0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6D58F-7999-4D19-B9B8-BB9C3785CC2F}" type="datetimeFigureOut">
              <a:rPr lang="ru-RU" smtClean="0"/>
              <a:t>10/21/26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58E23-9E9B-43EA-83EC-07577BAB82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90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F8A7F-8A1A-46D6-B319-F3643007AA3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">
    <p:bg>
      <p:bgPr>
        <a:gradFill>
          <a:gsLst>
            <a:gs pos="0">
              <a:srgbClr val="091E23"/>
            </a:gs>
            <a:gs pos="100000">
              <a:srgbClr val="FF07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70CF0B23-1960-0118-E8C7-7EBDAC12E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2B3CAF-EA01-7D5F-0CC7-06AE2DDD1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47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8150A1-0016-886F-9FE9-3ADDD61744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A7BD145-20FD-48AE-BE7E-0B58839E81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AB860D7-6CD2-4BB8-999C-7A9E37E23A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08324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D1906A-D076-488D-5F5B-1E413ADC4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6DF07EC9-FD15-4135-A74B-85C0340CA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70D25C1A-8CA8-43C6-935E-2B7182493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93354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33B036-32F0-9FA2-1E85-69C7B2CEE4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C27E162-F447-450A-B929-448FCB5A6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5BDA818-76BF-43DE-BEE5-BBD894530B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08070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450C49-8376-B221-1164-CBF2556AC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2F59F14E-28EA-4470-9F34-8138A6B0C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C629E45-01D1-4198-8B0F-8348E3400E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25461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9000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AA0BA3-CFF3-EFD7-7141-8078FA918F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17DA5DA-A3F5-00DF-3CC9-CCEBCDB81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EF036F-4C6C-F9E2-B0E2-12EB9E0322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04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ADD647-E937-DDB7-075E-A04B10D33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раздела.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92A408-51AF-6A75-CEA1-8006E624F4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0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48C6A-9A0A-FA66-A5C6-52215FC9D2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A036AE3D-CC0A-55CD-F87B-D2BB4E725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A39DC-EEB9-B494-EC7A-0B604BEBB7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48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15333-C7E9-0217-86C8-C66B26B96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1F891ADC-0F8D-F101-716A-EB50E0B23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5689D-A705-B728-43E3-9D2C6E8DA5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88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Под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BC2C7-B925-17FC-C4D3-5D4A9CA03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0AA88B-BD64-145F-48D9-D585841154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7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17588F-0BD7-8FBB-3582-1B26CE72A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82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5C05B-6EF5-7ABA-D525-F64F083FA9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74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  <a:br>
              <a:rPr lang="ru-RU" dirty="0"/>
            </a:b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BAF534-2BC1-CEB2-12DB-DBA45C0E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Рисунок 4">
            <a:extLst>
              <a:ext uri="{FF2B5EF4-FFF2-40B4-BE49-F238E27FC236}">
                <a16:creationId xmlns:a16="http://schemas.microsoft.com/office/drawing/2014/main" id="{ED29ABB3-204F-4660-39B6-A3914127D8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2200" y="1934651"/>
            <a:ext cx="5476875" cy="3956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C5809D7-6169-42C4-8E87-D94D02BF16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AB62C6A-5402-41DD-9134-E5CFC828EF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405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925" y="2328240"/>
            <a:ext cx="4075113" cy="3448126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  <a:br>
              <a:rPr lang="ru-RU" dirty="0"/>
            </a:br>
            <a:endParaRPr lang="ru-RU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F82D38E-A9A2-4CC6-8EB2-4B1E5F5557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0CAF06F-3325-4AD7-91BD-4B80720C6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FC70EEEC-1E74-4F17-A746-B7114BB4E0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8550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5481638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</a:p>
          <a:p>
            <a:pPr lvl="0"/>
            <a:endParaRPr lang="ru-RU"/>
          </a:p>
          <a:p>
            <a:pPr lvl="0"/>
            <a:r>
              <a:rPr lang="en-US"/>
              <a:t>Ut </a:t>
            </a:r>
            <a:r>
              <a:rPr lang="en-US"/>
              <a:t>wisi</a:t>
            </a:r>
            <a:r>
              <a:rPr lang="en-US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en-US"/>
              <a:t>, </a:t>
            </a:r>
            <a:r>
              <a:rPr lang="en-US"/>
              <a:t>quis</a:t>
            </a:r>
            <a:r>
              <a:rPr lang="en-US"/>
              <a:t> </a:t>
            </a:r>
            <a:r>
              <a:rPr lang="en-US"/>
              <a:t>nostrud</a:t>
            </a:r>
            <a:r>
              <a:rPr lang="en-US"/>
              <a:t> </a:t>
            </a:r>
            <a:r>
              <a:rPr lang="en-US"/>
              <a:t>exerci</a:t>
            </a:r>
            <a:r>
              <a:rPr lang="en-US"/>
              <a:t> </a:t>
            </a:r>
            <a:r>
              <a:rPr lang="en-US"/>
              <a:t>tation</a:t>
            </a:r>
            <a:r>
              <a:rPr lang="en-US"/>
              <a:t> </a:t>
            </a:r>
            <a:r>
              <a:rPr lang="en-US"/>
              <a:t>ullamcorper</a:t>
            </a:r>
            <a:r>
              <a:rPr lang="en-US"/>
              <a:t> </a:t>
            </a:r>
            <a:r>
              <a:rPr lang="en-US"/>
              <a:t>suscipit</a:t>
            </a:r>
            <a:r>
              <a:rPr lang="en-US"/>
              <a:t> </a:t>
            </a:r>
            <a:r>
              <a:rPr lang="en-US"/>
              <a:t>lobortis</a:t>
            </a:r>
            <a:r>
              <a:rPr lang="en-US"/>
              <a:t> </a:t>
            </a:r>
            <a:r>
              <a:rPr lang="en-US"/>
              <a:t>nisl</a:t>
            </a:r>
            <a:r>
              <a:rPr lang="en-US"/>
              <a:t> </a:t>
            </a:r>
            <a:r>
              <a:rPr lang="en-US"/>
              <a:t>ut</a:t>
            </a:r>
            <a:r>
              <a:rPr lang="en-US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en-US"/>
              <a:t> </a:t>
            </a:r>
            <a:r>
              <a:rPr lang="en-US"/>
              <a:t>commodo</a:t>
            </a:r>
            <a:r>
              <a:rPr lang="en-US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en-US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en-US"/>
              <a:t> </a:t>
            </a:r>
            <a:r>
              <a:rPr lang="en-US"/>
              <a:t>velit</a:t>
            </a:r>
            <a:r>
              <a:rPr lang="en-US"/>
              <a:t> </a:t>
            </a:r>
            <a:r>
              <a:rPr lang="en-US"/>
              <a:t>esse</a:t>
            </a:r>
            <a:r>
              <a:rPr lang="en-US"/>
              <a:t> </a:t>
            </a:r>
            <a:r>
              <a:rPr lang="en-US"/>
              <a:t>molestie</a:t>
            </a:r>
            <a:r>
              <a:rPr lang="en-US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en-US"/>
              <a:t> </a:t>
            </a:r>
            <a:r>
              <a:rPr lang="en-US"/>
              <a:t>feugiat</a:t>
            </a:r>
            <a:r>
              <a:rPr lang="en-US"/>
              <a:t> </a:t>
            </a:r>
            <a:r>
              <a:rPr lang="en-US"/>
              <a:t>nulla</a:t>
            </a:r>
            <a:r>
              <a:rPr lang="en-US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</a:t>
            </a:r>
            <a:br>
              <a:rPr lang="ru-RU" dirty="0"/>
            </a:br>
            <a:endParaRPr lang="en-US"/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C1451717-F6E1-DE5C-AE2C-48C5F1D7A6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1934651"/>
            <a:ext cx="5465764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C3A7078-BED8-4ED7-BE07-FDA18050FC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8AED0945-555D-46E5-A080-300C793E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7326B72E-C38B-4B9F-8AD4-199078EDC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3212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9ED88214-D3A7-286C-C395-2442A0151C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88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Текст 20">
            <a:extLst>
              <a:ext uri="{FF2B5EF4-FFF2-40B4-BE49-F238E27FC236}">
                <a16:creationId xmlns:a16="http://schemas.microsoft.com/office/drawing/2014/main" id="{7763F19C-0856-EE50-BBB0-BE993E136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799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161B89B-9D36-2458-6D08-690113954EE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655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FD39D98B-12C6-A333-220A-1415BBBE9B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722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Рисунок 5">
            <a:extLst>
              <a:ext uri="{FF2B5EF4-FFF2-40B4-BE49-F238E27FC236}">
                <a16:creationId xmlns:a16="http://schemas.microsoft.com/office/drawing/2014/main" id="{7D39BBF4-7CF4-D70B-CE47-350ABF8015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82075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Текст 20">
            <a:extLst>
              <a:ext uri="{FF2B5EF4-FFF2-40B4-BE49-F238E27FC236}">
                <a16:creationId xmlns:a16="http://schemas.microsoft.com/office/drawing/2014/main" id="{3AEF3D06-30F2-279B-8430-363419395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8800" y="4234745"/>
            <a:ext cx="2670176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2" name="Текст 20">
            <a:extLst>
              <a:ext uri="{FF2B5EF4-FFF2-40B4-BE49-F238E27FC236}">
                <a16:creationId xmlns:a16="http://schemas.microsoft.com/office/drawing/2014/main" id="{D5DDAE00-2299-C938-71FC-422094086B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71271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6A420EA7-9EA1-A815-3D77-3D579D7472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71271" y="4234745"/>
            <a:ext cx="2667579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CC1D1C65-2907-F4F6-A7F6-19E419D3A3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72200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4EBF752E-6642-76AD-0DC1-83A2B8D56D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2201" y="4234745"/>
            <a:ext cx="266700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694FE88C-4379-3D8B-76A7-F5195EE7A8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2362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516FBFF7-C429-CE9B-EDF9-4E3B4C6544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5538" y="4234745"/>
            <a:ext cx="266195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52DF74F6-6CCA-4803-B4CB-F96B4A811D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35CC99ED-8696-4AE6-87A9-2C30D2D1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id="{4B971074-74D1-43AB-A3FC-4C7544B7B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9533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214405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endParaRPr lang="ru-RU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4C70397A-45C2-4EF4-84A2-C14622476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45303B5C-8927-4448-AF87-9B1F95064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09C1EA99-A3BF-4009-9D5C-413434A75F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98934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8636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!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41D0FF-F6BF-13B3-87AE-000AC1A889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Контактные данные. Шрифт </a:t>
            </a:r>
            <a:r>
              <a:rPr lang="en-US"/>
              <a:t>Arial Regular </a:t>
            </a:r>
            <a:r>
              <a:rPr lang="ru-RU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5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!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Контактные данные. Шрифт </a:t>
            </a:r>
            <a:r>
              <a:rPr lang="en-US"/>
              <a:t>Arial Regular </a:t>
            </a:r>
            <a:r>
              <a:rPr lang="ru-RU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847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Цифра с пояснением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2085531"/>
            <a:ext cx="11098211" cy="134346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Большая цифра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0DA0AD8-5CC4-2653-66F5-95FE3F87D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429000"/>
            <a:ext cx="11098211" cy="2085531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Поясняющая информация или детали в пару строк</a:t>
            </a:r>
          </a:p>
        </p:txBody>
      </p:sp>
    </p:spTree>
    <p:extLst>
      <p:ext uri="{BB962C8B-B14F-4D97-AF65-F5344CB8AC3E}">
        <p14:creationId xmlns:p14="http://schemas.microsoft.com/office/powerpoint/2010/main" val="3085435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тандар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76A417F-C5FB-4127-8AA2-CD5890D1B8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43" imgH="443" progId="TCLayout.ActiveDocument.1">
                  <p:embed/>
                </p:oleObj>
              </mc:Choice>
              <mc:Fallback>
                <p:oleObj name="Слайд think-cell" r:id="rId3" imgW="443" imgH="44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6A417F-C5FB-4127-8AA2-CD5890D1B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-1" y="292817"/>
            <a:ext cx="11160000" cy="47780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360000" tIns="72000" rIns="180000" bIns="7200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Заголовок</a:t>
            </a:r>
            <a:r>
              <a:rPr lang="en-US"/>
              <a:t> (Arial 2</a:t>
            </a:r>
            <a:r>
              <a:rPr lang="ru-RU"/>
              <a:t>4</a:t>
            </a:r>
            <a:r>
              <a:rPr lang="ru-RU"/>
              <a:t> </a:t>
            </a:r>
            <a:r>
              <a:rPr lang="ru-RU"/>
              <a:t>Обычный</a:t>
            </a:r>
            <a:r>
              <a:rPr lang="ru-RU"/>
              <a:t>)  </a:t>
            </a:r>
            <a:endParaRPr lang="ru-RU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09312"/>
            <a:ext cx="11160000" cy="341632"/>
          </a:xfrm>
          <a:prstGeom prst="rect">
            <a:avLst/>
          </a:prstGeom>
        </p:spPr>
        <p:txBody>
          <a:bodyPr wrap="square" lIns="32004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69912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258887" indent="0">
              <a:buFontTx/>
              <a:buNone/>
              <a:defRPr sz="1800"/>
            </a:lvl4pPr>
            <a:lvl5pPr marL="1603375" indent="0">
              <a:buFontTx/>
              <a:buNone/>
              <a:defRPr sz="1800"/>
            </a:lvl5pPr>
          </a:lstStyle>
          <a:p>
            <a:pPr lvl="0"/>
            <a:r>
              <a:rPr lang="ru-RU"/>
              <a:t>Подзаголовок </a:t>
            </a:r>
            <a:r>
              <a:rPr lang="en-US"/>
              <a:t>(Segoe Print 18 </a:t>
            </a:r>
            <a:r>
              <a:rPr lang="ru-RU"/>
              <a:t>Жирный курсив</a:t>
            </a:r>
            <a:r>
              <a:rPr lang="ru-RU"/>
              <a:t>)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465073" y="6368528"/>
            <a:ext cx="432000" cy="384872"/>
          </a:xfrm>
          <a:prstGeom prst="rect">
            <a:avLst/>
          </a:prstGeom>
          <a:noFill/>
        </p:spPr>
        <p:txBody>
          <a:bodyPr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4F2AE68-28B4-4B40-8AA4-3365A0AE686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87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 главы">
    <p:bg>
      <p:bgPr>
        <a:solidFill>
          <a:srgbClr val="E2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44" imgH="443" progId="TCLayout.ActiveDocument.1">
                  <p:embed/>
                </p:oleObj>
              </mc:Choice>
              <mc:Fallback>
                <p:oleObj name="Слайд think-cell" r:id="rId4" imgW="444" imgH="443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ru-RU" sz="40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олилиния 5"/>
          <p:cNvSpPr/>
          <p:nvPr userDrawn="1"/>
        </p:nvSpPr>
        <p:spPr>
          <a:xfrm>
            <a:off x="718040" y="0"/>
            <a:ext cx="3035812" cy="6858000"/>
          </a:xfrm>
          <a:custGeom>
            <a:avLst/>
            <a:gdLst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0 w 5075225"/>
              <a:gd name="connsiteY6" fmla="*/ 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91440 w 5075225"/>
              <a:gd name="connsiteY6" fmla="*/ 9144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  <a:gd name="connsiteX4" fmla="*/ 2522474 w 3035812"/>
              <a:gd name="connsiteY4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5812" h="6858000">
                <a:moveTo>
                  <a:pt x="0" y="0"/>
                </a:moveTo>
                <a:lnTo>
                  <a:pt x="183446" y="93955"/>
                </a:lnTo>
                <a:cubicBezTo>
                  <a:pt x="1882443" y="1016906"/>
                  <a:pt x="3035812" y="2816981"/>
                  <a:pt x="3035812" y="4886438"/>
                </a:cubicBezTo>
                <a:lnTo>
                  <a:pt x="3018289" y="6858000"/>
                </a:lnTo>
              </a:path>
            </a:pathLst>
          </a:custGeom>
          <a:noFill/>
          <a:ln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601580" y="2660478"/>
            <a:ext cx="10786116" cy="752224"/>
          </a:xfrm>
          <a:prstGeom prst="rect">
            <a:avLst/>
          </a:prstGeom>
          <a:solidFill>
            <a:srgbClr val="E22A36"/>
          </a:solidFill>
        </p:spPr>
        <p:txBody>
          <a:bodyPr lIns="72000" rIns="7200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Название раздела</a:t>
            </a:r>
            <a:r>
              <a:rPr lang="en-US"/>
              <a:t> (Arial 40 </a:t>
            </a:r>
            <a:r>
              <a:rPr lang="ru-RU"/>
              <a:t>Обычный</a:t>
            </a:r>
            <a:r>
              <a:rPr lang="ru-RU"/>
              <a:t>)</a:t>
            </a:r>
            <a:endParaRPr lang="ru-RU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601580" y="3429000"/>
            <a:ext cx="10786115" cy="660246"/>
          </a:xfrm>
          <a:prstGeom prst="rect">
            <a:avLst/>
          </a:prstGeom>
          <a:solidFill>
            <a:srgbClr val="E22A36"/>
          </a:solidFill>
        </p:spPr>
        <p:txBody>
          <a:bodyPr lIns="72000" tIns="180000" rIns="72000" bIns="18000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Подзаголовок </a:t>
            </a:r>
            <a:r>
              <a:rPr lang="en-US"/>
              <a:t>(Arial 2</a:t>
            </a:r>
            <a:r>
              <a:rPr lang="ru-RU"/>
              <a:t>4</a:t>
            </a:r>
            <a:r>
              <a:rPr lang="ru-RU"/>
              <a:t> </a:t>
            </a:r>
            <a:r>
              <a:rPr lang="ru-RU"/>
              <a:t>Обычный</a:t>
            </a:r>
            <a:r>
              <a:rPr lang="ru-RU"/>
              <a:t>)</a:t>
            </a:r>
            <a:endParaRPr lang="ru-RU"/>
          </a:p>
        </p:txBody>
      </p:sp>
      <p:sp>
        <p:nvSpPr>
          <p:cNvPr id="10" name="Прямоугольник с двумя скругленными противолежащими углами 9"/>
          <p:cNvSpPr/>
          <p:nvPr userDrawn="1"/>
        </p:nvSpPr>
        <p:spPr>
          <a:xfrm>
            <a:off x="4017649" y="4481656"/>
            <a:ext cx="947488" cy="2157897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7" imgW="425" imgH="426" progId="TCLayout.ActiveDocument.1">
                  <p:embed/>
                </p:oleObj>
              </mc:Choice>
              <mc:Fallback>
                <p:oleObj name="Слайд think-cell" r:id="rId27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364175" y="6321790"/>
            <a:ext cx="1179870" cy="36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4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по модели бюджета AdTech 2027 (cons 15.10); «+» к 2026 / стратегии — улучшение (по расходам — экономия)</a:t>
            </a:r>
            <a:br>
              <a:rPr lang="ru-RU" dirty="0"/>
            </a:br>
            <a:r>
              <a:rPr lang="ru-RU"/>
              <a:t>** - Incremental Revenue — прирост выручки 2027 к прогнозу 2026 (вид для консолидации); Q1–Q4 — сумма месяцев бюджета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46529"/>
              </p:ext>
            </p:extLst>
          </p:nvPr>
        </p:nvGraphicFramePr>
        <p:xfrm>
          <a:off x="364175" y="829165"/>
          <a:ext cx="11348280" cy="5096400"/>
        </p:xfrm>
        <a:graphic>
          <a:graphicData uri="http://schemas.openxmlformats.org/drawingml/2006/table">
            <a:tbl>
              <a:tblPr first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КПЭ,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Аудитория: DAC +3 млн (до 31,1 млн); выше стратегии на 445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1 770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3 232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537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62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3 931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+1 485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+60,7%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578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Новое ЮЛ; 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14 478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12 948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+4,2 млрд к 2026; выше стратегии на 1,5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2 027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3 040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6 081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Incremental Revenue**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к 2026: E-comm +1 501, Offline +2 653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-1 505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ФОТ +28% к 2026; в рамках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-1 984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-1 048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-112,0%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Интернет −1 000, агентства −795, креаторы −88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-377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-483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-664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-3 654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-1 415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Рост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-766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-875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-885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10 823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8 085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9 953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+2,7 млрд к 2026; выше стратегии на 870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1 260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4 953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Платформа −541, оснащение ТТ −610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9 673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6 905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8 711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1 951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32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модель бюджета (cons 15.10); форматы — по модели бюджета (Instore и Online DMP — по факту 8 мес. 2026 с корр.)</a:t>
            </a:r>
            <a:br>
              <a:rPr lang="ru-RU" dirty="0"/>
            </a:br>
            <a:r>
              <a:rPr lang="ru-RU"/>
              <a:t>** - Incremental Revenue — прирост к прогнозу 2026 (вид для консолидации); стратегия по форматам не задана (кроме E-commerce = APP); «+» — улучшение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— выручка по форматам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77586"/>
              </p:ext>
            </p:extLst>
          </p:nvPr>
        </p:nvGraphicFramePr>
        <p:xfrm>
          <a:off x="364175" y="829165"/>
          <a:ext cx="11348280" cy="5437200"/>
        </p:xfrm>
        <a:graphic>
          <a:graphicData uri="http://schemas.openxmlformats.org/drawingml/2006/table">
            <a:tbl>
              <a:tblPr first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КПЭ (выручка по форматам),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E-commerce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= APP; аудитория: DAC +3 млн (до 31,1 млн); выше стратегии на 445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1 770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3 232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ММ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1 862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+1 133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+60,8%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2 683 + Online DMP 313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МК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 1 246 + Instore 385 (рост оборудования в ТТ МК)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МЭ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+206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+60,8%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516 + Online DMP 31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МС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+60,8%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233 + Online DMP 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МС Лайт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+60,7%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Без формата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+79,9%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RMN 850, Content factory 213, DMP 187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14 478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12 948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+4,2 млрд к 2026; выше стратегии на 1,5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2 027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3 040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6 081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Incremental Revenue**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к 2026: E-comm +1 501, Offline +2 653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-1 505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ФОТ +28% к 2026; в рамках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-1 984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-1 048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-112,0%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Интернет −1 000, агентства −795, креаторы −88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-377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-483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-664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-3 654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-1 415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Рост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-766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-875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-885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10 823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8 085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9 953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+2,7 млрд к 2026; выше стратегии на 870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1 260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4 953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Платформа −541, оснащение ТТ −610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9 673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6 905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8 711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1 951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0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по модели бюджета AdTech 2027 (cons 15.10); Instore digital и Online DMP распределены на форматы по факту 8 мес. 2026 с корректировкой</a:t>
            </a:r>
            <a:br>
              <a:rPr lang="ru-RU" dirty="0"/>
            </a:br>
            <a:r>
              <a:rPr lang="ru-RU"/>
              <a:t>Стратегия не предусматривала выручку RMN и Content factory (отд. ЮЛ); н/п — нет базы для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— выручка по направлениям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3720000"/>
        </p:xfrm>
        <a:graphic>
          <a:graphicData uri="http://schemas.openxmlformats.org/drawingml/2006/table">
            <a:tbl>
              <a:tblPr firstRow="1"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Направление,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Аудитория приложения: DAC +3 млн (до 31,1 млн); медиа + перформанс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МК 78%, ММ 20%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3 931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+1 485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+60,7%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ММ 68%, МЭ 13%, МК 10% (рост оборудования в ТТ МК); ниже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Новое ЮЛ, старт в 2027; 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14 478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12 948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+4,2 млрд к 2026 (+40,2%); выше стратегии на 1,5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Справочно: выручка М+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5 444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3 007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+2 437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Программа лояльности, не входит в выручку AdTech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27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по модели бюджета AdTech 2027 (cons 15.10)</a:t>
            </a:r>
            <a:br>
              <a:rPr lang="ru-RU" dirty="0"/>
            </a:br>
            <a:r>
              <a:rPr lang="ru-RU"/>
              <a:t>Сезонность выручки — профиль модели бюджета: 2% годового объёма в январе → 17% в декабре (единый профиль для всех направлений)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по месяцам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915800"/>
        </p:xfrm>
        <a:graphic>
          <a:graphicData uri="http://schemas.openxmlformats.org/drawingml/2006/table">
            <a:tbl>
              <a:tblPr first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Статья,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Янв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Фев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Мар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Апр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Май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Июн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Июл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Авг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Сен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Окт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Ноя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Дек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1 308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3 931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1 158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1 158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2 461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14 478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-1 984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Other OPEX и IT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-288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-407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-3 654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1 246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2 054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10 823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8 085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1 908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9 673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6 905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44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Вид для консолидации: выручка — прирост 2027 к прогнозу 2026 (E-comm / Offline), расходы и CAPEX — полный бюджет 2027</a:t>
            </a:r>
            <a:br>
              <a:rPr lang="ru-RU" dirty="0"/>
            </a:br>
            <a:r>
              <a:rPr lang="ru-RU"/>
              <a:t>«+» к стратегии — улучшение (по расходам — экономия)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— вид для консолидации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840000"/>
        </p:xfrm>
        <a:graphic>
          <a:graphicData uri="http://schemas.openxmlformats.org/drawingml/2006/table">
            <a:tbl>
              <a:tblPr firstRow="1"/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Статья (вид для консолидации),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E-comm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Рост аудитории приложения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Offline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2 653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2 467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+186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Instore, Online DMP, RMN, Content factory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итого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0,7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— экономия ФОТ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HR-бренд, обучение, подбор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-1 984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Закупка трафика DMP и агентские вознаграждения сверх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-3,5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-48,4%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Техподдержка ПО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-3 654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Превышение стратегии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 (CONS)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На уровне стратегии (+15)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92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 (CONS)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-651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-758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647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aBMu5Y9A2PtCcQK8SQlQ"/>
</p:tagLst>
</file>

<file path=ppt/theme/theme1.xml><?xml version="1.0" encoding="utf-8"?>
<a:theme xmlns:a="http://schemas.openxmlformats.org/drawingml/2006/main" name="6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DD568C-A782-FB4F-864B-BD5FFD469CE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80481db-ed65-47c9-a1c0-2fde1bfe45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586351EFA2A4845BBB1D74C44D60F86" ma:contentTypeVersion="8" ma:contentTypeDescription="Создание документа." ma:contentTypeScope="" ma:versionID="c99fc65a7d2f9829e42e56b639d06c75">
  <xsd:schema xmlns:xsd="http://www.w3.org/2001/XMLSchema" xmlns:xs="http://www.w3.org/2001/XMLSchema" xmlns:p="http://schemas.microsoft.com/office/2006/metadata/properties" xmlns:ns2="91f60a32-c13a-4850-8dc7-55ed60ec9666" targetNamespace="http://schemas.microsoft.com/office/2006/metadata/properties" ma:root="true" ma:fieldsID="e7580d880a114fb436c588a649554218" ns2:_="">
    <xsd:import namespace="91f60a32-c13a-4850-8dc7-55ed60ec96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60a32-c13a-4850-8dc7-55ed60ec96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46F04D-4563-4809-9B05-F3A5FDF2C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88A7F6-7769-4DEC-A9A6-8DFCAF9EC1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f60a32-c13a-4850-8dc7-55ed60ec96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7D6A60-3681-4F1B-B8AD-94F5DA5ED429}">
  <ds:schemaRefs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91f60a32-c13a-4850-8dc7-55ed60ec9666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2111</Words>
  <Application>Microsoft Macintosh PowerPoint</Application>
  <PresentationFormat>Widescreen</PresentationFormat>
  <Paragraphs>833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6_Тема Office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АО "Тандер"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Виноградов Даниил Алексеевич</dc:creator>
  <cp:lastModifiedBy>Бабкин Денис Владимирович</cp:lastModifiedBy>
  <cp:revision>125</cp:revision>
  <dcterms:created xsi:type="dcterms:W3CDTF">2026-03-13T09:21:41Z</dcterms:created>
  <dcterms:modified xsi:type="dcterms:W3CDTF">2026-10-21T08:57:21Z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0x0101005586351EFA2A4845BBB1D74C44D60F86</vt:lpwstr>
  </property>
</Properties>
</file>