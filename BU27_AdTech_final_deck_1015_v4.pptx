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57.xml" ContentType="application/vnd.openxmlformats-officedocument.presentationml.tags+xml"/>
  <Override PartName="/ppt/tags/tag59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6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6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0.xml" ContentType="application/vnd.openxmlformats-officedocument.presentationml.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charts/chart9.xml" ContentType="application/vnd.openxmlformats-officedocument.drawingml.chart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gs/tag102.xml" ContentType="application/vnd.openxmlformats-officedocument.presentationml.tags+xml"/>
  <Override PartName="/ppt/slides/slide4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345" r:id="rId2"/>
    <p:sldId id="476" r:id="rId3"/>
    <p:sldId id="464" r:id="rId4"/>
    <p:sldId id="441" r:id="rId5"/>
    <p:sldId id="473" r:id="rId6"/>
    <p:sldId id="488" r:id="rId7"/>
    <p:sldId id="460" r:id="rId8"/>
    <p:sldId id="497" r:id="rId46"/>
    <p:sldId id="498" r:id="rId47"/>
    <p:sldId id="499" r:id="rId48"/>
    <p:sldId id="500" r:id="rId49"/>
    <p:sldId id="437" r:id="rId9"/>
    <p:sldId id="474" r:id="rId10"/>
    <p:sldId id="471" r:id="rId11"/>
    <p:sldId id="495" r:id="rId12"/>
    <p:sldId id="501" r:id="rId50"/>
    <p:sldId id="502" r:id="rId51"/>
    <p:sldId id="479" r:id="rId15"/>
    <p:sldId id="365" r:id="rId16"/>
    <p:sldId id="480" r:id="rId17"/>
    <p:sldId id="412" r:id="rId18"/>
    <p:sldId id="469" r:id="rId19"/>
    <p:sldId id="415" r:id="rId20"/>
    <p:sldId id="433" r:id="rId21"/>
    <p:sldId id="366" r:id="rId22"/>
    <p:sldId id="487" r:id="rId23"/>
    <p:sldId id="404" r:id="rId24"/>
    <p:sldId id="483" r:id="rId25"/>
    <p:sldId id="432" r:id="rId26"/>
    <p:sldId id="475" r:id="rId27"/>
    <p:sldId id="489" r:id="rId28"/>
    <p:sldId id="481" r:id="rId29"/>
    <p:sldId id="484" r:id="rId30"/>
    <p:sldId id="405" r:id="rId31"/>
    <p:sldId id="468" r:id="rId32"/>
    <p:sldId id="430" r:id="rId33"/>
    <p:sldId id="411" r:id="rId34"/>
    <p:sldId id="408" r:id="rId35"/>
    <p:sldId id="427" r:id="rId36"/>
    <p:sldId id="421" r:id="rId37"/>
    <p:sldId id="422" r:id="rId38"/>
    <p:sldId id="424" r:id="rId39"/>
    <p:sldId id="425" r:id="rId4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4" d="100"/>
          <a:sy n="154" d="100"/>
        </p:scale>
        <p:origin x="-208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______________Microsoft_Excel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</c:v>
              </c:pt>
              <c:pt idx="3">
                <c:v>538.7</c:v>
              </c:pt>
              <c:pt idx="4">
                <c:v>538.7</c:v>
              </c:pt>
              <c:pt idx="5">
                <c:v>538.7</c:v>
              </c:pt>
              <c:pt idx="6">
                <c:v>538.7</c:v>
              </c:pt>
              <c:pt idx="7">
                <c:v>615.7</c:v>
              </c:pt>
              <c:pt idx="8">
                <c:v>615.7</c:v>
              </c:pt>
              <c:pt idx="9">
                <c:v>846.6</c:v>
              </c:pt>
              <c:pt idx="10">
                <c:v>1077.5</c:v>
              </c:pt>
              <c:pt idx="11">
                <c:v>1308.4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78.6</c:v>
              </c:pt>
              <c:pt idx="1">
                <c:v>196.5</c:v>
              </c:pt>
              <c:pt idx="2">
                <c:v>275.2</c:v>
              </c:pt>
              <c:pt idx="3">
                <c:v>275.1</c:v>
              </c:pt>
              <c:pt idx="4">
                <c:v>275.2</c:v>
              </c:pt>
              <c:pt idx="5">
                <c:v>275.2</c:v>
              </c:pt>
              <c:pt idx="6">
                <c:v>275.2</c:v>
              </c:pt>
              <c:pt idx="7">
                <c:v>314.4</c:v>
              </c:pt>
              <c:pt idx="8">
                <c:v>314.4</c:v>
              </c:pt>
              <c:pt idx="9">
                <c:v>432.4</c:v>
              </c:pt>
              <c:pt idx="10">
                <c:v>550.3</c:v>
              </c:pt>
              <c:pt idx="11">
                <c:v>668.3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57.0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228.0</c:v>
              </c:pt>
              <c:pt idx="8">
                <c:v>228.0</c:v>
              </c:pt>
              <c:pt idx="9">
                <c:v>313.6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289.6</c:v>
              </c:pt>
              <c:pt idx="1">
                <c:v>723.9</c:v>
              </c:pt>
              <c:pt idx="2">
                <c:v>1013.4</c:v>
              </c:pt>
              <c:pt idx="3">
                <c:v>1013.4</c:v>
              </c:pt>
              <c:pt idx="4">
                <c:v>1013.4</c:v>
              </c:pt>
              <c:pt idx="5">
                <c:v>1013.4</c:v>
              </c:pt>
              <c:pt idx="6">
                <c:v>1013.4</c:v>
              </c:pt>
              <c:pt idx="7">
                <c:v>1158.2</c:v>
              </c:pt>
              <c:pt idx="8">
                <c:v>1158.2</c:v>
              </c:pt>
              <c:pt idx="9">
                <c:v>1592.5</c:v>
              </c:pt>
              <c:pt idx="10">
                <c:v>2026.9</c:v>
              </c:pt>
              <c:pt idx="11">
                <c:v>2461.2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14477.58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536.56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578.33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14477.59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−578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14 478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10323.45</c:v>
              </c:pt>
              <c:pt idx="2">
                <c:v>11824.28</c:v>
              </c:pt>
              <c:pt idx="3">
                <c:v>13309.03</c:v>
              </c:pt>
              <c:pt idx="4">
                <c:v>13922.03</c:v>
              </c:pt>
              <c:pt idx="5">
                <c:v>14179.68</c:v>
              </c:pt>
              <c:pt idx="6">
                <c:v>14392.98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5FB-C74E-AF9C-EE151BC377A8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1500.83</c:v>
              </c:pt>
              <c:pt idx="2">
                <c:v>1484.75</c:v>
              </c:pt>
              <c:pt idx="3">
                <c:v>613.0</c:v>
              </c:pt>
              <c:pt idx="4">
                <c:v>257.65</c:v>
              </c:pt>
              <c:pt idx="5">
                <c:v>213.3</c:v>
              </c:pt>
              <c:pt idx="6">
                <c:v>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5FB-C74E-AF9C-EE151BC377A8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5FB-C74E-AF9C-EE151BC377A8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10323.45</c:v>
              </c:pt>
              <c:pt idx="7">
                <c:v>14477.59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5FB-C74E-AF9C-EE151BC377A8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10 323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+1 485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+613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14 478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147.471</c:v>
              </c:pt>
              <c:pt idx="1">
                <c:v>147.471</c:v>
              </c:pt>
              <c:pt idx="2">
                <c:v>147.471</c:v>
              </c:pt>
              <c:pt idx="3">
                <c:v>147.471</c:v>
              </c:pt>
              <c:pt idx="4">
                <c:v>147.471</c:v>
              </c:pt>
              <c:pt idx="5">
                <c:v>147.471</c:v>
              </c:pt>
              <c:pt idx="6">
                <c:v>147.471</c:v>
              </c:pt>
              <c:pt idx="7">
                <c:v>147.471</c:v>
              </c:pt>
            </c:numLit>
          </c:val>
          <c:extLst>
            <c:ext xmlns:c16="http://schemas.microsoft.com/office/drawing/2014/chart" uri="{C3380CC4-5D6E-409C-BE32-E72D297353CC}">
              <c16:uniqueId val="{0000000D-05FB-C74E-AF9C-EE151BC37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83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10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72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11070.27</c:v>
              </c:pt>
              <c:pt idx="4">
                <c:v>11190.93</c:v>
              </c:pt>
              <c:pt idx="5">
                <c:v>10874.64</c:v>
              </c:pt>
              <c:pt idx="6">
                <c:v>10841.14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1484.75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1047.9</c:v>
              </c:pt>
              <c:pt idx="5">
                <c:v>316.29</c:v>
              </c:pt>
              <c:pt idx="6">
                <c:v>33.5</c:v>
              </c:pt>
              <c:pt idx="7">
                <c:v>17.68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+1 485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−1 048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1150.4999999999998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14.10.2026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tags" Target="../tags/tag44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50" Type="http://schemas.openxmlformats.org/officeDocument/2006/relationships/tags" Target="../tags/tag55.xml"/><Relationship Id="rId55" Type="http://schemas.openxmlformats.org/officeDocument/2006/relationships/chart" Target="../charts/chart1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oleObject" Target="../embeddings/oleObject5.bin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image" Target="../media/image7.emf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3.xml"/><Relationship Id="rId26" Type="http://schemas.openxmlformats.org/officeDocument/2006/relationships/tags" Target="../tags/tag64.xml"/><Relationship Id="rId39" Type="http://schemas.openxmlformats.org/officeDocument/2006/relationships/tags" Target="../tags/tag65.xml"/><Relationship Id="rId21" Type="http://schemas.openxmlformats.org/officeDocument/2006/relationships/tags" Target="../tags/tag66.xml"/><Relationship Id="rId34" Type="http://schemas.openxmlformats.org/officeDocument/2006/relationships/tags" Target="../tags/tag67.xml"/><Relationship Id="rId42" Type="http://schemas.openxmlformats.org/officeDocument/2006/relationships/oleObject" Target="../embeddings/oleObject8.bin"/><Relationship Id="rId7" Type="http://schemas.openxmlformats.org/officeDocument/2006/relationships/tags" Target="../tags/tag68.xml"/><Relationship Id="rId2" Type="http://schemas.openxmlformats.org/officeDocument/2006/relationships/tags" Target="../tags/tag69.xml"/><Relationship Id="rId16" Type="http://schemas.openxmlformats.org/officeDocument/2006/relationships/tags" Target="../tags/tag70.xml"/><Relationship Id="rId20" Type="http://schemas.openxmlformats.org/officeDocument/2006/relationships/tags" Target="../tags/tag71.xml"/><Relationship Id="rId29" Type="http://schemas.openxmlformats.org/officeDocument/2006/relationships/tags" Target="../tags/tag72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73.xml"/><Relationship Id="rId6" Type="http://schemas.openxmlformats.org/officeDocument/2006/relationships/tags" Target="../tags/tag74.xml"/><Relationship Id="rId11" Type="http://schemas.openxmlformats.org/officeDocument/2006/relationships/tags" Target="../tags/tag75.xml"/><Relationship Id="rId24" Type="http://schemas.openxmlformats.org/officeDocument/2006/relationships/tags" Target="../tags/tag76.xml"/><Relationship Id="rId32" Type="http://schemas.openxmlformats.org/officeDocument/2006/relationships/tags" Target="../tags/tag77.xml"/><Relationship Id="rId37" Type="http://schemas.openxmlformats.org/officeDocument/2006/relationships/tags" Target="../tags/tag78.xml"/><Relationship Id="rId40" Type="http://schemas.openxmlformats.org/officeDocument/2006/relationships/tags" Target="../tags/tag79.xml"/><Relationship Id="rId5" Type="http://schemas.openxmlformats.org/officeDocument/2006/relationships/tags" Target="../tags/tag80.xml"/><Relationship Id="rId15" Type="http://schemas.openxmlformats.org/officeDocument/2006/relationships/tags" Target="../tags/tag81.xml"/><Relationship Id="rId23" Type="http://schemas.openxmlformats.org/officeDocument/2006/relationships/tags" Target="../tags/tag82.xml"/><Relationship Id="rId28" Type="http://schemas.openxmlformats.org/officeDocument/2006/relationships/tags" Target="../tags/tag83.xml"/><Relationship Id="rId36" Type="http://schemas.openxmlformats.org/officeDocument/2006/relationships/tags" Target="../tags/tag84.xml"/><Relationship Id="rId10" Type="http://schemas.openxmlformats.org/officeDocument/2006/relationships/tags" Target="../tags/tag85.xml"/><Relationship Id="rId19" Type="http://schemas.openxmlformats.org/officeDocument/2006/relationships/tags" Target="../tags/tag86.xml"/><Relationship Id="rId31" Type="http://schemas.openxmlformats.org/officeDocument/2006/relationships/tags" Target="../tags/tag87.xml"/><Relationship Id="rId44" Type="http://schemas.openxmlformats.org/officeDocument/2006/relationships/chart" Target="../charts/chart9.xml"/><Relationship Id="rId4" Type="http://schemas.openxmlformats.org/officeDocument/2006/relationships/tags" Target="../tags/tag88.xml"/><Relationship Id="rId9" Type="http://schemas.openxmlformats.org/officeDocument/2006/relationships/tags" Target="../tags/tag89.xml"/><Relationship Id="rId14" Type="http://schemas.openxmlformats.org/officeDocument/2006/relationships/tags" Target="../tags/tag90.xml"/><Relationship Id="rId22" Type="http://schemas.openxmlformats.org/officeDocument/2006/relationships/tags" Target="../tags/tag91.xml"/><Relationship Id="rId27" Type="http://schemas.openxmlformats.org/officeDocument/2006/relationships/tags" Target="../tags/tag92.xml"/><Relationship Id="rId30" Type="http://schemas.openxmlformats.org/officeDocument/2006/relationships/tags" Target="../tags/tag93.xml"/><Relationship Id="rId35" Type="http://schemas.openxmlformats.org/officeDocument/2006/relationships/tags" Target="../tags/tag94.xml"/><Relationship Id="rId43" Type="http://schemas.openxmlformats.org/officeDocument/2006/relationships/image" Target="../media/image2.emf"/><Relationship Id="rId8" Type="http://schemas.openxmlformats.org/officeDocument/2006/relationships/tags" Target="../tags/tag95.xml"/><Relationship Id="rId3" Type="http://schemas.openxmlformats.org/officeDocument/2006/relationships/tags" Target="../tags/tag96.xml"/><Relationship Id="rId12" Type="http://schemas.openxmlformats.org/officeDocument/2006/relationships/tags" Target="../tags/tag97.xml"/><Relationship Id="rId17" Type="http://schemas.openxmlformats.org/officeDocument/2006/relationships/tags" Target="../tags/tag98.xml"/><Relationship Id="rId25" Type="http://schemas.openxmlformats.org/officeDocument/2006/relationships/tags" Target="../tags/tag99.xml"/><Relationship Id="rId33" Type="http://schemas.openxmlformats.org/officeDocument/2006/relationships/tags" Target="../tags/tag100.xml"/><Relationship Id="rId38" Type="http://schemas.openxmlformats.org/officeDocument/2006/relationships/tags" Target="../tags/tag10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Relationship Id="rId4" Type="http://schemas.openxmlformats.org/officeDocument/2006/relationships/image" Target="../media/image3.emf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AdTech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14 478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+40%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1 529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растёт на </a:t>
            </a:r>
            <a:r>
              <a:rPr lang="ru-RU" sz="1400" b="1" dirty="0">
                <a:solidFill>
                  <a:srgbClr val="000000"/>
                </a:solidFill>
              </a:rPr>
              <a:t>1 415 млн руб.</a:t>
            </a:r>
            <a:r>
              <a:rPr lang="ru-RU" sz="1400" dirty="0">
                <a:solidFill>
                  <a:srgbClr val="000000"/>
                </a:solidFill>
              </a:rPr>
              <a:t> (+63%); 71%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9 673 млн руб.</a:t>
            </a:r>
            <a:r>
              <a:rPr lang="ru-RU" sz="1400" dirty="0">
                <a:solidFill>
                  <a:srgbClr val="000000"/>
                </a:solidFill>
              </a:rPr>
              <a:t> — на 962 млн руб. выше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213371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900" noProof="1">
                <a:solidFill>
                  <a:srgbClr val="6E6E6E"/>
                </a:solidFill>
              </a:rPr>
              <a:t>Revenue </a:t>
            </a:r>
            <a:r>
              <a:rPr lang="ru-RU" sz="900" noProof="1">
                <a:solidFill>
                  <a:srgbClr val="6E6E6E"/>
                </a:solidFill>
              </a:rPr>
              <a:t>(</a:t>
            </a:r>
            <a:r>
              <a:rPr lang="en-US" sz="900" noProof="1">
                <a:solidFill>
                  <a:srgbClr val="6E6E6E"/>
                </a:solidFill>
              </a:rPr>
              <a:t>incr</a:t>
            </a:r>
            <a:r>
              <a:rPr lang="en-US" noProof="1">
                <a:solidFill>
                  <a:srgbClr val="6E6E6E"/>
                </a:solidFill>
              </a:rPr>
              <a:t>ease)</a:t>
            </a:r>
            <a:r>
              <a:rPr lang="en-US" sz="900" noProof="1">
                <a:solidFill>
                  <a:srgbClr val="6E6E6E"/>
                </a:solidFill>
              </a:rPr>
              <a:t> </a:t>
            </a:r>
            <a:r>
              <a:rPr lang="ru-RU" sz="900" dirty="0">
                <a:solidFill>
                  <a:srgbClr val="6E6E6E"/>
                </a:solidFill>
              </a:rPr>
              <a:t>— </a:t>
            </a:r>
            <a:r>
              <a:rPr lang="ru-RU" dirty="0">
                <a:solidFill>
                  <a:srgbClr val="6E6E6E"/>
                </a:solidFill>
              </a:rPr>
              <a:t>дополнительная выручка </a:t>
            </a:r>
            <a:r>
              <a:rPr lang="en-US" dirty="0">
                <a:solidFill>
                  <a:srgbClr val="6E6E6E"/>
                </a:solidFill>
              </a:rPr>
              <a:t>vs 2026FC8+4. </a:t>
            </a:r>
            <a:r>
              <a:rPr lang="ru-RU" sz="900" dirty="0">
                <a:solidFill>
                  <a:srgbClr val="6E6E6E"/>
                </a:solidFill>
              </a:rPr>
              <a:t>Млн руб. без НДС.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Сравнение с </a:t>
            </a:r>
            <a:r>
              <a:rPr lang="en-US" dirty="0"/>
              <a:t>top-down targets</a:t>
            </a:r>
            <a:endParaRPr lang="ru-RU" dirty="0"/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таргеты,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Выручка: </a:t>
            </a:r>
            <a:r>
              <a:rPr lang="ru-RU" sz="1400" dirty="0">
                <a:solidFill>
                  <a:srgbClr val="000000"/>
                </a:solidFill>
              </a:rPr>
              <a:t>инкрементальная выручка </a:t>
            </a:r>
            <a:r>
              <a:rPr lang="ru-RU" sz="1400" b="1" dirty="0">
                <a:solidFill>
                  <a:srgbClr val="000000"/>
                </a:solidFill>
              </a:rPr>
              <a:t>4 154 млн руб.</a:t>
            </a:r>
            <a:r>
              <a:rPr lang="ru-RU" sz="1400" dirty="0">
                <a:solidFill>
                  <a:srgbClr val="000000"/>
                </a:solidFill>
              </a:rPr>
              <a:t> — на 675 млн руб. (+19%) выше стратегии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EBITDA: 500 млн руб.</a:t>
            </a:r>
            <a:r>
              <a:rPr lang="ru-RU" sz="1400" dirty="0">
                <a:solidFill>
                  <a:srgbClr val="000000"/>
                </a:solidFill>
              </a:rPr>
              <a:t> — на уровне стратегии (+15) и на 2 000 млн руб. выше таргета (−1 500)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CAPEX: 1 151 млн руб.</a:t>
            </a:r>
            <a:r>
              <a:rPr lang="ru-RU" sz="1400" dirty="0">
                <a:solidFill>
                  <a:srgbClr val="000000"/>
                </a:solidFill>
              </a:rPr>
              <a:t> — ниже стратегии на 92 (−7%) и таргета на 151 (−12%)</a:t>
            </a:r>
          </a:p>
        </p:txBody>
      </p:sp>
      <p:graphicFrame>
        <p:nvGraphicFramePr>
          <p:cNvPr id="200" name="BU vs Targ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34902"/>
              </p:ext>
            </p:extLst>
          </p:nvPr>
        </p:nvGraphicFramePr>
        <p:xfrm>
          <a:off x="368299" y="1574800"/>
          <a:ext cx="7810502" cy="3708400"/>
        </p:xfrm>
        <a:graphic>
          <a:graphicData uri="http://schemas.openxmlformats.org/drawingml/2006/table">
            <a:tbl>
              <a:tblPr firstRow="1"/>
              <a:tblGrid>
                <a:gridCol w="1340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09">
                  <a:extLst>
                    <a:ext uri="{9D8B030D-6E8A-4147-A177-3AD203B41FA5}">
                      <a16:colId xmlns:a16="http://schemas.microsoft.com/office/drawing/2014/main" val="1974067606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Показатель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Стратегия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Таргеты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Бюджет 2027 (</a:t>
                      </a:r>
                      <a:r>
                        <a:rPr lang="en-US" sz="1100" b="1" dirty="0">
                          <a:solidFill>
                            <a:srgbClr val="6E6E6E"/>
                          </a:solidFill>
                        </a:rPr>
                        <a:t>AdTech)</a:t>
                      </a:r>
                      <a:endParaRPr lang="ru-RU" sz="1100" b="1" dirty="0">
                        <a:solidFill>
                          <a:srgbClr val="6E6E6E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Стрейч форматов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Δ к стратегии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Δ к таргетам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 err="1">
                          <a:solidFill>
                            <a:srgbClr val="000000"/>
                          </a:solidFill>
                        </a:rPr>
                        <a:t>Revenue</a:t>
                      </a:r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(increase)</a:t>
                      </a:r>
                      <a:endParaRPr lang="ru-RU" sz="12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3 479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4 154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+675 (+19%)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EBITDA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485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−1 500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500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-2 000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+15 (+3%)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1 242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1 302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1 151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−92 (−7%)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−151 (−12%)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53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AdTech</a:t>
            </a:r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 err="1">
                <a:solidFill>
                  <a:srgbClr val="6E6E6E"/>
                </a:solidFill>
              </a:rPr>
              <a:t>Magnit</a:t>
            </a:r>
            <a:r>
              <a:rPr lang="en-US" dirty="0">
                <a:solidFill>
                  <a:srgbClr val="6E6E6E"/>
                </a:solidFill>
              </a:rPr>
              <a:t>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</a:t>
            </a:r>
            <a:r>
              <a:rPr lang="ru-RU" dirty="0"/>
              <a:t>50% </a:t>
            </a:r>
            <a:r>
              <a:rPr lang="en-US" dirty="0"/>
              <a:t>vs. +15%</a:t>
            </a:r>
            <a:r>
              <a:rPr lang="ru-RU" dirty="0"/>
              <a:t> </a:t>
            </a:r>
            <a:r>
              <a:rPr lang="en-US" dirty="0"/>
              <a:t>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</a:t>
            </a:r>
            <a:r>
              <a:rPr lang="ru-RU" sz="1400" dirty="0" err="1">
                <a:solidFill>
                  <a:srgbClr val="000000"/>
                </a:solidFill>
              </a:rPr>
              <a:t>Magnit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14,5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290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AdTech,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sz="900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AdTech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2027 - 42%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5100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33483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+50%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-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</a:t>
            </a:r>
            <a:r>
              <a:rPr lang="ru-RU" sz="1400" b="1" dirty="0" err="1">
                <a:solidFill>
                  <a:srgbClr val="FF452C"/>
                </a:solidFill>
                <a:latin typeface="Arial"/>
                <a:cs typeface="Arial"/>
              </a:rPr>
              <a:t>Magnit</a:t>
            </a: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3 931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+61%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UGC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13 414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-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0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40%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14,5 млрд руб.</a:t>
            </a:r>
            <a:r>
              <a:rPr lang="ru-RU" sz="1400" dirty="0">
                <a:solidFill>
                  <a:srgbClr val="000000"/>
                </a:solidFill>
              </a:rPr>
              <a:t> (+40%)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6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20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Х5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Magnit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Магнит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ADS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20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Magnit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37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Магнит </a:t>
            </a:r>
            <a:r>
              <a:rPr lang="en-US" dirty="0"/>
              <a:t>ADS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25618"/>
              </p:ext>
            </p:extLst>
          </p:nvPr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</a:t>
                      </a:r>
                      <a:r>
                        <a:rPr lang="ru-RU" sz="1600" b="1" dirty="0" err="1">
                          <a:solidFill>
                            <a:schemeClr val="tx2"/>
                          </a:solidFill>
                          <a:latin typeface="Arial"/>
                        </a:rPr>
                        <a:t>Magnit</a:t>
                      </a: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5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3 931 млн руб. 2027 ·  +61%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UGC-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en-US" sz="1400" dirty="0">
                <a:solidFill>
                  <a:srgbClr val="000000"/>
                </a:solidFill>
              </a:rPr>
              <a:t>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93648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61515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Азбука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13 414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3 931;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- 850; UGC - 213)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5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14,5 млрд руб. (+40%),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5720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3 931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(578)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14 478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4 154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(1 883)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(1 002)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(69)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−2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Ключевые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Аудитория: </a:t>
            </a:r>
            <a:r>
              <a:rPr lang="ru-RU" sz="1200" dirty="0">
                <a:solidFill>
                  <a:srgbClr val="000000"/>
                </a:solidFill>
              </a:rPr>
              <a:t>DAC 29,3 млн в месяц (+18%) по прогнозу М+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Прайс APP: </a:t>
            </a:r>
            <a:r>
              <a:rPr lang="ru-RU" sz="1200" dirty="0">
                <a:solidFill>
                  <a:srgbClr val="000000"/>
                </a:solidFill>
              </a:rPr>
              <a:t>новый прайс с 09.2026 действует весь 2027 г.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In-store: </a:t>
            </a:r>
            <a:r>
              <a:rPr lang="ru-RU" sz="1200" dirty="0">
                <a:solidFill>
                  <a:srgbClr val="000000"/>
                </a:solidFill>
              </a:rPr>
              <a:t>парк 81,4 тыс. устройств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маржинальность 37,5%, закупка трафика 1 000 млн руб. в строке COGS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COGS: </a:t>
            </a:r>
            <a:r>
              <a:rPr lang="ru-RU" sz="1200" dirty="0">
                <a:solidFill>
                  <a:srgbClr val="000000"/>
                </a:solidFill>
              </a:rPr>
              <a:t>1 883 млн руб. — маркетинг, связанный с выручкой: закупка трафика DMP 1 000, вознаграждения агентствам 795 (30% от 2,65 млрд руб. выручки через агентства), креаторы CF 88 (доля внешних рекламодателей в оплате ячеек). Net Revenue — 87% Gross Revenue (91% в FC 2026)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и Content factory: </a:t>
            </a:r>
            <a:r>
              <a:rPr lang="ru-RU" sz="1200" dirty="0">
                <a:solidFill>
                  <a:srgbClr val="000000"/>
                </a:solidFill>
              </a:rPr>
              <a:t>расширение направлений, создание полноценной </a:t>
            </a:r>
            <a:r>
              <a:rPr lang="ru-RU" sz="1200" dirty="0" err="1">
                <a:solidFill>
                  <a:srgbClr val="000000"/>
                </a:solidFill>
              </a:rPr>
              <a:t>блогерской</a:t>
            </a:r>
            <a:r>
              <a:rPr lang="ru-RU" sz="1200" dirty="0">
                <a:solidFill>
                  <a:srgbClr val="000000"/>
                </a:solidFill>
              </a:rPr>
              <a:t> платформы 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PEX: </a:t>
            </a:r>
            <a:r>
              <a:rPr lang="ru-RU" sz="1200" dirty="0">
                <a:solidFill>
                  <a:srgbClr val="000000"/>
                </a:solidFill>
              </a:rPr>
              <a:t>1 436 млн руб. = ФОТ AdTech 1 370 + команда Content factory 66; 354 FTE на конец 2027 г. (312 на конец 2026 г.), в 2027 г. штат работает полный год (full year run-rate);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5362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2 027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3 040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3 330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6 081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+1 529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14 478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+1 529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(3 654)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: снижение выручки относительно стратегии из-за корректировки утилизации ввиду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выше на 659: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+654)</a:t>
            </a:r>
          </a:p>
        </p:txBody>
      </p:sp>
    </p:spTree>
    <p:extLst>
      <p:ext uri="{BB962C8B-B14F-4D97-AF65-F5344CB8AC3E}">
        <p14:creationId xmlns:p14="http://schemas.microsoft.com/office/powerpoint/2010/main" val="3586144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3 931 млн руб.  ·  +61%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CF: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Результат CF: </a:t>
            </a:r>
            <a:r>
              <a:rPr lang="ru-RU" sz="1400" b="1" dirty="0">
                <a:solidFill>
                  <a:srgbClr val="000000"/>
                </a:solidFill>
              </a:rPr>
              <a:t>59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28%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Сохранение доли AdTech в показах приложения, переход от квот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</a:t>
            </a:r>
            <a:r>
              <a:rPr lang="ru-RU" sz="1200" dirty="0">
                <a:solidFill>
                  <a:srgbClr val="000000"/>
                </a:solidFill>
              </a:rPr>
              <a:t> 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</a:t>
            </a:r>
            <a:r>
              <a:rPr lang="ru-RU" sz="1200" dirty="0">
                <a:solidFill>
                  <a:srgbClr val="000000"/>
                </a:solidFill>
              </a:rPr>
              <a:t> 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</a:t>
            </a:r>
            <a:r>
              <a:rPr lang="ru-RU" sz="1200" dirty="0">
                <a:solidFill>
                  <a:srgbClr val="000000"/>
                </a:solidFill>
              </a:rPr>
              <a:t> при невыполнении плана по аудитории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16F84-7008-B85C-1BA3-8FE843276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мес.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2792A-D6CD-18B8-079A-4922E33C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53B8-7239-64EC-489A-A05C52230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Выручка растёт на 4 154 млн руб.: 72% прироста дают APP и In-store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APP +1 501 (+24%): </a:t>
            </a:r>
            <a:r>
              <a:rPr lang="ru-RU" sz="1200" dirty="0">
                <a:solidFill>
                  <a:srgbClr val="000000"/>
                </a:solidFill>
              </a:rPr>
              <a:t>медиа (CPM и сторис) +865, перформанс +636; рост аудитории и полный год нового прайса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+1 485 (+61%): </a:t>
            </a:r>
            <a:r>
              <a:rPr lang="ru-RU" sz="1200" b="0" dirty="0">
                <a:solidFill>
                  <a:srgbClr val="000000"/>
                </a:solidFill>
              </a:rPr>
              <a:t>шелф-баннеры +896, КСО +432, фасадные экраны +147; реализация инвентаря 100% против 92,5% в 2026 г., утилизация 60%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Online +613 (+62%): </a:t>
            </a:r>
            <a:r>
              <a:rPr lang="ru-RU" sz="1200" dirty="0">
                <a:solidFill>
                  <a:srgbClr val="000000"/>
                </a:solidFill>
              </a:rPr>
              <a:t>новые площадки SmartTV, Авито, маркетплейсы, партнёрские интеграции ЦМ — 420 млн руб.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+258 (+43%): </a:t>
            </a:r>
            <a:r>
              <a:rPr lang="ru-RU" sz="1200" dirty="0">
                <a:solidFill>
                  <a:srgbClr val="000000"/>
                </a:solidFill>
              </a:rPr>
              <a:t>850 млн руб. против 593 млн руб.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Content factory +213: </a:t>
            </a:r>
            <a:r>
              <a:rPr lang="ru-RU" sz="1200" dirty="0">
                <a:solidFill>
                  <a:srgbClr val="000000"/>
                </a:solidFill>
              </a:rPr>
              <a:t>запуск 6 ячеек креаторов, продажи внешним рекламодателям; ВГО в P&amp;L не отражается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Analytics +85 (+83%): </a:t>
            </a:r>
            <a:r>
              <a:rPr lang="ru-RU" sz="1200" dirty="0">
                <a:solidFill>
                  <a:srgbClr val="000000"/>
                </a:solidFill>
              </a:rPr>
              <a:t>рост </a:t>
            </a:r>
            <a:r>
              <a:rPr lang="ru-RU" sz="1200" dirty="0" err="1">
                <a:solidFill>
                  <a:srgbClr val="000000"/>
                </a:solidFill>
              </a:rPr>
              <a:t>ad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dirty="0" err="1">
                <a:solidFill>
                  <a:srgbClr val="000000"/>
                </a:solidFill>
              </a:rPr>
              <a:t>hoc</a:t>
            </a:r>
            <a:r>
              <a:rPr lang="ru-RU" sz="1200" dirty="0">
                <a:solidFill>
                  <a:srgbClr val="000000"/>
                </a:solidFill>
              </a:rPr>
              <a:t> до 133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470228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APP: рост аудитории на 18% и новый прайс дают +1 501 млн руб. (+24%)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считали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Показы 2027 = </a:t>
            </a:r>
            <a:r>
              <a:rPr lang="ru-RU" sz="1200" dirty="0">
                <a:solidFill>
                  <a:srgbClr val="000000"/>
                </a:solidFill>
              </a:rPr>
              <a:t>тотал показов 8 мес. 2026 × 1,57 (пересчёт в год) × 1,18 (рост DAC) × квота AdTech по плейсменту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CPM = </a:t>
            </a:r>
            <a:r>
              <a:rPr lang="ru-RU" sz="1200" dirty="0">
                <a:solidFill>
                  <a:srgbClr val="000000"/>
                </a:solidFill>
              </a:rPr>
              <a:t>показы × CPM нового прайса по каждому из 20 плейсментов / 1 000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Сторис = </a:t>
            </a:r>
            <a:r>
              <a:rPr lang="ru-RU" sz="1200" dirty="0">
                <a:solidFill>
                  <a:srgbClr val="000000"/>
                </a:solidFill>
              </a:rPr>
              <a:t>кампании × 0,91 дня размещения × цена за день × 12 мес.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Перформанс = </a:t>
            </a:r>
            <a:r>
              <a:rPr lang="ru-RU" sz="1200" dirty="0">
                <a:solidFill>
                  <a:srgbClr val="000000"/>
                </a:solidFill>
              </a:rPr>
              <a:t>кампании 2026 × 1,18 × средний чек; чек откалиброван на факт 2026 и проиндексирован на +26% по новому прайсу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По месяцам: </a:t>
            </a:r>
            <a:r>
              <a:rPr lang="ru-RU" sz="1200" dirty="0">
                <a:solidFill>
                  <a:srgbClr val="000000"/>
                </a:solidFill>
              </a:rPr>
              <a:t>доля месяца в DAC × сезонный коэффициент цены (1,0–1,7), в среднем +18% к выручке по прайсу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конец года.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+1 485 млн руб. (+61%): 60% прироста дают шелф-баннеры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Устройств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Устройств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4 809 → 2 885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1 853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2 024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81 419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считали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= </a:t>
            </a:r>
            <a:r>
              <a:rPr lang="ru-RU" sz="1200" dirty="0">
                <a:solidFill>
                  <a:srgbClr val="000000"/>
                </a:solidFill>
              </a:rPr>
              <a:t>устройства × доход на устройство в месяц × месяцы работы × реализация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Реализация: </a:t>
            </a:r>
            <a:r>
              <a:rPr lang="ru-RU" sz="1200" dirty="0">
                <a:solidFill>
                  <a:srgbClr val="000000"/>
                </a:solidFill>
              </a:rPr>
              <a:t>92,5% в 2026 г. → 100% в 2027 г.; средняя утилизация 2027 г. — 60%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Ключевые изменения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Шелф-баннеры: </a:t>
            </a:r>
            <a:r>
              <a:rPr lang="ru-RU" sz="1200" dirty="0">
                <a:solidFill>
                  <a:srgbClr val="000000"/>
                </a:solidFill>
              </a:rPr>
              <a:t>+896 млн руб. — 6 тыс. устройств на конец года (ввод 3 250), выручка выросла в 5 раз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КСО: </a:t>
            </a:r>
            <a:r>
              <a:rPr lang="ru-RU" sz="1200" dirty="0">
                <a:solidFill>
                  <a:srgbClr val="000000"/>
                </a:solidFill>
              </a:rPr>
              <a:t>+432 млн руб. — 40,5 тыс. устройств, введённых в Q4 2026, работают весь год; доход на КСО снижен на 40%, до 2 885 руб. в месяц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Фасадные экраны: </a:t>
            </a:r>
            <a:r>
              <a:rPr lang="ru-RU" sz="1200" dirty="0">
                <a:solidFill>
                  <a:srgbClr val="000000"/>
                </a:solidFill>
              </a:rPr>
              <a:t>+147 млн руб. — ввод 428 экранов при доходе на экран −20%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TFT: </a:t>
            </a:r>
            <a:r>
              <a:rPr lang="ru-RU" sz="1200" dirty="0">
                <a:solidFill>
                  <a:srgbClr val="000000"/>
                </a:solidFill>
              </a:rPr>
              <a:t>−69 млн руб., доход на экран −20%; радио: +66 млн руб., доход на точку ×4</a:t>
            </a: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59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18669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(88)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(154)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28%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+1 415 млн руб. (+63%): 71%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+4,6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+3,6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88 млн руб. (50% оплаты ячеек CF 176)</a:t>
            </a:r>
            <a:r>
              <a:rPr lang="ru-RU" sz="1200" dirty="0">
                <a:solidFill>
                  <a:srgbClr val="000000"/>
                </a:solidFill>
              </a:rPr>
              <a:t> при выручке CF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</p:spTree>
    <p:extLst>
      <p:ext uri="{BB962C8B-B14F-4D97-AF65-F5344CB8AC3E}">
        <p14:creationId xmlns:p14="http://schemas.microsoft.com/office/powerpoint/2010/main" val="409093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66%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+4 154: APP +1 501, In-store +1 485</a:t>
            </a:r>
            <a:r>
              <a:rPr lang="ru-RU" sz="1200" dirty="0">
                <a:solidFill>
                  <a:srgbClr val="000000"/>
                </a:solidFill>
              </a:rPr>
              <a:t>, DMP, RMN и CF +1 169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−1 048: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(−72)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651424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socialcom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15430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2" imgW="7772400" imgH="10058400" progId="TCLayout.ActiveDocument.1">
                  <p:embed/>
                </p:oleObj>
              </mc:Choice>
              <mc:Fallback>
                <p:oleObj name="Слайд think-cell" r:id="rId4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Доля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коммерческом</a:t>
            </a:r>
            <a:r>
              <a:rPr dirty="0"/>
              <a:t> </a:t>
            </a:r>
            <a:r>
              <a:rPr dirty="0" err="1"/>
              <a:t>инвентаре</a:t>
            </a:r>
            <a:r>
              <a:rPr dirty="0"/>
              <a:t> AdTech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учетом</a:t>
            </a:r>
            <a:r>
              <a:rPr dirty="0"/>
              <a:t> </a:t>
            </a:r>
            <a:r>
              <a:rPr dirty="0" err="1"/>
              <a:t>эффекта</a:t>
            </a:r>
            <a:r>
              <a:rPr dirty="0"/>
              <a:t> </a:t>
            </a:r>
            <a:r>
              <a:rPr dirty="0" err="1"/>
              <a:t>платформы</a:t>
            </a:r>
            <a:r>
              <a:rPr dirty="0"/>
              <a:t>. 2026-2027 </a:t>
            </a:r>
            <a:r>
              <a:rPr dirty="0" err="1"/>
              <a:t>гг</a:t>
            </a:r>
            <a:r>
              <a:rPr dirty="0"/>
              <a:t>. - </a:t>
            </a:r>
            <a:r>
              <a:rPr dirty="0" err="1"/>
              <a:t>бюджет</a:t>
            </a:r>
            <a:r>
              <a:rPr dirty="0"/>
              <a:t> </a:t>
            </a:r>
            <a:r>
              <a:rPr dirty="0" err="1"/>
              <a:t>рекламной</a:t>
            </a:r>
            <a:r>
              <a:rPr dirty="0"/>
              <a:t> </a:t>
            </a:r>
            <a:r>
              <a:rPr dirty="0" err="1"/>
              <a:t>выручки</a:t>
            </a:r>
            <a:r>
              <a:rPr dirty="0"/>
              <a:t> </a:t>
            </a:r>
            <a:r>
              <a:rPr dirty="0" err="1"/>
              <a:t>трейд-бюджетов</a:t>
            </a:r>
            <a:r>
              <a:rPr dirty="0"/>
              <a:t> (APP </a:t>
            </a:r>
            <a:r>
              <a:rPr dirty="0" err="1"/>
              <a:t>и</a:t>
            </a:r>
            <a:r>
              <a:rPr dirty="0"/>
              <a:t> in-store), 2028-2030 </a:t>
            </a:r>
            <a:r>
              <a:rPr dirty="0" err="1"/>
              <a:t>гг</a:t>
            </a:r>
            <a:r>
              <a:rPr dirty="0"/>
              <a:t>. - </a:t>
            </a:r>
            <a:r>
              <a:rPr dirty="0" err="1"/>
              <a:t>модель</a:t>
            </a:r>
            <a:r>
              <a:rPr dirty="0"/>
              <a:t>; </a:t>
            </a:r>
            <a:r>
              <a:rPr dirty="0" err="1"/>
              <a:t>без</a:t>
            </a:r>
            <a:r>
              <a:rPr dirty="0"/>
              <a:t> RMN, UGC </a:t>
            </a:r>
            <a:r>
              <a:rPr dirty="0" err="1"/>
              <a:t>и</a:t>
            </a:r>
            <a:r>
              <a:rPr dirty="0"/>
              <a:t> DMP + Online. </a:t>
            </a:r>
            <a:r>
              <a:rPr dirty="0" err="1"/>
              <a:t>Капасити</a:t>
            </a:r>
            <a:r>
              <a:rPr dirty="0"/>
              <a:t> - </a:t>
            </a:r>
            <a:r>
              <a:rPr dirty="0" err="1"/>
              <a:t>денежная</a:t>
            </a:r>
            <a:r>
              <a:rPr dirty="0"/>
              <a:t> </a:t>
            </a:r>
            <a:r>
              <a:rPr dirty="0" err="1"/>
              <a:t>емкость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: </a:t>
            </a:r>
            <a:r>
              <a:rPr dirty="0" err="1"/>
              <a:t>коммерческая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AdTech + </a:t>
            </a:r>
            <a:r>
              <a:rPr dirty="0" err="1"/>
              <a:t>квота</a:t>
            </a:r>
            <a:r>
              <a:rPr dirty="0"/>
              <a:t> 50%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заказчиков</a:t>
            </a:r>
            <a:r>
              <a:rPr dirty="0"/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-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-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-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- 53-69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01063"/>
              </p:ext>
            </p:ext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Источники: Ads Market Calc (внутренняя оценка рынка), WPP Media через Sostav (2025), Авито Реклама и Soloway (сентябрь 2026), НРА, внутреннее исследование Magnit ADS. Гипотезы - экспертная оценка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dirty="0" err="1"/>
              <a:t>бюджеты</a:t>
            </a:r>
            <a:r>
              <a:rPr dirty="0"/>
              <a:t> </a:t>
            </a:r>
            <a:r>
              <a:rPr dirty="0" err="1"/>
              <a:t>смещаются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dirty="0"/>
              <a:t>: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покупки</a:t>
            </a:r>
            <a:r>
              <a:rPr dirty="0"/>
              <a:t> </a:t>
            </a:r>
            <a:r>
              <a:rPr dirty="0" err="1"/>
              <a:t>растет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перформанса</a:t>
            </a:r>
            <a:r>
              <a:rPr dirty="0"/>
              <a:t>,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начале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 - </a:t>
            </a:r>
            <a:r>
              <a:rPr dirty="0" err="1"/>
              <a:t>охватных</a:t>
            </a:r>
            <a:r>
              <a:rPr dirty="0"/>
              <a:t> </a:t>
            </a:r>
            <a:r>
              <a:rPr dirty="0" err="1"/>
              <a:t>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-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-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- якорь, бренд -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-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- зона RMN</a:t>
            </a:r>
            <a:endParaRPr lang="ru-RU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Источник: анализ Magnit ADS; KPI - 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Матрица</a:t>
            </a:r>
            <a:r>
              <a:rPr dirty="0"/>
              <a:t>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</a:t>
            </a:r>
            <a:r>
              <a:rPr dirty="0" err="1"/>
              <a:t>Magnit</a:t>
            </a:r>
            <a:r>
              <a:rPr dirty="0"/>
              <a:t>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</a:t>
            </a:r>
            <a:r>
              <a:rPr lang="ru-RU" baseline="30000" dirty="0"/>
              <a:t>о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- 81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UGC-factory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/>
          <a:lstStyle/>
          <a:p>
            <a:r>
              <a:rPr lang="ru-RU"/>
              <a:t>Источник: стратегия </a:t>
            </a:r>
            <a:r>
              <a:rPr lang="en"/>
              <a:t>Magnit AdTech 2026-2031 (</a:t>
            </a:r>
            <a:r>
              <a:rPr lang="ru-RU"/>
              <a:t>потенциал инвентаря М+ и </a:t>
            </a:r>
            <a:r>
              <a:rPr lang="en"/>
              <a:t>DAC </a:t>
            </a:r>
            <a:r>
              <a:rPr lang="ru-RU"/>
              <a:t>программы лояльности -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кешбэк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-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-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-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-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-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2026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- кратный рост выручки г/г</a:t>
            </a:r>
            <a:endParaRPr lang="ru-RU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77105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КУ - коммерческие условия с поставщиками. Источник: инициативы руководителей направлений Магнит на 2027+ гг.</a:t>
            </a:r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-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UGC-factory: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-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-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-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-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33603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- развиваемся через внешнее ЮЛ Магнит Маркет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-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-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597568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7072</Words>
  <Application>Microsoft Macintosh PowerPoint</Application>
  <PresentationFormat>Widescreen</PresentationFormat>
  <Paragraphs>1278</Paragraphs>
  <Slides>39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16</cp:revision>
  <dcterms:created xsi:type="dcterms:W3CDTF">2026-10-05T11:53:56Z</dcterms:created>
  <dcterms:modified xsi:type="dcterms:W3CDTF">2026-10-14T10:38:55Z</dcterms:modified>
  <cp:category/>
</cp:coreProperties>
</file>