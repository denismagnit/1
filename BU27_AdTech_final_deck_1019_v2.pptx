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lsb" ContentType="application/vnd.ms-excel.sheet.binary.macroEnabled.12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3.xml" ContentType="application/vnd.openxmlformats-officedocument.presentationml.notesSlide+xml"/>
  <Override PartName="/ppt/tags/tag9.xml" ContentType="application/vnd.openxmlformats-officedocument.presentationml.tags+xml"/>
  <Override PartName="/ppt/notesSlides/notesSlide4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tags/tag43.xml" ContentType="application/vnd.openxmlformats-officedocument.presentationml.tags+xml"/>
  <Override PartName="/ppt/notesSlides/notesSlide5.xml" ContentType="application/vnd.openxmlformats-officedocument.presentationml.notesSlid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charts/chart5.xml" ContentType="application/vnd.openxmlformats-officedocument.drawingml.chart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tags/tag139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tags/tag140.xml" ContentType="application/vnd.openxmlformats-officedocument.presentationml.tags+xml"/>
  <Override PartName="/ppt/notesSlides/notesSlide9.xml" ContentType="application/vnd.openxmlformats-officedocument.presentationml.notesSlide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tags/tag143.xml" ContentType="application/vnd.openxmlformats-officedocument.presentationml.tags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notesSlides/notesSlide25.xml" ContentType="application/vnd.openxmlformats-officedocument.presentationml.notesSlide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charts/chart12.xml" ContentType="application/vnd.openxmlformats-officedocument.drawingml.chart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notesSlides/notesSlide26.xml" ContentType="application/vnd.openxmlformats-officedocument.presentationml.notesSlide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tags/tag327.xml" ContentType="application/vnd.openxmlformats-officedocument.presentationml.tags+xml"/>
  <Override PartName="/ppt/notesSlides/notesSlide27.xml" ContentType="application/vnd.openxmlformats-officedocument.presentationml.notesSlide+xml"/>
  <Override PartName="/ppt/tags/tag328.xml" ContentType="application/vnd.openxmlformats-officedocument.presentationml.tags+xml"/>
  <Override PartName="/ppt/notesSlides/notesSlide28.xml" ContentType="application/vnd.openxmlformats-officedocument.presentationml.notesSlide+xml"/>
  <Override PartName="/ppt/tags/tag329.xml" ContentType="application/vnd.openxmlformats-officedocument.presentationml.tags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79"/>
  </p:notesMasterIdLst>
  <p:sldIdLst>
    <p:sldId id="345" r:id="rId2"/>
    <p:sldId id="548" r:id="rId3"/>
    <p:sldId id="2147480855" r:id="rId4"/>
    <p:sldId id="2147480848" r:id="rId5"/>
    <p:sldId id="549" r:id="rId6"/>
    <p:sldId id="550" r:id="rId7"/>
    <p:sldId id="2147480862" r:id="rId8"/>
    <p:sldId id="507" r:id="rId9"/>
    <p:sldId id="2147480856" r:id="rId10"/>
    <p:sldId id="537" r:id="rId11"/>
    <p:sldId id="441" r:id="rId12"/>
    <p:sldId id="509" r:id="rId13"/>
    <p:sldId id="2147480863" r:id="rId14"/>
    <p:sldId id="545" r:id="rId15"/>
    <p:sldId id="511" r:id="rId16"/>
    <p:sldId id="2147480861" r:id="rId17"/>
    <p:sldId id="531" r:id="rId18"/>
    <p:sldId id="514" r:id="rId19"/>
    <p:sldId id="515" r:id="rId20"/>
    <p:sldId id="516" r:id="rId21"/>
    <p:sldId id="546" r:id="rId22"/>
    <p:sldId id="532" r:id="rId23"/>
    <p:sldId id="533" r:id="rId24"/>
    <p:sldId id="365" r:id="rId25"/>
    <p:sldId id="538" r:id="rId26"/>
    <p:sldId id="412" r:id="rId27"/>
    <p:sldId id="2147480854" r:id="rId28"/>
    <p:sldId id="433" r:id="rId29"/>
    <p:sldId id="366" r:id="rId30"/>
    <p:sldId id="404" r:id="rId31"/>
    <p:sldId id="483" r:id="rId32"/>
    <p:sldId id="475" r:id="rId33"/>
    <p:sldId id="506" r:id="rId34"/>
    <p:sldId id="543" r:id="rId35"/>
    <p:sldId id="484" r:id="rId36"/>
    <p:sldId id="542" r:id="rId37"/>
    <p:sldId id="2147480857" r:id="rId38"/>
    <p:sldId id="357" r:id="rId39"/>
    <p:sldId id="360" r:id="rId40"/>
    <p:sldId id="358" r:id="rId41"/>
    <p:sldId id="2147480858" r:id="rId42"/>
    <p:sldId id="256" r:id="rId43"/>
    <p:sldId id="257" r:id="rId44"/>
    <p:sldId id="258" r:id="rId45"/>
    <p:sldId id="259" r:id="rId46"/>
    <p:sldId id="260" r:id="rId47"/>
    <p:sldId id="261" r:id="rId48"/>
    <p:sldId id="262" r:id="rId49"/>
    <p:sldId id="263" r:id="rId50"/>
    <p:sldId id="264" r:id="rId51"/>
    <p:sldId id="265" r:id="rId52"/>
    <p:sldId id="266" r:id="rId53"/>
    <p:sldId id="2147480859" r:id="rId54"/>
    <p:sldId id="267" r:id="rId55"/>
    <p:sldId id="468" r:id="rId56"/>
    <p:sldId id="547" r:id="rId57"/>
    <p:sldId id="2147480839" r:id="rId58"/>
    <p:sldId id="551" r:id="rId59"/>
    <p:sldId id="2147480841" r:id="rId60"/>
    <p:sldId id="2147480860" r:id="rId61"/>
    <p:sldId id="2147480842" r:id="rId62"/>
    <p:sldId id="2147480844" r:id="rId63"/>
    <p:sldId id="552" r:id="rId64"/>
    <p:sldId id="553" r:id="rId65"/>
    <p:sldId id="554" r:id="rId66"/>
    <p:sldId id="2147480864" r:id="rId67"/>
    <p:sldId id="2147480865" r:id="rId68"/>
    <p:sldId id="430" r:id="rId69"/>
    <p:sldId id="535" r:id="rId70"/>
    <p:sldId id="489" r:id="rId71"/>
    <p:sldId id="421" r:id="rId72"/>
    <p:sldId id="422" r:id="rId73"/>
    <p:sldId id="424" r:id="rId74"/>
    <p:sldId id="528" r:id="rId75"/>
    <p:sldId id="411" r:id="rId76"/>
    <p:sldId id="408" r:id="rId77"/>
    <p:sldId id="427" r:id="rId7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3E0"/>
    <a:srgbClr val="595959"/>
    <a:srgbClr val="FF452B"/>
    <a:srgbClr val="FDE1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90"/>
    <p:restoredTop sz="94694"/>
  </p:normalViewPr>
  <p:slideViewPr>
    <p:cSldViewPr snapToGrid="0">
      <p:cViewPr varScale="1">
        <p:scale>
          <a:sx n="121" d="100"/>
          <a:sy n="121" d="100"/>
        </p:scale>
        <p:origin x="9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.xlsb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.xlsb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5.xlsb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6.xlsb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7.xlsb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8.xlsb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0344141635170081E-2"/>
          <c:y val="0.12730870712401055"/>
          <c:w val="0.97931171672965989"/>
          <c:h val="0.74538258575197891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DC2-434F-B497-85A2709E7A86}"/>
              </c:ext>
            </c:extLst>
          </c:dPt>
          <c:dPt>
            <c:idx val="8"/>
            <c:invertIfNegative val="0"/>
            <c:bubble3D val="0"/>
            <c:spPr>
              <a:solidFill>
                <a:srgbClr val="80808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BDC2-434F-B497-85A2709E7A86}"/>
              </c:ext>
            </c:extLst>
          </c:dPt>
          <c:dLbls>
            <c:dLbl>
              <c:idx val="0"/>
              <c:layout>
                <c:manualLayout>
                  <c:x val="0"/>
                  <c:y val="-0.3120052770448548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BDC2-434F-B497-85A2709E7A86}"/>
                </c:ext>
              </c:extLst>
            </c:dLbl>
            <c:dLbl>
              <c:idx val="8"/>
              <c:layout>
                <c:manualLayout>
                  <c:x val="0"/>
                  <c:y val="-0.3984168865435356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BDC2-434F-B497-85A2709E7A8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Sheet1!$A$1:$I$1</c:f>
              <c:numCache>
                <c:formatCode>General</c:formatCode>
                <c:ptCount val="9"/>
                <c:pt idx="0">
                  <c:v>9443</c:v>
                </c:pt>
                <c:pt idx="1">
                  <c:v>9443</c:v>
                </c:pt>
                <c:pt idx="2">
                  <c:v>10944</c:v>
                </c:pt>
                <c:pt idx="3">
                  <c:v>12517</c:v>
                </c:pt>
                <c:pt idx="4">
                  <c:v>13130</c:v>
                </c:pt>
                <c:pt idx="5">
                  <c:v>13388</c:v>
                </c:pt>
                <c:pt idx="6">
                  <c:v>13601</c:v>
                </c:pt>
                <c:pt idx="7">
                  <c:v>12595</c:v>
                </c:pt>
                <c:pt idx="8">
                  <c:v>12595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DC2-434F-B497-85A2709E7A86}"/>
            </c:ext>
          </c:extLst>
        </c:ser>
        <c:ser>
          <c:idx val="1"/>
          <c:order val="1"/>
          <c:spPr>
            <a:solidFill>
              <a:srgbClr val="007770"/>
            </a:solidFill>
            <a:ln>
              <a:noFill/>
            </a:ln>
          </c:spPr>
          <c:invertIfNegative val="0"/>
          <c:dPt>
            <c:idx val="7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6-BDC2-434F-B497-85A2709E7A86}"/>
              </c:ext>
            </c:extLst>
          </c:dPt>
          <c:dLbls>
            <c:dLbl>
              <c:idx val="1"/>
              <c:layout>
                <c:manualLayout>
                  <c:x val="0"/>
                  <c:y val="-1.9788918205804751E-3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BDC2-434F-B497-85A2709E7A86}"/>
                </c:ext>
              </c:extLst>
            </c:dLbl>
            <c:dLbl>
              <c:idx val="2"/>
              <c:layout>
                <c:manualLayout>
                  <c:x val="0"/>
                  <c:y val="-1.9788918205804751E-3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BDC2-434F-B497-85A2709E7A8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Sheet1!$A$2:$I$2</c:f>
              <c:numCache>
                <c:formatCode>General</c:formatCode>
                <c:ptCount val="9"/>
                <c:pt idx="1">
                  <c:v>1501</c:v>
                </c:pt>
                <c:pt idx="2">
                  <c:v>1573</c:v>
                </c:pt>
                <c:pt idx="3">
                  <c:v>613</c:v>
                </c:pt>
                <c:pt idx="4">
                  <c:v>258</c:v>
                </c:pt>
                <c:pt idx="5">
                  <c:v>213</c:v>
                </c:pt>
                <c:pt idx="6">
                  <c:v>85</c:v>
                </c:pt>
                <c:pt idx="7">
                  <c:v>1091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BDC2-434F-B497-85A2709E7A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61802191"/>
        <c:axId val="1"/>
      </c:barChart>
      <c:catAx>
        <c:axId val="6180219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3686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6180219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35391705069124424"/>
          <c:y val="0.13129251700680272"/>
          <c:w val="0.46555050925801511"/>
          <c:h val="0.66134153726722023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2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2.040816326530612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DA9D-A549-AAA5-072DF436873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2272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A9D-A549-AAA5-072DF4368739}"/>
            </c:ext>
          </c:extLst>
        </c:ser>
        <c:ser>
          <c:idx val="1"/>
          <c:order val="1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2.040816326530612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DA9D-A549-AAA5-072DF436873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</c:f>
              <c:numCache>
                <c:formatCode>General</c:formatCode>
                <c:ptCount val="1"/>
                <c:pt idx="0">
                  <c:v>10323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A9D-A549-AAA5-072DF43687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877179167"/>
        <c:axId val="1"/>
      </c:barChart>
      <c:catAx>
        <c:axId val="187717916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2596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877179167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9827222115569207E-3"/>
          <c:y val="6.7039106145251395E-2"/>
          <c:w val="0.98003455557688612"/>
          <c:h val="0.86592178770949724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DFE5E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5961691939345571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53CA-8A46-ACF5-F745320F6151}"/>
                </c:ext>
              </c:extLst>
            </c:dLbl>
            <c:dLbl>
              <c:idx val="1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53CA-8A46-ACF5-F745320F6151}"/>
                </c:ext>
              </c:extLst>
            </c:dLbl>
            <c:dLbl>
              <c:idx val="2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53CA-8A46-ACF5-F745320F6151}"/>
                </c:ext>
              </c:extLst>
            </c:dLbl>
            <c:dLbl>
              <c:idx val="3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53CA-8A46-ACF5-F745320F6151}"/>
                </c:ext>
              </c:extLst>
            </c:dLbl>
            <c:dLbl>
              <c:idx val="4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53CA-8A46-ACF5-F745320F61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Sheet1!$A$1:$I$1</c:f>
              <c:numCache>
                <c:formatCode>General</c:formatCode>
                <c:ptCount val="9"/>
                <c:pt idx="0">
                  <c:v>466</c:v>
                </c:pt>
                <c:pt idx="1">
                  <c:v>594.97</c:v>
                </c:pt>
                <c:pt idx="2">
                  <c:v>718.49</c:v>
                </c:pt>
                <c:pt idx="3">
                  <c:v>843.46</c:v>
                </c:pt>
                <c:pt idx="4">
                  <c:v>965.74</c:v>
                </c:pt>
                <c:pt idx="5">
                  <c:v>1090.33</c:v>
                </c:pt>
                <c:pt idx="6">
                  <c:v>1199.3630000000001</c:v>
                </c:pt>
                <c:pt idx="7">
                  <c:v>1319</c:v>
                </c:pt>
                <c:pt idx="8">
                  <c:v>1451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3CA-8A46-ACF5-F745320F6151}"/>
            </c:ext>
          </c:extLst>
        </c:ser>
        <c:ser>
          <c:idx val="1"/>
          <c:order val="1"/>
          <c:spPr>
            <a:solidFill>
              <a:schemeClr val="tx2"/>
            </a:solidFill>
            <a:ln>
              <a:noFill/>
            </a:ln>
          </c:spPr>
          <c:invertIfNegative val="0"/>
          <c:dLbls>
            <c:dLbl>
              <c:idx val="1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53CA-8A46-ACF5-F745320F6151}"/>
                </c:ext>
              </c:extLst>
            </c:dLbl>
            <c:dLbl>
              <c:idx val="2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53CA-8A46-ACF5-F745320F6151}"/>
                </c:ext>
              </c:extLst>
            </c:dLbl>
            <c:dLbl>
              <c:idx val="3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53CA-8A46-ACF5-F745320F61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Sheet1!$A$2:$I$2</c:f>
              <c:numCache>
                <c:formatCode>General</c:formatCode>
                <c:ptCount val="9"/>
                <c:pt idx="0">
                  <c:v>185</c:v>
                </c:pt>
                <c:pt idx="1">
                  <c:v>388</c:v>
                </c:pt>
                <c:pt idx="2">
                  <c:v>582</c:v>
                </c:pt>
                <c:pt idx="3">
                  <c:v>890</c:v>
                </c:pt>
                <c:pt idx="4">
                  <c:v>1199.9999999999998</c:v>
                </c:pt>
                <c:pt idx="5">
                  <c:v>1565</c:v>
                </c:pt>
                <c:pt idx="6">
                  <c:v>1967.0000000000002</c:v>
                </c:pt>
                <c:pt idx="7">
                  <c:v>2389</c:v>
                </c:pt>
                <c:pt idx="8">
                  <c:v>2601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53CA-8A46-ACF5-F745320F6151}"/>
            </c:ext>
          </c:extLst>
        </c:ser>
        <c:ser>
          <c:idx val="2"/>
          <c:order val="2"/>
          <c:spPr>
            <a:solidFill>
              <a:schemeClr val="accent3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3.7051257439047802E-2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53CA-8A46-ACF5-F745320F6151}"/>
                </c:ext>
              </c:extLst>
            </c:dLbl>
            <c:dLbl>
              <c:idx val="1"/>
              <c:layout>
                <c:manualLayout>
                  <c:x val="3.7051257439047802E-2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B-53CA-8A46-ACF5-F745320F6151}"/>
                </c:ext>
              </c:extLst>
            </c:dLbl>
            <c:dLbl>
              <c:idx val="2"/>
              <c:layout>
                <c:manualLayout>
                  <c:x val="3.7051257439047802E-2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C-53CA-8A46-ACF5-F745320F6151}"/>
                </c:ext>
              </c:extLst>
            </c:dLbl>
            <c:dLbl>
              <c:idx val="3"/>
              <c:layout>
                <c:manualLayout>
                  <c:x val="3.7051257439047802E-2"/>
                  <c:y val="-1.5961691939345571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D-53CA-8A46-ACF5-F745320F6151}"/>
                </c:ext>
              </c:extLst>
            </c:dLbl>
            <c:dLbl>
              <c:idx val="8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E-53CA-8A46-ACF5-F745320F61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Sheet1!$A$3:$I$3</c:f>
              <c:numCache>
                <c:formatCode>General</c:formatCode>
                <c:ptCount val="9"/>
                <c:pt idx="0">
                  <c:v>18</c:v>
                </c:pt>
                <c:pt idx="1">
                  <c:v>46</c:v>
                </c:pt>
                <c:pt idx="2">
                  <c:v>57</c:v>
                </c:pt>
                <c:pt idx="3">
                  <c:v>74</c:v>
                </c:pt>
                <c:pt idx="4">
                  <c:v>93</c:v>
                </c:pt>
                <c:pt idx="5">
                  <c:v>116</c:v>
                </c:pt>
                <c:pt idx="6">
                  <c:v>145</c:v>
                </c:pt>
                <c:pt idx="7">
                  <c:v>181</c:v>
                </c:pt>
                <c:pt idx="8">
                  <c:v>226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53CA-8A46-ACF5-F745320F6151}"/>
            </c:ext>
          </c:extLst>
        </c:ser>
        <c:ser>
          <c:idx val="3"/>
          <c:order val="3"/>
          <c:spPr>
            <a:solidFill>
              <a:srgbClr val="9DB1C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0-53CA-8A46-ACF5-F745320F6151}"/>
                </c:ext>
              </c:extLst>
            </c:dLbl>
            <c:dLbl>
              <c:idx val="1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1-53CA-8A46-ACF5-F745320F6151}"/>
                </c:ext>
              </c:extLst>
            </c:dLbl>
            <c:dLbl>
              <c:idx val="2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2-53CA-8A46-ACF5-F745320F6151}"/>
                </c:ext>
              </c:extLst>
            </c:dLbl>
            <c:dLbl>
              <c:idx val="3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3-53CA-8A46-ACF5-F745320F6151}"/>
                </c:ext>
              </c:extLst>
            </c:dLbl>
            <c:dLbl>
              <c:idx val="4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4-53CA-8A46-ACF5-F745320F6151}"/>
                </c:ext>
              </c:extLst>
            </c:dLbl>
            <c:dLbl>
              <c:idx val="5"/>
              <c:layout>
                <c:manualLayout>
                  <c:x val="0"/>
                  <c:y val="-1.5961691939345571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5-53CA-8A46-ACF5-F745320F6151}"/>
                </c:ext>
              </c:extLst>
            </c:dLbl>
            <c:dLbl>
              <c:idx val="6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6-53CA-8A46-ACF5-F745320F6151}"/>
                </c:ext>
              </c:extLst>
            </c:dLbl>
            <c:dLbl>
              <c:idx val="7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7-53CA-8A46-ACF5-F745320F6151}"/>
                </c:ext>
              </c:extLst>
            </c:dLbl>
            <c:dLbl>
              <c:idx val="8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8-53CA-8A46-ACF5-F745320F61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Sheet1!$A$4:$I$4</c:f>
              <c:numCache>
                <c:formatCode>General</c:formatCode>
                <c:ptCount val="9"/>
                <c:pt idx="0">
                  <c:v>219</c:v>
                </c:pt>
                <c:pt idx="1">
                  <c:v>263</c:v>
                </c:pt>
                <c:pt idx="2">
                  <c:v>302</c:v>
                </c:pt>
                <c:pt idx="3">
                  <c:v>340</c:v>
                </c:pt>
                <c:pt idx="4">
                  <c:v>374</c:v>
                </c:pt>
                <c:pt idx="5">
                  <c:v>411</c:v>
                </c:pt>
                <c:pt idx="6">
                  <c:v>452</c:v>
                </c:pt>
                <c:pt idx="7">
                  <c:v>498</c:v>
                </c:pt>
                <c:pt idx="8">
                  <c:v>547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9-53CA-8A46-ACF5-F745320F6151}"/>
            </c:ext>
          </c:extLst>
        </c:ser>
        <c:ser>
          <c:idx val="4"/>
          <c:order val="4"/>
          <c:spPr>
            <a:solidFill>
              <a:srgbClr val="4C6C9C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4.2042618544826264E-2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A-53CA-8A46-ACF5-F745320F6151}"/>
                </c:ext>
              </c:extLst>
            </c:dLbl>
            <c:dLbl>
              <c:idx val="1"/>
              <c:layout>
                <c:manualLayout>
                  <c:x val="4.2042618544826264E-2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B-53CA-8A46-ACF5-F745320F6151}"/>
                </c:ext>
              </c:extLst>
            </c:dLbl>
            <c:dLbl>
              <c:idx val="3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C-53CA-8A46-ACF5-F745320F6151}"/>
                </c:ext>
              </c:extLst>
            </c:dLbl>
            <c:dLbl>
              <c:idx val="4"/>
              <c:layout>
                <c:manualLayout>
                  <c:x val="0"/>
                  <c:y val="-1.5961691939345571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D-53CA-8A46-ACF5-F745320F6151}"/>
                </c:ext>
              </c:extLst>
            </c:dLbl>
            <c:dLbl>
              <c:idx val="5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E-53CA-8A46-ACF5-F745320F6151}"/>
                </c:ext>
              </c:extLst>
            </c:dLbl>
            <c:dLbl>
              <c:idx val="6"/>
              <c:layout>
                <c:manualLayout>
                  <c:x val="0"/>
                  <c:y val="-1.5961691939345571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F-53CA-8A46-ACF5-F745320F6151}"/>
                </c:ext>
              </c:extLst>
            </c:dLbl>
            <c:dLbl>
              <c:idx val="7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0-53CA-8A46-ACF5-F745320F6151}"/>
                </c:ext>
              </c:extLst>
            </c:dLbl>
            <c:dLbl>
              <c:idx val="8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1-53CA-8A46-ACF5-F745320F61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Sheet1!$A$5:$I$5</c:f>
              <c:numCache>
                <c:formatCode>General</c:formatCode>
                <c:ptCount val="9"/>
                <c:pt idx="0">
                  <c:v>103.39999999999998</c:v>
                </c:pt>
                <c:pt idx="1">
                  <c:v>139.79999999999995</c:v>
                </c:pt>
                <c:pt idx="2">
                  <c:v>173.5</c:v>
                </c:pt>
                <c:pt idx="3">
                  <c:v>198.19999999999982</c:v>
                </c:pt>
                <c:pt idx="4">
                  <c:v>224</c:v>
                </c:pt>
                <c:pt idx="5">
                  <c:v>245.69999999999982</c:v>
                </c:pt>
                <c:pt idx="6">
                  <c:v>266.5</c:v>
                </c:pt>
                <c:pt idx="7">
                  <c:v>290</c:v>
                </c:pt>
                <c:pt idx="8">
                  <c:v>317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2-53CA-8A46-ACF5-F745320F61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948984816"/>
        <c:axId val="1"/>
      </c:barChart>
      <c:catAx>
        <c:axId val="194898481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5142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94898481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02"/>
          <c:y val="0.18"/>
          <c:w val="0.96"/>
          <c:h val="0.7"/>
        </c:manualLayout>
      </c:layout>
      <c:barChart>
        <c:barDir val="col"/>
        <c:grouping val="clustered"/>
        <c:varyColors val="0"/>
        <c:ser>
          <c:idx val="0"/>
          <c:order val="0"/>
          <c:tx>
            <c:v>Values</c:v>
          </c:tx>
          <c:spPr>
            <a:solidFill>
              <a:srgbClr val="BFBFBF"/>
            </a:solidFill>
            <a:ln>
              <a:noFill/>
            </a:ln>
          </c:spPr>
          <c:invertIfNegative val="1"/>
          <c:dPt>
            <c:idx val="1"/>
            <c:invertIfNegative val="1"/>
            <c:bubble3D val="0"/>
            <c:spPr>
              <a:pattFill prst="ltUpDiag">
                <a:fgClr>
                  <a:srgbClr val="BFBFBF"/>
                </a:fgClr>
                <a:bgClr>
                  <a:srgbClr val="FFFFFF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0FB8-ED43-81D5-18174E4D4C0E}"/>
              </c:ext>
            </c:extLst>
          </c:dPt>
          <c:dPt>
            <c:idx val="2"/>
            <c:invertIfNegative val="1"/>
            <c:bubble3D val="0"/>
            <c:spPr>
              <a:solidFill>
                <a:srgbClr val="FF452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0FB8-ED43-81D5-18174E4D4C0E}"/>
              </c:ext>
            </c:extLst>
          </c:dPt>
          <c:dLbls>
            <c:numFmt formatCode="[&gt;=1000]#&quot; &quot;##0;0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400" b="1">
                    <a:solidFill>
                      <a:srgbClr val="000000"/>
                    </a:solidFill>
                    <a:latin typeface="Arial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Lit>
              <c:ptCount val="3"/>
              <c:pt idx="0">
                <c:v>2025</c:v>
              </c:pt>
              <c:pt idx="1">
                <c:v>2026E</c:v>
              </c:pt>
              <c:pt idx="2">
                <c:v>2027E</c:v>
              </c:pt>
            </c:strLit>
          </c:cat>
          <c:val>
            <c:numLit>
              <c:formatCode>General</c:formatCode>
              <c:ptCount val="3"/>
              <c:pt idx="0">
                <c:v>582</c:v>
              </c:pt>
              <c:pt idx="1">
                <c:v>890</c:v>
              </c:pt>
              <c:pt idx="2">
                <c:v>1200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0FB8-ED43-81D5-18174E4D4C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000000"/>
                </a:solidFill>
                <a:latin typeface="Arial"/>
              </a:defRPr>
            </a:pPr>
            <a:endParaRPr lang="ru-RU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150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2195121951219513E-2"/>
          <c:y val="2.9229904440697022E-2"/>
          <c:w val="0.97560975609756095"/>
          <c:h val="0.94154019111860598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5"/>
            </a:solidFill>
            <a:ln>
              <a:noFill/>
            </a:ln>
          </c:spPr>
          <c:invertIfNegative val="0"/>
          <c:val>
            <c:numRef>
              <c:f>Sheet1!$A$1:$E$1</c:f>
              <c:numCache>
                <c:formatCode>General</c:formatCode>
                <c:ptCount val="5"/>
                <c:pt idx="0">
                  <c:v>8633.7868781419966</c:v>
                </c:pt>
                <c:pt idx="1">
                  <c:v>11643</c:v>
                </c:pt>
                <c:pt idx="2">
                  <c:v>15776.806859268567</c:v>
                </c:pt>
                <c:pt idx="3">
                  <c:v>21753.045333544404</c:v>
                </c:pt>
                <c:pt idx="4">
                  <c:v>30514.489672349213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1A-3343-B2A0-419CA258ECA4}"/>
            </c:ext>
          </c:extLst>
        </c:ser>
        <c:ser>
          <c:idx val="1"/>
          <c:order val="1"/>
          <c:spPr>
            <a:solidFill>
              <a:schemeClr val="accent4"/>
            </a:solidFill>
            <a:ln>
              <a:noFill/>
            </a:ln>
          </c:spPr>
          <c:invertIfNegative val="0"/>
          <c:val>
            <c:numRef>
              <c:f>Sheet1!$A$2:$E$2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2057.8443729480714</c:v>
                </c:pt>
                <c:pt idx="3">
                  <c:v>5304.6178601648899</c:v>
                </c:pt>
                <c:pt idx="4">
                  <c:v>10450.717388401339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31A-3343-B2A0-419CA258ECA4}"/>
            </c:ext>
          </c:extLst>
        </c:ser>
        <c:ser>
          <c:idx val="2"/>
          <c:order val="2"/>
          <c:spPr>
            <a:solidFill>
              <a:schemeClr val="accent3"/>
            </a:solidFill>
            <a:ln>
              <a:noFill/>
            </a:ln>
          </c:spPr>
          <c:invertIfNegative val="0"/>
          <c:val>
            <c:numRef>
              <c:f>Sheet1!$A$3:$E$3</c:f>
              <c:numCache>
                <c:formatCode>General</c:formatCode>
                <c:ptCount val="5"/>
                <c:pt idx="0">
                  <c:v>2451.552795031057</c:v>
                </c:pt>
                <c:pt idx="1">
                  <c:v>3947</c:v>
                </c:pt>
                <c:pt idx="2">
                  <c:v>3947</c:v>
                </c:pt>
                <c:pt idx="3">
                  <c:v>3947</c:v>
                </c:pt>
                <c:pt idx="4">
                  <c:v>3947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31A-3343-B2A0-419CA258ECA4}"/>
            </c:ext>
          </c:extLst>
        </c:ser>
        <c:ser>
          <c:idx val="3"/>
          <c:order val="3"/>
          <c:spPr>
            <a:solidFill>
              <a:schemeClr val="accent2"/>
            </a:solidFill>
            <a:ln>
              <a:noFill/>
            </a:ln>
          </c:spPr>
          <c:invertIfNegative val="0"/>
          <c:val>
            <c:numRef>
              <c:f>Sheet1!$A$4:$E$4</c:f>
              <c:numCache>
                <c:formatCode>General</c:formatCode>
                <c:ptCount val="5"/>
                <c:pt idx="0">
                  <c:v>3986.8852459016398</c:v>
                </c:pt>
                <c:pt idx="1">
                  <c:v>4864</c:v>
                </c:pt>
                <c:pt idx="2">
                  <c:v>5766.909677679887</c:v>
                </c:pt>
                <c:pt idx="3">
                  <c:v>6837.4274733795137</c:v>
                </c:pt>
                <c:pt idx="4">
                  <c:v>8106.6666666666642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31A-3343-B2A0-419CA258ECA4}"/>
            </c:ext>
          </c:extLst>
        </c:ser>
        <c:ser>
          <c:idx val="4"/>
          <c:order val="4"/>
          <c:spPr>
            <a:solidFill>
              <a:schemeClr val="accent1"/>
            </a:solidFill>
            <a:ln>
              <a:noFill/>
            </a:ln>
          </c:spPr>
          <c:invertIfNegative val="0"/>
          <c:val>
            <c:numRef>
              <c:f>Sheet1!$A$5:$E$5</c:f>
              <c:numCache>
                <c:formatCode>General</c:formatCode>
                <c:ptCount val="5"/>
                <c:pt idx="0">
                  <c:v>2195.3488372093034</c:v>
                </c:pt>
                <c:pt idx="1">
                  <c:v>2832</c:v>
                </c:pt>
                <c:pt idx="2">
                  <c:v>4005.0528086406048</c:v>
                </c:pt>
                <c:pt idx="3">
                  <c:v>5664</c:v>
                </c:pt>
                <c:pt idx="4">
                  <c:v>8010.1056172812096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31A-3343-B2A0-419CA258EC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532353456"/>
        <c:axId val="1"/>
      </c:barChart>
      <c:catAx>
        <c:axId val="53235345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61028.979344698426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53235345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APP</c:v>
          </c:tx>
          <c:spPr>
            <a:solidFill>
              <a:srgbClr val="FF452C"/>
            </a:solidFill>
            <a:ln>
              <a:noFill/>
            </a:ln>
          </c:spPr>
          <c:invertIfNegative val="1"/>
          <c:cat>
            <c:strLit>
              <c:ptCount val="12"/>
              <c:pt idx="0">
                <c:v>янв</c:v>
              </c:pt>
              <c:pt idx="1">
                <c:v>фев</c:v>
              </c:pt>
              <c:pt idx="2">
                <c:v>мар</c:v>
              </c:pt>
              <c:pt idx="3">
                <c:v>апр</c:v>
              </c:pt>
              <c:pt idx="4">
                <c:v>май</c:v>
              </c:pt>
              <c:pt idx="5">
                <c:v>июн</c:v>
              </c:pt>
              <c:pt idx="6">
                <c:v>июл</c:v>
              </c:pt>
              <c:pt idx="7">
                <c:v>авг</c:v>
              </c:pt>
              <c:pt idx="8">
                <c:v>сен</c:v>
              </c:pt>
              <c:pt idx="9">
                <c:v>окт</c:v>
              </c:pt>
              <c:pt idx="10">
                <c:v>ноя</c:v>
              </c:pt>
              <c:pt idx="11">
                <c:v>дек</c:v>
              </c:pt>
            </c:strLit>
          </c:cat>
          <c:val>
            <c:numLit>
              <c:formatCode>General</c:formatCode>
              <c:ptCount val="12"/>
              <c:pt idx="0">
                <c:v>153.9</c:v>
              </c:pt>
              <c:pt idx="1">
                <c:v>384.8</c:v>
              </c:pt>
              <c:pt idx="2">
                <c:v>538.70000000000005</c:v>
              </c:pt>
              <c:pt idx="3">
                <c:v>538.70000000000005</c:v>
              </c:pt>
              <c:pt idx="4">
                <c:v>538.70000000000005</c:v>
              </c:pt>
              <c:pt idx="5">
                <c:v>538.70000000000005</c:v>
              </c:pt>
              <c:pt idx="6">
                <c:v>538.70000000000005</c:v>
              </c:pt>
              <c:pt idx="7">
                <c:v>615.70000000000005</c:v>
              </c:pt>
              <c:pt idx="8">
                <c:v>615.70000000000005</c:v>
              </c:pt>
              <c:pt idx="9">
                <c:v>846.6</c:v>
              </c:pt>
              <c:pt idx="10">
                <c:v>1077.5</c:v>
              </c:pt>
              <c:pt idx="11">
                <c:v>1308.4000000000001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B2E3-434A-A5FC-A576C250FEB4}"/>
            </c:ext>
          </c:extLst>
        </c:ser>
        <c:ser>
          <c:idx val="1"/>
          <c:order val="1"/>
          <c:tx>
            <c:v>In-store</c:v>
          </c:tx>
          <c:spPr>
            <a:solidFill>
              <a:srgbClr val="A6A6A6"/>
            </a:solidFill>
            <a:ln>
              <a:noFill/>
            </a:ln>
          </c:spPr>
          <c:invertIfNegative val="1"/>
          <c:cat>
            <c:strLit>
              <c:ptCount val="12"/>
              <c:pt idx="0">
                <c:v>янв</c:v>
              </c:pt>
              <c:pt idx="1">
                <c:v>фев</c:v>
              </c:pt>
              <c:pt idx="2">
                <c:v>мар</c:v>
              </c:pt>
              <c:pt idx="3">
                <c:v>апр</c:v>
              </c:pt>
              <c:pt idx="4">
                <c:v>май</c:v>
              </c:pt>
              <c:pt idx="5">
                <c:v>июн</c:v>
              </c:pt>
              <c:pt idx="6">
                <c:v>июл</c:v>
              </c:pt>
              <c:pt idx="7">
                <c:v>авг</c:v>
              </c:pt>
              <c:pt idx="8">
                <c:v>сен</c:v>
              </c:pt>
              <c:pt idx="9">
                <c:v>окт</c:v>
              </c:pt>
              <c:pt idx="10">
                <c:v>ноя</c:v>
              </c:pt>
              <c:pt idx="11">
                <c:v>дек</c:v>
              </c:pt>
            </c:strLit>
          </c:cat>
          <c:val>
            <c:numLit>
              <c:formatCode>General</c:formatCode>
              <c:ptCount val="12"/>
              <c:pt idx="0">
                <c:v>80.400000000000006</c:v>
              </c:pt>
              <c:pt idx="1">
                <c:v>201</c:v>
              </c:pt>
              <c:pt idx="2">
                <c:v>281.39999999999998</c:v>
              </c:pt>
              <c:pt idx="3">
                <c:v>281.39999999999998</c:v>
              </c:pt>
              <c:pt idx="4">
                <c:v>281.39999999999998</c:v>
              </c:pt>
              <c:pt idx="5">
                <c:v>281.39999999999998</c:v>
              </c:pt>
              <c:pt idx="6">
                <c:v>281.39999999999998</c:v>
              </c:pt>
              <c:pt idx="7">
                <c:v>321.5</c:v>
              </c:pt>
              <c:pt idx="8">
                <c:v>321.5</c:v>
              </c:pt>
              <c:pt idx="9">
                <c:v>442.1</c:v>
              </c:pt>
              <c:pt idx="10">
                <c:v>562.70000000000005</c:v>
              </c:pt>
              <c:pt idx="11">
                <c:v>683.3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B2E3-434A-A5FC-A576C250FEB4}"/>
            </c:ext>
          </c:extLst>
        </c:ser>
        <c:ser>
          <c:idx val="2"/>
          <c:order val="2"/>
          <c:tx>
            <c:v>DMP, RMN, CF</c:v>
          </c:tx>
          <c:spPr>
            <a:solidFill>
              <a:srgbClr val="BFBFBF"/>
            </a:solidFill>
            <a:ln>
              <a:noFill/>
            </a:ln>
          </c:spPr>
          <c:invertIfNegative val="1"/>
          <c:cat>
            <c:strLit>
              <c:ptCount val="12"/>
              <c:pt idx="0">
                <c:v>янв</c:v>
              </c:pt>
              <c:pt idx="1">
                <c:v>фев</c:v>
              </c:pt>
              <c:pt idx="2">
                <c:v>мар</c:v>
              </c:pt>
              <c:pt idx="3">
                <c:v>апр</c:v>
              </c:pt>
              <c:pt idx="4">
                <c:v>май</c:v>
              </c:pt>
              <c:pt idx="5">
                <c:v>июн</c:v>
              </c:pt>
              <c:pt idx="6">
                <c:v>июл</c:v>
              </c:pt>
              <c:pt idx="7">
                <c:v>авг</c:v>
              </c:pt>
              <c:pt idx="8">
                <c:v>сен</c:v>
              </c:pt>
              <c:pt idx="9">
                <c:v>окт</c:v>
              </c:pt>
              <c:pt idx="10">
                <c:v>ноя</c:v>
              </c:pt>
              <c:pt idx="11">
                <c:v>дек</c:v>
              </c:pt>
            </c:strLit>
          </c:cat>
          <c:val>
            <c:numLit>
              <c:formatCode>General</c:formatCode>
              <c:ptCount val="12"/>
              <c:pt idx="0">
                <c:v>57</c:v>
              </c:pt>
              <c:pt idx="1">
                <c:v>142.5</c:v>
              </c:pt>
              <c:pt idx="2">
                <c:v>199.5</c:v>
              </c:pt>
              <c:pt idx="3">
                <c:v>199.5</c:v>
              </c:pt>
              <c:pt idx="4">
                <c:v>199.5</c:v>
              </c:pt>
              <c:pt idx="5">
                <c:v>199.5</c:v>
              </c:pt>
              <c:pt idx="6">
                <c:v>199.5</c:v>
              </c:pt>
              <c:pt idx="7">
                <c:v>228</c:v>
              </c:pt>
              <c:pt idx="8">
                <c:v>228</c:v>
              </c:pt>
              <c:pt idx="9">
                <c:v>313.60000000000002</c:v>
              </c:pt>
              <c:pt idx="10">
                <c:v>399.1</c:v>
              </c:pt>
              <c:pt idx="11">
                <c:v>484.6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B2E3-434A-A5FC-A576C250FEB4}"/>
            </c:ext>
          </c:extLst>
        </c:ser>
        <c:ser>
          <c:idx val="3"/>
          <c:order val="3"/>
          <c:tx>
            <c:v>Totals</c:v>
          </c:tx>
          <c:spPr>
            <a:noFill/>
            <a:ln>
              <a:noFill/>
            </a:ln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400" b="1">
                    <a:solidFill>
                      <a:srgbClr val="595959"/>
                    </a:solidFill>
                    <a:latin typeface="Arial"/>
                  </a:defRPr>
                </a:pPr>
                <a:endParaRPr lang="ru-RU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Lit>
              <c:ptCount val="12"/>
              <c:pt idx="0">
                <c:v>янв</c:v>
              </c:pt>
              <c:pt idx="1">
                <c:v>фев</c:v>
              </c:pt>
              <c:pt idx="2">
                <c:v>мар</c:v>
              </c:pt>
              <c:pt idx="3">
                <c:v>апр</c:v>
              </c:pt>
              <c:pt idx="4">
                <c:v>май</c:v>
              </c:pt>
              <c:pt idx="5">
                <c:v>июн</c:v>
              </c:pt>
              <c:pt idx="6">
                <c:v>июл</c:v>
              </c:pt>
              <c:pt idx="7">
                <c:v>авг</c:v>
              </c:pt>
              <c:pt idx="8">
                <c:v>сен</c:v>
              </c:pt>
              <c:pt idx="9">
                <c:v>окт</c:v>
              </c:pt>
              <c:pt idx="10">
                <c:v>ноя</c:v>
              </c:pt>
              <c:pt idx="11">
                <c:v>дек</c:v>
              </c:pt>
            </c:strLit>
          </c:cat>
          <c:val>
            <c:numLit>
              <c:formatCode>General</c:formatCode>
              <c:ptCount val="12"/>
              <c:pt idx="0">
                <c:v>291.3</c:v>
              </c:pt>
              <c:pt idx="1">
                <c:v>728.3</c:v>
              </c:pt>
              <c:pt idx="2">
                <c:v>1019.6</c:v>
              </c:pt>
              <c:pt idx="3">
                <c:v>1019.6</c:v>
              </c:pt>
              <c:pt idx="4">
                <c:v>1019.6</c:v>
              </c:pt>
              <c:pt idx="5">
                <c:v>1019.6</c:v>
              </c:pt>
              <c:pt idx="6">
                <c:v>1019.6</c:v>
              </c:pt>
              <c:pt idx="7">
                <c:v>1165.3</c:v>
              </c:pt>
              <c:pt idx="8">
                <c:v>1165.3</c:v>
              </c:pt>
              <c:pt idx="9">
                <c:v>1602.3</c:v>
              </c:pt>
              <c:pt idx="10">
                <c:v>2039.3</c:v>
              </c:pt>
              <c:pt idx="11">
                <c:v>2476.3000000000002</c:v>
              </c:pt>
            </c:numLit>
          </c:val>
          <c:extLst>
            <c:ext xmlns:c16="http://schemas.microsoft.com/office/drawing/2014/chart" uri="{C3380CC4-5D6E-409C-BE32-E72D297353CC}">
              <c16:uniqueId val="{00000003-B2E3-434A-A5FC-A576C250FE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000000"/>
                </a:solidFill>
                <a:latin typeface="Arial"/>
              </a:defRPr>
            </a:pPr>
            <a:endParaRPr lang="ru-RU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312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legend>
      <c:legendPos val="t"/>
      <c:legendEntry>
        <c:idx val="3"/>
        <c:delete val="1"/>
      </c:legendEntry>
      <c:overlay val="0"/>
      <c:txPr>
        <a:bodyPr rot="0" vert="horz"/>
        <a:lstStyle/>
        <a:p>
          <a:pPr>
            <a:defRPr sz="1200" b="0">
              <a:solidFill>
                <a:srgbClr val="595959"/>
              </a:solidFill>
              <a:latin typeface="Arial"/>
            </a:defRPr>
          </a:pPr>
          <a:endParaRPr lang="ru-RU"/>
        </a:p>
      </c:txPr>
    </c:legend>
    <c:plotVisOnly val="1"/>
    <c:dispBlanksAs val="gap"/>
    <c:showDLblsOverMax val="1"/>
  </c:chart>
  <c:spPr>
    <a:noFill/>
    <a:ln>
      <a:noFill/>
    </a:ln>
  </c:sp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Values</c:v>
          </c:tx>
          <c:spPr>
            <a:solidFill>
              <a:srgbClr val="BFBFBF"/>
            </a:solidFill>
            <a:ln>
              <a:noFill/>
            </a:ln>
          </c:spPr>
          <c:invertIfNegative val="1"/>
          <c:dPt>
            <c:idx val="5"/>
            <c:invertIfNegative val="1"/>
            <c:bubble3D val="0"/>
            <c:spPr>
              <a:solidFill>
                <a:srgbClr val="FF452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0F8-3448-B015-6E8DF631F16B}"/>
              </c:ext>
            </c:extLst>
          </c:dPt>
          <c:dPt>
            <c:idx val="7"/>
            <c:invertIfNegative val="1"/>
            <c:bubble3D val="0"/>
            <c:spPr>
              <a:solidFill>
                <a:srgbClr val="FF452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0F8-3448-B015-6E8DF631F16B}"/>
              </c:ext>
            </c:extLst>
          </c:dPt>
          <c:dPt>
            <c:idx val="8"/>
            <c:invertIfNegative val="1"/>
            <c:bubble3D val="0"/>
            <c:spPr>
              <a:solidFill>
                <a:srgbClr val="FF452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0F8-3448-B015-6E8DF631F16B}"/>
              </c:ext>
            </c:extLst>
          </c:dPt>
          <c:dLbls>
            <c:numFmt formatCode="&quot;+&quot;#,##0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400" b="1">
                    <a:solidFill>
                      <a:srgbClr val="000000"/>
                    </a:solidFill>
                    <a:latin typeface="Arial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Lit>
              <c:ptCount val="9"/>
              <c:pt idx="0">
                <c:v>Other PEX</c:v>
              </c:pt>
              <c:pt idx="1">
                <c:v>Other OPEX</c:v>
              </c:pt>
              <c:pt idx="2">
                <c:v>PR/GR, исследования</c:v>
              </c:pt>
              <c:pt idx="3">
                <c:v>Маркетинг ВГО</c:v>
              </c:pt>
              <c:pt idx="4">
                <c:v>IT</c:v>
              </c:pt>
              <c:pt idx="5">
                <c:v>Креаторы</c:v>
              </c:pt>
              <c:pt idx="6">
                <c:v>PEX (ФОТ)</c:v>
              </c:pt>
              <c:pt idx="7">
                <c:v>Вознаграждения агентствам</c:v>
              </c:pt>
              <c:pt idx="8">
                <c:v>Закупка трафика DMP</c:v>
              </c:pt>
            </c:strLit>
          </c:cat>
          <c:val>
            <c:numLit>
              <c:formatCode>General</c:formatCode>
              <c:ptCount val="9"/>
              <c:pt idx="0">
                <c:v>8</c:v>
              </c:pt>
              <c:pt idx="1">
                <c:v>11</c:v>
              </c:pt>
              <c:pt idx="2">
                <c:v>16</c:v>
              </c:pt>
              <c:pt idx="3">
                <c:v>30</c:v>
              </c:pt>
              <c:pt idx="4">
                <c:v>34</c:v>
              </c:pt>
              <c:pt idx="5">
                <c:v>160</c:v>
              </c:pt>
              <c:pt idx="6">
                <c:v>316</c:v>
              </c:pt>
              <c:pt idx="7">
                <c:v>441</c:v>
              </c:pt>
              <c:pt idx="8">
                <c:v>489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B0F8-3448-B015-6E8DF631F1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"/>
        <c:axId val="2"/>
      </c:barChart>
      <c:catAx>
        <c:axId val="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000000"/>
                </a:solidFill>
                <a:latin typeface="Arial"/>
              </a:defRPr>
            </a:pPr>
            <a:endParaRPr lang="ru-RU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in val="0"/>
        </c:scaling>
        <c:delete val="1"/>
        <c:axPos val="b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Base</c:v>
          </c:tx>
          <c:spPr>
            <a:noFill/>
            <a:ln>
              <a:noFill/>
            </a:ln>
          </c:spPr>
          <c:invertIfNegative val="1"/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DMP, RMN, CF</c:v>
              </c:pt>
              <c:pt idx="4">
                <c:v>Marketing</c:v>
              </c:pt>
              <c:pt idx="5">
                <c:v>PEX</c:v>
              </c:pt>
              <c:pt idx="6">
                <c:v>IT</c:v>
              </c:pt>
              <c:pt idx="7">
                <c:v>Прочие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0">
                <c:v>0</c:v>
              </c:pt>
              <c:pt idx="1">
                <c:v>8084.69</c:v>
              </c:pt>
              <c:pt idx="2">
                <c:v>9585.52</c:v>
              </c:pt>
              <c:pt idx="3">
                <c:v>11158.92</c:v>
              </c:pt>
              <c:pt idx="4">
                <c:v>11191.55</c:v>
              </c:pt>
              <c:pt idx="5">
                <c:v>10875.26</c:v>
              </c:pt>
              <c:pt idx="6">
                <c:v>10841.76</c:v>
              </c:pt>
              <c:pt idx="7">
                <c:v>10823.46</c:v>
              </c:pt>
              <c:pt idx="8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0-CB36-7B4C-8030-856FD52DD8D6}"/>
            </c:ext>
          </c:extLst>
        </c:ser>
        <c:ser>
          <c:idx val="1"/>
          <c:order val="1"/>
          <c:tx>
            <c:v>Increase</c:v>
          </c:tx>
          <c:spPr>
            <a:solidFill>
              <a:srgbClr val="FF452C"/>
            </a:solidFill>
            <a:ln>
              <a:noFill/>
            </a:ln>
          </c:spPr>
          <c:invertIfNegative val="1"/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DMP, RMN, CF</c:v>
              </c:pt>
              <c:pt idx="4">
                <c:v>Marketing</c:v>
              </c:pt>
              <c:pt idx="5">
                <c:v>PEX</c:v>
              </c:pt>
              <c:pt idx="6">
                <c:v>IT</c:v>
              </c:pt>
              <c:pt idx="7">
                <c:v>Прочие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1">
                <c:v>1500.83</c:v>
              </c:pt>
              <c:pt idx="2">
                <c:v>1573.4</c:v>
              </c:pt>
              <c:pt idx="3">
                <c:v>1168.56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CB36-7B4C-8030-856FD52DD8D6}"/>
            </c:ext>
          </c:extLst>
        </c:ser>
        <c:ser>
          <c:idx val="2"/>
          <c:order val="2"/>
          <c:tx>
            <c:v>Decrease</c:v>
          </c:tx>
          <c:spPr>
            <a:solidFill>
              <a:srgbClr val="595959"/>
            </a:solidFill>
            <a:ln>
              <a:noFill/>
            </a:ln>
          </c:spPr>
          <c:invertIfNegative val="1"/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DMP, RMN, CF</c:v>
              </c:pt>
              <c:pt idx="4">
                <c:v>Marketing</c:v>
              </c:pt>
              <c:pt idx="5">
                <c:v>PEX</c:v>
              </c:pt>
              <c:pt idx="6">
                <c:v>IT</c:v>
              </c:pt>
              <c:pt idx="7">
                <c:v>Прочие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4">
                <c:v>1135.93</c:v>
              </c:pt>
              <c:pt idx="5">
                <c:v>316.29000000000002</c:v>
              </c:pt>
              <c:pt idx="6">
                <c:v>33.5</c:v>
              </c:pt>
              <c:pt idx="7">
                <c:v>18.3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CB36-7B4C-8030-856FD52DD8D6}"/>
            </c:ext>
          </c:extLst>
        </c:ser>
        <c:ser>
          <c:idx val="3"/>
          <c:order val="3"/>
          <c:tx>
            <c:v>Total</c:v>
          </c:tx>
          <c:spPr>
            <a:solidFill>
              <a:srgbClr val="999999"/>
            </a:solidFill>
            <a:ln>
              <a:noFill/>
            </a:ln>
          </c:spPr>
          <c:invertIfNegative val="1"/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DMP, RMN, CF</c:v>
              </c:pt>
              <c:pt idx="4">
                <c:v>Marketing</c:v>
              </c:pt>
              <c:pt idx="5">
                <c:v>PEX</c:v>
              </c:pt>
              <c:pt idx="6">
                <c:v>IT</c:v>
              </c:pt>
              <c:pt idx="7">
                <c:v>Прочие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0">
                <c:v>8084.69</c:v>
              </c:pt>
              <c:pt idx="8">
                <c:v>10823.45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CB36-7B4C-8030-856FD52DD8D6}"/>
            </c:ext>
          </c:extLst>
        </c:ser>
        <c:ser>
          <c:idx val="4"/>
          <c:order val="4"/>
          <c:tx>
            <c:v>Labels</c:v>
          </c:tx>
          <c:spPr>
            <a:noFill/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ru-RU" sz="1400" b="1">
                        <a:solidFill>
                          <a:srgbClr val="999999"/>
                        </a:solidFill>
                        <a:latin typeface="Arial"/>
                      </a:rPr>
                      <a:t>8 085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6FA9-234B-8AE8-E9A014A8A0C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FF452C"/>
                        </a:solidFill>
                        <a:latin typeface="Arial"/>
                      </a:rPr>
                      <a:t>+1 501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6FA9-234B-8AE8-E9A014A8A0C6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FF452C"/>
                        </a:solidFill>
                        <a:latin typeface="Arial"/>
                      </a:rPr>
                      <a:t>+1 573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6FA9-234B-8AE8-E9A014A8A0C6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FF452C"/>
                        </a:solidFill>
                        <a:latin typeface="Arial"/>
                      </a:rPr>
                      <a:t>+1 169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6FA9-234B-8AE8-E9A014A8A0C6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595959"/>
                        </a:solidFill>
                        <a:latin typeface="Arial"/>
                      </a:rPr>
                      <a:t>−1 136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6FA9-234B-8AE8-E9A014A8A0C6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595959"/>
                        </a:solidFill>
                        <a:latin typeface="Arial"/>
                      </a:rPr>
                      <a:t>−316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6FA9-234B-8AE8-E9A014A8A0C6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595959"/>
                        </a:solidFill>
                        <a:latin typeface="Arial"/>
                      </a:rPr>
                      <a:t>−34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6FA9-234B-8AE8-E9A014A8A0C6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595959"/>
                        </a:solidFill>
                        <a:latin typeface="Arial"/>
                      </a:rPr>
                      <a:t>−18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6FA9-234B-8AE8-E9A014A8A0C6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ru-RU" sz="1400" b="1">
                        <a:solidFill>
                          <a:srgbClr val="999999"/>
                        </a:solidFill>
                        <a:latin typeface="Arial"/>
                      </a:rPr>
                      <a:t>10 823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6FA9-234B-8AE8-E9A014A8A0C6}"/>
                </c:ext>
              </c:extLst>
            </c:dLbl>
            <c:spPr>
              <a:noFill/>
              <a:ln>
                <a:noFill/>
              </a:ln>
              <a:effectLst/>
            </c:sp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DMP, RMN, CF</c:v>
              </c:pt>
              <c:pt idx="4">
                <c:v>Marketing</c:v>
              </c:pt>
              <c:pt idx="5">
                <c:v>PEX</c:v>
              </c:pt>
              <c:pt idx="6">
                <c:v>IT</c:v>
              </c:pt>
              <c:pt idx="7">
                <c:v>Прочие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0">
                <c:v>123.9726</c:v>
              </c:pt>
              <c:pt idx="1">
                <c:v>123.9726</c:v>
              </c:pt>
              <c:pt idx="2">
                <c:v>123.9726</c:v>
              </c:pt>
              <c:pt idx="3">
                <c:v>123.9726</c:v>
              </c:pt>
              <c:pt idx="4">
                <c:v>123.9726</c:v>
              </c:pt>
              <c:pt idx="5">
                <c:v>123.9726</c:v>
              </c:pt>
              <c:pt idx="6">
                <c:v>123.9726</c:v>
              </c:pt>
              <c:pt idx="7">
                <c:v>123.9726</c:v>
              </c:pt>
              <c:pt idx="8">
                <c:v>123.9726</c:v>
              </c:pt>
            </c:numLit>
          </c:val>
          <c:extLst>
            <c:ext xmlns:c16="http://schemas.microsoft.com/office/drawing/2014/chart" uri="{C3380CC4-5D6E-409C-BE32-E72D297353CC}">
              <c16:uniqueId val="{0000000D-CB36-7B4C-8030-856FD52DD8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100" b="0">
                <a:solidFill>
                  <a:srgbClr val="000000"/>
                </a:solidFill>
                <a:latin typeface="Arial"/>
              </a:defRPr>
            </a:pPr>
            <a:endParaRPr lang="ru-RU"/>
          </a:p>
        </c:txPr>
        <c:crossAx val="2"/>
        <c:crosses val="autoZero"/>
        <c:auto val="1"/>
        <c:lblAlgn val="ctr"/>
        <c:lblOffset val="100"/>
        <c:tickLblSkip val="1"/>
        <c:noMultiLvlLbl val="1"/>
      </c:catAx>
      <c:valAx>
        <c:axId val="2"/>
        <c:scaling>
          <c:orientation val="minMax"/>
          <c:max val="1550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Base</c:v>
          </c:tx>
          <c:spPr>
            <a:noFill/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ФОТ разработки</c:v>
              </c:pt>
              <c:pt idx="2">
                <c:v>IT ПО и техника</c:v>
              </c:pt>
              <c:pt idx="3">
                <c:v>Фасады ТТ</c:v>
              </c:pt>
              <c:pt idx="4">
                <c:v>Медиа с КСО</c:v>
              </c:pt>
              <c:pt idx="5">
                <c:v>Фасад БФ</c:v>
              </c:pt>
              <c:pt idx="6">
                <c:v>Система медиа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1179.5999999999999</c:v>
              </c:pt>
              <c:pt idx="2">
                <c:v>1273.3999999999999</c:v>
              </c:pt>
              <c:pt idx="3">
                <c:v>1141.1999999999998</c:v>
              </c:pt>
              <c:pt idx="4">
                <c:v>1074.5999999999999</c:v>
              </c:pt>
              <c:pt idx="5">
                <c:v>1074.5999999999999</c:v>
              </c:pt>
              <c:pt idx="6">
                <c:v>1145.3999999999999</c:v>
              </c:pt>
              <c:pt idx="7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0-555E-9B44-A647-D1A58B1277AA}"/>
            </c:ext>
          </c:extLst>
        </c:ser>
        <c:ser>
          <c:idx val="1"/>
          <c:order val="1"/>
          <c:tx>
            <c:v>Increase</c:v>
          </c:tx>
          <c:spPr>
            <a:solidFill>
              <a:srgbClr val="FF452C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ФОТ разработки</c:v>
              </c:pt>
              <c:pt idx="2">
                <c:v>IT ПО и техника</c:v>
              </c:pt>
              <c:pt idx="3">
                <c:v>Фасады ТТ</c:v>
              </c:pt>
              <c:pt idx="4">
                <c:v>Медиа с КСО</c:v>
              </c:pt>
              <c:pt idx="5">
                <c:v>Фасад БФ</c:v>
              </c:pt>
              <c:pt idx="6">
                <c:v>Система медиа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1">
                <c:v>113.3</c:v>
              </c:pt>
              <c:pt idx="5">
                <c:v>70.8</c:v>
              </c:pt>
              <c:pt idx="6">
                <c:v>5.0999999999999996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555E-9B44-A647-D1A58B1277AA}"/>
            </c:ext>
          </c:extLst>
        </c:ser>
        <c:ser>
          <c:idx val="2"/>
          <c:order val="2"/>
          <c:tx>
            <c:v>Decrease</c:v>
          </c:tx>
          <c:spPr>
            <a:solidFill>
              <a:srgbClr val="595959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ФОТ разработки</c:v>
              </c:pt>
              <c:pt idx="2">
                <c:v>IT ПО и техника</c:v>
              </c:pt>
              <c:pt idx="3">
                <c:v>Фасады ТТ</c:v>
              </c:pt>
              <c:pt idx="4">
                <c:v>Медиа с КСО</c:v>
              </c:pt>
              <c:pt idx="5">
                <c:v>Фасад БФ</c:v>
              </c:pt>
              <c:pt idx="6">
                <c:v>Система медиа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2">
                <c:v>19.5</c:v>
              </c:pt>
              <c:pt idx="3">
                <c:v>132.19999999999999</c:v>
              </c:pt>
              <c:pt idx="4">
                <c:v>66.599999999999994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555E-9B44-A647-D1A58B1277AA}"/>
            </c:ext>
          </c:extLst>
        </c:ser>
        <c:ser>
          <c:idx val="3"/>
          <c:order val="3"/>
          <c:tx>
            <c:v>Total</c:v>
          </c:tx>
          <c:spPr>
            <a:solidFill>
              <a:srgbClr val="999999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ФОТ разработки</c:v>
              </c:pt>
              <c:pt idx="2">
                <c:v>IT ПО и техника</c:v>
              </c:pt>
              <c:pt idx="3">
                <c:v>Фасады ТТ</c:v>
              </c:pt>
              <c:pt idx="4">
                <c:v>Медиа с КСО</c:v>
              </c:pt>
              <c:pt idx="5">
                <c:v>Фасад БФ</c:v>
              </c:pt>
              <c:pt idx="6">
                <c:v>Система медиа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1179.5999999999999</c:v>
              </c:pt>
              <c:pt idx="7">
                <c:v>1150.6400000000001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555E-9B44-A647-D1A58B1277AA}"/>
            </c:ext>
          </c:extLst>
        </c:ser>
        <c:ser>
          <c:idx val="4"/>
          <c:order val="4"/>
          <c:tx>
            <c:v>Labels</c:v>
          </c:tx>
          <c:spPr>
            <a:noFill/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ru-RU" sz="1400" b="1">
                        <a:solidFill>
                          <a:srgbClr val="999999"/>
                        </a:solidFill>
                        <a:latin typeface="Arial"/>
                      </a:rPr>
                      <a:t>1 180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555E-9B44-A647-D1A58B1277A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FF452C"/>
                        </a:solidFill>
                        <a:latin typeface="Arial"/>
                      </a:rPr>
                      <a:t>+113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555E-9B44-A647-D1A58B1277A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595959"/>
                        </a:solidFill>
                        <a:latin typeface="Arial"/>
                      </a:rPr>
                      <a:t>−20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555E-9B44-A647-D1A58B1277A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595959"/>
                        </a:solidFill>
                        <a:latin typeface="Arial"/>
                      </a:rPr>
                      <a:t>−132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555E-9B44-A647-D1A58B1277AA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595959"/>
                        </a:solidFill>
                        <a:latin typeface="Arial"/>
                      </a:rPr>
                      <a:t>−67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555E-9B44-A647-D1A58B1277AA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FF452C"/>
                        </a:solidFill>
                        <a:latin typeface="Arial"/>
                      </a:rPr>
                      <a:t>+71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555E-9B44-A647-D1A58B1277AA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FF452C"/>
                        </a:solidFill>
                        <a:latin typeface="Arial"/>
                      </a:rPr>
                      <a:t>+5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555E-9B44-A647-D1A58B1277AA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ru-RU" sz="1400" b="1">
                        <a:solidFill>
                          <a:srgbClr val="999999"/>
                        </a:solidFill>
                        <a:latin typeface="Arial"/>
                      </a:rPr>
                      <a:t>1 151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555E-9B44-A647-D1A58B1277AA}"/>
                </c:ext>
              </c:extLst>
            </c:dLbl>
            <c:spPr>
              <a:noFill/>
              <a:ln>
                <a:noFill/>
              </a:ln>
              <a:effectLst/>
            </c:sp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8"/>
              <c:pt idx="0">
                <c:v>FC 2026</c:v>
              </c:pt>
              <c:pt idx="1">
                <c:v>ФОТ разработки</c:v>
              </c:pt>
              <c:pt idx="2">
                <c:v>IT ПО и техника</c:v>
              </c:pt>
              <c:pt idx="3">
                <c:v>Фасады ТТ</c:v>
              </c:pt>
              <c:pt idx="4">
                <c:v>Медиа с КСО</c:v>
              </c:pt>
              <c:pt idx="5">
                <c:v>Фасад БФ</c:v>
              </c:pt>
              <c:pt idx="6">
                <c:v>Система медиа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12.928999999999998</c:v>
              </c:pt>
              <c:pt idx="1">
                <c:v>12.928999999999998</c:v>
              </c:pt>
              <c:pt idx="2">
                <c:v>12.928999999999998</c:v>
              </c:pt>
              <c:pt idx="3">
                <c:v>12.928999999999998</c:v>
              </c:pt>
              <c:pt idx="4">
                <c:v>12.928999999999998</c:v>
              </c:pt>
              <c:pt idx="5">
                <c:v>12.928999999999998</c:v>
              </c:pt>
              <c:pt idx="6">
                <c:v>12.928999999999998</c:v>
              </c:pt>
              <c:pt idx="7">
                <c:v>12.928999999999998</c:v>
              </c:pt>
            </c:numLit>
          </c:val>
          <c:extLst>
            <c:ext xmlns:c16="http://schemas.microsoft.com/office/drawing/2014/chart" uri="{C3380CC4-5D6E-409C-BE32-E72D297353CC}">
              <c16:uniqueId val="{0000000C-555E-9B44-A647-D1A58B1277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100" b="0">
                <a:solidFill>
                  <a:srgbClr val="000000"/>
                </a:solidFill>
                <a:latin typeface="Arial"/>
              </a:defRPr>
            </a:pPr>
            <a:endParaRPr lang="ru-RU"/>
          </a:p>
        </c:txPr>
        <c:crossAx val="2"/>
        <c:crosses val="autoZero"/>
        <c:auto val="1"/>
        <c:lblAlgn val="ctr"/>
        <c:lblOffset val="100"/>
        <c:tickLblSkip val="1"/>
        <c:noMultiLvlLbl val="1"/>
      </c:catAx>
      <c:valAx>
        <c:axId val="2"/>
        <c:scaling>
          <c:orientation val="minMax"/>
          <c:max val="162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8871530411042008E-3"/>
          <c:y val="9.5687331536388143E-2"/>
          <c:w val="0.98422569391779158"/>
          <c:h val="0.80862533692722371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D6D7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F184-4F9C-93FB-BCB2E91AC74D}"/>
              </c:ext>
            </c:extLst>
          </c:dPt>
          <c:dPt>
            <c:idx val="1"/>
            <c:invertIfNegative val="0"/>
            <c:bubble3D val="0"/>
            <c:spPr>
              <a:solidFill>
                <a:srgbClr val="D6D7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F184-4F9C-93FB-BCB2E91AC74D}"/>
              </c:ext>
            </c:extLst>
          </c:dPt>
          <c:dPt>
            <c:idx val="5"/>
            <c:invertIfNegative val="0"/>
            <c:bubble3D val="0"/>
            <c:spPr>
              <a:solidFill>
                <a:srgbClr val="D6D7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F184-4F9C-93FB-BCB2E91AC74D}"/>
              </c:ext>
            </c:extLst>
          </c:dPt>
          <c:dPt>
            <c:idx val="6"/>
            <c:invertIfNegative val="0"/>
            <c:bubble3D val="0"/>
            <c:spPr>
              <a:solidFill>
                <a:srgbClr val="D6D7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F184-4F9C-93FB-BCB2E91AC74D}"/>
              </c:ext>
            </c:extLst>
          </c:dPt>
          <c:dPt>
            <c:idx val="10"/>
            <c:invertIfNegative val="0"/>
            <c:bubble3D val="0"/>
            <c:spPr>
              <a:solidFill>
                <a:srgbClr val="D6D7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4-F184-4F9C-93FB-BCB2E91AC74D}"/>
              </c:ext>
            </c:extLst>
          </c:dPt>
          <c:dPt>
            <c:idx val="11"/>
            <c:invertIfNegative val="0"/>
            <c:bubble3D val="0"/>
            <c:spPr>
              <a:solidFill>
                <a:srgbClr val="D6D7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F184-4F9C-93FB-BCB2E91AC74D}"/>
              </c:ext>
            </c:extLst>
          </c:dPt>
          <c:val>
            <c:numRef>
              <c:f>Sheet1!$A$1:$L$1</c:f>
              <c:numCache>
                <c:formatCode>General</c:formatCode>
                <c:ptCount val="12"/>
                <c:pt idx="0">
                  <c:v>282.1449595375725</c:v>
                </c:pt>
                <c:pt idx="1">
                  <c:v>279.1449595375725</c:v>
                </c:pt>
                <c:pt idx="2">
                  <c:v>128.1449595375725</c:v>
                </c:pt>
                <c:pt idx="3">
                  <c:v>106.1449595375725</c:v>
                </c:pt>
                <c:pt idx="4">
                  <c:v>106.1449595375725</c:v>
                </c:pt>
                <c:pt idx="5">
                  <c:v>139.1449595375725</c:v>
                </c:pt>
                <c:pt idx="6">
                  <c:v>448.77095953757271</c:v>
                </c:pt>
                <c:pt idx="7">
                  <c:v>448.77095953757271</c:v>
                </c:pt>
                <c:pt idx="8">
                  <c:v>648.25895953757276</c:v>
                </c:pt>
                <c:pt idx="9">
                  <c:v>719.25895953757276</c:v>
                </c:pt>
                <c:pt idx="10">
                  <c:v>737.77095953757271</c:v>
                </c:pt>
                <c:pt idx="11">
                  <c:v>776.1449595375725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184-4F9C-93FB-BCB2E91AC74D}"/>
            </c:ext>
          </c:extLst>
        </c:ser>
        <c:ser>
          <c:idx val="1"/>
          <c:order val="1"/>
          <c:spPr>
            <a:solidFill>
              <a:srgbClr val="FF452C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F184-4F9C-93FB-BCB2E91AC74D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8-F184-4F9C-93FB-BCB2E91AC74D}"/>
              </c:ext>
            </c:extLst>
          </c:dPt>
          <c:dPt>
            <c:idx val="10"/>
            <c:invertIfNegative val="0"/>
            <c:bubble3D val="0"/>
            <c:spPr>
              <a:solidFill>
                <a:srgbClr val="66666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F184-4F9C-93FB-BCB2E91AC74D}"/>
              </c:ext>
            </c:extLst>
          </c:dPt>
          <c:dLbls>
            <c:dLbl>
              <c:idx val="7"/>
              <c:layout>
                <c:manualLayout>
                  <c:x val="0"/>
                  <c:y val="-2.021563342318059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F184-4F9C-93FB-BCB2E91AC74D}"/>
                </c:ext>
              </c:extLst>
            </c:dLbl>
            <c:dLbl>
              <c:idx val="8"/>
              <c:layout>
                <c:manualLayout>
                  <c:x val="0"/>
                  <c:y val="-2.021563342318059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B-F184-4F9C-93FB-BCB2E91AC74D}"/>
                </c:ext>
              </c:extLst>
            </c:dLbl>
            <c:dLbl>
              <c:idx val="9"/>
              <c:layout>
                <c:manualLayout>
                  <c:x val="0"/>
                  <c:y val="-2.021563342318059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C-F184-4F9C-93FB-BCB2E91AC74D}"/>
                </c:ext>
              </c:extLst>
            </c:dLbl>
            <c:dLbl>
              <c:idx val="10"/>
              <c:layout>
                <c:manualLayout>
                  <c:x val="0"/>
                  <c:y val="-2.021563342318059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F184-4F9C-93FB-BCB2E91AC74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Sheet1!$A$2:$L$2</c:f>
              <c:numCache>
                <c:formatCode>General</c:formatCode>
                <c:ptCount val="12"/>
                <c:pt idx="2">
                  <c:v>151</c:v>
                </c:pt>
                <c:pt idx="3">
                  <c:v>22</c:v>
                </c:pt>
                <c:pt idx="4">
                  <c:v>33</c:v>
                </c:pt>
                <c:pt idx="7">
                  <c:v>151</c:v>
                </c:pt>
                <c:pt idx="8">
                  <c:v>71</c:v>
                </c:pt>
                <c:pt idx="9">
                  <c:v>67</c:v>
                </c:pt>
                <c:pt idx="10">
                  <c:v>48.488000000000056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F184-4F9C-93FB-BCB2E91AC74D}"/>
            </c:ext>
          </c:extLst>
        </c:ser>
        <c:ser>
          <c:idx val="2"/>
          <c:order val="2"/>
          <c:spPr>
            <a:solidFill>
              <a:srgbClr val="666666"/>
            </a:solidFill>
            <a:ln>
              <a:noFill/>
            </a:ln>
          </c:spPr>
          <c:invertIfNegative val="0"/>
          <c:dLbls>
            <c:dLbl>
              <c:idx val="7"/>
              <c:layout>
                <c:manualLayout>
                  <c:x val="0"/>
                  <c:y val="-2.021563342318059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E-F184-4F9C-93FB-BCB2E91AC74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Sheet1!$A$3:$L$3</c:f>
              <c:numCache>
                <c:formatCode>General</c:formatCode>
                <c:ptCount val="12"/>
                <c:pt idx="7">
                  <c:v>48.488000000000056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F184-4F9C-93FB-BCB2E91AC7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348246864"/>
        <c:axId val="1"/>
      </c:barChart>
      <c:catAx>
        <c:axId val="348246864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786.25895953757276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34824686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3194620654656179E-2"/>
          <c:y val="0.10448859455481972"/>
          <c:w val="0.97361075869068769"/>
          <c:h val="0.79102281089036053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D6D7D9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noFill/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0E2B-4DAF-A04D-3042B4B526EB}"/>
              </c:ext>
            </c:extLst>
          </c:dPt>
          <c:dPt>
            <c:idx val="4"/>
            <c:invertIfNegative val="0"/>
            <c:bubble3D val="0"/>
            <c:spPr>
              <a:noFill/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0E2B-4DAF-A04D-3042B4B526EB}"/>
              </c:ext>
            </c:extLst>
          </c:dPt>
          <c:dPt>
            <c:idx val="5"/>
            <c:invertIfNegative val="0"/>
            <c:bubble3D val="0"/>
            <c:spPr>
              <a:noFill/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0E2B-4DAF-A04D-3042B4B526EB}"/>
              </c:ext>
            </c:extLst>
          </c:dPt>
          <c:val>
            <c:numRef>
              <c:f>Sheet1!$A$1:$H$1</c:f>
              <c:numCache>
                <c:formatCode>General</c:formatCode>
                <c:ptCount val="8"/>
                <c:pt idx="0">
                  <c:v>10.935683297180049</c:v>
                </c:pt>
                <c:pt idx="1">
                  <c:v>14.935683297180049</c:v>
                </c:pt>
                <c:pt idx="2">
                  <c:v>13.935683297180049</c:v>
                </c:pt>
                <c:pt idx="3">
                  <c:v>13.935683297180049</c:v>
                </c:pt>
                <c:pt idx="4">
                  <c:v>13.935683297180049</c:v>
                </c:pt>
                <c:pt idx="5">
                  <c:v>59.23568329718006</c:v>
                </c:pt>
                <c:pt idx="6">
                  <c:v>66.835683297180083</c:v>
                </c:pt>
                <c:pt idx="7">
                  <c:v>42.535683297180071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E2B-4DAF-A04D-3042B4B526EB}"/>
            </c:ext>
          </c:extLst>
        </c:ser>
        <c:ser>
          <c:idx val="1"/>
          <c:order val="1"/>
          <c:spPr>
            <a:solidFill>
              <a:srgbClr val="FF452C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4-0E2B-4DAF-A04D-3042B4B526EB}"/>
              </c:ext>
            </c:extLst>
          </c:dPt>
          <c:dPt>
            <c:idx val="6"/>
            <c:invertIfNegative val="0"/>
            <c:bubble3D val="0"/>
            <c:spPr>
              <a:solidFill>
                <a:srgbClr val="66666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0E2B-4DAF-A04D-3042B4B526EB}"/>
              </c:ext>
            </c:extLst>
          </c:dPt>
          <c:dLbls>
            <c:dLbl>
              <c:idx val="4"/>
              <c:layout>
                <c:manualLayout>
                  <c:x val="0"/>
                  <c:y val="-2.207505518763796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0E2B-4DAF-A04D-3042B4B526EB}"/>
                </c:ext>
              </c:extLst>
            </c:dLbl>
            <c:dLbl>
              <c:idx val="5"/>
              <c:layout>
                <c:manualLayout>
                  <c:x val="0"/>
                  <c:y val="-2.207505518763796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0E2B-4DAF-A04D-3042B4B526EB}"/>
                </c:ext>
              </c:extLst>
            </c:dLbl>
            <c:dLbl>
              <c:idx val="6"/>
              <c:layout>
                <c:manualLayout>
                  <c:x val="0"/>
                  <c:y val="-2.207505518763796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0E2B-4DAF-A04D-3042B4B526EB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Sheet1!$A$2:$H$2</c:f>
              <c:numCache>
                <c:formatCode>General</c:formatCode>
                <c:ptCount val="8"/>
                <c:pt idx="2">
                  <c:v>1</c:v>
                </c:pt>
                <c:pt idx="4">
                  <c:v>35.300000000000011</c:v>
                </c:pt>
                <c:pt idx="5">
                  <c:v>17.600000000000023</c:v>
                </c:pt>
                <c:pt idx="6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E2B-4DAF-A04D-3042B4B526EB}"/>
            </c:ext>
          </c:extLst>
        </c:ser>
        <c:ser>
          <c:idx val="2"/>
          <c:order val="2"/>
          <c:spPr>
            <a:solidFill>
              <a:srgbClr val="666666"/>
            </a:solidFill>
            <a:ln>
              <a:noFill/>
            </a:ln>
          </c:spPr>
          <c:invertIfNegative val="0"/>
          <c:dLbls>
            <c:dLbl>
              <c:idx val="4"/>
              <c:layout>
                <c:manualLayout>
                  <c:x val="0"/>
                  <c:y val="-2.207505518763796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0E2B-4DAF-A04D-3042B4B526EB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Sheet1!$A$3:$H$3</c:f>
              <c:numCache>
                <c:formatCode>General</c:formatCode>
                <c:ptCount val="8"/>
                <c:pt idx="4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E2B-4DAF-A04D-3042B4B526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13603904"/>
        <c:axId val="1"/>
      </c:barChart>
      <c:catAx>
        <c:axId val="713603904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76.835683297180083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71360390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1724915445321308E-2"/>
          <c:y val="8.0190930787589501E-2"/>
          <c:w val="0.97655016910935744"/>
          <c:h val="0.83961813842482103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D6D7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43198090692124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CD15-4254-A274-58FE18D1374A}"/>
                </c:ext>
              </c:extLst>
            </c:dLbl>
            <c:dLbl>
              <c:idx val="1"/>
              <c:layout>
                <c:manualLayout>
                  <c:x val="0"/>
                  <c:y val="-1.43198090692124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CD15-4254-A274-58FE18D1374A}"/>
                </c:ext>
              </c:extLst>
            </c:dLbl>
            <c:dLbl>
              <c:idx val="2"/>
              <c:layout>
                <c:manualLayout>
                  <c:x val="0"/>
                  <c:y val="-1.43198090692124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CD15-4254-A274-58FE18D1374A}"/>
                </c:ext>
              </c:extLst>
            </c:dLbl>
            <c:dLbl>
              <c:idx val="3"/>
              <c:layout>
                <c:manualLayout>
                  <c:x val="0"/>
                  <c:y val="-1.43198090692124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CD15-4254-A274-58FE18D1374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Sheet1!$A$1:$D$1</c:f>
              <c:numCache>
                <c:formatCode>General</c:formatCode>
                <c:ptCount val="4"/>
                <c:pt idx="0">
                  <c:v>118.80315204081633</c:v>
                </c:pt>
                <c:pt idx="1">
                  <c:v>115.23905747959184</c:v>
                </c:pt>
                <c:pt idx="2">
                  <c:v>147.98743571428571</c:v>
                </c:pt>
                <c:pt idx="3">
                  <c:v>145.02768699999999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D15-4254-A274-58FE18D1374A}"/>
            </c:ext>
          </c:extLst>
        </c:ser>
        <c:ser>
          <c:idx val="1"/>
          <c:order val="1"/>
          <c:spPr>
            <a:solidFill>
              <a:srgbClr val="666666"/>
            </a:solidFill>
            <a:ln>
              <a:noFill/>
            </a:ln>
          </c:spPr>
          <c:invertIfNegative val="0"/>
          <c:val>
            <c:numRef>
              <c:f>Sheet1!$A$2:$D$2</c:f>
              <c:numCache>
                <c:formatCode>General</c:formatCode>
                <c:ptCount val="4"/>
                <c:pt idx="0">
                  <c:v>3.7284210526315746</c:v>
                </c:pt>
                <c:pt idx="1">
                  <c:v>3.5420000000000016</c:v>
                </c:pt>
                <c:pt idx="2">
                  <c:v>3.7284210526315746</c:v>
                </c:pt>
                <c:pt idx="3">
                  <c:v>3.5420000000000016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CD15-4254-A274-58FE18D137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300708816"/>
        <c:axId val="1"/>
      </c:barChart>
      <c:catAx>
        <c:axId val="30070881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51.71585676691728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30070881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2534523643464919E-3"/>
          <c:y val="4.2763157894736843E-2"/>
          <c:w val="0.98549309527130702"/>
          <c:h val="0.91447368421052633"/>
        </c:manualLayout>
      </c:layout>
      <c:lineChart>
        <c:grouping val="standard"/>
        <c:varyColors val="0"/>
        <c:ser>
          <c:idx val="0"/>
          <c:order val="0"/>
          <c:spPr>
            <a:ln w="28575" cmpd="sng" algn="ctr">
              <a:solidFill>
                <a:srgbClr val="C0C0C0"/>
              </a:solidFill>
              <a:prstDash val="solid"/>
            </a:ln>
          </c:spPr>
          <c:marker>
            <c:symbol val="none"/>
          </c:marker>
          <c:dPt>
            <c:idx val="0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4F40-4688-B62D-6A6FE35F0F20}"/>
              </c:ext>
            </c:extLst>
          </c:dPt>
          <c:dPt>
            <c:idx val="1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4F40-4688-B62D-6A6FE35F0F20}"/>
              </c:ext>
            </c:extLst>
          </c:dPt>
          <c:dPt>
            <c:idx val="2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4F40-4688-B62D-6A6FE35F0F20}"/>
              </c:ext>
            </c:extLst>
          </c:dPt>
          <c:dPt>
            <c:idx val="3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4F40-4688-B62D-6A6FE35F0F20}"/>
              </c:ext>
            </c:extLst>
          </c:dPt>
          <c:dPt>
            <c:idx val="4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4F40-4688-B62D-6A6FE35F0F20}"/>
              </c:ext>
            </c:extLst>
          </c:dPt>
          <c:dPt>
            <c:idx val="5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4F40-4688-B62D-6A6FE35F0F20}"/>
              </c:ext>
            </c:extLst>
          </c:dPt>
          <c:dPt>
            <c:idx val="6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4F40-4688-B62D-6A6FE35F0F20}"/>
              </c:ext>
            </c:extLst>
          </c:dPt>
          <c:dPt>
            <c:idx val="7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4F40-4688-B62D-6A6FE35F0F20}"/>
              </c:ext>
            </c:extLst>
          </c:dPt>
          <c:dPt>
            <c:idx val="8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8-4F40-4688-B62D-6A6FE35F0F20}"/>
              </c:ext>
            </c:extLst>
          </c:dPt>
          <c:dPt>
            <c:idx val="9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9-4F40-4688-B62D-6A6FE35F0F20}"/>
              </c:ext>
            </c:extLst>
          </c:dPt>
          <c:dPt>
            <c:idx val="10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A-4F40-4688-B62D-6A6FE35F0F20}"/>
              </c:ext>
            </c:extLst>
          </c:dPt>
          <c:dPt>
            <c:idx val="11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B-4F40-4688-B62D-6A6FE35F0F20}"/>
              </c:ext>
            </c:extLst>
          </c:dPt>
          <c:dPt>
            <c:idx val="12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C-4F40-4688-B62D-6A6FE35F0F20}"/>
              </c:ext>
            </c:extLst>
          </c:dPt>
          <c:dPt>
            <c:idx val="13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D-4F40-4688-B62D-6A6FE35F0F20}"/>
              </c:ext>
            </c:extLst>
          </c:dPt>
          <c:val>
            <c:numRef>
              <c:f>Sheet1!$A$1:$N$1</c:f>
              <c:numCache>
                <c:formatCode>General</c:formatCode>
                <c:ptCount val="14"/>
                <c:pt idx="0">
                  <c:v>2064.9069000000004</c:v>
                </c:pt>
                <c:pt idx="1">
                  <c:v>2220.3300000000004</c:v>
                </c:pt>
                <c:pt idx="2">
                  <c:v>2520</c:v>
                </c:pt>
                <c:pt idx="3">
                  <c:v>2714</c:v>
                </c:pt>
                <c:pt idx="4">
                  <c:v>2879</c:v>
                </c:pt>
                <c:pt idx="5">
                  <c:v>3089</c:v>
                </c:pt>
                <c:pt idx="6">
                  <c:v>3032</c:v>
                </c:pt>
                <c:pt idx="7">
                  <c:v>3035</c:v>
                </c:pt>
                <c:pt idx="8">
                  <c:v>2822</c:v>
                </c:pt>
                <c:pt idx="9">
                  <c:v>2770</c:v>
                </c:pt>
                <c:pt idx="10">
                  <c:v>2935.1874360322581</c:v>
                </c:pt>
                <c:pt idx="11">
                  <c:v>3197.1255558219436</c:v>
                </c:pt>
                <c:pt idx="12">
                  <c:v>3803.1560937609493</c:v>
                </c:pt>
                <c:pt idx="13">
                  <c:v>3803.1560937609493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E-4F40-4688-B62D-6A6FE35F0F20}"/>
            </c:ext>
          </c:extLst>
        </c:ser>
        <c:ser>
          <c:idx val="1"/>
          <c:order val="1"/>
          <c:spPr>
            <a:ln w="28575" cmpd="sng" algn="ctr">
              <a:solidFill>
                <a:srgbClr val="FF452C"/>
              </a:solidFill>
              <a:prstDash val="solid"/>
            </a:ln>
          </c:spPr>
          <c:marker>
            <c:symbol val="none"/>
          </c:marker>
          <c:dPt>
            <c:idx val="0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F-4F40-4688-B62D-6A6FE35F0F20}"/>
              </c:ext>
            </c:extLst>
          </c:dPt>
          <c:dPt>
            <c:idx val="1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0-4F40-4688-B62D-6A6FE35F0F20}"/>
              </c:ext>
            </c:extLst>
          </c:dPt>
          <c:dPt>
            <c:idx val="2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1-4F40-4688-B62D-6A6FE35F0F20}"/>
              </c:ext>
            </c:extLst>
          </c:dPt>
          <c:dPt>
            <c:idx val="3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2-4F40-4688-B62D-6A6FE35F0F20}"/>
              </c:ext>
            </c:extLst>
          </c:dPt>
          <c:dPt>
            <c:idx val="4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3-4F40-4688-B62D-6A6FE35F0F20}"/>
              </c:ext>
            </c:extLst>
          </c:dPt>
          <c:dPt>
            <c:idx val="5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4-4F40-4688-B62D-6A6FE35F0F20}"/>
              </c:ext>
            </c:extLst>
          </c:dPt>
          <c:dPt>
            <c:idx val="6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5-4F40-4688-B62D-6A6FE35F0F20}"/>
              </c:ext>
            </c:extLst>
          </c:dPt>
          <c:dPt>
            <c:idx val="7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6-4F40-4688-B62D-6A6FE35F0F20}"/>
              </c:ext>
            </c:extLst>
          </c:dPt>
          <c:dPt>
            <c:idx val="8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7-4F40-4688-B62D-6A6FE35F0F20}"/>
              </c:ext>
            </c:extLst>
          </c:dPt>
          <c:dPt>
            <c:idx val="9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8-4F40-4688-B62D-6A6FE35F0F20}"/>
              </c:ext>
            </c:extLst>
          </c:dPt>
          <c:dPt>
            <c:idx val="10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9-4F40-4688-B62D-6A6FE35F0F20}"/>
              </c:ext>
            </c:extLst>
          </c:dPt>
          <c:dPt>
            <c:idx val="11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A-4F40-4688-B62D-6A6FE35F0F20}"/>
              </c:ext>
            </c:extLst>
          </c:dPt>
          <c:dPt>
            <c:idx val="12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B-4F40-4688-B62D-6A6FE35F0F20}"/>
              </c:ext>
            </c:extLst>
          </c:dPt>
          <c:dPt>
            <c:idx val="13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C-4F40-4688-B62D-6A6FE35F0F20}"/>
              </c:ext>
            </c:extLst>
          </c:dPt>
          <c:val>
            <c:numRef>
              <c:f>Sheet1!$A$2:$N$2</c:f>
              <c:numCache>
                <c:formatCode>General</c:formatCode>
                <c:ptCount val="14"/>
                <c:pt idx="0">
                  <c:v>3803.1560937609493</c:v>
                </c:pt>
                <c:pt idx="1">
                  <c:v>4485.5951540326369</c:v>
                </c:pt>
                <c:pt idx="2">
                  <c:v>4985.3374382022221</c:v>
                </c:pt>
                <c:pt idx="3">
                  <c:v>5174.1840321726031</c:v>
                </c:pt>
                <c:pt idx="4">
                  <c:v>5319.4200494762244</c:v>
                </c:pt>
                <c:pt idx="5">
                  <c:v>5531.6556602699802</c:v>
                </c:pt>
                <c:pt idx="6">
                  <c:v>5507.7149704813992</c:v>
                </c:pt>
                <c:pt idx="7">
                  <c:v>4958.7361989237006</c:v>
                </c:pt>
                <c:pt idx="8">
                  <c:v>3138.6863685870048</c:v>
                </c:pt>
                <c:pt idx="9">
                  <c:v>2660.379726707607</c:v>
                </c:pt>
                <c:pt idx="10">
                  <c:v>2874.2128847076069</c:v>
                </c:pt>
                <c:pt idx="11">
                  <c:v>3194.8185467625717</c:v>
                </c:pt>
                <c:pt idx="12">
                  <c:v>3913.2109080715336</c:v>
                </c:pt>
                <c:pt idx="13">
                  <c:v>3913.2109080715336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1D-4F40-4688-B62D-6A6FE35F0F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24968880"/>
        <c:axId val="1"/>
      </c:lineChart>
      <c:catAx>
        <c:axId val="1124968880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6000"/>
          <c:min val="150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crossAx val="1124968880"/>
        <c:crosses val="min"/>
        <c:crossBetween val="midCat"/>
      </c:valAx>
    </c:plotArea>
    <c:plotVisOnly val="0"/>
    <c:dispBlanksAs val="gap"/>
    <c:showDLblsOverMax val="1"/>
  </c:chart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4157364552137218E-2"/>
          <c:y val="0.26473859844271413"/>
          <c:w val="0.97168527089572554"/>
          <c:h val="0.54838709677419351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D6D7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3537263626251390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85D4-4FD3-9D32-017A516D597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2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5D4-4FD3-9D32-017A516D5975}"/>
            </c:ext>
          </c:extLst>
        </c:ser>
        <c:ser>
          <c:idx val="1"/>
          <c:order val="1"/>
          <c:spPr>
            <a:solidFill>
              <a:srgbClr val="FF452C"/>
            </a:solidFill>
            <a:ln>
              <a:noFill/>
            </a:ln>
          </c:spPr>
          <c:invertIfNegative val="0"/>
          <c:val>
            <c:numRef>
              <c:f>Sheet1!$A$2:$C$2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5D4-4FD3-9D32-017A516D59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100948016"/>
        <c:axId val="1"/>
      </c:barChart>
      <c:catAx>
        <c:axId val="110094801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10094801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Лист1!$A$2:$A$5</cx:f>
        <cx:lvl ptCount="4"/>
      </cx:strDim>
      <cx:numDim type="val">
        <cx:f>Лист1!$B$2:$B$5</cx:f>
        <cx:lvl ptCount="4" formatCode="Основной">
          <cx:pt idx="0">312</cx:pt>
          <cx:pt idx="1">128</cx:pt>
          <cx:pt idx="2">-75</cx:pt>
          <cx:pt idx="3">365</cx:pt>
        </cx:lvl>
      </cx:numDim>
    </cx:data>
  </cx:chartData>
  <cx:chart>
    <cx:plotArea>
      <cx:plotAreaRegion>
        <cx:series layoutId="waterfall" uniqueId="{B2F340B9-53C5-3D4B-84F1-5831BAA83349}">
          <cx:tx>
            <cx:txData>
              <cx:f>Лист1!$B$1</cx:f>
              <cx:v>Ряд 1</cx:v>
            </cx:txData>
          </cx:tx>
          <cx:dataPt idx="0">
            <cx:spPr>
              <a:solidFill>
                <a:srgbClr val="FFFFFF">
                  <a:lumMod val="75000"/>
                </a:srgbClr>
              </a:solidFill>
            </cx:spPr>
          </cx:dataPt>
          <cx:dataPt idx="2">
            <cx:spPr>
              <a:solidFill>
                <a:srgbClr val="00B050"/>
              </a:solidFill>
            </cx:spPr>
          </cx:dataPt>
          <cx:dataPt idx="3">
            <cx:spPr>
              <a:solidFill>
                <a:srgbClr val="FFFFFF">
                  <a:lumMod val="65000"/>
                </a:srgbClr>
              </a:solidFill>
            </cx:spPr>
          </cx:dataPt>
          <cx:dataLabels pos="inEnd"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>
                    <a:solidFill>
                      <a:schemeClr val="tx1"/>
                    </a:solidFill>
                  </a:defRPr>
                </a:pPr>
                <a:endParaRPr lang="ru-RU" sz="1197" b="0" i="0" u="none" strike="noStrike" baseline="0">
                  <a:solidFill>
                    <a:schemeClr val="tx1"/>
                  </a:solidFill>
                  <a:latin typeface="Arial" panose="020B0604020202020204"/>
                </a:endParaRPr>
              </a:p>
            </cx:txPr>
            <cx:visibility seriesName="0" categoryName="0" value="1"/>
          </cx:dataLabels>
          <cx:dataId val="0"/>
          <cx:layoutPr>
            <cx:subtotals>
              <cx:idx val="3"/>
            </cx:subtotals>
          </cx:layoutPr>
        </cx:series>
      </cx:plotAreaRegion>
      <cx:axis id="0">
        <cx:catScaling gapWidth="0.5"/>
        <cx:tickLabels/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 sz="1000"/>
            </a:pPr>
            <a:endParaRPr lang="ru-RU" sz="1000" b="0" i="0" u="none" strike="noStrike" baseline="0">
              <a:solidFill>
                <a:srgbClr val="000000">
                  <a:lumMod val="65000"/>
                  <a:lumOff val="35000"/>
                </a:srgbClr>
              </a:solidFill>
              <a:latin typeface="Arial" panose="020B0604020202020204"/>
            </a:endParaRPr>
          </a:p>
        </cx:txPr>
      </cx:axis>
      <cx:axis id="1" hidden="1">
        <cx:valScaling/>
        <cx:majorGridlines/>
        <cx:tickLabels/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509E16-A88B-8B44-9AED-5D26A22D5264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19F212-A752-C14B-A109-423296A66E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7195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323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C2E3D-CD9C-A017-E9AB-4511C1AFB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09528A0-348B-54EA-87C0-0CE9D800DE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706F41C-DFAE-3875-4751-754EF17E18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628A4F3-6122-9CEE-A761-19AC6657A1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01998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2D701-3988-49D2-2C0F-3C141BE57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D9A475F-497B-245D-A83A-EEEA350738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E5D6C75-E729-6F87-F002-36BF3C8C7C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DF87825-6EA4-BEF4-9586-E9277B5963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92302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95693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323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323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323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19F212-A752-C14B-A109-423296A66E50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41879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F740D-8434-9CAE-94AE-0F34A7786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628CB2C-095B-7E17-3692-8D4EF2EC72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DAAC6FF-4F18-0584-CDDD-C2B7834684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16BC996-2B37-E1F9-66B9-20155FA64A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47724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41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43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45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46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47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48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49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50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51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52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54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55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323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19F212-A752-C14B-A109-423296A66E50}" type="slidenum">
              <a:rPr lang="ru-RU" smtClean="0"/>
              <a:t>57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677372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38A29-48E2-5F53-701D-5DEED2CE6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1345383-AD98-70F9-17DF-4BC8FABAFE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FDA731E-DD81-0A4C-C2BB-4D7FFADE5C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BF2E0BD-1D31-12D3-9EDA-DA2FB2941C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58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178321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D4DE14-7C29-47E9-9897-4D374DDC2AC0}" type="slidenum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036273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6C69A-D2CD-5F88-FE9E-DD35F8B69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AD39F4E-FDE3-E376-26F0-0D212A6A41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7A2DB9F-3B0E-D2CF-6E0A-ECC60B9F63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E00A2FF-DC50-FAE3-176F-2BB054D363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63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439494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F8F41-60F8-05FE-3B8F-C5CCCB8D4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59776D0-EF0E-D512-148A-149EB6BCB5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0DBC295-9432-81E4-E132-5A83DE7784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96200AF-C5BF-0FF8-89EC-1AD7325D09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64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219716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37F0D-F71E-510A-0D7D-E70E9F2B0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6107D10-547B-CC91-45B3-751DA0BAB8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E791887-A282-8A08-FA0C-F1B873E68F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F6D99DC-91D7-6C23-1401-37D8F50C30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65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137856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7d7cd5f64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7d7cd5f648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/>
          </a:p>
        </p:txBody>
      </p:sp>
      <p:sp>
        <p:nvSpPr>
          <p:cNvPr id="268" name="Google Shape;268;g37d7cd5f648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66</a:t>
            </a:fld>
            <a:endParaRPr lang="ru-RU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h3baecf588baa0b1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h3baecf588baa0b1b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/>
          </a:p>
        </p:txBody>
      </p:sp>
      <p:sp>
        <p:nvSpPr>
          <p:cNvPr id="283" name="Google Shape;283;h3baecf588baa0b1b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67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3.png"/><Relationship Id="rId4" Type="http://schemas.openxmlformats.org/officeDocument/2006/relationships/image" Target="../media/image4.em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_Обложка">
    <p:bg>
      <p:bgPr>
        <a:solidFill>
          <a:srgbClr val="091E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A352461-ED9D-49E8-A227-4BE396B7BB0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A352461-ED9D-49E8-A227-4BE396B7BB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E5C9D1B3-9449-1E35-A4F9-B27E63F23C3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Текст 8">
            <a:extLst>
              <a:ext uri="{FF2B5EF4-FFF2-40B4-BE49-F238E27FC236}">
                <a16:creationId xmlns:a16="http://schemas.microsoft.com/office/drawing/2014/main" id="{77C6AA7E-B9EC-D689-A34D-26514F873C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65324" y="6039859"/>
            <a:ext cx="4383751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Дата. Шрифт </a:t>
            </a:r>
            <a:r>
              <a:rPr lang="en-US"/>
              <a:t>Arial Regular 12</a:t>
            </a:r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2E6B423-8860-5583-7550-8185EF9884D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0862" y="5684181"/>
            <a:ext cx="2631725" cy="822101"/>
          </a:xfrm>
          <a:prstGeom prst="rect">
            <a:avLst/>
          </a:prstGeom>
        </p:spPr>
      </p:pic>
      <p:sp>
        <p:nvSpPr>
          <p:cNvPr id="7" name="Текст 5">
            <a:extLst>
              <a:ext uri="{FF2B5EF4-FFF2-40B4-BE49-F238E27FC236}">
                <a16:creationId xmlns:a16="http://schemas.microsoft.com/office/drawing/2014/main" id="{1661DD3A-AD3B-4577-8E6F-0575534B65F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1514475"/>
            <a:ext cx="11098211" cy="20955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ru-RU"/>
              <a:t>Заголовок презентации</a:t>
            </a:r>
          </a:p>
          <a:p>
            <a:r>
              <a:rPr lang="ru-RU"/>
              <a:t>в несколько строк</a:t>
            </a:r>
          </a:p>
          <a:p>
            <a:r>
              <a:rPr lang="ru-RU"/>
              <a:t>Шрифт </a:t>
            </a:r>
            <a:r>
              <a:rPr lang="en-US"/>
              <a:t>Arial Bold </a:t>
            </a:r>
            <a:r>
              <a:rPr lang="ru-RU"/>
              <a:t>50</a:t>
            </a:r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EFFB686D-4A94-40E6-894F-ABB96ADE7A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4" y="3827102"/>
            <a:ext cx="5484812" cy="126089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defRPr sz="18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/>
              <a:t>Имя Фамилия </a:t>
            </a:r>
            <a:br>
              <a:rPr lang="en-US" dirty="0"/>
            </a:br>
            <a:r>
              <a:rPr lang="ru-RU"/>
              <a:t>Шрифт </a:t>
            </a:r>
            <a:r>
              <a:rPr lang="en-US"/>
              <a:t>Arial Regular </a:t>
            </a:r>
            <a:r>
              <a:rPr lang="ru-RU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0835539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Внутренняя страница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4D6B520-E496-4DE7-A7EA-039CB24155C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D6B520-E496-4DE7-A7EA-039CB24155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Текст 3">
            <a:extLst>
              <a:ext uri="{FF2B5EF4-FFF2-40B4-BE49-F238E27FC236}">
                <a16:creationId xmlns:a16="http://schemas.microsoft.com/office/drawing/2014/main" id="{F4EADE36-7228-4328-B953-053A78FFB65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19251" y="6238124"/>
            <a:ext cx="9277350" cy="391275"/>
          </a:xfrm>
          <a:prstGeom prst="rect">
            <a:avLst/>
          </a:prstGeom>
        </p:spPr>
        <p:txBody>
          <a:bodyPr lIns="0" t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/>
              <a:t>Сноска. Шрифт </a:t>
            </a:r>
            <a:r>
              <a:rPr lang="en-US"/>
              <a:t>Arial Regular </a:t>
            </a:r>
            <a:r>
              <a:rPr lang="ru-RU"/>
              <a:t>9</a:t>
            </a:r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B17D90FF-1B5F-46FE-8880-4FF59512C9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7D41D6-7756-D84E-A787-9DAD2BF0F149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Текст 5">
            <a:extLst>
              <a:ext uri="{FF2B5EF4-FFF2-40B4-BE49-F238E27FC236}">
                <a16:creationId xmlns:a16="http://schemas.microsoft.com/office/drawing/2014/main" id="{AC2FBA2D-C41D-4879-85FA-C8B9BDB2A7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4176" y="225092"/>
            <a:ext cx="10594970" cy="66073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0"/>
              </a:spcBef>
              <a:defRPr sz="24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ru-RU"/>
              <a:t>Заголовок слайда в две строки</a:t>
            </a:r>
            <a:br>
              <a:rPr lang="ru-RU" dirty="0"/>
            </a:br>
            <a:r>
              <a:rPr lang="ru-RU"/>
              <a:t>Шрифт </a:t>
            </a:r>
            <a:r>
              <a:rPr lang="en-US"/>
              <a:t>Arial Bold </a:t>
            </a:r>
            <a:r>
              <a:rPr lang="ru-RU"/>
              <a:t>24</a:t>
            </a:r>
          </a:p>
        </p:txBody>
      </p:sp>
      <p:pic>
        <p:nvPicPr>
          <p:cNvPr id="5" name="Google Shape;329;p48">
            <a:extLst>
              <a:ext uri="{FF2B5EF4-FFF2-40B4-BE49-F238E27FC236}">
                <a16:creationId xmlns:a16="http://schemas.microsoft.com/office/drawing/2014/main" id="{C2310AFE-C757-48FC-8C89-768B12B79D26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32015" b="29633"/>
          <a:stretch/>
        </p:blipFill>
        <p:spPr>
          <a:xfrm>
            <a:off x="10959145" y="210404"/>
            <a:ext cx="868680" cy="3331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174354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 слайд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2">
            <a:extLst>
              <a:ext uri="{FF2B5EF4-FFF2-40B4-BE49-F238E27FC236}">
                <a16:creationId xmlns:a16="http://schemas.microsoft.com/office/drawing/2014/main" id="{E7EE3C8A-F97F-2E6D-D5C4-E85ADD7938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74252" y="6429889"/>
            <a:ext cx="625661" cy="199509"/>
          </a:xfrm>
          <a:prstGeom prst="rect">
            <a:avLst/>
          </a:prstGeom>
        </p:spPr>
        <p:txBody>
          <a:bodyPr/>
          <a:lstStyle>
            <a:lvl1pPr algn="ctr">
              <a:defRPr sz="1000" b="0">
                <a:solidFill>
                  <a:srgbClr val="E30613"/>
                </a:solidFill>
                <a:latin typeface="Montserrat Medium" pitchFamily="2" charset="-52"/>
              </a:defRPr>
            </a:lvl1pPr>
          </a:lstStyle>
          <a:p>
            <a:fld id="{527D41D6-7756-D84E-A787-9DAD2BF0F149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3" name="Текст 3">
            <a:extLst>
              <a:ext uri="{FF2B5EF4-FFF2-40B4-BE49-F238E27FC236}">
                <a16:creationId xmlns:a16="http://schemas.microsoft.com/office/drawing/2014/main" id="{BA81D881-30B5-EEEF-623E-FCB08A74A52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94185" y="169335"/>
            <a:ext cx="11805728" cy="976420"/>
          </a:xfrm>
          <a:prstGeom prst="rect">
            <a:avLst/>
          </a:prstGeom>
        </p:spPr>
        <p:txBody>
          <a:bodyPr lIns="0" rIns="0"/>
          <a:lstStyle>
            <a:lvl1pPr marL="0" indent="0">
              <a:lnSpc>
                <a:spcPts val="3667"/>
              </a:lnSpc>
              <a:spcBef>
                <a:spcPts val="0"/>
              </a:spcBef>
              <a:buNone/>
              <a:defRPr sz="3334" b="1">
                <a:solidFill>
                  <a:srgbClr val="E30613"/>
                </a:solidFill>
                <a:latin typeface="Arha Magnit" panose="020B0503030408080203" pitchFamily="34" charset="0"/>
                <a:ea typeface="Arha Magnit" panose="020B0503030408080203" pitchFamily="34" charset="0"/>
              </a:defRPr>
            </a:lvl1pPr>
            <a:lvl2pPr>
              <a:defRPr>
                <a:solidFill>
                  <a:srgbClr val="E30613"/>
                </a:solidFill>
              </a:defRPr>
            </a:lvl2pPr>
            <a:lvl3pPr>
              <a:defRPr>
                <a:solidFill>
                  <a:srgbClr val="E30613"/>
                </a:solidFill>
              </a:defRPr>
            </a:lvl3pPr>
            <a:lvl4pPr>
              <a:defRPr>
                <a:solidFill>
                  <a:srgbClr val="E30613"/>
                </a:solidFill>
              </a:defRPr>
            </a:lvl4pPr>
            <a:lvl5pPr>
              <a:defRPr>
                <a:solidFill>
                  <a:srgbClr val="E30613"/>
                </a:solidFill>
              </a:defRPr>
            </a:lvl5pPr>
          </a:lstStyle>
          <a:p>
            <a:pPr lvl="0"/>
            <a:r>
              <a:rPr lang="ru-RU">
                <a:effectLst/>
              </a:rPr>
              <a:t>Действуй смело</a:t>
            </a:r>
          </a:p>
          <a:p>
            <a:pPr lvl="0"/>
            <a:r>
              <a:rPr lang="ru-RU">
                <a:effectLst/>
              </a:rPr>
              <a:t>Достигай невозможного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7DD5DBD3-9CA8-4504-9712-DECDFE190FF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7433" y="6432036"/>
            <a:ext cx="3600000" cy="197362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000">
                <a:solidFill>
                  <a:schemeClr val="tx1"/>
                </a:solidFill>
                <a:latin typeface="Montserrat" panose="00000500000000000000" pitchFamily="2" charset="-52"/>
              </a:defRPr>
            </a:lvl1pPr>
            <a:lvl2pPr algn="r">
              <a:defRPr sz="1600">
                <a:solidFill>
                  <a:srgbClr val="E30613"/>
                </a:solidFill>
                <a:latin typeface="Montserrat Medium" pitchFamily="2" charset="-52"/>
              </a:defRPr>
            </a:lvl2pPr>
            <a:lvl3pPr algn="r">
              <a:defRPr sz="1600">
                <a:solidFill>
                  <a:srgbClr val="E30613"/>
                </a:solidFill>
                <a:latin typeface="Montserrat Medium" pitchFamily="2" charset="-52"/>
              </a:defRPr>
            </a:lvl3pPr>
            <a:lvl4pPr algn="r">
              <a:defRPr sz="1600">
                <a:solidFill>
                  <a:srgbClr val="E30613"/>
                </a:solidFill>
                <a:latin typeface="Montserrat Medium" pitchFamily="2" charset="-52"/>
              </a:defRPr>
            </a:lvl4pPr>
            <a:lvl5pPr algn="r">
              <a:defRPr sz="1600">
                <a:solidFill>
                  <a:srgbClr val="E30613"/>
                </a:solidFill>
                <a:latin typeface="Montserrat Medium" pitchFamily="2" charset="-52"/>
              </a:defRPr>
            </a:lvl5pPr>
          </a:lstStyle>
          <a:p>
            <a:pPr lvl="0"/>
            <a:r>
              <a:rPr lang="ru-RU">
                <a:effectLst/>
              </a:rPr>
              <a:t>Тема презентации. Название раздела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412809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7559">
          <p15:clr>
            <a:srgbClr val="FBAE40"/>
          </p15:clr>
        </p15:guide>
        <p15:guide id="4" pos="12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3">
            <a:extLst>
              <a:ext uri="{FF2B5EF4-FFF2-40B4-BE49-F238E27FC236}">
                <a16:creationId xmlns:a16="http://schemas.microsoft.com/office/drawing/2014/main" id="{3F49912F-EE8E-4169-AE5E-6E7066A7994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3781" y="224059"/>
            <a:ext cx="7957096" cy="9083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rgbClr val="E30613"/>
                </a:solidFill>
                <a:latin typeface="Montserrat Medium" panose="00000600000000000000" pitchFamily="2" charset="-52"/>
              </a:defRPr>
            </a:lvl1pPr>
            <a:lvl2pPr marL="457200" indent="0">
              <a:buNone/>
              <a:defRPr>
                <a:solidFill>
                  <a:srgbClr val="E30613"/>
                </a:solidFill>
                <a:latin typeface="Montserrat" panose="00000500000000000000" pitchFamily="2" charset="-52"/>
              </a:defRPr>
            </a:lvl2pPr>
            <a:lvl3pPr marL="914400" indent="0">
              <a:buNone/>
              <a:defRPr>
                <a:solidFill>
                  <a:srgbClr val="E30613"/>
                </a:solidFill>
                <a:latin typeface="Montserrat" panose="00000500000000000000" pitchFamily="2" charset="-52"/>
              </a:defRPr>
            </a:lvl3pPr>
            <a:lvl4pPr marL="1371600" indent="0">
              <a:buNone/>
              <a:defRPr>
                <a:solidFill>
                  <a:srgbClr val="E30613"/>
                </a:solidFill>
                <a:latin typeface="Montserrat" panose="00000500000000000000" pitchFamily="2" charset="-52"/>
              </a:defRPr>
            </a:lvl4pPr>
            <a:lvl5pPr marL="1828800" indent="0">
              <a:buNone/>
              <a:defRPr>
                <a:solidFill>
                  <a:srgbClr val="E30613"/>
                </a:solidFill>
                <a:latin typeface="Montserrat" panose="00000500000000000000" pitchFamily="2" charset="-52"/>
              </a:defRPr>
            </a:lvl5pPr>
          </a:lstStyle>
          <a:p>
            <a:pPr lvl="0"/>
            <a:r>
              <a:rPr lang="ru-RU"/>
              <a:t>ЗАГОЛОВОК СЛАЙДА В ДВЕ СТРОКИ.</a:t>
            </a:r>
            <a:r>
              <a:rPr lang="ru-RU"/>
              <a:t> </a:t>
            </a:r>
            <a:r>
              <a:rPr lang="ru-RU"/>
              <a:t>ШРИФТ </a:t>
            </a:r>
            <a:r>
              <a:rPr lang="en-US"/>
              <a:t>MONTSERRAT MEDIUM 24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3108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нутренняя страница_2">
  <p:cSld name="Внутренняя страница_2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5"/>
          <p:cNvSpPr txBox="1">
            <a:spLocks noGrp="1"/>
          </p:cNvSpPr>
          <p:nvPr>
            <p:ph type="body" idx="1"/>
          </p:nvPr>
        </p:nvSpPr>
        <p:spPr>
          <a:xfrm>
            <a:off x="542925" y="2328240"/>
            <a:ext cx="4075200" cy="3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16666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16666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16666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16666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ru-RU"/>
          </a:p>
        </p:txBody>
      </p:sp>
      <p:sp>
        <p:nvSpPr>
          <p:cNvPr id="190" name="Google Shape;190;p35"/>
          <p:cNvSpPr txBox="1">
            <a:spLocks noGrp="1"/>
          </p:cNvSpPr>
          <p:nvPr>
            <p:ph type="sldNum" idx="12"/>
          </p:nvPr>
        </p:nvSpPr>
        <p:spPr>
          <a:xfrm>
            <a:off x="11163300" y="6324600"/>
            <a:ext cx="4857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lang="ru-RU"/>
          </a:p>
        </p:txBody>
      </p:sp>
      <p:sp>
        <p:nvSpPr>
          <p:cNvPr id="191" name="Google Shape;191;p35"/>
          <p:cNvSpPr txBox="1">
            <a:spLocks noGrp="1"/>
          </p:cNvSpPr>
          <p:nvPr>
            <p:ph type="body" idx="2"/>
          </p:nvPr>
        </p:nvSpPr>
        <p:spPr>
          <a:xfrm>
            <a:off x="550863" y="512763"/>
            <a:ext cx="4078200" cy="126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ru-RU"/>
          </a:p>
        </p:txBody>
      </p:sp>
      <p:sp>
        <p:nvSpPr>
          <p:cNvPr id="192" name="Google Shape;192;p35"/>
          <p:cNvSpPr>
            <a:spLocks noGrp="1"/>
          </p:cNvSpPr>
          <p:nvPr>
            <p:ph type="pic" idx="3"/>
          </p:nvPr>
        </p:nvSpPr>
        <p:spPr>
          <a:xfrm>
            <a:off x="6172200" y="527050"/>
            <a:ext cx="5476800" cy="2822700"/>
          </a:xfrm>
          <a:prstGeom prst="rect">
            <a:avLst/>
          </a:prstGeom>
          <a:noFill/>
          <a:ln>
            <a:noFill/>
          </a:ln>
        </p:spPr>
      </p:sp>
      <p:sp>
        <p:nvSpPr>
          <p:cNvPr id="193" name="Google Shape;193;p35"/>
          <p:cNvSpPr>
            <a:spLocks noGrp="1"/>
          </p:cNvSpPr>
          <p:nvPr>
            <p:ph type="pic" idx="4"/>
          </p:nvPr>
        </p:nvSpPr>
        <p:spPr>
          <a:xfrm>
            <a:off x="6172200" y="3486150"/>
            <a:ext cx="5476800" cy="2844900"/>
          </a:xfrm>
          <a:prstGeom prst="rect">
            <a:avLst/>
          </a:prstGeom>
          <a:noFill/>
          <a:ln>
            <a:noFill/>
          </a:ln>
        </p:spPr>
      </p:sp>
      <p:sp>
        <p:nvSpPr>
          <p:cNvPr id="194" name="Google Shape;194;p35"/>
          <p:cNvSpPr txBox="1">
            <a:spLocks noGrp="1"/>
          </p:cNvSpPr>
          <p:nvPr>
            <p:ph type="body" idx="5"/>
          </p:nvPr>
        </p:nvSpPr>
        <p:spPr>
          <a:xfrm>
            <a:off x="1860895" y="6447674"/>
            <a:ext cx="39339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8681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нутренняя страница_6">
  <p:cSld name="Внутренняя страница_6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>
            <a:spLocks noGrp="1"/>
          </p:cNvSpPr>
          <p:nvPr>
            <p:ph type="sldNum" idx="12"/>
          </p:nvPr>
        </p:nvSpPr>
        <p:spPr>
          <a:xfrm>
            <a:off x="11155362" y="6362700"/>
            <a:ext cx="4857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lang="ru-RU"/>
          </a:p>
        </p:txBody>
      </p:sp>
      <p:sp>
        <p:nvSpPr>
          <p:cNvPr id="75" name="Google Shape;75;p13"/>
          <p:cNvSpPr txBox="1">
            <a:spLocks noGrp="1"/>
          </p:cNvSpPr>
          <p:nvPr>
            <p:ph type="body" idx="1"/>
          </p:nvPr>
        </p:nvSpPr>
        <p:spPr>
          <a:xfrm>
            <a:off x="554037" y="1934651"/>
            <a:ext cx="4075113" cy="2144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16666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6666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6666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6666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ru-RU"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2"/>
          </p:nvPr>
        </p:nvSpPr>
        <p:spPr>
          <a:xfrm>
            <a:off x="550863" y="512763"/>
            <a:ext cx="11090274" cy="12608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ru-RU"/>
          </a:p>
        </p:txBody>
      </p:sp>
      <p:sp>
        <p:nvSpPr>
          <p:cNvPr id="77" name="Google Shape;77;p13"/>
          <p:cNvSpPr txBox="1">
            <a:spLocks noGrp="1"/>
          </p:cNvSpPr>
          <p:nvPr>
            <p:ph type="body" idx="3"/>
          </p:nvPr>
        </p:nvSpPr>
        <p:spPr>
          <a:xfrm>
            <a:off x="1860895" y="6447674"/>
            <a:ext cx="39338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7123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DF0275F-82EB-4AF8-93F2-E32D2E3F4A0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25" imgH="426" progId="TCLayout.ActiveDocument.1">
                  <p:embed/>
                </p:oleObj>
              </mc:Choice>
              <mc:Fallback>
                <p:oleObj name="think-cell Slide" r:id="rId9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DF0275F-82EB-4AF8-93F2-E32D2E3F4A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EC4ABD1C-F459-2C26-F2B9-9BA713F071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5362" y="6362700"/>
            <a:ext cx="485775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7D41D6-7756-D84E-A787-9DAD2BF0F149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1C2BBA4-A98A-7E39-4BDE-05CCE102983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64175" y="6260830"/>
            <a:ext cx="1179870" cy="368569"/>
          </a:xfrm>
          <a:prstGeom prst="rect">
            <a:avLst/>
          </a:prstGeom>
        </p:spPr>
      </p:pic>
      <p:pic>
        <p:nvPicPr>
          <p:cNvPr id="6" name="Google Shape;329;p48">
            <a:extLst>
              <a:ext uri="{FF2B5EF4-FFF2-40B4-BE49-F238E27FC236}">
                <a16:creationId xmlns:a16="http://schemas.microsoft.com/office/drawing/2014/main" id="{E1B4E335-9445-4D22-A1BC-8334344EE35A}"/>
              </a:ext>
            </a:extLst>
          </p:cNvPr>
          <p:cNvPicPr preferRelativeResize="0"/>
          <p:nvPr userDrawn="1"/>
        </p:nvPicPr>
        <p:blipFill rotWithShape="1">
          <a:blip r:embed="rId12">
            <a:alphaModFix/>
          </a:blip>
          <a:srcRect t="32015" b="29633"/>
          <a:stretch/>
        </p:blipFill>
        <p:spPr>
          <a:xfrm>
            <a:off x="10959145" y="210404"/>
            <a:ext cx="868680" cy="3331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30710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74" r:id="rId2"/>
    <p:sldLayoutId id="2147483675" r:id="rId3"/>
    <p:sldLayoutId id="2147483676" r:id="rId4"/>
    <p:sldLayoutId id="2147483677" r:id="rId5"/>
    <p:sldLayoutId id="2147483678" r:id="rId6"/>
  </p:sldLayoutIdLst>
  <p:hf hdr="0" ft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354" rtl="0" eaLnBrk="1" latinLnBrk="0" hangingPunct="1">
        <a:lnSpc>
          <a:spcPct val="90000"/>
        </a:lnSpc>
        <a:spcBef>
          <a:spcPts val="1000"/>
        </a:spcBef>
        <a:buFontTx/>
        <a:buNone/>
        <a:defRPr sz="2000" kern="1200">
          <a:solidFill>
            <a:schemeClr val="accent3"/>
          </a:solidFill>
          <a:latin typeface="+mn-lt"/>
          <a:ea typeface="+mn-ea"/>
          <a:cs typeface="+mn-cs"/>
        </a:defRPr>
      </a:lvl1pPr>
      <a:lvl2pPr marL="457178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47">
          <p15:clr>
            <a:srgbClr val="F26B43"/>
          </p15:clr>
        </p15:guide>
        <p15:guide id="4" orient="horz" pos="4156">
          <p15:clr>
            <a:srgbClr val="F26B43"/>
          </p15:clr>
        </p15:guide>
        <p15:guide id="5" orient="horz" pos="323">
          <p15:clr>
            <a:srgbClr val="F26B43"/>
          </p15:clr>
        </p15:guide>
        <p15:guide id="7" pos="1148">
          <p15:clr>
            <a:srgbClr val="F26B43"/>
          </p15:clr>
        </p15:guide>
        <p15:guide id="8" pos="1236">
          <p15:clr>
            <a:srgbClr val="F26B43"/>
          </p15:clr>
        </p15:guide>
        <p15:guide id="10" pos="2032">
          <p15:clr>
            <a:srgbClr val="F26B43"/>
          </p15:clr>
        </p15:guide>
        <p15:guide id="11" pos="2120">
          <p15:clr>
            <a:srgbClr val="F26B43"/>
          </p15:clr>
        </p15:guide>
        <p15:guide id="13" pos="2916">
          <p15:clr>
            <a:srgbClr val="F26B43"/>
          </p15:clr>
        </p15:guide>
        <p15:guide id="14" pos="3004">
          <p15:clr>
            <a:srgbClr val="F26B43"/>
          </p15:clr>
        </p15:guide>
        <p15:guide id="16" pos="3802">
          <p15:clr>
            <a:srgbClr val="F26B43"/>
          </p15:clr>
        </p15:guide>
        <p15:guide id="17" pos="7338">
          <p15:clr>
            <a:srgbClr val="F26B43"/>
          </p15:clr>
        </p15:guide>
        <p15:guide id="19" pos="6538">
          <p15:clr>
            <a:srgbClr val="F26B43"/>
          </p15:clr>
        </p15:guide>
        <p15:guide id="20" pos="6452">
          <p15:clr>
            <a:srgbClr val="F26B43"/>
          </p15:clr>
        </p15:guide>
        <p15:guide id="22" pos="5656">
          <p15:clr>
            <a:srgbClr val="F26B43"/>
          </p15:clr>
        </p15:guide>
        <p15:guide id="23" pos="5568">
          <p15:clr>
            <a:srgbClr val="F26B43"/>
          </p15:clr>
        </p15:guide>
        <p15:guide id="25" pos="4770">
          <p15:clr>
            <a:srgbClr val="F26B43"/>
          </p15:clr>
        </p15:guide>
        <p15:guide id="26" pos="4684">
          <p15:clr>
            <a:srgbClr val="F26B43"/>
          </p15:clr>
        </p15:guide>
        <p15:guide id="28" pos="3888">
          <p15:clr>
            <a:srgbClr val="F26B43"/>
          </p15:clr>
        </p15:guide>
        <p15:guide id="39" orient="horz" pos="39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5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tags" Target="../tags/tag22.xml"/><Relationship Id="rId18" Type="http://schemas.openxmlformats.org/officeDocument/2006/relationships/tags" Target="../tags/tag27.xml"/><Relationship Id="rId26" Type="http://schemas.openxmlformats.org/officeDocument/2006/relationships/tags" Target="../tags/tag35.xml"/><Relationship Id="rId3" Type="http://schemas.openxmlformats.org/officeDocument/2006/relationships/tags" Target="../tags/tag12.xml"/><Relationship Id="rId21" Type="http://schemas.openxmlformats.org/officeDocument/2006/relationships/tags" Target="../tags/tag30.xml"/><Relationship Id="rId34" Type="http://schemas.openxmlformats.org/officeDocument/2006/relationships/slideLayout" Target="../slideLayouts/slideLayout2.xml"/><Relationship Id="rId7" Type="http://schemas.openxmlformats.org/officeDocument/2006/relationships/tags" Target="../tags/tag16.xml"/><Relationship Id="rId12" Type="http://schemas.openxmlformats.org/officeDocument/2006/relationships/tags" Target="../tags/tag21.xml"/><Relationship Id="rId17" Type="http://schemas.openxmlformats.org/officeDocument/2006/relationships/tags" Target="../tags/tag26.xml"/><Relationship Id="rId25" Type="http://schemas.openxmlformats.org/officeDocument/2006/relationships/tags" Target="../tags/tag34.xml"/><Relationship Id="rId33" Type="http://schemas.openxmlformats.org/officeDocument/2006/relationships/tags" Target="../tags/tag42.xml"/><Relationship Id="rId2" Type="http://schemas.openxmlformats.org/officeDocument/2006/relationships/tags" Target="../tags/tag11.xml"/><Relationship Id="rId16" Type="http://schemas.openxmlformats.org/officeDocument/2006/relationships/tags" Target="../tags/tag25.xml"/><Relationship Id="rId20" Type="http://schemas.openxmlformats.org/officeDocument/2006/relationships/tags" Target="../tags/tag29.xml"/><Relationship Id="rId29" Type="http://schemas.openxmlformats.org/officeDocument/2006/relationships/tags" Target="../tags/tag38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tags" Target="../tags/tag20.xml"/><Relationship Id="rId24" Type="http://schemas.openxmlformats.org/officeDocument/2006/relationships/tags" Target="../tags/tag33.xml"/><Relationship Id="rId32" Type="http://schemas.openxmlformats.org/officeDocument/2006/relationships/tags" Target="../tags/tag41.xml"/><Relationship Id="rId5" Type="http://schemas.openxmlformats.org/officeDocument/2006/relationships/tags" Target="../tags/tag14.xml"/><Relationship Id="rId15" Type="http://schemas.openxmlformats.org/officeDocument/2006/relationships/tags" Target="../tags/tag24.xml"/><Relationship Id="rId23" Type="http://schemas.openxmlformats.org/officeDocument/2006/relationships/tags" Target="../tags/tag32.xml"/><Relationship Id="rId28" Type="http://schemas.openxmlformats.org/officeDocument/2006/relationships/tags" Target="../tags/tag37.xml"/><Relationship Id="rId36" Type="http://schemas.openxmlformats.org/officeDocument/2006/relationships/chart" Target="../charts/chart2.xml"/><Relationship Id="rId10" Type="http://schemas.openxmlformats.org/officeDocument/2006/relationships/tags" Target="../tags/tag19.xml"/><Relationship Id="rId19" Type="http://schemas.openxmlformats.org/officeDocument/2006/relationships/tags" Target="../tags/tag28.xml"/><Relationship Id="rId31" Type="http://schemas.openxmlformats.org/officeDocument/2006/relationships/tags" Target="../tags/tag40.xml"/><Relationship Id="rId4" Type="http://schemas.openxmlformats.org/officeDocument/2006/relationships/tags" Target="../tags/tag13.xml"/><Relationship Id="rId9" Type="http://schemas.openxmlformats.org/officeDocument/2006/relationships/tags" Target="../tags/tag18.xml"/><Relationship Id="rId14" Type="http://schemas.openxmlformats.org/officeDocument/2006/relationships/tags" Target="../tags/tag23.xml"/><Relationship Id="rId22" Type="http://schemas.openxmlformats.org/officeDocument/2006/relationships/tags" Target="../tags/tag31.xml"/><Relationship Id="rId27" Type="http://schemas.openxmlformats.org/officeDocument/2006/relationships/tags" Target="../tags/tag36.xml"/><Relationship Id="rId30" Type="http://schemas.openxmlformats.org/officeDocument/2006/relationships/tags" Target="../tags/tag39.xml"/><Relationship Id="rId35" Type="http://schemas.openxmlformats.org/officeDocument/2006/relationships/chart" Target="../charts/chart1.xml"/><Relationship Id="rId8" Type="http://schemas.openxmlformats.org/officeDocument/2006/relationships/tags" Target="../tags/tag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3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tags" Target="../tags/tag56.xml"/><Relationship Id="rId18" Type="http://schemas.openxmlformats.org/officeDocument/2006/relationships/tags" Target="../tags/tag61.xml"/><Relationship Id="rId26" Type="http://schemas.openxmlformats.org/officeDocument/2006/relationships/tags" Target="../tags/tag69.xml"/><Relationship Id="rId39" Type="http://schemas.openxmlformats.org/officeDocument/2006/relationships/tags" Target="../tags/tag82.xml"/><Relationship Id="rId21" Type="http://schemas.openxmlformats.org/officeDocument/2006/relationships/tags" Target="../tags/tag64.xml"/><Relationship Id="rId34" Type="http://schemas.openxmlformats.org/officeDocument/2006/relationships/tags" Target="../tags/tag77.xml"/><Relationship Id="rId42" Type="http://schemas.openxmlformats.org/officeDocument/2006/relationships/tags" Target="../tags/tag85.xml"/><Relationship Id="rId47" Type="http://schemas.openxmlformats.org/officeDocument/2006/relationships/tags" Target="../tags/tag90.xml"/><Relationship Id="rId50" Type="http://schemas.openxmlformats.org/officeDocument/2006/relationships/tags" Target="../tags/tag93.xml"/><Relationship Id="rId55" Type="http://schemas.openxmlformats.org/officeDocument/2006/relationships/chart" Target="../charts/chart3.xml"/><Relationship Id="rId7" Type="http://schemas.openxmlformats.org/officeDocument/2006/relationships/tags" Target="../tags/tag50.xml"/><Relationship Id="rId2" Type="http://schemas.openxmlformats.org/officeDocument/2006/relationships/tags" Target="../tags/tag45.xml"/><Relationship Id="rId16" Type="http://schemas.openxmlformats.org/officeDocument/2006/relationships/tags" Target="../tags/tag59.xml"/><Relationship Id="rId29" Type="http://schemas.openxmlformats.org/officeDocument/2006/relationships/tags" Target="../tags/tag72.xml"/><Relationship Id="rId11" Type="http://schemas.openxmlformats.org/officeDocument/2006/relationships/tags" Target="../tags/tag54.xml"/><Relationship Id="rId24" Type="http://schemas.openxmlformats.org/officeDocument/2006/relationships/tags" Target="../tags/tag67.xml"/><Relationship Id="rId32" Type="http://schemas.openxmlformats.org/officeDocument/2006/relationships/tags" Target="../tags/tag75.xml"/><Relationship Id="rId37" Type="http://schemas.openxmlformats.org/officeDocument/2006/relationships/tags" Target="../tags/tag80.xml"/><Relationship Id="rId40" Type="http://schemas.openxmlformats.org/officeDocument/2006/relationships/tags" Target="../tags/tag83.xml"/><Relationship Id="rId45" Type="http://schemas.openxmlformats.org/officeDocument/2006/relationships/tags" Target="../tags/tag88.xml"/><Relationship Id="rId53" Type="http://schemas.openxmlformats.org/officeDocument/2006/relationships/oleObject" Target="../embeddings/oleObject7.bin"/><Relationship Id="rId5" Type="http://schemas.openxmlformats.org/officeDocument/2006/relationships/tags" Target="../tags/tag48.xml"/><Relationship Id="rId10" Type="http://schemas.openxmlformats.org/officeDocument/2006/relationships/tags" Target="../tags/tag53.xml"/><Relationship Id="rId19" Type="http://schemas.openxmlformats.org/officeDocument/2006/relationships/tags" Target="../tags/tag62.xml"/><Relationship Id="rId31" Type="http://schemas.openxmlformats.org/officeDocument/2006/relationships/tags" Target="../tags/tag74.xml"/><Relationship Id="rId44" Type="http://schemas.openxmlformats.org/officeDocument/2006/relationships/tags" Target="../tags/tag87.xml"/><Relationship Id="rId52" Type="http://schemas.openxmlformats.org/officeDocument/2006/relationships/slideLayout" Target="../slideLayouts/slideLayout2.xml"/><Relationship Id="rId4" Type="http://schemas.openxmlformats.org/officeDocument/2006/relationships/tags" Target="../tags/tag47.xml"/><Relationship Id="rId9" Type="http://schemas.openxmlformats.org/officeDocument/2006/relationships/tags" Target="../tags/tag52.xml"/><Relationship Id="rId14" Type="http://schemas.openxmlformats.org/officeDocument/2006/relationships/tags" Target="../tags/tag57.xml"/><Relationship Id="rId22" Type="http://schemas.openxmlformats.org/officeDocument/2006/relationships/tags" Target="../tags/tag65.xml"/><Relationship Id="rId27" Type="http://schemas.openxmlformats.org/officeDocument/2006/relationships/tags" Target="../tags/tag70.xml"/><Relationship Id="rId30" Type="http://schemas.openxmlformats.org/officeDocument/2006/relationships/tags" Target="../tags/tag73.xml"/><Relationship Id="rId35" Type="http://schemas.openxmlformats.org/officeDocument/2006/relationships/tags" Target="../tags/tag78.xml"/><Relationship Id="rId43" Type="http://schemas.openxmlformats.org/officeDocument/2006/relationships/tags" Target="../tags/tag86.xml"/><Relationship Id="rId48" Type="http://schemas.openxmlformats.org/officeDocument/2006/relationships/tags" Target="../tags/tag91.xml"/><Relationship Id="rId8" Type="http://schemas.openxmlformats.org/officeDocument/2006/relationships/tags" Target="../tags/tag51.xml"/><Relationship Id="rId51" Type="http://schemas.openxmlformats.org/officeDocument/2006/relationships/tags" Target="../tags/tag94.xml"/><Relationship Id="rId3" Type="http://schemas.openxmlformats.org/officeDocument/2006/relationships/tags" Target="../tags/tag46.xml"/><Relationship Id="rId12" Type="http://schemas.openxmlformats.org/officeDocument/2006/relationships/tags" Target="../tags/tag55.xml"/><Relationship Id="rId17" Type="http://schemas.openxmlformats.org/officeDocument/2006/relationships/tags" Target="../tags/tag60.xml"/><Relationship Id="rId25" Type="http://schemas.openxmlformats.org/officeDocument/2006/relationships/tags" Target="../tags/tag68.xml"/><Relationship Id="rId33" Type="http://schemas.openxmlformats.org/officeDocument/2006/relationships/tags" Target="../tags/tag76.xml"/><Relationship Id="rId38" Type="http://schemas.openxmlformats.org/officeDocument/2006/relationships/tags" Target="../tags/tag81.xml"/><Relationship Id="rId46" Type="http://schemas.openxmlformats.org/officeDocument/2006/relationships/tags" Target="../tags/tag89.xml"/><Relationship Id="rId20" Type="http://schemas.openxmlformats.org/officeDocument/2006/relationships/tags" Target="../tags/tag63.xml"/><Relationship Id="rId41" Type="http://schemas.openxmlformats.org/officeDocument/2006/relationships/tags" Target="../tags/tag84.xml"/><Relationship Id="rId54" Type="http://schemas.openxmlformats.org/officeDocument/2006/relationships/image" Target="../media/image7.emf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15" Type="http://schemas.openxmlformats.org/officeDocument/2006/relationships/tags" Target="../tags/tag58.xml"/><Relationship Id="rId23" Type="http://schemas.openxmlformats.org/officeDocument/2006/relationships/tags" Target="../tags/tag66.xml"/><Relationship Id="rId28" Type="http://schemas.openxmlformats.org/officeDocument/2006/relationships/tags" Target="../tags/tag71.xml"/><Relationship Id="rId36" Type="http://schemas.openxmlformats.org/officeDocument/2006/relationships/tags" Target="../tags/tag79.xml"/><Relationship Id="rId49" Type="http://schemas.openxmlformats.org/officeDocument/2006/relationships/tags" Target="../tags/tag9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tags" Target="../tags/tag107.xml"/><Relationship Id="rId18" Type="http://schemas.openxmlformats.org/officeDocument/2006/relationships/tags" Target="../tags/tag112.xml"/><Relationship Id="rId26" Type="http://schemas.openxmlformats.org/officeDocument/2006/relationships/tags" Target="../tags/tag120.xml"/><Relationship Id="rId39" Type="http://schemas.openxmlformats.org/officeDocument/2006/relationships/tags" Target="../tags/tag133.xml"/><Relationship Id="rId21" Type="http://schemas.openxmlformats.org/officeDocument/2006/relationships/tags" Target="../tags/tag115.xml"/><Relationship Id="rId34" Type="http://schemas.openxmlformats.org/officeDocument/2006/relationships/tags" Target="../tags/tag128.xml"/><Relationship Id="rId42" Type="http://schemas.openxmlformats.org/officeDocument/2006/relationships/oleObject" Target="../embeddings/oleObject8.bin"/><Relationship Id="rId7" Type="http://schemas.openxmlformats.org/officeDocument/2006/relationships/tags" Target="../tags/tag101.xml"/><Relationship Id="rId2" Type="http://schemas.openxmlformats.org/officeDocument/2006/relationships/tags" Target="../tags/tag96.xml"/><Relationship Id="rId16" Type="http://schemas.openxmlformats.org/officeDocument/2006/relationships/tags" Target="../tags/tag110.xml"/><Relationship Id="rId20" Type="http://schemas.openxmlformats.org/officeDocument/2006/relationships/tags" Target="../tags/tag114.xml"/><Relationship Id="rId29" Type="http://schemas.openxmlformats.org/officeDocument/2006/relationships/tags" Target="../tags/tag123.xml"/><Relationship Id="rId41" Type="http://schemas.openxmlformats.org/officeDocument/2006/relationships/slideLayout" Target="../slideLayouts/slideLayout2.xml"/><Relationship Id="rId1" Type="http://schemas.openxmlformats.org/officeDocument/2006/relationships/tags" Target="../tags/tag95.xml"/><Relationship Id="rId6" Type="http://schemas.openxmlformats.org/officeDocument/2006/relationships/tags" Target="../tags/tag100.xml"/><Relationship Id="rId11" Type="http://schemas.openxmlformats.org/officeDocument/2006/relationships/tags" Target="../tags/tag105.xml"/><Relationship Id="rId24" Type="http://schemas.openxmlformats.org/officeDocument/2006/relationships/tags" Target="../tags/tag118.xml"/><Relationship Id="rId32" Type="http://schemas.openxmlformats.org/officeDocument/2006/relationships/tags" Target="../tags/tag126.xml"/><Relationship Id="rId37" Type="http://schemas.openxmlformats.org/officeDocument/2006/relationships/tags" Target="../tags/tag131.xml"/><Relationship Id="rId40" Type="http://schemas.openxmlformats.org/officeDocument/2006/relationships/tags" Target="../tags/tag134.xml"/><Relationship Id="rId5" Type="http://schemas.openxmlformats.org/officeDocument/2006/relationships/tags" Target="../tags/tag99.xml"/><Relationship Id="rId15" Type="http://schemas.openxmlformats.org/officeDocument/2006/relationships/tags" Target="../tags/tag109.xml"/><Relationship Id="rId23" Type="http://schemas.openxmlformats.org/officeDocument/2006/relationships/tags" Target="../tags/tag117.xml"/><Relationship Id="rId28" Type="http://schemas.openxmlformats.org/officeDocument/2006/relationships/tags" Target="../tags/tag122.xml"/><Relationship Id="rId36" Type="http://schemas.openxmlformats.org/officeDocument/2006/relationships/tags" Target="../tags/tag130.xml"/><Relationship Id="rId10" Type="http://schemas.openxmlformats.org/officeDocument/2006/relationships/tags" Target="../tags/tag104.xml"/><Relationship Id="rId19" Type="http://schemas.openxmlformats.org/officeDocument/2006/relationships/tags" Target="../tags/tag113.xml"/><Relationship Id="rId31" Type="http://schemas.openxmlformats.org/officeDocument/2006/relationships/tags" Target="../tags/tag125.xml"/><Relationship Id="rId44" Type="http://schemas.openxmlformats.org/officeDocument/2006/relationships/chart" Target="../charts/chart5.xml"/><Relationship Id="rId4" Type="http://schemas.openxmlformats.org/officeDocument/2006/relationships/tags" Target="../tags/tag98.xml"/><Relationship Id="rId9" Type="http://schemas.openxmlformats.org/officeDocument/2006/relationships/tags" Target="../tags/tag103.xml"/><Relationship Id="rId14" Type="http://schemas.openxmlformats.org/officeDocument/2006/relationships/tags" Target="../tags/tag108.xml"/><Relationship Id="rId22" Type="http://schemas.openxmlformats.org/officeDocument/2006/relationships/tags" Target="../tags/tag116.xml"/><Relationship Id="rId27" Type="http://schemas.openxmlformats.org/officeDocument/2006/relationships/tags" Target="../tags/tag121.xml"/><Relationship Id="rId30" Type="http://schemas.openxmlformats.org/officeDocument/2006/relationships/tags" Target="../tags/tag124.xml"/><Relationship Id="rId35" Type="http://schemas.openxmlformats.org/officeDocument/2006/relationships/tags" Target="../tags/tag129.xml"/><Relationship Id="rId43" Type="http://schemas.openxmlformats.org/officeDocument/2006/relationships/image" Target="../media/image8.emf"/><Relationship Id="rId8" Type="http://schemas.openxmlformats.org/officeDocument/2006/relationships/tags" Target="../tags/tag102.xml"/><Relationship Id="rId3" Type="http://schemas.openxmlformats.org/officeDocument/2006/relationships/tags" Target="../tags/tag97.xml"/><Relationship Id="rId12" Type="http://schemas.openxmlformats.org/officeDocument/2006/relationships/tags" Target="../tags/tag106.xml"/><Relationship Id="rId17" Type="http://schemas.openxmlformats.org/officeDocument/2006/relationships/tags" Target="../tags/tag111.xml"/><Relationship Id="rId25" Type="http://schemas.openxmlformats.org/officeDocument/2006/relationships/tags" Target="../tags/tag119.xml"/><Relationship Id="rId33" Type="http://schemas.openxmlformats.org/officeDocument/2006/relationships/tags" Target="../tags/tag127.xml"/><Relationship Id="rId38" Type="http://schemas.openxmlformats.org/officeDocument/2006/relationships/tags" Target="../tags/tag13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5.xml"/><Relationship Id="rId4" Type="http://schemas.openxmlformats.org/officeDocument/2006/relationships/image" Target="../media/image9.e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6.xml"/><Relationship Id="rId4" Type="http://schemas.openxmlformats.org/officeDocument/2006/relationships/image" Target="../media/image10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7.xml"/><Relationship Id="rId4" Type="http://schemas.openxmlformats.org/officeDocument/2006/relationships/image" Target="../media/image11.e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8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9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0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oleObject" Target="../embeddings/oleObject12.bin"/><Relationship Id="rId7" Type="http://schemas.openxmlformats.org/officeDocument/2006/relationships/image" Target="../media/image15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4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9.emf"/><Relationship Id="rId9" Type="http://schemas.openxmlformats.org/officeDocument/2006/relationships/image" Target="../media/image17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2.xml"/><Relationship Id="rId6" Type="http://schemas.openxmlformats.org/officeDocument/2006/relationships/image" Target="../media/image18.png"/><Relationship Id="rId5" Type="http://schemas.openxmlformats.org/officeDocument/2006/relationships/image" Target="../media/image9.emf"/><Relationship Id="rId4" Type="http://schemas.openxmlformats.org/officeDocument/2006/relationships/oleObject" Target="../embeddings/oleObject13.bin"/><Relationship Id="rId9" Type="http://schemas.openxmlformats.org/officeDocument/2006/relationships/image" Target="../media/image2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1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gi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3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tags" Target="../tags/tag146.xml"/><Relationship Id="rId7" Type="http://schemas.openxmlformats.org/officeDocument/2006/relationships/notesSlide" Target="../notesSlides/notesSlide25.xml"/><Relationship Id="rId2" Type="http://schemas.openxmlformats.org/officeDocument/2006/relationships/tags" Target="../tags/tag145.xml"/><Relationship Id="rId1" Type="http://schemas.openxmlformats.org/officeDocument/2006/relationships/tags" Target="../tags/tag144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50.png"/><Relationship Id="rId5" Type="http://schemas.openxmlformats.org/officeDocument/2006/relationships/tags" Target="../tags/tag148.xml"/><Relationship Id="rId10" Type="http://schemas.microsoft.com/office/2014/relationships/chartEx" Target="../charts/chartEx1.xml"/><Relationship Id="rId4" Type="http://schemas.openxmlformats.org/officeDocument/2006/relationships/tags" Target="../tags/tag147.xml"/><Relationship Id="rId9" Type="http://schemas.openxmlformats.org/officeDocument/2006/relationships/image" Target="../media/image4.emf"/></Relationships>
</file>

<file path=ppt/slides/_rels/slide59.xml.rels><?xml version="1.0" encoding="UTF-8" standalone="yes"?>
<Relationships xmlns="http://schemas.openxmlformats.org/package/2006/relationships"><Relationship Id="rId26" Type="http://schemas.openxmlformats.org/officeDocument/2006/relationships/tags" Target="../tags/tag174.xml"/><Relationship Id="rId21" Type="http://schemas.openxmlformats.org/officeDocument/2006/relationships/tags" Target="../tags/tag169.xml"/><Relationship Id="rId42" Type="http://schemas.openxmlformats.org/officeDocument/2006/relationships/tags" Target="../tags/tag190.xml"/><Relationship Id="rId47" Type="http://schemas.openxmlformats.org/officeDocument/2006/relationships/tags" Target="../tags/tag195.xml"/><Relationship Id="rId63" Type="http://schemas.openxmlformats.org/officeDocument/2006/relationships/tags" Target="../tags/tag211.xml"/><Relationship Id="rId68" Type="http://schemas.openxmlformats.org/officeDocument/2006/relationships/tags" Target="../tags/tag216.xml"/><Relationship Id="rId84" Type="http://schemas.openxmlformats.org/officeDocument/2006/relationships/tags" Target="../tags/tag232.xml"/><Relationship Id="rId89" Type="http://schemas.openxmlformats.org/officeDocument/2006/relationships/tags" Target="../tags/tag237.xml"/><Relationship Id="rId16" Type="http://schemas.openxmlformats.org/officeDocument/2006/relationships/tags" Target="../tags/tag164.xml"/><Relationship Id="rId11" Type="http://schemas.openxmlformats.org/officeDocument/2006/relationships/tags" Target="../tags/tag159.xml"/><Relationship Id="rId32" Type="http://schemas.openxmlformats.org/officeDocument/2006/relationships/tags" Target="../tags/tag180.xml"/><Relationship Id="rId37" Type="http://schemas.openxmlformats.org/officeDocument/2006/relationships/tags" Target="../tags/tag185.xml"/><Relationship Id="rId53" Type="http://schemas.openxmlformats.org/officeDocument/2006/relationships/tags" Target="../tags/tag201.xml"/><Relationship Id="rId58" Type="http://schemas.openxmlformats.org/officeDocument/2006/relationships/tags" Target="../tags/tag206.xml"/><Relationship Id="rId74" Type="http://schemas.openxmlformats.org/officeDocument/2006/relationships/tags" Target="../tags/tag222.xml"/><Relationship Id="rId79" Type="http://schemas.openxmlformats.org/officeDocument/2006/relationships/tags" Target="../tags/tag227.xml"/><Relationship Id="rId5" Type="http://schemas.openxmlformats.org/officeDocument/2006/relationships/tags" Target="../tags/tag153.xml"/><Relationship Id="rId90" Type="http://schemas.openxmlformats.org/officeDocument/2006/relationships/tags" Target="../tags/tag238.xml"/><Relationship Id="rId95" Type="http://schemas.openxmlformats.org/officeDocument/2006/relationships/oleObject" Target="../embeddings/oleObject15.bin"/><Relationship Id="rId22" Type="http://schemas.openxmlformats.org/officeDocument/2006/relationships/tags" Target="../tags/tag170.xml"/><Relationship Id="rId27" Type="http://schemas.openxmlformats.org/officeDocument/2006/relationships/tags" Target="../tags/tag175.xml"/><Relationship Id="rId43" Type="http://schemas.openxmlformats.org/officeDocument/2006/relationships/tags" Target="../tags/tag191.xml"/><Relationship Id="rId48" Type="http://schemas.openxmlformats.org/officeDocument/2006/relationships/tags" Target="../tags/tag196.xml"/><Relationship Id="rId64" Type="http://schemas.openxmlformats.org/officeDocument/2006/relationships/tags" Target="../tags/tag212.xml"/><Relationship Id="rId69" Type="http://schemas.openxmlformats.org/officeDocument/2006/relationships/tags" Target="../tags/tag217.xml"/><Relationship Id="rId80" Type="http://schemas.openxmlformats.org/officeDocument/2006/relationships/tags" Target="../tags/tag228.xml"/><Relationship Id="rId85" Type="http://schemas.openxmlformats.org/officeDocument/2006/relationships/tags" Target="../tags/tag233.xml"/><Relationship Id="rId3" Type="http://schemas.openxmlformats.org/officeDocument/2006/relationships/tags" Target="../tags/tag151.xml"/><Relationship Id="rId12" Type="http://schemas.openxmlformats.org/officeDocument/2006/relationships/tags" Target="../tags/tag160.xml"/><Relationship Id="rId17" Type="http://schemas.openxmlformats.org/officeDocument/2006/relationships/tags" Target="../tags/tag165.xml"/><Relationship Id="rId25" Type="http://schemas.openxmlformats.org/officeDocument/2006/relationships/tags" Target="../tags/tag173.xml"/><Relationship Id="rId33" Type="http://schemas.openxmlformats.org/officeDocument/2006/relationships/tags" Target="../tags/tag181.xml"/><Relationship Id="rId38" Type="http://schemas.openxmlformats.org/officeDocument/2006/relationships/tags" Target="../tags/tag186.xml"/><Relationship Id="rId46" Type="http://schemas.openxmlformats.org/officeDocument/2006/relationships/tags" Target="../tags/tag194.xml"/><Relationship Id="rId59" Type="http://schemas.openxmlformats.org/officeDocument/2006/relationships/tags" Target="../tags/tag207.xml"/><Relationship Id="rId67" Type="http://schemas.openxmlformats.org/officeDocument/2006/relationships/tags" Target="../tags/tag215.xml"/><Relationship Id="rId20" Type="http://schemas.openxmlformats.org/officeDocument/2006/relationships/tags" Target="../tags/tag168.xml"/><Relationship Id="rId41" Type="http://schemas.openxmlformats.org/officeDocument/2006/relationships/tags" Target="../tags/tag189.xml"/><Relationship Id="rId54" Type="http://schemas.openxmlformats.org/officeDocument/2006/relationships/tags" Target="../tags/tag202.xml"/><Relationship Id="rId62" Type="http://schemas.openxmlformats.org/officeDocument/2006/relationships/tags" Target="../tags/tag210.xml"/><Relationship Id="rId70" Type="http://schemas.openxmlformats.org/officeDocument/2006/relationships/tags" Target="../tags/tag218.xml"/><Relationship Id="rId75" Type="http://schemas.openxmlformats.org/officeDocument/2006/relationships/tags" Target="../tags/tag223.xml"/><Relationship Id="rId83" Type="http://schemas.openxmlformats.org/officeDocument/2006/relationships/tags" Target="../tags/tag231.xml"/><Relationship Id="rId88" Type="http://schemas.openxmlformats.org/officeDocument/2006/relationships/tags" Target="../tags/tag236.xml"/><Relationship Id="rId91" Type="http://schemas.openxmlformats.org/officeDocument/2006/relationships/tags" Target="../tags/tag239.xml"/><Relationship Id="rId96" Type="http://schemas.openxmlformats.org/officeDocument/2006/relationships/image" Target="../media/image4.emf"/><Relationship Id="rId1" Type="http://schemas.openxmlformats.org/officeDocument/2006/relationships/tags" Target="../tags/tag149.xml"/><Relationship Id="rId6" Type="http://schemas.openxmlformats.org/officeDocument/2006/relationships/tags" Target="../tags/tag154.xml"/><Relationship Id="rId15" Type="http://schemas.openxmlformats.org/officeDocument/2006/relationships/tags" Target="../tags/tag163.xml"/><Relationship Id="rId23" Type="http://schemas.openxmlformats.org/officeDocument/2006/relationships/tags" Target="../tags/tag171.xml"/><Relationship Id="rId28" Type="http://schemas.openxmlformats.org/officeDocument/2006/relationships/tags" Target="../tags/tag176.xml"/><Relationship Id="rId36" Type="http://schemas.openxmlformats.org/officeDocument/2006/relationships/tags" Target="../tags/tag184.xml"/><Relationship Id="rId49" Type="http://schemas.openxmlformats.org/officeDocument/2006/relationships/tags" Target="../tags/tag197.xml"/><Relationship Id="rId57" Type="http://schemas.openxmlformats.org/officeDocument/2006/relationships/tags" Target="../tags/tag205.xml"/><Relationship Id="rId10" Type="http://schemas.openxmlformats.org/officeDocument/2006/relationships/tags" Target="../tags/tag158.xml"/><Relationship Id="rId31" Type="http://schemas.openxmlformats.org/officeDocument/2006/relationships/tags" Target="../tags/tag179.xml"/><Relationship Id="rId44" Type="http://schemas.openxmlformats.org/officeDocument/2006/relationships/tags" Target="../tags/tag192.xml"/><Relationship Id="rId52" Type="http://schemas.openxmlformats.org/officeDocument/2006/relationships/tags" Target="../tags/tag200.xml"/><Relationship Id="rId60" Type="http://schemas.openxmlformats.org/officeDocument/2006/relationships/tags" Target="../tags/tag208.xml"/><Relationship Id="rId65" Type="http://schemas.openxmlformats.org/officeDocument/2006/relationships/tags" Target="../tags/tag213.xml"/><Relationship Id="rId73" Type="http://schemas.openxmlformats.org/officeDocument/2006/relationships/tags" Target="../tags/tag221.xml"/><Relationship Id="rId78" Type="http://schemas.openxmlformats.org/officeDocument/2006/relationships/tags" Target="../tags/tag226.xml"/><Relationship Id="rId81" Type="http://schemas.openxmlformats.org/officeDocument/2006/relationships/tags" Target="../tags/tag229.xml"/><Relationship Id="rId86" Type="http://schemas.openxmlformats.org/officeDocument/2006/relationships/tags" Target="../tags/tag234.xml"/><Relationship Id="rId94" Type="http://schemas.openxmlformats.org/officeDocument/2006/relationships/slideLayout" Target="../slideLayouts/slideLayout3.xml"/><Relationship Id="rId4" Type="http://schemas.openxmlformats.org/officeDocument/2006/relationships/tags" Target="../tags/tag152.xml"/><Relationship Id="rId9" Type="http://schemas.openxmlformats.org/officeDocument/2006/relationships/tags" Target="../tags/tag157.xml"/><Relationship Id="rId13" Type="http://schemas.openxmlformats.org/officeDocument/2006/relationships/tags" Target="../tags/tag161.xml"/><Relationship Id="rId18" Type="http://schemas.openxmlformats.org/officeDocument/2006/relationships/tags" Target="../tags/tag166.xml"/><Relationship Id="rId39" Type="http://schemas.openxmlformats.org/officeDocument/2006/relationships/tags" Target="../tags/tag187.xml"/><Relationship Id="rId34" Type="http://schemas.openxmlformats.org/officeDocument/2006/relationships/tags" Target="../tags/tag182.xml"/><Relationship Id="rId50" Type="http://schemas.openxmlformats.org/officeDocument/2006/relationships/tags" Target="../tags/tag198.xml"/><Relationship Id="rId55" Type="http://schemas.openxmlformats.org/officeDocument/2006/relationships/tags" Target="../tags/tag203.xml"/><Relationship Id="rId76" Type="http://schemas.openxmlformats.org/officeDocument/2006/relationships/tags" Target="../tags/tag224.xml"/><Relationship Id="rId97" Type="http://schemas.openxmlformats.org/officeDocument/2006/relationships/chart" Target="../charts/chart10.xml"/><Relationship Id="rId7" Type="http://schemas.openxmlformats.org/officeDocument/2006/relationships/tags" Target="../tags/tag155.xml"/><Relationship Id="rId71" Type="http://schemas.openxmlformats.org/officeDocument/2006/relationships/tags" Target="../tags/tag219.xml"/><Relationship Id="rId92" Type="http://schemas.openxmlformats.org/officeDocument/2006/relationships/tags" Target="../tags/tag240.xml"/><Relationship Id="rId2" Type="http://schemas.openxmlformats.org/officeDocument/2006/relationships/tags" Target="../tags/tag150.xml"/><Relationship Id="rId29" Type="http://schemas.openxmlformats.org/officeDocument/2006/relationships/tags" Target="../tags/tag177.xml"/><Relationship Id="rId24" Type="http://schemas.openxmlformats.org/officeDocument/2006/relationships/tags" Target="../tags/tag172.xml"/><Relationship Id="rId40" Type="http://schemas.openxmlformats.org/officeDocument/2006/relationships/tags" Target="../tags/tag188.xml"/><Relationship Id="rId45" Type="http://schemas.openxmlformats.org/officeDocument/2006/relationships/tags" Target="../tags/tag193.xml"/><Relationship Id="rId66" Type="http://schemas.openxmlformats.org/officeDocument/2006/relationships/tags" Target="../tags/tag214.xml"/><Relationship Id="rId87" Type="http://schemas.openxmlformats.org/officeDocument/2006/relationships/tags" Target="../tags/tag235.xml"/><Relationship Id="rId61" Type="http://schemas.openxmlformats.org/officeDocument/2006/relationships/tags" Target="../tags/tag209.xml"/><Relationship Id="rId82" Type="http://schemas.openxmlformats.org/officeDocument/2006/relationships/tags" Target="../tags/tag230.xml"/><Relationship Id="rId19" Type="http://schemas.openxmlformats.org/officeDocument/2006/relationships/tags" Target="../tags/tag167.xml"/><Relationship Id="rId14" Type="http://schemas.openxmlformats.org/officeDocument/2006/relationships/tags" Target="../tags/tag162.xml"/><Relationship Id="rId30" Type="http://schemas.openxmlformats.org/officeDocument/2006/relationships/tags" Target="../tags/tag178.xml"/><Relationship Id="rId35" Type="http://schemas.openxmlformats.org/officeDocument/2006/relationships/tags" Target="../tags/tag183.xml"/><Relationship Id="rId56" Type="http://schemas.openxmlformats.org/officeDocument/2006/relationships/tags" Target="../tags/tag204.xml"/><Relationship Id="rId77" Type="http://schemas.openxmlformats.org/officeDocument/2006/relationships/tags" Target="../tags/tag225.xml"/><Relationship Id="rId8" Type="http://schemas.openxmlformats.org/officeDocument/2006/relationships/tags" Target="../tags/tag156.xml"/><Relationship Id="rId51" Type="http://schemas.openxmlformats.org/officeDocument/2006/relationships/tags" Target="../tags/tag199.xml"/><Relationship Id="rId72" Type="http://schemas.openxmlformats.org/officeDocument/2006/relationships/tags" Target="../tags/tag220.xml"/><Relationship Id="rId93" Type="http://schemas.openxmlformats.org/officeDocument/2006/relationships/tags" Target="../tags/tag241.xml"/><Relationship Id="rId98" Type="http://schemas.openxmlformats.org/officeDocument/2006/relationships/chart" Target="../charts/chart1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tags" Target="../tags/tag249.xml"/><Relationship Id="rId13" Type="http://schemas.openxmlformats.org/officeDocument/2006/relationships/tags" Target="../tags/tag254.xml"/><Relationship Id="rId18" Type="http://schemas.openxmlformats.org/officeDocument/2006/relationships/tags" Target="../tags/tag259.xml"/><Relationship Id="rId3" Type="http://schemas.openxmlformats.org/officeDocument/2006/relationships/tags" Target="../tags/tag244.xml"/><Relationship Id="rId21" Type="http://schemas.openxmlformats.org/officeDocument/2006/relationships/image" Target="../media/image4.emf"/><Relationship Id="rId7" Type="http://schemas.openxmlformats.org/officeDocument/2006/relationships/tags" Target="../tags/tag248.xml"/><Relationship Id="rId12" Type="http://schemas.openxmlformats.org/officeDocument/2006/relationships/tags" Target="../tags/tag253.xml"/><Relationship Id="rId17" Type="http://schemas.openxmlformats.org/officeDocument/2006/relationships/tags" Target="../tags/tag258.xml"/><Relationship Id="rId2" Type="http://schemas.openxmlformats.org/officeDocument/2006/relationships/tags" Target="../tags/tag243.xml"/><Relationship Id="rId16" Type="http://schemas.openxmlformats.org/officeDocument/2006/relationships/tags" Target="../tags/tag257.xml"/><Relationship Id="rId20" Type="http://schemas.openxmlformats.org/officeDocument/2006/relationships/oleObject" Target="../embeddings/oleObject16.bin"/><Relationship Id="rId1" Type="http://schemas.openxmlformats.org/officeDocument/2006/relationships/tags" Target="../tags/tag242.xml"/><Relationship Id="rId6" Type="http://schemas.openxmlformats.org/officeDocument/2006/relationships/tags" Target="../tags/tag247.xml"/><Relationship Id="rId11" Type="http://schemas.openxmlformats.org/officeDocument/2006/relationships/tags" Target="../tags/tag252.xml"/><Relationship Id="rId5" Type="http://schemas.openxmlformats.org/officeDocument/2006/relationships/tags" Target="../tags/tag246.xml"/><Relationship Id="rId15" Type="http://schemas.openxmlformats.org/officeDocument/2006/relationships/tags" Target="../tags/tag256.xml"/><Relationship Id="rId10" Type="http://schemas.openxmlformats.org/officeDocument/2006/relationships/tags" Target="../tags/tag251.xml"/><Relationship Id="rId19" Type="http://schemas.openxmlformats.org/officeDocument/2006/relationships/slideLayout" Target="../slideLayouts/slideLayout3.xml"/><Relationship Id="rId4" Type="http://schemas.openxmlformats.org/officeDocument/2006/relationships/tags" Target="../tags/tag245.xml"/><Relationship Id="rId9" Type="http://schemas.openxmlformats.org/officeDocument/2006/relationships/tags" Target="../tags/tag250.xml"/><Relationship Id="rId14" Type="http://schemas.openxmlformats.org/officeDocument/2006/relationships/tags" Target="../tags/tag255.xml"/><Relationship Id="rId22" Type="http://schemas.openxmlformats.org/officeDocument/2006/relationships/chart" Target="../charts/chart12.xml"/></Relationships>
</file>

<file path=ppt/slides/_rels/slide62.xml.rels><?xml version="1.0" encoding="UTF-8" standalone="yes"?>
<Relationships xmlns="http://schemas.openxmlformats.org/package/2006/relationships"><Relationship Id="rId26" Type="http://schemas.openxmlformats.org/officeDocument/2006/relationships/tags" Target="../tags/tag285.xml"/><Relationship Id="rId21" Type="http://schemas.openxmlformats.org/officeDocument/2006/relationships/tags" Target="../tags/tag280.xml"/><Relationship Id="rId42" Type="http://schemas.openxmlformats.org/officeDocument/2006/relationships/tags" Target="../tags/tag301.xml"/><Relationship Id="rId47" Type="http://schemas.openxmlformats.org/officeDocument/2006/relationships/tags" Target="../tags/tag306.xml"/><Relationship Id="rId63" Type="http://schemas.openxmlformats.org/officeDocument/2006/relationships/tags" Target="../tags/tag322.xml"/><Relationship Id="rId68" Type="http://schemas.openxmlformats.org/officeDocument/2006/relationships/slideLayout" Target="../slideLayouts/slideLayout3.xml"/><Relationship Id="rId2" Type="http://schemas.openxmlformats.org/officeDocument/2006/relationships/tags" Target="../tags/tag261.xml"/><Relationship Id="rId16" Type="http://schemas.openxmlformats.org/officeDocument/2006/relationships/tags" Target="../tags/tag275.xml"/><Relationship Id="rId29" Type="http://schemas.openxmlformats.org/officeDocument/2006/relationships/tags" Target="../tags/tag288.xml"/><Relationship Id="rId11" Type="http://schemas.openxmlformats.org/officeDocument/2006/relationships/tags" Target="../tags/tag270.xml"/><Relationship Id="rId24" Type="http://schemas.openxmlformats.org/officeDocument/2006/relationships/tags" Target="../tags/tag283.xml"/><Relationship Id="rId32" Type="http://schemas.openxmlformats.org/officeDocument/2006/relationships/tags" Target="../tags/tag291.xml"/><Relationship Id="rId37" Type="http://schemas.openxmlformats.org/officeDocument/2006/relationships/tags" Target="../tags/tag296.xml"/><Relationship Id="rId40" Type="http://schemas.openxmlformats.org/officeDocument/2006/relationships/tags" Target="../tags/tag299.xml"/><Relationship Id="rId45" Type="http://schemas.openxmlformats.org/officeDocument/2006/relationships/tags" Target="../tags/tag304.xml"/><Relationship Id="rId53" Type="http://schemas.openxmlformats.org/officeDocument/2006/relationships/tags" Target="../tags/tag312.xml"/><Relationship Id="rId58" Type="http://schemas.openxmlformats.org/officeDocument/2006/relationships/tags" Target="../tags/tag317.xml"/><Relationship Id="rId66" Type="http://schemas.openxmlformats.org/officeDocument/2006/relationships/tags" Target="../tags/tag325.xml"/><Relationship Id="rId5" Type="http://schemas.openxmlformats.org/officeDocument/2006/relationships/tags" Target="../tags/tag264.xml"/><Relationship Id="rId61" Type="http://schemas.openxmlformats.org/officeDocument/2006/relationships/tags" Target="../tags/tag320.xml"/><Relationship Id="rId19" Type="http://schemas.openxmlformats.org/officeDocument/2006/relationships/tags" Target="../tags/tag278.xml"/><Relationship Id="rId14" Type="http://schemas.openxmlformats.org/officeDocument/2006/relationships/tags" Target="../tags/tag273.xml"/><Relationship Id="rId22" Type="http://schemas.openxmlformats.org/officeDocument/2006/relationships/tags" Target="../tags/tag281.xml"/><Relationship Id="rId27" Type="http://schemas.openxmlformats.org/officeDocument/2006/relationships/tags" Target="../tags/tag286.xml"/><Relationship Id="rId30" Type="http://schemas.openxmlformats.org/officeDocument/2006/relationships/tags" Target="../tags/tag289.xml"/><Relationship Id="rId35" Type="http://schemas.openxmlformats.org/officeDocument/2006/relationships/tags" Target="../tags/tag294.xml"/><Relationship Id="rId43" Type="http://schemas.openxmlformats.org/officeDocument/2006/relationships/tags" Target="../tags/tag302.xml"/><Relationship Id="rId48" Type="http://schemas.openxmlformats.org/officeDocument/2006/relationships/tags" Target="../tags/tag307.xml"/><Relationship Id="rId56" Type="http://schemas.openxmlformats.org/officeDocument/2006/relationships/tags" Target="../tags/tag315.xml"/><Relationship Id="rId64" Type="http://schemas.openxmlformats.org/officeDocument/2006/relationships/tags" Target="../tags/tag323.xml"/><Relationship Id="rId69" Type="http://schemas.openxmlformats.org/officeDocument/2006/relationships/notesSlide" Target="../notesSlides/notesSlide26.xml"/><Relationship Id="rId8" Type="http://schemas.openxmlformats.org/officeDocument/2006/relationships/tags" Target="../tags/tag267.xml"/><Relationship Id="rId51" Type="http://schemas.openxmlformats.org/officeDocument/2006/relationships/tags" Target="../tags/tag310.xml"/><Relationship Id="rId72" Type="http://schemas.openxmlformats.org/officeDocument/2006/relationships/chart" Target="../charts/chart13.xml"/><Relationship Id="rId3" Type="http://schemas.openxmlformats.org/officeDocument/2006/relationships/tags" Target="../tags/tag262.xml"/><Relationship Id="rId12" Type="http://schemas.openxmlformats.org/officeDocument/2006/relationships/tags" Target="../tags/tag271.xml"/><Relationship Id="rId17" Type="http://schemas.openxmlformats.org/officeDocument/2006/relationships/tags" Target="../tags/tag276.xml"/><Relationship Id="rId25" Type="http://schemas.openxmlformats.org/officeDocument/2006/relationships/tags" Target="../tags/tag284.xml"/><Relationship Id="rId33" Type="http://schemas.openxmlformats.org/officeDocument/2006/relationships/tags" Target="../tags/tag292.xml"/><Relationship Id="rId38" Type="http://schemas.openxmlformats.org/officeDocument/2006/relationships/tags" Target="../tags/tag297.xml"/><Relationship Id="rId46" Type="http://schemas.openxmlformats.org/officeDocument/2006/relationships/tags" Target="../tags/tag305.xml"/><Relationship Id="rId59" Type="http://schemas.openxmlformats.org/officeDocument/2006/relationships/tags" Target="../tags/tag318.xml"/><Relationship Id="rId67" Type="http://schemas.openxmlformats.org/officeDocument/2006/relationships/tags" Target="../tags/tag326.xml"/><Relationship Id="rId20" Type="http://schemas.openxmlformats.org/officeDocument/2006/relationships/tags" Target="../tags/tag279.xml"/><Relationship Id="rId41" Type="http://schemas.openxmlformats.org/officeDocument/2006/relationships/tags" Target="../tags/tag300.xml"/><Relationship Id="rId54" Type="http://schemas.openxmlformats.org/officeDocument/2006/relationships/tags" Target="../tags/tag313.xml"/><Relationship Id="rId62" Type="http://schemas.openxmlformats.org/officeDocument/2006/relationships/tags" Target="../tags/tag321.xml"/><Relationship Id="rId70" Type="http://schemas.openxmlformats.org/officeDocument/2006/relationships/oleObject" Target="../embeddings/oleObject17.bin"/><Relationship Id="rId1" Type="http://schemas.openxmlformats.org/officeDocument/2006/relationships/tags" Target="../tags/tag260.xml"/><Relationship Id="rId6" Type="http://schemas.openxmlformats.org/officeDocument/2006/relationships/tags" Target="../tags/tag265.xml"/><Relationship Id="rId15" Type="http://schemas.openxmlformats.org/officeDocument/2006/relationships/tags" Target="../tags/tag274.xml"/><Relationship Id="rId23" Type="http://schemas.openxmlformats.org/officeDocument/2006/relationships/tags" Target="../tags/tag282.xml"/><Relationship Id="rId28" Type="http://schemas.openxmlformats.org/officeDocument/2006/relationships/tags" Target="../tags/tag287.xml"/><Relationship Id="rId36" Type="http://schemas.openxmlformats.org/officeDocument/2006/relationships/tags" Target="../tags/tag295.xml"/><Relationship Id="rId49" Type="http://schemas.openxmlformats.org/officeDocument/2006/relationships/tags" Target="../tags/tag308.xml"/><Relationship Id="rId57" Type="http://schemas.openxmlformats.org/officeDocument/2006/relationships/tags" Target="../tags/tag316.xml"/><Relationship Id="rId10" Type="http://schemas.openxmlformats.org/officeDocument/2006/relationships/tags" Target="../tags/tag269.xml"/><Relationship Id="rId31" Type="http://schemas.openxmlformats.org/officeDocument/2006/relationships/tags" Target="../tags/tag290.xml"/><Relationship Id="rId44" Type="http://schemas.openxmlformats.org/officeDocument/2006/relationships/tags" Target="../tags/tag303.xml"/><Relationship Id="rId52" Type="http://schemas.openxmlformats.org/officeDocument/2006/relationships/tags" Target="../tags/tag311.xml"/><Relationship Id="rId60" Type="http://schemas.openxmlformats.org/officeDocument/2006/relationships/tags" Target="../tags/tag319.xml"/><Relationship Id="rId65" Type="http://schemas.openxmlformats.org/officeDocument/2006/relationships/tags" Target="../tags/tag324.xml"/><Relationship Id="rId73" Type="http://schemas.openxmlformats.org/officeDocument/2006/relationships/chart" Target="../charts/chart14.xml"/><Relationship Id="rId4" Type="http://schemas.openxmlformats.org/officeDocument/2006/relationships/tags" Target="../tags/tag263.xml"/><Relationship Id="rId9" Type="http://schemas.openxmlformats.org/officeDocument/2006/relationships/tags" Target="../tags/tag268.xml"/><Relationship Id="rId13" Type="http://schemas.openxmlformats.org/officeDocument/2006/relationships/tags" Target="../tags/tag272.xml"/><Relationship Id="rId18" Type="http://schemas.openxmlformats.org/officeDocument/2006/relationships/tags" Target="../tags/tag277.xml"/><Relationship Id="rId39" Type="http://schemas.openxmlformats.org/officeDocument/2006/relationships/tags" Target="../tags/tag298.xml"/><Relationship Id="rId34" Type="http://schemas.openxmlformats.org/officeDocument/2006/relationships/tags" Target="../tags/tag293.xml"/><Relationship Id="rId50" Type="http://schemas.openxmlformats.org/officeDocument/2006/relationships/tags" Target="../tags/tag309.xml"/><Relationship Id="rId55" Type="http://schemas.openxmlformats.org/officeDocument/2006/relationships/tags" Target="../tags/tag314.xml"/><Relationship Id="rId7" Type="http://schemas.openxmlformats.org/officeDocument/2006/relationships/tags" Target="../tags/tag266.xml"/><Relationship Id="rId71" Type="http://schemas.openxmlformats.org/officeDocument/2006/relationships/image" Target="../media/image4.emf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7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14.bin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8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14.bin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9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14.bin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jpe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DF8EBA-9590-4C81-9F69-5D123BF96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7D62E96-F664-40DC-868E-D0B2F0A46B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060A129-27E9-4599-B4E5-C57388EC22F3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50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Магнит </a:t>
            </a:r>
            <a:r>
              <a:rPr lang="en-US" kumimoji="0" sz="50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AdTech</a:t>
            </a:r>
            <a:endParaRPr lang="ru-RU" kumimoji="0" sz="5000" b="1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sym typeface="Arial"/>
            </a:endParaRPr>
          </a:p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kumimoji="0" sz="50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QBR </a:t>
            </a:r>
            <a:r>
              <a:rPr lang="ru-RU" kumimoji="0" sz="50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и Бюджет 2027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BC4C214E-1A99-490C-A3B5-9407F8AE15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/>
              <a:t>Людмила Марлье</a:t>
            </a:r>
          </a:p>
        </p:txBody>
      </p:sp>
    </p:spTree>
    <p:extLst>
      <p:ext uri="{BB962C8B-B14F-4D97-AF65-F5344CB8AC3E}">
        <p14:creationId xmlns:p14="http://schemas.microsoft.com/office/powerpoint/2010/main" val="3825121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DA7F0-BF63-4B83-0DBE-C99C20616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2DBB26F-E006-4AF2-FDFF-57878A7F8E3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103BE124-5F0F-D3B8-CD52-CBF547F1FB6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7E20780A-A346-6B8D-41C8-69A459F7C43D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en-US" sz="5000" b="1">
                <a:solidFill>
                  <a:srgbClr val="FFFFFF"/>
                </a:solidFill>
                <a:latin typeface="Arial"/>
              </a:rPr>
              <a:t>QBR</a:t>
            </a:r>
            <a:br>
              <a:rPr lang="en-US" sz="5000" b="1" dirty="0">
                <a:solidFill>
                  <a:srgbClr val="FFFFFF"/>
                </a:solidFill>
                <a:latin typeface="Arial"/>
              </a:rPr>
            </a:br>
            <a:r>
              <a:rPr lang="en-US" sz="5000" b="1">
                <a:solidFill>
                  <a:srgbClr val="FFFFFF"/>
                </a:solidFill>
                <a:latin typeface="Arial"/>
              </a:rPr>
              <a:t>Q3 2026</a:t>
            </a:r>
            <a:br>
              <a:rPr lang="en-US" sz="5000" b="1" dirty="0">
                <a:solidFill>
                  <a:srgbClr val="FFFFFF"/>
                </a:solidFill>
                <a:latin typeface="Arial"/>
              </a:rPr>
            </a:br>
            <a:endParaRPr lang="en-US" sz="5000" b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1F1415-A9F6-0899-FAE8-81897139A28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3162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F84D4825-01B3-4D34-80A0-460B43F3816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84D4825-01B3-4D34-80A0-460B43F381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8CBBF0-A6D9-4B80-B3B2-E0B409F94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D41D6-7756-D84E-A787-9DAD2BF0F149}" type="slidenum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1418B67-2B10-4F87-873F-7C10DAA6D7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Статус выполнения КПЭ: </a:t>
            </a:r>
            <a:r>
              <a:rPr lang="en-US">
                <a:solidFill>
                  <a:schemeClr val="dk1"/>
                </a:solidFill>
                <a:latin typeface="+mn-lt"/>
                <a:sym typeface="Montserrat"/>
              </a:rPr>
              <a:t>on track</a:t>
            </a:r>
            <a:endParaRPr lang="ru-RU"/>
          </a:p>
          <a:p>
            <a:endParaRPr lang="ru-RU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639FE8D2-E681-4AB4-8331-4BF473CEC5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6914381"/>
              </p:ext>
            </p:extLst>
          </p:nvPr>
        </p:nvGraphicFramePr>
        <p:xfrm>
          <a:off x="364174" y="886607"/>
          <a:ext cx="11463642" cy="2759440"/>
        </p:xfrm>
        <a:graphic>
          <a:graphicData uri="http://schemas.openxmlformats.org/drawingml/2006/table">
            <a:tbl>
              <a:tblPr/>
              <a:tblGrid>
                <a:gridCol w="1506959">
                  <a:extLst>
                    <a:ext uri="{9D8B030D-6E8A-4147-A177-3AD203B41FA5}">
                      <a16:colId xmlns:a16="http://schemas.microsoft.com/office/drawing/2014/main" val="266420583"/>
                    </a:ext>
                  </a:extLst>
                </a:gridCol>
                <a:gridCol w="2003337">
                  <a:extLst>
                    <a:ext uri="{9D8B030D-6E8A-4147-A177-3AD203B41FA5}">
                      <a16:colId xmlns:a16="http://schemas.microsoft.com/office/drawing/2014/main" val="1371208351"/>
                    </a:ext>
                  </a:extLst>
                </a:gridCol>
                <a:gridCol w="474006">
                  <a:extLst>
                    <a:ext uri="{9D8B030D-6E8A-4147-A177-3AD203B41FA5}">
                      <a16:colId xmlns:a16="http://schemas.microsoft.com/office/drawing/2014/main" val="2790943951"/>
                    </a:ext>
                  </a:extLst>
                </a:gridCol>
                <a:gridCol w="97400">
                  <a:extLst>
                    <a:ext uri="{9D8B030D-6E8A-4147-A177-3AD203B41FA5}">
                      <a16:colId xmlns:a16="http://schemas.microsoft.com/office/drawing/2014/main" val="1583470004"/>
                    </a:ext>
                  </a:extLst>
                </a:gridCol>
                <a:gridCol w="697186">
                  <a:extLst>
                    <a:ext uri="{9D8B030D-6E8A-4147-A177-3AD203B41FA5}">
                      <a16:colId xmlns:a16="http://schemas.microsoft.com/office/drawing/2014/main" val="743709276"/>
                    </a:ext>
                  </a:extLst>
                </a:gridCol>
                <a:gridCol w="697186">
                  <a:extLst>
                    <a:ext uri="{9D8B030D-6E8A-4147-A177-3AD203B41FA5}">
                      <a16:colId xmlns:a16="http://schemas.microsoft.com/office/drawing/2014/main" val="3662016787"/>
                    </a:ext>
                  </a:extLst>
                </a:gridCol>
                <a:gridCol w="697186">
                  <a:extLst>
                    <a:ext uri="{9D8B030D-6E8A-4147-A177-3AD203B41FA5}">
                      <a16:colId xmlns:a16="http://schemas.microsoft.com/office/drawing/2014/main" val="1493236834"/>
                    </a:ext>
                  </a:extLst>
                </a:gridCol>
                <a:gridCol w="97400">
                  <a:extLst>
                    <a:ext uri="{9D8B030D-6E8A-4147-A177-3AD203B41FA5}">
                      <a16:colId xmlns:a16="http://schemas.microsoft.com/office/drawing/2014/main" val="2644740059"/>
                    </a:ext>
                  </a:extLst>
                </a:gridCol>
                <a:gridCol w="587233">
                  <a:extLst>
                    <a:ext uri="{9D8B030D-6E8A-4147-A177-3AD203B41FA5}">
                      <a16:colId xmlns:a16="http://schemas.microsoft.com/office/drawing/2014/main" val="2101338174"/>
                    </a:ext>
                  </a:extLst>
                </a:gridCol>
                <a:gridCol w="931333">
                  <a:extLst>
                    <a:ext uri="{9D8B030D-6E8A-4147-A177-3AD203B41FA5}">
                      <a16:colId xmlns:a16="http://schemas.microsoft.com/office/drawing/2014/main" val="1045963864"/>
                    </a:ext>
                  </a:extLst>
                </a:gridCol>
                <a:gridCol w="93133">
                  <a:extLst>
                    <a:ext uri="{9D8B030D-6E8A-4147-A177-3AD203B41FA5}">
                      <a16:colId xmlns:a16="http://schemas.microsoft.com/office/drawing/2014/main" val="1009357481"/>
                    </a:ext>
                  </a:extLst>
                </a:gridCol>
                <a:gridCol w="601133">
                  <a:extLst>
                    <a:ext uri="{9D8B030D-6E8A-4147-A177-3AD203B41FA5}">
                      <a16:colId xmlns:a16="http://schemas.microsoft.com/office/drawing/2014/main" val="1047428590"/>
                    </a:ext>
                  </a:extLst>
                </a:gridCol>
                <a:gridCol w="601133">
                  <a:extLst>
                    <a:ext uri="{9D8B030D-6E8A-4147-A177-3AD203B41FA5}">
                      <a16:colId xmlns:a16="http://schemas.microsoft.com/office/drawing/2014/main" val="840101419"/>
                    </a:ext>
                  </a:extLst>
                </a:gridCol>
                <a:gridCol w="601133">
                  <a:extLst>
                    <a:ext uri="{9D8B030D-6E8A-4147-A177-3AD203B41FA5}">
                      <a16:colId xmlns:a16="http://schemas.microsoft.com/office/drawing/2014/main" val="2904748871"/>
                    </a:ext>
                  </a:extLst>
                </a:gridCol>
                <a:gridCol w="118534">
                  <a:extLst>
                    <a:ext uri="{9D8B030D-6E8A-4147-A177-3AD203B41FA5}">
                      <a16:colId xmlns:a16="http://schemas.microsoft.com/office/drawing/2014/main" val="3323509817"/>
                    </a:ext>
                  </a:extLst>
                </a:gridCol>
                <a:gridCol w="643465">
                  <a:extLst>
                    <a:ext uri="{9D8B030D-6E8A-4147-A177-3AD203B41FA5}">
                      <a16:colId xmlns:a16="http://schemas.microsoft.com/office/drawing/2014/main" val="1780177134"/>
                    </a:ext>
                  </a:extLst>
                </a:gridCol>
                <a:gridCol w="1015885">
                  <a:extLst>
                    <a:ext uri="{9D8B030D-6E8A-4147-A177-3AD203B41FA5}">
                      <a16:colId xmlns:a16="http://schemas.microsoft.com/office/drawing/2014/main" val="444242803"/>
                    </a:ext>
                  </a:extLst>
                </a:gridCol>
              </a:tblGrid>
              <a:tr h="356546">
                <a:tc>
                  <a:txBody>
                    <a:bodyPr/>
                    <a:lstStyle/>
                    <a:p>
                      <a:pPr algn="l" rtl="0" fontAlgn="ctr"/>
                      <a:endParaRPr lang="ru-RU" sz="1100" b="1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ru-RU" sz="1100" b="1" i="0" u="none" strike="noStrike" baseline="30000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ru-RU" sz="1100" b="1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buNone/>
                      </a:pPr>
                      <a:endParaRPr lang="ru-RU" sz="1100" b="1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Факт 9м 2026</a:t>
                      </a: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 kern="1200">
                        <a:solidFill>
                          <a:schemeClr val="accent1"/>
                        </a:solidFill>
                        <a:effectLst/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Прогноз 2026</a:t>
                      </a: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 kern="1200">
                        <a:solidFill>
                          <a:schemeClr val="accent1"/>
                        </a:solidFill>
                        <a:effectLst/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4511758"/>
                  </a:ext>
                </a:extLst>
              </a:tr>
              <a:tr h="356546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b="1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КПЭ</a:t>
                      </a:r>
                    </a:p>
                  </a:txBody>
                  <a:tcPr marL="3600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Показатель</a:t>
                      </a:r>
                      <a:endParaRPr lang="ru-RU" sz="1100" b="1" i="0" u="none" strike="noStrike" baseline="30000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Вес</a:t>
                      </a:r>
                    </a:p>
                  </a:txBody>
                  <a:tcPr marL="3600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buNone/>
                      </a:pPr>
                      <a:endParaRPr lang="ru-RU" sz="1100" b="1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Мин</a:t>
                      </a: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Цель</a:t>
                      </a: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Макс</a:t>
                      </a: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Факт</a:t>
                      </a: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Выполнение</a:t>
                      </a: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Мин</a:t>
                      </a: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Цель</a:t>
                      </a: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Макс</a:t>
                      </a: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Факт</a:t>
                      </a: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Прогноз выполнения</a:t>
                      </a: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0243003"/>
                  </a:ext>
                </a:extLst>
              </a:tr>
              <a:tr h="341058">
                <a:tc rowSpan="3">
                  <a:txBody>
                    <a:bodyPr/>
                    <a:lstStyle/>
                    <a:p>
                      <a:pPr marL="36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AdTech EBITDA</a:t>
                      </a:r>
                      <a:endParaRPr lang="en-US" sz="1100" b="1" i="0" u="none" strike="noStrike" baseline="30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0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Значение, млрд руб.</a:t>
                      </a:r>
                      <a:endParaRPr lang="ru-RU" sz="1100" b="1" i="0" u="none" strike="noStrike" baseline="30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36000" algn="ctr" fontAlgn="ctr"/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49%</a:t>
                      </a: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r" rtl="0">
                        <a:buNone/>
                      </a:pPr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1,43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1,56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1,94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3,05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kumimoji="0" sz="11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87936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On track</a:t>
                      </a:r>
                      <a:endParaRPr lang="en-US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CCFFCC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3,2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3,4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buNone/>
                      </a:pPr>
                      <a:endParaRPr lang="ru-RU" sz="11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4,8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kumimoji="0" sz="11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87936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On track</a:t>
                      </a:r>
                    </a:p>
                  </a:txBody>
                  <a:tcPr marL="5778" marR="5778" marT="5778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2909476"/>
                  </a:ext>
                </a:extLst>
              </a:tr>
              <a:tr h="341058">
                <a:tc vMerge="1">
                  <a:txBody>
                    <a:bodyPr/>
                    <a:lstStyle/>
                    <a:p>
                      <a:pPr marL="3600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chemeClr val="accent2"/>
                        </a:solidFill>
                        <a:latin typeface="+mn-l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lvl="1" indent="0" algn="l" defTabSz="914354" rtl="0" eaLnBrk="1" fontAlgn="ctr" latinLnBrk="0" hangingPunct="1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% выполнения бюджета</a:t>
                      </a: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36000" algn="ctr" fontAlgn="ctr"/>
                      <a:endParaRPr lang="ru-RU" sz="1100" b="1" i="0" u="none" strike="noStrike"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92%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125%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196,04%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92%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125%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ru-RU" sz="11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140,25%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1371140"/>
                  </a:ext>
                </a:extLst>
              </a:tr>
              <a:tr h="341058">
                <a:tc vMerge="1">
                  <a:txBody>
                    <a:bodyPr/>
                    <a:lstStyle/>
                    <a:p>
                      <a:pPr marL="3600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chemeClr val="accent2"/>
                        </a:solidFill>
                        <a:latin typeface="+mn-l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lvl="1" indent="0" algn="l" defTabSz="914354" rtl="0" eaLnBrk="1" fontAlgn="ctr" latinLnBrk="0" hangingPunct="1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endParaRPr lang="ru-RU" sz="1100" b="1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  <a:sym typeface="Montserra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36000" algn="ctr" fontAlgn="ctr"/>
                      <a:endParaRPr lang="ru-RU" sz="1100" b="1" i="0" u="none" strike="noStrike"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2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2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2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2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2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2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2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2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8057018"/>
                  </a:ext>
                </a:extLst>
              </a:tr>
              <a:tr h="341058">
                <a:tc rowSpan="3">
                  <a:txBody>
                    <a:bodyPr/>
                    <a:lstStyle/>
                    <a:p>
                      <a:pPr marL="36000" marR="0" lvl="0" indent="0" algn="l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Инкрементальная выручка от некоммерческих поставщиков</a:t>
                      </a:r>
                    </a:p>
                  </a:txBody>
                  <a:tcPr marL="72000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defTabSz="914354" rtl="0" eaLnBrk="1" fontAlgn="ctr" latinLnBrk="0" hangingPunct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Значение, млрд руб.</a:t>
                      </a: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36000" algn="ctr" fontAlgn="ctr"/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21%</a:t>
                      </a: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r" rtl="0">
                        <a:buNone/>
                      </a:pPr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0,51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0,63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0,76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0,75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kumimoji="0" sz="11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87936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On track</a:t>
                      </a:r>
                      <a:endParaRPr lang="en-US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CCFFCC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0,8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buNone/>
                      </a:pPr>
                      <a:endParaRPr lang="ru-RU" sz="11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kumimoji="0" sz="11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87936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On track</a:t>
                      </a:r>
                    </a:p>
                  </a:txBody>
                  <a:tcPr marL="5778" marR="5778" marT="5778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48136"/>
                  </a:ext>
                </a:extLst>
              </a:tr>
              <a:tr h="341058">
                <a:tc vMerge="1">
                  <a:txBody>
                    <a:bodyPr/>
                    <a:lstStyle/>
                    <a:p>
                      <a:pPr marL="3600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i="0" u="none" strike="noStrike" kern="1200" cap="none">
                        <a:solidFill>
                          <a:schemeClr val="accent2"/>
                        </a:solidFill>
                        <a:latin typeface="+mn-l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lvl="1" indent="0" algn="l" defTabSz="914354" rtl="0" eaLnBrk="1" fontAlgn="ctr" latinLnBrk="0" hangingPunct="1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% выполнения бюджета</a:t>
                      </a: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36000" algn="ctr" fontAlgn="ctr"/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80%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120%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118,64%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80%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120%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ru-RU" sz="11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120,16%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4750436"/>
                  </a:ext>
                </a:extLst>
              </a:tr>
              <a:tr h="341058">
                <a:tc vMerge="1">
                  <a:txBody>
                    <a:bodyPr/>
                    <a:lstStyle/>
                    <a:p>
                      <a:pPr marL="3600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i="0" u="none" strike="noStrike" kern="1200" cap="none">
                        <a:solidFill>
                          <a:schemeClr val="accent2"/>
                        </a:solidFill>
                        <a:latin typeface="+mn-l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lvl="1" indent="0" algn="l" defTabSz="914354" rtl="0" eaLnBrk="1" fontAlgn="ctr" latinLnBrk="0" hangingPunct="1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endParaRPr lang="ru-RU" sz="1100" b="1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  <a:sym typeface="Montserra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36000" algn="ctr" fontAlgn="ctr"/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2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2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2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2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2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2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2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2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60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9171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92AC1EC-B823-4BF0-B26A-C9D7B3071C0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344221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395" imgH="394" progId="TCLayout.ActiveDocument.1">
                  <p:embed/>
                </p:oleObj>
              </mc:Choice>
              <mc:Fallback>
                <p:oleObj name="Слайд think-cell" r:id="rId3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92AC1EC-B823-4BF0-B26A-C9D7B3071C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" name="Google Shape;327;p48"/>
          <p:cNvSpPr txBox="1"/>
          <p:nvPr/>
        </p:nvSpPr>
        <p:spPr>
          <a:xfrm>
            <a:off x="240345" y="53157"/>
            <a:ext cx="11403457" cy="632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tabLst/>
              <a:defRPr/>
            </a:pPr>
            <a:endParaRPr lang="ru-RU" kumimoji="0" sz="1467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E48C7187-18FD-44A4-814C-AEACFE627C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4176" y="225092"/>
            <a:ext cx="10594970" cy="313385"/>
          </a:xfrm>
        </p:spPr>
        <p:txBody>
          <a:bodyPr/>
          <a:lstStyle/>
          <a:p>
            <a:r>
              <a:rPr lang="ru-RU"/>
              <a:t>9+3 FC 2026 MAGNIT ADS: BU vs FC (год)</a:t>
            </a:r>
          </a:p>
        </p:txBody>
      </p:sp>
      <p:sp>
        <p:nvSpPr>
          <p:cNvPr id="8" name="Номер слайда 2">
            <a:extLst>
              <a:ext uri="{FF2B5EF4-FFF2-40B4-BE49-F238E27FC236}">
                <a16:creationId xmlns:a16="http://schemas.microsoft.com/office/drawing/2014/main" id="{97AE4444-1457-4A8B-8FBC-FFEE0CE7E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D41D6-7756-D84E-A787-9DAD2BF0F149}" type="slidenum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AEEA04-9C1D-4033-BDAE-A573C4676EE5}"/>
              </a:ext>
            </a:extLst>
          </p:cNvPr>
          <p:cNvSpPr txBox="1"/>
          <p:nvPr/>
        </p:nvSpPr>
        <p:spPr>
          <a:xfrm>
            <a:off x="6629400" y="643938"/>
            <a:ext cx="5452311" cy="59093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400" b="1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/>
                <a:sym typeface="Arial"/>
              </a:rPr>
              <a:t>Комментарии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E-com revenue +4 441 млн руб.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1100" kern="0">
                <a:solidFill>
                  <a:srgbClr val="000000"/>
                </a:solidFill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Выручка поставщиков </a:t>
            </a:r>
            <a:r>
              <a:rPr lang="en-US" sz="1100" kern="0">
                <a:solidFill>
                  <a:srgbClr val="000000"/>
                </a:solidFill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FT</a:t>
            </a: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 (3 430 млн руб.), 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реклама неактивным в 2025 г. поставщикам (932 млн руб.), 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увеличение реализации не-поставщикам (80 млн руб.)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Non-E-com revenue +344 млн руб.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снижение реализации поставщикам (-783 млн руб.), 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реклама неактивным в 2025 г. поставщикам (1 005 млн руб.), 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увеличение реализации не-поставщикам (122 млн руб.)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2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Премии и резерв STI (-96 млн руб.), отпускные (-71 млн руб.), налоги (-17 млн руб.); оплата труда +118 млн руб. (рекласс ФОТ в CAPEX), индексация не закладывается (+49 млн руб.).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Закупка трафика для перепродажи (+305 млн руб.), вознаграждения РА (+91 млн руб.), маркетинг ВГО (-36 млн руб.), PR/GR (+14 млн руб.).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Рекламный сбор (+38 млн руб.), IT: ноутбуки и облачное хранение (+42 млн руб.), резерв отпусков (-22 млн руб.).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Сдвиг по капитализации ФОТ за 9 мес. (+93 млн руб.), Q4 — по бюджету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Целевая система управления медиаконтентом (+227 млн руб.), фасадные экраны ТТ (+93 млн руб.), интеграция с КСО (+67 млн руб.)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</p:txBody>
      </p:sp>
      <p:sp>
        <p:nvSpPr>
          <p:cNvPr id="10" name="Овал 8">
            <a:extLst>
              <a:ext uri="{FF2B5EF4-FFF2-40B4-BE49-F238E27FC236}">
                <a16:creationId xmlns:a16="http://schemas.microsoft.com/office/drawing/2014/main" id="{8889FAF7-B4E1-451B-8947-E8401226A369}"/>
              </a:ext>
            </a:extLst>
          </p:cNvPr>
          <p:cNvSpPr/>
          <p:nvPr/>
        </p:nvSpPr>
        <p:spPr>
          <a:xfrm>
            <a:off x="421597" y="12674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</a:p>
        </p:txBody>
      </p:sp>
      <p:sp>
        <p:nvSpPr>
          <p:cNvPr id="11" name="Овал 15">
            <a:extLst>
              <a:ext uri="{FF2B5EF4-FFF2-40B4-BE49-F238E27FC236}">
                <a16:creationId xmlns:a16="http://schemas.microsoft.com/office/drawing/2014/main" id="{19826D86-69FF-4986-A814-CEB8EA3B1CFD}"/>
              </a:ext>
            </a:extLst>
          </p:cNvPr>
          <p:cNvSpPr/>
          <p:nvPr/>
        </p:nvSpPr>
        <p:spPr>
          <a:xfrm>
            <a:off x="421597" y="1513902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2" name="Овал 8">
            <a:extLst>
              <a:ext uri="{FF2B5EF4-FFF2-40B4-BE49-F238E27FC236}">
                <a16:creationId xmlns:a16="http://schemas.microsoft.com/office/drawing/2014/main" id="{02F64E21-B7F4-4B67-B185-A343A5857B91}"/>
              </a:ext>
            </a:extLst>
          </p:cNvPr>
          <p:cNvSpPr/>
          <p:nvPr/>
        </p:nvSpPr>
        <p:spPr>
          <a:xfrm>
            <a:off x="421597" y="387736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3" name="Овал 8">
            <a:extLst>
              <a:ext uri="{FF2B5EF4-FFF2-40B4-BE49-F238E27FC236}">
                <a16:creationId xmlns:a16="http://schemas.microsoft.com/office/drawing/2014/main" id="{A6279F2B-4BDD-4BA1-A7C4-E4D3B7F2AB20}"/>
              </a:ext>
            </a:extLst>
          </p:cNvPr>
          <p:cNvSpPr/>
          <p:nvPr/>
        </p:nvSpPr>
        <p:spPr>
          <a:xfrm>
            <a:off x="421597" y="4282031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14" name="Овал 8">
            <a:extLst>
              <a:ext uri="{FF2B5EF4-FFF2-40B4-BE49-F238E27FC236}">
                <a16:creationId xmlns:a16="http://schemas.microsoft.com/office/drawing/2014/main" id="{FA1236AB-4DC6-461D-B7C2-F46E8ABD5A66}"/>
              </a:ext>
            </a:extLst>
          </p:cNvPr>
          <p:cNvSpPr/>
          <p:nvPr/>
        </p:nvSpPr>
        <p:spPr>
          <a:xfrm>
            <a:off x="421597" y="450193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15" name="Овал 8">
            <a:extLst>
              <a:ext uri="{FF2B5EF4-FFF2-40B4-BE49-F238E27FC236}">
                <a16:creationId xmlns:a16="http://schemas.microsoft.com/office/drawing/2014/main" id="{1430FF61-C52C-4A41-88F7-946ACD388A92}"/>
              </a:ext>
            </a:extLst>
          </p:cNvPr>
          <p:cNvSpPr/>
          <p:nvPr/>
        </p:nvSpPr>
        <p:spPr>
          <a:xfrm>
            <a:off x="6629400" y="109115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226CD9A3-30BA-4EBC-8975-4E85F3F2FFAA}"/>
              </a:ext>
            </a:extLst>
          </p:cNvPr>
          <p:cNvSpPr/>
          <p:nvPr/>
        </p:nvSpPr>
        <p:spPr>
          <a:xfrm>
            <a:off x="6629400" y="19299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7" name="Овал 8">
            <a:extLst>
              <a:ext uri="{FF2B5EF4-FFF2-40B4-BE49-F238E27FC236}">
                <a16:creationId xmlns:a16="http://schemas.microsoft.com/office/drawing/2014/main" id="{DCB4E56D-3C8C-4BA8-A841-9C608AF74444}"/>
              </a:ext>
            </a:extLst>
          </p:cNvPr>
          <p:cNvSpPr/>
          <p:nvPr/>
        </p:nvSpPr>
        <p:spPr>
          <a:xfrm>
            <a:off x="421597" y="494056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6</a:t>
            </a:r>
          </a:p>
        </p:txBody>
      </p:sp>
      <p:sp>
        <p:nvSpPr>
          <p:cNvPr id="18" name="Овал 8">
            <a:extLst>
              <a:ext uri="{FF2B5EF4-FFF2-40B4-BE49-F238E27FC236}">
                <a16:creationId xmlns:a16="http://schemas.microsoft.com/office/drawing/2014/main" id="{5CFE44FA-4804-473E-9017-9C8D85C4C481}"/>
              </a:ext>
            </a:extLst>
          </p:cNvPr>
          <p:cNvSpPr/>
          <p:nvPr/>
        </p:nvSpPr>
        <p:spPr>
          <a:xfrm>
            <a:off x="421597" y="536128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7</a:t>
            </a:r>
          </a:p>
        </p:txBody>
      </p:sp>
      <p:sp>
        <p:nvSpPr>
          <p:cNvPr id="19" name="Овал 8">
            <a:extLst>
              <a:ext uri="{FF2B5EF4-FFF2-40B4-BE49-F238E27FC236}">
                <a16:creationId xmlns:a16="http://schemas.microsoft.com/office/drawing/2014/main" id="{D097829D-48F1-44DB-8792-096A20C04808}"/>
              </a:ext>
            </a:extLst>
          </p:cNvPr>
          <p:cNvSpPr/>
          <p:nvPr/>
        </p:nvSpPr>
        <p:spPr>
          <a:xfrm>
            <a:off x="421597" y="558584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8</a:t>
            </a:r>
          </a:p>
        </p:txBody>
      </p:sp>
      <p:sp>
        <p:nvSpPr>
          <p:cNvPr id="20" name="Овал 8">
            <a:extLst>
              <a:ext uri="{FF2B5EF4-FFF2-40B4-BE49-F238E27FC236}">
                <a16:creationId xmlns:a16="http://schemas.microsoft.com/office/drawing/2014/main" id="{A6706867-0F12-4550-AA81-1C9C0FAEC80D}"/>
              </a:ext>
            </a:extLst>
          </p:cNvPr>
          <p:cNvSpPr/>
          <p:nvPr/>
        </p:nvSpPr>
        <p:spPr>
          <a:xfrm>
            <a:off x="6629400" y="276875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1" name="Овал 8">
            <a:extLst>
              <a:ext uri="{FF2B5EF4-FFF2-40B4-BE49-F238E27FC236}">
                <a16:creationId xmlns:a16="http://schemas.microsoft.com/office/drawing/2014/main" id="{A637FDDC-FD83-4F35-9D5F-A91657E30783}"/>
              </a:ext>
            </a:extLst>
          </p:cNvPr>
          <p:cNvSpPr/>
          <p:nvPr/>
        </p:nvSpPr>
        <p:spPr>
          <a:xfrm>
            <a:off x="6629400" y="3439795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22" name="Овал 8">
            <a:extLst>
              <a:ext uri="{FF2B5EF4-FFF2-40B4-BE49-F238E27FC236}">
                <a16:creationId xmlns:a16="http://schemas.microsoft.com/office/drawing/2014/main" id="{F6D58699-F374-4F86-A33B-084B4231D36D}"/>
              </a:ext>
            </a:extLst>
          </p:cNvPr>
          <p:cNvSpPr/>
          <p:nvPr/>
        </p:nvSpPr>
        <p:spPr>
          <a:xfrm>
            <a:off x="6629400" y="394308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23" name="Овал 8">
            <a:extLst>
              <a:ext uri="{FF2B5EF4-FFF2-40B4-BE49-F238E27FC236}">
                <a16:creationId xmlns:a16="http://schemas.microsoft.com/office/drawing/2014/main" id="{201E1033-797F-41AA-845D-CDCA2E150DAB}"/>
              </a:ext>
            </a:extLst>
          </p:cNvPr>
          <p:cNvSpPr/>
          <p:nvPr/>
        </p:nvSpPr>
        <p:spPr>
          <a:xfrm>
            <a:off x="6629400" y="444635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6</a:t>
            </a:r>
          </a:p>
        </p:txBody>
      </p:sp>
      <p:sp>
        <p:nvSpPr>
          <p:cNvPr id="24" name="Овал 8">
            <a:extLst>
              <a:ext uri="{FF2B5EF4-FFF2-40B4-BE49-F238E27FC236}">
                <a16:creationId xmlns:a16="http://schemas.microsoft.com/office/drawing/2014/main" id="{1A7E6BA3-BEA1-4425-B7CB-E6F2E37DFDFE}"/>
              </a:ext>
            </a:extLst>
          </p:cNvPr>
          <p:cNvSpPr/>
          <p:nvPr/>
        </p:nvSpPr>
        <p:spPr>
          <a:xfrm>
            <a:off x="6629400" y="4949635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7</a:t>
            </a:r>
          </a:p>
        </p:txBody>
      </p:sp>
      <p:sp>
        <p:nvSpPr>
          <p:cNvPr id="25" name="Овал 8">
            <a:extLst>
              <a:ext uri="{FF2B5EF4-FFF2-40B4-BE49-F238E27FC236}">
                <a16:creationId xmlns:a16="http://schemas.microsoft.com/office/drawing/2014/main" id="{B1D488A2-2A48-4BA5-A8AD-911EBB7248D3}"/>
              </a:ext>
            </a:extLst>
          </p:cNvPr>
          <p:cNvSpPr/>
          <p:nvPr/>
        </p:nvSpPr>
        <p:spPr>
          <a:xfrm>
            <a:off x="6629400" y="52851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8</a:t>
            </a:r>
          </a:p>
        </p:txBody>
      </p:sp>
      <p:graphicFrame>
        <p:nvGraphicFramePr>
          <p:cNvPr id="326" name="Google Shape;326;p48"/>
          <p:cNvGraphicFramePr/>
          <p:nvPr>
            <p:extLst>
              <p:ext uri="{D42A27DB-BD31-4B8C-83A1-F6EECF244321}">
                <p14:modId xmlns:p14="http://schemas.microsoft.com/office/powerpoint/2010/main" val="549052267"/>
              </p:ext>
            </p:extLst>
          </p:nvPr>
        </p:nvGraphicFramePr>
        <p:xfrm>
          <a:off x="665927" y="601465"/>
          <a:ext cx="5659900" cy="559413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48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PL, </a:t>
                      </a:r>
                      <a:r>
                        <a:rPr lang="ru-RU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млн руб.</a:t>
                      </a: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BU 2026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 9+3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 vs BU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%</a:t>
                      </a: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Incremental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3 515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5 653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2 138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61%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Non-vendor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1 000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1 202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202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E-com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1 734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6 175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4 441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256%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Non-E-com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4 113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4 457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344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Gross Revenue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5 847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10 632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4 785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82%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Поставщики/База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3 430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3 430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984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1 916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932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95%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поставщики/База 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750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830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11%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Поставщики/База 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2 333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1 550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(783)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-34%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1 531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2 535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1 005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66%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поставщики/База 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250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372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122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49%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OPEX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(2 789)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(2 364)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425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-15%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PEX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(1 088)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(1 106)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(18)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PEX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(33)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(38)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(5)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15%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Marketing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(1 519)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(1 151)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368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-24%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OPEX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(92)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(54)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-42%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IT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(59)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(16)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42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-72%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EBITDA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3 058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8 268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5 210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170%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CAPEX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(1 180)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(704)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475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-40%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AT Platform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(447)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(354)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-21%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In-store digital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(733)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(350)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383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-52%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FCF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1 878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7 564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5 685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303%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 EBITDA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725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3 288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2 563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353%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</a:tbl>
          </a:graphicData>
        </a:graphic>
      </p:graphicFrame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3529FB5C-8AF3-439F-83C1-867730042278}"/>
              </a:ext>
            </a:extLst>
          </p:cNvPr>
          <p:cNvSpPr/>
          <p:nvPr/>
        </p:nvSpPr>
        <p:spPr>
          <a:xfrm rot="16200000">
            <a:off x="97172" y="2219727"/>
            <a:ext cx="828850" cy="180000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kumimoji="0" sz="900" b="1" i="0" u="none" strike="noStrike" kern="0" cap="none" spc="0" normalizeH="0" baseline="0">
                <a:ln>
                  <a:noFill/>
                </a:ln>
                <a:solidFill>
                  <a:srgbClr val="FF452C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E-COM</a:t>
            </a: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E2449E2A-1DA6-482F-98B6-D5691C4F7BCE}"/>
              </a:ext>
            </a:extLst>
          </p:cNvPr>
          <p:cNvSpPr/>
          <p:nvPr/>
        </p:nvSpPr>
        <p:spPr>
          <a:xfrm rot="16200000">
            <a:off x="87362" y="3102988"/>
            <a:ext cx="848471" cy="180000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kumimoji="0" sz="900" b="1" i="0" u="none" strike="noStrike" kern="0" cap="none" spc="0" normalizeH="0" baseline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NON-E-COM</a:t>
            </a:r>
          </a:p>
        </p:txBody>
      </p:sp>
    </p:spTree>
    <p:extLst>
      <p:ext uri="{BB962C8B-B14F-4D97-AF65-F5344CB8AC3E}">
        <p14:creationId xmlns:p14="http://schemas.microsoft.com/office/powerpoint/2010/main" val="2201540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1B811-6CAB-1796-7591-8FB56BE4B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EFE5AF49-C2DC-D2F0-B28F-15171F32E3C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3F88BAFC-2016-0044-B346-1E19381426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D2A085D4-0E9A-52FA-8634-E11653FB0E6F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ru-RU" sz="5000" b="1">
                <a:solidFill>
                  <a:srgbClr val="FFFFFF"/>
                </a:solidFill>
                <a:latin typeface="Arial"/>
              </a:rPr>
              <a:t>Бюджет 2027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2568DA0E-E9F4-B4CA-ADDD-8733FF38F4E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3336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F84D4825-01B3-4D34-80A0-460B43F3816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84D4825-01B3-4D34-80A0-460B43F381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8CBBF0-A6D9-4B80-B3B2-E0B409F94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D41D6-7756-D84E-A787-9DAD2BF0F149}" type="slidenum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1418B67-2B10-4F87-873F-7C10DAA6D7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Корпоративные КПЭ на 2027 год – предложение</a:t>
            </a:r>
          </a:p>
          <a:p>
            <a:endParaRPr lang="ru-RU"/>
          </a:p>
        </p:txBody>
      </p:sp>
      <p:graphicFrame>
        <p:nvGraphicFramePr>
          <p:cNvPr id="13" name="Table 0">
            <a:extLst>
              <a:ext uri="{FF2B5EF4-FFF2-40B4-BE49-F238E27FC236}">
                <a16:creationId xmlns:a16="http://schemas.microsoft.com/office/drawing/2014/main" id="{C6283BF6-BC72-4EB9-B57D-2572F77259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7825887"/>
              </p:ext>
            </p:extLst>
          </p:nvPr>
        </p:nvGraphicFramePr>
        <p:xfrm>
          <a:off x="182880" y="885825"/>
          <a:ext cx="11841480" cy="4264248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97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400" b="1">
                          <a:latin typeface="Arial" charset="0"/>
                          <a:ea typeface="Arial" charset="0"/>
                          <a:cs typeface="Arial" charset="0"/>
                        </a:rPr>
                        <a:t>2027</a:t>
                      </a: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85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7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КПЭ</a:t>
                      </a:r>
                      <a:endParaRPr lang="ru-RU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Показатель</a:t>
                      </a:r>
                      <a:endParaRPr lang="ru-RU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Вес</a:t>
                      </a:r>
                      <a:endParaRPr lang="ru-RU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354" rtl="0" eaLnBrk="1" latinLnBrk="0" hangingPunct="1">
                        <a:buNone/>
                      </a:pPr>
                      <a:r>
                        <a:rPr lang="ru-RU" sz="1400" b="1" kern="120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Мин</a:t>
                      </a:r>
                      <a:endParaRPr lang="ru-RU" sz="1400" b="1" kern="1200">
                        <a:solidFill>
                          <a:srgbClr val="000000"/>
                        </a:solidFill>
                        <a:latin typeface="Arial" pitchFamily="34" charset="0"/>
                        <a:ea typeface="Arial" charset="0"/>
                        <a:cs typeface="Arial" pitchFamily="34" charset="-12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354" rtl="0" eaLnBrk="1" latinLnBrk="0" hangingPunct="1">
                        <a:buNone/>
                      </a:pPr>
                      <a:r>
                        <a:rPr lang="ru-RU" sz="1400" b="1" kern="120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Цель</a:t>
                      </a:r>
                      <a:endParaRPr lang="ru-RU" sz="1400" b="1" kern="1200">
                        <a:solidFill>
                          <a:srgbClr val="000000"/>
                        </a:solidFill>
                        <a:latin typeface="Arial" pitchFamily="34" charset="0"/>
                        <a:ea typeface="Arial" charset="0"/>
                        <a:cs typeface="Arial" pitchFamily="34" charset="-12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354" rtl="0" eaLnBrk="1" latinLnBrk="0" hangingPunct="1">
                        <a:buNone/>
                      </a:pPr>
                      <a:r>
                        <a:rPr lang="ru-RU" sz="1400" b="1" kern="120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Макс</a:t>
                      </a:r>
                      <a:endParaRPr lang="ru-RU" sz="1400" b="1" kern="1200">
                        <a:solidFill>
                          <a:srgbClr val="000000"/>
                        </a:solidFill>
                        <a:latin typeface="Arial" pitchFamily="34" charset="0"/>
                        <a:ea typeface="Arial" charset="0"/>
                        <a:cs typeface="Arial" pitchFamily="34" charset="-12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47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Выручка</a:t>
                      </a:r>
                      <a:endParaRPr lang="ru-RU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5448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Значение, млрд руб.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25%</a:t>
                      </a:r>
                      <a:endParaRPr lang="ru-RU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11,7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14,6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17,5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47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300" b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выполнения бюджета</a:t>
                      </a:r>
                      <a:endParaRPr lang="ru-RU" sz="1300" b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47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EBITDA</a:t>
                      </a:r>
                      <a:endParaRPr lang="en-US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5448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Значение, млрд руб.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35%</a:t>
                      </a:r>
                      <a:endParaRPr lang="ru-RU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8,7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10,8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13,0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647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300" b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выполнения бюджета</a:t>
                      </a:r>
                      <a:endParaRPr lang="ru-RU" sz="1300" b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647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FCF</a:t>
                      </a:r>
                      <a:endParaRPr lang="en-US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5448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Значение, млрд руб.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ru-RU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7,7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9,7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11,6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647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300" b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выполнения бюджета</a:t>
                      </a:r>
                      <a:endParaRPr lang="ru-RU" sz="1300" b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647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Деньги от новых инициатив</a:t>
                      </a:r>
                      <a:endParaRPr lang="ru-RU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5448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Значение, млрд руб.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ru-RU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1,8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2,3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2,7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647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300" b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выполнения бюджета</a:t>
                      </a:r>
                      <a:endParaRPr lang="ru-RU" sz="1300" b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647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Прирост инвентаря</a:t>
                      </a:r>
                      <a:endParaRPr lang="ru-RU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5448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Значение, 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ru-RU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+36%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4647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300" b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выполнения бюджета</a:t>
                      </a:r>
                      <a:endParaRPr lang="ru-RU" sz="1300" b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C2BAA3-32B1-71C0-5F37-99B2C6E2F7F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92601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E30666E-5DDA-7C37-E83B-3CD387FA1F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1. Ads Market Calc (внутренняя оценка рынка Magnit ADS). Все финансовые показатели — млн руб. без НДС, сравнение с FC 2026 и стратегией 2027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9739A8-6D06-4296-15BC-B08991E1FE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7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2C5617-DF71-AC57-5D39-E98D239B02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Executive Summary: бюджет Magnit </a:t>
            </a:r>
            <a:r>
              <a:rPr lang="en-US"/>
              <a:t>ADS</a:t>
            </a:r>
            <a:r>
              <a:rPr lang="ru-RU"/>
              <a:t> 2027</a:t>
            </a:r>
          </a:p>
        </p:txBody>
      </p:sp>
      <p:sp>
        <p:nvSpPr>
          <p:cNvPr id="100" name="Shape 100"/>
          <p:cNvSpPr/>
          <p:nvPr/>
        </p:nvSpPr>
        <p:spPr>
          <a:xfrm>
            <a:off x="368300" y="965200"/>
            <a:ext cx="2749550" cy="1066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127000" tIns="101600" rIns="127000" bIns="1270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2600" b="1">
                <a:solidFill>
                  <a:srgbClr val="FF452C"/>
                </a:solidFill>
              </a:rPr>
              <a:t>14 566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Выручка, млн руб.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+41% к FC 2026  ·  +12% к стратегии</a:t>
            </a:r>
          </a:p>
        </p:txBody>
      </p:sp>
      <p:sp>
        <p:nvSpPr>
          <p:cNvPr id="101" name="Shape 101"/>
          <p:cNvSpPr/>
          <p:nvPr/>
        </p:nvSpPr>
        <p:spPr>
          <a:xfrm>
            <a:off x="3270250" y="965200"/>
            <a:ext cx="2749550" cy="1066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127000" tIns="101600" rIns="127000" bIns="1270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2600" b="1">
                <a:solidFill>
                  <a:srgbClr val="FF452C"/>
                </a:solidFill>
              </a:rPr>
              <a:t>10 823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EBITDA, млн руб.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+34% к FC 2026</a:t>
            </a:r>
          </a:p>
        </p:txBody>
      </p:sp>
      <p:sp>
        <p:nvSpPr>
          <p:cNvPr id="102" name="Shape 102"/>
          <p:cNvSpPr/>
          <p:nvPr/>
        </p:nvSpPr>
        <p:spPr>
          <a:xfrm>
            <a:off x="6172200" y="965200"/>
            <a:ext cx="2749550" cy="1066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127000" tIns="101600" rIns="127000" bIns="1270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2600" b="1">
                <a:solidFill>
                  <a:srgbClr val="FF452C"/>
                </a:solidFill>
              </a:rPr>
              <a:t>1 151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CAPEX, млн руб.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−2% к FC 2026  ·  −7% к стратегии</a:t>
            </a:r>
          </a:p>
        </p:txBody>
      </p:sp>
      <p:sp>
        <p:nvSpPr>
          <p:cNvPr id="103" name="Shape 103"/>
          <p:cNvSpPr/>
          <p:nvPr/>
        </p:nvSpPr>
        <p:spPr>
          <a:xfrm>
            <a:off x="9074150" y="965200"/>
            <a:ext cx="2749550" cy="1066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127000" tIns="101600" rIns="127000" bIns="1270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2600" b="1">
                <a:solidFill>
                  <a:srgbClr val="FF452C"/>
                </a:solidFill>
              </a:rPr>
              <a:t>9 673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FCF, млн руб.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+40% к FC 2026  ·  +11% к стратегии</a:t>
            </a:r>
          </a:p>
        </p:txBody>
      </p:sp>
      <p:sp>
        <p:nvSpPr>
          <p:cNvPr id="104" name="Shape 104"/>
          <p:cNvSpPr txBox="1"/>
          <p:nvPr/>
        </p:nvSpPr>
        <p:spPr>
          <a:xfrm>
            <a:off x="368300" y="2260600"/>
            <a:ext cx="3649133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Стратегия</a:t>
            </a:r>
          </a:p>
        </p:txBody>
      </p:sp>
      <p:sp>
        <p:nvSpPr>
          <p:cNvPr id="105" name="Shape 105"/>
          <p:cNvSpPr/>
          <p:nvPr/>
        </p:nvSpPr>
        <p:spPr>
          <a:xfrm>
            <a:off x="368300" y="2590800"/>
            <a:ext cx="3649133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06" name="Shape 106"/>
          <p:cNvSpPr txBox="1"/>
          <p:nvPr/>
        </p:nvSpPr>
        <p:spPr>
          <a:xfrm>
            <a:off x="368300" y="2717800"/>
            <a:ext cx="3649133" cy="342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Рынок Retail Media вырастет до </a:t>
            </a:r>
            <a:r>
              <a:rPr lang="ru-RU" sz="1400" b="1">
                <a:solidFill>
                  <a:srgbClr val="000000"/>
                </a:solidFill>
              </a:rPr>
              <a:t>1,2 трлн руб.</a:t>
            </a:r>
            <a:r>
              <a:rPr lang="ru-RU" sz="1400">
                <a:solidFill>
                  <a:srgbClr val="000000"/>
                </a:solidFill>
              </a:rPr>
              <a:t> в 2027 г. (+35%), это 42% рекламного рынка</a:t>
            </a:r>
            <a:r>
              <a:rPr lang="ru-RU" sz="1400" baseline="30000">
                <a:solidFill>
                  <a:srgbClr val="000000"/>
                </a:solidFill>
              </a:rPr>
              <a:t>1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</a:rPr>
              <a:t>AdTech</a:t>
            </a:r>
            <a:r>
              <a:rPr lang="ru-RU" sz="1400" b="1">
                <a:solidFill>
                  <a:srgbClr val="000000"/>
                </a:solidFill>
              </a:rPr>
              <a:t> растёт быстрее рынка: </a:t>
            </a:r>
            <a:r>
              <a:rPr lang="ru-RU" sz="1400">
                <a:solidFill>
                  <a:srgbClr val="000000"/>
                </a:solidFill>
              </a:rPr>
              <a:t>+41% против +35% у Retail Media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Четыре драйвера роста: </a:t>
            </a:r>
            <a:r>
              <a:rPr lang="ru-RU" sz="1400">
                <a:solidFill>
                  <a:srgbClr val="000000"/>
                </a:solidFill>
              </a:rPr>
              <a:t>аудитория приложения (DAC +3 млн, до 31,1 млн), полный год нового прайса и in-store оборудования 2026 г., новые направления — RMN и Content </a:t>
            </a:r>
            <a:r>
              <a:rPr lang="en-US" sz="1400">
                <a:solidFill>
                  <a:srgbClr val="000000"/>
                </a:solidFill>
              </a:rPr>
              <a:t>factory</a:t>
            </a:r>
            <a:endParaRPr lang="ru-RU" sz="1400">
              <a:solidFill>
                <a:srgbClr val="000000"/>
              </a:solidFill>
            </a:endParaRPr>
          </a:p>
        </p:txBody>
      </p:sp>
      <p:sp>
        <p:nvSpPr>
          <p:cNvPr id="107" name="Shape 107"/>
          <p:cNvSpPr txBox="1"/>
          <p:nvPr/>
        </p:nvSpPr>
        <p:spPr>
          <a:xfrm>
            <a:off x="4271433" y="2260600"/>
            <a:ext cx="3649133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Бюджет 2027</a:t>
            </a:r>
          </a:p>
        </p:txBody>
      </p:sp>
      <p:sp>
        <p:nvSpPr>
          <p:cNvPr id="108" name="Shape 108"/>
          <p:cNvSpPr/>
          <p:nvPr/>
        </p:nvSpPr>
        <p:spPr>
          <a:xfrm>
            <a:off x="4271433" y="2590800"/>
            <a:ext cx="3649133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09" name="Shape 109"/>
          <p:cNvSpPr txBox="1"/>
          <p:nvPr/>
        </p:nvSpPr>
        <p:spPr>
          <a:xfrm>
            <a:off x="4271433" y="2717800"/>
            <a:ext cx="3649133" cy="342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Выручка на 1 618 млн руб. выше стратегии: </a:t>
            </a:r>
            <a:r>
              <a:rPr lang="ru-RU" sz="1400">
                <a:solidFill>
                  <a:srgbClr val="000000"/>
                </a:solidFill>
              </a:rPr>
              <a:t>основной вклад — RMN (+850, не закладывался в стратегию) и DMP+Online (+537)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42% годовой выручки приходится на Q4: </a:t>
            </a:r>
            <a:r>
              <a:rPr lang="ru-RU" sz="1400">
                <a:solidFill>
                  <a:srgbClr val="000000"/>
                </a:solidFill>
              </a:rPr>
              <a:t>сезонность цен и рост аудитории к концу года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OPEX с учётом COGS растёт на 1 504 млн руб. (+67%): </a:t>
            </a:r>
            <a:r>
              <a:rPr lang="ru-RU" sz="1400">
                <a:solidFill>
                  <a:srgbClr val="000000"/>
                </a:solidFill>
              </a:rPr>
              <a:t>73% прироста — переменные расходы, которые масштабируются вместе с выручкой (трафик DMP, агентства, креаторы)</a:t>
            </a:r>
          </a:p>
        </p:txBody>
      </p:sp>
      <p:sp>
        <p:nvSpPr>
          <p:cNvPr id="110" name="Shape 110"/>
          <p:cNvSpPr txBox="1"/>
          <p:nvPr/>
        </p:nvSpPr>
        <p:spPr>
          <a:xfrm>
            <a:off x="8174567" y="2260600"/>
            <a:ext cx="3649133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CAPEX и FCF</a:t>
            </a:r>
          </a:p>
        </p:txBody>
      </p:sp>
      <p:sp>
        <p:nvSpPr>
          <p:cNvPr id="111" name="Shape 111"/>
          <p:cNvSpPr/>
          <p:nvPr/>
        </p:nvSpPr>
        <p:spPr>
          <a:xfrm>
            <a:off x="8174567" y="2590800"/>
            <a:ext cx="3649133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12" name="Shape 112"/>
          <p:cNvSpPr txBox="1"/>
          <p:nvPr/>
        </p:nvSpPr>
        <p:spPr>
          <a:xfrm>
            <a:off x="8174567" y="2717800"/>
            <a:ext cx="3649133" cy="342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AT Platform: 541 млн руб. (+94), </a:t>
            </a:r>
            <a:r>
              <a:rPr lang="ru-RU" sz="1400">
                <a:solidFill>
                  <a:srgbClr val="000000"/>
                </a:solidFill>
              </a:rPr>
              <a:t>основная часть — капитализация ФОТ разработки (510)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In-store: 610 млн руб. (−123), </a:t>
            </a:r>
            <a:r>
              <a:rPr lang="ru-RU" sz="1400">
                <a:solidFill>
                  <a:srgbClr val="000000"/>
                </a:solidFill>
              </a:rPr>
              <a:t>в т.ч. система управления медиаконтентом (438)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FCF 9 673 млн руб., </a:t>
            </a:r>
            <a:r>
              <a:rPr lang="ru-RU" sz="1400">
                <a:solidFill>
                  <a:srgbClr val="000000"/>
                </a:solidFill>
              </a:rPr>
              <a:t>на 962 млн руб. выше стратегии: рост EBITDA при CAPEX на уровне 2026 г.</a:t>
            </a:r>
          </a:p>
        </p:txBody>
      </p:sp>
    </p:spTree>
    <p:extLst>
      <p:ext uri="{BB962C8B-B14F-4D97-AF65-F5344CB8AC3E}">
        <p14:creationId xmlns:p14="http://schemas.microsoft.com/office/powerpoint/2010/main" val="3519000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9739A8-6D06-4296-15BC-B08991E1FE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8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2C5617-DF71-AC57-5D39-E98D239B02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Бюджет 2027 соответствует </a:t>
            </a:r>
            <a:r>
              <a:rPr lang="en-US"/>
              <a:t>top down </a:t>
            </a:r>
            <a:r>
              <a:rPr lang="ru-RU"/>
              <a:t>целям</a:t>
            </a:r>
          </a:p>
        </p:txBody>
      </p:sp>
      <p:sp>
        <p:nvSpPr>
          <p:cNvPr id="104" name="Shape 104"/>
          <p:cNvSpPr txBox="1"/>
          <p:nvPr/>
        </p:nvSpPr>
        <p:spPr>
          <a:xfrm>
            <a:off x="368300" y="1066800"/>
            <a:ext cx="7810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Бюджет 2027 vs стратегия и top-down, млн руб.</a:t>
            </a:r>
          </a:p>
        </p:txBody>
      </p:sp>
      <p:sp>
        <p:nvSpPr>
          <p:cNvPr id="105" name="Shape 105"/>
          <p:cNvSpPr/>
          <p:nvPr/>
        </p:nvSpPr>
        <p:spPr>
          <a:xfrm>
            <a:off x="368300" y="1397000"/>
            <a:ext cx="7810500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10" name="Shape 110"/>
          <p:cNvSpPr txBox="1"/>
          <p:nvPr/>
        </p:nvSpPr>
        <p:spPr>
          <a:xfrm>
            <a:off x="8432800" y="1066800"/>
            <a:ext cx="33909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Комментарии</a:t>
            </a:r>
          </a:p>
        </p:txBody>
      </p:sp>
      <p:sp>
        <p:nvSpPr>
          <p:cNvPr id="111" name="Shape 111"/>
          <p:cNvSpPr/>
          <p:nvPr/>
        </p:nvSpPr>
        <p:spPr>
          <a:xfrm>
            <a:off x="8432800" y="1397000"/>
            <a:ext cx="3390900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12" name="Shape 112"/>
          <p:cNvSpPr txBox="1"/>
          <p:nvPr/>
        </p:nvSpPr>
        <p:spPr>
          <a:xfrm>
            <a:off x="8432800" y="1524000"/>
            <a:ext cx="3390900" cy="457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Выручка вне КУ (непоставщики и бренд бюджеты) - 2 272: рост </a:t>
            </a:r>
            <a:r>
              <a:rPr lang="en-US" sz="1200" b="1">
                <a:solidFill>
                  <a:srgbClr val="000000"/>
                </a:solidFill>
              </a:rPr>
              <a:t>vs top down </a:t>
            </a:r>
            <a:r>
              <a:rPr lang="ru-RU" sz="1200">
                <a:solidFill>
                  <a:srgbClr val="000000"/>
                </a:solidFill>
              </a:rPr>
              <a:t>за счёт запуска Content </a:t>
            </a:r>
            <a:r>
              <a:rPr lang="en-US" sz="1200">
                <a:solidFill>
                  <a:srgbClr val="000000"/>
                </a:solidFill>
              </a:rPr>
              <a:t>factory</a:t>
            </a:r>
            <a:r>
              <a:rPr lang="ru-RU" sz="1200">
                <a:solidFill>
                  <a:srgbClr val="000000"/>
                </a:solidFill>
              </a:rPr>
              <a:t> (+272 млн руб.) 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OPEX 1 772 млн руб.: </a:t>
            </a:r>
            <a:r>
              <a:rPr lang="ru-RU" sz="1200">
                <a:solidFill>
                  <a:srgbClr val="000000"/>
                </a:solidFill>
              </a:rPr>
              <a:t>на 272 выше top-down, что компенсируется превышением по выручке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EBITDA 500 млн руб.: </a:t>
            </a:r>
            <a:r>
              <a:rPr lang="ru-RU" sz="1200">
                <a:solidFill>
                  <a:srgbClr val="000000"/>
                </a:solidFill>
              </a:rPr>
              <a:t>на уровне top-down, на 15 выше стратегии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CAPEX 1 151 млн руб.: </a:t>
            </a:r>
            <a:r>
              <a:rPr lang="ru-RU" sz="1200">
                <a:solidFill>
                  <a:srgbClr val="000000"/>
                </a:solidFill>
              </a:rPr>
              <a:t>на 92 ниже стратегии и на 149 ниже таргета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Консолидированный FCF −651 млн руб.: </a:t>
            </a:r>
            <a:r>
              <a:rPr lang="ru-RU" sz="1200">
                <a:solidFill>
                  <a:srgbClr val="000000"/>
                </a:solidFill>
              </a:rPr>
              <a:t>на 149 лучше top-down за счёт CAPEX, на 107 лучше стратегии</a:t>
            </a:r>
          </a:p>
        </p:txBody>
      </p:sp>
      <p:graphicFrame>
        <p:nvGraphicFramePr>
          <p:cNvPr id="113" name="Table topdow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0376828"/>
              </p:ext>
            </p:extLst>
          </p:nvPr>
        </p:nvGraphicFramePr>
        <p:xfrm>
          <a:off x="368300" y="1676400"/>
          <a:ext cx="7810000" cy="4260000"/>
        </p:xfrm>
        <a:graphic>
          <a:graphicData uri="http://schemas.openxmlformats.org/drawingml/2006/table">
            <a:tbl>
              <a:tblPr firstRow="1"/>
              <a:tblGrid>
                <a:gridCol w="26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0000">
                <a:tc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solidFill>
                            <a:srgbClr val="000000"/>
                          </a:solidFill>
                          <a:latin typeface="Arial"/>
                        </a:rPr>
                        <a:t>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1">
                          <a:solidFill>
                            <a:srgbClr val="000000"/>
                          </a:solidFill>
                          <a:latin typeface="Arial"/>
                        </a:rPr>
                        <a:t>Стратегия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>
                          <a:solidFill>
                            <a:srgbClr val="000000"/>
                          </a:solidFill>
                          <a:latin typeface="Arial"/>
                        </a:rPr>
                        <a:t>Top-down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>
                          <a:solidFill>
                            <a:srgbClr val="000000"/>
                          </a:solidFill>
                          <a:latin typeface="Arial"/>
                        </a:rPr>
                        <a:t>BU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1">
                          <a:solidFill>
                            <a:srgbClr val="000000"/>
                          </a:solidFill>
                          <a:latin typeface="Arial"/>
                        </a:rPr>
                        <a:t>Δ к top-down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algn="l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Прирост Net Revenue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2 000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2 000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2 272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+272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000000"/>
                          </a:solidFill>
                          <a:latin typeface="Arial"/>
                        </a:rPr>
                        <a:t>OPEX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(1 515)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(1 500)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(1 772)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(272)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000000"/>
                          </a:solidFill>
                          <a:latin typeface="Arial"/>
                        </a:rPr>
                        <a:t>EBITDA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0">
                          <a:solidFill>
                            <a:srgbClr val="000000"/>
                          </a:solidFill>
                          <a:latin typeface="Arial"/>
                        </a:rPr>
                        <a:t>485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0">
                          <a:solidFill>
                            <a:srgbClr val="000000"/>
                          </a:solidFill>
                          <a:latin typeface="Arial"/>
                        </a:rPr>
                        <a:t>500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0">
                          <a:solidFill>
                            <a:srgbClr val="000000"/>
                          </a:solidFill>
                          <a:latin typeface="Arial"/>
                        </a:rPr>
                        <a:t>500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000000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(1 242)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(1 300)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(1 151)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+149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algn="l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FCF консолидированный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E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(757)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E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(800)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E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(651)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E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+149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93722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9739A8-6D06-4296-15BC-B08991E1FE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9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2C5617-DF71-AC57-5D39-E98D239B02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Net Revenue</a:t>
            </a:r>
            <a:r>
              <a:rPr lang="ru-RU"/>
              <a:t> 12,6 млрд руб. (+33% </a:t>
            </a:r>
            <a:r>
              <a:rPr lang="en-US"/>
              <a:t>vs 2026).</a:t>
            </a:r>
            <a:r>
              <a:rPr lang="ru-RU"/>
              <a:t> Внешняя выручка (непоставщики, бренд бюджеты) составит 2,3 млрд руб.</a:t>
            </a:r>
          </a:p>
        </p:txBody>
      </p:sp>
      <p:sp>
        <p:nvSpPr>
          <p:cNvPr id="104" name="Shape 104"/>
          <p:cNvSpPr txBox="1"/>
          <p:nvPr/>
        </p:nvSpPr>
        <p:spPr>
          <a:xfrm>
            <a:off x="368300" y="1066800"/>
            <a:ext cx="7810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1">
                <a:solidFill>
                  <a:srgbClr val="000000"/>
                </a:solidFill>
              </a:rPr>
              <a:t>Net</a:t>
            </a:r>
            <a:r>
              <a:rPr lang="ru-RU" sz="1600" b="1">
                <a:solidFill>
                  <a:srgbClr val="000000"/>
                </a:solidFill>
              </a:rPr>
              <a:t> </a:t>
            </a:r>
            <a:r>
              <a:rPr lang="en-US" sz="1600" b="1">
                <a:solidFill>
                  <a:srgbClr val="000000"/>
                </a:solidFill>
              </a:rPr>
              <a:t>Revenue</a:t>
            </a:r>
            <a:r>
              <a:rPr lang="ru-RU" sz="1600" b="1">
                <a:solidFill>
                  <a:srgbClr val="000000"/>
                </a:solidFill>
              </a:rPr>
              <a:t>: прогноз 2026 → BU 2027, млн руб.</a:t>
            </a:r>
          </a:p>
        </p:txBody>
      </p:sp>
      <p:sp>
        <p:nvSpPr>
          <p:cNvPr id="105" name="Shape 105"/>
          <p:cNvSpPr/>
          <p:nvPr/>
        </p:nvSpPr>
        <p:spPr>
          <a:xfrm>
            <a:off x="368300" y="1397000"/>
            <a:ext cx="7810500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10" name="Shape 110"/>
          <p:cNvSpPr txBox="1"/>
          <p:nvPr/>
        </p:nvSpPr>
        <p:spPr>
          <a:xfrm>
            <a:off x="8432800" y="1066800"/>
            <a:ext cx="33909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Комментарии</a:t>
            </a:r>
          </a:p>
        </p:txBody>
      </p:sp>
      <p:sp>
        <p:nvSpPr>
          <p:cNvPr id="111" name="Shape 111"/>
          <p:cNvSpPr/>
          <p:nvPr/>
        </p:nvSpPr>
        <p:spPr>
          <a:xfrm>
            <a:off x="8432800" y="1397000"/>
            <a:ext cx="3390900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12" name="Shape 112"/>
          <p:cNvSpPr txBox="1"/>
          <p:nvPr/>
        </p:nvSpPr>
        <p:spPr>
          <a:xfrm>
            <a:off x="8432800" y="1524000"/>
            <a:ext cx="3390900" cy="457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Net Revenue +3 152 (+33%): COGS растёт на 1 091</a:t>
            </a:r>
            <a:r>
              <a:rPr lang="ru-RU" sz="1200">
                <a:solidFill>
                  <a:srgbClr val="000000"/>
                </a:solidFill>
              </a:rPr>
              <a:t> — трафик DMP, агентства и креаторы растут вместе с выручкой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72% прироста — APP и In-store: </a:t>
            </a:r>
            <a:r>
              <a:rPr lang="ru-RU" sz="1200">
                <a:solidFill>
                  <a:srgbClr val="000000"/>
                </a:solidFill>
              </a:rPr>
              <a:t>полный год нового прайса, рост DAC на 3 млн (до 31,1 млн </a:t>
            </a:r>
            <a:r>
              <a:rPr lang="en-US" sz="1200">
                <a:solidFill>
                  <a:srgbClr val="000000"/>
                </a:solidFill>
              </a:rPr>
              <a:t>DAC)</a:t>
            </a:r>
            <a:r>
              <a:rPr lang="ru-RU" sz="1200">
                <a:solidFill>
                  <a:srgbClr val="000000"/>
                </a:solidFill>
              </a:rPr>
              <a:t> и полный год оборудования, введённого в 2026 г.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Внешние деньги вне КУ +471 млн руб.: </a:t>
            </a:r>
            <a:r>
              <a:rPr lang="ru-RU" sz="1200">
                <a:solidFill>
                  <a:srgbClr val="000000"/>
                </a:solidFill>
              </a:rPr>
              <a:t>бренд-бюджеты поставщиков через RMN и внешние рекламодатели Content </a:t>
            </a:r>
            <a:r>
              <a:rPr lang="en-US" sz="1200">
                <a:solidFill>
                  <a:srgbClr val="000000"/>
                </a:solidFill>
              </a:rPr>
              <a:t>factory</a:t>
            </a:r>
            <a:endParaRPr lang="ru-RU" sz="1200">
              <a:solidFill>
                <a:srgbClr val="000000"/>
              </a:solidFill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EB96ED1-09EA-5A54-74D0-616C13060700}"/>
              </a:ext>
            </a:extLst>
          </p:cNvPr>
          <p:cNvCxnSpPr/>
          <p:nvPr>
            <p:custDataLst>
              <p:tags r:id="rId1"/>
            </p:custDataLst>
          </p:nvPr>
        </p:nvCxnSpPr>
        <p:spPr bwMode="auto">
          <a:xfrm>
            <a:off x="1038225" y="2441575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5E4D7D0-D17F-0F71-0D5B-4C1E0F67A370}"/>
              </a:ext>
            </a:extLst>
          </p:cNvPr>
          <p:cNvCxnSpPr/>
          <p:nvPr>
            <p:custDataLst>
              <p:tags r:id="rId2"/>
            </p:custDataLst>
          </p:nvPr>
        </p:nvCxnSpPr>
        <p:spPr bwMode="auto">
          <a:xfrm>
            <a:off x="1906588" y="2244725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CEA933D-C01B-D37C-E525-E2267FC1D36F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2774950" y="2047875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C3CF9E5-A794-AEBF-0CEC-6F094DAC2876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3643313" y="1966913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76FD1A4-FB9E-6E58-A27D-F97E01682FDC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4511675" y="1933575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40BC6E3-2E77-61CD-E17F-9C3DC62BBACC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>
            <a:off x="5380038" y="1905000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BE56FCA-5903-413A-1FAA-B9D727C407DD}"/>
              </a:ext>
            </a:extLst>
          </p:cNvPr>
          <p:cNvCxnSpPr/>
          <p:nvPr>
            <p:custDataLst>
              <p:tags r:id="rId7"/>
            </p:custDataLst>
          </p:nvPr>
        </p:nvCxnSpPr>
        <p:spPr bwMode="auto">
          <a:xfrm>
            <a:off x="6248400" y="1893888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1A219F8-778D-81EC-03D2-F641F22E7468}"/>
              </a:ext>
            </a:extLst>
          </p:cNvPr>
          <p:cNvCxnSpPr/>
          <p:nvPr>
            <p:custDataLst>
              <p:tags r:id="rId8"/>
            </p:custDataLst>
          </p:nvPr>
        </p:nvCxnSpPr>
        <p:spPr bwMode="auto">
          <a:xfrm>
            <a:off x="7116763" y="2025650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EDDE96BB-50B6-FD8F-4918-9BD16189352D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5765800" y="1893888"/>
            <a:ext cx="482600" cy="11112"/>
          </a:xfrm>
          <a:prstGeom prst="rect">
            <a:avLst/>
          </a:prstGeom>
          <a:solidFill>
            <a:srgbClr val="00777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635D475C-46BD-F790-5E8D-659B15C2CD0F}"/>
              </a:ext>
            </a:extLst>
          </p:cNvPr>
          <p:cNvGraphicFramePr/>
          <p:nvPr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1702267047"/>
              </p:ext>
            </p:extLst>
          </p:nvPr>
        </p:nvGraphicFramePr>
        <p:xfrm>
          <a:off x="280988" y="1587499"/>
          <a:ext cx="7980362" cy="43626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5"/>
          </a:graphicData>
        </a:graphic>
      </p:graphicFrame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EAFCD86-EF54-2F0C-822C-736690B8A7D2}"/>
              </a:ext>
            </a:extLst>
          </p:cNvPr>
          <p:cNvCxnSpPr/>
          <p:nvPr>
            <p:custDataLst>
              <p:tags r:id="rId11"/>
            </p:custDataLst>
          </p:nvPr>
        </p:nvCxnSpPr>
        <p:spPr bwMode="auto">
          <a:xfrm flipV="1">
            <a:off x="796925" y="1617663"/>
            <a:ext cx="0" cy="568325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3B216F2-8CBF-E828-FA0E-33A60ED3AAED}"/>
              </a:ext>
            </a:extLst>
          </p:cNvPr>
          <p:cNvCxnSpPr/>
          <p:nvPr>
            <p:custDataLst>
              <p:tags r:id="rId12"/>
            </p:custDataLst>
          </p:nvPr>
        </p:nvCxnSpPr>
        <p:spPr bwMode="auto">
          <a:xfrm>
            <a:off x="796924" y="1617663"/>
            <a:ext cx="694690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8D32BC4-E0FF-B15C-3C70-D160FA853D67}"/>
              </a:ext>
            </a:extLst>
          </p:cNvPr>
          <p:cNvCxnSpPr/>
          <p:nvPr>
            <p:custDataLst>
              <p:tags r:id="rId13"/>
            </p:custDataLst>
          </p:nvPr>
        </p:nvCxnSpPr>
        <p:spPr bwMode="auto">
          <a:xfrm>
            <a:off x="7743825" y="1617663"/>
            <a:ext cx="0" cy="1524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CCAC51BF-7A28-2E20-5365-C5F0170813D0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422274" y="5496360"/>
            <a:ext cx="74930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DC47496E-3E83-4248-9064-3F7C75DB6BE7}" type="datetime'N''''e''t ''R''''eve''n''ue'''' ''2''0''''''26'''''''''''''''">
              <a:rPr lang="en-US" sz="1000" smtClean="0">
                <a:solidFill>
                  <a:schemeClr val="tx1"/>
                </a:solidFill>
              </a:rPr>
              <a:pPr/>
              <a:t>Net Revenue 2026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E36B346-A8C3-A396-86C1-47F132A6FB2B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1533526" y="5496360"/>
            <a:ext cx="265113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956D2482-0A10-484A-A5F9-2D1F3344E3A4}" type="datetime'''''A''''''''''P''''P'''">
              <a:rPr lang="en-US" sz="1000" smtClean="0">
                <a:solidFill>
                  <a:schemeClr val="tx1"/>
                </a:solidFill>
              </a:rPr>
              <a:pPr/>
              <a:t>APP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17F9C95-D4E2-C9A2-2040-8DB2050FDADB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2130425" y="5496360"/>
            <a:ext cx="806450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EF25B5F5-4240-4170-AD1A-D17F999FCB93}" type="datetime'''''''''''''In-''s''''''''tore d''i''''''g''i''''t''''''al'''">
              <a:rPr lang="en-US" sz="1000" smtClean="0">
                <a:solidFill>
                  <a:schemeClr val="tx1"/>
                </a:solidFill>
              </a:rPr>
              <a:pPr/>
              <a:t>In-store digital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89AB4AA-EE3D-5776-BEF6-4542265F430D}"/>
              </a:ext>
            </a:extLst>
          </p:cNvPr>
          <p:cNvSpPr/>
          <p:nvPr>
            <p:custDataLst>
              <p:tags r:id="rId17"/>
            </p:custDataLst>
          </p:nvPr>
        </p:nvSpPr>
        <p:spPr bwMode="gray">
          <a:xfrm>
            <a:off x="3228975" y="1911350"/>
            <a:ext cx="346075" cy="192088"/>
          </a:xfrm>
          <a:prstGeom prst="rect">
            <a:avLst/>
          </a:prstGeom>
          <a:solidFill>
            <a:srgbClr val="00777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335FC9F9-7067-43A7-93EE-45EBF20F93C6}" type="datetime'''''''''''''''''''''''''''''6''''''''13'">
              <a:rPr lang="ru-RU" sz="14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613</a:t>
            </a:fld>
            <a:endParaRPr lang="ru-RU" sz="1400">
              <a:solidFill>
                <a:schemeClr val="bg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543B70F-3D0D-5E98-0E96-CC510CB611C1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3000375" y="5496360"/>
            <a:ext cx="804863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02274E93-69C3-4FF8-9873-4F0F8F3F024A}" type="datetime'D''''M''P'''' ''''''''''+ ''''''O''n''''''''lin''e'''''">
              <a:rPr lang="en-US" sz="1000" smtClean="0">
                <a:solidFill>
                  <a:schemeClr val="tx1"/>
                </a:solidFill>
              </a:rPr>
              <a:pPr/>
              <a:t>DMP + Online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9B4502E-7380-02E0-E095-DAE4E3B381EF}"/>
              </a:ext>
            </a:extLst>
          </p:cNvPr>
          <p:cNvSpPr/>
          <p:nvPr>
            <p:custDataLst>
              <p:tags r:id="rId19"/>
            </p:custDataLst>
          </p:nvPr>
        </p:nvSpPr>
        <p:spPr bwMode="gray">
          <a:xfrm>
            <a:off x="4097338" y="1854200"/>
            <a:ext cx="346075" cy="192088"/>
          </a:xfrm>
          <a:prstGeom prst="rect">
            <a:avLst/>
          </a:prstGeom>
          <a:solidFill>
            <a:srgbClr val="00777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5F2A22BB-8A48-4437-B4B7-21D62FF45338}" type="datetime'''''2''5''8'''''''''''''''">
              <a:rPr lang="ru-RU" sz="14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258</a:t>
            </a:fld>
            <a:endParaRPr lang="ru-RU" sz="1400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2B7F5A5-95A5-9BD7-7C80-AC3FC35A8E98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3879850" y="5496360"/>
            <a:ext cx="78105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90C1CD01-397B-4881-A9F8-9EEEFADD7C00}" type="datetime'''''''''''RMN'' ''''(брен''''''''д''-бюдже''ты'''''''''''''')'">
              <a:rPr lang="ru-RU" sz="1000" smtClean="0">
                <a:solidFill>
                  <a:schemeClr val="tx1"/>
                </a:solidFill>
              </a:rPr>
              <a:pPr/>
              <a:t>RMN (бренд-бюджеты)</a:t>
            </a:fld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8D4A1AB-3F33-BACB-1A95-6C465A6CB765}"/>
              </a:ext>
            </a:extLst>
          </p:cNvPr>
          <p:cNvSpPr/>
          <p:nvPr>
            <p:custDataLst>
              <p:tags r:id="rId21"/>
            </p:custDataLst>
          </p:nvPr>
        </p:nvSpPr>
        <p:spPr bwMode="gray">
          <a:xfrm>
            <a:off x="4965700" y="1824038"/>
            <a:ext cx="346075" cy="192088"/>
          </a:xfrm>
          <a:prstGeom prst="rect">
            <a:avLst/>
          </a:prstGeom>
          <a:solidFill>
            <a:srgbClr val="00777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8D8C69B-3EDD-410D-8F6E-2E2A5DC8CAB4}" type="datetime'''''''''''''''''''''''''''2''''1''''''''''''''''''''''''''3'''">
              <a:rPr lang="ru-RU" sz="14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213</a:t>
            </a:fld>
            <a:endParaRPr lang="ru-RU" sz="1400">
              <a:solidFill>
                <a:schemeClr val="bg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165A76C-8505-EDC9-C1B8-1E259F798AD1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4911725" y="5496360"/>
            <a:ext cx="454025" cy="4572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E78AD9D9-7DAE-48B6-BA76-9B9FCA6055F4}" type="datetime'Con''ten''t'' ''fac''''''''''''''to''ry'', в''''н''''е''шн.'''">
              <a:rPr lang="ru-RU" sz="1000" smtClean="0">
                <a:solidFill>
                  <a:schemeClr val="tx1"/>
                </a:solidFill>
              </a:rPr>
              <a:pPr/>
              <a:t>Content factory, внешн.</a:t>
            </a:fld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281E924-E3A3-A509-75FE-D7D2F734F4FA}"/>
              </a:ext>
            </a:extLst>
          </p:cNvPr>
          <p:cNvSpPr/>
          <p:nvPr>
            <p:custDataLst>
              <p:tags r:id="rId23"/>
            </p:custDataLst>
          </p:nvPr>
        </p:nvSpPr>
        <p:spPr bwMode="gray">
          <a:xfrm>
            <a:off x="5883275" y="1803400"/>
            <a:ext cx="247650" cy="192088"/>
          </a:xfrm>
          <a:prstGeom prst="rect">
            <a:avLst/>
          </a:prstGeom>
          <a:solidFill>
            <a:srgbClr val="00777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CCA5B5EA-1ED8-4216-B3AA-021B03483B41}" type="datetime'8''''''''''''''''''''''5'''''''''''''''">
              <a:rPr lang="ru-RU" sz="14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85</a:t>
            </a:fld>
            <a:endParaRPr lang="ru-RU" sz="1400">
              <a:solidFill>
                <a:schemeClr val="bg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D84F22E-C4AF-1B63-BBE9-4A9632585EAD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5748338" y="5496360"/>
            <a:ext cx="519113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F81ED58F-2C72-4486-8572-0DE97BD7EB0F}" type="datetime'DMP'' ''+'''''' A''''''n''al''''''''y''''''''ti''''''''c''''s'">
              <a:rPr lang="en-US" sz="1000" smtClean="0">
                <a:solidFill>
                  <a:schemeClr val="tx1"/>
                </a:solidFill>
              </a:rPr>
              <a:pPr/>
              <a:t>DMP + Analytics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52C6CEA-ED6D-418A-9452-7204E4D92B41}"/>
              </a:ext>
            </a:extLst>
          </p:cNvPr>
          <p:cNvSpPr/>
          <p:nvPr>
            <p:custDataLst>
              <p:tags r:id="rId25"/>
            </p:custDataLst>
          </p:nvPr>
        </p:nvSpPr>
        <p:spPr bwMode="gray">
          <a:xfrm>
            <a:off x="6629400" y="1863725"/>
            <a:ext cx="493713" cy="192088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3B7EB216-4C58-4085-A38E-5AE46D92D574}" type="datetime'''''''''''''1'''' ''''''0''''''''0''''''''''''''''''2'">
              <a:rPr lang="ru-RU" sz="14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1 002</a:t>
            </a:fld>
            <a:endParaRPr lang="ru-RU" sz="1400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1617787-BF40-8786-26A5-93D88BD0171E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6480175" y="5496360"/>
            <a:ext cx="792163" cy="4572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323747DC-FF56-4FA3-BF3B-32D85803AB95}" type="datetime'C''''OG''S (''по''ку''''''''пка ''тра''фи''ка'''''', СК)'''">
              <a:rPr lang="ru-RU" sz="1000" smtClean="0">
                <a:solidFill>
                  <a:schemeClr val="tx1"/>
                </a:solidFill>
              </a:rPr>
              <a:pPr/>
              <a:t>COGS (покупка трафика, СК)</a:t>
            </a:fld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1F7D78D-C564-F52F-0641-2A7285CE722E}"/>
              </a:ext>
            </a:extLst>
          </p:cNvPr>
          <p:cNvSpPr/>
          <p:nvPr>
            <p:custDataLst>
              <p:tags r:id="rId27"/>
            </p:custDataLst>
          </p:nvPr>
        </p:nvSpPr>
        <p:spPr bwMode="auto">
          <a:xfrm>
            <a:off x="7369174" y="5496360"/>
            <a:ext cx="74930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0C2B4F58-FDDE-4BF0-9BD3-B6FD35059D4C}" type="datetime'N''''e''''t'''' ''Re''''v''enu''e'''''' 202''''''''''''7'''''">
              <a:rPr lang="en-US" sz="1000" smtClean="0">
                <a:solidFill>
                  <a:schemeClr val="tx1"/>
                </a:solidFill>
              </a:rPr>
              <a:pPr/>
              <a:t>Net Revenue 2027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D1DB7DD-8663-8FAF-83FA-96A4F9CC1971}"/>
              </a:ext>
            </a:extLst>
          </p:cNvPr>
          <p:cNvSpPr/>
          <p:nvPr>
            <p:custDataLst>
              <p:tags r:id="rId28"/>
            </p:custDataLst>
          </p:nvPr>
        </p:nvSpPr>
        <p:spPr bwMode="auto">
          <a:xfrm>
            <a:off x="3884614" y="1466850"/>
            <a:ext cx="773113" cy="301625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1950565F-5C16-460E-A4A0-BC22C8BA9C65}" type="datetime'+''''''''''''''''''''''''''''''3'' ''1''''''''''''5''3'''">
              <a:rPr lang="ru-RU" sz="1400" b="1" smtClean="0">
                <a:solidFill>
                  <a:schemeClr val="tx1"/>
                </a:solidFill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+3 153</a:t>
            </a:fld>
            <a:endParaRPr lang="ru-RU" sz="1400" b="1">
              <a:solidFill>
                <a:schemeClr val="tx1"/>
              </a:solidFill>
            </a:endParaRPr>
          </a:p>
        </p:txBody>
      </p:sp>
      <p:graphicFrame>
        <p:nvGraphicFramePr>
          <p:cNvPr id="34" name="Chart 33">
            <a:extLst>
              <a:ext uri="{FF2B5EF4-FFF2-40B4-BE49-F238E27FC236}">
                <a16:creationId xmlns:a16="http://schemas.microsoft.com/office/drawing/2014/main" id="{542827B6-A9C7-D807-FBFB-453E47D65951}"/>
              </a:ext>
            </a:extLst>
          </p:cNvPr>
          <p:cNvGraphicFramePr/>
          <p:nvPr>
            <p:custDataLst>
              <p:tags r:id="rId29"/>
            </p:custDataLst>
            <p:extLst>
              <p:ext uri="{D42A27DB-BD31-4B8C-83A1-F6EECF244321}">
                <p14:modId xmlns:p14="http://schemas.microsoft.com/office/powerpoint/2010/main" val="3819021940"/>
              </p:ext>
            </p:extLst>
          </p:nvPr>
        </p:nvGraphicFramePr>
        <p:xfrm>
          <a:off x="9399632" y="4118358"/>
          <a:ext cx="2790825" cy="22514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6"/>
          </a:graphicData>
        </a:graphic>
      </p:graphicFrame>
      <p:sp>
        <p:nvSpPr>
          <p:cNvPr id="35" name="Rectangle 34">
            <a:extLst>
              <a:ext uri="{FF2B5EF4-FFF2-40B4-BE49-F238E27FC236}">
                <a16:creationId xmlns:a16="http://schemas.microsoft.com/office/drawing/2014/main" id="{77BDF668-1CCF-4571-1948-1A887068EB6C}"/>
              </a:ext>
            </a:extLst>
          </p:cNvPr>
          <p:cNvSpPr/>
          <p:nvPr>
            <p:custDataLst>
              <p:tags r:id="rId30"/>
            </p:custDataLst>
          </p:nvPr>
        </p:nvSpPr>
        <p:spPr bwMode="auto">
          <a:xfrm>
            <a:off x="8633663" y="5663048"/>
            <a:ext cx="1970088" cy="2127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fld id="{76E2A48D-1BC0-44E2-8D30-D565FC4DF763}" type="datetime'''''Внешни''''''е'' де''н''ь''г''и'''''''' вн''е'''''''' КУ'">
              <a:rPr lang="ru-RU" sz="1200" smtClean="0">
                <a:solidFill>
                  <a:schemeClr val="tx1"/>
                </a:solidFill>
              </a:rPr>
              <a:pPr/>
              <a:t>Внешние деньги вне КУ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D82D2FE-58C8-F049-E4A0-FD9876416067}"/>
              </a:ext>
            </a:extLst>
          </p:cNvPr>
          <p:cNvSpPr/>
          <p:nvPr>
            <p:custDataLst>
              <p:tags r:id="rId31"/>
            </p:custDataLst>
          </p:nvPr>
        </p:nvSpPr>
        <p:spPr bwMode="gray">
          <a:xfrm>
            <a:off x="10741764" y="4119945"/>
            <a:ext cx="592138" cy="19208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32B09B6D-4ED8-4149-87C3-3A0943EB01A3}" type="datetime'1''''''''2'''''''''''''''' ''5''''''''''''''''''''9''6'''''''">
              <a:rPr lang="ru-RU" sz="1400" smtClean="0">
                <a:solidFill>
                  <a:schemeClr val="tx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12 596</a:t>
            </a:fld>
            <a:endParaRPr lang="ru-RU" sz="140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5058B1B-BADC-98B8-0337-EA36CA337DC4}"/>
              </a:ext>
            </a:extLst>
          </p:cNvPr>
          <p:cNvSpPr/>
          <p:nvPr>
            <p:custDataLst>
              <p:tags r:id="rId32"/>
            </p:custDataLst>
          </p:nvPr>
        </p:nvSpPr>
        <p:spPr bwMode="gray">
          <a:xfrm>
            <a:off x="10741764" y="5950155"/>
            <a:ext cx="592138" cy="19208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sz="1400" b="1">
                <a:solidFill>
                  <a:schemeClr val="tx1"/>
                </a:solidFill>
                <a:effectLst/>
              </a:rPr>
              <a:t>2027</a:t>
            </a:r>
            <a:endParaRPr lang="ru-RU" sz="1400" b="1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31D02A8-0970-2C00-3D47-34A8683DA48B}"/>
              </a:ext>
            </a:extLst>
          </p:cNvPr>
          <p:cNvSpPr/>
          <p:nvPr>
            <p:custDataLst>
              <p:tags r:id="rId33"/>
            </p:custDataLst>
          </p:nvPr>
        </p:nvSpPr>
        <p:spPr bwMode="auto">
          <a:xfrm>
            <a:off x="8524186" y="4865785"/>
            <a:ext cx="1970088" cy="2127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ru-RU" sz="1200">
                <a:solidFill>
                  <a:schemeClr val="tx1"/>
                </a:solidFill>
              </a:rPr>
              <a:t>КУ</a:t>
            </a:r>
          </a:p>
        </p:txBody>
      </p:sp>
    </p:spTree>
    <p:extLst>
      <p:ext uri="{BB962C8B-B14F-4D97-AF65-F5344CB8AC3E}">
        <p14:creationId xmlns:p14="http://schemas.microsoft.com/office/powerpoint/2010/main" val="33091968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46212E8-2DA6-6B7B-76AC-1E529EE3E46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998D84-AF56-10C7-0944-36EF753D0F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10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B8F879-99E1-3AE9-5D03-781690F4C0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Управленческий P&amp;L 2027: выручка 14,6 млрд руб. (+41%), EBITDA 10,8 млрд руб. (+34%)</a:t>
            </a:r>
          </a:p>
        </p:txBody>
      </p:sp>
      <p:graphicFrame>
        <p:nvGraphicFramePr>
          <p:cNvPr id="200" name="Table 200"/>
          <p:cNvGraphicFramePr>
            <a:graphicFrameLocks noGrp="1"/>
          </p:cNvGraphicFramePr>
          <p:nvPr/>
        </p:nvGraphicFramePr>
        <p:xfrm>
          <a:off x="368300" y="1041400"/>
          <a:ext cx="6832600" cy="4795520"/>
        </p:xfrm>
        <a:graphic>
          <a:graphicData uri="http://schemas.openxmlformats.org/drawingml/2006/table">
            <a:tbl>
              <a:tblPr firstRow="1"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P&amp;L,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>
                          <a:solidFill>
                            <a:srgbClr val="000000"/>
                          </a:solidFill>
                          <a:latin typeface="Arial"/>
                        </a:rPr>
                        <a:t>FC 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>
                          <a:solidFill>
                            <a:srgbClr val="000000"/>
                          </a:solidFill>
                          <a:latin typeface="Arial"/>
                        </a:rPr>
                        <a:t>BU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YoY, абс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>
                          <a:solidFill>
                            <a:srgbClr val="000000"/>
                          </a:solidFill>
                          <a:latin typeface="Arial"/>
                        </a:rPr>
                        <a:t>YoY, 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Стратегия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BU vs стр., абс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APP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6 195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7 696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1 501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7 251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445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In-store digital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2 446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4 019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1 573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4 509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(490)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DMP + Online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987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1 600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1 063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537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RMN (бренд-бюджеты)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593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258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Content factory, внешн.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DMP + Analytics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Gross Revenue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10 323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14 566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4 243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41%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12 948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1 618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COGS (маркетинг)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(881)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(1 971)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(1 091)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&gt;100%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(1 292)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(679)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Net Revenue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9 443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12 595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3 152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33%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11 656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939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(1 120)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(1 436)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(316)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(1 479)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Other 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(33)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(40)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(26)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Marketing (прочий)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(55)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(101)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(45)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(37)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(63)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IT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(59)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(34)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57%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(62)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(30)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Other OPEX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(102)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(98)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OPEX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(1 358)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(1 772)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(414)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30%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(1 702)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(70)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EBITDA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8 085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10 823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2 739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34%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9 953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870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i="1">
                          <a:solidFill>
                            <a:srgbClr val="595959"/>
                          </a:solidFill>
                          <a:latin typeface="Arial"/>
                        </a:rPr>
                        <a:t>EBITDA margin, 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78%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74%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−4 п.п.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77%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−3 п.п.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(1 180)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(1 151)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−2%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(1 242)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FCF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6 905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9 673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2 768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40%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8 711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962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201" name="Shape 201"/>
          <p:cNvSpPr txBox="1"/>
          <p:nvPr/>
        </p:nvSpPr>
        <p:spPr>
          <a:xfrm>
            <a:off x="7620000" y="1041400"/>
            <a:ext cx="4203700" cy="50165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Драйверы роста выручки и предпосылки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en-US" sz="1100" b="1">
                <a:solidFill>
                  <a:srgbClr val="000000"/>
                </a:solidFill>
              </a:rPr>
              <a:t>APP +1 501: </a:t>
            </a:r>
            <a:r>
              <a:rPr lang="ru-RU" sz="1100">
                <a:solidFill>
                  <a:srgbClr val="000000"/>
                </a:solidFill>
              </a:rPr>
              <a:t>~60% (+873) — полный год нового прайса (CPM +17%, чек перформанса +26%), ~40% (+628) — рост аудитории: DAC на 3 млн (до 31,1 млн </a:t>
            </a:r>
            <a:r>
              <a:rPr lang="en-US" sz="1100">
                <a:solidFill>
                  <a:srgbClr val="000000"/>
                </a:solidFill>
              </a:rPr>
              <a:t>DAC)</a:t>
            </a:r>
            <a:endParaRPr lang="ru-RU" sz="1100">
              <a:solidFill>
                <a:srgbClr val="000000"/>
              </a:solidFill>
            </a:endParaRP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100" b="1">
                <a:solidFill>
                  <a:srgbClr val="000000"/>
                </a:solidFill>
              </a:rPr>
              <a:t>In-store +1 573: </a:t>
            </a:r>
            <a:r>
              <a:rPr lang="ru-RU" sz="1100">
                <a:solidFill>
                  <a:srgbClr val="000000"/>
                </a:solidFill>
              </a:rPr>
              <a:t>полный год работы оборудования, введённого в 2026 г. (+2 462); доход на устройство заложен консервативно (−1 264, в основном КСО)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en-US" sz="1100" b="1">
                <a:solidFill>
                  <a:srgbClr val="000000"/>
                </a:solidFill>
              </a:rPr>
              <a:t>DMP + Online +613: </a:t>
            </a:r>
            <a:r>
              <a:rPr lang="ru-RU" sz="1100">
                <a:solidFill>
                  <a:srgbClr val="000000"/>
                </a:solidFill>
              </a:rPr>
              <a:t>две трети прироста — новые площадки (SmartTV, Авито, маркетплейсы, 420); маржинальность 37,5%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ru-RU" sz="1100" b="1">
                <a:solidFill>
                  <a:srgbClr val="000000"/>
                </a:solidFill>
              </a:rPr>
              <a:t>Новые направления: </a:t>
            </a:r>
            <a:r>
              <a:rPr lang="ru-RU" sz="1100">
                <a:solidFill>
                  <a:srgbClr val="000000"/>
                </a:solidFill>
              </a:rPr>
              <a:t>RMN 850 (+258) и Content factory 213 — бренд-бюджеты поставщиков и внешние рекламодатели вне КУ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ru-RU" sz="1100" b="1">
                <a:solidFill>
                  <a:srgbClr val="000000"/>
                </a:solidFill>
              </a:rPr>
              <a:t>COGS (маркетинг) 1 971: </a:t>
            </a:r>
            <a:r>
              <a:rPr lang="ru-RU" sz="1100">
                <a:solidFill>
                  <a:srgbClr val="000000"/>
                </a:solidFill>
              </a:rPr>
              <a:t>закупка трафика DMP 1 000, агентства 795, креаторы Content </a:t>
            </a:r>
            <a:r>
              <a:rPr lang="en-US" sz="1100">
                <a:solidFill>
                  <a:srgbClr val="000000"/>
                </a:solidFill>
              </a:rPr>
              <a:t>factory</a:t>
            </a:r>
            <a:r>
              <a:rPr lang="ru-RU" sz="1100">
                <a:solidFill>
                  <a:srgbClr val="000000"/>
                </a:solidFill>
              </a:rPr>
              <a:t> 176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100" b="1">
                <a:solidFill>
                  <a:srgbClr val="000000"/>
                </a:solidFill>
              </a:rPr>
              <a:t>PEX 1 436: </a:t>
            </a:r>
            <a:r>
              <a:rPr lang="ru-RU" sz="1100">
                <a:solidFill>
                  <a:srgbClr val="000000"/>
                </a:solidFill>
              </a:rPr>
              <a:t>ФОТ </a:t>
            </a:r>
            <a:r>
              <a:rPr lang="en-US" sz="1100">
                <a:solidFill>
                  <a:srgbClr val="000000"/>
                </a:solidFill>
              </a:rPr>
              <a:t>AdTech</a:t>
            </a:r>
            <a:r>
              <a:rPr lang="ru-RU" sz="1100">
                <a:solidFill>
                  <a:srgbClr val="000000"/>
                </a:solidFill>
              </a:rPr>
              <a:t> 1 370 + команда Content </a:t>
            </a:r>
            <a:r>
              <a:rPr lang="en-US" sz="1100">
                <a:solidFill>
                  <a:srgbClr val="000000"/>
                </a:solidFill>
              </a:rPr>
              <a:t>factory</a:t>
            </a:r>
            <a:r>
              <a:rPr lang="ru-RU" sz="1100">
                <a:solidFill>
                  <a:srgbClr val="000000"/>
                </a:solidFill>
              </a:rPr>
              <a:t> 66; 354 FTE на конец 2027 г. (312 на конец 2026 г.), в 2027 г. штат работает полный год; 27% ФОТ (510 млн руб.) капитализируется</a:t>
            </a:r>
          </a:p>
        </p:txBody>
      </p:sp>
    </p:spTree>
    <p:extLst>
      <p:ext uri="{BB962C8B-B14F-4D97-AF65-F5344CB8AC3E}">
        <p14:creationId xmlns:p14="http://schemas.microsoft.com/office/powerpoint/2010/main" val="42210706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DF8EBA-9590-4C81-9F69-5D123BF96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7D62E96-F664-40DC-868E-D0B2F0A46B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060A129-27E9-4599-B4E5-C57388EC22F3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ru-RU" sz="5000" b="1">
                <a:solidFill>
                  <a:srgbClr val="FF452C"/>
                </a:solidFill>
                <a:latin typeface="Arial"/>
              </a:rPr>
              <a:t>01</a:t>
            </a:r>
          </a:p>
          <a:p>
            <a:pPr>
              <a:lnSpc>
                <a:spcPct val="90000"/>
              </a:lnSpc>
              <a:buNone/>
            </a:pPr>
            <a:r>
              <a:rPr lang="ru-RU" sz="5000" b="1">
                <a:solidFill>
                  <a:srgbClr val="FFFFFF"/>
                </a:solidFill>
                <a:latin typeface="Arial"/>
              </a:rPr>
              <a:t>Стратегия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BC4C214E-1A99-490C-A3B5-9407F8AE15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/>
              <a:t>Рынок, тренды, конкуренты, драйверы роста и роль </a:t>
            </a:r>
            <a:r>
              <a:rPr lang="en-US"/>
              <a:t>Magnit ADS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9978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6" name="think-cell data - do not delete" hidden="1">
            <a:extLst>
              <a:ext uri="{FF2B5EF4-FFF2-40B4-BE49-F238E27FC236}">
                <a16:creationId xmlns:a16="http://schemas.microsoft.com/office/drawing/2014/main" id="{F8FF028A-1381-5A7F-B2CA-5D03642832C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3" imgW="7772400" imgH="10058400" progId="TCLayout.ActiveDocument.1">
                  <p:embed/>
                </p:oleObj>
              </mc:Choice>
              <mc:Fallback>
                <p:oleObj name="think-cell Slide" r:id="rId53" imgW="7772400" imgH="10058400" progId="TCLayout.ActiveDocument.1">
                  <p:embed/>
                  <p:pic>
                    <p:nvPicPr>
                      <p:cNvPr id="15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8FF028A-1381-5A7F-B2CA-5D03642832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17FBD44-1456-A977-6CF8-CB4EB919A6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>
                <a:solidFill>
                  <a:srgbClr val="6E6E6E"/>
                </a:solidFill>
              </a:rPr>
              <a:t>Источник: анализ </a:t>
            </a:r>
            <a:r>
              <a:rPr lang="en-US">
                <a:solidFill>
                  <a:srgbClr val="6E6E6E"/>
                </a:solidFill>
              </a:rPr>
              <a:t>Magnit ADS</a:t>
            </a:r>
            <a:endParaRPr lang="ru-RU">
              <a:solidFill>
                <a:srgbClr val="6E6E6E"/>
              </a:solidFill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C19635D-8E1C-0B52-900F-0C1F168625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12</a:t>
            </a:fld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84B63B9-8C5B-1357-2088-05DBFD13FE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tabLst>
                <a:tab pos="7554913" algn="l"/>
              </a:tabLst>
            </a:pPr>
            <a:r>
              <a:rPr lang="ru-RU"/>
              <a:t>Рынок ритейл медиа опережает темпы роста </a:t>
            </a:r>
            <a:br>
              <a:rPr lang="en-US" dirty="0"/>
            </a:br>
            <a:r>
              <a:rPr lang="ru-RU"/>
              <a:t>традиционного </a:t>
            </a:r>
            <a:r>
              <a:rPr lang="en-US"/>
              <a:t>digital +35% vs. +15% YoY</a:t>
            </a:r>
            <a:endParaRPr lang="ru-RU"/>
          </a:p>
        </p:txBody>
      </p:sp>
      <p:sp>
        <p:nvSpPr>
          <p:cNvPr id="81" name="Скругленный прямоугольник 80">
            <a:extLst>
              <a:ext uri="{FF2B5EF4-FFF2-40B4-BE49-F238E27FC236}">
                <a16:creationId xmlns:a16="http://schemas.microsoft.com/office/drawing/2014/main" id="{3FE6C233-CDF2-C619-78E9-FCF0BD9F590D}"/>
              </a:ext>
            </a:extLst>
          </p:cNvPr>
          <p:cNvSpPr/>
          <p:nvPr/>
        </p:nvSpPr>
        <p:spPr>
          <a:xfrm>
            <a:off x="3144838" y="1922463"/>
            <a:ext cx="5356978" cy="4132472"/>
          </a:xfrm>
          <a:prstGeom prst="roundRect">
            <a:avLst>
              <a:gd name="adj" fmla="val 3785"/>
            </a:avLst>
          </a:prstGeom>
          <a:pattFill prst="pct5">
            <a:fgClr>
              <a:schemeClr val="accent2"/>
            </a:fgClr>
            <a:bgClr>
              <a:schemeClr val="bg1"/>
            </a:bgClr>
          </a:pattFill>
          <a:ln w="63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ru-RU" kumimoji="0" sz="1400" b="0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graphicFrame>
        <p:nvGraphicFramePr>
          <p:cNvPr id="6" name="Chart 3">
            <a:extLst>
              <a:ext uri="{FF2B5EF4-FFF2-40B4-BE49-F238E27FC236}">
                <a16:creationId xmlns:a16="http://schemas.microsoft.com/office/drawing/2014/main" id="{89805283-56FC-2FDC-FB28-F0F724A75FF2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295275" y="2001838"/>
          <a:ext cx="8269288" cy="3978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5"/>
          </a:graphicData>
        </a:graphic>
      </p:graphicFrame>
      <p:cxnSp>
        <p:nvCxnSpPr>
          <p:cNvPr id="86" name="Прямая соединительная линия 85">
            <a:extLst>
              <a:ext uri="{FF2B5EF4-FFF2-40B4-BE49-F238E27FC236}">
                <a16:creationId xmlns:a16="http://schemas.microsoft.com/office/drawing/2014/main" id="{2FA4329D-252B-2951-C982-13B48FACC736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H="1">
            <a:off x="962025" y="5083175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Прямая соединительная линия 86">
            <a:extLst>
              <a:ext uri="{FF2B5EF4-FFF2-40B4-BE49-F238E27FC236}">
                <a16:creationId xmlns:a16="http://schemas.microsoft.com/office/drawing/2014/main" id="{055F50E7-D79B-C8F4-9D10-8236FC68C102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 flipH="1">
            <a:off x="2763838" y="4822825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Прямая соединительная линия 82">
            <a:extLst>
              <a:ext uri="{FF2B5EF4-FFF2-40B4-BE49-F238E27FC236}">
                <a16:creationId xmlns:a16="http://schemas.microsoft.com/office/drawing/2014/main" id="{48F74465-AEAD-D05F-97BB-FECD2280C613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 bwMode="auto">
          <a:xfrm flipH="1">
            <a:off x="962025" y="5270500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Прямая соединительная линия 87">
            <a:extLst>
              <a:ext uri="{FF2B5EF4-FFF2-40B4-BE49-F238E27FC236}">
                <a16:creationId xmlns:a16="http://schemas.microsoft.com/office/drawing/2014/main" id="{A1164671-863E-D82D-88C9-EEB4423B504A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 flipH="1">
            <a:off x="1862138" y="4800600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Прямая соединительная линия 83">
            <a:extLst>
              <a:ext uri="{FF2B5EF4-FFF2-40B4-BE49-F238E27FC236}">
                <a16:creationId xmlns:a16="http://schemas.microsoft.com/office/drawing/2014/main" id="{A2A4C693-B523-065D-1A1A-489C19CC29AE}"/>
              </a:ext>
            </a:extLst>
          </p:cNvPr>
          <p:cNvCxnSpPr>
            <a:cxnSpLocks/>
          </p:cNvCxnSpPr>
          <p:nvPr>
            <p:custDataLst>
              <p:tags r:id="rId7"/>
            </p:custDataLst>
          </p:nvPr>
        </p:nvCxnSpPr>
        <p:spPr bwMode="auto">
          <a:xfrm flipH="1">
            <a:off x="1862138" y="5038725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Прямая соединительная линия 84">
            <a:extLst>
              <a:ext uri="{FF2B5EF4-FFF2-40B4-BE49-F238E27FC236}">
                <a16:creationId xmlns:a16="http://schemas.microsoft.com/office/drawing/2014/main" id="{44142CF4-B431-86DE-C756-46E0D49EA1A9}"/>
              </a:ext>
            </a:extLst>
          </p:cNvPr>
          <p:cNvCxnSpPr/>
          <p:nvPr>
            <p:custDataLst>
              <p:tags r:id="rId8"/>
            </p:custDataLst>
          </p:nvPr>
        </p:nvCxnSpPr>
        <p:spPr bwMode="auto">
          <a:xfrm flipH="1">
            <a:off x="3663950" y="4525963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6" name="Прямоугольник 115">
            <a:extLst>
              <a:ext uri="{FF2B5EF4-FFF2-40B4-BE49-F238E27FC236}">
                <a16:creationId xmlns:a16="http://schemas.microsoft.com/office/drawing/2014/main" id="{789419B5-90A7-7B49-374C-52A659B6855F}"/>
              </a:ext>
            </a:extLst>
          </p:cNvPr>
          <p:cNvSpPr/>
          <p:nvPr>
            <p:custDataLst>
              <p:tags r:id="rId9"/>
            </p:custDataLst>
          </p:nvPr>
        </p:nvSpPr>
        <p:spPr bwMode="gray">
          <a:xfrm>
            <a:off x="679450" y="5256213"/>
            <a:ext cx="296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F6BD3966-E773-4F1B-9C26-C0DF250422BC}" type="datetime'''''''''''''''''''''''''''''''''''''''1''''8''''5'''''">
              <a:rPr lang="ru-RU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185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95" name="Прямоугольник 94">
            <a:extLst>
              <a:ext uri="{FF2B5EF4-FFF2-40B4-BE49-F238E27FC236}">
                <a16:creationId xmlns:a16="http://schemas.microsoft.com/office/drawing/2014/main" id="{AC08CAAF-C412-2790-D1B8-DD4A357E0B92}"/>
              </a:ext>
            </a:extLst>
          </p:cNvPr>
          <p:cNvSpPr/>
          <p:nvPr>
            <p:custDataLst>
              <p:tags r:id="rId10"/>
            </p:custDataLst>
          </p:nvPr>
        </p:nvSpPr>
        <p:spPr bwMode="gray">
          <a:xfrm>
            <a:off x="6019800" y="4168775"/>
            <a:ext cx="423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EF2DB5B5-629C-4E6F-AA63-2E59BA6B7C2C}" type="datetime'''1''''.''''''''''''''''''''''''''9''''''''6''''''''7'">
              <a:rPr lang="ru-RU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1.967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21" name="Прямоугольник 120">
            <a:extLst>
              <a:ext uri="{FF2B5EF4-FFF2-40B4-BE49-F238E27FC236}">
                <a16:creationId xmlns:a16="http://schemas.microsoft.com/office/drawing/2014/main" id="{A189098B-C67C-37C4-C40D-502331A883BC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2454275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56F17BB1-725B-4AB1-8BDE-9C719FC362B7}" type="datetime'''''''''''''''2''''''''''''''''''0''25'''''''''">
              <a:rPr lang="ru-RU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2025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5" name="Прямоугольник 104">
            <a:extLst>
              <a:ext uri="{FF2B5EF4-FFF2-40B4-BE49-F238E27FC236}">
                <a16:creationId xmlns:a16="http://schemas.microsoft.com/office/drawing/2014/main" id="{E3749B98-0EB1-40BD-7FF2-4EDE99B0DF52}"/>
              </a:ext>
            </a:extLst>
          </p:cNvPr>
          <p:cNvSpPr/>
          <p:nvPr>
            <p:custDataLst>
              <p:tags r:id="rId12"/>
            </p:custDataLst>
          </p:nvPr>
        </p:nvSpPr>
        <p:spPr bwMode="auto">
          <a:xfrm>
            <a:off x="1552575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B8DD0D6D-99A6-4C8E-9F94-CA67EC9A751E}" type="datetime'''''2''''''''''''''''''''''''''''''''''''0''''2''''''''''''4'">
              <a:rPr lang="ru-RU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2024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14" name="Прямоугольник 113">
            <a:extLst>
              <a:ext uri="{FF2B5EF4-FFF2-40B4-BE49-F238E27FC236}">
                <a16:creationId xmlns:a16="http://schemas.microsoft.com/office/drawing/2014/main" id="{10F8E654-1CB9-F127-D245-2700E03EEE23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3354388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D1E25AE9-94C6-423C-B843-CB5A0BD8FFD9}" type="datetime'''''''''''''''''''''2''0''''''''''''''''''''''''''2''''6'''">
              <a:rPr lang="ru-RU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2026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89" name="Прямоугольник 88">
            <a:extLst>
              <a:ext uri="{FF2B5EF4-FFF2-40B4-BE49-F238E27FC236}">
                <a16:creationId xmlns:a16="http://schemas.microsoft.com/office/drawing/2014/main" id="{0EFDBA62-534F-1768-3AAF-6A3DD149DD04}"/>
              </a:ext>
            </a:extLst>
          </p:cNvPr>
          <p:cNvSpPr/>
          <p:nvPr>
            <p:custDataLst>
              <p:tags r:id="rId14"/>
            </p:custDataLst>
          </p:nvPr>
        </p:nvSpPr>
        <p:spPr bwMode="gray">
          <a:xfrm>
            <a:off x="4322763" y="4148138"/>
            <a:ext cx="212725" cy="1651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CB1F90E4-F2C5-494F-8A98-F9E5E1A5544C}" type="datetime'''9''''''''''''''''''''3'''">
              <a:rPr lang="ru-RU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93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90" name="Прямоугольник 89">
            <a:extLst>
              <a:ext uri="{FF2B5EF4-FFF2-40B4-BE49-F238E27FC236}">
                <a16:creationId xmlns:a16="http://schemas.microsoft.com/office/drawing/2014/main" id="{843603AB-4FFB-E057-AB25-F7E1DAAD2018}"/>
              </a:ext>
            </a:extLst>
          </p:cNvPr>
          <p:cNvSpPr/>
          <p:nvPr>
            <p:custDataLst>
              <p:tags r:id="rId15"/>
            </p:custDataLst>
          </p:nvPr>
        </p:nvSpPr>
        <p:spPr bwMode="gray">
          <a:xfrm>
            <a:off x="4217988" y="4581525"/>
            <a:ext cx="423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C2CE3581-4895-47F2-B6B1-B66A6C23D730}" type="datetime'''''''''1''''''''.2''''''''''''''''''''''''''''''00'''">
              <a:rPr lang="ru-RU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1.200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19" name="Прямоугольник 118">
            <a:extLst>
              <a:ext uri="{FF2B5EF4-FFF2-40B4-BE49-F238E27FC236}">
                <a16:creationId xmlns:a16="http://schemas.microsoft.com/office/drawing/2014/main" id="{B57FBE82-5B07-F580-6C82-0BBE443B6BBF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4254500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91EA796C-98BB-4198-8852-684A3CBC30CB}" type="datetime'''''''''''''''''''''''''''''''''''''''''''''''2''''''027'">
              <a:rPr lang="ru-RU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2027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1" name="Прямоугольник 90">
            <a:extLst>
              <a:ext uri="{FF2B5EF4-FFF2-40B4-BE49-F238E27FC236}">
                <a16:creationId xmlns:a16="http://schemas.microsoft.com/office/drawing/2014/main" id="{D22FEEC8-00EF-6D60-0B4A-99A1319DAA44}"/>
              </a:ext>
            </a:extLst>
          </p:cNvPr>
          <p:cNvSpPr/>
          <p:nvPr>
            <p:custDataLst>
              <p:tags r:id="rId17"/>
            </p:custDataLst>
          </p:nvPr>
        </p:nvSpPr>
        <p:spPr bwMode="gray">
          <a:xfrm>
            <a:off x="5186363" y="3811588"/>
            <a:ext cx="285750" cy="1651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E86FDB48-789B-40A2-91AF-8329A43D4132}" type="datetime'''''''''''''''1''''''1''''''''''6'''''''''''''''''''">
              <a:rPr lang="ru-RU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116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92" name="Прямоугольник 91">
            <a:extLst>
              <a:ext uri="{FF2B5EF4-FFF2-40B4-BE49-F238E27FC236}">
                <a16:creationId xmlns:a16="http://schemas.microsoft.com/office/drawing/2014/main" id="{0B380E6A-C981-83A6-F38C-DAD29817B015}"/>
              </a:ext>
            </a:extLst>
          </p:cNvPr>
          <p:cNvSpPr/>
          <p:nvPr>
            <p:custDataLst>
              <p:tags r:id="rId18"/>
            </p:custDataLst>
          </p:nvPr>
        </p:nvSpPr>
        <p:spPr bwMode="gray">
          <a:xfrm>
            <a:off x="5118100" y="4375150"/>
            <a:ext cx="423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8E1C3567-C4AB-4513-8D2A-F1266E5196F0}" type="datetime'''''''1''''.''''''''5''''''''''''''6''5'''''''''''">
              <a:rPr lang="ru-RU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1.565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93" name="Прямоугольник 92">
            <a:extLst>
              <a:ext uri="{FF2B5EF4-FFF2-40B4-BE49-F238E27FC236}">
                <a16:creationId xmlns:a16="http://schemas.microsoft.com/office/drawing/2014/main" id="{8E5CAA84-9A45-B6AE-A8A1-D9CF35AE2EF3}"/>
              </a:ext>
            </a:extLst>
          </p:cNvPr>
          <p:cNvSpPr/>
          <p:nvPr>
            <p:custDataLst>
              <p:tags r:id="rId19"/>
            </p:custDataLst>
          </p:nvPr>
        </p:nvSpPr>
        <p:spPr bwMode="gray">
          <a:xfrm>
            <a:off x="5118100" y="5265738"/>
            <a:ext cx="423863" cy="165100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AAB12687-88CD-4F15-9043-2C78B3CDB411}" type="datetime'''1''''.''''''''0''''''''''''''''''9''''''0'''''''''''''''">
              <a:rPr lang="ru-RU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1.090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20" name="Прямоугольник 119">
            <a:extLst>
              <a:ext uri="{FF2B5EF4-FFF2-40B4-BE49-F238E27FC236}">
                <a16:creationId xmlns:a16="http://schemas.microsoft.com/office/drawing/2014/main" id="{F3E25EB1-779C-F3CA-17BC-C36D8E7AF4B3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5154613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D04747FA-DE9D-45A5-953A-2AEFD6268936}" type="datetime'''''''''''2''''''''''0''''''2''''''''''''''8'''''''''''''">
              <a:rPr lang="ru-RU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2028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4" name="Прямоугольник 93">
            <a:extLst>
              <a:ext uri="{FF2B5EF4-FFF2-40B4-BE49-F238E27FC236}">
                <a16:creationId xmlns:a16="http://schemas.microsoft.com/office/drawing/2014/main" id="{DA03590A-3DFA-B4E9-EEFA-03D9794B5303}"/>
              </a:ext>
            </a:extLst>
          </p:cNvPr>
          <p:cNvSpPr/>
          <p:nvPr>
            <p:custDataLst>
              <p:tags r:id="rId21"/>
            </p:custDataLst>
          </p:nvPr>
        </p:nvSpPr>
        <p:spPr bwMode="gray">
          <a:xfrm>
            <a:off x="6083300" y="3460750"/>
            <a:ext cx="296863" cy="1651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AAF0BBA2-737D-4909-999B-D1E77F0A001D}" type="datetime'''''1''''''''4''''''''''''''''''''''''''''''''''''5'''''''''">
              <a:rPr lang="ru-RU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145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04" name="Прямоугольник 103">
            <a:extLst>
              <a:ext uri="{FF2B5EF4-FFF2-40B4-BE49-F238E27FC236}">
                <a16:creationId xmlns:a16="http://schemas.microsoft.com/office/drawing/2014/main" id="{37A0F702-F529-2786-4832-33216D79DA1A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652463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952FA7EF-9394-490C-A75C-06F2501ACBFB}" type="datetime'''''2''''''''''''''''''0''''''''2''''''''''''3'''''''">
              <a:rPr lang="ru-RU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2023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6" name="Прямоугольник 95">
            <a:extLst>
              <a:ext uri="{FF2B5EF4-FFF2-40B4-BE49-F238E27FC236}">
                <a16:creationId xmlns:a16="http://schemas.microsoft.com/office/drawing/2014/main" id="{686B165A-29A7-1BA6-BA59-3983337A1AEA}"/>
              </a:ext>
            </a:extLst>
          </p:cNvPr>
          <p:cNvSpPr/>
          <p:nvPr>
            <p:custDataLst>
              <p:tags r:id="rId23"/>
            </p:custDataLst>
          </p:nvPr>
        </p:nvSpPr>
        <p:spPr bwMode="gray">
          <a:xfrm>
            <a:off x="6019800" y="5229225"/>
            <a:ext cx="423863" cy="165100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DFF384B-6465-4053-8A74-D01917CE9C42}" type="datetime'''''''''''1''''''''''.''''''''1''''''''''''''''''''9''9'">
              <a:rPr lang="ru-RU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1.199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06" name="Прямоугольник 105">
            <a:extLst>
              <a:ext uri="{FF2B5EF4-FFF2-40B4-BE49-F238E27FC236}">
                <a16:creationId xmlns:a16="http://schemas.microsoft.com/office/drawing/2014/main" id="{D70AA019-30F2-CBCA-1EBA-60966CF7D805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6056313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96F8F263-9D2E-47A7-8484-8ADFBF516155}" type="datetime'''''''2''''0''''''''''''''''''''''''2''''''9'''''''">
              <a:rPr lang="ru-RU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2029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18" name="Прямоугольник 117">
            <a:extLst>
              <a:ext uri="{FF2B5EF4-FFF2-40B4-BE49-F238E27FC236}">
                <a16:creationId xmlns:a16="http://schemas.microsoft.com/office/drawing/2014/main" id="{D12DD7B7-4EFA-CC2F-764A-EA914B7775C7}"/>
              </a:ext>
            </a:extLst>
          </p:cNvPr>
          <p:cNvSpPr/>
          <p:nvPr>
            <p:custDataLst>
              <p:tags r:id="rId25"/>
            </p:custDataLst>
          </p:nvPr>
        </p:nvSpPr>
        <p:spPr bwMode="gray">
          <a:xfrm>
            <a:off x="6983413" y="3086100"/>
            <a:ext cx="296863" cy="1651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9B626F2F-D19B-46DF-ADB0-497547E72B0F}" type="datetime'''''1''''''''''''''''''''''''''8''''''''''''''1'">
              <a:rPr lang="ru-RU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181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13" name="Прямоугольник 112">
            <a:extLst>
              <a:ext uri="{FF2B5EF4-FFF2-40B4-BE49-F238E27FC236}">
                <a16:creationId xmlns:a16="http://schemas.microsoft.com/office/drawing/2014/main" id="{34FDC6EE-4B96-1E71-FFD5-A04ADDC7125D}"/>
              </a:ext>
            </a:extLst>
          </p:cNvPr>
          <p:cNvSpPr/>
          <p:nvPr>
            <p:custDataLst>
              <p:tags r:id="rId26"/>
            </p:custDataLst>
          </p:nvPr>
        </p:nvSpPr>
        <p:spPr bwMode="gray">
          <a:xfrm>
            <a:off x="6919913" y="3946525"/>
            <a:ext cx="423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8F207945-82E0-4028-BFC5-064A380A7C4F}" type="datetime'2''''''''''''''''''''''''''''''''.3''''''''8''''''''''9'''">
              <a:rPr lang="ru-RU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2.389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11" name="Прямоугольник 110">
            <a:extLst>
              <a:ext uri="{FF2B5EF4-FFF2-40B4-BE49-F238E27FC236}">
                <a16:creationId xmlns:a16="http://schemas.microsoft.com/office/drawing/2014/main" id="{C078F7D8-3AD0-FFC9-55A8-7881008D76C9}"/>
              </a:ext>
            </a:extLst>
          </p:cNvPr>
          <p:cNvSpPr/>
          <p:nvPr>
            <p:custDataLst>
              <p:tags r:id="rId27"/>
            </p:custDataLst>
          </p:nvPr>
        </p:nvSpPr>
        <p:spPr bwMode="gray">
          <a:xfrm>
            <a:off x="6919913" y="5187950"/>
            <a:ext cx="423863" cy="165100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E1B89EA2-3064-4B5D-8A9E-EAF63BC3BCA4}" type="datetime'''''''''''''1.''''''''''''''''''''''''''3''''1''''''''''9'''">
              <a:rPr lang="ru-RU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1.319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07" name="Прямоугольник 106">
            <a:extLst>
              <a:ext uri="{FF2B5EF4-FFF2-40B4-BE49-F238E27FC236}">
                <a16:creationId xmlns:a16="http://schemas.microsoft.com/office/drawing/2014/main" id="{A74B0002-E528-8D1D-A91E-03ED16747C02}"/>
              </a:ext>
            </a:extLst>
          </p:cNvPr>
          <p:cNvSpPr/>
          <p:nvPr>
            <p:custDataLst>
              <p:tags r:id="rId28"/>
            </p:custDataLst>
          </p:nvPr>
        </p:nvSpPr>
        <p:spPr bwMode="auto">
          <a:xfrm>
            <a:off x="6956425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B2CF1971-B2B1-4835-A593-87C564B54C07}" type="datetime'''''2''''''''''''''0''3''''''''''''''''''0'''''''''''''''''''">
              <a:rPr lang="ru-RU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2030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15" name="Прямоугольник 114">
            <a:extLst>
              <a:ext uri="{FF2B5EF4-FFF2-40B4-BE49-F238E27FC236}">
                <a16:creationId xmlns:a16="http://schemas.microsoft.com/office/drawing/2014/main" id="{DCEEFDB2-9977-3ECC-E2F3-30E2D59A8579}"/>
              </a:ext>
            </a:extLst>
          </p:cNvPr>
          <p:cNvSpPr/>
          <p:nvPr>
            <p:custDataLst>
              <p:tags r:id="rId29"/>
            </p:custDataLst>
          </p:nvPr>
        </p:nvSpPr>
        <p:spPr bwMode="gray">
          <a:xfrm>
            <a:off x="7820025" y="3787775"/>
            <a:ext cx="423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9E188162-E3C8-4F0B-B76B-DC1ADA999185}" type="datetime'''''2''''''.''''''6''''''''''''''''''0''''1'''''''''''">
              <a:rPr lang="ru-RU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2.601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12" name="Прямоугольник 111">
            <a:extLst>
              <a:ext uri="{FF2B5EF4-FFF2-40B4-BE49-F238E27FC236}">
                <a16:creationId xmlns:a16="http://schemas.microsoft.com/office/drawing/2014/main" id="{93D1405F-AF7F-7EBB-BBD6-55D372323F43}"/>
              </a:ext>
            </a:extLst>
          </p:cNvPr>
          <p:cNvSpPr/>
          <p:nvPr>
            <p:custDataLst>
              <p:tags r:id="rId30"/>
            </p:custDataLst>
          </p:nvPr>
        </p:nvSpPr>
        <p:spPr bwMode="gray">
          <a:xfrm>
            <a:off x="7820025" y="5145088"/>
            <a:ext cx="423863" cy="165100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67D79810-81F6-4FA4-BBFC-29395BA405A3}" type="datetime'''''''''''''''''1''''''''''''.4''5''''''''''''''''''''''1'">
              <a:rPr lang="ru-RU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1.451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08" name="Прямоугольник 107">
            <a:extLst>
              <a:ext uri="{FF2B5EF4-FFF2-40B4-BE49-F238E27FC236}">
                <a16:creationId xmlns:a16="http://schemas.microsoft.com/office/drawing/2014/main" id="{5F588EE3-6110-E1DA-AF72-D5E8C1E4479C}"/>
              </a:ext>
            </a:extLst>
          </p:cNvPr>
          <p:cNvSpPr/>
          <p:nvPr>
            <p:custDataLst>
              <p:tags r:id="rId31"/>
            </p:custDataLst>
          </p:nvPr>
        </p:nvSpPr>
        <p:spPr bwMode="auto">
          <a:xfrm>
            <a:off x="7856538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1E5153A0-D1AD-4B20-A840-54D6A05ECE4A}" type="datetime'''''''''2''''''''''''0''''3''''''''''''1'''''''''">
              <a:rPr lang="ru-RU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2031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7" name="Прямоугольник 96">
            <a:extLst>
              <a:ext uri="{FF2B5EF4-FFF2-40B4-BE49-F238E27FC236}">
                <a16:creationId xmlns:a16="http://schemas.microsoft.com/office/drawing/2014/main" id="{B45FA084-58CB-1C16-1A9E-F90B4012E6F6}"/>
              </a:ext>
            </a:extLst>
          </p:cNvPr>
          <p:cNvSpPr/>
          <p:nvPr>
            <p:custDataLst>
              <p:tags r:id="rId32"/>
            </p:custDataLst>
          </p:nvPr>
        </p:nvSpPr>
        <p:spPr bwMode="gray">
          <a:xfrm>
            <a:off x="679450" y="4859338"/>
            <a:ext cx="296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3E38530A-A097-4C59-84D8-BCE574108824}" type="datetime'''''''9''''''''''''9''''''''''''''''''''''''''1'''''''">
              <a:rPr lang="ru-RU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991</a:t>
            </a:fld>
            <a:endParaRPr lang="ru-RU" kumimoji="0" sz="1200" b="1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8" name="Прямоугольник 97">
            <a:extLst>
              <a:ext uri="{FF2B5EF4-FFF2-40B4-BE49-F238E27FC236}">
                <a16:creationId xmlns:a16="http://schemas.microsoft.com/office/drawing/2014/main" id="{B03325F5-CFB4-E9EB-C059-68FE65946F33}"/>
              </a:ext>
            </a:extLst>
          </p:cNvPr>
          <p:cNvSpPr/>
          <p:nvPr>
            <p:custDataLst>
              <p:tags r:id="rId33"/>
            </p:custDataLst>
          </p:nvPr>
        </p:nvSpPr>
        <p:spPr bwMode="gray">
          <a:xfrm>
            <a:off x="1516063" y="4564063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71B6B2A2-80E8-41AF-9294-3D9780020353}" type="datetime'''1''''''''''''''''''''''.4''''''''''''''''''''32'''''">
              <a:rPr lang="ru-RU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1.432</a:t>
            </a:fld>
            <a:endParaRPr lang="ru-RU" kumimoji="0" sz="1200" b="1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9" name="Прямоугольник 98">
            <a:extLst>
              <a:ext uri="{FF2B5EF4-FFF2-40B4-BE49-F238E27FC236}">
                <a16:creationId xmlns:a16="http://schemas.microsoft.com/office/drawing/2014/main" id="{42B9F10C-F061-1741-0B94-5CE291FBA06F}"/>
              </a:ext>
            </a:extLst>
          </p:cNvPr>
          <p:cNvSpPr/>
          <p:nvPr>
            <p:custDataLst>
              <p:tags r:id="rId34"/>
            </p:custDataLst>
          </p:nvPr>
        </p:nvSpPr>
        <p:spPr bwMode="gray">
          <a:xfrm>
            <a:off x="2417763" y="4294188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E7493CC3-4EFB-46CE-9207-33FB037D843B}" type="datetime'''''''''''''1''''''.8''''''''''''33'''''''''''''''''''''''''''">
              <a:rPr lang="ru-RU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1.833</a:t>
            </a:fld>
            <a:endParaRPr lang="ru-RU" kumimoji="0" sz="1200" b="1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0" name="Прямоугольник 99">
            <a:extLst>
              <a:ext uri="{FF2B5EF4-FFF2-40B4-BE49-F238E27FC236}">
                <a16:creationId xmlns:a16="http://schemas.microsoft.com/office/drawing/2014/main" id="{B506D63F-1A2E-8F77-3CA0-95F141AB3544}"/>
              </a:ext>
            </a:extLst>
          </p:cNvPr>
          <p:cNvSpPr/>
          <p:nvPr>
            <p:custDataLst>
              <p:tags r:id="rId35"/>
            </p:custDataLst>
          </p:nvPr>
        </p:nvSpPr>
        <p:spPr bwMode="gray">
          <a:xfrm>
            <a:off x="3317875" y="3951288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6D72B16F-3706-4979-B07F-5A31356F2F4B}" type="datetime'''''''''2''''.34''6'''''''''">
              <a:rPr lang="ru-RU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2.346</a:t>
            </a:fld>
            <a:endParaRPr lang="ru-RU" kumimoji="0" sz="1200" b="1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1" name="Прямоугольник 100">
            <a:extLst>
              <a:ext uri="{FF2B5EF4-FFF2-40B4-BE49-F238E27FC236}">
                <a16:creationId xmlns:a16="http://schemas.microsoft.com/office/drawing/2014/main" id="{CD08CD25-9894-9330-8913-AC930F5D2CBE}"/>
              </a:ext>
            </a:extLst>
          </p:cNvPr>
          <p:cNvSpPr/>
          <p:nvPr>
            <p:custDataLst>
              <p:tags r:id="rId36"/>
            </p:custDataLst>
          </p:nvPr>
        </p:nvSpPr>
        <p:spPr bwMode="gray">
          <a:xfrm>
            <a:off x="4217988" y="3608388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E4EB1E10-03EA-44C5-8223-06A178B48676}" type="datetime'''''''''''''''''''''''''''''''''''''''''''''2.8''57'">
              <a:rPr lang="ru-RU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2.857</a:t>
            </a:fld>
            <a:endParaRPr lang="ru-RU" kumimoji="0" sz="1200" b="1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2" name="Прямоугольник 101">
            <a:extLst>
              <a:ext uri="{FF2B5EF4-FFF2-40B4-BE49-F238E27FC236}">
                <a16:creationId xmlns:a16="http://schemas.microsoft.com/office/drawing/2014/main" id="{8DF5A422-F584-7BF4-8896-4D6D1E454CD8}"/>
              </a:ext>
            </a:extLst>
          </p:cNvPr>
          <p:cNvSpPr/>
          <p:nvPr>
            <p:custDataLst>
              <p:tags r:id="rId37"/>
            </p:custDataLst>
          </p:nvPr>
        </p:nvSpPr>
        <p:spPr bwMode="gray">
          <a:xfrm>
            <a:off x="5118100" y="3225800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F234250C-68B1-4A90-A37A-9D09B0FE0F55}" type="datetime'''''''''''''''''''''''3''.''''''4''''''''''''''''2''8'''''''">
              <a:rPr lang="ru-RU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3.428</a:t>
            </a:fld>
            <a:endParaRPr lang="ru-RU" kumimoji="0" sz="1200" b="1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3" name="Прямоугольник 102">
            <a:extLst>
              <a:ext uri="{FF2B5EF4-FFF2-40B4-BE49-F238E27FC236}">
                <a16:creationId xmlns:a16="http://schemas.microsoft.com/office/drawing/2014/main" id="{61C359B3-3830-D4D8-36AB-790982E22B02}"/>
              </a:ext>
            </a:extLst>
          </p:cNvPr>
          <p:cNvSpPr/>
          <p:nvPr>
            <p:custDataLst>
              <p:tags r:id="rId38"/>
            </p:custDataLst>
          </p:nvPr>
        </p:nvSpPr>
        <p:spPr bwMode="gray">
          <a:xfrm>
            <a:off x="6019800" y="2822575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C6235F97-AB89-4ECE-A1AD-FC4760EFE21D}" type="datetime'''4''''''''.''0''''''3''''''0'''''''''''''">
              <a:rPr lang="ru-RU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4.030</a:t>
            </a:fld>
            <a:endParaRPr lang="ru-RU" kumimoji="0" sz="1200" b="1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9" name="Прямоугольник 108">
            <a:extLst>
              <a:ext uri="{FF2B5EF4-FFF2-40B4-BE49-F238E27FC236}">
                <a16:creationId xmlns:a16="http://schemas.microsoft.com/office/drawing/2014/main" id="{08DC9B03-86BD-683C-46A0-53C82FBC1013}"/>
              </a:ext>
            </a:extLst>
          </p:cNvPr>
          <p:cNvSpPr/>
          <p:nvPr>
            <p:custDataLst>
              <p:tags r:id="rId39"/>
            </p:custDataLst>
          </p:nvPr>
        </p:nvSpPr>
        <p:spPr bwMode="gray">
          <a:xfrm>
            <a:off x="6919913" y="2389188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2FD1A78B-907A-48CC-82B6-3047BFD06CD9}" type="datetime'''''''''''''''''''4''''''''''''''''.''''''''''''677'">
              <a:rPr lang="ru-RU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4.677</a:t>
            </a:fld>
            <a:endParaRPr lang="ru-RU" kumimoji="0" sz="1200" b="1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10" name="Прямоугольник 109">
            <a:extLst>
              <a:ext uri="{FF2B5EF4-FFF2-40B4-BE49-F238E27FC236}">
                <a16:creationId xmlns:a16="http://schemas.microsoft.com/office/drawing/2014/main" id="{24546A23-0E05-0A4A-0F19-4D90415CB852}"/>
              </a:ext>
            </a:extLst>
          </p:cNvPr>
          <p:cNvSpPr/>
          <p:nvPr>
            <p:custDataLst>
              <p:tags r:id="rId40"/>
            </p:custDataLst>
          </p:nvPr>
        </p:nvSpPr>
        <p:spPr bwMode="gray">
          <a:xfrm>
            <a:off x="7820025" y="2078038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7CA062F8-1C21-43AC-A8F7-0A6AB0EAC780}" type="datetime'5''''''.''''''''''''''1''''4''''''''''''''''''''2'''">
              <a:rPr lang="ru-RU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5.142</a:t>
            </a:fld>
            <a:endParaRPr lang="ru-RU" kumimoji="0" sz="1200" b="1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17" name="Прямоугольник 116">
            <a:extLst>
              <a:ext uri="{FF2B5EF4-FFF2-40B4-BE49-F238E27FC236}">
                <a16:creationId xmlns:a16="http://schemas.microsoft.com/office/drawing/2014/main" id="{3A9B3E1D-88AC-D6F1-D8C1-10E2C0F29D7D}"/>
              </a:ext>
            </a:extLst>
          </p:cNvPr>
          <p:cNvSpPr/>
          <p:nvPr>
            <p:custDataLst>
              <p:tags r:id="rId41"/>
            </p:custDataLst>
          </p:nvPr>
        </p:nvSpPr>
        <p:spPr bwMode="gray">
          <a:xfrm>
            <a:off x="2481263" y="4460875"/>
            <a:ext cx="296863" cy="165100"/>
          </a:xfrm>
          <a:prstGeom prst="rect">
            <a:avLst/>
          </a:prstGeom>
          <a:solidFill>
            <a:srgbClr val="4C6C9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2D399564-6B85-4091-A9AA-378A364500E0}" type="datetime'''''''''1''''''''''''''7''''4'''''">
              <a:rPr lang="ru-RU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174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22" name="Прямоугольник 121">
            <a:extLst>
              <a:ext uri="{FF2B5EF4-FFF2-40B4-BE49-F238E27FC236}">
                <a16:creationId xmlns:a16="http://schemas.microsoft.com/office/drawing/2014/main" id="{3647EDFC-DEE4-781D-5CA2-8013518A5388}"/>
              </a:ext>
            </a:extLst>
          </p:cNvPr>
          <p:cNvSpPr/>
          <p:nvPr>
            <p:custDataLst>
              <p:tags r:id="rId42"/>
            </p:custDataLst>
          </p:nvPr>
        </p:nvSpPr>
        <p:spPr bwMode="auto">
          <a:xfrm>
            <a:off x="363538" y="1508125"/>
            <a:ext cx="214313" cy="160338"/>
          </a:xfrm>
          <a:prstGeom prst="rect">
            <a:avLst/>
          </a:prstGeom>
          <a:solidFill>
            <a:srgbClr val="4C6C9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ru-RU" kumimoji="0" sz="1400" b="0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3" name="Прямоугольник 122">
            <a:extLst>
              <a:ext uri="{FF2B5EF4-FFF2-40B4-BE49-F238E27FC236}">
                <a16:creationId xmlns:a16="http://schemas.microsoft.com/office/drawing/2014/main" id="{5FC1E172-FD12-CAEA-69F7-F88AA396875B}"/>
              </a:ext>
            </a:extLst>
          </p:cNvPr>
          <p:cNvSpPr/>
          <p:nvPr>
            <p:custDataLst>
              <p:tags r:id="rId43"/>
            </p:custDataLst>
          </p:nvPr>
        </p:nvSpPr>
        <p:spPr bwMode="auto">
          <a:xfrm>
            <a:off x="2711450" y="1508125"/>
            <a:ext cx="214313" cy="160338"/>
          </a:xfrm>
          <a:prstGeom prst="rect">
            <a:avLst/>
          </a:prstGeom>
          <a:solidFill>
            <a:srgbClr val="9DB1C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ru-RU" kumimoji="0" sz="1400" b="0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4" name="Прямоугольник 123">
            <a:extLst>
              <a:ext uri="{FF2B5EF4-FFF2-40B4-BE49-F238E27FC236}">
                <a16:creationId xmlns:a16="http://schemas.microsoft.com/office/drawing/2014/main" id="{FF88AA73-836A-6C1B-4CFE-59037E80A3FC}"/>
              </a:ext>
            </a:extLst>
          </p:cNvPr>
          <p:cNvSpPr/>
          <p:nvPr>
            <p:custDataLst>
              <p:tags r:id="rId44"/>
            </p:custDataLst>
          </p:nvPr>
        </p:nvSpPr>
        <p:spPr bwMode="auto">
          <a:xfrm>
            <a:off x="3273425" y="1508125"/>
            <a:ext cx="214313" cy="160338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ru-RU" kumimoji="0" sz="1400" b="0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5" name="Прямоугольник 124">
            <a:extLst>
              <a:ext uri="{FF2B5EF4-FFF2-40B4-BE49-F238E27FC236}">
                <a16:creationId xmlns:a16="http://schemas.microsoft.com/office/drawing/2014/main" id="{69B194C7-79F6-88B3-1C84-4536828BA883}"/>
              </a:ext>
            </a:extLst>
          </p:cNvPr>
          <p:cNvSpPr/>
          <p:nvPr>
            <p:custDataLst>
              <p:tags r:id="rId45"/>
            </p:custDataLst>
          </p:nvPr>
        </p:nvSpPr>
        <p:spPr bwMode="auto">
          <a:xfrm>
            <a:off x="4256088" y="1508125"/>
            <a:ext cx="214313" cy="16033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ru-RU" kumimoji="0" sz="1400" b="0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6" name="Прямоугольник 125">
            <a:extLst>
              <a:ext uri="{FF2B5EF4-FFF2-40B4-BE49-F238E27FC236}">
                <a16:creationId xmlns:a16="http://schemas.microsoft.com/office/drawing/2014/main" id="{3E5C9A0A-F4A6-5924-F811-50A5B61711F9}"/>
              </a:ext>
            </a:extLst>
          </p:cNvPr>
          <p:cNvSpPr/>
          <p:nvPr>
            <p:custDataLst>
              <p:tags r:id="rId46"/>
            </p:custDataLst>
          </p:nvPr>
        </p:nvSpPr>
        <p:spPr bwMode="auto">
          <a:xfrm>
            <a:off x="5465763" y="1508125"/>
            <a:ext cx="214313" cy="160338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ru-RU" kumimoji="0" sz="1400" b="0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7" name="Прямоугольник 126">
            <a:extLst>
              <a:ext uri="{FF2B5EF4-FFF2-40B4-BE49-F238E27FC236}">
                <a16:creationId xmlns:a16="http://schemas.microsoft.com/office/drawing/2014/main" id="{AA218D48-B8E7-8FA6-0267-050377CF6F37}"/>
              </a:ext>
            </a:extLst>
          </p:cNvPr>
          <p:cNvSpPr/>
          <p:nvPr>
            <p:custDataLst>
              <p:tags r:id="rId47"/>
            </p:custDataLst>
          </p:nvPr>
        </p:nvSpPr>
        <p:spPr bwMode="auto">
          <a:xfrm>
            <a:off x="628650" y="1503363"/>
            <a:ext cx="198120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59A698E8-021B-4086-AF75-CB8BD31FC29D}" type="datetime'''''Et''c. (''''i''''nc''l'' ''OO''H, Rad''''io,'' Pr''''ess)'">
              <a:rPr lang="en-US" sz="1200" smtClean="0">
                <a:solidFill>
                  <a:srgbClr val="000000"/>
                </a:solidFill>
              </a:rPr>
              <a:pPr lv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Etc. (incl OOH, Radio, Press)</a:t>
            </a:fld>
            <a:endParaRPr lang="en-US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28" name="Прямоугольник 127">
            <a:extLst>
              <a:ext uri="{FF2B5EF4-FFF2-40B4-BE49-F238E27FC236}">
                <a16:creationId xmlns:a16="http://schemas.microsoft.com/office/drawing/2014/main" id="{76A7C27D-9D7D-620A-E3C7-E7349D65FE4A}"/>
              </a:ext>
            </a:extLst>
          </p:cNvPr>
          <p:cNvSpPr/>
          <p:nvPr>
            <p:custDataLst>
              <p:tags r:id="rId48"/>
            </p:custDataLst>
          </p:nvPr>
        </p:nvSpPr>
        <p:spPr bwMode="auto">
          <a:xfrm>
            <a:off x="2976563" y="1503363"/>
            <a:ext cx="1952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6738614D-788F-475E-906A-74DB5AB58DC2}" type="datetime'''''''''T''''''''''''''''''''V'''''''''''''">
              <a:rPr lang="en-US" sz="1200" smtClean="0">
                <a:solidFill>
                  <a:srgbClr val="000000"/>
                </a:solidFill>
              </a:rPr>
              <a:pPr lv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TV</a:t>
            </a:fld>
            <a:endParaRPr lang="en-US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29" name="Прямоугольник 128">
            <a:extLst>
              <a:ext uri="{FF2B5EF4-FFF2-40B4-BE49-F238E27FC236}">
                <a16:creationId xmlns:a16="http://schemas.microsoft.com/office/drawing/2014/main" id="{DB658F56-02EB-A232-4970-C86C9B615312}"/>
              </a:ext>
            </a:extLst>
          </p:cNvPr>
          <p:cNvSpPr/>
          <p:nvPr>
            <p:custDataLst>
              <p:tags r:id="rId49"/>
            </p:custDataLst>
          </p:nvPr>
        </p:nvSpPr>
        <p:spPr bwMode="auto">
          <a:xfrm>
            <a:off x="3538538" y="1503363"/>
            <a:ext cx="6159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EBC019E4-7EB5-4708-93C1-FE271D75AB64}" type="datetime'''''I''nf''''l''u''''''''en''''''''c''''''''''''''e'''''">
              <a:rPr lang="en-US" sz="1200" smtClean="0">
                <a:solidFill>
                  <a:srgbClr val="000000"/>
                </a:solidFill>
              </a:rPr>
              <a:pPr lv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Influence</a:t>
            </a:fld>
            <a:endParaRPr lang="en-US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30" name="Прямоугольник 129">
            <a:extLst>
              <a:ext uri="{FF2B5EF4-FFF2-40B4-BE49-F238E27FC236}">
                <a16:creationId xmlns:a16="http://schemas.microsoft.com/office/drawing/2014/main" id="{3671BBB8-A578-5411-8519-CE7F2F47C25E}"/>
              </a:ext>
            </a:extLst>
          </p:cNvPr>
          <p:cNvSpPr/>
          <p:nvPr>
            <p:custDataLst>
              <p:tags r:id="rId50"/>
            </p:custDataLst>
          </p:nvPr>
        </p:nvSpPr>
        <p:spPr bwMode="auto">
          <a:xfrm>
            <a:off x="4521200" y="1503363"/>
            <a:ext cx="8429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0D941EAB-DBA2-44C4-8F90-B2AE9369BB38}" type="datetime'R''e''''''t''''''''''''''''''''''''ai''l'''' ''''Med''''ia'">
              <a:rPr lang="en-US" sz="1200" smtClean="0">
                <a:solidFill>
                  <a:srgbClr val="000000"/>
                </a:solidFill>
              </a:rPr>
              <a:pPr lv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Retail Media</a:t>
            </a:fld>
            <a:endParaRPr lang="en-US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31" name="Прямоугольник 130">
            <a:extLst>
              <a:ext uri="{FF2B5EF4-FFF2-40B4-BE49-F238E27FC236}">
                <a16:creationId xmlns:a16="http://schemas.microsoft.com/office/drawing/2014/main" id="{D4296DA3-F9B2-D511-4A8F-A16C8EF9DFB8}"/>
              </a:ext>
            </a:extLst>
          </p:cNvPr>
          <p:cNvSpPr/>
          <p:nvPr>
            <p:custDataLst>
              <p:tags r:id="rId51"/>
            </p:custDataLst>
          </p:nvPr>
        </p:nvSpPr>
        <p:spPr bwMode="auto">
          <a:xfrm>
            <a:off x="5730875" y="1503363"/>
            <a:ext cx="113982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12333284-4378-4CF7-AB90-7EE2849552CC}" type="datetime'''T''r''ad''i''t''i''o''na''l'' ''d''i''gi''''t''''''''a''''l'">
              <a:rPr lang="en-US" sz="1200" smtClean="0">
                <a:solidFill>
                  <a:srgbClr val="000000"/>
                </a:solidFill>
              </a:rPr>
              <a:pPr lv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Traditional digital</a:t>
            </a:fld>
            <a:endParaRPr lang="en-US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32" name="Прямоугольник: скругленные углы 462">
            <a:extLst>
              <a:ext uri="{FF2B5EF4-FFF2-40B4-BE49-F238E27FC236}">
                <a16:creationId xmlns:a16="http://schemas.microsoft.com/office/drawing/2014/main" id="{EB9F1138-819B-669A-733A-30E903FE7C18}"/>
              </a:ext>
            </a:extLst>
          </p:cNvPr>
          <p:cNvSpPr/>
          <p:nvPr/>
        </p:nvSpPr>
        <p:spPr>
          <a:xfrm>
            <a:off x="363538" y="1001900"/>
            <a:ext cx="8138477" cy="3394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1600" b="1" i="0" u="none" strike="noStrike" kern="0" cap="none" spc="0" normalizeH="0" baseline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Выручка основных сегментов рекламного рынка в РФ, </a:t>
            </a:r>
            <a:r>
              <a:rPr lang="ru-RU" kumimoji="0" sz="1600" b="0" i="0" u="none" strike="noStrike" kern="0" cap="none" spc="0" normalizeH="0" baseline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млрд руб.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6B96C9BD-EBAD-EC32-2044-E88BC73DB15A}"/>
              </a:ext>
            </a:extLst>
          </p:cNvPr>
          <p:cNvSpPr txBox="1"/>
          <p:nvPr/>
        </p:nvSpPr>
        <p:spPr>
          <a:xfrm>
            <a:off x="3292475" y="2032000"/>
            <a:ext cx="2293937" cy="226591"/>
          </a:xfrm>
          <a:prstGeom prst="rect">
            <a:avLst/>
          </a:prstGeom>
          <a:noFill/>
        </p:spPr>
        <p:txBody>
          <a:bodyPr wrap="square" lIns="0" tIns="36000" rIns="36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1000" b="0" i="1" u="none" strike="noStrike" kern="0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Индикативный прогноз</a:t>
            </a:r>
          </a:p>
        </p:txBody>
      </p:sp>
      <p:sp>
        <p:nvSpPr>
          <p:cNvPr id="134" name="Овал 133">
            <a:extLst>
              <a:ext uri="{FF2B5EF4-FFF2-40B4-BE49-F238E27FC236}">
                <a16:creationId xmlns:a16="http://schemas.microsoft.com/office/drawing/2014/main" id="{9BB0A294-90D7-3A6F-467C-967B714E5DBA}"/>
              </a:ext>
            </a:extLst>
          </p:cNvPr>
          <p:cNvSpPr/>
          <p:nvPr/>
        </p:nvSpPr>
        <p:spPr>
          <a:xfrm>
            <a:off x="563563" y="3227388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4C6C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4C6C9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+34%</a:t>
            </a:r>
          </a:p>
        </p:txBody>
      </p:sp>
      <p:sp>
        <p:nvSpPr>
          <p:cNvPr id="135" name="Овал 134">
            <a:extLst>
              <a:ext uri="{FF2B5EF4-FFF2-40B4-BE49-F238E27FC236}">
                <a16:creationId xmlns:a16="http://schemas.microsoft.com/office/drawing/2014/main" id="{B5A2ACB7-DFCA-B167-2185-35EDB96C5D93}"/>
              </a:ext>
            </a:extLst>
          </p:cNvPr>
          <p:cNvSpPr/>
          <p:nvPr/>
        </p:nvSpPr>
        <p:spPr>
          <a:xfrm>
            <a:off x="7083425" y="1483326"/>
            <a:ext cx="542650" cy="206375"/>
          </a:xfrm>
          <a:prstGeom prst="ellipse">
            <a:avLst/>
          </a:prstGeom>
          <a:solidFill>
            <a:schemeClr val="bg1"/>
          </a:solidFill>
          <a:ln w="12700">
            <a:solidFill>
              <a:srgbClr val="4C6C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kumimoji="0" sz="1000" b="1" i="0" u="none" strike="noStrike" kern="0" cap="none" spc="0" normalizeH="0" baseline="0">
                <a:ln>
                  <a:noFill/>
                </a:ln>
                <a:solidFill>
                  <a:srgbClr val="4C6C9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+X%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8AE5ABBA-2DBF-2962-E8BE-42D5BCE7D1BD}"/>
              </a:ext>
            </a:extLst>
          </p:cNvPr>
          <p:cNvSpPr txBox="1"/>
          <p:nvPr/>
        </p:nvSpPr>
        <p:spPr>
          <a:xfrm>
            <a:off x="7721600" y="1457829"/>
            <a:ext cx="760412" cy="257369"/>
          </a:xfrm>
          <a:prstGeom prst="rect">
            <a:avLst/>
          </a:prstGeom>
          <a:noFill/>
        </p:spPr>
        <p:txBody>
          <a:bodyPr wrap="square" lIns="0" tIns="36000" rIns="36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kumimoji="0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- CAGR</a:t>
            </a:r>
          </a:p>
        </p:txBody>
      </p:sp>
      <p:sp>
        <p:nvSpPr>
          <p:cNvPr id="137" name="Овал 136">
            <a:extLst>
              <a:ext uri="{FF2B5EF4-FFF2-40B4-BE49-F238E27FC236}">
                <a16:creationId xmlns:a16="http://schemas.microsoft.com/office/drawing/2014/main" id="{5176293A-74E7-4673-8EFC-C4B0BFD1EA5E}"/>
              </a:ext>
            </a:extLst>
          </p:cNvPr>
          <p:cNvSpPr/>
          <p:nvPr/>
        </p:nvSpPr>
        <p:spPr>
          <a:xfrm>
            <a:off x="1471613" y="2932113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4C6C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4C6C9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+35%</a:t>
            </a:r>
          </a:p>
        </p:txBody>
      </p:sp>
      <p:sp>
        <p:nvSpPr>
          <p:cNvPr id="138" name="Овал 137">
            <a:extLst>
              <a:ext uri="{FF2B5EF4-FFF2-40B4-BE49-F238E27FC236}">
                <a16:creationId xmlns:a16="http://schemas.microsoft.com/office/drawing/2014/main" id="{FF969D4B-CF07-1EE7-41C1-BBF66086D484}"/>
              </a:ext>
            </a:extLst>
          </p:cNvPr>
          <p:cNvSpPr/>
          <p:nvPr/>
        </p:nvSpPr>
        <p:spPr>
          <a:xfrm>
            <a:off x="2379663" y="2636838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4C6C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4C6C9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+25%</a:t>
            </a:r>
          </a:p>
        </p:txBody>
      </p:sp>
      <p:sp>
        <p:nvSpPr>
          <p:cNvPr id="139" name="Овал 138">
            <a:extLst>
              <a:ext uri="{FF2B5EF4-FFF2-40B4-BE49-F238E27FC236}">
                <a16:creationId xmlns:a16="http://schemas.microsoft.com/office/drawing/2014/main" id="{3C9768BD-18F9-1FA0-AB6D-38E3A1DE3758}"/>
              </a:ext>
            </a:extLst>
          </p:cNvPr>
          <p:cNvSpPr/>
          <p:nvPr/>
        </p:nvSpPr>
        <p:spPr>
          <a:xfrm>
            <a:off x="563563" y="3556000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9DB1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9DB1C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+20%</a:t>
            </a:r>
          </a:p>
        </p:txBody>
      </p:sp>
      <p:sp>
        <p:nvSpPr>
          <p:cNvPr id="140" name="Овал 139">
            <a:extLst>
              <a:ext uri="{FF2B5EF4-FFF2-40B4-BE49-F238E27FC236}">
                <a16:creationId xmlns:a16="http://schemas.microsoft.com/office/drawing/2014/main" id="{0D290120-31A4-AF6F-E7EB-5602C4D69D5F}"/>
              </a:ext>
            </a:extLst>
          </p:cNvPr>
          <p:cNvSpPr/>
          <p:nvPr/>
        </p:nvSpPr>
        <p:spPr>
          <a:xfrm>
            <a:off x="1471613" y="3260725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9DB1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9DB1C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+20%</a:t>
            </a:r>
          </a:p>
        </p:txBody>
      </p:sp>
      <p:sp>
        <p:nvSpPr>
          <p:cNvPr id="141" name="Овал 140">
            <a:extLst>
              <a:ext uri="{FF2B5EF4-FFF2-40B4-BE49-F238E27FC236}">
                <a16:creationId xmlns:a16="http://schemas.microsoft.com/office/drawing/2014/main" id="{9A5AE820-5EF5-E2F5-C855-9D378D4E32E2}"/>
              </a:ext>
            </a:extLst>
          </p:cNvPr>
          <p:cNvSpPr/>
          <p:nvPr/>
        </p:nvSpPr>
        <p:spPr>
          <a:xfrm>
            <a:off x="2379663" y="2965450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9DB1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9DB1C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+15%</a:t>
            </a:r>
          </a:p>
        </p:txBody>
      </p:sp>
      <p:sp>
        <p:nvSpPr>
          <p:cNvPr id="142" name="Овал 141">
            <a:extLst>
              <a:ext uri="{FF2B5EF4-FFF2-40B4-BE49-F238E27FC236}">
                <a16:creationId xmlns:a16="http://schemas.microsoft.com/office/drawing/2014/main" id="{AB7DFC92-B68F-59AB-21AC-2721C510E987}"/>
              </a:ext>
            </a:extLst>
          </p:cNvPr>
          <p:cNvSpPr/>
          <p:nvPr/>
        </p:nvSpPr>
        <p:spPr>
          <a:xfrm>
            <a:off x="563563" y="3890963"/>
            <a:ext cx="542650" cy="24277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+100%</a:t>
            </a:r>
          </a:p>
        </p:txBody>
      </p:sp>
      <p:sp>
        <p:nvSpPr>
          <p:cNvPr id="143" name="Овал 142">
            <a:extLst>
              <a:ext uri="{FF2B5EF4-FFF2-40B4-BE49-F238E27FC236}">
                <a16:creationId xmlns:a16="http://schemas.microsoft.com/office/drawing/2014/main" id="{8DF1B26E-E10C-A705-A530-235A5CF0EBF6}"/>
              </a:ext>
            </a:extLst>
          </p:cNvPr>
          <p:cNvSpPr/>
          <p:nvPr/>
        </p:nvSpPr>
        <p:spPr>
          <a:xfrm>
            <a:off x="1471613" y="3595688"/>
            <a:ext cx="542650" cy="24277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+150%</a:t>
            </a:r>
          </a:p>
        </p:txBody>
      </p:sp>
      <p:sp>
        <p:nvSpPr>
          <p:cNvPr id="144" name="Овал 143">
            <a:extLst>
              <a:ext uri="{FF2B5EF4-FFF2-40B4-BE49-F238E27FC236}">
                <a16:creationId xmlns:a16="http://schemas.microsoft.com/office/drawing/2014/main" id="{D281B35C-86CA-2D49-E951-872DB96EB18F}"/>
              </a:ext>
            </a:extLst>
          </p:cNvPr>
          <p:cNvSpPr/>
          <p:nvPr/>
        </p:nvSpPr>
        <p:spPr>
          <a:xfrm>
            <a:off x="2379663" y="3300413"/>
            <a:ext cx="542650" cy="24277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</a:t>
            </a:r>
            <a:r>
              <a:rPr lang="ru-RU" sz="900" b="1" kern="0">
                <a:solidFill>
                  <a:srgbClr val="FFFFFF"/>
                </a:solidFill>
                <a:latin typeface="Arial"/>
                <a:sym typeface="Arial"/>
              </a:rPr>
              <a:t>30</a:t>
            </a: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%</a:t>
            </a:r>
          </a:p>
        </p:txBody>
      </p:sp>
      <p:sp>
        <p:nvSpPr>
          <p:cNvPr id="145" name="Овал 144">
            <a:extLst>
              <a:ext uri="{FF2B5EF4-FFF2-40B4-BE49-F238E27FC236}">
                <a16:creationId xmlns:a16="http://schemas.microsoft.com/office/drawing/2014/main" id="{680DE674-D71B-DB96-C4E4-5132C719524E}"/>
              </a:ext>
            </a:extLst>
          </p:cNvPr>
          <p:cNvSpPr/>
          <p:nvPr/>
        </p:nvSpPr>
        <p:spPr>
          <a:xfrm>
            <a:off x="563563" y="4233863"/>
            <a:ext cx="542650" cy="24277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+270%</a:t>
            </a:r>
          </a:p>
        </p:txBody>
      </p:sp>
      <p:sp>
        <p:nvSpPr>
          <p:cNvPr id="146" name="Овал 145">
            <a:extLst>
              <a:ext uri="{FF2B5EF4-FFF2-40B4-BE49-F238E27FC236}">
                <a16:creationId xmlns:a16="http://schemas.microsoft.com/office/drawing/2014/main" id="{CCC283A4-4E2E-253B-D2AD-0F433B44EB7E}"/>
              </a:ext>
            </a:extLst>
          </p:cNvPr>
          <p:cNvSpPr/>
          <p:nvPr/>
        </p:nvSpPr>
        <p:spPr>
          <a:xfrm>
            <a:off x="1471613" y="3938588"/>
            <a:ext cx="542650" cy="24277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+110%</a:t>
            </a:r>
          </a:p>
        </p:txBody>
      </p:sp>
      <p:sp>
        <p:nvSpPr>
          <p:cNvPr id="147" name="Овал 146">
            <a:extLst>
              <a:ext uri="{FF2B5EF4-FFF2-40B4-BE49-F238E27FC236}">
                <a16:creationId xmlns:a16="http://schemas.microsoft.com/office/drawing/2014/main" id="{8803AED3-4384-512A-7C57-873F7CB7F42E}"/>
              </a:ext>
            </a:extLst>
          </p:cNvPr>
          <p:cNvSpPr/>
          <p:nvPr/>
        </p:nvSpPr>
        <p:spPr>
          <a:xfrm>
            <a:off x="2379663" y="3643313"/>
            <a:ext cx="542650" cy="24277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+50%</a:t>
            </a:r>
          </a:p>
        </p:txBody>
      </p:sp>
      <p:sp>
        <p:nvSpPr>
          <p:cNvPr id="148" name="Овал 147">
            <a:extLst>
              <a:ext uri="{FF2B5EF4-FFF2-40B4-BE49-F238E27FC236}">
                <a16:creationId xmlns:a16="http://schemas.microsoft.com/office/drawing/2014/main" id="{8387556B-8702-8BA0-4284-27664B72A334}"/>
              </a:ext>
            </a:extLst>
          </p:cNvPr>
          <p:cNvSpPr/>
          <p:nvPr/>
        </p:nvSpPr>
        <p:spPr>
          <a:xfrm>
            <a:off x="563563" y="4568825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DFE5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+19%</a:t>
            </a:r>
          </a:p>
        </p:txBody>
      </p:sp>
      <p:sp>
        <p:nvSpPr>
          <p:cNvPr id="149" name="Овал 148">
            <a:extLst>
              <a:ext uri="{FF2B5EF4-FFF2-40B4-BE49-F238E27FC236}">
                <a16:creationId xmlns:a16="http://schemas.microsoft.com/office/drawing/2014/main" id="{C8266C2A-4FE5-937C-8C7E-155BB01EA5BE}"/>
              </a:ext>
            </a:extLst>
          </p:cNvPr>
          <p:cNvSpPr/>
          <p:nvPr/>
        </p:nvSpPr>
        <p:spPr>
          <a:xfrm>
            <a:off x="1471613" y="4273550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DFE5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+28%</a:t>
            </a:r>
          </a:p>
        </p:txBody>
      </p:sp>
      <p:sp>
        <p:nvSpPr>
          <p:cNvPr id="150" name="Овал 149">
            <a:extLst>
              <a:ext uri="{FF2B5EF4-FFF2-40B4-BE49-F238E27FC236}">
                <a16:creationId xmlns:a16="http://schemas.microsoft.com/office/drawing/2014/main" id="{3E43B528-3EC0-35E9-3A4B-8DD866D4308F}"/>
              </a:ext>
            </a:extLst>
          </p:cNvPr>
          <p:cNvSpPr/>
          <p:nvPr/>
        </p:nvSpPr>
        <p:spPr>
          <a:xfrm>
            <a:off x="2379663" y="3978275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DFE5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+21%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54774214-B187-CD67-E0FA-280DC69C67F5}"/>
              </a:ext>
            </a:extLst>
          </p:cNvPr>
          <p:cNvSpPr txBox="1"/>
          <p:nvPr/>
        </p:nvSpPr>
        <p:spPr>
          <a:xfrm>
            <a:off x="146050" y="2427288"/>
            <a:ext cx="1289594" cy="688256"/>
          </a:xfrm>
          <a:prstGeom prst="rect">
            <a:avLst/>
          </a:prstGeom>
          <a:noFill/>
        </p:spPr>
        <p:txBody>
          <a:bodyPr wrap="square" lIns="0" tIns="36000" rIns="36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1000" b="0" i="0" u="none" strike="noStrike" kern="0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Быстрорастущие сегменты, замещающие </a:t>
            </a:r>
            <a:r>
              <a:rPr lang="en-US" kumimoji="0" sz="1000" b="0" i="0" u="none" strike="noStrike" kern="0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traditional digital</a:t>
            </a:r>
            <a:endParaRPr lang="ru-RU" kumimoji="0" sz="1000" b="0" i="0" u="none" strike="noStrike" kern="0" cap="none" spc="0" normalizeH="0" baseline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2" name="Левая фигурная скобка 451">
            <a:extLst>
              <a:ext uri="{FF2B5EF4-FFF2-40B4-BE49-F238E27FC236}">
                <a16:creationId xmlns:a16="http://schemas.microsoft.com/office/drawing/2014/main" id="{47B408AC-EF5B-EAD6-E5E0-0F1CACD09953}"/>
              </a:ext>
            </a:extLst>
          </p:cNvPr>
          <p:cNvSpPr/>
          <p:nvPr/>
        </p:nvSpPr>
        <p:spPr>
          <a:xfrm>
            <a:off x="331788" y="3925888"/>
            <a:ext cx="149547" cy="590659"/>
          </a:xfrm>
          <a:prstGeom prst="leftBrac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ru-RU" kumimoji="0" sz="14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cxnSp>
        <p:nvCxnSpPr>
          <p:cNvPr id="153" name="Соединитель: уступ 41">
            <a:extLst>
              <a:ext uri="{FF2B5EF4-FFF2-40B4-BE49-F238E27FC236}">
                <a16:creationId xmlns:a16="http://schemas.microsoft.com/office/drawing/2014/main" id="{6008DFB5-F10B-BB98-7543-E46C96ECB806}"/>
              </a:ext>
            </a:extLst>
          </p:cNvPr>
          <p:cNvCxnSpPr>
            <a:cxnSpLocks/>
            <a:endCxn id="152" idx="1"/>
          </p:cNvCxnSpPr>
          <p:nvPr/>
        </p:nvCxnSpPr>
        <p:spPr>
          <a:xfrm rot="16200000" flipH="1">
            <a:off x="-277431" y="3611999"/>
            <a:ext cx="1095192" cy="123246"/>
          </a:xfrm>
          <a:prstGeom prst="bentConnector2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Прямоугольник: скругленные углы 462">
            <a:extLst>
              <a:ext uri="{FF2B5EF4-FFF2-40B4-BE49-F238E27FC236}">
                <a16:creationId xmlns:a16="http://schemas.microsoft.com/office/drawing/2014/main" id="{DCB1416A-1512-6232-F56E-342927FE1AF8}"/>
              </a:ext>
            </a:extLst>
          </p:cNvPr>
          <p:cNvSpPr/>
          <p:nvPr/>
        </p:nvSpPr>
        <p:spPr>
          <a:xfrm>
            <a:off x="8680992" y="1001900"/>
            <a:ext cx="3146833" cy="3394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sz="1600" b="1" kern="0">
                <a:solidFill>
                  <a:sysClr val="windowText" lastClr="000000"/>
                </a:solidFill>
                <a:latin typeface="Arial"/>
                <a:sym typeface="Arial"/>
              </a:rPr>
              <a:t>Комментарии</a:t>
            </a:r>
            <a:endParaRPr lang="ru-RU" kumimoji="0" sz="1600" b="0" i="0" u="none" strike="noStrike" kern="0" cap="none" spc="0" normalizeH="0" baseline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4596DD25-5FFC-7149-B150-9F36CA0AD1AE}"/>
              </a:ext>
            </a:extLst>
          </p:cNvPr>
          <p:cNvSpPr txBox="1"/>
          <p:nvPr/>
        </p:nvSpPr>
        <p:spPr>
          <a:xfrm>
            <a:off x="8682038" y="1432714"/>
            <a:ext cx="3145787" cy="3704467"/>
          </a:xfrm>
          <a:prstGeom prst="rect">
            <a:avLst/>
          </a:prstGeom>
          <a:noFill/>
        </p:spPr>
        <p:txBody>
          <a:bodyPr wrap="square" lIns="0" tIns="36000" rIns="36000" bIns="36000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Aft>
                <a:spcPts val="120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lang="ru-RU"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Ключевым драйвером рынка является </a:t>
            </a:r>
            <a:r>
              <a:rPr lang="en-US"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Retail Media </a:t>
            </a:r>
            <a:r>
              <a:rPr lang="ru-RU"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с высокой долей </a:t>
            </a:r>
            <a:r>
              <a:rPr lang="en-US"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e-com </a:t>
            </a:r>
            <a:r>
              <a:rPr lang="ru-RU"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</a:t>
            </a:r>
            <a:r>
              <a:rPr lang="en-US"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Ozon &amp; WB </a:t>
            </a:r>
            <a:r>
              <a:rPr lang="ru-RU"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90%+)</a:t>
            </a:r>
            <a:endParaRPr lang="ru-RU"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Aft>
                <a:spcPts val="120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lang="ru-RU" sz="1400">
                <a:solidFill>
                  <a:srgbClr val="000000"/>
                </a:solidFill>
              </a:rPr>
              <a:t>Позиция Magnit </a:t>
            </a:r>
            <a:r>
              <a:rPr lang="en-US" sz="1400">
                <a:solidFill>
                  <a:srgbClr val="000000"/>
                </a:solidFill>
              </a:rPr>
              <a:t>AdTech</a:t>
            </a:r>
            <a:r>
              <a:rPr lang="ru-RU" sz="1400">
                <a:solidFill>
                  <a:srgbClr val="000000"/>
                </a:solidFill>
              </a:rPr>
              <a:t> в 2027 г.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>
                <a:solidFill>
                  <a:srgbClr val="000000"/>
                </a:solidFill>
              </a:rPr>
              <a:t>Выручка </a:t>
            </a:r>
            <a:r>
              <a:rPr lang="ru-RU" sz="1400" b="1">
                <a:solidFill>
                  <a:srgbClr val="000000"/>
                </a:solidFill>
              </a:rPr>
              <a:t>14,6 млрд руб.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>
                <a:solidFill>
                  <a:srgbClr val="000000"/>
                </a:solidFill>
              </a:rPr>
              <a:t>Доля во всем рекламном рынке: 0,5% (0,4% в 2026 г.)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Aft>
                <a:spcPts val="120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lang="ru-RU" kumimoji="0" sz="140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Arial"/>
                <a:cs typeface="Arial"/>
                <a:sym typeface="Arial"/>
              </a:rPr>
              <a:t>Вторым крупным рекламным рынком по темпам роста является </a:t>
            </a:r>
            <a:r>
              <a:rPr lang="en-US" kumimoji="0" sz="1400" b="1" i="0" u="none" strike="noStrike" kern="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Influence</a:t>
            </a:r>
            <a:r>
              <a:rPr lang="ru-RU" kumimoji="0" sz="1400" b="1" i="0" u="none" strike="noStrike" kern="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-маркетинг, который растет +30% </a:t>
            </a:r>
            <a:r>
              <a:rPr lang="en-US" sz="1400" b="1" kern="0">
                <a:solidFill>
                  <a:schemeClr val="tx2"/>
                </a:solidFill>
                <a:latin typeface="Arial"/>
                <a:cs typeface="Arial"/>
                <a:sym typeface="Arial"/>
              </a:rPr>
              <a:t>YoY</a:t>
            </a:r>
            <a:r>
              <a:rPr lang="ru-RU" sz="1400" b="1" kern="0">
                <a:solidFill>
                  <a:schemeClr val="tx2"/>
                </a:solidFill>
                <a:latin typeface="Arial"/>
                <a:cs typeface="Arial"/>
                <a:sym typeface="Arial"/>
              </a:rPr>
              <a:t>, </a:t>
            </a:r>
            <a:r>
              <a:rPr lang="ru-RU" sz="1400" kern="0">
                <a:latin typeface="Arial"/>
                <a:cs typeface="Arial"/>
                <a:sym typeface="Arial"/>
              </a:rPr>
              <a:t>опережая по темпам роста традиционный </a:t>
            </a:r>
            <a:r>
              <a:rPr lang="en-US" sz="1400" kern="0">
                <a:latin typeface="Arial"/>
                <a:cs typeface="Arial"/>
                <a:sym typeface="Arial"/>
              </a:rPr>
              <a:t>digital (+15% YoY)</a:t>
            </a:r>
            <a:endParaRPr lang="ru-RU" kumimoji="0" sz="1400" i="0" u="none" strike="noStrike" kern="0" cap="none" spc="0" normalizeH="0" baseline="0">
              <a:ln>
                <a:noFill/>
              </a:ln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368551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7E97DD0-DD89-B103-A00E-EEABC3FD28C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lang="en-US">
                <a:solidFill>
                  <a:srgbClr val="6E6E6E"/>
                </a:solidFill>
              </a:rPr>
              <a:t>E</a:t>
            </a:r>
            <a:r>
              <a:rPr lang="ru-RU">
                <a:solidFill>
                  <a:srgbClr val="6E6E6E"/>
                </a:solidFill>
              </a:rPr>
              <a:t> — прогноз. Источник: </a:t>
            </a:r>
            <a:r>
              <a:rPr lang="en-US">
                <a:solidFill>
                  <a:srgbClr val="6E6E6E"/>
                </a:solidFill>
              </a:rPr>
              <a:t>Ads</a:t>
            </a:r>
            <a:r>
              <a:rPr lang="en-US">
                <a:solidFill>
                  <a:srgbClr val="6E6E6E"/>
                </a:solidFill>
              </a:rPr>
              <a:t> Market </a:t>
            </a:r>
            <a:r>
              <a:rPr lang="en-US">
                <a:solidFill>
                  <a:srgbClr val="6E6E6E"/>
                </a:solidFill>
              </a:rPr>
              <a:t>Calc</a:t>
            </a:r>
            <a:r>
              <a:rPr lang="ru-RU">
                <a:solidFill>
                  <a:srgbClr val="6E6E6E"/>
                </a:solidFill>
              </a:rPr>
              <a:t> (внутренняя оценка рынка Magnit ADS), отчётность X5, Data Insight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0AF99F-E03A-625D-D459-F6FC0D9D88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13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1962FE-4B9D-C536-072E-BEB6A9B93F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Retail Media в 2027 г. вырастет на 35%, до 1,2 трлн руб.;</a:t>
            </a:r>
            <a:br>
              <a:rPr lang="ru-RU" dirty="0"/>
            </a:br>
            <a:r>
              <a:rPr lang="ru-RU"/>
              <a:t>AdTech растёт быстрее рынка — на 41%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079500"/>
          <a:ext cx="5969000" cy="495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00" name="Shape 200"/>
          <p:cNvSpPr txBox="1"/>
          <p:nvPr/>
        </p:nvSpPr>
        <p:spPr>
          <a:xfrm>
            <a:off x="368300" y="1003300"/>
            <a:ext cx="584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0" bIns="0" anchor="t">
            <a:noAutofit/>
          </a:bodyPr>
          <a:lstStyle/>
          <a:p>
            <a:r>
              <a:rPr lang="ru-RU" sz="1600" b="1">
                <a:solidFill>
                  <a:srgbClr val="000000"/>
                </a:solidFill>
              </a:rPr>
              <a:t>Объём рынка Retail Media в России, млрд руб.</a:t>
            </a:r>
          </a:p>
        </p:txBody>
      </p:sp>
      <p:sp>
        <p:nvSpPr>
          <p:cNvPr id="201" name="Shape 201"/>
          <p:cNvSpPr txBox="1"/>
          <p:nvPr/>
        </p:nvSpPr>
        <p:spPr>
          <a:xfrm>
            <a:off x="6604000" y="1016000"/>
            <a:ext cx="5219700" cy="50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Комментарии</a:t>
            </a:r>
          </a:p>
          <a:p>
            <a:pPr marL="0" indent="0" algn="l">
              <a:spcBef>
                <a:spcPts val="900"/>
              </a:spcBef>
              <a:buNone/>
            </a:pPr>
            <a:r>
              <a:rPr lang="ru-RU" sz="1400" b="1">
                <a:solidFill>
                  <a:srgbClr val="000000"/>
                </a:solidFill>
              </a:rPr>
              <a:t>Рынок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Рекламный рынок РФ: </a:t>
            </a:r>
            <a:r>
              <a:rPr lang="ru-RU" sz="1400" b="1">
                <a:solidFill>
                  <a:srgbClr val="000000"/>
                </a:solidFill>
              </a:rPr>
              <a:t>2,9 трлн руб.</a:t>
            </a:r>
            <a:r>
              <a:rPr lang="ru-RU" sz="1400">
                <a:solidFill>
                  <a:srgbClr val="000000"/>
                </a:solidFill>
              </a:rPr>
              <a:t> в 2027 г. (+22%)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Retail Media растёт вдвое быстрее </a:t>
            </a:r>
            <a:r>
              <a:rPr lang="en-US" sz="1400" b="1">
                <a:solidFill>
                  <a:srgbClr val="000000"/>
                </a:solidFill>
              </a:rPr>
              <a:t>traditional</a:t>
            </a:r>
            <a:r>
              <a:rPr lang="ru-RU" sz="1400" b="1">
                <a:solidFill>
                  <a:srgbClr val="000000"/>
                </a:solidFill>
              </a:rPr>
              <a:t> </a:t>
            </a:r>
            <a:r>
              <a:rPr lang="en-US" sz="1400" b="1">
                <a:solidFill>
                  <a:srgbClr val="000000"/>
                </a:solidFill>
              </a:rPr>
              <a:t>digital</a:t>
            </a:r>
            <a:r>
              <a:rPr lang="ru-RU" sz="1400" b="1">
                <a:solidFill>
                  <a:srgbClr val="000000"/>
                </a:solidFill>
              </a:rPr>
              <a:t> </a:t>
            </a:r>
            <a:r>
              <a:rPr lang="ru-RU" sz="1400">
                <a:solidFill>
                  <a:srgbClr val="000000"/>
                </a:solidFill>
              </a:rPr>
              <a:t>(+35% против +15%) и перераспределяет бюджеты в свою пользу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Более 90% Retail Media приходится на маркетплейсы; </a:t>
            </a:r>
            <a:r>
              <a:rPr lang="ru-RU" sz="1400">
                <a:solidFill>
                  <a:srgbClr val="000000"/>
                </a:solidFill>
              </a:rPr>
              <a:t>офлайн-ритейл (X5, Яндекс) усиливает фокус на сегменте</a:t>
            </a:r>
          </a:p>
          <a:p>
            <a:pPr marL="0" indent="0" algn="l">
              <a:spcBef>
                <a:spcPts val="900"/>
              </a:spcBef>
              <a:buNone/>
            </a:pPr>
            <a:r>
              <a:rPr lang="ru-RU" sz="1400" b="1">
                <a:solidFill>
                  <a:srgbClr val="000000"/>
                </a:solidFill>
              </a:rPr>
              <a:t>Позиция Magnit </a:t>
            </a:r>
            <a:r>
              <a:rPr lang="en-US" sz="1400" b="1">
                <a:solidFill>
                  <a:srgbClr val="000000"/>
                </a:solidFill>
              </a:rPr>
              <a:t>AdTech</a:t>
            </a:r>
            <a:r>
              <a:rPr lang="ru-RU" sz="1400" b="1">
                <a:solidFill>
                  <a:srgbClr val="000000"/>
                </a:solidFill>
              </a:rPr>
              <a:t> в 2027 г.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Выручка </a:t>
            </a:r>
            <a:r>
              <a:rPr lang="ru-RU" sz="1400" b="1">
                <a:solidFill>
                  <a:srgbClr val="000000"/>
                </a:solidFill>
              </a:rPr>
              <a:t>14,6 млрд руб.</a:t>
            </a:r>
            <a:r>
              <a:rPr lang="ru-RU" sz="1400">
                <a:solidFill>
                  <a:srgbClr val="000000"/>
                </a:solidFill>
              </a:rPr>
              <a:t> (+41%)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Доля во всём рекламном рынке: </a:t>
            </a:r>
            <a:r>
              <a:rPr lang="ru-RU" sz="1400" b="1">
                <a:solidFill>
                  <a:srgbClr val="000000"/>
                </a:solidFill>
              </a:rPr>
              <a:t>0,5%</a:t>
            </a:r>
            <a:r>
              <a:rPr lang="ru-RU" sz="1400">
                <a:solidFill>
                  <a:srgbClr val="000000"/>
                </a:solidFill>
              </a:rPr>
              <a:t> (0,4% в 2026 г.)</a:t>
            </a:r>
          </a:p>
        </p:txBody>
      </p:sp>
      <p:grpSp>
        <p:nvGrpSpPr>
          <p:cNvPr id="202" name="GrowthArrow f5 0"/>
          <p:cNvGrpSpPr/>
          <p:nvPr/>
        </p:nvGrpSpPr>
        <p:grpSpPr>
          <a:xfrm>
            <a:off x="1522720" y="2790994"/>
            <a:ext cx="1750080" cy="1041911"/>
            <a:chOff x="1522720" y="2790994"/>
            <a:chExt cx="1750080" cy="1041911"/>
          </a:xfrm>
        </p:grpSpPr>
        <p:cxnSp>
          <p:nvCxnSpPr>
            <p:cNvPr id="203" name="GrowthArrow f5 0 rise"/>
            <p:cNvCxnSpPr/>
            <p:nvPr/>
          </p:nvCxnSpPr>
          <p:spPr>
            <a:xfrm flipV="1">
              <a:off x="1522720" y="2915994"/>
              <a:ext cx="1" cy="916911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</p:cxnSp>
        <p:cxnSp>
          <p:nvCxnSpPr>
            <p:cNvPr id="204" name="GrowthArrow f5 0 line"/>
            <p:cNvCxnSpPr/>
            <p:nvPr/>
          </p:nvCxnSpPr>
          <p:spPr>
            <a:xfrm>
              <a:off x="1522720" y="2915994"/>
              <a:ext cx="1750080" cy="1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</p:cxnSp>
        <p:cxnSp>
          <p:nvCxnSpPr>
            <p:cNvPr id="205" name="GrowthArrow f5 0 drop"/>
            <p:cNvCxnSpPr/>
            <p:nvPr/>
          </p:nvCxnSpPr>
          <p:spPr>
            <a:xfrm>
              <a:off x="3272800" y="2915994"/>
              <a:ext cx="1" cy="205000"/>
            </a:xfrm>
            <a:prstGeom prst="line">
              <a:avLst/>
            </a:prstGeom>
            <a:ln w="12700">
              <a:solidFill>
                <a:srgbClr val="595959"/>
              </a:solidFill>
              <a:tailEnd type="triangle" w="med" len="med"/>
            </a:ln>
          </p:spPr>
        </p:cxnSp>
        <p:sp>
          <p:nvSpPr>
            <p:cNvPr id="206" name="GrowthArrow f5 0 label"/>
            <p:cNvSpPr txBox="1"/>
            <p:nvPr/>
          </p:nvSpPr>
          <p:spPr>
            <a:xfrm>
              <a:off x="2104560" y="2790994"/>
              <a:ext cx="586400" cy="250000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anchor="ctr">
              <a:normAutofit fontScale="77500" lnSpcReduction="20000"/>
            </a:bodyPr>
            <a:lstStyle/>
            <a:p>
              <a:pPr algn="ctr"/>
              <a:r>
                <a:rPr lang="ru-RU" sz="1600" b="1">
                  <a:solidFill>
                    <a:srgbClr val="000000"/>
                  </a:solidFill>
                  <a:latin typeface="Arial"/>
                </a:rPr>
                <a:t>+53%</a:t>
              </a:r>
            </a:p>
          </p:txBody>
        </p:sp>
      </p:grpSp>
      <p:grpSp>
        <p:nvGrpSpPr>
          <p:cNvPr id="207" name="GrowthArrow f5 1"/>
          <p:cNvGrpSpPr/>
          <p:nvPr/>
        </p:nvGrpSpPr>
        <p:grpSpPr>
          <a:xfrm>
            <a:off x="3432800" y="2074460"/>
            <a:ext cx="1750080" cy="1046534"/>
            <a:chOff x="3432800" y="2074460"/>
            <a:chExt cx="1750080" cy="1046534"/>
          </a:xfrm>
        </p:grpSpPr>
        <p:cxnSp>
          <p:nvCxnSpPr>
            <p:cNvPr id="208" name="GrowthArrow f5 1 rise"/>
            <p:cNvCxnSpPr/>
            <p:nvPr/>
          </p:nvCxnSpPr>
          <p:spPr>
            <a:xfrm flipV="1">
              <a:off x="3432800" y="2199460"/>
              <a:ext cx="1" cy="921534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</p:cxnSp>
        <p:cxnSp>
          <p:nvCxnSpPr>
            <p:cNvPr id="209" name="GrowthArrow f5 1 line"/>
            <p:cNvCxnSpPr/>
            <p:nvPr/>
          </p:nvCxnSpPr>
          <p:spPr>
            <a:xfrm>
              <a:off x="3432800" y="2199460"/>
              <a:ext cx="1750080" cy="1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</p:cxnSp>
        <p:cxnSp>
          <p:nvCxnSpPr>
            <p:cNvPr id="210" name="GrowthArrow f5 1 drop"/>
            <p:cNvCxnSpPr/>
            <p:nvPr/>
          </p:nvCxnSpPr>
          <p:spPr>
            <a:xfrm>
              <a:off x="5182880" y="2199460"/>
              <a:ext cx="1" cy="205000"/>
            </a:xfrm>
            <a:prstGeom prst="line">
              <a:avLst/>
            </a:prstGeom>
            <a:ln w="12700">
              <a:solidFill>
                <a:srgbClr val="595959"/>
              </a:solidFill>
              <a:tailEnd type="triangle" w="med" len="med"/>
            </a:ln>
          </p:spPr>
        </p:cxnSp>
        <p:sp>
          <p:nvSpPr>
            <p:cNvPr id="211" name="GrowthArrow f5 1 label"/>
            <p:cNvSpPr txBox="1"/>
            <p:nvPr/>
          </p:nvSpPr>
          <p:spPr>
            <a:xfrm>
              <a:off x="4014640" y="2074460"/>
              <a:ext cx="586400" cy="250000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anchor="ctr">
              <a:normAutofit fontScale="77500" lnSpcReduction="20000"/>
            </a:bodyPr>
            <a:lstStyle/>
            <a:p>
              <a:pPr algn="ctr"/>
              <a:r>
                <a:rPr lang="ru-RU" sz="1600" b="1">
                  <a:solidFill>
                    <a:srgbClr val="000000"/>
                  </a:solidFill>
                  <a:latin typeface="Arial"/>
                </a:rPr>
                <a:t>+35%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448292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E30666E-5DDA-7C37-E83B-3CD387FA1F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19251" y="6212037"/>
            <a:ext cx="9277350" cy="498376"/>
          </a:xfrm>
        </p:spPr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>
                <a:solidFill>
                  <a:srgbClr val="6E6E6E"/>
                </a:solidFill>
              </a:rPr>
              <a:t>1. Оценка </a:t>
            </a:r>
            <a:r>
              <a:rPr lang="en-US">
                <a:solidFill>
                  <a:srgbClr val="6E6E6E"/>
                </a:solidFill>
              </a:rPr>
              <a:t>Magnit ADS, </a:t>
            </a:r>
            <a:r>
              <a:rPr lang="ru-RU">
                <a:solidFill>
                  <a:srgbClr val="6E6E6E"/>
                </a:solidFill>
              </a:rPr>
              <a:t>исходя из аналитических данных по «белым» инвестициям в </a:t>
            </a:r>
            <a:r>
              <a:rPr lang="ru-RU">
                <a:solidFill>
                  <a:srgbClr val="6E6E6E"/>
                </a:solidFill>
              </a:rPr>
              <a:t>инфлюенс</a:t>
            </a:r>
            <a:r>
              <a:rPr lang="ru-RU">
                <a:solidFill>
                  <a:srgbClr val="6E6E6E"/>
                </a:solidFill>
              </a:rPr>
              <a:t>-маркетинг и приблизительной оценки «серых» инвестиций без маркировки</a:t>
            </a:r>
          </a:p>
          <a:p>
            <a:pPr>
              <a:spcBef>
                <a:spcPts val="0"/>
              </a:spcBef>
            </a:pPr>
            <a:r>
              <a:rPr lang="ru-RU">
                <a:solidFill>
                  <a:srgbClr val="6E6E6E"/>
                </a:solidFill>
              </a:rPr>
              <a:t>2. АКАР, «</a:t>
            </a:r>
            <a:r>
              <a:rPr lang="ru-RU">
                <a:solidFill>
                  <a:srgbClr val="6E6E6E"/>
                </a:solidFill>
              </a:rPr>
              <a:t>Постмаркетинг</a:t>
            </a:r>
            <a:r>
              <a:rPr lang="ru-RU">
                <a:solidFill>
                  <a:srgbClr val="6E6E6E"/>
                </a:solidFill>
              </a:rPr>
              <a:t>» </a:t>
            </a:r>
          </a:p>
          <a:p>
            <a:pPr>
              <a:spcBef>
                <a:spcPts val="0"/>
              </a:spcBef>
            </a:pPr>
            <a:r>
              <a:rPr lang="ru-RU">
                <a:solidFill>
                  <a:srgbClr val="6E6E6E"/>
                </a:solidFill>
              </a:rPr>
              <a:t>Источники: </a:t>
            </a:r>
            <a:r>
              <a:rPr lang="en-US">
                <a:solidFill>
                  <a:srgbClr val="6E6E6E"/>
                </a:solidFill>
              </a:rPr>
              <a:t>Ads</a:t>
            </a:r>
            <a:r>
              <a:rPr lang="en-US">
                <a:solidFill>
                  <a:srgbClr val="6E6E6E"/>
                </a:solidFill>
              </a:rPr>
              <a:t> Market </a:t>
            </a:r>
            <a:r>
              <a:rPr lang="en-US">
                <a:solidFill>
                  <a:srgbClr val="6E6E6E"/>
                </a:solidFill>
              </a:rPr>
              <a:t>Calc</a:t>
            </a:r>
            <a:r>
              <a:rPr lang="ru-RU">
                <a:solidFill>
                  <a:srgbClr val="6E6E6E"/>
                </a:solidFill>
              </a:rPr>
              <a:t> (внутренняя оценка рынка), отчетность X5, Data Insight, стратегия Magnit </a:t>
            </a:r>
            <a:r>
              <a:rPr lang="en-US">
                <a:solidFill>
                  <a:srgbClr val="6E6E6E"/>
                </a:solidFill>
              </a:rPr>
              <a:t>AdTech</a:t>
            </a:r>
            <a:r>
              <a:rPr lang="ru-RU">
                <a:solidFill>
                  <a:srgbClr val="6E6E6E"/>
                </a:solidFill>
              </a:rPr>
              <a:t> 2026-2031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9739A8-6D06-4296-15BC-B08991E1FE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14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2C5617-DF71-AC57-5D39-E98D239B02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Retail Media — 42% рекламного рынка 2027 г.: Magnit ADS растёт на внутреннем и внешнем инвентаре</a:t>
            </a:r>
          </a:p>
        </p:txBody>
      </p:sp>
      <p:sp>
        <p:nvSpPr>
          <p:cNvPr id="1001" name="ES market card"/>
          <p:cNvSpPr/>
          <p:nvPr/>
        </p:nvSpPr>
        <p:spPr>
          <a:xfrm>
            <a:off x="368300" y="911225"/>
            <a:ext cx="3600000" cy="508000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02" name="ADS 1002"/>
          <p:cNvSpPr txBox="1"/>
          <p:nvPr/>
        </p:nvSpPr>
        <p:spPr>
          <a:xfrm>
            <a:off x="528300" y="1041225"/>
            <a:ext cx="328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rgbClr val="FF452C"/>
                </a:solidFill>
                <a:latin typeface="Arial"/>
                <a:cs typeface="Arial"/>
              </a:rPr>
              <a:t>Рынок и конкуренты</a:t>
            </a:r>
            <a:endParaRPr lang="ru-RU" sz="1200"/>
          </a:p>
        </p:txBody>
      </p:sp>
      <p:sp>
        <p:nvSpPr>
          <p:cNvPr id="1003" name="ADS 1003"/>
          <p:cNvSpPr/>
          <p:nvPr/>
        </p:nvSpPr>
        <p:spPr>
          <a:xfrm>
            <a:off x="528300" y="1381225"/>
            <a:ext cx="3280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04" name="ADS 1004"/>
          <p:cNvSpPr/>
          <p:nvPr/>
        </p:nvSpPr>
        <p:spPr>
          <a:xfrm>
            <a:off x="528300" y="1491225"/>
            <a:ext cx="1580000" cy="86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05" name="ADS 1005"/>
          <p:cNvSpPr txBox="1"/>
          <p:nvPr/>
        </p:nvSpPr>
        <p:spPr>
          <a:xfrm>
            <a:off x="618300" y="1551225"/>
            <a:ext cx="14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000000"/>
                </a:solidFill>
                <a:latin typeface="Arial"/>
                <a:cs typeface="Arial"/>
              </a:rPr>
              <a:t>2,9 трлн руб.</a:t>
            </a:r>
            <a:endParaRPr lang="ru-RU" sz="120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1000">
                <a:solidFill>
                  <a:srgbClr val="7F7F7F"/>
                </a:solidFill>
                <a:latin typeface="Arial"/>
                <a:cs typeface="Arial"/>
              </a:rPr>
              <a:t>Прогноз </a:t>
            </a:r>
            <a:r>
              <a:rPr lang="ru-RU" sz="1000" b="0">
                <a:solidFill>
                  <a:srgbClr val="7F7F7F"/>
                </a:solidFill>
                <a:latin typeface="Arial"/>
                <a:cs typeface="Arial"/>
              </a:rPr>
              <a:t>рекламного рынка в РФ 2027 г.</a:t>
            </a:r>
            <a:endParaRPr lang="ru-RU" sz="1200"/>
          </a:p>
        </p:txBody>
      </p:sp>
      <p:sp>
        <p:nvSpPr>
          <p:cNvPr id="1006" name="ADS 1006"/>
          <p:cNvSpPr/>
          <p:nvPr/>
        </p:nvSpPr>
        <p:spPr>
          <a:xfrm>
            <a:off x="2228300" y="1491225"/>
            <a:ext cx="1580000" cy="86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07" name="ADS 1007"/>
          <p:cNvSpPr txBox="1"/>
          <p:nvPr/>
        </p:nvSpPr>
        <p:spPr>
          <a:xfrm>
            <a:off x="2318300" y="1551225"/>
            <a:ext cx="14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000000"/>
                </a:solidFill>
                <a:latin typeface="Arial"/>
                <a:cs typeface="Arial"/>
              </a:rPr>
              <a:t>1,2 трлн руб.</a:t>
            </a:r>
            <a:endParaRPr lang="ru-RU" sz="120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7F7F7F"/>
                </a:solidFill>
                <a:latin typeface="Arial"/>
                <a:cs typeface="Arial"/>
              </a:rPr>
              <a:t>Retail Media 2027 — 42% рынка</a:t>
            </a:r>
            <a:endParaRPr lang="ru-RU" sz="1200"/>
          </a:p>
        </p:txBody>
      </p:sp>
      <p:sp>
        <p:nvSpPr>
          <p:cNvPr id="1008" name="ADS 1008"/>
          <p:cNvSpPr txBox="1"/>
          <p:nvPr/>
        </p:nvSpPr>
        <p:spPr>
          <a:xfrm>
            <a:off x="528300" y="2471225"/>
            <a:ext cx="328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Рост сегментов в 2027 г., YoY</a:t>
            </a:r>
            <a:endParaRPr lang="ru-RU" sz="1200"/>
          </a:p>
        </p:txBody>
      </p:sp>
      <p:sp>
        <p:nvSpPr>
          <p:cNvPr id="1009" name="ADS 1009"/>
          <p:cNvSpPr txBox="1"/>
          <p:nvPr/>
        </p:nvSpPr>
        <p:spPr>
          <a:xfrm>
            <a:off x="528300" y="2751225"/>
            <a:ext cx="12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000000"/>
                </a:solidFill>
                <a:latin typeface="Arial"/>
                <a:cs typeface="Arial"/>
              </a:rPr>
              <a:t>Retail Media</a:t>
            </a:r>
            <a:endParaRPr lang="en-US" sz="1200"/>
          </a:p>
        </p:txBody>
      </p:sp>
      <p:sp>
        <p:nvSpPr>
          <p:cNvPr id="1010" name="ADS 1010"/>
          <p:cNvSpPr/>
          <p:nvPr/>
        </p:nvSpPr>
        <p:spPr>
          <a:xfrm>
            <a:off x="1778300" y="2791225"/>
            <a:ext cx="1117600" cy="18000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11" name="ADS 1011"/>
          <p:cNvSpPr txBox="1"/>
          <p:nvPr/>
        </p:nvSpPr>
        <p:spPr>
          <a:xfrm>
            <a:off x="2959100" y="2751225"/>
            <a:ext cx="46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+35%</a:t>
            </a:r>
            <a:endParaRPr lang="ru-RU" sz="1200"/>
          </a:p>
        </p:txBody>
      </p:sp>
      <p:sp>
        <p:nvSpPr>
          <p:cNvPr id="1012" name="ADS 1012"/>
          <p:cNvSpPr txBox="1"/>
          <p:nvPr/>
        </p:nvSpPr>
        <p:spPr>
          <a:xfrm>
            <a:off x="528300" y="3081225"/>
            <a:ext cx="12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000000"/>
                </a:solidFill>
                <a:latin typeface="Arial"/>
                <a:cs typeface="Arial"/>
              </a:rPr>
              <a:t>Influence</a:t>
            </a:r>
            <a:endParaRPr lang="en-US" sz="1200"/>
          </a:p>
        </p:txBody>
      </p:sp>
      <p:sp>
        <p:nvSpPr>
          <p:cNvPr id="1013" name="ADS 1013"/>
          <p:cNvSpPr/>
          <p:nvPr/>
        </p:nvSpPr>
        <p:spPr>
          <a:xfrm>
            <a:off x="1778299" y="3121225"/>
            <a:ext cx="955069" cy="180000"/>
          </a:xfrm>
          <a:prstGeom prst="rect">
            <a:avLst/>
          </a:prstGeom>
          <a:solidFill>
            <a:srgbClr val="FEA296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14" name="ADS 1014"/>
          <p:cNvSpPr txBox="1"/>
          <p:nvPr/>
        </p:nvSpPr>
        <p:spPr>
          <a:xfrm>
            <a:off x="2800100" y="3081225"/>
            <a:ext cx="46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+30%</a:t>
            </a:r>
            <a:r>
              <a:rPr lang="ru-RU" sz="1000" b="1" baseline="30000">
                <a:solidFill>
                  <a:srgbClr val="000000"/>
                </a:solidFill>
                <a:latin typeface="Arial"/>
                <a:cs typeface="Arial"/>
              </a:rPr>
              <a:t>1</a:t>
            </a:r>
            <a:endParaRPr lang="ru-RU" sz="1200" baseline="30000"/>
          </a:p>
        </p:txBody>
      </p:sp>
      <p:sp>
        <p:nvSpPr>
          <p:cNvPr id="1015" name="ADS 1015"/>
          <p:cNvSpPr txBox="1"/>
          <p:nvPr/>
        </p:nvSpPr>
        <p:spPr>
          <a:xfrm>
            <a:off x="528300" y="3411225"/>
            <a:ext cx="12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000000"/>
                </a:solidFill>
                <a:latin typeface="Arial"/>
                <a:cs typeface="Arial"/>
              </a:rPr>
              <a:t>Traditional digital</a:t>
            </a:r>
            <a:endParaRPr lang="en-US" sz="1200"/>
          </a:p>
        </p:txBody>
      </p:sp>
      <p:sp>
        <p:nvSpPr>
          <p:cNvPr id="1016" name="ADS 1016"/>
          <p:cNvSpPr/>
          <p:nvPr/>
        </p:nvSpPr>
        <p:spPr>
          <a:xfrm>
            <a:off x="1778300" y="3451225"/>
            <a:ext cx="453000" cy="180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17" name="ADS 1017"/>
          <p:cNvSpPr txBox="1"/>
          <p:nvPr/>
        </p:nvSpPr>
        <p:spPr>
          <a:xfrm>
            <a:off x="2291300" y="3411225"/>
            <a:ext cx="46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+15%</a:t>
            </a:r>
            <a:endParaRPr lang="ru-RU" sz="1200"/>
          </a:p>
        </p:txBody>
      </p:sp>
      <p:sp>
        <p:nvSpPr>
          <p:cNvPr id="1018" name="ADS 1018"/>
          <p:cNvSpPr/>
          <p:nvPr/>
        </p:nvSpPr>
        <p:spPr>
          <a:xfrm>
            <a:off x="528300" y="3811225"/>
            <a:ext cx="3280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19" name="ADS 1019"/>
          <p:cNvSpPr txBox="1"/>
          <p:nvPr/>
        </p:nvSpPr>
        <p:spPr>
          <a:xfrm>
            <a:off x="528300" y="3901225"/>
            <a:ext cx="3280000" cy="20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Aft>
                <a:spcPts val="60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Рынок традиционного </a:t>
            </a:r>
            <a:r>
              <a:rPr lang="en-US" sz="1100" b="0">
                <a:solidFill>
                  <a:srgbClr val="000000"/>
                </a:solidFill>
                <a:latin typeface="Arial"/>
                <a:cs typeface="Arial"/>
              </a:rPr>
              <a:t>digital</a:t>
            </a: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 растет темпами медиаинфляции (+15% </a:t>
            </a:r>
            <a:r>
              <a:rPr lang="en-US" sz="1100" b="0">
                <a:solidFill>
                  <a:srgbClr val="000000"/>
                </a:solidFill>
                <a:latin typeface="Arial"/>
                <a:cs typeface="Arial"/>
              </a:rPr>
              <a:t>YoY)</a:t>
            </a:r>
            <a:endParaRPr lang="ru-RU" sz="1100" b="0">
              <a:solidFill>
                <a:srgbClr val="000000"/>
              </a:solidFill>
              <a:latin typeface="Arial"/>
              <a:cs typeface="Arial"/>
            </a:endParaRPr>
          </a:p>
          <a:p>
            <a:pPr marL="171450" indent="-171450" algn="l">
              <a:spcAft>
                <a:spcPts val="60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Топ-150 рекламодателей сократили расходы на 11% — бюджеты уходят в каналы с доказуемым эффектом</a:t>
            </a:r>
            <a:r>
              <a:rPr lang="ru-RU" sz="1100" b="0" baseline="30000">
                <a:solidFill>
                  <a:srgbClr val="000000"/>
                </a:solidFill>
                <a:latin typeface="Arial"/>
                <a:cs typeface="Arial"/>
              </a:rPr>
              <a:t>1</a:t>
            </a:r>
            <a:endParaRPr lang="ru-RU" sz="1200" baseline="30000"/>
          </a:p>
          <a:p>
            <a:pPr marL="171450" indent="-171450" algn="l">
              <a:spcAft>
                <a:spcPts val="60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X5, Яндекс и маркетплейсы фокусируются на Retail Media; маркетплейсы уже заняли 90%+ рынка Retail Media</a:t>
            </a:r>
            <a:endParaRPr lang="ru-RU" sz="1200"/>
          </a:p>
        </p:txBody>
      </p:sp>
      <p:sp>
        <p:nvSpPr>
          <p:cNvPr id="1020" name="ES initiatives card"/>
          <p:cNvSpPr/>
          <p:nvPr/>
        </p:nvSpPr>
        <p:spPr>
          <a:xfrm>
            <a:off x="4218300" y="911225"/>
            <a:ext cx="7605400" cy="5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21" name="ADS 1021"/>
          <p:cNvSpPr txBox="1"/>
          <p:nvPr/>
        </p:nvSpPr>
        <p:spPr>
          <a:xfrm>
            <a:off x="4378300" y="1041225"/>
            <a:ext cx="72854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rgbClr val="FF452C"/>
                </a:solidFill>
                <a:latin typeface="Arial"/>
                <a:cs typeface="Arial"/>
              </a:rPr>
              <a:t>Ключевые драйверы рекламной выручки Magnit ADS в 2027 г.</a:t>
            </a:r>
            <a:endParaRPr lang="ru-RU" sz="1200"/>
          </a:p>
        </p:txBody>
      </p:sp>
      <p:sp>
        <p:nvSpPr>
          <p:cNvPr id="1022" name="ADS 1022"/>
          <p:cNvSpPr/>
          <p:nvPr/>
        </p:nvSpPr>
        <p:spPr>
          <a:xfrm>
            <a:off x="4378300" y="1381225"/>
            <a:ext cx="72854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23" name="ADS 1023"/>
          <p:cNvSpPr txBox="1"/>
          <p:nvPr/>
        </p:nvSpPr>
        <p:spPr>
          <a:xfrm>
            <a:off x="4378300" y="1451225"/>
            <a:ext cx="20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По типам инвентаря </a:t>
            </a:r>
            <a:endParaRPr lang="ru-RU" sz="1200"/>
          </a:p>
        </p:txBody>
      </p:sp>
      <p:sp>
        <p:nvSpPr>
          <p:cNvPr id="1024" name="ADS 1024"/>
          <p:cNvSpPr/>
          <p:nvPr/>
        </p:nvSpPr>
        <p:spPr>
          <a:xfrm>
            <a:off x="4378300" y="1721225"/>
            <a:ext cx="3542700" cy="250000"/>
          </a:xfrm>
          <a:prstGeom prst="roundRect">
            <a:avLst>
              <a:gd name="adj" fmla="val 3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FF452C"/>
                </a:solidFill>
                <a:latin typeface="Arial"/>
                <a:cs typeface="Arial"/>
              </a:rPr>
              <a:t>Внутренний</a:t>
            </a:r>
            <a:endParaRPr lang="ru-RU" sz="1200"/>
          </a:p>
        </p:txBody>
      </p:sp>
      <p:sp>
        <p:nvSpPr>
          <p:cNvPr id="1025" name="ADS 1025"/>
          <p:cNvSpPr/>
          <p:nvPr/>
        </p:nvSpPr>
        <p:spPr>
          <a:xfrm>
            <a:off x="43783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26" name="ADS 1026"/>
          <p:cNvSpPr txBox="1"/>
          <p:nvPr/>
        </p:nvSpPr>
        <p:spPr>
          <a:xfrm>
            <a:off x="44583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Медиа</a:t>
            </a:r>
            <a:endParaRPr lang="ru-RU" sz="120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rgbClr val="FF452C"/>
                </a:solidFill>
                <a:latin typeface="Arial"/>
                <a:cs typeface="Arial"/>
              </a:rPr>
              <a:t>4 864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+22%</a:t>
            </a:r>
            <a:endParaRPr lang="ru-RU" sz="120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Наибольший объем, маржа 100%</a:t>
            </a:r>
            <a:endParaRPr lang="ru-RU" sz="1200"/>
          </a:p>
        </p:txBody>
      </p:sp>
      <p:sp>
        <p:nvSpPr>
          <p:cNvPr id="1027" name="ADS 1027"/>
          <p:cNvSpPr/>
          <p:nvPr/>
        </p:nvSpPr>
        <p:spPr>
          <a:xfrm>
            <a:off x="55892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28" name="ADS 1028"/>
          <p:cNvSpPr txBox="1"/>
          <p:nvPr/>
        </p:nvSpPr>
        <p:spPr>
          <a:xfrm>
            <a:off x="56692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Перформанс</a:t>
            </a:r>
            <a:endParaRPr lang="ru-RU" sz="120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rgbClr val="FF452C"/>
                </a:solidFill>
                <a:latin typeface="Arial"/>
                <a:cs typeface="Arial"/>
              </a:rPr>
              <a:t>2 832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+29%</a:t>
            </a:r>
            <a:endParaRPr lang="ru-RU" sz="120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Ключевая ставка 2027: аукцион в поиске и рекомендациях</a:t>
            </a:r>
            <a:endParaRPr lang="ru-RU" sz="1200"/>
          </a:p>
        </p:txBody>
      </p:sp>
      <p:sp>
        <p:nvSpPr>
          <p:cNvPr id="1029" name="ADS 1029"/>
          <p:cNvSpPr/>
          <p:nvPr/>
        </p:nvSpPr>
        <p:spPr>
          <a:xfrm>
            <a:off x="68001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30" name="ADS 1030"/>
          <p:cNvSpPr txBox="1"/>
          <p:nvPr/>
        </p:nvSpPr>
        <p:spPr>
          <a:xfrm>
            <a:off x="68801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000000"/>
                </a:solidFill>
                <a:latin typeface="Arial"/>
                <a:cs typeface="Arial"/>
              </a:rPr>
              <a:t>In-store</a:t>
            </a:r>
            <a:endParaRPr lang="en-US" sz="120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rgbClr val="FF452C"/>
                </a:solidFill>
                <a:latin typeface="Arial"/>
                <a:cs typeface="Arial"/>
              </a:rPr>
              <a:t>4 019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+64%</a:t>
            </a:r>
            <a:endParaRPr lang="ru-RU" sz="120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Масштабируем самый перспективный инвентарь</a:t>
            </a:r>
            <a:endParaRPr lang="ru-RU" sz="1200"/>
          </a:p>
        </p:txBody>
      </p:sp>
      <p:sp>
        <p:nvSpPr>
          <p:cNvPr id="1031" name="ADS 1031"/>
          <p:cNvSpPr/>
          <p:nvPr/>
        </p:nvSpPr>
        <p:spPr>
          <a:xfrm>
            <a:off x="8121000" y="1721225"/>
            <a:ext cx="3542700" cy="250000"/>
          </a:xfrm>
          <a:prstGeom prst="roundRect">
            <a:avLst>
              <a:gd name="adj" fmla="val 3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FF452C"/>
                </a:solidFill>
                <a:latin typeface="Arial"/>
                <a:cs typeface="Arial"/>
              </a:rPr>
              <a:t>Внешний</a:t>
            </a:r>
            <a:endParaRPr lang="ru-RU" sz="1200"/>
          </a:p>
        </p:txBody>
      </p:sp>
      <p:sp>
        <p:nvSpPr>
          <p:cNvPr id="1032" name="ADS 1032"/>
          <p:cNvSpPr/>
          <p:nvPr/>
        </p:nvSpPr>
        <p:spPr>
          <a:xfrm>
            <a:off x="93319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33" name="ADS 1033"/>
          <p:cNvSpPr txBox="1"/>
          <p:nvPr/>
        </p:nvSpPr>
        <p:spPr>
          <a:xfrm>
            <a:off x="94119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000000"/>
                </a:solidFill>
                <a:latin typeface="Arial"/>
                <a:cs typeface="Arial"/>
              </a:rPr>
              <a:t>RMN</a:t>
            </a:r>
            <a:endParaRPr lang="en-US" sz="120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rgbClr val="FF452C"/>
                </a:solidFill>
                <a:latin typeface="Arial"/>
                <a:cs typeface="Arial"/>
              </a:rPr>
              <a:t>850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+43%</a:t>
            </a:r>
            <a:endParaRPr lang="ru-RU" sz="120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Бренд-бюджеты через внешнее ЮЛ с Дикси и Азбукой Вкуса</a:t>
            </a:r>
            <a:endParaRPr lang="ru-RU" sz="1200"/>
          </a:p>
        </p:txBody>
      </p:sp>
      <p:sp>
        <p:nvSpPr>
          <p:cNvPr id="1034" name="ADS 1034"/>
          <p:cNvSpPr/>
          <p:nvPr/>
        </p:nvSpPr>
        <p:spPr>
          <a:xfrm>
            <a:off x="105428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35" name="ADS 1035"/>
          <p:cNvSpPr txBox="1"/>
          <p:nvPr/>
        </p:nvSpPr>
        <p:spPr>
          <a:xfrm>
            <a:off x="106228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000000"/>
                </a:solidFill>
                <a:latin typeface="Arial"/>
                <a:cs typeface="Arial"/>
              </a:rPr>
              <a:t>CF</a:t>
            </a:r>
            <a:endParaRPr lang="en-US" sz="120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rgbClr val="FF452C"/>
                </a:solidFill>
                <a:latin typeface="Arial"/>
                <a:cs typeface="Arial"/>
              </a:rPr>
              <a:t>213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новое</a:t>
            </a:r>
            <a:endParaRPr lang="ru-RU" sz="120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Content factory: social commerce и контент-завод</a:t>
            </a:r>
            <a:endParaRPr lang="ru-RU" sz="1200"/>
          </a:p>
        </p:txBody>
      </p:sp>
      <p:sp>
        <p:nvSpPr>
          <p:cNvPr id="1036" name="ADS 1036"/>
          <p:cNvSpPr/>
          <p:nvPr/>
        </p:nvSpPr>
        <p:spPr>
          <a:xfrm>
            <a:off x="81210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37" name="ADS 1037"/>
          <p:cNvSpPr txBox="1"/>
          <p:nvPr/>
        </p:nvSpPr>
        <p:spPr>
          <a:xfrm>
            <a:off x="82010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000000"/>
                </a:solidFill>
                <a:latin typeface="Arial"/>
                <a:cs typeface="Arial"/>
              </a:rPr>
              <a:t>DMP + Online</a:t>
            </a:r>
            <a:endParaRPr lang="en-US" sz="120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rgbClr val="FF452C"/>
                </a:solidFill>
                <a:latin typeface="Arial"/>
                <a:cs typeface="Arial"/>
              </a:rPr>
              <a:t>1 787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+64%</a:t>
            </a:r>
            <a:endParaRPr lang="ru-RU" sz="120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Данные Магнита </a:t>
            </a:r>
            <a:b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</a:b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на внешних площадках</a:t>
            </a:r>
            <a:endParaRPr lang="ru-RU" sz="1200"/>
          </a:p>
        </p:txBody>
      </p:sp>
      <p:sp>
        <p:nvSpPr>
          <p:cNvPr id="1038" name="ADS 1038"/>
          <p:cNvSpPr txBox="1"/>
          <p:nvPr/>
        </p:nvSpPr>
        <p:spPr>
          <a:xfrm>
            <a:off x="4378300" y="4155825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По типам бюджета</a:t>
            </a:r>
            <a:endParaRPr lang="ru-RU" sz="1200"/>
          </a:p>
        </p:txBody>
      </p:sp>
      <p:sp>
        <p:nvSpPr>
          <p:cNvPr id="1040" name="ADS 1040"/>
          <p:cNvSpPr/>
          <p:nvPr/>
        </p:nvSpPr>
        <p:spPr>
          <a:xfrm>
            <a:off x="4378300" y="4441225"/>
            <a:ext cx="4863600" cy="14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452C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41" name="ADS 1041"/>
          <p:cNvSpPr txBox="1"/>
          <p:nvPr/>
        </p:nvSpPr>
        <p:spPr>
          <a:xfrm>
            <a:off x="4498300" y="4531225"/>
            <a:ext cx="4635000" cy="1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FF452C"/>
                </a:solidFill>
                <a:latin typeface="Arial"/>
                <a:cs typeface="Arial"/>
              </a:rPr>
              <a:t>Трейд-бюджеты</a:t>
            </a:r>
            <a:endParaRPr lang="ru-RU" sz="1200"/>
          </a:p>
          <a:p>
            <a:pPr marL="0" indent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000000"/>
                </a:solidFill>
                <a:latin typeface="Arial"/>
                <a:cs typeface="Arial"/>
              </a:rPr>
              <a:t>13 502 млн руб. 2027</a:t>
            </a:r>
            <a:endParaRPr lang="ru-RU" sz="1200"/>
          </a:p>
          <a:p>
            <a:pPr marL="0" indent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Продаем через Коммерцию форматов; AdTech — сервисная функция: создает инвентарь, повышает его результативность, ведет кампании и отчетность</a:t>
            </a:r>
            <a:endParaRPr lang="ru-RU" sz="1200"/>
          </a:p>
        </p:txBody>
      </p:sp>
      <p:sp>
        <p:nvSpPr>
          <p:cNvPr id="1043" name="ADS 1043"/>
          <p:cNvSpPr/>
          <p:nvPr/>
        </p:nvSpPr>
        <p:spPr>
          <a:xfrm>
            <a:off x="9331900" y="4441225"/>
            <a:ext cx="2331800" cy="14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452C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44" name="ADS 1044"/>
          <p:cNvSpPr txBox="1"/>
          <p:nvPr/>
        </p:nvSpPr>
        <p:spPr>
          <a:xfrm>
            <a:off x="9446200" y="4531225"/>
            <a:ext cx="2103200" cy="1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FF452C"/>
                </a:solidFill>
                <a:latin typeface="Arial"/>
                <a:cs typeface="Arial"/>
              </a:rPr>
              <a:t>Бренд-бюджеты</a:t>
            </a:r>
            <a:endParaRPr lang="ru-RU" sz="1200"/>
          </a:p>
          <a:p>
            <a:pPr marL="0" indent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000000"/>
                </a:solidFill>
                <a:latin typeface="Arial"/>
                <a:cs typeface="Arial"/>
              </a:rPr>
              <a:t>1 064 млн руб. 2027</a:t>
            </a:r>
            <a:endParaRPr lang="ru-RU" sz="1200"/>
          </a:p>
          <a:p>
            <a:pPr marL="0" indent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Через внешнее ЮЛ Магнит Маркета: охваты как альтернатива ТВ, OOH и digital</a:t>
            </a:r>
            <a:endParaRPr lang="ru-RU" sz="1200"/>
          </a:p>
        </p:txBody>
      </p:sp>
      <p:sp>
        <p:nvSpPr>
          <p:cNvPr id="5" name="Открывающая фигурная скобка 4">
            <a:extLst>
              <a:ext uri="{FF2B5EF4-FFF2-40B4-BE49-F238E27FC236}">
                <a16:creationId xmlns:a16="http://schemas.microsoft.com/office/drawing/2014/main" id="{58000670-BDE9-3BE9-B0FB-3C9E24723090}"/>
              </a:ext>
            </a:extLst>
          </p:cNvPr>
          <p:cNvSpPr/>
          <p:nvPr/>
        </p:nvSpPr>
        <p:spPr>
          <a:xfrm rot="16200000">
            <a:off x="6685101" y="1675161"/>
            <a:ext cx="249999" cy="4863600"/>
          </a:xfrm>
          <a:prstGeom prst="leftBrace">
            <a:avLst>
              <a:gd name="adj1" fmla="val 40538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ткрывающая фигурная скобка 7">
            <a:extLst>
              <a:ext uri="{FF2B5EF4-FFF2-40B4-BE49-F238E27FC236}">
                <a16:creationId xmlns:a16="http://schemas.microsoft.com/office/drawing/2014/main" id="{74A3962A-9E63-C9E3-9261-3F329B6E46B6}"/>
              </a:ext>
            </a:extLst>
          </p:cNvPr>
          <p:cNvSpPr/>
          <p:nvPr/>
        </p:nvSpPr>
        <p:spPr>
          <a:xfrm rot="16200000">
            <a:off x="10372801" y="2941061"/>
            <a:ext cx="249999" cy="2331800"/>
          </a:xfrm>
          <a:prstGeom prst="leftBrace">
            <a:avLst>
              <a:gd name="adj1" fmla="val 40538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27177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think-cell data - do not delete" hidden="1">
            <a:extLst>
              <a:ext uri="{FF2B5EF4-FFF2-40B4-BE49-F238E27FC236}">
                <a16:creationId xmlns:a16="http://schemas.microsoft.com/office/drawing/2014/main" id="{4910A7A2-3A49-6B6B-FA02-CFB97075C82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2" imgW="7772400" imgH="10058400" progId="TCLayout.ActiveDocument.1">
                  <p:embed/>
                </p:oleObj>
              </mc:Choice>
              <mc:Fallback>
                <p:oleObj name="think-cell Slide" r:id="rId42" imgW="7772400" imgH="10058400" progId="TCLayout.ActiveDocument.1">
                  <p:embed/>
                  <p:pic>
                    <p:nvPicPr>
                      <p:cNvPr id="8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910A7A2-3A49-6B6B-FA02-CFB97075C8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>
                <a:solidFill>
                  <a:srgbClr val="6E6E6E"/>
                </a:solidFill>
              </a:rPr>
              <a:t>1. Доля в коммерческом инвентаре</a:t>
            </a:r>
            <a:r>
              <a:rPr lang="en-US">
                <a:solidFill>
                  <a:srgbClr val="6E6E6E"/>
                </a:solidFill>
              </a:rPr>
              <a:t> AdTech </a:t>
            </a:r>
            <a:r>
              <a:rPr lang="ru-RU">
                <a:solidFill>
                  <a:srgbClr val="6E6E6E"/>
                </a:solidFill>
              </a:rPr>
              <a:t>с учетом эффекта платформы. 2026-2027 гг. — бюджет рекламной выручки трейд-бюджетов</a:t>
            </a:r>
            <a:r>
              <a:rPr lang="en-US">
                <a:solidFill>
                  <a:srgbClr val="6E6E6E"/>
                </a:solidFill>
              </a:rPr>
              <a:t> (APP </a:t>
            </a:r>
            <a:r>
              <a:rPr lang="ru-RU">
                <a:solidFill>
                  <a:srgbClr val="6E6E6E"/>
                </a:solidFill>
              </a:rPr>
              <a:t>и</a:t>
            </a:r>
            <a:r>
              <a:rPr lang="en-US">
                <a:solidFill>
                  <a:srgbClr val="6E6E6E"/>
                </a:solidFill>
              </a:rPr>
              <a:t> in-store), 2028-2030 </a:t>
            </a:r>
            <a:r>
              <a:rPr lang="ru-RU">
                <a:solidFill>
                  <a:srgbClr val="6E6E6E"/>
                </a:solidFill>
              </a:rPr>
              <a:t>гг. — модель; без</a:t>
            </a:r>
            <a:r>
              <a:rPr lang="en-US">
                <a:solidFill>
                  <a:srgbClr val="6E6E6E"/>
                </a:solidFill>
              </a:rPr>
              <a:t> RMN, UGC </a:t>
            </a:r>
            <a:r>
              <a:rPr lang="ru-RU">
                <a:solidFill>
                  <a:srgbClr val="6E6E6E"/>
                </a:solidFill>
              </a:rPr>
              <a:t>и</a:t>
            </a:r>
            <a:r>
              <a:rPr lang="en-US">
                <a:solidFill>
                  <a:srgbClr val="6E6E6E"/>
                </a:solidFill>
              </a:rPr>
              <a:t> DMP + Online. </a:t>
            </a:r>
            <a:r>
              <a:rPr lang="ru-RU">
                <a:solidFill>
                  <a:srgbClr val="6E6E6E"/>
                </a:solidFill>
              </a:rPr>
              <a:t>Капасити — денежная емкость инвентаря: коммерческая часть</a:t>
            </a:r>
            <a:r>
              <a:rPr lang="en-US">
                <a:solidFill>
                  <a:srgbClr val="6E6E6E"/>
                </a:solidFill>
              </a:rPr>
              <a:t> AdTech + </a:t>
            </a:r>
            <a:r>
              <a:rPr lang="ru-RU">
                <a:solidFill>
                  <a:srgbClr val="6E6E6E"/>
                </a:solidFill>
              </a:rPr>
              <a:t>квота 50% внутренних заказчиков. 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15</a:t>
            </a:fld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Капасити инвентаря вырастет в 3,5 раза до ~61 млрд руб. к 2030 г. </a:t>
            </a:r>
            <a:br>
              <a:rPr lang="en-US" dirty="0"/>
            </a:br>
            <a:r>
              <a:rPr lang="ru-RU"/>
              <a:t>на росте</a:t>
            </a:r>
            <a:r>
              <a:rPr lang="en-US"/>
              <a:t> online GMV, DAC </a:t>
            </a:r>
            <a:r>
              <a:rPr lang="ru-RU"/>
              <a:t>и эффективности платформы</a:t>
            </a:r>
          </a:p>
        </p:txBody>
      </p:sp>
      <p:sp>
        <p:nvSpPr>
          <p:cNvPr id="5" name="ADS bar 5"/>
          <p:cNvSpPr/>
          <p:nvPr/>
        </p:nvSpPr>
        <p:spPr>
          <a:xfrm>
            <a:off x="365760" y="1005840"/>
            <a:ext cx="8138160" cy="338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1600" b="1" i="0" u="none" strike="noStrike" kern="0" cap="none" spc="0" normalizeH="0" baseline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Капасити рекламного инвентаря Магнита, млрд руб.</a:t>
            </a:r>
          </a:p>
        </p:txBody>
      </p:sp>
      <p:sp>
        <p:nvSpPr>
          <p:cNvPr id="6" name="ADS bar 6"/>
          <p:cNvSpPr/>
          <p:nvPr/>
        </p:nvSpPr>
        <p:spPr>
          <a:xfrm>
            <a:off x="8677656" y="1005840"/>
            <a:ext cx="3145536" cy="338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1600" b="1" i="0" u="none" strike="noStrike" kern="0" cap="none" spc="0" normalizeH="0" baseline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Комментарии</a:t>
            </a:r>
          </a:p>
        </p:txBody>
      </p:sp>
      <p:sp>
        <p:nvSpPr>
          <p:cNvPr id="10" name="ADS label 10"/>
          <p:cNvSpPr txBox="1"/>
          <p:nvPr/>
        </p:nvSpPr>
        <p:spPr>
          <a:xfrm>
            <a:off x="1955352" y="459897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2026</a:t>
            </a:r>
            <a:endParaRPr lang="ru-RU" sz="1200"/>
          </a:p>
        </p:txBody>
      </p:sp>
      <p:sp>
        <p:nvSpPr>
          <p:cNvPr id="11" name="ADS label 11"/>
          <p:cNvSpPr txBox="1"/>
          <p:nvPr/>
        </p:nvSpPr>
        <p:spPr>
          <a:xfrm>
            <a:off x="1955352" y="478185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>
                <a:solidFill>
                  <a:srgbClr val="7F7F7F"/>
                </a:solidFill>
                <a:latin typeface="Arial"/>
                <a:cs typeface="Arial"/>
              </a:rPr>
              <a:t>бюджет</a:t>
            </a:r>
            <a:endParaRPr lang="ru-RU" sz="1200"/>
          </a:p>
        </p:txBody>
      </p:sp>
      <p:sp>
        <p:nvSpPr>
          <p:cNvPr id="15" name="ADS label 15"/>
          <p:cNvSpPr txBox="1"/>
          <p:nvPr/>
        </p:nvSpPr>
        <p:spPr>
          <a:xfrm>
            <a:off x="3263676" y="459897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2027</a:t>
            </a:r>
            <a:endParaRPr lang="ru-RU" sz="1200"/>
          </a:p>
        </p:txBody>
      </p:sp>
      <p:sp>
        <p:nvSpPr>
          <p:cNvPr id="16" name="ADS label 16"/>
          <p:cNvSpPr txBox="1"/>
          <p:nvPr/>
        </p:nvSpPr>
        <p:spPr>
          <a:xfrm>
            <a:off x="3263676" y="478185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>
                <a:solidFill>
                  <a:srgbClr val="7F7F7F"/>
                </a:solidFill>
                <a:latin typeface="Arial"/>
                <a:cs typeface="Arial"/>
              </a:rPr>
              <a:t>модель</a:t>
            </a:r>
            <a:endParaRPr lang="ru-RU" sz="1200"/>
          </a:p>
        </p:txBody>
      </p:sp>
      <p:sp>
        <p:nvSpPr>
          <p:cNvPr id="20" name="ADS label 20"/>
          <p:cNvSpPr txBox="1"/>
          <p:nvPr/>
        </p:nvSpPr>
        <p:spPr>
          <a:xfrm>
            <a:off x="4572000" y="459897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2028</a:t>
            </a:r>
            <a:endParaRPr lang="ru-RU" sz="1200"/>
          </a:p>
        </p:txBody>
      </p:sp>
      <p:sp>
        <p:nvSpPr>
          <p:cNvPr id="21" name="ADS label 21"/>
          <p:cNvSpPr txBox="1"/>
          <p:nvPr/>
        </p:nvSpPr>
        <p:spPr>
          <a:xfrm>
            <a:off x="4572000" y="478185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>
                <a:solidFill>
                  <a:srgbClr val="7F7F7F"/>
                </a:solidFill>
                <a:latin typeface="Arial"/>
                <a:cs typeface="Arial"/>
              </a:rPr>
              <a:t>модель</a:t>
            </a:r>
            <a:endParaRPr lang="ru-RU" sz="1200"/>
          </a:p>
        </p:txBody>
      </p:sp>
      <p:sp>
        <p:nvSpPr>
          <p:cNvPr id="27" name="ADS label 27"/>
          <p:cNvSpPr txBox="1"/>
          <p:nvPr/>
        </p:nvSpPr>
        <p:spPr>
          <a:xfrm>
            <a:off x="5880323" y="459897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2029</a:t>
            </a:r>
            <a:endParaRPr lang="ru-RU" sz="1200"/>
          </a:p>
        </p:txBody>
      </p:sp>
      <p:sp>
        <p:nvSpPr>
          <p:cNvPr id="28" name="ADS label 28"/>
          <p:cNvSpPr txBox="1"/>
          <p:nvPr/>
        </p:nvSpPr>
        <p:spPr>
          <a:xfrm>
            <a:off x="5880323" y="478185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>
                <a:solidFill>
                  <a:srgbClr val="7F7F7F"/>
                </a:solidFill>
                <a:latin typeface="Arial"/>
                <a:cs typeface="Arial"/>
              </a:rPr>
              <a:t>модель</a:t>
            </a:r>
            <a:endParaRPr lang="ru-RU" sz="1200"/>
          </a:p>
        </p:txBody>
      </p:sp>
      <p:sp>
        <p:nvSpPr>
          <p:cNvPr id="34" name="ADS label 34"/>
          <p:cNvSpPr txBox="1"/>
          <p:nvPr/>
        </p:nvSpPr>
        <p:spPr>
          <a:xfrm>
            <a:off x="7188647" y="459897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2030</a:t>
            </a:r>
            <a:endParaRPr lang="ru-RU" sz="1200"/>
          </a:p>
        </p:txBody>
      </p:sp>
      <p:sp>
        <p:nvSpPr>
          <p:cNvPr id="35" name="ADS label 35"/>
          <p:cNvSpPr txBox="1"/>
          <p:nvPr/>
        </p:nvSpPr>
        <p:spPr>
          <a:xfrm>
            <a:off x="7188647" y="478185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>
                <a:solidFill>
                  <a:srgbClr val="7F7F7F"/>
                </a:solidFill>
                <a:latin typeface="Arial"/>
                <a:cs typeface="Arial"/>
              </a:rPr>
              <a:t>модель</a:t>
            </a:r>
            <a:endParaRPr lang="ru-RU" sz="1200"/>
          </a:p>
        </p:txBody>
      </p:sp>
      <p:sp>
        <p:nvSpPr>
          <p:cNvPr id="47" name="ADS line 47"/>
          <p:cNvSpPr/>
          <p:nvPr/>
        </p:nvSpPr>
        <p:spPr>
          <a:xfrm>
            <a:off x="365760" y="4992166"/>
            <a:ext cx="813816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48" name="ADS label 48"/>
          <p:cNvSpPr txBox="1"/>
          <p:nvPr/>
        </p:nvSpPr>
        <p:spPr>
          <a:xfrm>
            <a:off x="365760" y="5047030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>
                <a:solidFill>
                  <a:srgbClr val="7F7F7F"/>
                </a:solidFill>
                <a:latin typeface="Arial"/>
                <a:cs typeface="Arial"/>
              </a:rPr>
              <a:t>Online GMV, млрд руб.</a:t>
            </a:r>
            <a:endParaRPr lang="ru-RU" sz="1200"/>
          </a:p>
        </p:txBody>
      </p:sp>
      <p:sp>
        <p:nvSpPr>
          <p:cNvPr id="49" name="ADS label 49"/>
          <p:cNvSpPr txBox="1"/>
          <p:nvPr/>
        </p:nvSpPr>
        <p:spPr>
          <a:xfrm>
            <a:off x="1955352" y="504703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250</a:t>
            </a:r>
            <a:endParaRPr lang="ru-RU" sz="1200"/>
          </a:p>
        </p:txBody>
      </p:sp>
      <p:sp>
        <p:nvSpPr>
          <p:cNvPr id="50" name="ADS label 50"/>
          <p:cNvSpPr txBox="1"/>
          <p:nvPr/>
        </p:nvSpPr>
        <p:spPr>
          <a:xfrm>
            <a:off x="3263676" y="504703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354</a:t>
            </a:r>
            <a:endParaRPr lang="ru-RU" sz="1200"/>
          </a:p>
        </p:txBody>
      </p:sp>
      <p:sp>
        <p:nvSpPr>
          <p:cNvPr id="51" name="ADS label 51"/>
          <p:cNvSpPr txBox="1"/>
          <p:nvPr/>
        </p:nvSpPr>
        <p:spPr>
          <a:xfrm>
            <a:off x="4572000" y="504703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500</a:t>
            </a:r>
            <a:endParaRPr lang="ru-RU" sz="1200"/>
          </a:p>
        </p:txBody>
      </p:sp>
      <p:sp>
        <p:nvSpPr>
          <p:cNvPr id="52" name="ADS label 52"/>
          <p:cNvSpPr txBox="1"/>
          <p:nvPr/>
        </p:nvSpPr>
        <p:spPr>
          <a:xfrm>
            <a:off x="5880323" y="504703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707</a:t>
            </a:r>
            <a:endParaRPr lang="ru-RU" sz="1200"/>
          </a:p>
        </p:txBody>
      </p:sp>
      <p:sp>
        <p:nvSpPr>
          <p:cNvPr id="53" name="ADS label 53"/>
          <p:cNvSpPr txBox="1"/>
          <p:nvPr/>
        </p:nvSpPr>
        <p:spPr>
          <a:xfrm>
            <a:off x="7188647" y="504703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1 000</a:t>
            </a:r>
            <a:endParaRPr lang="ru-RU" sz="1200"/>
          </a:p>
        </p:txBody>
      </p:sp>
      <p:sp>
        <p:nvSpPr>
          <p:cNvPr id="54" name="ADS label 54"/>
          <p:cNvSpPr txBox="1"/>
          <p:nvPr/>
        </p:nvSpPr>
        <p:spPr>
          <a:xfrm>
            <a:off x="365760" y="5266486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>
                <a:solidFill>
                  <a:srgbClr val="7F7F7F"/>
                </a:solidFill>
                <a:latin typeface="Arial"/>
                <a:cs typeface="Arial"/>
              </a:rPr>
              <a:t>DAC, млн</a:t>
            </a:r>
            <a:endParaRPr lang="ru-RU" sz="1200"/>
          </a:p>
        </p:txBody>
      </p:sp>
      <p:sp>
        <p:nvSpPr>
          <p:cNvPr id="55" name="ADS label 55"/>
          <p:cNvSpPr txBox="1"/>
          <p:nvPr/>
        </p:nvSpPr>
        <p:spPr>
          <a:xfrm>
            <a:off x="1955352" y="526648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25</a:t>
            </a:r>
            <a:endParaRPr lang="ru-RU" sz="1200"/>
          </a:p>
        </p:txBody>
      </p:sp>
      <p:sp>
        <p:nvSpPr>
          <p:cNvPr id="56" name="ADS label 56"/>
          <p:cNvSpPr txBox="1"/>
          <p:nvPr/>
        </p:nvSpPr>
        <p:spPr>
          <a:xfrm>
            <a:off x="3263676" y="526648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31</a:t>
            </a:r>
            <a:endParaRPr lang="ru-RU" sz="1200"/>
          </a:p>
        </p:txBody>
      </p:sp>
      <p:sp>
        <p:nvSpPr>
          <p:cNvPr id="57" name="ADS label 57"/>
          <p:cNvSpPr txBox="1"/>
          <p:nvPr/>
        </p:nvSpPr>
        <p:spPr>
          <a:xfrm>
            <a:off x="4572000" y="526648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36</a:t>
            </a:r>
            <a:endParaRPr lang="ru-RU" sz="1200"/>
          </a:p>
        </p:txBody>
      </p:sp>
      <p:sp>
        <p:nvSpPr>
          <p:cNvPr id="58" name="ADS label 58"/>
          <p:cNvSpPr txBox="1"/>
          <p:nvPr/>
        </p:nvSpPr>
        <p:spPr>
          <a:xfrm>
            <a:off x="5880323" y="526648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42</a:t>
            </a:r>
            <a:endParaRPr lang="ru-RU" sz="1200"/>
          </a:p>
        </p:txBody>
      </p:sp>
      <p:sp>
        <p:nvSpPr>
          <p:cNvPr id="59" name="ADS label 59"/>
          <p:cNvSpPr txBox="1"/>
          <p:nvPr/>
        </p:nvSpPr>
        <p:spPr>
          <a:xfrm>
            <a:off x="7188647" y="526648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50</a:t>
            </a:r>
            <a:endParaRPr lang="ru-RU" sz="1200"/>
          </a:p>
        </p:txBody>
      </p:sp>
      <p:sp>
        <p:nvSpPr>
          <p:cNvPr id="60" name="ADS label 60"/>
          <p:cNvSpPr txBox="1"/>
          <p:nvPr/>
        </p:nvSpPr>
        <p:spPr>
          <a:xfrm>
            <a:off x="365760" y="5485942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>
                <a:solidFill>
                  <a:srgbClr val="7F7F7F"/>
                </a:solidFill>
                <a:latin typeface="Arial"/>
                <a:cs typeface="Arial"/>
              </a:rPr>
              <a:t>Индекс эффективности</a:t>
            </a:r>
            <a:endParaRPr lang="ru-RU" sz="1200"/>
          </a:p>
        </p:txBody>
      </p:sp>
      <p:sp>
        <p:nvSpPr>
          <p:cNvPr id="61" name="ADS label 61"/>
          <p:cNvSpPr txBox="1"/>
          <p:nvPr/>
        </p:nvSpPr>
        <p:spPr>
          <a:xfrm>
            <a:off x="1955352" y="548594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1,00</a:t>
            </a:r>
            <a:endParaRPr lang="ru-RU" sz="1200"/>
          </a:p>
        </p:txBody>
      </p:sp>
      <p:sp>
        <p:nvSpPr>
          <p:cNvPr id="62" name="ADS label 62"/>
          <p:cNvSpPr txBox="1"/>
          <p:nvPr/>
        </p:nvSpPr>
        <p:spPr>
          <a:xfrm>
            <a:off x="3263676" y="548594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1,00</a:t>
            </a:r>
            <a:endParaRPr lang="ru-RU" sz="1200"/>
          </a:p>
        </p:txBody>
      </p:sp>
      <p:sp>
        <p:nvSpPr>
          <p:cNvPr id="63" name="ADS label 63"/>
          <p:cNvSpPr txBox="1"/>
          <p:nvPr/>
        </p:nvSpPr>
        <p:spPr>
          <a:xfrm>
            <a:off x="4572000" y="548594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1,15</a:t>
            </a:r>
            <a:endParaRPr lang="ru-RU" sz="1200"/>
          </a:p>
        </p:txBody>
      </p:sp>
      <p:sp>
        <p:nvSpPr>
          <p:cNvPr id="64" name="ADS label 64"/>
          <p:cNvSpPr txBox="1"/>
          <p:nvPr/>
        </p:nvSpPr>
        <p:spPr>
          <a:xfrm>
            <a:off x="5880323" y="548594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1,32</a:t>
            </a:r>
            <a:endParaRPr lang="ru-RU" sz="1200"/>
          </a:p>
        </p:txBody>
      </p:sp>
      <p:sp>
        <p:nvSpPr>
          <p:cNvPr id="65" name="ADS label 65"/>
          <p:cNvSpPr txBox="1"/>
          <p:nvPr/>
        </p:nvSpPr>
        <p:spPr>
          <a:xfrm>
            <a:off x="7188647" y="548594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1,52</a:t>
            </a:r>
            <a:endParaRPr lang="ru-RU" sz="1200"/>
          </a:p>
        </p:txBody>
      </p:sp>
      <p:sp>
        <p:nvSpPr>
          <p:cNvPr id="66" name="ADS label 66"/>
          <p:cNvSpPr txBox="1"/>
          <p:nvPr/>
        </p:nvSpPr>
        <p:spPr>
          <a:xfrm>
            <a:off x="365760" y="5705398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>
                <a:solidFill>
                  <a:srgbClr val="7F7F7F"/>
                </a:solidFill>
                <a:latin typeface="Arial"/>
                <a:cs typeface="Arial"/>
              </a:rPr>
              <a:t>Доля перформанса¹</a:t>
            </a:r>
            <a:endParaRPr lang="ru-RU" sz="1200"/>
          </a:p>
        </p:txBody>
      </p:sp>
      <p:sp>
        <p:nvSpPr>
          <p:cNvPr id="67" name="ADS label 67"/>
          <p:cNvSpPr txBox="1"/>
          <p:nvPr/>
        </p:nvSpPr>
        <p:spPr>
          <a:xfrm>
            <a:off x="1955352" y="570539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25%</a:t>
            </a:r>
            <a:endParaRPr lang="ru-RU" sz="1200"/>
          </a:p>
        </p:txBody>
      </p:sp>
      <p:sp>
        <p:nvSpPr>
          <p:cNvPr id="68" name="ADS label 68"/>
          <p:cNvSpPr txBox="1"/>
          <p:nvPr/>
        </p:nvSpPr>
        <p:spPr>
          <a:xfrm>
            <a:off x="3263676" y="570539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24%</a:t>
            </a:r>
            <a:endParaRPr lang="ru-RU" sz="1200"/>
          </a:p>
        </p:txBody>
      </p:sp>
      <p:sp>
        <p:nvSpPr>
          <p:cNvPr id="69" name="ADS label 69"/>
          <p:cNvSpPr txBox="1"/>
          <p:nvPr/>
        </p:nvSpPr>
        <p:spPr>
          <a:xfrm>
            <a:off x="4572000" y="570539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29%</a:t>
            </a:r>
            <a:endParaRPr lang="ru-RU" sz="1200"/>
          </a:p>
        </p:txBody>
      </p:sp>
      <p:sp>
        <p:nvSpPr>
          <p:cNvPr id="70" name="ADS label 70"/>
          <p:cNvSpPr txBox="1"/>
          <p:nvPr/>
        </p:nvSpPr>
        <p:spPr>
          <a:xfrm>
            <a:off x="5880323" y="570539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34%</a:t>
            </a:r>
            <a:endParaRPr lang="ru-RU" sz="1200"/>
          </a:p>
        </p:txBody>
      </p:sp>
      <p:sp>
        <p:nvSpPr>
          <p:cNvPr id="71" name="ADS label 71"/>
          <p:cNvSpPr txBox="1"/>
          <p:nvPr/>
        </p:nvSpPr>
        <p:spPr>
          <a:xfrm>
            <a:off x="7188647" y="570539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40%</a:t>
            </a:r>
            <a:endParaRPr lang="ru-RU" sz="1200"/>
          </a:p>
        </p:txBody>
      </p:sp>
      <p:sp>
        <p:nvSpPr>
          <p:cNvPr id="72" name="ADS label 72"/>
          <p:cNvSpPr txBox="1"/>
          <p:nvPr/>
        </p:nvSpPr>
        <p:spPr>
          <a:xfrm>
            <a:off x="8677656" y="1481328"/>
            <a:ext cx="3145536" cy="4480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Капасити x3,5:</a:t>
            </a:r>
            <a:r>
              <a:rPr lang="ru-RU" sz="1050" b="0">
                <a:solidFill>
                  <a:srgbClr val="000000"/>
                </a:solidFill>
                <a:latin typeface="Arial"/>
                <a:cs typeface="Arial"/>
              </a:rPr>
              <a:t> с 17,3 до ~61 млрд руб. к 2030 г., половина — квота марком под задачи Магнита</a:t>
            </a:r>
            <a:endParaRPr lang="ru-RU" sz="1200"/>
          </a:p>
          <a:p>
            <a:pPr mar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Перформанс — главный драйвер:</a:t>
            </a:r>
            <a:r>
              <a:rPr lang="ru-RU" sz="1050" b="0">
                <a:solidFill>
                  <a:srgbClr val="000000"/>
                </a:solidFill>
                <a:latin typeface="Arial"/>
                <a:cs typeface="Arial"/>
              </a:rPr>
              <a:t> online GMV растет с ~250 млрд до 1 трлн руб. (CAGR ~41%), доля перформанса в коммерческом инвентаре — с 25% до 40%</a:t>
            </a:r>
            <a:endParaRPr lang="ru-RU" sz="1200"/>
          </a:p>
          <a:p>
            <a:pPr mar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Медиа растет вместе с DAC:</a:t>
            </a:r>
            <a:r>
              <a:rPr lang="ru-RU" sz="1050" b="0">
                <a:solidFill>
                  <a:srgbClr val="000000"/>
                </a:solidFill>
                <a:latin typeface="Arial"/>
                <a:cs typeface="Arial"/>
              </a:rPr>
              <a:t> 25 млн сейчас, 31 млн в 2027 г. и 50 млн к 2030 г.</a:t>
            </a:r>
            <a:endParaRPr lang="ru-RU" sz="1200"/>
          </a:p>
          <a:p>
            <a:pPr mar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+10-20% эффективности в год:</a:t>
            </a:r>
            <a:r>
              <a:rPr lang="ru-RU" sz="1050" b="0">
                <a:solidFill>
                  <a:srgbClr val="000000"/>
                </a:solidFill>
                <a:latin typeface="Arial"/>
                <a:cs typeface="Arial"/>
              </a:rPr>
              <a:t> аукцион, пропускная способность трафика, ниже порог входа и весь инвентарь на одной платформе. Диапазон капасити 2030 г. — 53-69 млрд руб.</a:t>
            </a:r>
            <a:endParaRPr lang="ru-RU" sz="1200"/>
          </a:p>
        </p:txBody>
      </p:sp>
      <p:graphicFrame>
        <p:nvGraphicFramePr>
          <p:cNvPr id="233" name="Chart 3">
            <a:extLst>
              <a:ext uri="{FF2B5EF4-FFF2-40B4-BE49-F238E27FC236}">
                <a16:creationId xmlns:a16="http://schemas.microsoft.com/office/drawing/2014/main" id="{9953BAF5-CE52-3E78-AC90-30C36389EA24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1752600" y="1684338"/>
          <a:ext cx="6769100" cy="28241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4"/>
          </a:graphicData>
        </a:graphic>
      </p:graphicFrame>
      <p:sp>
        <p:nvSpPr>
          <p:cNvPr id="110" name="Прямоугольник 109">
            <a:extLst>
              <a:ext uri="{FF2B5EF4-FFF2-40B4-BE49-F238E27FC236}">
                <a16:creationId xmlns:a16="http://schemas.microsoft.com/office/drawing/2014/main" id="{29840F08-B37A-D886-007D-9CDEAF2FD293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6329363" y="2843213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9FECD2DD-9403-45E2-AC5E-59DFDB47071C}" type="datetime'6'',''''''''''''''''8''''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6,8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57" name="Прямоугольник 156">
            <a:extLst>
              <a:ext uri="{FF2B5EF4-FFF2-40B4-BE49-F238E27FC236}">
                <a16:creationId xmlns:a16="http://schemas.microsoft.com/office/drawing/2014/main" id="{B4A8A989-42C2-330C-2E92-14848CC0D2C1}"/>
              </a:ext>
            </a:extLst>
          </p:cNvPr>
          <p:cNvSpPr/>
          <p:nvPr>
            <p:custDataLst>
              <p:tags r:id="rId4"/>
            </p:custDataLst>
          </p:nvPr>
        </p:nvSpPr>
        <p:spPr bwMode="gray">
          <a:xfrm>
            <a:off x="2235200" y="3638550"/>
            <a:ext cx="255588" cy="1651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E2AA1FA5-0663-4183-9A8B-86FE8D653DC6}" type="datetime'''''''2,''''''''''2'''''''''''''''''''''''''''''''''">
              <a:rPr lang="ru-RU" sz="12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2,2</a:t>
            </a:fld>
            <a:endParaRPr lang="ru-RU" sz="1200">
              <a:solidFill>
                <a:schemeClr val="bg1"/>
              </a:solidFill>
            </a:endParaRPr>
          </a:p>
        </p:txBody>
      </p:sp>
      <p:sp>
        <p:nvSpPr>
          <p:cNvPr id="153" name="Прямоугольник 152">
            <a:extLst>
              <a:ext uri="{FF2B5EF4-FFF2-40B4-BE49-F238E27FC236}">
                <a16:creationId xmlns:a16="http://schemas.microsoft.com/office/drawing/2014/main" id="{CADAD01D-766B-AFFF-FAF1-C00AFCE4218D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2366963" y="4154488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A24419B9-9340-4052-96FD-24DFC35ACB92}" type="datetime'''''''8'',''''''''''''''''''''6''''''''''''''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8,6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99" name="Прямоугольник 98">
            <a:extLst>
              <a:ext uri="{FF2B5EF4-FFF2-40B4-BE49-F238E27FC236}">
                <a16:creationId xmlns:a16="http://schemas.microsoft.com/office/drawing/2014/main" id="{2B09566D-F1E0-F85F-7825-050C7276B42C}"/>
              </a:ext>
            </a:extLst>
          </p:cNvPr>
          <p:cNvSpPr/>
          <p:nvPr>
            <p:custDataLst>
              <p:tags r:id="rId6"/>
            </p:custDataLst>
          </p:nvPr>
        </p:nvSpPr>
        <p:spPr bwMode="gray">
          <a:xfrm>
            <a:off x="3687763" y="3390900"/>
            <a:ext cx="255588" cy="1651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44ECA5F-BE1F-4E6F-8376-D85B84C3A409}" type="datetime'''''''''''''''''''''''''''''''''''''2'''',''''''''8'''">
              <a:rPr lang="ru-RU" sz="1200" smtClean="0">
                <a:solidFill>
                  <a:schemeClr val="bg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2,8</a:t>
            </a:fld>
            <a:endParaRPr lang="ru-RU" sz="1200">
              <a:solidFill>
                <a:schemeClr val="bg1"/>
              </a:solidFill>
            </a:endParaRPr>
          </a:p>
        </p:txBody>
      </p:sp>
      <p:sp>
        <p:nvSpPr>
          <p:cNvPr id="100" name="Прямоугольник 99">
            <a:extLst>
              <a:ext uri="{FF2B5EF4-FFF2-40B4-BE49-F238E27FC236}">
                <a16:creationId xmlns:a16="http://schemas.microsoft.com/office/drawing/2014/main" id="{37670F74-2BF8-8BFE-708B-BC6041AFF717}"/>
              </a:ext>
            </a:extLst>
          </p:cNvPr>
          <p:cNvSpPr/>
          <p:nvPr>
            <p:custDataLst>
              <p:tags r:id="rId7"/>
            </p:custDataLst>
          </p:nvPr>
        </p:nvSpPr>
        <p:spPr bwMode="gray">
          <a:xfrm>
            <a:off x="3687763" y="3557588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D11B083-6E98-4AA5-8DC4-B69A69E18E2F}" type="datetime'''''''''''''4,9''''''''''''''''''''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4,9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1" name="Прямоугольник 100">
            <a:extLst>
              <a:ext uri="{FF2B5EF4-FFF2-40B4-BE49-F238E27FC236}">
                <a16:creationId xmlns:a16="http://schemas.microsoft.com/office/drawing/2014/main" id="{A48E7BE2-7B78-5F80-1F31-8D628ABC6AFA}"/>
              </a:ext>
            </a:extLst>
          </p:cNvPr>
          <p:cNvSpPr/>
          <p:nvPr>
            <p:custDataLst>
              <p:tags r:id="rId8"/>
            </p:custDataLst>
          </p:nvPr>
        </p:nvSpPr>
        <p:spPr bwMode="gray">
          <a:xfrm>
            <a:off x="3687763" y="3749675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ED98D99-B4A8-4F86-A355-BD9C94FAC476}" type="datetime'''''''''3'',''''''''9''''''''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3,9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3" name="Прямоугольник 102">
            <a:extLst>
              <a:ext uri="{FF2B5EF4-FFF2-40B4-BE49-F238E27FC236}">
                <a16:creationId xmlns:a16="http://schemas.microsoft.com/office/drawing/2014/main" id="{46B54562-FC34-6AB7-54A4-A4D9EBAF11B2}"/>
              </a:ext>
            </a:extLst>
          </p:cNvPr>
          <p:cNvSpPr/>
          <p:nvPr>
            <p:custDataLst>
              <p:tags r:id="rId9"/>
            </p:custDataLst>
          </p:nvPr>
        </p:nvSpPr>
        <p:spPr bwMode="gray">
          <a:xfrm>
            <a:off x="3651250" y="4089400"/>
            <a:ext cx="328613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A4D13661-57F0-4247-969D-4A9AE9392AF9}" type="datetime'''''''''''''''1''''1'''''',''''''''6''''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11,6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4" name="Прямоугольник 103">
            <a:extLst>
              <a:ext uri="{FF2B5EF4-FFF2-40B4-BE49-F238E27FC236}">
                <a16:creationId xmlns:a16="http://schemas.microsoft.com/office/drawing/2014/main" id="{A5C0E79D-1D4C-04E0-F2BD-C9F002E5B0C9}"/>
              </a:ext>
            </a:extLst>
          </p:cNvPr>
          <p:cNvSpPr/>
          <p:nvPr>
            <p:custDataLst>
              <p:tags r:id="rId10"/>
            </p:custDataLst>
          </p:nvPr>
        </p:nvSpPr>
        <p:spPr bwMode="gray">
          <a:xfrm>
            <a:off x="5008563" y="3055938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72D7F4C-3E81-409A-AAB3-2E8FAA6B6A49}" type="datetime'''''''''''''4,''''''''''''''0'''">
              <a:rPr lang="ru-RU" sz="1200" smtClean="0">
                <a:solidFill>
                  <a:schemeClr val="bg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4,0</a:t>
            </a:fld>
            <a:endParaRPr lang="ru-RU" sz="1200">
              <a:solidFill>
                <a:schemeClr val="bg1"/>
              </a:solidFill>
            </a:endParaRPr>
          </a:p>
        </p:txBody>
      </p:sp>
      <p:sp>
        <p:nvSpPr>
          <p:cNvPr id="105" name="Прямоугольник 104">
            <a:extLst>
              <a:ext uri="{FF2B5EF4-FFF2-40B4-BE49-F238E27FC236}">
                <a16:creationId xmlns:a16="http://schemas.microsoft.com/office/drawing/2014/main" id="{939D6CE9-F3C1-06CC-45AA-816DDE2C07D2}"/>
              </a:ext>
            </a:extLst>
          </p:cNvPr>
          <p:cNvSpPr/>
          <p:nvPr>
            <p:custDataLst>
              <p:tags r:id="rId11"/>
            </p:custDataLst>
          </p:nvPr>
        </p:nvSpPr>
        <p:spPr bwMode="gray">
          <a:xfrm>
            <a:off x="5008563" y="3268663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1098872D-0232-4FF0-A67E-701FD0E36CD4}" type="datetime'5'''''''''''''''''''''''''''''''''''',''''''''''''8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5,8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6" name="Прямоугольник 105">
            <a:extLst>
              <a:ext uri="{FF2B5EF4-FFF2-40B4-BE49-F238E27FC236}">
                <a16:creationId xmlns:a16="http://schemas.microsoft.com/office/drawing/2014/main" id="{066815E2-F41B-7AF6-1DF5-9B8BDB3E2739}"/>
              </a:ext>
            </a:extLst>
          </p:cNvPr>
          <p:cNvSpPr/>
          <p:nvPr>
            <p:custDataLst>
              <p:tags r:id="rId12"/>
            </p:custDataLst>
          </p:nvPr>
        </p:nvSpPr>
        <p:spPr bwMode="gray">
          <a:xfrm>
            <a:off x="5141913" y="3479800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ED76CF59-E36E-48A3-BC7E-E33A27E607AF}" type="datetime'''''''''''3'''''''''''''''',''''''9''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3,9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7" name="Прямоугольник 106">
            <a:extLst>
              <a:ext uri="{FF2B5EF4-FFF2-40B4-BE49-F238E27FC236}">
                <a16:creationId xmlns:a16="http://schemas.microsoft.com/office/drawing/2014/main" id="{1AD9CD2D-C49A-C344-3F92-572D39E64ABD}"/>
              </a:ext>
            </a:extLst>
          </p:cNvPr>
          <p:cNvSpPr/>
          <p:nvPr>
            <p:custDataLst>
              <p:tags r:id="rId13"/>
            </p:custDataLst>
          </p:nvPr>
        </p:nvSpPr>
        <p:spPr bwMode="gray">
          <a:xfrm>
            <a:off x="4876800" y="3611563"/>
            <a:ext cx="255588" cy="165100"/>
          </a:xfrm>
          <a:prstGeom prst="rect">
            <a:avLst/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468A904F-5BED-49A9-96AD-4205CDB0B445}" type="datetime'''''''''''''''''2'''''''''''''''''',''''1'''''''''''''''''''''">
              <a:rPr lang="ru-RU" sz="1200" smtClean="0">
                <a:solidFill>
                  <a:schemeClr val="tx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2,1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8" name="Прямоугольник 107">
            <a:extLst>
              <a:ext uri="{FF2B5EF4-FFF2-40B4-BE49-F238E27FC236}">
                <a16:creationId xmlns:a16="http://schemas.microsoft.com/office/drawing/2014/main" id="{645A5430-8DF3-CB1E-D90B-B152D7313FC7}"/>
              </a:ext>
            </a:extLst>
          </p:cNvPr>
          <p:cNvSpPr/>
          <p:nvPr>
            <p:custDataLst>
              <p:tags r:id="rId14"/>
            </p:custDataLst>
          </p:nvPr>
        </p:nvSpPr>
        <p:spPr bwMode="gray">
          <a:xfrm>
            <a:off x="4965700" y="3998913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B0E44043-646A-4F9E-8362-08CDD1A9C838}" type="datetime'1''''''5'''''''''''''''''''''''''''''''',''8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15,8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9" name="Прямоугольник 108">
            <a:extLst>
              <a:ext uri="{FF2B5EF4-FFF2-40B4-BE49-F238E27FC236}">
                <a16:creationId xmlns:a16="http://schemas.microsoft.com/office/drawing/2014/main" id="{EE2292E0-47E4-A371-5C86-61C9E79E371B}"/>
              </a:ext>
            </a:extLst>
          </p:cNvPr>
          <p:cNvSpPr/>
          <p:nvPr>
            <p:custDataLst>
              <p:tags r:id="rId15"/>
            </p:custDataLst>
          </p:nvPr>
        </p:nvSpPr>
        <p:spPr bwMode="gray">
          <a:xfrm>
            <a:off x="6329363" y="2570163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179F6B63-B563-43CC-A975-B274F374D8CE}" type="datetime'5'''''''''''',''''''''''''''7'''''''''''''''''''">
              <a:rPr lang="ru-RU" sz="1200" smtClean="0">
                <a:solidFill>
                  <a:schemeClr val="bg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5,7</a:t>
            </a:fld>
            <a:endParaRPr lang="ru-RU" sz="1200">
              <a:solidFill>
                <a:schemeClr val="bg1"/>
              </a:solidFill>
            </a:endParaRPr>
          </a:p>
        </p:txBody>
      </p:sp>
      <p:sp>
        <p:nvSpPr>
          <p:cNvPr id="156" name="Прямоугольник 155">
            <a:extLst>
              <a:ext uri="{FF2B5EF4-FFF2-40B4-BE49-F238E27FC236}">
                <a16:creationId xmlns:a16="http://schemas.microsoft.com/office/drawing/2014/main" id="{D1C5B7A1-AABA-2706-F1AE-819ADC23AF81}"/>
              </a:ext>
            </a:extLst>
          </p:cNvPr>
          <p:cNvSpPr/>
          <p:nvPr>
            <p:custDataLst>
              <p:tags r:id="rId16"/>
            </p:custDataLst>
          </p:nvPr>
        </p:nvSpPr>
        <p:spPr bwMode="gray">
          <a:xfrm>
            <a:off x="2500313" y="3773488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36BD03B9-9134-43F5-94FB-0339891A262F}" type="datetime'''4,0''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4,0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1" name="Прямоугольник 110">
            <a:extLst>
              <a:ext uri="{FF2B5EF4-FFF2-40B4-BE49-F238E27FC236}">
                <a16:creationId xmlns:a16="http://schemas.microsoft.com/office/drawing/2014/main" id="{2A37ED83-0562-CFFA-B2A1-33C2D17CD816}"/>
              </a:ext>
            </a:extLst>
          </p:cNvPr>
          <p:cNvSpPr/>
          <p:nvPr>
            <p:custDataLst>
              <p:tags r:id="rId17"/>
            </p:custDataLst>
          </p:nvPr>
        </p:nvSpPr>
        <p:spPr bwMode="gray">
          <a:xfrm>
            <a:off x="6329363" y="3078163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BA996C4-BEBC-4E7C-87E4-80002E45CE1F}" type="datetime'''''''''3'''''''''''''''',''''9''''''''''''''''''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3,9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2" name="Прямоугольник 111">
            <a:extLst>
              <a:ext uri="{FF2B5EF4-FFF2-40B4-BE49-F238E27FC236}">
                <a16:creationId xmlns:a16="http://schemas.microsoft.com/office/drawing/2014/main" id="{D03D5CB3-C4DA-1B86-7FF5-3FF22593DEF7}"/>
              </a:ext>
            </a:extLst>
          </p:cNvPr>
          <p:cNvSpPr/>
          <p:nvPr>
            <p:custDataLst>
              <p:tags r:id="rId18"/>
            </p:custDataLst>
          </p:nvPr>
        </p:nvSpPr>
        <p:spPr bwMode="gray">
          <a:xfrm>
            <a:off x="6329363" y="3279775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4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FB7EF19-8629-43F3-82B9-A2EDD520A0DE}" type="datetime'''''5'''''''''',3''''''''''''''''''''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5,3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3" name="Прямоугольник 112">
            <a:extLst>
              <a:ext uri="{FF2B5EF4-FFF2-40B4-BE49-F238E27FC236}">
                <a16:creationId xmlns:a16="http://schemas.microsoft.com/office/drawing/2014/main" id="{05CD601C-DFA1-5989-FB5E-CE7173588610}"/>
              </a:ext>
            </a:extLst>
          </p:cNvPr>
          <p:cNvSpPr/>
          <p:nvPr>
            <p:custDataLst>
              <p:tags r:id="rId19"/>
            </p:custDataLst>
          </p:nvPr>
        </p:nvSpPr>
        <p:spPr bwMode="gray">
          <a:xfrm>
            <a:off x="6286500" y="3868738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87D49689-D805-46B0-9B3F-FFA5518CB83C}" type="datetime'''''''''''2''''''''''''''1'''',''''''''''''''''''8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21,8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4" name="Прямоугольник 113">
            <a:extLst>
              <a:ext uri="{FF2B5EF4-FFF2-40B4-BE49-F238E27FC236}">
                <a16:creationId xmlns:a16="http://schemas.microsoft.com/office/drawing/2014/main" id="{C40FD1C6-4F86-25C6-3E2B-5221DE9556F0}"/>
              </a:ext>
            </a:extLst>
          </p:cNvPr>
          <p:cNvSpPr/>
          <p:nvPr>
            <p:custDataLst>
              <p:tags r:id="rId20"/>
            </p:custDataLst>
          </p:nvPr>
        </p:nvSpPr>
        <p:spPr bwMode="gray">
          <a:xfrm>
            <a:off x="7650163" y="1858963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8B7F64AC-566C-43CD-90C9-064389E0B80F}" type="datetime'8'''''''''''''''''''''''''''''''''''',''''''''''''''''''0'''''">
              <a:rPr lang="ru-RU" sz="1200" smtClean="0">
                <a:solidFill>
                  <a:schemeClr val="bg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8,0</a:t>
            </a:fld>
            <a:endParaRPr lang="ru-RU" sz="1200">
              <a:solidFill>
                <a:schemeClr val="bg1"/>
              </a:solidFill>
            </a:endParaRPr>
          </a:p>
        </p:txBody>
      </p:sp>
      <p:sp>
        <p:nvSpPr>
          <p:cNvPr id="115" name="Прямоугольник 114">
            <a:extLst>
              <a:ext uri="{FF2B5EF4-FFF2-40B4-BE49-F238E27FC236}">
                <a16:creationId xmlns:a16="http://schemas.microsoft.com/office/drawing/2014/main" id="{A7C422E4-E795-EB25-CCBB-0D7306F793AD}"/>
              </a:ext>
            </a:extLst>
          </p:cNvPr>
          <p:cNvSpPr/>
          <p:nvPr>
            <p:custDataLst>
              <p:tags r:id="rId21"/>
            </p:custDataLst>
          </p:nvPr>
        </p:nvSpPr>
        <p:spPr bwMode="gray">
          <a:xfrm>
            <a:off x="7650163" y="2209800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07288BFC-4A32-45D8-8A18-4324AFDDAA15}" type="datetime'''''''''''8'''''''''''''''''''''',''''''''1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8,1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6" name="Прямоугольник 115">
            <a:extLst>
              <a:ext uri="{FF2B5EF4-FFF2-40B4-BE49-F238E27FC236}">
                <a16:creationId xmlns:a16="http://schemas.microsoft.com/office/drawing/2014/main" id="{437F097B-314E-F274-F69B-ACD59A38F81E}"/>
              </a:ext>
            </a:extLst>
          </p:cNvPr>
          <p:cNvSpPr/>
          <p:nvPr>
            <p:custDataLst>
              <p:tags r:id="rId22"/>
            </p:custDataLst>
          </p:nvPr>
        </p:nvSpPr>
        <p:spPr bwMode="gray">
          <a:xfrm>
            <a:off x="7650163" y="2471738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54B1A89E-E898-4040-8C86-25CF69E63B62}" type="datetime'''''''''''''''''''''''''''''3'''''''',9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3,9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7" name="Прямоугольник 116">
            <a:extLst>
              <a:ext uri="{FF2B5EF4-FFF2-40B4-BE49-F238E27FC236}">
                <a16:creationId xmlns:a16="http://schemas.microsoft.com/office/drawing/2014/main" id="{DDA19E67-C52D-5AF6-E6AD-05776E2BC5B3}"/>
              </a:ext>
            </a:extLst>
          </p:cNvPr>
          <p:cNvSpPr/>
          <p:nvPr>
            <p:custDataLst>
              <p:tags r:id="rId23"/>
            </p:custDataLst>
          </p:nvPr>
        </p:nvSpPr>
        <p:spPr bwMode="gray">
          <a:xfrm>
            <a:off x="7607300" y="2786063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4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643B683E-EF24-4C31-BFE6-D6E7D20E5961}" type="datetime'''''''''''''''''1''''''''''0'''''',''''''''''''5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10,5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8" name="Прямоугольник 117">
            <a:extLst>
              <a:ext uri="{FF2B5EF4-FFF2-40B4-BE49-F238E27FC236}">
                <a16:creationId xmlns:a16="http://schemas.microsoft.com/office/drawing/2014/main" id="{1F079E78-A4F4-E859-6C01-8A51AE7A86CF}"/>
              </a:ext>
            </a:extLst>
          </p:cNvPr>
          <p:cNvSpPr/>
          <p:nvPr>
            <p:custDataLst>
              <p:tags r:id="rId24"/>
            </p:custDataLst>
          </p:nvPr>
        </p:nvSpPr>
        <p:spPr bwMode="gray">
          <a:xfrm>
            <a:off x="7607300" y="3678238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AF187030-9A14-480E-B677-5D60EE76C806}" type="datetime'''''''''3''''''''''''''''''0'''',''''''''''''5''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30,5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52" name="Прямоугольник 151">
            <a:extLst>
              <a:ext uri="{FF2B5EF4-FFF2-40B4-BE49-F238E27FC236}">
                <a16:creationId xmlns:a16="http://schemas.microsoft.com/office/drawing/2014/main" id="{5D80E6BA-F74B-8DC6-FC93-266F7539FBE0}"/>
              </a:ext>
            </a:extLst>
          </p:cNvPr>
          <p:cNvSpPr/>
          <p:nvPr>
            <p:custDataLst>
              <p:tags r:id="rId25"/>
            </p:custDataLst>
          </p:nvPr>
        </p:nvSpPr>
        <p:spPr bwMode="gray">
          <a:xfrm>
            <a:off x="2324100" y="3473450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E2AAB312-B8B3-495B-9DC1-0D51B14D0403}" type="datetime'''''''''''''''''1''''''7'''''''',''3'''''''''''''''''''''">
              <a:rPr lang="ru-RU" sz="1200" b="1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17,3</a:t>
            </a:fld>
            <a:endParaRPr lang="ru-RU" sz="1200" b="1">
              <a:solidFill>
                <a:schemeClr val="tx1"/>
              </a:solidFill>
            </a:endParaRPr>
          </a:p>
        </p:txBody>
      </p:sp>
      <p:sp>
        <p:nvSpPr>
          <p:cNvPr id="82" name="Прямоугольник 81">
            <a:extLst>
              <a:ext uri="{FF2B5EF4-FFF2-40B4-BE49-F238E27FC236}">
                <a16:creationId xmlns:a16="http://schemas.microsoft.com/office/drawing/2014/main" id="{9774F003-A8F7-30E8-DCC7-6FF1DB509686}"/>
              </a:ext>
            </a:extLst>
          </p:cNvPr>
          <p:cNvSpPr/>
          <p:nvPr>
            <p:custDataLst>
              <p:tags r:id="rId26"/>
            </p:custDataLst>
          </p:nvPr>
        </p:nvSpPr>
        <p:spPr bwMode="gray">
          <a:xfrm>
            <a:off x="3644900" y="3221038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D27C4BF-7C88-4DC0-8E9D-2092A97321F2}" type="datetime'''''''''''''''''23,''''3'''''''''''''''">
              <a:rPr lang="ru-RU" sz="1200" b="1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23,3</a:t>
            </a:fld>
            <a:endParaRPr lang="ru-RU" sz="1200" b="1">
              <a:solidFill>
                <a:schemeClr val="tx1"/>
              </a:solidFill>
            </a:endParaRPr>
          </a:p>
        </p:txBody>
      </p:sp>
      <p:sp>
        <p:nvSpPr>
          <p:cNvPr id="90" name="Прямоугольник 89">
            <a:extLst>
              <a:ext uri="{FF2B5EF4-FFF2-40B4-BE49-F238E27FC236}">
                <a16:creationId xmlns:a16="http://schemas.microsoft.com/office/drawing/2014/main" id="{301CAE5D-539B-179C-04CA-1135E61C498B}"/>
              </a:ext>
            </a:extLst>
          </p:cNvPr>
          <p:cNvSpPr/>
          <p:nvPr>
            <p:custDataLst>
              <p:tags r:id="rId27"/>
            </p:custDataLst>
          </p:nvPr>
        </p:nvSpPr>
        <p:spPr bwMode="gray">
          <a:xfrm>
            <a:off x="4965700" y="2860675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65FA89C5-E9E3-4EE8-A435-6B879000AA60}" type="datetime'''''''''''''''3''''''1'''''''''''''',''''''''6'''">
              <a:rPr lang="ru-RU" sz="1200" b="1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31,6</a:t>
            </a:fld>
            <a:endParaRPr lang="ru-RU" sz="1200" b="1">
              <a:solidFill>
                <a:schemeClr val="tx1"/>
              </a:solidFill>
            </a:endParaRPr>
          </a:p>
        </p:txBody>
      </p:sp>
      <p:sp>
        <p:nvSpPr>
          <p:cNvPr id="91" name="Прямоугольник 90">
            <a:extLst>
              <a:ext uri="{FF2B5EF4-FFF2-40B4-BE49-F238E27FC236}">
                <a16:creationId xmlns:a16="http://schemas.microsoft.com/office/drawing/2014/main" id="{D8AD940B-3D0F-7F61-4D93-C9C70D5AB69C}"/>
              </a:ext>
            </a:extLst>
          </p:cNvPr>
          <p:cNvSpPr/>
          <p:nvPr>
            <p:custDataLst>
              <p:tags r:id="rId28"/>
            </p:custDataLst>
          </p:nvPr>
        </p:nvSpPr>
        <p:spPr bwMode="gray">
          <a:xfrm>
            <a:off x="6286500" y="2339975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AA3166AA-8725-48B0-A71B-B8A970E4821B}" type="datetime'''''''''''''''''''43'''',''''''''''''5'''''">
              <a:rPr lang="ru-RU" sz="1200" b="1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43,5</a:t>
            </a:fld>
            <a:endParaRPr lang="ru-RU" sz="1200" b="1">
              <a:solidFill>
                <a:schemeClr val="tx1"/>
              </a:solidFill>
            </a:endParaRPr>
          </a:p>
        </p:txBody>
      </p:sp>
      <p:sp>
        <p:nvSpPr>
          <p:cNvPr id="92" name="Прямоугольник 91">
            <a:extLst>
              <a:ext uri="{FF2B5EF4-FFF2-40B4-BE49-F238E27FC236}">
                <a16:creationId xmlns:a16="http://schemas.microsoft.com/office/drawing/2014/main" id="{7A670A87-C218-1521-EABE-D057C909CE00}"/>
              </a:ext>
            </a:extLst>
          </p:cNvPr>
          <p:cNvSpPr/>
          <p:nvPr>
            <p:custDataLst>
              <p:tags r:id="rId29"/>
            </p:custDataLst>
          </p:nvPr>
        </p:nvSpPr>
        <p:spPr bwMode="gray">
          <a:xfrm>
            <a:off x="7607300" y="1576388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696B2E34-DDF8-4EF1-9824-19002BE197CA}" type="datetime'''''''''''''''''''6''''''''''''1'',''0'''''''''''''">
              <a:rPr lang="ru-RU" sz="1200" b="1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61,0</a:t>
            </a:fld>
            <a:endParaRPr lang="ru-RU" sz="1200" b="1">
              <a:solidFill>
                <a:schemeClr val="tx1"/>
              </a:solidFill>
            </a:endParaRPr>
          </a:p>
        </p:txBody>
      </p:sp>
      <p:sp>
        <p:nvSpPr>
          <p:cNvPr id="155" name="Прямоугольник 154">
            <a:extLst>
              <a:ext uri="{FF2B5EF4-FFF2-40B4-BE49-F238E27FC236}">
                <a16:creationId xmlns:a16="http://schemas.microsoft.com/office/drawing/2014/main" id="{E2F64644-8C8C-DB30-6532-D46C2E9ADA98}"/>
              </a:ext>
            </a:extLst>
          </p:cNvPr>
          <p:cNvSpPr/>
          <p:nvPr>
            <p:custDataLst>
              <p:tags r:id="rId30"/>
            </p:custDataLst>
          </p:nvPr>
        </p:nvSpPr>
        <p:spPr bwMode="gray">
          <a:xfrm>
            <a:off x="2235200" y="3913188"/>
            <a:ext cx="255588" cy="165100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56DC2988-567E-4ACE-8AD6-8675A76AD7FB}" type="datetime'''''''''''''''''''''2'',''''''''''''''''''''5'''''''''''''''">
              <a:rPr lang="ru-RU" sz="1200" smtClean="0">
                <a:solidFill>
                  <a:schemeClr val="tx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2,5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215" name="Прямоугольник 214">
            <a:extLst>
              <a:ext uri="{FF2B5EF4-FFF2-40B4-BE49-F238E27FC236}">
                <a16:creationId xmlns:a16="http://schemas.microsoft.com/office/drawing/2014/main" id="{7E96CAE1-F0CE-8871-B5B4-577F1D73ECB6}"/>
              </a:ext>
            </a:extLst>
          </p:cNvPr>
          <p:cNvSpPr/>
          <p:nvPr>
            <p:custDataLst>
              <p:tags r:id="rId31"/>
            </p:custDataLst>
          </p:nvPr>
        </p:nvSpPr>
        <p:spPr bwMode="auto">
          <a:xfrm>
            <a:off x="425450" y="1549400"/>
            <a:ext cx="214313" cy="160338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6" name="Прямоугольник 215">
            <a:extLst>
              <a:ext uri="{FF2B5EF4-FFF2-40B4-BE49-F238E27FC236}">
                <a16:creationId xmlns:a16="http://schemas.microsoft.com/office/drawing/2014/main" id="{6D6BDB5B-DEFF-3162-9E83-F386AA82E682}"/>
              </a:ext>
            </a:extLst>
          </p:cNvPr>
          <p:cNvSpPr/>
          <p:nvPr>
            <p:custDataLst>
              <p:tags r:id="rId32"/>
            </p:custDataLst>
          </p:nvPr>
        </p:nvSpPr>
        <p:spPr bwMode="auto">
          <a:xfrm>
            <a:off x="425450" y="1782763"/>
            <a:ext cx="214313" cy="160338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7" name="Прямоугольник 216">
            <a:extLst>
              <a:ext uri="{FF2B5EF4-FFF2-40B4-BE49-F238E27FC236}">
                <a16:creationId xmlns:a16="http://schemas.microsoft.com/office/drawing/2014/main" id="{6B5AC6D9-3D69-ED82-FB1B-310FA603358B}"/>
              </a:ext>
            </a:extLst>
          </p:cNvPr>
          <p:cNvSpPr/>
          <p:nvPr>
            <p:custDataLst>
              <p:tags r:id="rId33"/>
            </p:custDataLst>
          </p:nvPr>
        </p:nvSpPr>
        <p:spPr bwMode="auto">
          <a:xfrm>
            <a:off x="425450" y="2016125"/>
            <a:ext cx="214313" cy="160338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8" name="Прямоугольник 217">
            <a:extLst>
              <a:ext uri="{FF2B5EF4-FFF2-40B4-BE49-F238E27FC236}">
                <a16:creationId xmlns:a16="http://schemas.microsoft.com/office/drawing/2014/main" id="{C6F6F94E-7BB8-36DD-39EE-3C9FE1BEE39E}"/>
              </a:ext>
            </a:extLst>
          </p:cNvPr>
          <p:cNvSpPr/>
          <p:nvPr>
            <p:custDataLst>
              <p:tags r:id="rId34"/>
            </p:custDataLst>
          </p:nvPr>
        </p:nvSpPr>
        <p:spPr bwMode="auto">
          <a:xfrm>
            <a:off x="425450" y="2249488"/>
            <a:ext cx="214313" cy="160338"/>
          </a:xfrm>
          <a:prstGeom prst="rect">
            <a:avLst/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9" name="Прямоугольник 218">
            <a:extLst>
              <a:ext uri="{FF2B5EF4-FFF2-40B4-BE49-F238E27FC236}">
                <a16:creationId xmlns:a16="http://schemas.microsoft.com/office/drawing/2014/main" id="{4BECD3BA-B8AB-3779-3BD8-63FF494BC0F5}"/>
              </a:ext>
            </a:extLst>
          </p:cNvPr>
          <p:cNvSpPr/>
          <p:nvPr>
            <p:custDataLst>
              <p:tags r:id="rId35"/>
            </p:custDataLst>
          </p:nvPr>
        </p:nvSpPr>
        <p:spPr bwMode="auto">
          <a:xfrm>
            <a:off x="425450" y="2482850"/>
            <a:ext cx="214313" cy="160338"/>
          </a:xfrm>
          <a:prstGeom prst="rect">
            <a:avLst/>
          </a:prstGeom>
          <a:solidFill>
            <a:schemeClr val="accent5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9" name="Прямоугольник 88">
            <a:extLst>
              <a:ext uri="{FF2B5EF4-FFF2-40B4-BE49-F238E27FC236}">
                <a16:creationId xmlns:a16="http://schemas.microsoft.com/office/drawing/2014/main" id="{04DDE5D5-F312-EDF3-631B-D357B0D21CB9}"/>
              </a:ext>
            </a:extLst>
          </p:cNvPr>
          <p:cNvSpPr/>
          <p:nvPr>
            <p:custDataLst>
              <p:tags r:id="rId36"/>
            </p:custDataLst>
          </p:nvPr>
        </p:nvSpPr>
        <p:spPr bwMode="auto">
          <a:xfrm>
            <a:off x="690563" y="2478088"/>
            <a:ext cx="2741613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C533AACF-591A-4C4E-A8AA-EBBA888ACD06}" type="datetime'Квота'''' в''''н''''утренних зака''зчиков (марко''м'''''''')'">
              <a:rPr lang="ru-RU" sz="1200" smtClean="0">
                <a:solidFill>
                  <a:schemeClr val="tx1"/>
                </a:solidFill>
              </a:rPr>
              <a:pPr/>
              <a:t>Квота внутренних заказчиков (марком)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88" name="Прямоугольник 87">
            <a:extLst>
              <a:ext uri="{FF2B5EF4-FFF2-40B4-BE49-F238E27FC236}">
                <a16:creationId xmlns:a16="http://schemas.microsoft.com/office/drawing/2014/main" id="{6DB81C1F-DF1B-AE09-6D06-4B4BF9198BD6}"/>
              </a:ext>
            </a:extLst>
          </p:cNvPr>
          <p:cNvSpPr/>
          <p:nvPr>
            <p:custDataLst>
              <p:tags r:id="rId37"/>
            </p:custDataLst>
          </p:nvPr>
        </p:nvSpPr>
        <p:spPr bwMode="auto">
          <a:xfrm>
            <a:off x="690563" y="2244725"/>
            <a:ext cx="3055938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B47CE905-D730-492D-A851-454BBABBD888}" type="datetime'Эфф''''ект ''роста эффе''ктивно''сти платфор''м''''ы'''">
              <a:rPr lang="ru-RU" sz="1200" smtClean="0">
                <a:solidFill>
                  <a:schemeClr val="tx1"/>
                </a:solidFill>
              </a:rPr>
              <a:pPr/>
              <a:t>Эффект роста эффективности платформы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79" name="Прямоугольник 78">
            <a:extLst>
              <a:ext uri="{FF2B5EF4-FFF2-40B4-BE49-F238E27FC236}">
                <a16:creationId xmlns:a16="http://schemas.microsoft.com/office/drawing/2014/main" id="{AA5D9B71-4077-46E6-C9EC-7AF4EF13A08F}"/>
              </a:ext>
            </a:extLst>
          </p:cNvPr>
          <p:cNvSpPr/>
          <p:nvPr>
            <p:custDataLst>
              <p:tags r:id="rId38"/>
            </p:custDataLst>
          </p:nvPr>
        </p:nvSpPr>
        <p:spPr bwMode="auto">
          <a:xfrm>
            <a:off x="690563" y="2011363"/>
            <a:ext cx="246062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DE6733FF-CC56-401F-9B4E-71ABF7507AEE}" type="datetime'''''In-''store - база ''(''от ''па''рка ''устр''ойств)'''''''">
              <a:rPr lang="ru-RU" sz="1200" smtClean="0">
                <a:solidFill>
                  <a:schemeClr val="tx1"/>
                </a:solidFill>
              </a:rPr>
              <a:pPr/>
              <a:t>In-store - база (от парка устройств)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78" name="Прямоугольник 77">
            <a:extLst>
              <a:ext uri="{FF2B5EF4-FFF2-40B4-BE49-F238E27FC236}">
                <a16:creationId xmlns:a16="http://schemas.microsoft.com/office/drawing/2014/main" id="{427C304C-DB1E-0BAC-1700-E5C8D3605D96}"/>
              </a:ext>
            </a:extLst>
          </p:cNvPr>
          <p:cNvSpPr/>
          <p:nvPr>
            <p:custDataLst>
              <p:tags r:id="rId39"/>
            </p:custDataLst>
          </p:nvPr>
        </p:nvSpPr>
        <p:spPr bwMode="auto">
          <a:xfrm>
            <a:off x="690563" y="1778000"/>
            <a:ext cx="158432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1F11B19B-EF2B-4CFF-9F62-C42C81467A52}" type="datetime'М''''''''''ед''''''''и''а'' - ''ба''за ''''(от'' ''D''''AC)'">
              <a:rPr lang="ru-RU" sz="1200" smtClean="0">
                <a:solidFill>
                  <a:schemeClr val="tx1"/>
                </a:solidFill>
              </a:rPr>
              <a:pPr/>
              <a:t>Медиа - база (от DAC)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77" name="Прямоугольник 76">
            <a:extLst>
              <a:ext uri="{FF2B5EF4-FFF2-40B4-BE49-F238E27FC236}">
                <a16:creationId xmlns:a16="http://schemas.microsoft.com/office/drawing/2014/main" id="{E100D17F-939D-1B39-B1FC-F97AB4BA4575}"/>
              </a:ext>
            </a:extLst>
          </p:cNvPr>
          <p:cNvSpPr/>
          <p:nvPr>
            <p:custDataLst>
              <p:tags r:id="rId40"/>
            </p:custDataLst>
          </p:nvPr>
        </p:nvSpPr>
        <p:spPr bwMode="auto">
          <a:xfrm>
            <a:off x="690563" y="1544638"/>
            <a:ext cx="2509838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BDCF8F2A-87D5-4B2F-89AD-28D1043E5521}" type="datetime'Пе''''''рформ''а''''''нс ''-'' база (от on''l''''in''e ''GMV)'">
              <a:rPr lang="ru-RU" sz="1200" smtClean="0">
                <a:solidFill>
                  <a:schemeClr val="tx1"/>
                </a:solidFill>
              </a:rPr>
              <a:pPr/>
              <a:t>Перформанс - база (от online GMV)</a:t>
            </a:fld>
            <a:endParaRPr lang="ru-RU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66907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" name="think-cell data - do not delete" hidden="1">
            <a:extLst>
              <a:ext uri="{FF2B5EF4-FFF2-40B4-BE49-F238E27FC236}">
                <a16:creationId xmlns:a16="http://schemas.microsoft.com/office/drawing/2014/main" id="{29DD0553-C2CC-A7E6-DEF8-10513300D24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4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9DD0553-C2CC-A7E6-DEF8-10513300D24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>
          <a:xfrm>
            <a:off x="1619251" y="6238124"/>
            <a:ext cx="7220712" cy="391275"/>
          </a:xfrm>
        </p:spPr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>
                <a:solidFill>
                  <a:srgbClr val="6E6E6E"/>
                </a:solidFill>
              </a:rPr>
              <a:t>Источники: Ads Market Calc (внутренняя оценка рынка), WPP Media через Sostav (2025), Авито Реклама и Soloway (сентябрь 2026), НРА, внутреннее исследование Magnit ADS. Гипотезы — экспертная оценка Magnit ADS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16</a:t>
            </a:fld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FMCG-</a:t>
            </a:r>
            <a:r>
              <a:rPr lang="ru-RU"/>
              <a:t>бюджеты</a:t>
            </a:r>
            <a:r>
              <a:rPr lang="ru-RU"/>
              <a:t> </a:t>
            </a:r>
            <a:r>
              <a:rPr lang="ru-RU"/>
              <a:t>смещаются к транзакции: у места покупки растет роль перформанса, в начале пути — охватных медиа</a:t>
            </a:r>
            <a:endParaRPr lang="ru-RU"/>
          </a:p>
        </p:txBody>
      </p:sp>
      <p:sp>
        <p:nvSpPr>
          <p:cNvPr id="5" name="ADS label 5"/>
          <p:cNvSpPr txBox="1"/>
          <p:nvPr/>
        </p:nvSpPr>
        <p:spPr>
          <a:xfrm>
            <a:off x="365760" y="1024128"/>
            <a:ext cx="114300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Путь покупателя и инструменты FMCG-маркетинга</a:t>
            </a:r>
            <a:endParaRPr lang="ru-RU" sz="1200"/>
          </a:p>
        </p:txBody>
      </p:sp>
      <p:sp>
        <p:nvSpPr>
          <p:cNvPr id="6" name="ADS chip 6"/>
          <p:cNvSpPr/>
          <p:nvPr/>
        </p:nvSpPr>
        <p:spPr>
          <a:xfrm>
            <a:off x="365760" y="1280160"/>
            <a:ext cx="2782062" cy="713232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7" name="ADS chiptxt 7"/>
          <p:cNvSpPr txBox="1"/>
          <p:nvPr/>
        </p:nvSpPr>
        <p:spPr>
          <a:xfrm>
            <a:off x="457200" y="1325880"/>
            <a:ext cx="2599182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Знание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ТВ, OOH и DOOH, OLV, инфлюенсеры</a:t>
            </a:r>
            <a:endParaRPr lang="ru-RU" sz="1200"/>
          </a:p>
        </p:txBody>
      </p:sp>
      <p:sp>
        <p:nvSpPr>
          <p:cNvPr id="8" name="ADS chip 8"/>
          <p:cNvSpPr/>
          <p:nvPr/>
        </p:nvSpPr>
        <p:spPr>
          <a:xfrm>
            <a:off x="3257550" y="1280160"/>
            <a:ext cx="2782062" cy="713232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9" name="ADS chiptxt 9"/>
          <p:cNvSpPr txBox="1"/>
          <p:nvPr/>
        </p:nvSpPr>
        <p:spPr>
          <a:xfrm>
            <a:off x="3348990" y="1325880"/>
            <a:ext cx="2599182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Интерес и рассмотрение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соцсети и UGC, персонализированные медиа в приложении</a:t>
            </a:r>
            <a:endParaRPr lang="ru-RU" sz="1200"/>
          </a:p>
        </p:txBody>
      </p:sp>
      <p:sp>
        <p:nvSpPr>
          <p:cNvPr id="10" name="ADS chip 10"/>
          <p:cNvSpPr/>
          <p:nvPr/>
        </p:nvSpPr>
        <p:spPr>
          <a:xfrm>
            <a:off x="6149340" y="1280160"/>
            <a:ext cx="2782062" cy="713232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1" name="ADS chiptxt 11"/>
          <p:cNvSpPr txBox="1"/>
          <p:nvPr/>
        </p:nvSpPr>
        <p:spPr>
          <a:xfrm>
            <a:off x="6240780" y="1325880"/>
            <a:ext cx="2599182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Решение о покупке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in-store у полки, ИИ-рекомендации, медиа в приложении ритейлера</a:t>
            </a:r>
            <a:endParaRPr lang="ru-RU" sz="1200"/>
          </a:p>
        </p:txBody>
      </p:sp>
      <p:sp>
        <p:nvSpPr>
          <p:cNvPr id="12" name="ADS chip 12"/>
          <p:cNvSpPr/>
          <p:nvPr/>
        </p:nvSpPr>
        <p:spPr>
          <a:xfrm>
            <a:off x="9041130" y="1280160"/>
            <a:ext cx="2782062" cy="713232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3" name="ADS chiptxt 13"/>
          <p:cNvSpPr txBox="1"/>
          <p:nvPr/>
        </p:nvSpPr>
        <p:spPr>
          <a:xfrm>
            <a:off x="9132570" y="1325880"/>
            <a:ext cx="2599182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Покупка и повтор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продвижение в поиске и рекомендациях, кэшбэк баллами М+</a:t>
            </a:r>
            <a:endParaRPr lang="ru-RU" sz="1200"/>
          </a:p>
        </p:txBody>
      </p:sp>
      <p:sp>
        <p:nvSpPr>
          <p:cNvPr id="14" name="Freeform 13"/>
          <p:cNvSpPr/>
          <p:nvPr/>
        </p:nvSpPr>
        <p:spPr>
          <a:xfrm>
            <a:off x="365760" y="2121408"/>
            <a:ext cx="11457432" cy="457200"/>
          </a:xfrm>
          <a:custGeom>
            <a:avLst/>
            <a:gdLst/>
            <a:ahLst/>
            <a:cxnLst/>
            <a:rect l="l" t="t" r="r" b="b"/>
            <a:pathLst>
              <a:path w="11457432" h="457200">
                <a:moveTo>
                  <a:pt x="0" y="0"/>
                </a:moveTo>
                <a:lnTo>
                  <a:pt x="11457432" y="0"/>
                </a:lnTo>
                <a:lnTo>
                  <a:pt x="11457432" y="73152"/>
                </a:lnTo>
                <a:lnTo>
                  <a:pt x="0" y="457200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Freeform 14"/>
          <p:cNvSpPr/>
          <p:nvPr/>
        </p:nvSpPr>
        <p:spPr>
          <a:xfrm>
            <a:off x="365760" y="2615184"/>
            <a:ext cx="11457432" cy="457200"/>
          </a:xfrm>
          <a:custGeom>
            <a:avLst/>
            <a:gdLst/>
            <a:ahLst/>
            <a:cxnLst/>
            <a:rect l="l" t="t" r="r" b="b"/>
            <a:pathLst>
              <a:path w="11457432" h="457200">
                <a:moveTo>
                  <a:pt x="0" y="384048"/>
                </a:moveTo>
                <a:lnTo>
                  <a:pt x="11457432" y="0"/>
                </a:lnTo>
                <a:lnTo>
                  <a:pt x="11457432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FF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ADS label 16"/>
          <p:cNvSpPr txBox="1"/>
          <p:nvPr/>
        </p:nvSpPr>
        <p:spPr>
          <a:xfrm>
            <a:off x="457200" y="2157984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Охватные медиа: знание и интерес</a:t>
            </a:r>
            <a:endParaRPr lang="ru-RU" sz="1200"/>
          </a:p>
        </p:txBody>
      </p:sp>
      <p:sp>
        <p:nvSpPr>
          <p:cNvPr id="17" name="ADS label 17"/>
          <p:cNvSpPr txBox="1"/>
          <p:nvPr/>
        </p:nvSpPr>
        <p:spPr>
          <a:xfrm>
            <a:off x="6309360" y="2798064"/>
            <a:ext cx="53949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FFFF"/>
                </a:solidFill>
                <a:latin typeface="Arial"/>
                <a:cs typeface="Arial"/>
              </a:rPr>
              <a:t>Перформанс: конверсия у полки и в приложении</a:t>
            </a:r>
            <a:endParaRPr lang="ru-RU" sz="1200"/>
          </a:p>
        </p:txBody>
      </p:sp>
      <p:sp>
        <p:nvSpPr>
          <p:cNvPr id="18" name="ADS chip 18"/>
          <p:cNvSpPr/>
          <p:nvPr/>
        </p:nvSpPr>
        <p:spPr>
          <a:xfrm>
            <a:off x="365760" y="3200400"/>
            <a:ext cx="5673852" cy="566928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9" name="ADS chiptxt 19"/>
          <p:cNvSpPr txBox="1"/>
          <p:nvPr/>
        </p:nvSpPr>
        <p:spPr>
          <a:xfrm>
            <a:off x="457200" y="3246120"/>
            <a:ext cx="5490972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Бренд-бюджеты ~60-80 млрд руб. в год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ТВ, OOH, digital — выходим через RMN и ЮЛ Магнит Маркета</a:t>
            </a:r>
            <a:endParaRPr lang="ru-RU" sz="1200"/>
          </a:p>
        </p:txBody>
      </p:sp>
      <p:sp>
        <p:nvSpPr>
          <p:cNvPr id="20" name="ADS pink 20"/>
          <p:cNvSpPr/>
          <p:nvPr/>
        </p:nvSpPr>
        <p:spPr>
          <a:xfrm>
            <a:off x="6149340" y="3200400"/>
            <a:ext cx="5673852" cy="56692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1" name="ADS pinktxt 21"/>
          <p:cNvSpPr txBox="1"/>
          <p:nvPr/>
        </p:nvSpPr>
        <p:spPr>
          <a:xfrm>
            <a:off x="6240780" y="3246120"/>
            <a:ext cx="5490972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FF452C"/>
                </a:solidFill>
                <a:latin typeface="Arial"/>
                <a:cs typeface="Arial"/>
              </a:rPr>
              <a:t>Трейд-бюджеты ~120-140 млрд руб. в год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в рамках коммерческих условий — у транзакции, через Коммерцию форматов</a:t>
            </a:r>
            <a:endParaRPr lang="ru-RU" sz="1200"/>
          </a:p>
        </p:txBody>
      </p:sp>
      <p:sp>
        <p:nvSpPr>
          <p:cNvPr id="22" name="ADS line 22"/>
          <p:cNvSpPr/>
          <p:nvPr/>
        </p:nvSpPr>
        <p:spPr>
          <a:xfrm>
            <a:off x="365760" y="3904487"/>
            <a:ext cx="114574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3" name="ADS label 23"/>
          <p:cNvSpPr txBox="1"/>
          <p:nvPr/>
        </p:nvSpPr>
        <p:spPr>
          <a:xfrm>
            <a:off x="365760" y="3977639"/>
            <a:ext cx="114300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Гипотезы и что их подтверждает</a:t>
            </a:r>
            <a:endParaRPr lang="ru-RU" sz="1200"/>
          </a:p>
        </p:txBody>
      </p:sp>
      <p:sp>
        <p:nvSpPr>
          <p:cNvPr id="24" name="ADS card 24"/>
          <p:cNvSpPr/>
          <p:nvPr/>
        </p:nvSpPr>
        <p:spPr>
          <a:xfrm>
            <a:off x="365760" y="4242816"/>
            <a:ext cx="375920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5" name="ADS head 25"/>
          <p:cNvSpPr txBox="1"/>
          <p:nvPr/>
        </p:nvSpPr>
        <p:spPr>
          <a:xfrm>
            <a:off x="530351" y="4334256"/>
            <a:ext cx="3314397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FF452C"/>
                </a:solidFill>
                <a:latin typeface="Arial"/>
                <a:cs typeface="Arial"/>
              </a:rPr>
              <a:t>Гипотеза 1</a:t>
            </a:r>
            <a:endParaRPr lang="ru-RU" sz="1200"/>
          </a:p>
        </p:txBody>
      </p:sp>
      <p:sp>
        <p:nvSpPr>
          <p:cNvPr id="26" name="ADS thesis 26"/>
          <p:cNvSpPr txBox="1"/>
          <p:nvPr/>
        </p:nvSpPr>
        <p:spPr>
          <a:xfrm>
            <a:off x="530351" y="4608576"/>
            <a:ext cx="3314397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Бюджеты идут туда, где виден эффект в продажах</a:t>
            </a:r>
            <a:endParaRPr lang="ru-RU" sz="1200"/>
          </a:p>
        </p:txBody>
      </p:sp>
      <p:sp>
        <p:nvSpPr>
          <p:cNvPr id="27" name="ADS line 27"/>
          <p:cNvSpPr/>
          <p:nvPr/>
        </p:nvSpPr>
        <p:spPr>
          <a:xfrm>
            <a:off x="530351" y="5219700"/>
            <a:ext cx="3314397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8" name="ADS label 28"/>
          <p:cNvSpPr txBox="1"/>
          <p:nvPr/>
        </p:nvSpPr>
        <p:spPr>
          <a:xfrm>
            <a:off x="530351" y="5292852"/>
            <a:ext cx="3314397" cy="8961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Доля retail media в рекламном рынке РФ — </a:t>
            </a: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19%</a:t>
            </a: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 в 2023 г. и </a:t>
            </a: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42%</a:t>
            </a: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 в 2027 г.; в мире commerce media обогнала ТВ — </a:t>
            </a: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15,6%</a:t>
            </a: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 рынка в 2025 г.</a:t>
            </a:r>
            <a:endParaRPr lang="ru-RU" sz="1200"/>
          </a:p>
        </p:txBody>
      </p:sp>
      <p:sp>
        <p:nvSpPr>
          <p:cNvPr id="29" name="ADS card 29"/>
          <p:cNvSpPr/>
          <p:nvPr/>
        </p:nvSpPr>
        <p:spPr>
          <a:xfrm>
            <a:off x="4216400" y="4242816"/>
            <a:ext cx="375920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0" name="ADS head 30"/>
          <p:cNvSpPr txBox="1"/>
          <p:nvPr/>
        </p:nvSpPr>
        <p:spPr>
          <a:xfrm>
            <a:off x="4380991" y="4334256"/>
            <a:ext cx="3314397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FF452C"/>
                </a:solidFill>
                <a:latin typeface="Arial"/>
                <a:cs typeface="Arial"/>
              </a:rPr>
              <a:t>Гипотеза 2</a:t>
            </a:r>
            <a:endParaRPr lang="ru-RU" sz="1200"/>
          </a:p>
        </p:txBody>
      </p:sp>
      <p:sp>
        <p:nvSpPr>
          <p:cNvPr id="31" name="ADS thesis 31"/>
          <p:cNvSpPr txBox="1"/>
          <p:nvPr/>
        </p:nvSpPr>
        <p:spPr>
          <a:xfrm>
            <a:off x="4380991" y="4608576"/>
            <a:ext cx="3314397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Решение о покупке все чаще принимается в точке продаж</a:t>
            </a:r>
            <a:endParaRPr lang="ru-RU" sz="1200"/>
          </a:p>
        </p:txBody>
      </p:sp>
      <p:sp>
        <p:nvSpPr>
          <p:cNvPr id="32" name="ADS line 32"/>
          <p:cNvSpPr/>
          <p:nvPr/>
        </p:nvSpPr>
        <p:spPr>
          <a:xfrm>
            <a:off x="4380991" y="5219700"/>
            <a:ext cx="3314397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3" name="ADS label 33"/>
          <p:cNvSpPr txBox="1"/>
          <p:nvPr/>
        </p:nvSpPr>
        <p:spPr>
          <a:xfrm>
            <a:off x="4380991" y="5292852"/>
            <a:ext cx="3314397" cy="8961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Каждый четвертый</a:t>
            </a: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 покупатель узнает о новинке FMCG уже в магазине, </a:t>
            </a: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13%</a:t>
            </a: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 впервые видят ее на полке</a:t>
            </a:r>
            <a:endParaRPr lang="ru-RU" sz="1200"/>
          </a:p>
        </p:txBody>
      </p:sp>
      <p:sp>
        <p:nvSpPr>
          <p:cNvPr id="34" name="ADS card 34"/>
          <p:cNvSpPr/>
          <p:nvPr/>
        </p:nvSpPr>
        <p:spPr>
          <a:xfrm>
            <a:off x="8063992" y="4242816"/>
            <a:ext cx="375920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5" name="ADS head 35"/>
          <p:cNvSpPr txBox="1"/>
          <p:nvPr/>
        </p:nvSpPr>
        <p:spPr>
          <a:xfrm>
            <a:off x="8228583" y="4334256"/>
            <a:ext cx="3314397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FF452C"/>
                </a:solidFill>
                <a:latin typeface="Arial"/>
                <a:cs typeface="Arial"/>
              </a:rPr>
              <a:t>Гипотеза 3</a:t>
            </a:r>
            <a:endParaRPr lang="ru-RU" sz="1200"/>
          </a:p>
        </p:txBody>
      </p:sp>
      <p:sp>
        <p:nvSpPr>
          <p:cNvPr id="36" name="ADS thesis 36"/>
          <p:cNvSpPr txBox="1"/>
          <p:nvPr/>
        </p:nvSpPr>
        <p:spPr>
          <a:xfrm>
            <a:off x="8228583" y="4608576"/>
            <a:ext cx="3314397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Медиаинфляция удорожает охват и требует доказательств</a:t>
            </a:r>
            <a:endParaRPr lang="ru-RU" sz="1200"/>
          </a:p>
        </p:txBody>
      </p:sp>
      <p:sp>
        <p:nvSpPr>
          <p:cNvPr id="37" name="ADS line 37"/>
          <p:cNvSpPr/>
          <p:nvPr/>
        </p:nvSpPr>
        <p:spPr>
          <a:xfrm>
            <a:off x="8228583" y="5219700"/>
            <a:ext cx="3314397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8" name="ADS label 38"/>
          <p:cNvSpPr txBox="1"/>
          <p:nvPr/>
        </p:nvSpPr>
        <p:spPr>
          <a:xfrm>
            <a:off x="8228583" y="5292852"/>
            <a:ext cx="3314397" cy="8961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ТВ дорожает в среднем на </a:t>
            </a: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28%</a:t>
            </a: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 в 2026 г., медиаинфляция — </a:t>
            </a: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20%+</a:t>
            </a: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: охватным бюджетам нужна измеримая альтернатива</a:t>
            </a:r>
            <a:endParaRPr lang="ru-RU" sz="1200"/>
          </a:p>
        </p:txBody>
      </p:sp>
    </p:spTree>
    <p:extLst>
      <p:ext uri="{BB962C8B-B14F-4D97-AF65-F5344CB8AC3E}">
        <p14:creationId xmlns:p14="http://schemas.microsoft.com/office/powerpoint/2010/main" val="4134075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>
                <a:solidFill>
                  <a:srgbClr val="6E6E6E"/>
                </a:solidFill>
              </a:rPr>
              <a:t>Источник: анализ</a:t>
            </a:r>
            <a:r>
              <a:rPr lang="en-US">
                <a:solidFill>
                  <a:srgbClr val="6E6E6E"/>
                </a:solidFill>
              </a:rPr>
              <a:t> Magnit ADS; KPI — </a:t>
            </a:r>
            <a:r>
              <a:rPr lang="ru-RU">
                <a:solidFill>
                  <a:srgbClr val="6E6E6E"/>
                </a:solidFill>
              </a:rPr>
              <a:t>ключевые метрики, по которым рекламодатель оценивает канал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17</a:t>
            </a:fld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Матрица каналов по воронке</a:t>
            </a:r>
            <a:r>
              <a:rPr lang="en-US"/>
              <a:t>: Magnit ADS </a:t>
            </a:r>
            <a:r>
              <a:rPr lang="ru-RU"/>
              <a:t>закрывает путь </a:t>
            </a:r>
            <a:br>
              <a:rPr lang="en-US" dirty="0"/>
            </a:br>
            <a:r>
              <a:rPr lang="ru-RU"/>
              <a:t>покупателя от охвата до транзакции на 360°</a:t>
            </a:r>
            <a:endParaRPr lang="ru-RU" baseline="30000"/>
          </a:p>
        </p:txBody>
      </p:sp>
      <p:sp>
        <p:nvSpPr>
          <p:cNvPr id="5" name="ADS label 5"/>
          <p:cNvSpPr txBox="1"/>
          <p:nvPr/>
        </p:nvSpPr>
        <p:spPr>
          <a:xfrm>
            <a:off x="365760" y="1051560"/>
            <a:ext cx="4114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Канал</a:t>
            </a:r>
            <a:endParaRPr lang="ru-RU" sz="1200"/>
          </a:p>
        </p:txBody>
      </p:sp>
      <p:sp>
        <p:nvSpPr>
          <p:cNvPr id="6" name="ADS label 6"/>
          <p:cNvSpPr txBox="1"/>
          <p:nvPr/>
        </p:nvSpPr>
        <p:spPr>
          <a:xfrm>
            <a:off x="4709160" y="1051560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Задача в воронке</a:t>
            </a:r>
            <a:endParaRPr lang="ru-RU" sz="1200"/>
          </a:p>
        </p:txBody>
      </p:sp>
      <p:sp>
        <p:nvSpPr>
          <p:cNvPr id="7" name="ADS label 7"/>
          <p:cNvSpPr txBox="1"/>
          <p:nvPr/>
        </p:nvSpPr>
        <p:spPr>
          <a:xfrm>
            <a:off x="6675120" y="1051560"/>
            <a:ext cx="27889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Инвентарь Magnit ADS</a:t>
            </a:r>
            <a:endParaRPr lang="ru-RU" sz="1200"/>
          </a:p>
        </p:txBody>
      </p:sp>
      <p:sp>
        <p:nvSpPr>
          <p:cNvPr id="8" name="ADS label 8"/>
          <p:cNvSpPr txBox="1"/>
          <p:nvPr/>
        </p:nvSpPr>
        <p:spPr>
          <a:xfrm>
            <a:off x="9601200" y="1051560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Модель оплаты и KPI</a:t>
            </a:r>
            <a:endParaRPr lang="ru-RU" sz="1200"/>
          </a:p>
        </p:txBody>
      </p:sp>
      <p:sp>
        <p:nvSpPr>
          <p:cNvPr id="9" name="ADS label 9"/>
          <p:cNvSpPr txBox="1"/>
          <p:nvPr/>
        </p:nvSpPr>
        <p:spPr>
          <a:xfrm>
            <a:off x="11155680" y="1051560"/>
            <a:ext cx="66751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Бюджет</a:t>
            </a:r>
            <a:endParaRPr lang="ru-RU" sz="1200"/>
          </a:p>
        </p:txBody>
      </p:sp>
      <p:sp>
        <p:nvSpPr>
          <p:cNvPr id="10" name="ADS line 10"/>
          <p:cNvSpPr/>
          <p:nvPr/>
        </p:nvSpPr>
        <p:spPr>
          <a:xfrm>
            <a:off x="4709160" y="129844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1" name="Freeform 10"/>
          <p:cNvSpPr/>
          <p:nvPr/>
        </p:nvSpPr>
        <p:spPr>
          <a:xfrm>
            <a:off x="365759" y="1371600"/>
            <a:ext cx="4114801" cy="676655"/>
          </a:xfrm>
          <a:custGeom>
            <a:avLst/>
            <a:gdLst/>
            <a:ahLst/>
            <a:cxnLst/>
            <a:rect l="l" t="t" r="r" b="b"/>
            <a:pathLst>
              <a:path w="4114801" h="676655">
                <a:moveTo>
                  <a:pt x="0" y="0"/>
                </a:moveTo>
                <a:lnTo>
                  <a:pt x="4114801" y="0"/>
                </a:lnTo>
                <a:lnTo>
                  <a:pt x="3901440" y="676655"/>
                </a:lnTo>
                <a:lnTo>
                  <a:pt x="213361" y="676655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ADS chiptxt 12"/>
          <p:cNvSpPr txBox="1"/>
          <p:nvPr/>
        </p:nvSpPr>
        <p:spPr>
          <a:xfrm>
            <a:off x="624840" y="1408176"/>
            <a:ext cx="359664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solidFill>
                  <a:srgbClr val="000000"/>
                </a:solidFill>
                <a:latin typeface="Arial"/>
                <a:cs typeface="Arial"/>
              </a:rPr>
              <a:t>OOH / TV</a:t>
            </a:r>
            <a:endParaRPr lang="en-US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>
                <a:solidFill>
                  <a:srgbClr val="404040"/>
                </a:solidFill>
                <a:latin typeface="Arial"/>
                <a:cs typeface="Arial"/>
              </a:rPr>
              <a:t>охват и знание</a:t>
            </a:r>
            <a:endParaRPr lang="ru-RU" sz="1200"/>
          </a:p>
        </p:txBody>
      </p:sp>
      <p:sp>
        <p:nvSpPr>
          <p:cNvPr id="13" name="ADS label 13"/>
          <p:cNvSpPr txBox="1"/>
          <p:nvPr/>
        </p:nvSpPr>
        <p:spPr>
          <a:xfrm>
            <a:off x="4709160" y="137160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Знание бренда и широкий охват</a:t>
            </a:r>
            <a:endParaRPr lang="ru-RU" sz="1200"/>
          </a:p>
        </p:txBody>
      </p:sp>
      <p:sp>
        <p:nvSpPr>
          <p:cNvPr id="14" name="ADS label 14"/>
          <p:cNvSpPr txBox="1"/>
          <p:nvPr/>
        </p:nvSpPr>
        <p:spPr>
          <a:xfrm>
            <a:off x="6675120" y="137160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RMN: DOOH и внешние охватные площадки через ЮЛ Магнит Маркета, фасадные экраны</a:t>
            </a:r>
            <a:endParaRPr lang="ru-RU" sz="1200"/>
          </a:p>
        </p:txBody>
      </p:sp>
      <p:sp>
        <p:nvSpPr>
          <p:cNvPr id="15" name="ADS label 15"/>
          <p:cNvSpPr txBox="1"/>
          <p:nvPr/>
        </p:nvSpPr>
        <p:spPr>
          <a:xfrm>
            <a:off x="9601200" y="137160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CPM; охват, brand lift</a:t>
            </a:r>
            <a:endParaRPr lang="ru-RU" sz="1200"/>
          </a:p>
        </p:txBody>
      </p:sp>
      <p:sp>
        <p:nvSpPr>
          <p:cNvPr id="16" name="ADS label 16"/>
          <p:cNvSpPr txBox="1"/>
          <p:nvPr/>
        </p:nvSpPr>
        <p:spPr>
          <a:xfrm>
            <a:off x="11155680" y="137160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Бренд</a:t>
            </a:r>
            <a:endParaRPr lang="ru-RU" sz="1200"/>
          </a:p>
        </p:txBody>
      </p:sp>
      <p:sp>
        <p:nvSpPr>
          <p:cNvPr id="17" name="ADS line 17"/>
          <p:cNvSpPr/>
          <p:nvPr/>
        </p:nvSpPr>
        <p:spPr>
          <a:xfrm>
            <a:off x="4709160" y="207568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8" name="Freeform 17"/>
          <p:cNvSpPr/>
          <p:nvPr/>
        </p:nvSpPr>
        <p:spPr>
          <a:xfrm>
            <a:off x="579120" y="2103120"/>
            <a:ext cx="3688079" cy="676655"/>
          </a:xfrm>
          <a:custGeom>
            <a:avLst/>
            <a:gdLst/>
            <a:ahLst/>
            <a:cxnLst/>
            <a:rect l="l" t="t" r="r" b="b"/>
            <a:pathLst>
              <a:path w="3688079" h="676655">
                <a:moveTo>
                  <a:pt x="0" y="0"/>
                </a:moveTo>
                <a:lnTo>
                  <a:pt x="3688079" y="0"/>
                </a:lnTo>
                <a:lnTo>
                  <a:pt x="3474720" y="676655"/>
                </a:lnTo>
                <a:lnTo>
                  <a:pt x="213359" y="676655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ADS chiptxt 19"/>
          <p:cNvSpPr txBox="1"/>
          <p:nvPr/>
        </p:nvSpPr>
        <p:spPr>
          <a:xfrm>
            <a:off x="838199" y="2139696"/>
            <a:ext cx="316992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In-store классический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>
                <a:solidFill>
                  <a:srgbClr val="404040"/>
                </a:solidFill>
                <a:latin typeface="Arial"/>
                <a:cs typeface="Arial"/>
              </a:rPr>
              <a:t>экраны, радио, КСО</a:t>
            </a:r>
            <a:endParaRPr lang="ru-RU" sz="1200"/>
          </a:p>
        </p:txBody>
      </p:sp>
      <p:sp>
        <p:nvSpPr>
          <p:cNvPr id="20" name="ADS label 20"/>
          <p:cNvSpPr txBox="1"/>
          <p:nvPr/>
        </p:nvSpPr>
        <p:spPr>
          <a:xfrm>
            <a:off x="4709160" y="210312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Напоминание в магазине, охват офлайн-трафика</a:t>
            </a:r>
            <a:endParaRPr lang="ru-RU" sz="1200"/>
          </a:p>
        </p:txBody>
      </p:sp>
      <p:sp>
        <p:nvSpPr>
          <p:cNvPr id="21" name="ADS label 21"/>
          <p:cNvSpPr txBox="1"/>
          <p:nvPr/>
        </p:nvSpPr>
        <p:spPr>
          <a:xfrm>
            <a:off x="6675120" y="210312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ТВ-панели, радио, КСО, дисплеи покупателя — 81 тыс. устройств в 2027 г.</a:t>
            </a:r>
            <a:endParaRPr lang="ru-RU" sz="1200"/>
          </a:p>
        </p:txBody>
      </p:sp>
      <p:sp>
        <p:nvSpPr>
          <p:cNvPr id="22" name="ADS label 22"/>
          <p:cNvSpPr txBox="1"/>
          <p:nvPr/>
        </p:nvSpPr>
        <p:spPr>
          <a:xfrm>
            <a:off x="9601200" y="210312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CPM, пакеты; OTS</a:t>
            </a:r>
            <a:endParaRPr lang="ru-RU" sz="1200"/>
          </a:p>
        </p:txBody>
      </p:sp>
      <p:sp>
        <p:nvSpPr>
          <p:cNvPr id="23" name="ADS label 23"/>
          <p:cNvSpPr txBox="1"/>
          <p:nvPr/>
        </p:nvSpPr>
        <p:spPr>
          <a:xfrm>
            <a:off x="11155680" y="210312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Трейд, бренд</a:t>
            </a:r>
            <a:endParaRPr lang="ru-RU" sz="1200"/>
          </a:p>
        </p:txBody>
      </p:sp>
      <p:sp>
        <p:nvSpPr>
          <p:cNvPr id="24" name="ADS line 24"/>
          <p:cNvSpPr/>
          <p:nvPr/>
        </p:nvSpPr>
        <p:spPr>
          <a:xfrm>
            <a:off x="4709160" y="280720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5" name="Freeform 24"/>
          <p:cNvSpPr/>
          <p:nvPr/>
        </p:nvSpPr>
        <p:spPr>
          <a:xfrm>
            <a:off x="792479" y="2834640"/>
            <a:ext cx="3261361" cy="676656"/>
          </a:xfrm>
          <a:custGeom>
            <a:avLst/>
            <a:gdLst/>
            <a:ahLst/>
            <a:cxnLst/>
            <a:rect l="l" t="t" r="r" b="b"/>
            <a:pathLst>
              <a:path w="3261361" h="676656">
                <a:moveTo>
                  <a:pt x="0" y="0"/>
                </a:moveTo>
                <a:lnTo>
                  <a:pt x="3261361" y="0"/>
                </a:lnTo>
                <a:lnTo>
                  <a:pt x="3048001" y="676656"/>
                </a:lnTo>
                <a:lnTo>
                  <a:pt x="213360" y="676656"/>
                </a:lnTo>
                <a:close/>
              </a:path>
            </a:pathLst>
          </a:custGeom>
          <a:solidFill>
            <a:srgbClr val="FFC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ADS chiptxt 26"/>
          <p:cNvSpPr txBox="1"/>
          <p:nvPr/>
        </p:nvSpPr>
        <p:spPr>
          <a:xfrm>
            <a:off x="1051559" y="2871216"/>
            <a:ext cx="274320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In-store у полки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>
                <a:solidFill>
                  <a:srgbClr val="404040"/>
                </a:solidFill>
                <a:latin typeface="Arial"/>
                <a:cs typeface="Arial"/>
              </a:rPr>
              <a:t>шелф-баннеры, РИМ</a:t>
            </a:r>
            <a:endParaRPr lang="ru-RU" sz="1200"/>
          </a:p>
        </p:txBody>
      </p:sp>
      <p:sp>
        <p:nvSpPr>
          <p:cNvPr id="27" name="ADS label 27"/>
          <p:cNvSpPr txBox="1"/>
          <p:nvPr/>
        </p:nvSpPr>
        <p:spPr>
          <a:xfrm>
            <a:off x="4709160" y="283464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Переключение в момент выбора</a:t>
            </a:r>
            <a:endParaRPr lang="ru-RU" sz="1200"/>
          </a:p>
        </p:txBody>
      </p:sp>
      <p:sp>
        <p:nvSpPr>
          <p:cNvPr id="28" name="ADS label 28"/>
          <p:cNvSpPr txBox="1"/>
          <p:nvPr/>
        </p:nvSpPr>
        <p:spPr>
          <a:xfrm>
            <a:off x="6675120" y="283464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Шелф-баннеры, прайсчекеры, РИМ; аукцион за место на полке</a:t>
            </a:r>
            <a:endParaRPr lang="ru-RU" sz="1200"/>
          </a:p>
        </p:txBody>
      </p:sp>
      <p:sp>
        <p:nvSpPr>
          <p:cNvPr id="29" name="ADS label 29"/>
          <p:cNvSpPr txBox="1"/>
          <p:nvPr/>
        </p:nvSpPr>
        <p:spPr>
          <a:xfrm>
            <a:off x="9601200" y="283464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Пакеты, CPM; sales lift</a:t>
            </a:r>
            <a:endParaRPr lang="ru-RU" sz="1200"/>
          </a:p>
        </p:txBody>
      </p:sp>
      <p:sp>
        <p:nvSpPr>
          <p:cNvPr id="30" name="ADS label 30"/>
          <p:cNvSpPr txBox="1"/>
          <p:nvPr/>
        </p:nvSpPr>
        <p:spPr>
          <a:xfrm>
            <a:off x="11155680" y="283464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Трейд</a:t>
            </a:r>
            <a:endParaRPr lang="ru-RU" sz="1200"/>
          </a:p>
        </p:txBody>
      </p:sp>
      <p:sp>
        <p:nvSpPr>
          <p:cNvPr id="31" name="ADS line 31"/>
          <p:cNvSpPr/>
          <p:nvPr/>
        </p:nvSpPr>
        <p:spPr>
          <a:xfrm>
            <a:off x="4709160" y="353872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2" name="Freeform 31"/>
          <p:cNvSpPr/>
          <p:nvPr/>
        </p:nvSpPr>
        <p:spPr>
          <a:xfrm>
            <a:off x="1005839" y="3566160"/>
            <a:ext cx="2834641" cy="676656"/>
          </a:xfrm>
          <a:custGeom>
            <a:avLst/>
            <a:gdLst/>
            <a:ahLst/>
            <a:cxnLst/>
            <a:rect l="l" t="t" r="r" b="b"/>
            <a:pathLst>
              <a:path w="2834641" h="676656">
                <a:moveTo>
                  <a:pt x="0" y="0"/>
                </a:moveTo>
                <a:lnTo>
                  <a:pt x="2834641" y="0"/>
                </a:lnTo>
                <a:lnTo>
                  <a:pt x="2621281" y="676656"/>
                </a:lnTo>
                <a:lnTo>
                  <a:pt x="213360" y="676656"/>
                </a:lnTo>
                <a:close/>
              </a:path>
            </a:pathLst>
          </a:custGeom>
          <a:solidFill>
            <a:srgbClr val="F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ADS chiptxt 33"/>
          <p:cNvSpPr txBox="1"/>
          <p:nvPr/>
        </p:nvSpPr>
        <p:spPr>
          <a:xfrm>
            <a:off x="1264919" y="3602736"/>
            <a:ext cx="231648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Персонализированные медиа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>
                <a:solidFill>
                  <a:srgbClr val="404040"/>
                </a:solidFill>
                <a:latin typeface="Arial"/>
                <a:cs typeface="Arial"/>
              </a:rPr>
              <a:t>соцсети и медиа в приложении</a:t>
            </a:r>
            <a:endParaRPr lang="ru-RU" sz="1200"/>
          </a:p>
        </p:txBody>
      </p:sp>
      <p:sp>
        <p:nvSpPr>
          <p:cNvPr id="34" name="ADS label 34"/>
          <p:cNvSpPr txBox="1"/>
          <p:nvPr/>
        </p:nvSpPr>
        <p:spPr>
          <a:xfrm>
            <a:off x="4709160" y="356616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Интерес и рассмотрение по сегментам</a:t>
            </a:r>
            <a:endParaRPr lang="ru-RU" sz="1200"/>
          </a:p>
        </p:txBody>
      </p:sp>
      <p:sp>
        <p:nvSpPr>
          <p:cNvPr id="35" name="ADS label 35"/>
          <p:cNvSpPr txBox="1"/>
          <p:nvPr/>
        </p:nvSpPr>
        <p:spPr>
          <a:xfrm>
            <a:off x="6675120" y="356616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Content factory и соцсети, баннеры и сторис в приложении, сегменты DMP</a:t>
            </a:r>
            <a:endParaRPr lang="ru-RU" sz="1200"/>
          </a:p>
        </p:txBody>
      </p:sp>
      <p:sp>
        <p:nvSpPr>
          <p:cNvPr id="36" name="ADS label 36"/>
          <p:cNvSpPr txBox="1"/>
          <p:nvPr/>
        </p:nvSpPr>
        <p:spPr>
          <a:xfrm>
            <a:off x="9601200" y="356616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CPM, CPV; CTR, охват сегмента</a:t>
            </a:r>
            <a:endParaRPr lang="ru-RU" sz="1200"/>
          </a:p>
        </p:txBody>
      </p:sp>
      <p:sp>
        <p:nvSpPr>
          <p:cNvPr id="37" name="ADS label 37"/>
          <p:cNvSpPr txBox="1"/>
          <p:nvPr/>
        </p:nvSpPr>
        <p:spPr>
          <a:xfrm>
            <a:off x="11155680" y="356616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Бренд, трейд</a:t>
            </a:r>
            <a:endParaRPr lang="ru-RU" sz="1200"/>
          </a:p>
        </p:txBody>
      </p:sp>
      <p:sp>
        <p:nvSpPr>
          <p:cNvPr id="38" name="ADS line 38"/>
          <p:cNvSpPr/>
          <p:nvPr/>
        </p:nvSpPr>
        <p:spPr>
          <a:xfrm>
            <a:off x="4709160" y="427024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9" name="Freeform 38"/>
          <p:cNvSpPr/>
          <p:nvPr/>
        </p:nvSpPr>
        <p:spPr>
          <a:xfrm>
            <a:off x="1219199" y="4297680"/>
            <a:ext cx="2407921" cy="676656"/>
          </a:xfrm>
          <a:custGeom>
            <a:avLst/>
            <a:gdLst/>
            <a:ahLst/>
            <a:cxnLst/>
            <a:rect l="l" t="t" r="r" b="b"/>
            <a:pathLst>
              <a:path w="2407921" h="676656">
                <a:moveTo>
                  <a:pt x="0" y="0"/>
                </a:moveTo>
                <a:lnTo>
                  <a:pt x="2407921" y="0"/>
                </a:lnTo>
                <a:lnTo>
                  <a:pt x="2194561" y="676656"/>
                </a:lnTo>
                <a:lnTo>
                  <a:pt x="213361" y="676656"/>
                </a:lnTo>
                <a:close/>
              </a:path>
            </a:pathLst>
          </a:custGeom>
          <a:solidFill>
            <a:srgbClr val="FF7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ADS chiptxt 40"/>
          <p:cNvSpPr txBox="1"/>
          <p:nvPr/>
        </p:nvSpPr>
        <p:spPr>
          <a:xfrm>
            <a:off x="1478280" y="4334256"/>
            <a:ext cx="1889759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FFFFFF"/>
                </a:solidFill>
                <a:latin typeface="Arial"/>
                <a:cs typeface="Arial"/>
              </a:rPr>
              <a:t>ИИ-рекомендации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>
                <a:solidFill>
                  <a:srgbClr val="FFFFFF"/>
                </a:solidFill>
                <a:latin typeface="Arial"/>
                <a:cs typeface="Arial"/>
              </a:rPr>
              <a:t>подбор под контекст покупателя</a:t>
            </a:r>
            <a:endParaRPr lang="ru-RU" sz="1200"/>
          </a:p>
        </p:txBody>
      </p:sp>
      <p:sp>
        <p:nvSpPr>
          <p:cNvPr id="41" name="ADS label 41"/>
          <p:cNvSpPr txBox="1"/>
          <p:nvPr/>
        </p:nvSpPr>
        <p:spPr>
          <a:xfrm>
            <a:off x="4709160" y="429768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Подбор товара под задачу покупателя</a:t>
            </a:r>
            <a:endParaRPr lang="ru-RU" sz="1200"/>
          </a:p>
        </p:txBody>
      </p:sp>
      <p:sp>
        <p:nvSpPr>
          <p:cNvPr id="42" name="ADS label 42"/>
          <p:cNvSpPr txBox="1"/>
          <p:nvPr/>
        </p:nvSpPr>
        <p:spPr>
          <a:xfrm>
            <a:off x="6675120" y="429768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Рекомендательные блоки, ИИ-ассистент, триггеры и контекст покупки</a:t>
            </a:r>
            <a:endParaRPr lang="ru-RU" sz="1200"/>
          </a:p>
        </p:txBody>
      </p:sp>
      <p:sp>
        <p:nvSpPr>
          <p:cNvPr id="43" name="ADS label 43"/>
          <p:cNvSpPr txBox="1"/>
          <p:nvPr/>
        </p:nvSpPr>
        <p:spPr>
          <a:xfrm>
            <a:off x="9601200" y="429768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CPC, CPA; конверсия</a:t>
            </a:r>
            <a:endParaRPr lang="ru-RU" sz="1200"/>
          </a:p>
        </p:txBody>
      </p:sp>
      <p:sp>
        <p:nvSpPr>
          <p:cNvPr id="44" name="ADS label 44"/>
          <p:cNvSpPr txBox="1"/>
          <p:nvPr/>
        </p:nvSpPr>
        <p:spPr>
          <a:xfrm>
            <a:off x="11155680" y="429768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Трейд</a:t>
            </a:r>
            <a:endParaRPr lang="ru-RU" sz="1200"/>
          </a:p>
        </p:txBody>
      </p:sp>
      <p:sp>
        <p:nvSpPr>
          <p:cNvPr id="45" name="ADS line 45"/>
          <p:cNvSpPr/>
          <p:nvPr/>
        </p:nvSpPr>
        <p:spPr>
          <a:xfrm>
            <a:off x="4709160" y="500176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46" name="Freeform 45"/>
          <p:cNvSpPr/>
          <p:nvPr/>
        </p:nvSpPr>
        <p:spPr>
          <a:xfrm>
            <a:off x="1432560" y="5029200"/>
            <a:ext cx="1981200" cy="676656"/>
          </a:xfrm>
          <a:custGeom>
            <a:avLst/>
            <a:gdLst/>
            <a:ahLst/>
            <a:cxnLst/>
            <a:rect l="l" t="t" r="r" b="b"/>
            <a:pathLst>
              <a:path w="1981200" h="676656">
                <a:moveTo>
                  <a:pt x="0" y="0"/>
                </a:moveTo>
                <a:lnTo>
                  <a:pt x="1981200" y="0"/>
                </a:lnTo>
                <a:lnTo>
                  <a:pt x="1767840" y="676656"/>
                </a:lnTo>
                <a:lnTo>
                  <a:pt x="213359" y="676656"/>
                </a:lnTo>
                <a:close/>
              </a:path>
            </a:pathLst>
          </a:custGeom>
          <a:solidFill>
            <a:srgbClr val="FF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ADS chiptxt 47"/>
          <p:cNvSpPr txBox="1"/>
          <p:nvPr/>
        </p:nvSpPr>
        <p:spPr>
          <a:xfrm>
            <a:off x="1691639" y="5065776"/>
            <a:ext cx="146304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solidFill>
                  <a:srgbClr val="FFFFFF"/>
                </a:solidFill>
                <a:latin typeface="Arial"/>
                <a:cs typeface="Arial"/>
              </a:rPr>
              <a:t>Performance</a:t>
            </a:r>
            <a:endParaRPr lang="en-US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>
                <a:solidFill>
                  <a:srgbClr val="FFFFFF"/>
                </a:solidFill>
                <a:latin typeface="Arial"/>
                <a:cs typeface="Arial"/>
              </a:rPr>
              <a:t>поиск и рекомендации</a:t>
            </a:r>
            <a:endParaRPr lang="ru-RU" sz="1200"/>
          </a:p>
        </p:txBody>
      </p:sp>
      <p:sp>
        <p:nvSpPr>
          <p:cNvPr id="48" name="ADS label 48"/>
          <p:cNvSpPr txBox="1"/>
          <p:nvPr/>
        </p:nvSpPr>
        <p:spPr>
          <a:xfrm>
            <a:off x="4709160" y="502920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Покупка здесь и сейчас</a:t>
            </a:r>
            <a:endParaRPr lang="ru-RU" sz="1200"/>
          </a:p>
        </p:txBody>
      </p:sp>
      <p:sp>
        <p:nvSpPr>
          <p:cNvPr id="49" name="ADS label 49"/>
          <p:cNvSpPr txBox="1"/>
          <p:nvPr/>
        </p:nvSpPr>
        <p:spPr>
          <a:xfrm>
            <a:off x="6675120" y="502920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Продвижение в поиске и рекомендациях, кэшбэк баллами М+</a:t>
            </a:r>
            <a:endParaRPr lang="ru-RU" sz="1200"/>
          </a:p>
        </p:txBody>
      </p:sp>
      <p:sp>
        <p:nvSpPr>
          <p:cNvPr id="50" name="ADS label 50"/>
          <p:cNvSpPr txBox="1"/>
          <p:nvPr/>
        </p:nvSpPr>
        <p:spPr>
          <a:xfrm>
            <a:off x="9601200" y="502920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>
                <a:solidFill>
                  <a:srgbClr val="000000"/>
                </a:solidFill>
                <a:latin typeface="Arial"/>
                <a:cs typeface="Arial"/>
              </a:rPr>
              <a:t>CPC, CPA, CPO; ROAS</a:t>
            </a:r>
            <a:endParaRPr lang="en-US" sz="1200"/>
          </a:p>
        </p:txBody>
      </p:sp>
      <p:sp>
        <p:nvSpPr>
          <p:cNvPr id="51" name="ADS label 51"/>
          <p:cNvSpPr txBox="1"/>
          <p:nvPr/>
        </p:nvSpPr>
        <p:spPr>
          <a:xfrm>
            <a:off x="11155680" y="502920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Трейд</a:t>
            </a:r>
            <a:endParaRPr lang="ru-RU" sz="1200"/>
          </a:p>
        </p:txBody>
      </p:sp>
      <p:sp>
        <p:nvSpPr>
          <p:cNvPr id="52" name="ADS line 52"/>
          <p:cNvSpPr/>
          <p:nvPr/>
        </p:nvSpPr>
        <p:spPr>
          <a:xfrm>
            <a:off x="4709160" y="573328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</p:spTree>
    <p:extLst>
      <p:ext uri="{BB962C8B-B14F-4D97-AF65-F5344CB8AC3E}">
        <p14:creationId xmlns:p14="http://schemas.microsoft.com/office/powerpoint/2010/main" val="37206052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>
          <a:xfrm>
            <a:off x="1619251" y="6238124"/>
            <a:ext cx="9277350" cy="391275"/>
          </a:xfrm>
        </p:spPr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>
                <a:solidFill>
                  <a:srgbClr val="6E6E6E"/>
                </a:solidFill>
              </a:rPr>
              <a:t>Источник: стратегия </a:t>
            </a:r>
            <a:r>
              <a:rPr lang="en-US">
                <a:solidFill>
                  <a:srgbClr val="6E6E6E"/>
                </a:solidFill>
              </a:rPr>
              <a:t>Magnit AdTech 2026-2031 (</a:t>
            </a:r>
            <a:r>
              <a:rPr lang="ru-RU">
                <a:solidFill>
                  <a:srgbClr val="6E6E6E"/>
                </a:solidFill>
              </a:rPr>
              <a:t>потенциал инвентаря М+ и </a:t>
            </a:r>
            <a:r>
              <a:rPr lang="en-US">
                <a:solidFill>
                  <a:srgbClr val="6E6E6E"/>
                </a:solidFill>
              </a:rPr>
              <a:t>DAC </a:t>
            </a:r>
            <a:r>
              <a:rPr lang="ru-RU">
                <a:solidFill>
                  <a:srgbClr val="6E6E6E"/>
                </a:solidFill>
              </a:rPr>
              <a:t>программы лояльности — оценка июня 2026 г.)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</p:spPr>
        <p:txBody>
          <a:bodyPr/>
          <a:lstStyle/>
          <a:p>
            <a:fld id="{527D41D6-7756-D84E-A787-9DAD2BF0F149}" type="slidenum">
              <a:rPr lang="ru-RU" smtClean="0"/>
              <a:pPr/>
              <a:t>18</a:t>
            </a:fld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64176" y="225092"/>
            <a:ext cx="10594970" cy="660733"/>
          </a:xfrm>
        </p:spPr>
        <p:txBody>
          <a:bodyPr/>
          <a:lstStyle/>
          <a:p>
            <a:r>
              <a:rPr lang="ru-RU"/>
              <a:t>М+ как перформанс-инструмент: кэшбэк баллами – </a:t>
            </a:r>
            <a:br>
              <a:rPr lang="en-US" dirty="0"/>
            </a:br>
            <a:r>
              <a:rPr lang="ru-RU"/>
              <a:t>оплата за покупку, а не за показ</a:t>
            </a:r>
          </a:p>
        </p:txBody>
      </p:sp>
      <p:sp>
        <p:nvSpPr>
          <p:cNvPr id="5" name="ADS card 5"/>
          <p:cNvSpPr/>
          <p:nvPr/>
        </p:nvSpPr>
        <p:spPr>
          <a:xfrm>
            <a:off x="365760" y="1024128"/>
            <a:ext cx="7315200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6" name="ADS head 6"/>
          <p:cNvSpPr txBox="1"/>
          <p:nvPr/>
        </p:nvSpPr>
        <p:spPr>
          <a:xfrm>
            <a:off x="548640" y="1152144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FF452C"/>
                </a:solidFill>
                <a:latin typeface="Arial"/>
                <a:cs typeface="Arial"/>
              </a:rPr>
              <a:t>Как работает механика</a:t>
            </a:r>
            <a:endParaRPr lang="ru-RU" sz="1200"/>
          </a:p>
        </p:txBody>
      </p:sp>
      <p:sp>
        <p:nvSpPr>
          <p:cNvPr id="7" name="ADS thesis 7"/>
          <p:cNvSpPr txBox="1"/>
          <p:nvPr/>
        </p:nvSpPr>
        <p:spPr>
          <a:xfrm>
            <a:off x="548640" y="1499616"/>
            <a:ext cx="69494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Поставщик платит за покупку своего товара, а не за показ — это модель перформанса</a:t>
            </a:r>
            <a:endParaRPr lang="ru-RU" sz="1200"/>
          </a:p>
        </p:txBody>
      </p:sp>
      <p:sp>
        <p:nvSpPr>
          <p:cNvPr id="8" name="ADS line 8"/>
          <p:cNvSpPr/>
          <p:nvPr/>
        </p:nvSpPr>
        <p:spPr>
          <a:xfrm>
            <a:off x="548640" y="2011680"/>
            <a:ext cx="694944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9" name="ADS label 9"/>
          <p:cNvSpPr txBox="1"/>
          <p:nvPr/>
        </p:nvSpPr>
        <p:spPr>
          <a:xfrm>
            <a:off x="548640" y="2084832"/>
            <a:ext cx="69494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Путь от бюджета поставщика до повторной покупки</a:t>
            </a:r>
            <a:endParaRPr lang="ru-RU" sz="1200"/>
          </a:p>
        </p:txBody>
      </p:sp>
      <p:sp>
        <p:nvSpPr>
          <p:cNvPr id="10" name="ADS chip 10"/>
          <p:cNvSpPr/>
          <p:nvPr/>
        </p:nvSpPr>
        <p:spPr>
          <a:xfrm>
            <a:off x="548640" y="2340864"/>
            <a:ext cx="1214323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1" name="ADS chiptxt 11"/>
          <p:cNvSpPr txBox="1"/>
          <p:nvPr/>
        </p:nvSpPr>
        <p:spPr>
          <a:xfrm>
            <a:off x="640080" y="2386584"/>
            <a:ext cx="1031443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Бюджет поставщика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повышенный кэшбэк баллами на SKU</a:t>
            </a:r>
            <a:endParaRPr lang="ru-RU" sz="1200"/>
          </a:p>
        </p:txBody>
      </p:sp>
      <p:sp>
        <p:nvSpPr>
          <p:cNvPr id="12" name="ADS arrow 12"/>
          <p:cNvSpPr/>
          <p:nvPr/>
        </p:nvSpPr>
        <p:spPr>
          <a:xfrm rot="5400000">
            <a:off x="1772107" y="2798064"/>
            <a:ext cx="182880" cy="91440"/>
          </a:xfrm>
          <a:prstGeom prst="triangle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3" name="ADS chip 13"/>
          <p:cNvSpPr/>
          <p:nvPr/>
        </p:nvSpPr>
        <p:spPr>
          <a:xfrm>
            <a:off x="1982419" y="2340864"/>
            <a:ext cx="1214323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4" name="ADS chiptxt 14"/>
          <p:cNvSpPr txBox="1"/>
          <p:nvPr/>
        </p:nvSpPr>
        <p:spPr>
          <a:xfrm>
            <a:off x="2073859" y="2386584"/>
            <a:ext cx="1031443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Таргетинг М+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оффер по истории покупок в приложении и чеке</a:t>
            </a:r>
            <a:endParaRPr lang="ru-RU" sz="1200"/>
          </a:p>
        </p:txBody>
      </p:sp>
      <p:sp>
        <p:nvSpPr>
          <p:cNvPr id="15" name="ADS arrow 15"/>
          <p:cNvSpPr/>
          <p:nvPr/>
        </p:nvSpPr>
        <p:spPr>
          <a:xfrm rot="5400000">
            <a:off x="3205886" y="2798064"/>
            <a:ext cx="182880" cy="91440"/>
          </a:xfrm>
          <a:prstGeom prst="triangle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6" name="ADS chip 16"/>
          <p:cNvSpPr/>
          <p:nvPr/>
        </p:nvSpPr>
        <p:spPr>
          <a:xfrm>
            <a:off x="3416198" y="2340864"/>
            <a:ext cx="1214323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7" name="ADS chiptxt 17"/>
          <p:cNvSpPr txBox="1"/>
          <p:nvPr/>
        </p:nvSpPr>
        <p:spPr>
          <a:xfrm>
            <a:off x="3507638" y="2386584"/>
            <a:ext cx="1031443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Покупка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онлайн или в магазине по карте М+</a:t>
            </a:r>
            <a:endParaRPr lang="ru-RU" sz="1200"/>
          </a:p>
        </p:txBody>
      </p:sp>
      <p:sp>
        <p:nvSpPr>
          <p:cNvPr id="18" name="ADS arrow 18"/>
          <p:cNvSpPr/>
          <p:nvPr/>
        </p:nvSpPr>
        <p:spPr>
          <a:xfrm rot="5400000">
            <a:off x="4639665" y="2798064"/>
            <a:ext cx="182880" cy="91440"/>
          </a:xfrm>
          <a:prstGeom prst="triangle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9" name="ADS pink 19"/>
          <p:cNvSpPr/>
          <p:nvPr/>
        </p:nvSpPr>
        <p:spPr>
          <a:xfrm>
            <a:off x="4849977" y="2340864"/>
            <a:ext cx="1214323" cy="1005840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0" name="ADS pinktxt 20"/>
          <p:cNvSpPr txBox="1"/>
          <p:nvPr/>
        </p:nvSpPr>
        <p:spPr>
          <a:xfrm>
            <a:off x="4941417" y="2386584"/>
            <a:ext cx="1031443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FF452C"/>
                </a:solidFill>
                <a:latin typeface="Arial"/>
                <a:cs typeface="Arial"/>
              </a:rPr>
              <a:t>Начисление баллов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только после покупки — оплата за результат</a:t>
            </a:r>
            <a:endParaRPr lang="ru-RU" sz="1200"/>
          </a:p>
        </p:txBody>
      </p:sp>
      <p:sp>
        <p:nvSpPr>
          <p:cNvPr id="21" name="ADS arrow 21"/>
          <p:cNvSpPr/>
          <p:nvPr/>
        </p:nvSpPr>
        <p:spPr>
          <a:xfrm rot="5400000">
            <a:off x="6073444" y="2798064"/>
            <a:ext cx="182880" cy="91440"/>
          </a:xfrm>
          <a:prstGeom prst="triangle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2" name="ADS chip 22"/>
          <p:cNvSpPr/>
          <p:nvPr/>
        </p:nvSpPr>
        <p:spPr>
          <a:xfrm>
            <a:off x="6283756" y="2340864"/>
            <a:ext cx="1214323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3" name="ADS chiptxt 23"/>
          <p:cNvSpPr txBox="1"/>
          <p:nvPr/>
        </p:nvSpPr>
        <p:spPr>
          <a:xfrm>
            <a:off x="6375196" y="2386584"/>
            <a:ext cx="1031443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Списание баллов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покупатель возвращается в Магнит</a:t>
            </a:r>
            <a:endParaRPr lang="ru-RU" sz="1200"/>
          </a:p>
        </p:txBody>
      </p:sp>
      <p:sp>
        <p:nvSpPr>
          <p:cNvPr id="24" name="ADS label 24"/>
          <p:cNvSpPr txBox="1"/>
          <p:nvPr/>
        </p:nvSpPr>
        <p:spPr>
          <a:xfrm>
            <a:off x="548640" y="3511296"/>
            <a:ext cx="69494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Почему это перформанс-инструмент</a:t>
            </a:r>
            <a:endParaRPr lang="ru-RU" sz="1200"/>
          </a:p>
        </p:txBody>
      </p:sp>
      <p:sp>
        <p:nvSpPr>
          <p:cNvPr id="25" name="ADS chip 25"/>
          <p:cNvSpPr/>
          <p:nvPr/>
        </p:nvSpPr>
        <p:spPr>
          <a:xfrm>
            <a:off x="548640" y="3767328"/>
            <a:ext cx="2243328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6" name="ADS chiptxt 26"/>
          <p:cNvSpPr txBox="1"/>
          <p:nvPr/>
        </p:nvSpPr>
        <p:spPr>
          <a:xfrm>
            <a:off x="658368" y="3813048"/>
            <a:ext cx="2023871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Оплата за результат</a:t>
            </a:r>
            <a:endParaRPr lang="ru-RU" sz="120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бюджет расходуется только на фактические покупки SKU — аналог CPA и CPO</a:t>
            </a:r>
            <a:endParaRPr lang="ru-RU" sz="1200"/>
          </a:p>
        </p:txBody>
      </p:sp>
      <p:sp>
        <p:nvSpPr>
          <p:cNvPr id="27" name="ADS chip 27"/>
          <p:cNvSpPr/>
          <p:nvPr/>
        </p:nvSpPr>
        <p:spPr>
          <a:xfrm>
            <a:off x="2901696" y="3767328"/>
            <a:ext cx="2243328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8" name="ADS chiptxt 28"/>
          <p:cNvSpPr txBox="1"/>
          <p:nvPr/>
        </p:nvSpPr>
        <p:spPr>
          <a:xfrm>
            <a:off x="3011424" y="3813048"/>
            <a:ext cx="2023871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Замкнутая аналитика</a:t>
            </a:r>
            <a:endParaRPr lang="ru-RU" sz="120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покупка привязана к ID лояльности: видим инкремент продаж и повтор онлайн и офлайн</a:t>
            </a:r>
            <a:endParaRPr lang="ru-RU" sz="1200"/>
          </a:p>
        </p:txBody>
      </p:sp>
      <p:sp>
        <p:nvSpPr>
          <p:cNvPr id="29" name="ADS chip 29"/>
          <p:cNvSpPr/>
          <p:nvPr/>
        </p:nvSpPr>
        <p:spPr>
          <a:xfrm>
            <a:off x="5254751" y="3767328"/>
            <a:ext cx="2243328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0" name="ADS chiptxt 30"/>
          <p:cNvSpPr txBox="1"/>
          <p:nvPr/>
        </p:nvSpPr>
        <p:spPr>
          <a:xfrm>
            <a:off x="5364480" y="3813048"/>
            <a:ext cx="2023871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Точный таргетинг</a:t>
            </a:r>
            <a:endParaRPr lang="ru-RU" sz="120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сегменты по чекам М+: новые покупатели, отток, кросс-категории</a:t>
            </a:r>
            <a:endParaRPr lang="ru-RU" sz="1200"/>
          </a:p>
        </p:txBody>
      </p:sp>
      <p:sp>
        <p:nvSpPr>
          <p:cNvPr id="31" name="ADS pink 31"/>
          <p:cNvSpPr/>
          <p:nvPr/>
        </p:nvSpPr>
        <p:spPr>
          <a:xfrm>
            <a:off x="548640" y="4901183"/>
            <a:ext cx="6949440" cy="621792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2" name="ADS pinktxt 32"/>
          <p:cNvSpPr txBox="1"/>
          <p:nvPr/>
        </p:nvSpPr>
        <p:spPr>
          <a:xfrm>
            <a:off x="640080" y="4946903"/>
            <a:ext cx="6766559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FF452C"/>
                </a:solidFill>
                <a:latin typeface="Arial"/>
                <a:cs typeface="Arial"/>
              </a:rPr>
              <a:t>Эффект для поставщика — измеримый прирост продаж и новых покупателей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для Магнита — рост трафика и частоты покупок без отдельного рекламного бюджета</a:t>
            </a:r>
            <a:endParaRPr lang="ru-RU" sz="1200"/>
          </a:p>
        </p:txBody>
      </p:sp>
      <p:sp>
        <p:nvSpPr>
          <p:cNvPr id="33" name="ADS card 33"/>
          <p:cNvSpPr/>
          <p:nvPr/>
        </p:nvSpPr>
        <p:spPr>
          <a:xfrm>
            <a:off x="7863840" y="1024128"/>
            <a:ext cx="3959352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4" name="ADS head 34"/>
          <p:cNvSpPr txBox="1"/>
          <p:nvPr/>
        </p:nvSpPr>
        <p:spPr>
          <a:xfrm>
            <a:off x="8046719" y="1152144"/>
            <a:ext cx="359359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FF452C"/>
                </a:solidFill>
                <a:latin typeface="Arial"/>
                <a:cs typeface="Arial"/>
              </a:rPr>
              <a:t>М+ в контуре AdTech</a:t>
            </a:r>
            <a:endParaRPr lang="ru-RU" sz="1200"/>
          </a:p>
        </p:txBody>
      </p:sp>
      <p:sp>
        <p:nvSpPr>
          <p:cNvPr id="35" name="ADS thesis 35"/>
          <p:cNvSpPr txBox="1"/>
          <p:nvPr/>
        </p:nvSpPr>
        <p:spPr>
          <a:xfrm>
            <a:off x="8046719" y="1499616"/>
            <a:ext cx="359359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Монетизацию М+ ведет общий sales force AdTech</a:t>
            </a:r>
            <a:endParaRPr lang="ru-RU" sz="1200"/>
          </a:p>
        </p:txBody>
      </p:sp>
      <p:sp>
        <p:nvSpPr>
          <p:cNvPr id="36" name="ADS line 36"/>
          <p:cNvSpPr/>
          <p:nvPr/>
        </p:nvSpPr>
        <p:spPr>
          <a:xfrm>
            <a:off x="8046719" y="2011680"/>
            <a:ext cx="359359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7" name="ADS label 37"/>
          <p:cNvSpPr txBox="1"/>
          <p:nvPr/>
        </p:nvSpPr>
        <p:spPr>
          <a:xfrm>
            <a:off x="8046719" y="2084832"/>
            <a:ext cx="359359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Масштаб</a:t>
            </a:r>
            <a:endParaRPr lang="ru-RU" sz="1200"/>
          </a:p>
        </p:txBody>
      </p:sp>
      <p:sp>
        <p:nvSpPr>
          <p:cNvPr id="38" name="ADS label 38"/>
          <p:cNvSpPr txBox="1"/>
          <p:nvPr/>
        </p:nvSpPr>
        <p:spPr>
          <a:xfrm>
            <a:off x="8046720" y="2340864"/>
            <a:ext cx="359359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>
                <a:solidFill>
                  <a:srgbClr val="FF452C"/>
                </a:solidFill>
                <a:latin typeface="Arial"/>
                <a:cs typeface="Arial"/>
              </a:rPr>
              <a:t>~5,4 млрд руб.</a:t>
            </a:r>
            <a:endParaRPr lang="ru-RU" sz="1200"/>
          </a:p>
        </p:txBody>
      </p:sp>
      <p:sp>
        <p:nvSpPr>
          <p:cNvPr id="39" name="ADS label 39"/>
          <p:cNvSpPr txBox="1"/>
          <p:nvPr/>
        </p:nvSpPr>
        <p:spPr>
          <a:xfrm>
            <a:off x="8046720" y="2724912"/>
            <a:ext cx="3593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потенциал инвентаря М+ (CRM / CVM) в 2027 г.</a:t>
            </a:r>
            <a:endParaRPr lang="ru-RU" sz="1200"/>
          </a:p>
        </p:txBody>
      </p:sp>
      <p:sp>
        <p:nvSpPr>
          <p:cNvPr id="40" name="ADS label 40"/>
          <p:cNvSpPr txBox="1"/>
          <p:nvPr/>
        </p:nvSpPr>
        <p:spPr>
          <a:xfrm>
            <a:off x="8046720" y="3118104"/>
            <a:ext cx="359359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>
                <a:solidFill>
                  <a:srgbClr val="FF452C"/>
                </a:solidFill>
                <a:latin typeface="Arial"/>
                <a:cs typeface="Arial"/>
              </a:rPr>
              <a:t>20-25 млн</a:t>
            </a:r>
            <a:endParaRPr lang="ru-RU" sz="1200"/>
          </a:p>
        </p:txBody>
      </p:sp>
      <p:sp>
        <p:nvSpPr>
          <p:cNvPr id="41" name="ADS label 41"/>
          <p:cNvSpPr txBox="1"/>
          <p:nvPr/>
        </p:nvSpPr>
        <p:spPr>
          <a:xfrm>
            <a:off x="8046720" y="3502152"/>
            <a:ext cx="3593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DAC, которые пользуются программой лояльности</a:t>
            </a:r>
            <a:endParaRPr lang="ru-RU" sz="1200"/>
          </a:p>
        </p:txBody>
      </p:sp>
      <p:sp>
        <p:nvSpPr>
          <p:cNvPr id="42" name="ADS line 42"/>
          <p:cNvSpPr/>
          <p:nvPr/>
        </p:nvSpPr>
        <p:spPr>
          <a:xfrm>
            <a:off x="8046720" y="3968496"/>
            <a:ext cx="359359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43" name="ADS label 43"/>
          <p:cNvSpPr txBox="1"/>
          <p:nvPr/>
        </p:nvSpPr>
        <p:spPr>
          <a:xfrm>
            <a:off x="8046720" y="4041648"/>
            <a:ext cx="359359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Что делаем в 2027 г.</a:t>
            </a:r>
            <a:endParaRPr lang="ru-RU" sz="1200"/>
          </a:p>
        </p:txBody>
      </p:sp>
      <p:sp>
        <p:nvSpPr>
          <p:cNvPr id="44" name="ADS label 44"/>
          <p:cNvSpPr txBox="1"/>
          <p:nvPr/>
        </p:nvSpPr>
        <p:spPr>
          <a:xfrm>
            <a:off x="8046720" y="4315968"/>
            <a:ext cx="3593592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•</a:t>
            </a: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 Реализуем условные бонусы на инвентаре М+ (кроме игр)</a:t>
            </a:r>
            <a:endParaRPr lang="ru-RU" sz="1200"/>
          </a:p>
          <a:p>
            <a:pPr marL="0" indent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•</a:t>
            </a: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 Включаем кэшбэк баллами в перформанс-пакеты вместе с поиском и in-store у полки</a:t>
            </a:r>
            <a:endParaRPr lang="ru-RU" sz="1200"/>
          </a:p>
          <a:p>
            <a:pPr marL="0" indent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•</a:t>
            </a: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 Продаем М+ единым оффером с другим инвентарем — кратный рост выручки г/г</a:t>
            </a:r>
            <a:endParaRPr lang="ru-RU" sz="1200"/>
          </a:p>
        </p:txBody>
      </p:sp>
    </p:spTree>
    <p:extLst>
      <p:ext uri="{BB962C8B-B14F-4D97-AF65-F5344CB8AC3E}">
        <p14:creationId xmlns:p14="http://schemas.microsoft.com/office/powerpoint/2010/main" val="10959492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Источники: отчетность X5 (</a:t>
            </a:r>
            <a:r>
              <a:rPr lang="en-US" sz="900">
                <a:solidFill>
                  <a:srgbClr val="6E6E6E"/>
                </a:solidFill>
              </a:rPr>
              <a:t>AdIndex</a:t>
            </a:r>
            <a:r>
              <a:rPr lang="ru-RU" sz="900">
                <a:solidFill>
                  <a:srgbClr val="6E6E6E"/>
                </a:solidFill>
              </a:rPr>
              <a:t>, </a:t>
            </a:r>
            <a:r>
              <a:rPr lang="en-US" sz="900">
                <a:solidFill>
                  <a:srgbClr val="6E6E6E"/>
                </a:solidFill>
              </a:rPr>
              <a:t>Oborot.ru</a:t>
            </a:r>
            <a:r>
              <a:rPr lang="ru-RU" sz="900">
                <a:solidFill>
                  <a:srgbClr val="6E6E6E"/>
                </a:solidFill>
              </a:rPr>
              <a:t>), дайджест </a:t>
            </a:r>
            <a:r>
              <a:rPr lang="en-US" sz="900">
                <a:solidFill>
                  <a:srgbClr val="6E6E6E"/>
                </a:solidFill>
              </a:rPr>
              <a:t>E</a:t>
            </a:r>
            <a:r>
              <a:rPr lang="ru-RU" sz="900">
                <a:solidFill>
                  <a:srgbClr val="6E6E6E"/>
                </a:solidFill>
              </a:rPr>
              <a:t>-Retail Media АРИР за I кв. 2026, </a:t>
            </a:r>
            <a:r>
              <a:rPr lang="en-US" sz="900">
                <a:solidFill>
                  <a:srgbClr val="6E6E6E"/>
                </a:solidFill>
              </a:rPr>
              <a:t>Sostav</a:t>
            </a:r>
            <a:r>
              <a:rPr lang="ru-RU" sz="900">
                <a:solidFill>
                  <a:srgbClr val="6E6E6E"/>
                </a:solidFill>
              </a:rPr>
              <a:t>, Коммерсантъ, CNews, Data Insight, «</a:t>
            </a:r>
            <a:r>
              <a:rPr lang="ru-RU" sz="900">
                <a:solidFill>
                  <a:srgbClr val="6E6E6E"/>
                </a:solidFill>
              </a:rPr>
              <a:t>Постмаркетинг</a:t>
            </a:r>
            <a:r>
              <a:rPr lang="ru-RU" sz="900">
                <a:solidFill>
                  <a:srgbClr val="6E6E6E"/>
                </a:solidFill>
              </a:rPr>
              <a:t>»; 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19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>
                <a:solidFill>
                  <a:sysClr val="windowText" lastClr="000000"/>
                </a:solidFill>
              </a:rPr>
              <a:t>Retail Media </a:t>
            </a:r>
            <a:r>
              <a:rPr lang="ru-RU">
                <a:solidFill>
                  <a:sysClr val="windowText" lastClr="000000"/>
                </a:solidFill>
              </a:rPr>
              <a:t>находится в фокусе внимания ключевых </a:t>
            </a:r>
            <a:br>
              <a:rPr lang="ru-RU" dirty="0">
                <a:solidFill>
                  <a:sysClr val="windowText" lastClr="000000"/>
                </a:solidFill>
              </a:rPr>
            </a:br>
            <a:r>
              <a:rPr lang="en-US">
                <a:solidFill>
                  <a:sysClr val="windowText" lastClr="000000"/>
                </a:solidFill>
              </a:rPr>
              <a:t>AdTech</a:t>
            </a:r>
            <a:r>
              <a:rPr lang="ru-RU">
                <a:solidFill>
                  <a:sysClr val="windowText" lastClr="000000"/>
                </a:solidFill>
              </a:rPr>
              <a:t>-игроков на рынке РФ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4644015"/>
              </p:ext>
            </p:extLst>
          </p:nvPr>
        </p:nvGraphicFramePr>
        <p:xfrm>
          <a:off x="368299" y="1037230"/>
          <a:ext cx="11459526" cy="5012970"/>
        </p:xfrm>
        <a:graphic>
          <a:graphicData uri="http://schemas.openxmlformats.org/drawingml/2006/table">
            <a:tbl>
              <a:tblPr firstRow="1"/>
              <a:tblGrid>
                <a:gridCol w="1310376">
                  <a:extLst>
                    <a:ext uri="{9D8B030D-6E8A-4147-A177-3AD203B41FA5}">
                      <a16:colId xmlns:a16="http://schemas.microsoft.com/office/drawing/2014/main" val="3053660834"/>
                    </a:ext>
                  </a:extLst>
                </a:gridCol>
                <a:gridCol w="18833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3641">
                  <a:extLst>
                    <a:ext uri="{9D8B030D-6E8A-4147-A177-3AD203B41FA5}">
                      <a16:colId xmlns:a16="http://schemas.microsoft.com/office/drawing/2014/main" val="633549615"/>
                    </a:ext>
                  </a:extLst>
                </a:gridCol>
                <a:gridCol w="60821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0375">
                <a:tc gridSpan="2"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1">
                          <a:solidFill>
                            <a:schemeClr val="tx2"/>
                          </a:solidFill>
                          <a:latin typeface="+mn-lt"/>
                        </a:rPr>
                        <a:t>Отрасль конкурента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ru-RU" sz="1600" b="1">
                        <a:solidFill>
                          <a:schemeClr val="tx2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solidFill>
                            <a:schemeClr val="tx2"/>
                          </a:solidFill>
                          <a:latin typeface="Arial"/>
                        </a:rPr>
                        <a:t>Конкуренты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solidFill>
                            <a:schemeClr val="tx2"/>
                          </a:solidFill>
                          <a:latin typeface="Arial"/>
                        </a:rPr>
                        <a:t>Оценка деятельности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2519">
                <a:tc rowSpan="2"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solidFill>
                            <a:srgbClr val="000000"/>
                          </a:solidFill>
                          <a:latin typeface="Arial"/>
                        </a:rPr>
                        <a:t>Ритейл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solidFill>
                            <a:sysClr val="windowText" lastClr="000000"/>
                          </a:solidFill>
                        </a:rPr>
                        <a:t>Retail Media Brick &amp; Mortar / e-grocery</a:t>
                      </a:r>
                      <a:endParaRPr lang="en-US" sz="1200" b="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X5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kumimoji="0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Сбер (Купер, Самокат)</a:t>
                      </a:r>
                      <a:endParaRPr lang="ru-RU" kumimoji="0" sz="12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solidFill>
                            <a:sysClr val="windowText" lastClr="000000"/>
                          </a:solidFill>
                        </a:rPr>
                        <a:t>Медленно наращивают потенциал </a:t>
                      </a:r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retail media </a:t>
                      </a:r>
                      <a:br>
                        <a:rPr lang="ru-RU" sz="1200" dirty="0">
                          <a:solidFill>
                            <a:sysClr val="windowText" lastClr="000000"/>
                          </a:solidFill>
                        </a:rPr>
                      </a:br>
                      <a:r>
                        <a:rPr lang="ru-RU" sz="1200">
                          <a:solidFill>
                            <a:sysClr val="windowText" lastClr="000000"/>
                          </a:solidFill>
                        </a:rPr>
                        <a:t>и развиваются параллельно с </a:t>
                      </a:r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Magnit ADS</a:t>
                      </a:r>
                      <a:endParaRPr lang="ru-RU" sz="1200" kern="1200">
                        <a:solidFill>
                          <a:srgbClr val="000000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2519">
                <a:tc vMerge="1">
                  <a:txBody>
                    <a:bodyPr/>
                    <a:lstStyle/>
                    <a:p>
                      <a:pPr algn="l"/>
                      <a:endParaRPr lang="ru-RU" sz="1100" b="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solidFill>
                            <a:srgbClr val="000000"/>
                          </a:solidFill>
                          <a:latin typeface="Arial"/>
                        </a:rPr>
                        <a:t>Прочие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Лента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ВкусВилл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Метро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Ашан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Имеют потенциал внедрения 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white-label </a:t>
                      </a: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решения </a:t>
                      </a:r>
                      <a:b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рекламной платформы от Magnit ADS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2519">
                <a:tc rowSpan="3"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solidFill>
                            <a:srgbClr val="000000"/>
                          </a:solidFill>
                          <a:latin typeface="Arial"/>
                        </a:rPr>
                        <a:t> E-com &amp; Digital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solidFill>
                            <a:srgbClr val="000000"/>
                          </a:solidFill>
                          <a:latin typeface="Arial"/>
                        </a:rPr>
                        <a:t>Маркетплейсы</a:t>
                      </a:r>
                      <a:endParaRPr lang="ru-RU" sz="120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Ozon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RWB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Реализовали потенциал рекламной платформы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Развивают 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social commerce</a:t>
                      </a: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:</a:t>
                      </a:r>
                    </a:p>
                    <a:p>
                      <a:pPr marL="628628" lvl="1" indent="-171450" algn="l">
                        <a:buFontTx/>
                        <a:buChar char="-"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Ozon </a:t>
                      </a: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тестирует 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shoppable</a:t>
                      </a: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-механики с 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VK</a:t>
                      </a:r>
                    </a:p>
                    <a:p>
                      <a:pPr marL="628628" lvl="1" indent="-171450" algn="l">
                        <a:buFontTx/>
                        <a:buChar char="-"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WB </a:t>
                      </a: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развивает 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Wibes</a:t>
                      </a:r>
                      <a:endParaRPr lang="ru-RU" sz="120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2519">
                <a:tc vMerge="1">
                  <a:txBody>
                    <a:bodyPr/>
                    <a:lstStyle/>
                    <a:p>
                      <a:pPr algn="l"/>
                      <a:endParaRPr lang="ru-RU" sz="1100" b="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solidFill>
                            <a:srgbClr val="000000"/>
                          </a:solidFill>
                          <a:latin typeface="Arial"/>
                        </a:rPr>
                        <a:t>Традиционный </a:t>
                      </a:r>
                      <a:r>
                        <a:rPr lang="en-US" sz="1200" b="1">
                          <a:solidFill>
                            <a:srgbClr val="000000"/>
                          </a:solidFill>
                          <a:latin typeface="Arial"/>
                        </a:rPr>
                        <a:t>digital</a:t>
                      </a:r>
                      <a:endParaRPr lang="ru-RU" sz="1200" b="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- Яндекс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Сфокусированы на развитии 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retail media </a:t>
                      </a: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посредством подключения 30+ небольших ритейлеров (2025-2026 гг.)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2519">
                <a:tc vMerge="1">
                  <a:txBody>
                    <a:bodyPr/>
                    <a:lstStyle/>
                    <a:p>
                      <a:pPr algn="l"/>
                      <a:endParaRPr lang="ru-RU" sz="1100" b="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 lang="ru-RU" sz="1100" b="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- VK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Развивают 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shoppable</a:t>
                      </a: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-механики (в том числе с 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Magnit ADS)</a:t>
                      </a: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, </a:t>
                      </a:r>
                      <a:b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но имеют проблемы с качеством трафика и их низкой платежеспособностью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42608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Источники: 1. АКАР (I кв. 2026), «Постмаркетинг» (1П 2026), консенсус-прогноз ADPASS, Easy Commerce, Data Insight, АРИР, разъяснения ФАС от 10.03 и 25.03.2026, Sostav, AdIndex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20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Magnit ADS</a:t>
            </a:r>
            <a:r>
              <a:rPr lang="ru-RU"/>
              <a:t> внедряет в операционную практику ключевые тренды рекламного рынка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7284" y="959020"/>
          <a:ext cx="11457432" cy="5121132"/>
        </p:xfrm>
        <a:graphic>
          <a:graphicData uri="http://schemas.openxmlformats.org/drawingml/2006/table">
            <a:tbl>
              <a:tblPr firstRow="1"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6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2583"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solidFill>
                            <a:schemeClr val="tx2"/>
                          </a:solidFill>
                          <a:latin typeface="Arial"/>
                        </a:rPr>
                        <a:t>Тренды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solidFill>
                            <a:schemeClr val="tx2"/>
                          </a:solidFill>
                          <a:latin typeface="Arial"/>
                        </a:rPr>
                        <a:t>Изменения на рынке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solidFill>
                            <a:schemeClr val="tx2"/>
                          </a:solidFill>
                          <a:latin typeface="Arial"/>
                        </a:rPr>
                        <a:t>Инициативы Magnit ADS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092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Оптимизация бюджетов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Топ-150 рекламодателей сократили расходы на 11% в 1П 2026</a:t>
                      </a:r>
                      <a:r>
                        <a:rPr lang="ru-RU" sz="1100" baseline="3000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Новые бюджеты не выделяют, текущие переводят в каналы с доказуемым эффектом</a:t>
                      </a:r>
                      <a:r>
                        <a:rPr lang="ru-RU" sz="1100" baseline="3000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baseline="0">
                          <a:solidFill>
                            <a:srgbClr val="000000"/>
                          </a:solidFill>
                          <a:latin typeface="Arial"/>
                        </a:rPr>
                        <a:t>В рамках бренд-маркетинга все больше требуется демонстрация эффективности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Внедряем: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Кост-эффективные рекламные инструменты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Пост-кампейн аналитику для рекламодателя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Прозрачность рекламных инструментов и их верификация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Демонстрация рынку эффекта от инвестиций в ритейл медиа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Развитие </a:t>
                      </a:r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Retail Media Network</a:t>
                      </a:r>
                      <a:endParaRPr lang="ru-RU" sz="110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0386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Рост проникновения </a:t>
                      </a:r>
                    </a:p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ИИ в </a:t>
                      </a:r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AdTech</a:t>
                      </a:r>
                      <a:endParaRPr lang="ru-RU" sz="1100" b="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Ключевые игроки внедряют ИИ: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В личные рекламные кабинеты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На этапе прогнозирования эффектов от рекламных кампаний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При принятии решений о новых запусках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Запускаем: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ИИ-ассистента в личном кабинете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Авто-стратегии с помощью ИИ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AI-таргетинг аудиторий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Генерацию креативов на платформе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7413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Развитие </a:t>
                      </a:r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social commerce</a:t>
                      </a:r>
                      <a:endParaRPr lang="ru-RU" sz="1100" b="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ysClr val="windowText" lastClr="000000"/>
                          </a:solidFill>
                        </a:rPr>
                        <a:t>Продолжается фундаментальный сдвиг внимания в пользу коротких видео, где также растет привычка покупать из соц. сетей (пример коллаборации </a:t>
                      </a:r>
                      <a:r>
                        <a:rPr lang="en-US" sz="1100">
                          <a:solidFill>
                            <a:sysClr val="windowText" lastClr="000000"/>
                          </a:solidFill>
                        </a:rPr>
                        <a:t>VK &amp; Ozon)</a:t>
                      </a:r>
                      <a:endParaRPr lang="ru-RU" sz="1100">
                        <a:solidFill>
                          <a:sysClr val="windowText" lastClr="000000"/>
                        </a:solidFill>
                      </a:endParaRPr>
                    </a:p>
                    <a:p>
                      <a:pPr marL="171450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ysClr val="windowText" lastClr="000000"/>
                          </a:solidFill>
                        </a:rPr>
                        <a:t>Бренды и платформы строят инициативы для развития механик социальной коммерции в социальных сетях:</a:t>
                      </a:r>
                    </a:p>
                    <a:p>
                      <a:pPr marL="628628" lvl="1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ysClr val="windowText" lastClr="000000"/>
                          </a:solidFill>
                        </a:rPr>
                        <a:t>контент-заводы от брендов</a:t>
                      </a:r>
                    </a:p>
                    <a:p>
                      <a:pPr marL="628628" lvl="1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en-US" sz="1100">
                          <a:solidFill>
                            <a:sysClr val="windowText" lastClr="000000"/>
                          </a:solidFill>
                        </a:rPr>
                        <a:t>shoppable </a:t>
                      </a:r>
                      <a:r>
                        <a:rPr lang="ru-RU" sz="1100">
                          <a:solidFill>
                            <a:sysClr val="windowText" lastClr="000000"/>
                          </a:solidFill>
                        </a:rPr>
                        <a:t>инструменты отечественных соц. сетей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ysClr val="windowText" lastClr="000000"/>
                          </a:solidFill>
                        </a:rPr>
                        <a:t>Фокусируемся на развитии инструментов вокруг </a:t>
                      </a:r>
                      <a:r>
                        <a:rPr lang="en-US" sz="1100">
                          <a:solidFill>
                            <a:sysClr val="windowText" lastClr="000000"/>
                          </a:solidFill>
                        </a:rPr>
                        <a:t>UGC</a:t>
                      </a:r>
                      <a:r>
                        <a:rPr lang="ru-RU" sz="1100">
                          <a:solidFill>
                            <a:sysClr val="windowText" lastClr="000000"/>
                          </a:solidFill>
                        </a:rPr>
                        <a:t>-продвижения, как во внешних соц. сетях, так и в приложении Магнит</a:t>
                      </a:r>
                    </a:p>
                    <a:p>
                      <a:pPr marL="171450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ysClr val="windowText" lastClr="000000"/>
                          </a:solidFill>
                        </a:rPr>
                        <a:t>Тестируем </a:t>
                      </a:r>
                      <a:r>
                        <a:rPr lang="en-US" sz="1100">
                          <a:solidFill>
                            <a:sysClr val="windowText" lastClr="000000"/>
                          </a:solidFill>
                        </a:rPr>
                        <a:t>shoppable </a:t>
                      </a:r>
                      <a:r>
                        <a:rPr lang="ru-RU" sz="1100">
                          <a:solidFill>
                            <a:sysClr val="windowText" lastClr="000000"/>
                          </a:solidFill>
                        </a:rPr>
                        <a:t>механики с внешними платформами и развиваем привычку покупать из соц. сетей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20386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Рост роли омниканальной коммуникации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Помимо маркетплейсов появляются </a:t>
                      </a:r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ugc</a:t>
                      </a: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-игроки, банковский шоппинг, развиваются независимые ритейлеры, которые стремятся предлагать новые рекламные инструменты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Стремимся аккумулировать инвентарь разных игроков с целью предложения омниканальных решений для рекламодателя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61261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82932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D4EDF462-AABE-F9F0-5274-88E2E9AEA2D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4EDF462-AABE-F9F0-5274-88E2E9AEA2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Shape 210">
            <a:extLst>
              <a:ext uri="{FF2B5EF4-FFF2-40B4-BE49-F238E27FC236}">
                <a16:creationId xmlns:a16="http://schemas.microsoft.com/office/drawing/2014/main" id="{97F971B1-EA94-F5C4-5525-808B0B0C6D57}"/>
              </a:ext>
            </a:extLst>
          </p:cNvPr>
          <p:cNvSpPr/>
          <p:nvPr/>
        </p:nvSpPr>
        <p:spPr>
          <a:xfrm>
            <a:off x="6193476" y="5008995"/>
            <a:ext cx="5630224" cy="1178684"/>
          </a:xfrm>
          <a:prstGeom prst="roundRect">
            <a:avLst>
              <a:gd name="adj" fmla="val 12789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8" name="Shape 205">
            <a:extLst>
              <a:ext uri="{FF2B5EF4-FFF2-40B4-BE49-F238E27FC236}">
                <a16:creationId xmlns:a16="http://schemas.microsoft.com/office/drawing/2014/main" id="{C612035D-FF8B-A088-5B28-F10A02F6CB10}"/>
              </a:ext>
            </a:extLst>
          </p:cNvPr>
          <p:cNvSpPr/>
          <p:nvPr/>
        </p:nvSpPr>
        <p:spPr>
          <a:xfrm>
            <a:off x="6197600" y="1492415"/>
            <a:ext cx="2711450" cy="336417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21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Инициативы Magnit ADS: максимизируем внутренний инвентарь Магнит, развиваем внешний и стремимся к росту маржинальности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492415"/>
            <a:ext cx="2711450" cy="336417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632115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Внутренний: медиа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2051215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4 864 млн руб. 2027  ·  +22%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2388147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494393"/>
            <a:ext cx="2355850" cy="2362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>
              <a:spcBef>
                <a:spcPts val="6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/>
              <a:t>В 2027 г. в рамках медиа-инвентаря будет задействован максимальный потенциал</a:t>
            </a:r>
            <a:endParaRPr lang="ru-RU" sz="1400">
              <a:solidFill>
                <a:srgbClr val="000000"/>
              </a:solidFill>
            </a:endParaRPr>
          </a:p>
        </p:txBody>
      </p:sp>
      <p:sp>
        <p:nvSpPr>
          <p:cNvPr id="205" name="Shape 205"/>
          <p:cNvSpPr/>
          <p:nvPr/>
        </p:nvSpPr>
        <p:spPr>
          <a:xfrm>
            <a:off x="3282950" y="1492415"/>
            <a:ext cx="2711450" cy="336417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282950" y="1632115"/>
            <a:ext cx="27114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1600" b="1">
                <a:solidFill>
                  <a:srgbClr val="FF452C"/>
                </a:solidFill>
              </a:rPr>
              <a:t>Внутренний: </a:t>
            </a:r>
            <a:br>
              <a:rPr lang="ru-RU" sz="1600" b="1" dirty="0">
                <a:solidFill>
                  <a:srgbClr val="FF452C"/>
                </a:solidFill>
              </a:rPr>
            </a:br>
            <a:r>
              <a:rPr lang="ru-RU" sz="1600" b="1">
                <a:solidFill>
                  <a:srgbClr val="FF452C"/>
                </a:solidFill>
              </a:rPr>
              <a:t>перформанс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2051215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2 832 млн руб. 2027  ·  +29%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2388147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494393"/>
            <a:ext cx="2355850" cy="2362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>
              <a:spcBef>
                <a:spcPts val="6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b="1"/>
              <a:t>Среднесрочный рост рекламной выручки </a:t>
            </a:r>
            <a:r>
              <a:rPr lang="ru-RU" sz="1400"/>
              <a:t>за счет развития аукционных механик в поиске и рекомендациях</a:t>
            </a:r>
            <a:endParaRPr lang="ru-RU" sz="1400">
              <a:solidFill>
                <a:srgbClr val="000000"/>
              </a:solidFill>
            </a:endParaRPr>
          </a:p>
        </p:txBody>
      </p:sp>
      <p:sp>
        <p:nvSpPr>
          <p:cNvPr id="210" name="Shape 210"/>
          <p:cNvSpPr/>
          <p:nvPr/>
        </p:nvSpPr>
        <p:spPr>
          <a:xfrm>
            <a:off x="364176" y="5008995"/>
            <a:ext cx="5630224" cy="1178684"/>
          </a:xfrm>
          <a:prstGeom prst="roundRect">
            <a:avLst>
              <a:gd name="adj" fmla="val 12789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197600" y="1632115"/>
            <a:ext cx="27114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1600" b="1">
                <a:solidFill>
                  <a:srgbClr val="FF452C"/>
                </a:solidFill>
              </a:rPr>
              <a:t>Внутренний: </a:t>
            </a:r>
            <a:br>
              <a:rPr lang="ru-RU" sz="1600" b="1" dirty="0">
                <a:solidFill>
                  <a:srgbClr val="FF452C"/>
                </a:solidFill>
              </a:rPr>
            </a:br>
            <a:r>
              <a:rPr lang="en-US" sz="1600" b="1">
                <a:solidFill>
                  <a:srgbClr val="FF452C"/>
                </a:solidFill>
              </a:rPr>
              <a:t>digital In-store</a:t>
            </a:r>
            <a:endParaRPr lang="ru-RU" sz="1600" b="1">
              <a:solidFill>
                <a:srgbClr val="FF452C"/>
              </a:solidFill>
            </a:endParaRPr>
          </a:p>
        </p:txBody>
      </p:sp>
      <p:sp>
        <p:nvSpPr>
          <p:cNvPr id="212" name="Shape 212"/>
          <p:cNvSpPr txBox="1"/>
          <p:nvPr/>
        </p:nvSpPr>
        <p:spPr>
          <a:xfrm>
            <a:off x="6350000" y="2051215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4 019 млн руб. 2027 ·  +64%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2388147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494393"/>
            <a:ext cx="2355850" cy="2362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>
              <a:spcBef>
                <a:spcPts val="6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b="1">
                <a:solidFill>
                  <a:sysClr val="windowText" lastClr="000000"/>
                </a:solidFill>
              </a:rPr>
              <a:t>Ищем эффективную конфигурацию оборудования </a:t>
            </a:r>
            <a:r>
              <a:rPr lang="ru-RU" sz="1400">
                <a:solidFill>
                  <a:sysClr val="windowText" lastClr="000000"/>
                </a:solidFill>
              </a:rPr>
              <a:t>с целью удержания высокой утилизации и рыночной стоимости инвентаря</a:t>
            </a:r>
            <a:endParaRPr lang="ru-RU" sz="1400">
              <a:solidFill>
                <a:srgbClr val="000000"/>
              </a:solidFill>
            </a:endParaRPr>
          </a:p>
        </p:txBody>
      </p:sp>
      <p:sp>
        <p:nvSpPr>
          <p:cNvPr id="215" name="Shape 215"/>
          <p:cNvSpPr/>
          <p:nvPr/>
        </p:nvSpPr>
        <p:spPr>
          <a:xfrm>
            <a:off x="9112250" y="1492415"/>
            <a:ext cx="2711450" cy="336417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632115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Внешний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2051215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2 851 млн руб.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2388147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494393"/>
            <a:ext cx="2355850" cy="2362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</a:rPr>
              <a:t>RMN:</a:t>
            </a:r>
            <a:r>
              <a:rPr lang="ru-RU" sz="1400">
                <a:solidFill>
                  <a:srgbClr val="000000"/>
                </a:solidFill>
              </a:rPr>
              <a:t> бренд-бюджеты поставщиков через внешнее ЮЛ</a:t>
            </a:r>
          </a:p>
          <a:p>
            <a:pPr marL="171450" indent="-171450" algn="l">
              <a:spcBef>
                <a:spcPts val="6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</a:rPr>
              <a:t>Social commerce:</a:t>
            </a:r>
            <a:r>
              <a:rPr lang="ru-RU" sz="1400">
                <a:solidFill>
                  <a:srgbClr val="000000"/>
                </a:solidFill>
              </a:rPr>
              <a:t> </a:t>
            </a:r>
            <a:br>
              <a:rPr lang="en-US" sz="1400" dirty="0">
                <a:solidFill>
                  <a:srgbClr val="000000"/>
                </a:solidFill>
              </a:rPr>
            </a:br>
            <a:r>
              <a:rPr lang="en-US" sz="1400">
                <a:solidFill>
                  <a:srgbClr val="000000"/>
                </a:solidFill>
              </a:rPr>
              <a:t>Content factory (</a:t>
            </a:r>
            <a:r>
              <a:rPr lang="ru-RU" sz="1400">
                <a:solidFill>
                  <a:srgbClr val="000000"/>
                </a:solidFill>
              </a:rPr>
              <a:t>развиваем инвентарь во внешних соц. сетях)</a:t>
            </a:r>
          </a:p>
          <a:p>
            <a:pPr marL="171450" indent="-171450" algn="l">
              <a:spcBef>
                <a:spcPts val="6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</a:rPr>
              <a:t>DMP + Online:</a:t>
            </a:r>
            <a:r>
              <a:rPr lang="ru-RU" sz="1400">
                <a:solidFill>
                  <a:srgbClr val="000000"/>
                </a:solidFill>
              </a:rPr>
              <a:t> данные Магнита на внешних площадках</a:t>
            </a:r>
          </a:p>
        </p:txBody>
      </p:sp>
      <p:sp>
        <p:nvSpPr>
          <p:cNvPr id="10" name="Shape 206">
            <a:extLst>
              <a:ext uri="{FF2B5EF4-FFF2-40B4-BE49-F238E27FC236}">
                <a16:creationId xmlns:a16="http://schemas.microsoft.com/office/drawing/2014/main" id="{3061C705-AABB-0B0F-02FC-B4B84DDC17C8}"/>
              </a:ext>
            </a:extLst>
          </p:cNvPr>
          <p:cNvSpPr txBox="1"/>
          <p:nvPr/>
        </p:nvSpPr>
        <p:spPr>
          <a:xfrm>
            <a:off x="698454" y="5058473"/>
            <a:ext cx="5020624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ИТ-Инфраструктура</a:t>
            </a:r>
          </a:p>
        </p:txBody>
      </p:sp>
      <p:sp>
        <p:nvSpPr>
          <p:cNvPr id="11" name="Shape 209">
            <a:extLst>
              <a:ext uri="{FF2B5EF4-FFF2-40B4-BE49-F238E27FC236}">
                <a16:creationId xmlns:a16="http://schemas.microsoft.com/office/drawing/2014/main" id="{76B62D15-F1ED-56A2-0AB3-5154FC49F9A6}"/>
              </a:ext>
            </a:extLst>
          </p:cNvPr>
          <p:cNvSpPr txBox="1"/>
          <p:nvPr/>
        </p:nvSpPr>
        <p:spPr>
          <a:xfrm>
            <a:off x="546100" y="5401374"/>
            <a:ext cx="4257912" cy="6902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>
              <a:spcBef>
                <a:spcPts val="3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>
                <a:solidFill>
                  <a:srgbClr val="000000"/>
                </a:solidFill>
              </a:rPr>
              <a:t>Аукционные механики</a:t>
            </a:r>
          </a:p>
          <a:p>
            <a:pPr marL="285750" indent="-285750">
              <a:spcBef>
                <a:spcPts val="3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>
                <a:solidFill>
                  <a:srgbClr val="000000"/>
                </a:solidFill>
              </a:rPr>
              <a:t>Улучшение личного кабинета рекламодателя</a:t>
            </a:r>
          </a:p>
        </p:txBody>
      </p:sp>
      <p:sp>
        <p:nvSpPr>
          <p:cNvPr id="16" name="Shape 206">
            <a:extLst>
              <a:ext uri="{FF2B5EF4-FFF2-40B4-BE49-F238E27FC236}">
                <a16:creationId xmlns:a16="http://schemas.microsoft.com/office/drawing/2014/main" id="{DE871A07-EC9A-2E73-597B-2DD41793E660}"/>
              </a:ext>
            </a:extLst>
          </p:cNvPr>
          <p:cNvSpPr txBox="1"/>
          <p:nvPr/>
        </p:nvSpPr>
        <p:spPr>
          <a:xfrm>
            <a:off x="6527754" y="5058473"/>
            <a:ext cx="5020624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Коммерческие процессы</a:t>
            </a:r>
          </a:p>
        </p:txBody>
      </p:sp>
      <p:sp>
        <p:nvSpPr>
          <p:cNvPr id="17" name="Shape 209">
            <a:extLst>
              <a:ext uri="{FF2B5EF4-FFF2-40B4-BE49-F238E27FC236}">
                <a16:creationId xmlns:a16="http://schemas.microsoft.com/office/drawing/2014/main" id="{49945798-9E96-F56A-BB1C-69A2B9CCAE9D}"/>
              </a:ext>
            </a:extLst>
          </p:cNvPr>
          <p:cNvSpPr txBox="1"/>
          <p:nvPr/>
        </p:nvSpPr>
        <p:spPr>
          <a:xfrm>
            <a:off x="6375400" y="5401374"/>
            <a:ext cx="5295900" cy="6902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>
              <a:spcBef>
                <a:spcPts val="3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>
                <a:solidFill>
                  <a:srgbClr val="000000"/>
                </a:solidFill>
              </a:rPr>
              <a:t>Внедрение в процессы внешнего юр. лица</a:t>
            </a:r>
          </a:p>
          <a:p>
            <a:pPr marL="285750" indent="-285750">
              <a:spcBef>
                <a:spcPts val="3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>
                <a:solidFill>
                  <a:srgbClr val="000000"/>
                </a:solidFill>
              </a:rPr>
              <a:t>Развитие поддержки и операционной деятельности</a:t>
            </a:r>
          </a:p>
          <a:p>
            <a:pPr marL="285750" indent="-285750">
              <a:spcBef>
                <a:spcPts val="3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>
                <a:solidFill>
                  <a:srgbClr val="000000"/>
                </a:solidFill>
              </a:rPr>
              <a:t>Улучшение коммерческих процессов</a:t>
            </a:r>
          </a:p>
        </p:txBody>
      </p:sp>
      <p:sp>
        <p:nvSpPr>
          <p:cNvPr id="2" name="Открывающая квадратная скобка 1">
            <a:extLst>
              <a:ext uri="{FF2B5EF4-FFF2-40B4-BE49-F238E27FC236}">
                <a16:creationId xmlns:a16="http://schemas.microsoft.com/office/drawing/2014/main" id="{2F6F0D75-37D5-2A0F-08FB-9761457DF828}"/>
              </a:ext>
            </a:extLst>
          </p:cNvPr>
          <p:cNvSpPr/>
          <p:nvPr/>
        </p:nvSpPr>
        <p:spPr>
          <a:xfrm rot="5400000">
            <a:off x="4555710" y="-3069317"/>
            <a:ext cx="161803" cy="8544873"/>
          </a:xfrm>
          <a:prstGeom prst="leftBracket">
            <a:avLst>
              <a:gd name="adj" fmla="val 7538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832BA71B-DACB-F3D0-372B-25B4135F244F}"/>
              </a:ext>
            </a:extLst>
          </p:cNvPr>
          <p:cNvSpPr/>
          <p:nvPr/>
        </p:nvSpPr>
        <p:spPr>
          <a:xfrm>
            <a:off x="3282950" y="928029"/>
            <a:ext cx="2711450" cy="38549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1"/>
              <a:t>90%+ </a:t>
            </a:r>
            <a:r>
              <a:rPr lang="ru-RU" sz="1200"/>
              <a:t>маржинальность инвентаря</a:t>
            </a:r>
          </a:p>
          <a:p>
            <a:pPr algn="ctr"/>
            <a:r>
              <a:rPr lang="ru-RU" sz="800" i="1"/>
              <a:t>Необходим фокус Коммерции на </a:t>
            </a:r>
            <a:r>
              <a:rPr lang="en-US" sz="800" i="1"/>
              <a:t>AdTech</a:t>
            </a:r>
            <a:endParaRPr lang="ru-RU" sz="800" i="1"/>
          </a:p>
        </p:txBody>
      </p:sp>
    </p:spTree>
    <p:extLst>
      <p:ext uri="{BB962C8B-B14F-4D97-AF65-F5344CB8AC3E}">
        <p14:creationId xmlns:p14="http://schemas.microsoft.com/office/powerpoint/2010/main" val="1719774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" name="think-cell data - do not delete" hidden="1">
            <a:extLst>
              <a:ext uri="{FF2B5EF4-FFF2-40B4-BE49-F238E27FC236}">
                <a16:creationId xmlns:a16="http://schemas.microsoft.com/office/drawing/2014/main" id="{B667F642-A6DC-FB4B-0CF2-C06CB38BC46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6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667F642-A6DC-FB4B-0CF2-C06CB38BC4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58E3ACAA-D0DB-85FC-1715-5DF10349E2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>
                <a:solidFill>
                  <a:srgbClr val="6E6E6E"/>
                </a:solidFill>
              </a:rPr>
              <a:t>КУ — коммерческие условия с поставщиками. Источник: инициативы руководителей направлений Магнит на 2027+ гг.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22</a:t>
            </a:fld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611134C-94AC-F253-DD37-FB977A432E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Объединяем управление маркетинговым инвентарем Магнита в AdTech и забираем весь остаточный рекламный инструментарий</a:t>
            </a:r>
          </a:p>
        </p:txBody>
      </p:sp>
      <p:sp>
        <p:nvSpPr>
          <p:cNvPr id="66" name="ADS card 66"/>
          <p:cNvSpPr/>
          <p:nvPr/>
        </p:nvSpPr>
        <p:spPr>
          <a:xfrm>
            <a:off x="365760" y="1024128"/>
            <a:ext cx="5486400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67" name="ADS head 67"/>
          <p:cNvSpPr txBox="1"/>
          <p:nvPr/>
        </p:nvSpPr>
        <p:spPr>
          <a:xfrm>
            <a:off x="548640" y="1152144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FF452C"/>
                </a:solidFill>
                <a:latin typeface="Arial"/>
                <a:cs typeface="Arial"/>
              </a:rPr>
              <a:t>Маркетинговый инвентарь Магнит</a:t>
            </a:r>
            <a:endParaRPr lang="ru-RU" sz="1200"/>
          </a:p>
        </p:txBody>
      </p:sp>
      <p:sp>
        <p:nvSpPr>
          <p:cNvPr id="68" name="ADS thesis 68"/>
          <p:cNvSpPr txBox="1"/>
          <p:nvPr/>
        </p:nvSpPr>
        <p:spPr>
          <a:xfrm>
            <a:off x="548640" y="1499616"/>
            <a:ext cx="51206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Сегодня инвентарь распределен по бизнесам — собираем его в одном контуре AdTech</a:t>
            </a:r>
            <a:endParaRPr lang="ru-RU" sz="1200"/>
          </a:p>
        </p:txBody>
      </p:sp>
      <p:sp>
        <p:nvSpPr>
          <p:cNvPr id="69" name="ADS line 69"/>
          <p:cNvSpPr/>
          <p:nvPr/>
        </p:nvSpPr>
        <p:spPr>
          <a:xfrm>
            <a:off x="548640" y="1965960"/>
            <a:ext cx="512064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70" name="ADS chip 70"/>
          <p:cNvSpPr/>
          <p:nvPr/>
        </p:nvSpPr>
        <p:spPr>
          <a:xfrm>
            <a:off x="548640" y="2075688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71" name="ADS chiptxt 71"/>
          <p:cNvSpPr txBox="1"/>
          <p:nvPr/>
        </p:nvSpPr>
        <p:spPr>
          <a:xfrm>
            <a:off x="640080" y="2121408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Приложение</a:t>
            </a:r>
            <a:endParaRPr lang="ru-RU" sz="1200"/>
          </a:p>
        </p:txBody>
      </p:sp>
      <p:sp>
        <p:nvSpPr>
          <p:cNvPr id="72" name="ADS label 72"/>
          <p:cNvSpPr txBox="1"/>
          <p:nvPr/>
        </p:nvSpPr>
        <p:spPr>
          <a:xfrm>
            <a:off x="2350008" y="2075688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Медиа, поиск и рекомендации</a:t>
            </a:r>
            <a:endParaRPr lang="ru-RU" sz="1200"/>
          </a:p>
        </p:txBody>
      </p:sp>
      <p:sp>
        <p:nvSpPr>
          <p:cNvPr id="73" name="ADS chip 73"/>
          <p:cNvSpPr/>
          <p:nvPr/>
        </p:nvSpPr>
        <p:spPr>
          <a:xfrm>
            <a:off x="4709160" y="2167128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74" name="ADS label 74"/>
          <p:cNvSpPr txBox="1"/>
          <p:nvPr/>
        </p:nvSpPr>
        <p:spPr>
          <a:xfrm>
            <a:off x="4709160" y="2167128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>
                <a:solidFill>
                  <a:srgbClr val="FFFFFF"/>
                </a:solidFill>
                <a:latin typeface="Arial"/>
                <a:cs typeface="Arial"/>
              </a:rPr>
              <a:t>В AdTech</a:t>
            </a:r>
            <a:endParaRPr lang="ru-RU" sz="1200"/>
          </a:p>
        </p:txBody>
      </p:sp>
      <p:sp>
        <p:nvSpPr>
          <p:cNvPr id="75" name="ADS chip 75"/>
          <p:cNvSpPr/>
          <p:nvPr/>
        </p:nvSpPr>
        <p:spPr>
          <a:xfrm>
            <a:off x="548640" y="2560320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76" name="ADS chiptxt 76"/>
          <p:cNvSpPr txBox="1"/>
          <p:nvPr/>
        </p:nvSpPr>
        <p:spPr>
          <a:xfrm>
            <a:off x="640080" y="2606040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000000"/>
                </a:solidFill>
                <a:latin typeface="Arial"/>
                <a:cs typeface="Arial"/>
              </a:rPr>
              <a:t>Digital in-store</a:t>
            </a:r>
            <a:endParaRPr lang="en-US" sz="1200"/>
          </a:p>
        </p:txBody>
      </p:sp>
      <p:sp>
        <p:nvSpPr>
          <p:cNvPr id="77" name="ADS label 77"/>
          <p:cNvSpPr txBox="1"/>
          <p:nvPr/>
        </p:nvSpPr>
        <p:spPr>
          <a:xfrm>
            <a:off x="2350008" y="2560320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81 тыс. устройств, Online + DMP, DMP</a:t>
            </a:r>
            <a:endParaRPr lang="ru-RU" sz="1200"/>
          </a:p>
        </p:txBody>
      </p:sp>
      <p:sp>
        <p:nvSpPr>
          <p:cNvPr id="78" name="ADS chip 78"/>
          <p:cNvSpPr/>
          <p:nvPr/>
        </p:nvSpPr>
        <p:spPr>
          <a:xfrm>
            <a:off x="4709160" y="2651760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79" name="ADS label 79"/>
          <p:cNvSpPr txBox="1"/>
          <p:nvPr/>
        </p:nvSpPr>
        <p:spPr>
          <a:xfrm>
            <a:off x="4709160" y="2651760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>
                <a:solidFill>
                  <a:srgbClr val="FFFFFF"/>
                </a:solidFill>
                <a:latin typeface="Arial"/>
                <a:cs typeface="Arial"/>
              </a:rPr>
              <a:t>В AdTech</a:t>
            </a:r>
            <a:endParaRPr lang="ru-RU" sz="1200"/>
          </a:p>
        </p:txBody>
      </p:sp>
      <p:sp>
        <p:nvSpPr>
          <p:cNvPr id="80" name="ADS chip 80"/>
          <p:cNvSpPr/>
          <p:nvPr/>
        </p:nvSpPr>
        <p:spPr>
          <a:xfrm>
            <a:off x="548640" y="3044952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81" name="ADS chiptxt 81"/>
          <p:cNvSpPr txBox="1"/>
          <p:nvPr/>
        </p:nvSpPr>
        <p:spPr>
          <a:xfrm>
            <a:off x="640080" y="3090672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М+</a:t>
            </a:r>
            <a:endParaRPr lang="ru-RU" sz="1200"/>
          </a:p>
        </p:txBody>
      </p:sp>
      <p:sp>
        <p:nvSpPr>
          <p:cNvPr id="82" name="ADS label 82"/>
          <p:cNvSpPr txBox="1"/>
          <p:nvPr/>
        </p:nvSpPr>
        <p:spPr>
          <a:xfrm>
            <a:off x="2350008" y="3044952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Инвентарь лояльности, кроме игр</a:t>
            </a:r>
            <a:endParaRPr lang="ru-RU" sz="1200"/>
          </a:p>
        </p:txBody>
      </p:sp>
      <p:sp>
        <p:nvSpPr>
          <p:cNvPr id="83" name="ADS chip 83"/>
          <p:cNvSpPr/>
          <p:nvPr/>
        </p:nvSpPr>
        <p:spPr>
          <a:xfrm>
            <a:off x="4709160" y="3136392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84" name="ADS label 84"/>
          <p:cNvSpPr txBox="1"/>
          <p:nvPr/>
        </p:nvSpPr>
        <p:spPr>
          <a:xfrm>
            <a:off x="4709160" y="3136392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>
                <a:solidFill>
                  <a:srgbClr val="FFFFFF"/>
                </a:solidFill>
                <a:latin typeface="Arial"/>
                <a:cs typeface="Arial"/>
              </a:rPr>
              <a:t>С 2026 г.</a:t>
            </a:r>
            <a:endParaRPr lang="ru-RU" sz="1200"/>
          </a:p>
        </p:txBody>
      </p:sp>
      <p:sp>
        <p:nvSpPr>
          <p:cNvPr id="85" name="ADS chip 85"/>
          <p:cNvSpPr/>
          <p:nvPr/>
        </p:nvSpPr>
        <p:spPr>
          <a:xfrm>
            <a:off x="548640" y="3529584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86" name="ADS chiptxt 86"/>
          <p:cNvSpPr txBox="1"/>
          <p:nvPr/>
        </p:nvSpPr>
        <p:spPr>
          <a:xfrm>
            <a:off x="640080" y="3575304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UGC и соцсети</a:t>
            </a:r>
            <a:endParaRPr lang="ru-RU" sz="1200"/>
          </a:p>
        </p:txBody>
      </p:sp>
      <p:sp>
        <p:nvSpPr>
          <p:cNvPr id="87" name="ADS label 87"/>
          <p:cNvSpPr txBox="1"/>
          <p:nvPr/>
        </p:nvSpPr>
        <p:spPr>
          <a:xfrm>
            <a:off x="2350008" y="3529584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Content factory: 12,3 млн → 500+ млн просмотров</a:t>
            </a:r>
            <a:endParaRPr lang="ru-RU" sz="1200"/>
          </a:p>
        </p:txBody>
      </p:sp>
      <p:sp>
        <p:nvSpPr>
          <p:cNvPr id="88" name="ADS chip 88"/>
          <p:cNvSpPr/>
          <p:nvPr/>
        </p:nvSpPr>
        <p:spPr>
          <a:xfrm>
            <a:off x="4709160" y="3621024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89" name="ADS label 89"/>
          <p:cNvSpPr txBox="1"/>
          <p:nvPr/>
        </p:nvSpPr>
        <p:spPr>
          <a:xfrm>
            <a:off x="4709160" y="3621024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>
                <a:solidFill>
                  <a:srgbClr val="FF452C"/>
                </a:solidFill>
                <a:latin typeface="Arial"/>
                <a:cs typeface="Arial"/>
              </a:rPr>
              <a:t>Пилот</a:t>
            </a:r>
            <a:endParaRPr lang="ru-RU" sz="1200"/>
          </a:p>
        </p:txBody>
      </p:sp>
      <p:sp>
        <p:nvSpPr>
          <p:cNvPr id="90" name="ADS chip 90"/>
          <p:cNvSpPr/>
          <p:nvPr/>
        </p:nvSpPr>
        <p:spPr>
          <a:xfrm>
            <a:off x="548640" y="4014216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91" name="ADS chiptxt 91"/>
          <p:cNvSpPr txBox="1"/>
          <p:nvPr/>
        </p:nvSpPr>
        <p:spPr>
          <a:xfrm>
            <a:off x="640080" y="4059936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Финтех</a:t>
            </a:r>
            <a:endParaRPr lang="ru-RU" sz="1200"/>
          </a:p>
        </p:txBody>
      </p:sp>
      <p:sp>
        <p:nvSpPr>
          <p:cNvPr id="92" name="ADS label 92"/>
          <p:cNvSpPr txBox="1"/>
          <p:nvPr/>
        </p:nvSpPr>
        <p:spPr>
          <a:xfrm>
            <a:off x="2350008" y="4014216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Витрина финансовых продуктов</a:t>
            </a:r>
            <a:endParaRPr lang="ru-RU" sz="1200"/>
          </a:p>
        </p:txBody>
      </p:sp>
      <p:sp>
        <p:nvSpPr>
          <p:cNvPr id="93" name="ADS chip 93"/>
          <p:cNvSpPr/>
          <p:nvPr/>
        </p:nvSpPr>
        <p:spPr>
          <a:xfrm>
            <a:off x="4709160" y="4105656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94" name="ADS label 94"/>
          <p:cNvSpPr txBox="1"/>
          <p:nvPr/>
        </p:nvSpPr>
        <p:spPr>
          <a:xfrm>
            <a:off x="4709160" y="4105656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>
                <a:solidFill>
                  <a:srgbClr val="FF452C"/>
                </a:solidFill>
                <a:latin typeface="Arial"/>
                <a:cs typeface="Arial"/>
              </a:rPr>
              <a:t>Магнит</a:t>
            </a:r>
            <a:endParaRPr lang="ru-RU" sz="1200"/>
          </a:p>
        </p:txBody>
      </p:sp>
      <p:sp>
        <p:nvSpPr>
          <p:cNvPr id="95" name="ADS chip 95"/>
          <p:cNvSpPr/>
          <p:nvPr/>
        </p:nvSpPr>
        <p:spPr>
          <a:xfrm>
            <a:off x="548640" y="4498848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96" name="ADS chiptxt 96"/>
          <p:cNvSpPr txBox="1"/>
          <p:nvPr/>
        </p:nvSpPr>
        <p:spPr>
          <a:xfrm>
            <a:off x="640080" y="4544568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РИМ и полка</a:t>
            </a:r>
            <a:endParaRPr lang="ru-RU" sz="1200"/>
          </a:p>
        </p:txBody>
      </p:sp>
      <p:sp>
        <p:nvSpPr>
          <p:cNvPr id="97" name="ADS label 97"/>
          <p:cNvSpPr txBox="1"/>
          <p:nvPr/>
        </p:nvSpPr>
        <p:spPr>
          <a:xfrm>
            <a:off x="2350008" y="4498848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Бронирование, фиксация, аукцион за полку</a:t>
            </a:r>
            <a:endParaRPr lang="ru-RU" sz="1200"/>
          </a:p>
        </p:txBody>
      </p:sp>
      <p:sp>
        <p:nvSpPr>
          <p:cNvPr id="98" name="ADS chip 98"/>
          <p:cNvSpPr/>
          <p:nvPr/>
        </p:nvSpPr>
        <p:spPr>
          <a:xfrm>
            <a:off x="4709160" y="4590288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99" name="ADS label 99"/>
          <p:cNvSpPr txBox="1"/>
          <p:nvPr/>
        </p:nvSpPr>
        <p:spPr>
          <a:xfrm>
            <a:off x="4709160" y="4590288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>
                <a:solidFill>
                  <a:srgbClr val="FF452C"/>
                </a:solidFill>
                <a:latin typeface="Arial"/>
                <a:cs typeface="Arial"/>
              </a:rPr>
              <a:t>Переводим</a:t>
            </a:r>
            <a:endParaRPr lang="ru-RU" sz="1200"/>
          </a:p>
        </p:txBody>
      </p:sp>
      <p:sp>
        <p:nvSpPr>
          <p:cNvPr id="100" name="ADS chip 100"/>
          <p:cNvSpPr/>
          <p:nvPr/>
        </p:nvSpPr>
        <p:spPr>
          <a:xfrm>
            <a:off x="548640" y="4983480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1" name="ADS chiptxt 101"/>
          <p:cNvSpPr txBox="1"/>
          <p:nvPr/>
        </p:nvSpPr>
        <p:spPr>
          <a:xfrm>
            <a:off x="640080" y="5029200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Внутренние коммуникации</a:t>
            </a:r>
            <a:endParaRPr lang="ru-RU" sz="1200"/>
          </a:p>
        </p:txBody>
      </p:sp>
      <p:sp>
        <p:nvSpPr>
          <p:cNvPr id="102" name="ADS label 102"/>
          <p:cNvSpPr txBox="1"/>
          <p:nvPr/>
        </p:nvSpPr>
        <p:spPr>
          <a:xfrm>
            <a:off x="2350008" y="4983480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Промо, лояльность, A/B-виджеты — квота 50%</a:t>
            </a:r>
            <a:endParaRPr lang="ru-RU" sz="1200"/>
          </a:p>
        </p:txBody>
      </p:sp>
      <p:sp>
        <p:nvSpPr>
          <p:cNvPr id="103" name="ADS chip 103"/>
          <p:cNvSpPr/>
          <p:nvPr/>
        </p:nvSpPr>
        <p:spPr>
          <a:xfrm>
            <a:off x="4709160" y="5074920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4" name="ADS label 104"/>
          <p:cNvSpPr txBox="1"/>
          <p:nvPr/>
        </p:nvSpPr>
        <p:spPr>
          <a:xfrm>
            <a:off x="4709160" y="5074920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>
                <a:solidFill>
                  <a:srgbClr val="FF452C"/>
                </a:solidFill>
                <a:latin typeface="Arial"/>
                <a:cs typeface="Arial"/>
              </a:rPr>
              <a:t>Delivery</a:t>
            </a:r>
            <a:endParaRPr lang="en-US" sz="1200"/>
          </a:p>
        </p:txBody>
      </p:sp>
      <p:sp>
        <p:nvSpPr>
          <p:cNvPr id="105" name="ADS chip 105"/>
          <p:cNvSpPr/>
          <p:nvPr/>
        </p:nvSpPr>
        <p:spPr>
          <a:xfrm>
            <a:off x="548640" y="5468112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6" name="ADS chiptxt 106"/>
          <p:cNvSpPr txBox="1"/>
          <p:nvPr/>
        </p:nvSpPr>
        <p:spPr>
          <a:xfrm>
            <a:off x="640080" y="5513832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Бренд-бюджеты вне КУ</a:t>
            </a:r>
            <a:endParaRPr lang="ru-RU" sz="1200"/>
          </a:p>
        </p:txBody>
      </p:sp>
      <p:sp>
        <p:nvSpPr>
          <p:cNvPr id="107" name="ADS label 107"/>
          <p:cNvSpPr txBox="1"/>
          <p:nvPr/>
        </p:nvSpPr>
        <p:spPr>
          <a:xfrm>
            <a:off x="2350008" y="5468112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Весь инвентарь через ЮЛ Магнит Маркета</a:t>
            </a:r>
            <a:endParaRPr lang="ru-RU" sz="1200"/>
          </a:p>
        </p:txBody>
      </p:sp>
      <p:sp>
        <p:nvSpPr>
          <p:cNvPr id="108" name="ADS chip 108"/>
          <p:cNvSpPr/>
          <p:nvPr/>
        </p:nvSpPr>
        <p:spPr>
          <a:xfrm>
            <a:off x="4709160" y="5559552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9" name="ADS label 109"/>
          <p:cNvSpPr txBox="1"/>
          <p:nvPr/>
        </p:nvSpPr>
        <p:spPr>
          <a:xfrm>
            <a:off x="4709160" y="5559552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>
                <a:solidFill>
                  <a:srgbClr val="595959"/>
                </a:solidFill>
                <a:latin typeface="Arial"/>
                <a:cs typeface="Arial"/>
              </a:rPr>
              <a:t>Q4 2027</a:t>
            </a:r>
            <a:endParaRPr lang="en-US" sz="1200"/>
          </a:p>
        </p:txBody>
      </p:sp>
      <p:sp>
        <p:nvSpPr>
          <p:cNvPr id="110" name="ADS arrow 110"/>
          <p:cNvSpPr/>
          <p:nvPr/>
        </p:nvSpPr>
        <p:spPr>
          <a:xfrm rot="5400000">
            <a:off x="5865876" y="3506724"/>
            <a:ext cx="310896" cy="155448"/>
          </a:xfrm>
          <a:prstGeom prst="triangle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11" name="ADS card 111"/>
          <p:cNvSpPr/>
          <p:nvPr/>
        </p:nvSpPr>
        <p:spPr>
          <a:xfrm>
            <a:off x="6355080" y="1024128"/>
            <a:ext cx="5468112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12" name="ADS head 112"/>
          <p:cNvSpPr txBox="1"/>
          <p:nvPr/>
        </p:nvSpPr>
        <p:spPr>
          <a:xfrm>
            <a:off x="6537960" y="1152144"/>
            <a:ext cx="510235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FF452C"/>
                </a:solidFill>
                <a:latin typeface="Arial"/>
                <a:cs typeface="Arial"/>
              </a:rPr>
              <a:t>AdTech — единый оператор инвентаря</a:t>
            </a:r>
            <a:endParaRPr lang="ru-RU" sz="1200"/>
          </a:p>
        </p:txBody>
      </p:sp>
      <p:sp>
        <p:nvSpPr>
          <p:cNvPr id="113" name="ADS thesis 113"/>
          <p:cNvSpPr txBox="1"/>
          <p:nvPr/>
        </p:nvSpPr>
        <p:spPr>
          <a:xfrm>
            <a:off x="6537960" y="1499616"/>
            <a:ext cx="5102352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Весь инвентарь — через одну платформу, одну команду продаж и один процесс</a:t>
            </a:r>
            <a:endParaRPr lang="ru-RU" sz="1200"/>
          </a:p>
        </p:txBody>
      </p:sp>
      <p:sp>
        <p:nvSpPr>
          <p:cNvPr id="114" name="ADS line 114"/>
          <p:cNvSpPr/>
          <p:nvPr/>
        </p:nvSpPr>
        <p:spPr>
          <a:xfrm>
            <a:off x="6537960" y="1965960"/>
            <a:ext cx="510235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15" name="ADS label 115"/>
          <p:cNvSpPr txBox="1"/>
          <p:nvPr/>
        </p:nvSpPr>
        <p:spPr>
          <a:xfrm>
            <a:off x="6537960" y="2039112"/>
            <a:ext cx="510235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Как работает</a:t>
            </a:r>
            <a:endParaRPr lang="ru-RU" sz="1200"/>
          </a:p>
        </p:txBody>
      </p:sp>
      <p:sp>
        <p:nvSpPr>
          <p:cNvPr id="116" name="ADS chip 116"/>
          <p:cNvSpPr/>
          <p:nvPr/>
        </p:nvSpPr>
        <p:spPr>
          <a:xfrm>
            <a:off x="6537960" y="2295144"/>
            <a:ext cx="5102352" cy="64008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17" name="ADS chiptxt 117"/>
          <p:cNvSpPr txBox="1"/>
          <p:nvPr/>
        </p:nvSpPr>
        <p:spPr>
          <a:xfrm>
            <a:off x="6675120" y="2340864"/>
            <a:ext cx="482803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Единая delivery-платформа</a:t>
            </a:r>
            <a:endParaRPr lang="ru-RU" sz="120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выбирает показ между рекламой поставщиков и НЕ поставщиков, промо, лояльностью и экспериментами по единой политике</a:t>
            </a:r>
            <a:endParaRPr lang="ru-RU" sz="1200"/>
          </a:p>
        </p:txBody>
      </p:sp>
      <p:sp>
        <p:nvSpPr>
          <p:cNvPr id="118" name="ADS chip 118"/>
          <p:cNvSpPr/>
          <p:nvPr/>
        </p:nvSpPr>
        <p:spPr>
          <a:xfrm>
            <a:off x="6537960" y="3008376"/>
            <a:ext cx="5102352" cy="64008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19" name="ADS chiptxt 119"/>
          <p:cNvSpPr txBox="1"/>
          <p:nvPr/>
        </p:nvSpPr>
        <p:spPr>
          <a:xfrm>
            <a:off x="6675120" y="3054096"/>
            <a:ext cx="482803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Единый sales force и оффер</a:t>
            </a:r>
            <a:endParaRPr lang="ru-RU" sz="120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поставщики, НЕ поставщики и бренд-бюджеты получают один пакет на весь инвентарь группы</a:t>
            </a:r>
            <a:endParaRPr lang="ru-RU" sz="1200"/>
          </a:p>
        </p:txBody>
      </p:sp>
      <p:sp>
        <p:nvSpPr>
          <p:cNvPr id="120" name="ADS chip 120"/>
          <p:cNvSpPr/>
          <p:nvPr/>
        </p:nvSpPr>
        <p:spPr>
          <a:xfrm>
            <a:off x="6537960" y="3721608"/>
            <a:ext cx="5102352" cy="64008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21" name="ADS chiptxt 121"/>
          <p:cNvSpPr txBox="1"/>
          <p:nvPr/>
        </p:nvSpPr>
        <p:spPr>
          <a:xfrm>
            <a:off x="6675120" y="3767328"/>
            <a:ext cx="482803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Единый процесс размещения</a:t>
            </a:r>
            <a:endParaRPr lang="ru-RU" sz="120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бронирование, расчет емкости, фиксация, подсчет результатов и закрывающие документы — в платформе</a:t>
            </a:r>
            <a:endParaRPr lang="ru-RU" sz="1200"/>
          </a:p>
        </p:txBody>
      </p:sp>
      <p:sp>
        <p:nvSpPr>
          <p:cNvPr id="122" name="ADS label 122"/>
          <p:cNvSpPr txBox="1"/>
          <p:nvPr/>
        </p:nvSpPr>
        <p:spPr>
          <a:xfrm>
            <a:off x="6537960" y="4507992"/>
            <a:ext cx="510235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Эффект для Магнита</a:t>
            </a:r>
            <a:endParaRPr lang="ru-RU" sz="1200"/>
          </a:p>
        </p:txBody>
      </p:sp>
      <p:sp>
        <p:nvSpPr>
          <p:cNvPr id="123" name="ADS pink 123"/>
          <p:cNvSpPr/>
          <p:nvPr/>
        </p:nvSpPr>
        <p:spPr>
          <a:xfrm>
            <a:off x="6537960" y="4782312"/>
            <a:ext cx="1639824" cy="120700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24" name="ADS pinktxt 124"/>
          <p:cNvSpPr txBox="1"/>
          <p:nvPr/>
        </p:nvSpPr>
        <p:spPr>
          <a:xfrm>
            <a:off x="6629400" y="4828031"/>
            <a:ext cx="1456944" cy="11155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FF452C"/>
                </a:solidFill>
                <a:latin typeface="Arial"/>
                <a:cs typeface="Arial"/>
              </a:rPr>
              <a:t>Одна точка входа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для поставщика на весь инвентарь</a:t>
            </a:r>
            <a:endParaRPr lang="ru-RU" sz="1200"/>
          </a:p>
        </p:txBody>
      </p:sp>
      <p:sp>
        <p:nvSpPr>
          <p:cNvPr id="125" name="ADS pink 125"/>
          <p:cNvSpPr/>
          <p:nvPr/>
        </p:nvSpPr>
        <p:spPr>
          <a:xfrm>
            <a:off x="8269224" y="4782312"/>
            <a:ext cx="1639824" cy="120700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26" name="ADS pinktxt 126"/>
          <p:cNvSpPr txBox="1"/>
          <p:nvPr/>
        </p:nvSpPr>
        <p:spPr>
          <a:xfrm>
            <a:off x="8360663" y="4828031"/>
            <a:ext cx="1456944" cy="11155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FF452C"/>
                </a:solidFill>
                <a:latin typeface="Arial"/>
                <a:cs typeface="Arial"/>
              </a:rPr>
              <a:t>Омниканальные пакеты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приложение, in-store, соцсети и внешние площадки</a:t>
            </a:r>
            <a:endParaRPr lang="ru-RU" sz="1200"/>
          </a:p>
        </p:txBody>
      </p:sp>
      <p:sp>
        <p:nvSpPr>
          <p:cNvPr id="127" name="ADS pink 127"/>
          <p:cNvSpPr/>
          <p:nvPr/>
        </p:nvSpPr>
        <p:spPr>
          <a:xfrm>
            <a:off x="10000488" y="4782312"/>
            <a:ext cx="1639824" cy="120700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28" name="ADS pinktxt 128"/>
          <p:cNvSpPr txBox="1"/>
          <p:nvPr/>
        </p:nvSpPr>
        <p:spPr>
          <a:xfrm>
            <a:off x="10091928" y="4828031"/>
            <a:ext cx="1456944" cy="11155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FF452C"/>
                </a:solidFill>
                <a:latin typeface="Arial"/>
                <a:cs typeface="Arial"/>
              </a:rPr>
              <a:t>Остаточный инвентарь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монетизируем без ущерба задачам марком</a:t>
            </a:r>
            <a:endParaRPr lang="ru-RU" sz="1200"/>
          </a:p>
        </p:txBody>
      </p:sp>
    </p:spTree>
    <p:extLst>
      <p:ext uri="{BB962C8B-B14F-4D97-AF65-F5344CB8AC3E}">
        <p14:creationId xmlns:p14="http://schemas.microsoft.com/office/powerpoint/2010/main" val="743607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F92809F8-88FA-BA41-DCAE-2F45FB22CD5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4789985-C1E5-928D-6C24-D23FEF66EC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23</a:t>
            </a:fld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C442B76-F572-6CD1-713D-47281235C2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Обновление роли </a:t>
            </a:r>
            <a:r>
              <a:rPr lang="en-US"/>
              <a:t>AdTech </a:t>
            </a:r>
            <a:r>
              <a:rPr lang="ru-RU"/>
              <a:t>для максимизации </a:t>
            </a:r>
            <a:br>
              <a:rPr lang="ru-RU" dirty="0"/>
            </a:br>
            <a:r>
              <a:rPr lang="ru-RU"/>
              <a:t>рекламной выручки в условиях модели ритейлера</a:t>
            </a:r>
          </a:p>
        </p:txBody>
      </p:sp>
      <p:sp>
        <p:nvSpPr>
          <p:cNvPr id="7" name="Role card 1">
            <a:extLst>
              <a:ext uri="{FF2B5EF4-FFF2-40B4-BE49-F238E27FC236}">
                <a16:creationId xmlns:a16="http://schemas.microsoft.com/office/drawing/2014/main" id="{52F61E5C-8CE7-55C9-A00A-68A8C1C0435C}"/>
              </a:ext>
            </a:extLst>
          </p:cNvPr>
          <p:cNvSpPr/>
          <p:nvPr/>
        </p:nvSpPr>
        <p:spPr>
          <a:xfrm>
            <a:off x="368300" y="1165860"/>
            <a:ext cx="560270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8" name="ADS 1046">
            <a:extLst>
              <a:ext uri="{FF2B5EF4-FFF2-40B4-BE49-F238E27FC236}">
                <a16:creationId xmlns:a16="http://schemas.microsoft.com/office/drawing/2014/main" id="{3014A97D-D77A-F459-5950-3BEC72A4ECEA}"/>
              </a:ext>
            </a:extLst>
          </p:cNvPr>
          <p:cNvSpPr txBox="1"/>
          <p:nvPr/>
        </p:nvSpPr>
        <p:spPr>
          <a:xfrm>
            <a:off x="548300" y="1305860"/>
            <a:ext cx="52427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FF452C"/>
                </a:solidFill>
                <a:latin typeface="Arial"/>
                <a:cs typeface="Arial"/>
              </a:rPr>
              <a:t>Трейд-бюджеты</a:t>
            </a:r>
            <a:endParaRPr lang="ru-RU" sz="1200"/>
          </a:p>
        </p:txBody>
      </p:sp>
      <p:sp>
        <p:nvSpPr>
          <p:cNvPr id="9" name="ADS 1047">
            <a:extLst>
              <a:ext uri="{FF2B5EF4-FFF2-40B4-BE49-F238E27FC236}">
                <a16:creationId xmlns:a16="http://schemas.microsoft.com/office/drawing/2014/main" id="{987CF5DB-3F55-8C40-AACE-2E4CFC975476}"/>
              </a:ext>
            </a:extLst>
          </p:cNvPr>
          <p:cNvSpPr txBox="1"/>
          <p:nvPr/>
        </p:nvSpPr>
        <p:spPr>
          <a:xfrm>
            <a:off x="548300" y="1645860"/>
            <a:ext cx="52427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Как сервисная функция, активно работаем </a:t>
            </a:r>
            <a:b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</a:b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с коммерцией форматов</a:t>
            </a:r>
            <a:endParaRPr lang="ru-RU" sz="1200"/>
          </a:p>
        </p:txBody>
      </p:sp>
      <p:sp>
        <p:nvSpPr>
          <p:cNvPr id="10" name="ADS 1048">
            <a:extLst>
              <a:ext uri="{FF2B5EF4-FFF2-40B4-BE49-F238E27FC236}">
                <a16:creationId xmlns:a16="http://schemas.microsoft.com/office/drawing/2014/main" id="{C39AB452-15EB-7441-E8E1-93D4B539C075}"/>
              </a:ext>
            </a:extLst>
          </p:cNvPr>
          <p:cNvSpPr/>
          <p:nvPr/>
        </p:nvSpPr>
        <p:spPr>
          <a:xfrm>
            <a:off x="548300" y="2175860"/>
            <a:ext cx="52427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1" name="ADS 1049">
            <a:extLst>
              <a:ext uri="{FF2B5EF4-FFF2-40B4-BE49-F238E27FC236}">
                <a16:creationId xmlns:a16="http://schemas.microsoft.com/office/drawing/2014/main" id="{7460418B-5798-95B6-720F-57E1507AE22A}"/>
              </a:ext>
            </a:extLst>
          </p:cNvPr>
          <p:cNvSpPr txBox="1"/>
          <p:nvPr/>
        </p:nvSpPr>
        <p:spPr>
          <a:xfrm>
            <a:off x="548300" y="2301051"/>
            <a:ext cx="52427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Как работаем с бюджетом</a:t>
            </a:r>
            <a:endParaRPr lang="ru-RU" sz="1200"/>
          </a:p>
        </p:txBody>
      </p:sp>
      <p:sp>
        <p:nvSpPr>
          <p:cNvPr id="12" name="ADS 1050">
            <a:extLst>
              <a:ext uri="{FF2B5EF4-FFF2-40B4-BE49-F238E27FC236}">
                <a16:creationId xmlns:a16="http://schemas.microsoft.com/office/drawing/2014/main" id="{35BB8657-E443-532C-88BC-D853845ACC3C}"/>
              </a:ext>
            </a:extLst>
          </p:cNvPr>
          <p:cNvSpPr/>
          <p:nvPr/>
        </p:nvSpPr>
        <p:spPr>
          <a:xfrm>
            <a:off x="548300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3" name="ADS 1051">
            <a:extLst>
              <a:ext uri="{FF2B5EF4-FFF2-40B4-BE49-F238E27FC236}">
                <a16:creationId xmlns:a16="http://schemas.microsoft.com/office/drawing/2014/main" id="{52F1153B-F5D6-D9CD-D238-FD7C11763178}"/>
              </a:ext>
            </a:extLst>
          </p:cNvPr>
          <p:cNvSpPr txBox="1"/>
          <p:nvPr/>
        </p:nvSpPr>
        <p:spPr>
          <a:xfrm>
            <a:off x="618300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Поставщик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трейд-инвестиции в рамках коммерческих условий</a:t>
            </a:r>
            <a:endParaRPr lang="ru-RU" sz="1200"/>
          </a:p>
        </p:txBody>
      </p:sp>
      <p:sp>
        <p:nvSpPr>
          <p:cNvPr id="14" name="ADS 1052">
            <a:extLst>
              <a:ext uri="{FF2B5EF4-FFF2-40B4-BE49-F238E27FC236}">
                <a16:creationId xmlns:a16="http://schemas.microsoft.com/office/drawing/2014/main" id="{002CEA90-6643-D8A6-0A3B-F9D8D62AC6A1}"/>
              </a:ext>
            </a:extLst>
          </p:cNvPr>
          <p:cNvSpPr/>
          <p:nvPr/>
        </p:nvSpPr>
        <p:spPr>
          <a:xfrm>
            <a:off x="2145867" y="2955608"/>
            <a:ext cx="200000" cy="220000"/>
          </a:xfrm>
          <a:prstGeom prst="rightArrow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5" name="ADS 1053">
            <a:extLst>
              <a:ext uri="{FF2B5EF4-FFF2-40B4-BE49-F238E27FC236}">
                <a16:creationId xmlns:a16="http://schemas.microsoft.com/office/drawing/2014/main" id="{E2427C04-2548-EF9A-9D57-86402AA63938}"/>
              </a:ext>
            </a:extLst>
          </p:cNvPr>
          <p:cNvSpPr/>
          <p:nvPr/>
        </p:nvSpPr>
        <p:spPr>
          <a:xfrm>
            <a:off x="2395867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6" name="ADS 1054">
            <a:extLst>
              <a:ext uri="{FF2B5EF4-FFF2-40B4-BE49-F238E27FC236}">
                <a16:creationId xmlns:a16="http://schemas.microsoft.com/office/drawing/2014/main" id="{EE584239-7A3A-2CE8-4358-421B944898AB}"/>
              </a:ext>
            </a:extLst>
          </p:cNvPr>
          <p:cNvSpPr txBox="1"/>
          <p:nvPr/>
        </p:nvSpPr>
        <p:spPr>
          <a:xfrm>
            <a:off x="2465867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Коммерция форматов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ведет переговоры и наращивает выручку</a:t>
            </a:r>
            <a:endParaRPr lang="ru-RU" sz="1200"/>
          </a:p>
        </p:txBody>
      </p:sp>
      <p:sp>
        <p:nvSpPr>
          <p:cNvPr id="17" name="ADS 1055">
            <a:extLst>
              <a:ext uri="{FF2B5EF4-FFF2-40B4-BE49-F238E27FC236}">
                <a16:creationId xmlns:a16="http://schemas.microsoft.com/office/drawing/2014/main" id="{224F4386-B450-06C4-F955-003AA2D7E198}"/>
              </a:ext>
            </a:extLst>
          </p:cNvPr>
          <p:cNvSpPr/>
          <p:nvPr/>
        </p:nvSpPr>
        <p:spPr>
          <a:xfrm>
            <a:off x="3993433" y="2955608"/>
            <a:ext cx="200000" cy="220000"/>
          </a:xfrm>
          <a:prstGeom prst="rightArrow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8" name="ADS 1056">
            <a:extLst>
              <a:ext uri="{FF2B5EF4-FFF2-40B4-BE49-F238E27FC236}">
                <a16:creationId xmlns:a16="http://schemas.microsoft.com/office/drawing/2014/main" id="{49B016DD-0563-A408-689F-2021FF5DEB0F}"/>
              </a:ext>
            </a:extLst>
          </p:cNvPr>
          <p:cNvSpPr/>
          <p:nvPr/>
        </p:nvSpPr>
        <p:spPr>
          <a:xfrm>
            <a:off x="4243433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9" name="ADS 1057">
            <a:extLst>
              <a:ext uri="{FF2B5EF4-FFF2-40B4-BE49-F238E27FC236}">
                <a16:creationId xmlns:a16="http://schemas.microsoft.com/office/drawing/2014/main" id="{5441B506-A5A1-0CE0-3A97-AB64BA068C3C}"/>
              </a:ext>
            </a:extLst>
          </p:cNvPr>
          <p:cNvSpPr txBox="1"/>
          <p:nvPr/>
        </p:nvSpPr>
        <p:spPr>
          <a:xfrm>
            <a:off x="4313433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FF452C"/>
                </a:solidFill>
                <a:latin typeface="Arial"/>
                <a:cs typeface="Arial"/>
              </a:rPr>
              <a:t>AdTech</a:t>
            </a:r>
            <a:endParaRPr lang="en-US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создает инвентарь, ведет кампании и отчетность</a:t>
            </a:r>
            <a:endParaRPr lang="ru-RU" sz="1200"/>
          </a:p>
        </p:txBody>
      </p:sp>
      <p:sp>
        <p:nvSpPr>
          <p:cNvPr id="25" name="Role card 2">
            <a:extLst>
              <a:ext uri="{FF2B5EF4-FFF2-40B4-BE49-F238E27FC236}">
                <a16:creationId xmlns:a16="http://schemas.microsoft.com/office/drawing/2014/main" id="{5626C9BC-7A0F-EC50-49B1-BBEA570B92B6}"/>
              </a:ext>
            </a:extLst>
          </p:cNvPr>
          <p:cNvSpPr/>
          <p:nvPr/>
        </p:nvSpPr>
        <p:spPr>
          <a:xfrm>
            <a:off x="6221000" y="1165860"/>
            <a:ext cx="560270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6" name="ADS 1064">
            <a:extLst>
              <a:ext uri="{FF2B5EF4-FFF2-40B4-BE49-F238E27FC236}">
                <a16:creationId xmlns:a16="http://schemas.microsoft.com/office/drawing/2014/main" id="{6E3E5825-927A-5360-D634-5FDC71D6419B}"/>
              </a:ext>
            </a:extLst>
          </p:cNvPr>
          <p:cNvSpPr txBox="1"/>
          <p:nvPr/>
        </p:nvSpPr>
        <p:spPr>
          <a:xfrm>
            <a:off x="6401000" y="1305860"/>
            <a:ext cx="52427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FF452C"/>
                </a:solidFill>
                <a:latin typeface="Arial"/>
                <a:cs typeface="Arial"/>
              </a:rPr>
              <a:t>Бренд-бюджеты</a:t>
            </a:r>
            <a:endParaRPr lang="ru-RU" sz="1200"/>
          </a:p>
        </p:txBody>
      </p:sp>
      <p:sp>
        <p:nvSpPr>
          <p:cNvPr id="27" name="ADS 1065">
            <a:extLst>
              <a:ext uri="{FF2B5EF4-FFF2-40B4-BE49-F238E27FC236}">
                <a16:creationId xmlns:a16="http://schemas.microsoft.com/office/drawing/2014/main" id="{F98A22A2-9BD7-9F4D-D527-75A6E040B101}"/>
              </a:ext>
            </a:extLst>
          </p:cNvPr>
          <p:cNvSpPr txBox="1"/>
          <p:nvPr/>
        </p:nvSpPr>
        <p:spPr>
          <a:xfrm>
            <a:off x="6401000" y="1645860"/>
            <a:ext cx="52427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Стремимся выйти на бренд-бюджеты — развиваемся через внешнее ЮЛ Магнит Маркета</a:t>
            </a:r>
            <a:endParaRPr lang="ru-RU" sz="1200"/>
          </a:p>
        </p:txBody>
      </p:sp>
      <p:sp>
        <p:nvSpPr>
          <p:cNvPr id="28" name="ADS 1066">
            <a:extLst>
              <a:ext uri="{FF2B5EF4-FFF2-40B4-BE49-F238E27FC236}">
                <a16:creationId xmlns:a16="http://schemas.microsoft.com/office/drawing/2014/main" id="{74171890-49F2-B5FA-4D24-98EA08B26614}"/>
              </a:ext>
            </a:extLst>
          </p:cNvPr>
          <p:cNvSpPr/>
          <p:nvPr/>
        </p:nvSpPr>
        <p:spPr>
          <a:xfrm>
            <a:off x="6401000" y="2175860"/>
            <a:ext cx="52427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9" name="ADS 1067">
            <a:extLst>
              <a:ext uri="{FF2B5EF4-FFF2-40B4-BE49-F238E27FC236}">
                <a16:creationId xmlns:a16="http://schemas.microsoft.com/office/drawing/2014/main" id="{320B44EA-7054-564B-FB55-4BC5B99DCC99}"/>
              </a:ext>
            </a:extLst>
          </p:cNvPr>
          <p:cNvSpPr txBox="1"/>
          <p:nvPr/>
        </p:nvSpPr>
        <p:spPr>
          <a:xfrm>
            <a:off x="6401000" y="2301051"/>
            <a:ext cx="52427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Как работаем с бюджетом</a:t>
            </a:r>
            <a:endParaRPr lang="ru-RU" sz="1200"/>
          </a:p>
        </p:txBody>
      </p:sp>
      <p:sp>
        <p:nvSpPr>
          <p:cNvPr id="30" name="ADS 1068">
            <a:extLst>
              <a:ext uri="{FF2B5EF4-FFF2-40B4-BE49-F238E27FC236}">
                <a16:creationId xmlns:a16="http://schemas.microsoft.com/office/drawing/2014/main" id="{6E938C0B-D0AA-EB41-D824-24D3D130E74E}"/>
              </a:ext>
            </a:extLst>
          </p:cNvPr>
          <p:cNvSpPr/>
          <p:nvPr/>
        </p:nvSpPr>
        <p:spPr>
          <a:xfrm>
            <a:off x="6401000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1" name="ADS 1069">
            <a:extLst>
              <a:ext uri="{FF2B5EF4-FFF2-40B4-BE49-F238E27FC236}">
                <a16:creationId xmlns:a16="http://schemas.microsoft.com/office/drawing/2014/main" id="{FC2F763A-96A8-AB62-AAE1-D71C86DFE373}"/>
              </a:ext>
            </a:extLst>
          </p:cNvPr>
          <p:cNvSpPr txBox="1"/>
          <p:nvPr/>
        </p:nvSpPr>
        <p:spPr>
          <a:xfrm>
            <a:off x="6471000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Бренд-команда поставщика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бюджет на охватную рекламу: ТВ, OOH, digital</a:t>
            </a:r>
            <a:endParaRPr lang="ru-RU" sz="1200"/>
          </a:p>
        </p:txBody>
      </p:sp>
      <p:sp>
        <p:nvSpPr>
          <p:cNvPr id="32" name="ADS 1070">
            <a:extLst>
              <a:ext uri="{FF2B5EF4-FFF2-40B4-BE49-F238E27FC236}">
                <a16:creationId xmlns:a16="http://schemas.microsoft.com/office/drawing/2014/main" id="{86CE7601-55CB-2AA8-3ACD-6D4D34FFF3B2}"/>
              </a:ext>
            </a:extLst>
          </p:cNvPr>
          <p:cNvSpPr/>
          <p:nvPr/>
        </p:nvSpPr>
        <p:spPr>
          <a:xfrm>
            <a:off x="7998567" y="2955608"/>
            <a:ext cx="200000" cy="220000"/>
          </a:xfrm>
          <a:prstGeom prst="rightArrow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3" name="ADS 1071">
            <a:extLst>
              <a:ext uri="{FF2B5EF4-FFF2-40B4-BE49-F238E27FC236}">
                <a16:creationId xmlns:a16="http://schemas.microsoft.com/office/drawing/2014/main" id="{7C4DCCDD-B76A-893D-A1EE-B818DA123690}"/>
              </a:ext>
            </a:extLst>
          </p:cNvPr>
          <p:cNvSpPr/>
          <p:nvPr/>
        </p:nvSpPr>
        <p:spPr>
          <a:xfrm>
            <a:off x="8248567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4" name="ADS 1072">
            <a:extLst>
              <a:ext uri="{FF2B5EF4-FFF2-40B4-BE49-F238E27FC236}">
                <a16:creationId xmlns:a16="http://schemas.microsoft.com/office/drawing/2014/main" id="{0CC4A8D1-37B6-DAB5-F1D2-E0C9CCD14469}"/>
              </a:ext>
            </a:extLst>
          </p:cNvPr>
          <p:cNvSpPr txBox="1"/>
          <p:nvPr/>
        </p:nvSpPr>
        <p:spPr>
          <a:xfrm>
            <a:off x="8318567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Внешнее ЮЛ Магнит Маркета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RMN в связке с Дикси и Азбукой Вкуса</a:t>
            </a:r>
            <a:endParaRPr lang="ru-RU" sz="1200"/>
          </a:p>
        </p:txBody>
      </p:sp>
      <p:sp>
        <p:nvSpPr>
          <p:cNvPr id="35" name="ADS 1073">
            <a:extLst>
              <a:ext uri="{FF2B5EF4-FFF2-40B4-BE49-F238E27FC236}">
                <a16:creationId xmlns:a16="http://schemas.microsoft.com/office/drawing/2014/main" id="{80853A94-6C0A-D93E-F031-C80373C393AF}"/>
              </a:ext>
            </a:extLst>
          </p:cNvPr>
          <p:cNvSpPr/>
          <p:nvPr/>
        </p:nvSpPr>
        <p:spPr>
          <a:xfrm>
            <a:off x="9846133" y="2955608"/>
            <a:ext cx="200000" cy="220000"/>
          </a:xfrm>
          <a:prstGeom prst="rightArrow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6" name="ADS 1074">
            <a:extLst>
              <a:ext uri="{FF2B5EF4-FFF2-40B4-BE49-F238E27FC236}">
                <a16:creationId xmlns:a16="http://schemas.microsoft.com/office/drawing/2014/main" id="{08D0A1F6-FAC9-404B-CEAE-36FB2FA5575B}"/>
              </a:ext>
            </a:extLst>
          </p:cNvPr>
          <p:cNvSpPr/>
          <p:nvPr/>
        </p:nvSpPr>
        <p:spPr>
          <a:xfrm>
            <a:off x="10096133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7" name="ADS 1075">
            <a:extLst>
              <a:ext uri="{FF2B5EF4-FFF2-40B4-BE49-F238E27FC236}">
                <a16:creationId xmlns:a16="http://schemas.microsoft.com/office/drawing/2014/main" id="{38F46111-3199-7DB1-4E60-55A3BF096B22}"/>
              </a:ext>
            </a:extLst>
          </p:cNvPr>
          <p:cNvSpPr txBox="1"/>
          <p:nvPr/>
        </p:nvSpPr>
        <p:spPr>
          <a:xfrm>
            <a:off x="10166133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FF452C"/>
                </a:solidFill>
                <a:latin typeface="Arial"/>
                <a:cs typeface="Arial"/>
              </a:rPr>
              <a:t>AdTech</a:t>
            </a:r>
            <a:endParaRPr lang="en-US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продает напрямую и через агентства</a:t>
            </a:r>
            <a:endParaRPr lang="ru-RU" sz="1200"/>
          </a:p>
        </p:txBody>
      </p:sp>
      <p:sp>
        <p:nvSpPr>
          <p:cNvPr id="38" name="ADS line 38"/>
          <p:cNvSpPr/>
          <p:nvPr/>
        </p:nvSpPr>
        <p:spPr>
          <a:xfrm>
            <a:off x="548640" y="3664132"/>
            <a:ext cx="523951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9" name="ADS label 39"/>
          <p:cNvSpPr txBox="1"/>
          <p:nvPr/>
        </p:nvSpPr>
        <p:spPr>
          <a:xfrm>
            <a:off x="548640" y="3737284"/>
            <a:ext cx="523951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Цель</a:t>
            </a:r>
            <a:endParaRPr lang="ru-RU" sz="1200"/>
          </a:p>
        </p:txBody>
      </p:sp>
      <p:sp>
        <p:nvSpPr>
          <p:cNvPr id="40" name="ADS label 40"/>
          <p:cNvSpPr txBox="1"/>
          <p:nvPr/>
        </p:nvSpPr>
        <p:spPr>
          <a:xfrm>
            <a:off x="548640" y="3984172"/>
            <a:ext cx="5239512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Трейд-бюджеты драйвит Коммерция Магнита.</a:t>
            </a:r>
            <a:r>
              <a:rPr lang="ru-RU" sz="1050" b="0">
                <a:solidFill>
                  <a:srgbClr val="000000"/>
                </a:solidFill>
                <a:latin typeface="Arial"/>
                <a:cs typeface="Arial"/>
              </a:rPr>
              <a:t> Задача AdTech — освоить эти бюджеты и создать максимальную добавочную ценность рекламы, чтобы поставщик был готов инвестировать в инструментарий дальше</a:t>
            </a:r>
            <a:endParaRPr lang="ru-RU" sz="1200"/>
          </a:p>
        </p:txBody>
      </p:sp>
      <p:sp>
        <p:nvSpPr>
          <p:cNvPr id="41" name="ADS pink 41"/>
          <p:cNvSpPr/>
          <p:nvPr/>
        </p:nvSpPr>
        <p:spPr>
          <a:xfrm>
            <a:off x="548640" y="4852852"/>
            <a:ext cx="5239512" cy="65836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42" name="ADS pinktxt 42"/>
          <p:cNvSpPr txBox="1"/>
          <p:nvPr/>
        </p:nvSpPr>
        <p:spPr>
          <a:xfrm>
            <a:off x="640080" y="4898572"/>
            <a:ext cx="5056632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FF452C"/>
                </a:solidFill>
                <a:latin typeface="Arial"/>
                <a:cs typeface="Arial"/>
              </a:rPr>
              <a:t>Как измеряем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освоение бюджетов, sales lift и ROAS кампаний, рост повторных инвестиций поставщиков</a:t>
            </a:r>
            <a:endParaRPr lang="ru-RU" sz="1200"/>
          </a:p>
        </p:txBody>
      </p:sp>
      <p:sp>
        <p:nvSpPr>
          <p:cNvPr id="43" name="ADS line 43"/>
          <p:cNvSpPr/>
          <p:nvPr/>
        </p:nvSpPr>
        <p:spPr>
          <a:xfrm>
            <a:off x="6400800" y="3664132"/>
            <a:ext cx="523951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44" name="ADS label 44"/>
          <p:cNvSpPr txBox="1"/>
          <p:nvPr/>
        </p:nvSpPr>
        <p:spPr>
          <a:xfrm>
            <a:off x="6400800" y="3737284"/>
            <a:ext cx="523951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Цель</a:t>
            </a:r>
            <a:endParaRPr lang="ru-RU" sz="1200"/>
          </a:p>
        </p:txBody>
      </p:sp>
      <p:sp>
        <p:nvSpPr>
          <p:cNvPr id="45" name="ADS label 45"/>
          <p:cNvSpPr txBox="1"/>
          <p:nvPr/>
        </p:nvSpPr>
        <p:spPr>
          <a:xfrm>
            <a:off x="6400800" y="3984172"/>
            <a:ext cx="5239512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Бренд-бюджеты — выход в новые охватные сегменты.</a:t>
            </a:r>
            <a:r>
              <a:rPr lang="ru-RU" sz="1050" b="0">
                <a:solidFill>
                  <a:srgbClr val="000000"/>
                </a:solidFill>
                <a:latin typeface="Arial"/>
                <a:cs typeface="Arial"/>
              </a:rPr>
              <a:t> Конкурируем со всем рынком рекламы и доказываем брендам, что ритейл-медиа эффективнее внешних охватных инструментов: традиционного digital (РСЯ, VK) и DOOH (Russ Outdoor)</a:t>
            </a:r>
            <a:endParaRPr lang="ru-RU" sz="1200"/>
          </a:p>
        </p:txBody>
      </p:sp>
      <p:sp>
        <p:nvSpPr>
          <p:cNvPr id="46" name="ADS pink 46"/>
          <p:cNvSpPr/>
          <p:nvPr/>
        </p:nvSpPr>
        <p:spPr>
          <a:xfrm>
            <a:off x="6400800" y="4852852"/>
            <a:ext cx="5239512" cy="65836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47" name="ADS pinktxt 47"/>
          <p:cNvSpPr txBox="1"/>
          <p:nvPr/>
        </p:nvSpPr>
        <p:spPr>
          <a:xfrm>
            <a:off x="6492240" y="4898572"/>
            <a:ext cx="5056632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FF452C"/>
                </a:solidFill>
                <a:latin typeface="Arial"/>
                <a:cs typeface="Arial"/>
              </a:rPr>
              <a:t>Как измеряем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инкрементальная выручка RMN, доля в бренд-бюджетах, brand lift и sales lift против внешних охватов</a:t>
            </a:r>
            <a:endParaRPr lang="ru-RU" sz="1200"/>
          </a:p>
        </p:txBody>
      </p:sp>
    </p:spTree>
    <p:extLst>
      <p:ext uri="{BB962C8B-B14F-4D97-AF65-F5344CB8AC3E}">
        <p14:creationId xmlns:p14="http://schemas.microsoft.com/office/powerpoint/2010/main" val="4449355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DF8EBA-9590-4C81-9F69-5D123BF96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7D62E96-F664-40DC-868E-D0B2F0A46B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060A129-27E9-4599-B4E5-C57388EC22F3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ru-RU" sz="5000" b="1">
                <a:solidFill>
                  <a:srgbClr val="FF452C"/>
                </a:solidFill>
                <a:latin typeface="Arial"/>
              </a:rPr>
              <a:t>02</a:t>
            </a:r>
          </a:p>
          <a:p>
            <a:pPr>
              <a:lnSpc>
                <a:spcPct val="90000"/>
              </a:lnSpc>
              <a:buNone/>
            </a:pPr>
            <a:r>
              <a:rPr lang="en-US">
                <a:solidFill>
                  <a:srgbClr val="FFFFFF"/>
                </a:solidFill>
                <a:latin typeface="Arial"/>
              </a:rPr>
              <a:t>BU2027 Overview</a:t>
            </a:r>
            <a:endParaRPr lang="en-US" sz="5000" b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BC4C214E-1A99-490C-A3B5-9407F8AE15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/>
              <a:t>P&amp;L, сезонность, планы направлений и пререквизиты</a:t>
            </a:r>
          </a:p>
        </p:txBody>
      </p:sp>
    </p:spTree>
    <p:extLst>
      <p:ext uri="{BB962C8B-B14F-4D97-AF65-F5344CB8AC3E}">
        <p14:creationId xmlns:p14="http://schemas.microsoft.com/office/powerpoint/2010/main" val="36230235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46212E8-2DA6-6B7B-76AC-1E529EE3E46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998D84-AF56-10C7-0944-36EF753D0F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25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B8F879-99E1-3AE9-5D03-781690F4C0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P&amp;L 2027: выручка 14,6 млрд руб. (+41%), EBITDA 10,8 млрд руб. (+34%)</a:t>
            </a:r>
          </a:p>
        </p:txBody>
      </p:sp>
      <p:graphicFrame>
        <p:nvGraphicFramePr>
          <p:cNvPr id="200" name="Table 200"/>
          <p:cNvGraphicFramePr>
            <a:graphicFrameLocks noGrp="1"/>
          </p:cNvGraphicFramePr>
          <p:nvPr/>
        </p:nvGraphicFramePr>
        <p:xfrm>
          <a:off x="368300" y="1041400"/>
          <a:ext cx="6832600" cy="4795520"/>
        </p:xfrm>
        <a:graphic>
          <a:graphicData uri="http://schemas.openxmlformats.org/drawingml/2006/table">
            <a:tbl>
              <a:tblPr firstRow="1"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P&amp;L,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>
                          <a:solidFill>
                            <a:srgbClr val="000000"/>
                          </a:solidFill>
                          <a:latin typeface="Arial"/>
                        </a:rPr>
                        <a:t>FC 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>
                          <a:solidFill>
                            <a:srgbClr val="000000"/>
                          </a:solidFill>
                          <a:latin typeface="Arial"/>
                        </a:rPr>
                        <a:t>BU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YoY, абс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>
                          <a:solidFill>
                            <a:srgbClr val="000000"/>
                          </a:solidFill>
                          <a:latin typeface="Arial"/>
                        </a:rPr>
                        <a:t>YoY, 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Стратегия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BU vs стр., абс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APP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6 195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7 696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1 501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7 251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445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In-store digital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2 446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4 019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1 573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4 509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(490)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DMP + Online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987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1 600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1 063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537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RMN (бренд-бюджеты)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593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258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Content factory, внешн.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DMP + Analytics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Gross Revenue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10 323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14 566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4 243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41%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12 948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1 618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COGS (маркетинг)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(881)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(1 971)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(1 091)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&gt;100%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(1 292)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(679)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Net Revenue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9 443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12 595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3 152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33%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11 656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939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(1 120)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(1 436)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(316)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(1 479)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Other 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(33)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(40)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(26)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Marketing (прочий)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(55)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(101)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(45)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(37)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(63)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IT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(59)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(34)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57%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(62)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(30)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Other OPEX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(102)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(98)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OPEX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(1 358)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(1 772)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(414)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30%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(1 702)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(70)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EBITDA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8 085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10 823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2 739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34%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9 953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870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i="1">
                          <a:solidFill>
                            <a:srgbClr val="595959"/>
                          </a:solidFill>
                          <a:latin typeface="Arial"/>
                        </a:rPr>
                        <a:t>EBITDA margin, 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78%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74%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−4 п.п.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77%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−3 п.п.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(1 180)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(1 151)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−2%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(1 242)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FCF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6 905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9 673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2 768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40%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8 711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962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201" name="Shape 201"/>
          <p:cNvSpPr txBox="1"/>
          <p:nvPr/>
        </p:nvSpPr>
        <p:spPr>
          <a:xfrm>
            <a:off x="7620000" y="1041400"/>
            <a:ext cx="4203700" cy="50165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Драйверы роста выручки и предпосылки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en-US" sz="1100" b="1">
                <a:solidFill>
                  <a:srgbClr val="000000"/>
                </a:solidFill>
              </a:rPr>
              <a:t>APP +1 501: </a:t>
            </a:r>
            <a:r>
              <a:rPr lang="ru-RU" sz="1100">
                <a:solidFill>
                  <a:srgbClr val="000000"/>
                </a:solidFill>
              </a:rPr>
              <a:t>~60% (+873) — полный год нового прайса (CPM +17%, чек перформанса +26%), ~40% (+628) — рост аудитории: DAC на 3 млн (до 31,1 млн </a:t>
            </a:r>
            <a:r>
              <a:rPr lang="en-US" sz="1100">
                <a:solidFill>
                  <a:srgbClr val="000000"/>
                </a:solidFill>
              </a:rPr>
              <a:t>DAC)</a:t>
            </a:r>
            <a:endParaRPr lang="ru-RU" sz="1100">
              <a:solidFill>
                <a:srgbClr val="000000"/>
              </a:solidFill>
            </a:endParaRP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100" b="1">
                <a:solidFill>
                  <a:srgbClr val="000000"/>
                </a:solidFill>
              </a:rPr>
              <a:t>In-store +1 573: </a:t>
            </a:r>
            <a:r>
              <a:rPr lang="ru-RU" sz="1100">
                <a:solidFill>
                  <a:srgbClr val="000000"/>
                </a:solidFill>
              </a:rPr>
              <a:t>полный год работы оборудования, введённого в 2026 г. (+2 462); доход на устройство заложен консервативно (−1 264, в основном КСО)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en-US" sz="1100" b="1">
                <a:solidFill>
                  <a:srgbClr val="000000"/>
                </a:solidFill>
              </a:rPr>
              <a:t>DMP + Online +613: </a:t>
            </a:r>
            <a:r>
              <a:rPr lang="ru-RU" sz="1100">
                <a:solidFill>
                  <a:srgbClr val="000000"/>
                </a:solidFill>
              </a:rPr>
              <a:t>две трети прироста — новые площадки (SmartTV, Авито, маркетплейсы, 420); маржинальность 37,5%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ru-RU" sz="1100" b="1">
                <a:solidFill>
                  <a:srgbClr val="000000"/>
                </a:solidFill>
              </a:rPr>
              <a:t>Новые направления: </a:t>
            </a:r>
            <a:r>
              <a:rPr lang="ru-RU" sz="1100">
                <a:solidFill>
                  <a:srgbClr val="000000"/>
                </a:solidFill>
              </a:rPr>
              <a:t>RMN 850 (+258) и Content factory 213 — бренд-бюджеты поставщиков и внешние рекламодатели вне КУ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100" b="1">
                <a:solidFill>
                  <a:srgbClr val="000000"/>
                </a:solidFill>
              </a:rPr>
              <a:t>COGS 1 971: </a:t>
            </a:r>
            <a:r>
              <a:rPr lang="ru-RU" sz="1100">
                <a:solidFill>
                  <a:srgbClr val="000000"/>
                </a:solidFill>
              </a:rPr>
              <a:t>закупка трафика DMP 1 000, агентства 795, креаторы Content </a:t>
            </a:r>
            <a:r>
              <a:rPr lang="en-US" sz="1100">
                <a:solidFill>
                  <a:srgbClr val="000000"/>
                </a:solidFill>
              </a:rPr>
              <a:t>factory</a:t>
            </a:r>
            <a:r>
              <a:rPr lang="ru-RU" sz="1100">
                <a:solidFill>
                  <a:srgbClr val="000000"/>
                </a:solidFill>
              </a:rPr>
              <a:t> 176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100" b="1">
                <a:solidFill>
                  <a:srgbClr val="000000"/>
                </a:solidFill>
              </a:rPr>
              <a:t>PEX 1 436: </a:t>
            </a:r>
            <a:r>
              <a:rPr lang="ru-RU" sz="1100">
                <a:solidFill>
                  <a:srgbClr val="000000"/>
                </a:solidFill>
              </a:rPr>
              <a:t>ФОТ </a:t>
            </a:r>
            <a:r>
              <a:rPr lang="en-US" sz="1100">
                <a:solidFill>
                  <a:srgbClr val="000000"/>
                </a:solidFill>
              </a:rPr>
              <a:t>AdTech</a:t>
            </a:r>
            <a:r>
              <a:rPr lang="ru-RU" sz="1100">
                <a:solidFill>
                  <a:srgbClr val="000000"/>
                </a:solidFill>
              </a:rPr>
              <a:t> 1 370 + команда Content </a:t>
            </a:r>
            <a:r>
              <a:rPr lang="en-US" sz="1100">
                <a:solidFill>
                  <a:srgbClr val="000000"/>
                </a:solidFill>
              </a:rPr>
              <a:t>factory</a:t>
            </a:r>
            <a:r>
              <a:rPr lang="ru-RU" sz="1100">
                <a:solidFill>
                  <a:srgbClr val="000000"/>
                </a:solidFill>
              </a:rPr>
              <a:t> 66; 354 FTE на конец 2027 г. (312 на конец 2026 г.), в 2027 г. штат работает полный год; 27% ФОТ (510 млн руб.) капитализируется</a:t>
            </a:r>
          </a:p>
        </p:txBody>
      </p:sp>
    </p:spTree>
    <p:extLst>
      <p:ext uri="{BB962C8B-B14F-4D97-AF65-F5344CB8AC3E}">
        <p14:creationId xmlns:p14="http://schemas.microsoft.com/office/powerpoint/2010/main" val="14697242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1B195EE-AB28-7BF5-C59F-08686C969E2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млн руб. без НДС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2BA190-0DA4-8110-CB82-CAC8AD064E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26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EE4971-9518-1AE3-CEF7-A78B6EB476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42% выручки 2027 приходится на Q4: сезонность цен и рост аудитории к концу года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308100"/>
          <a:ext cx="7747000" cy="48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0" name="Shape 300"/>
          <p:cNvSpPr txBox="1"/>
          <p:nvPr/>
        </p:nvSpPr>
        <p:spPr>
          <a:xfrm>
            <a:off x="368300" y="1016000"/>
            <a:ext cx="7620000" cy="304800"/>
          </a:xfrm>
          <a:prstGeom prst="rect">
            <a:avLst/>
          </a:prstGeom>
          <a:noFill/>
        </p:spPr>
        <p:txBody>
          <a:bodyPr wrap="square" lIns="9144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Gross Revenue по месяцам 2027, млн руб.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8255000" y="1016000"/>
            <a:ext cx="3568700" cy="50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Комментарии</a:t>
            </a:r>
          </a:p>
          <a:p>
            <a:pPr marL="0" indent="0" algn="l">
              <a:spcBef>
                <a:spcPts val="90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Выручка по кварталам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en-US" sz="1200">
                <a:solidFill>
                  <a:srgbClr val="000000"/>
                </a:solidFill>
              </a:rPr>
              <a:t>Q1: </a:t>
            </a:r>
            <a:r>
              <a:rPr lang="en-US" sz="1200" b="1">
                <a:solidFill>
                  <a:srgbClr val="000000"/>
                </a:solidFill>
              </a:rPr>
              <a:t>2 039</a:t>
            </a:r>
            <a:r>
              <a:rPr lang="en-US" sz="1200">
                <a:solidFill>
                  <a:srgbClr val="000000"/>
                </a:solidFill>
              </a:rPr>
              <a:t> (14%)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en-US" sz="1200">
                <a:solidFill>
                  <a:srgbClr val="000000"/>
                </a:solidFill>
              </a:rPr>
              <a:t>Q2: </a:t>
            </a:r>
            <a:r>
              <a:rPr lang="en-US" sz="1200" b="1">
                <a:solidFill>
                  <a:srgbClr val="000000"/>
                </a:solidFill>
              </a:rPr>
              <a:t>3 059</a:t>
            </a:r>
            <a:r>
              <a:rPr lang="en-US" sz="1200">
                <a:solidFill>
                  <a:srgbClr val="000000"/>
                </a:solidFill>
              </a:rPr>
              <a:t> (21%)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en-US" sz="1200">
                <a:solidFill>
                  <a:srgbClr val="000000"/>
                </a:solidFill>
              </a:rPr>
              <a:t>Q3: </a:t>
            </a:r>
            <a:r>
              <a:rPr lang="en-US" sz="1200" b="1">
                <a:solidFill>
                  <a:srgbClr val="000000"/>
                </a:solidFill>
              </a:rPr>
              <a:t>3 350</a:t>
            </a:r>
            <a:r>
              <a:rPr lang="en-US" sz="1200">
                <a:solidFill>
                  <a:srgbClr val="000000"/>
                </a:solidFill>
              </a:rPr>
              <a:t> (23%)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en-US" sz="1200">
                <a:solidFill>
                  <a:srgbClr val="000000"/>
                </a:solidFill>
              </a:rPr>
              <a:t>Q4: </a:t>
            </a:r>
            <a:r>
              <a:rPr lang="en-US" sz="1200" b="1"/>
              <a:t>6 118</a:t>
            </a:r>
            <a:r>
              <a:rPr lang="en-US" sz="1200"/>
              <a:t> </a:t>
            </a:r>
            <a:r>
              <a:rPr lang="en-US" sz="1200">
                <a:solidFill>
                  <a:srgbClr val="000000"/>
                </a:solidFill>
              </a:rPr>
              <a:t>(42%)</a:t>
            </a:r>
          </a:p>
          <a:p>
            <a:pPr marL="0" indent="0" algn="l">
              <a:spcBef>
                <a:spcPts val="90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Профиль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ru-RU" sz="1200">
                <a:solidFill>
                  <a:srgbClr val="000000"/>
                </a:solidFill>
              </a:rPr>
              <a:t>Январь — 2% годового плана, декабрь — 17%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Q4 — 42% годовой выручки: </a:t>
            </a:r>
            <a:r>
              <a:rPr lang="ru-RU" sz="1200">
                <a:solidFill>
                  <a:srgbClr val="000000"/>
                </a:solidFill>
              </a:rPr>
              <a:t>сезонный пик рекламных бюджетов и рост аудитории к концу года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При равномерном PEX </a:t>
            </a:r>
            <a:r>
              <a:rPr lang="ru-RU" sz="1200">
                <a:solidFill>
                  <a:srgbClr val="000000"/>
                </a:solidFill>
              </a:rPr>
              <a:t>маржа EBITDA растёт с 25% в январе до 83% в декабре</a:t>
            </a:r>
          </a:p>
        </p:txBody>
      </p:sp>
    </p:spTree>
    <p:extLst>
      <p:ext uri="{BB962C8B-B14F-4D97-AF65-F5344CB8AC3E}">
        <p14:creationId xmlns:p14="http://schemas.microsoft.com/office/powerpoint/2010/main" val="39679946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27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Планы направлений 2027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FF452C"/>
                </a:solidFill>
              </a:rPr>
              <a:t>APP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7 696 млн руб.  ·  +24%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Монетизация роста аудитории: DAC </a:t>
            </a:r>
            <a:r>
              <a:rPr lang="ru-RU" sz="1400" b="1">
                <a:solidFill>
                  <a:srgbClr val="000000"/>
                </a:solidFill>
              </a:rPr>
              <a:t>+3 млн (до 31,1 млн)</a:t>
            </a:r>
            <a:r>
              <a:rPr lang="ru-RU" sz="1400">
                <a:solidFill>
                  <a:srgbClr val="000000"/>
                </a:solidFill>
              </a:rPr>
              <a:t>, показы AdTech 6,5 млрд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Полный год нового прайса: модальное окно и Косметик — </a:t>
            </a:r>
            <a:r>
              <a:rPr lang="ru-RU" sz="1400" b="1">
                <a:solidFill>
                  <a:srgbClr val="000000"/>
                </a:solidFill>
              </a:rPr>
              <a:t>1 000 руб.</a:t>
            </a:r>
            <a:r>
              <a:rPr lang="en-US" sz="1400">
                <a:solidFill>
                  <a:srgbClr val="000000"/>
                </a:solidFill>
              </a:rPr>
              <a:t> CPM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Перформанс: </a:t>
            </a:r>
            <a:r>
              <a:rPr lang="ru-RU" sz="1400" b="1">
                <a:solidFill>
                  <a:srgbClr val="000000"/>
                </a:solidFill>
              </a:rPr>
              <a:t>2,3 тыс.</a:t>
            </a:r>
            <a:r>
              <a:rPr lang="ru-RU" sz="1400">
                <a:solidFill>
                  <a:srgbClr val="000000"/>
                </a:solidFill>
              </a:rPr>
              <a:t> кампаний в месяц, чек 86 тыс.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Сторис: </a:t>
            </a:r>
            <a:r>
              <a:rPr lang="ru-RU" sz="1400" b="1">
                <a:solidFill>
                  <a:srgbClr val="000000"/>
                </a:solidFill>
              </a:rPr>
              <a:t>313</a:t>
            </a:r>
            <a:r>
              <a:rPr lang="ru-RU" sz="1400">
                <a:solidFill>
                  <a:srgbClr val="000000"/>
                </a:solidFill>
              </a:rPr>
              <a:t> кампаний в месяц по 100 тыс. руб. за день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FF452C"/>
                </a:solidFill>
              </a:rPr>
              <a:t>In-store digital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4 019 млн руб.  ·  +64%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Ввод </a:t>
            </a:r>
            <a:r>
              <a:rPr lang="ru-RU" sz="1400" b="1">
                <a:solidFill>
                  <a:srgbClr val="000000"/>
                </a:solidFill>
              </a:rPr>
              <a:t>3 250</a:t>
            </a:r>
            <a:r>
              <a:rPr lang="ru-RU" sz="1400">
                <a:solidFill>
                  <a:srgbClr val="000000"/>
                </a:solidFill>
              </a:rPr>
              <a:t> шелф-баннеров, 428 фасадных экранов и 20 медиафасадов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Запуск целевой системы управления медиаконтентом (CAPEX 438 млн руб.)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DMP и данные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1 787 млн руб.  ·  +64%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Баннеры и OLV: </a:t>
            </a:r>
            <a:r>
              <a:rPr lang="ru-RU" sz="1400" b="1">
                <a:solidFill>
                  <a:srgbClr val="000000"/>
                </a:solidFill>
              </a:rPr>
              <a:t>788 млн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Пакеты и Онлайн+ТВ: </a:t>
            </a:r>
            <a:r>
              <a:rPr lang="ru-RU" sz="1400" b="1">
                <a:solidFill>
                  <a:srgbClr val="000000"/>
                </a:solidFill>
              </a:rPr>
              <a:t>393 млн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Новые площадки — SmartTV, Авито, маркетплейсы: </a:t>
            </a:r>
            <a:r>
              <a:rPr lang="ru-RU" sz="1400" b="1">
                <a:solidFill>
                  <a:srgbClr val="000000"/>
                </a:solidFill>
              </a:rPr>
              <a:t>420 млн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Аналитика: DMP 54 и ad hoc 133 млн руб.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RMN и Content factory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1 064 млн руб.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</a:rPr>
              <a:t>RMN: </a:t>
            </a:r>
            <a:r>
              <a:rPr lang="ru-RU" sz="1400" b="1">
                <a:solidFill>
                  <a:srgbClr val="000000"/>
                </a:solidFill>
              </a:rPr>
              <a:t>850 млн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6 ячеек по 25 креаторов к марту 2027</a:t>
            </a:r>
          </a:p>
          <a:p>
            <a:pPr marL="171450" indent="-171450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569 млн просмотров, половина — внешним рекламодателям</a:t>
            </a:r>
          </a:p>
          <a:p>
            <a:pPr marL="171450" indent="-171450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Результат с ВГО 113 млн руб., рентабельность 32%</a:t>
            </a:r>
          </a:p>
        </p:txBody>
      </p:sp>
    </p:spTree>
    <p:extLst>
      <p:ext uri="{BB962C8B-B14F-4D97-AF65-F5344CB8AC3E}">
        <p14:creationId xmlns:p14="http://schemas.microsoft.com/office/powerpoint/2010/main" val="417517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DAC — пользователи, совершившие хотя бы одно действие в приложении. Источник: прогноз М+, стратегия Magnit AdTech 2026–2031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28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Пять пререквизитов достижения целей 2027: аудитория, квота, in-store, отдельное ЮЛ и KPI Коммерции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Пререквизиты и зависимые направления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8300" y="1397000"/>
          <a:ext cx="7114032" cy="4394200"/>
        </p:xfrm>
        <a:graphic>
          <a:graphicData uri="http://schemas.openxmlformats.org/drawingml/2006/table">
            <a:tbl>
              <a:tblPr firstRow="1"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0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Пререквизит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Что требуется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Влияет на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План М+ по аудитории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DAC 31,1 млн на конец 2027 г. (+3 млн)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APP: показы и число кампаний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Квота AdTech в показах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Квота внутренних заказчиков — не более 50% инвентаря; доля AdTech в показах на уровне 2026 г., переход к аукциону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APP Медиа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Ввод in-store оборудования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3 250 шелф-баннеров, 428 фасадных экранов и 20 медиафасадов по графику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In-store digital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Отдельное ЮЛ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Юрлицо для сделок с бренд-бюджетами и внешними рекламодателями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RMN, Content factory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KPI Коммерции форматов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Цель на прирост трейд-бюджетов пропорционально росту инвентаря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Трейд-бюджеты поставщиков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2" name="Shape 302"/>
          <p:cNvSpPr txBox="1"/>
          <p:nvPr/>
        </p:nvSpPr>
        <p:spPr>
          <a:xfrm>
            <a:off x="7823200" y="1016000"/>
            <a:ext cx="40005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Что это значит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Зависимость от экосистемы: </a:t>
            </a:r>
            <a:r>
              <a:rPr lang="en-US" sz="1200">
                <a:solidFill>
                  <a:srgbClr val="000000"/>
                </a:solidFill>
              </a:rPr>
              <a:t>AdTech</a:t>
            </a:r>
            <a:r>
              <a:rPr lang="ru-RU" sz="1200">
                <a:solidFill>
                  <a:srgbClr val="000000"/>
                </a:solidFill>
              </a:rPr>
              <a:t> — горизонталь, результат зависит от DAC (М+) и </a:t>
            </a:r>
            <a:r>
              <a:rPr lang="en-US" sz="1200">
                <a:solidFill>
                  <a:srgbClr val="000000"/>
                </a:solidFill>
              </a:rPr>
              <a:t>online GMV (FoodTech</a:t>
            </a:r>
            <a:r>
              <a:rPr lang="ru-RU" sz="1200">
                <a:solidFill>
                  <a:srgbClr val="000000"/>
                </a:solidFill>
              </a:rPr>
              <a:t>)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Квота 50%: </a:t>
            </a:r>
            <a:r>
              <a:rPr lang="ru-RU" sz="1200">
                <a:solidFill>
                  <a:srgbClr val="000000"/>
                </a:solidFill>
              </a:rPr>
              <a:t>половина инвентаря приложения и </a:t>
            </a:r>
            <a:r>
              <a:rPr lang="en-US" sz="1200">
                <a:solidFill>
                  <a:srgbClr val="000000"/>
                </a:solidFill>
              </a:rPr>
              <a:t>in-store</a:t>
            </a:r>
            <a:r>
              <a:rPr lang="ru-RU" sz="1200">
                <a:solidFill>
                  <a:srgbClr val="000000"/>
                </a:solidFill>
              </a:rPr>
              <a:t> закреплена за задачами команд Магнита; бюджет 2027 рассчитан на фактической доле </a:t>
            </a:r>
            <a:r>
              <a:rPr lang="en-US" sz="1200">
                <a:solidFill>
                  <a:srgbClr val="000000"/>
                </a:solidFill>
              </a:rPr>
              <a:t>AdTech</a:t>
            </a:r>
            <a:r>
              <a:rPr lang="ru-RU" sz="1200">
                <a:solidFill>
                  <a:srgbClr val="000000"/>
                </a:solidFill>
              </a:rPr>
              <a:t> в показах 2026 г.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Верификация </a:t>
            </a:r>
            <a:r>
              <a:rPr lang="en-US" sz="1200" b="1">
                <a:solidFill>
                  <a:srgbClr val="000000"/>
                </a:solidFill>
              </a:rPr>
              <a:t>in-store</a:t>
            </a:r>
            <a:r>
              <a:rPr lang="ru-RU" sz="1200" b="1">
                <a:solidFill>
                  <a:srgbClr val="000000"/>
                </a:solidFill>
              </a:rPr>
              <a:t>: </a:t>
            </a:r>
            <a:r>
              <a:rPr lang="ru-RU" sz="1200">
                <a:solidFill>
                  <a:srgbClr val="000000"/>
                </a:solidFill>
              </a:rPr>
              <a:t>для продажи нового инвентаря нужны система контроля показов и фотофиксация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При отклонении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Пересмотр целей: </a:t>
            </a:r>
            <a:r>
              <a:rPr lang="ru-RU" sz="1200">
                <a:solidFill>
                  <a:srgbClr val="000000"/>
                </a:solidFill>
              </a:rPr>
              <a:t>при невыполнении плана по аудитории, изменении квоты или сдвиге ввода оборудования цели APP и </a:t>
            </a:r>
            <a:r>
              <a:rPr lang="en-US" sz="1200">
                <a:solidFill>
                  <a:srgbClr val="000000"/>
                </a:solidFill>
              </a:rPr>
              <a:t>in-store</a:t>
            </a:r>
            <a:r>
              <a:rPr lang="ru-RU" sz="1200">
                <a:solidFill>
                  <a:srgbClr val="000000"/>
                </a:solidFill>
              </a:rPr>
              <a:t> пересматриваются пропорционально</a:t>
            </a:r>
          </a:p>
        </p:txBody>
      </p:sp>
    </p:spTree>
    <p:extLst>
      <p:ext uri="{BB962C8B-B14F-4D97-AF65-F5344CB8AC3E}">
        <p14:creationId xmlns:p14="http://schemas.microsoft.com/office/powerpoint/2010/main" val="15465734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DF8EBA-9590-4C81-9F69-5D123BF96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7D62E96-F664-40DC-868E-D0B2F0A46B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060A129-27E9-4599-B4E5-C57388EC22F3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ru-RU" sz="5000" b="1">
                <a:solidFill>
                  <a:srgbClr val="FF452C"/>
                </a:solidFill>
                <a:latin typeface="Arial"/>
              </a:rPr>
              <a:t>03</a:t>
            </a:r>
          </a:p>
          <a:p>
            <a:pPr>
              <a:lnSpc>
                <a:spcPct val="90000"/>
              </a:lnSpc>
              <a:buNone/>
            </a:pPr>
            <a:r>
              <a:rPr lang="en-US" sz="5000" b="1">
                <a:solidFill>
                  <a:srgbClr val="FFFFFF"/>
                </a:solidFill>
                <a:latin typeface="Arial"/>
              </a:rPr>
              <a:t>P&amp;L Deep Dive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BC4C214E-1A99-490C-A3B5-9407F8AE15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/>
              <a:t>Логика расчёта строк, бриджи выручки, EBITDA и CAPEX</a:t>
            </a:r>
          </a:p>
        </p:txBody>
      </p:sp>
    </p:spTree>
    <p:extLst>
      <p:ext uri="{BB962C8B-B14F-4D97-AF65-F5344CB8AC3E}">
        <p14:creationId xmlns:p14="http://schemas.microsoft.com/office/powerpoint/2010/main" val="40334069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8FDCD95-2C49-FCBA-9D46-D3D1F7AC1D3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19251" y="6096000"/>
            <a:ext cx="9277350" cy="560000"/>
          </a:xfrm>
        </p:spPr>
        <p:txBody>
          <a:bodyPr/>
          <a:lstStyle/>
          <a:p>
            <a:r>
              <a:rPr lang="ru-RU" sz="800">
                <a:solidFill>
                  <a:srgbClr val="6E6E6E"/>
                </a:solidFill>
              </a:rPr>
              <a:t>млн руб. без НДС; 2026 — факт 8 мес. + прогноз 4 мес. 1. Показы рекламных CPM-плейсментов, проданные AdTech, без квоты внутренних заказчиков. 2. Взвешен по структуре показов; 2026 — по прайсу до 09.2026, сен.–дек. 2026 г. — по новому прайсу. 3. Выручка по прайсу с учётом сезонных коэффициентов цены по месяцам. 4. В 2027 г. — с новыми форматами: приоритетный вывод в категории, брендированная категория, подборка «Покупайте с выгодой»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8BDDC2-A8EC-137E-AD13-84B93FA46C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30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44BFE2-22C4-A10E-17DE-60161C323E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APP +1 501 млн руб. (+24%): ~60% роста — полный год нового прайса, ~40% — рост аудитории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6604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Драйверы выручки APP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8300" y="1397000"/>
          <a:ext cx="6604000" cy="4404360"/>
        </p:xfrm>
        <a:graphic>
          <a:graphicData uri="http://schemas.openxmlformats.org/drawingml/2006/table">
            <a:tbl>
              <a:tblPr firstRow="1"/>
              <a:tblGrid>
                <a:gridCol w="317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Показатель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Δ, 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FF452C"/>
                          </a:solidFill>
                          <a:latin typeface="Arial"/>
                        </a:rPr>
                        <a:t>Медиа: CPM-плейсменты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Показы AdTech, млрд</a:t>
                      </a:r>
                      <a:r>
                        <a:rPr lang="ru-RU" baseline="30000" sz="110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6,5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Средневзвешенный CPM, руб.</a:t>
                      </a:r>
                      <a:r>
                        <a:rPr lang="ru-RU" baseline="30000" sz="1100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499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582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+17%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Выручка по прайсу, млн руб.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3 172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3 782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+19%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FF452C"/>
                          </a:solidFill>
                          <a:latin typeface="Arial"/>
                        </a:rPr>
                        <a:t>Медиа: сторис (CPD)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Кампаний AdTech в месяц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264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+18%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Цена за день, тыс. руб.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+43%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Выручка по прайсу, млн руб.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231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341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+48%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Медиа с сезонностью, млн руб.</a:t>
                      </a:r>
                      <a:r>
                        <a:rPr lang="ru-RU" baseline="30000" sz="1100" b="1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3 999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4 864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+22%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FF452C"/>
                          </a:solidFill>
                          <a:latin typeface="Arial"/>
                        </a:rPr>
                        <a:t>Перформанс: закрепы (CPD)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Кампаний AdTech в месяц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2 033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2 270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+12%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Средний чек кампании, тыс. руб.</a:t>
                      </a:r>
                      <a:r>
                        <a:rPr lang="ru-RU" baseline="30000" sz="1100">
                          <a:solidFill>
                            <a:srgbClr val="00000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+26%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Выручка перформанса,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2 196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2 832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+29%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APP итого,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6 195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7 696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+24%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302" name="Shape 302"/>
          <p:cNvSpPr txBox="1"/>
          <p:nvPr/>
        </p:nvSpPr>
        <p:spPr>
          <a:xfrm>
            <a:off x="7366000" y="1016000"/>
            <a:ext cx="44577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400" b="1">
                <a:solidFill>
                  <a:srgbClr val="000000"/>
                </a:solidFill>
              </a:rPr>
              <a:t>Объём, +628 (~40%)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>
                <a:solidFill>
                  <a:srgbClr val="000000"/>
                </a:solidFill>
              </a:rPr>
              <a:t>Рост </a:t>
            </a:r>
            <a:r>
              <a:rPr lang="en-US" sz="1100">
                <a:solidFill>
                  <a:srgbClr val="000000"/>
                </a:solidFill>
              </a:rPr>
              <a:t>DAC </a:t>
            </a:r>
            <a:r>
              <a:rPr lang="ru-RU" sz="1100">
                <a:solidFill>
                  <a:srgbClr val="000000"/>
                </a:solidFill>
              </a:rPr>
              <a:t>на 3 млн в 2027 году (до 31,1 млн), поэтому показов и кампаний становится больше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>
                <a:solidFill>
                  <a:srgbClr val="000000"/>
                </a:solidFill>
              </a:rPr>
              <a:t>Показываем только целевые коммуникации, и вовлечённость растёт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>
                <a:solidFill>
                  <a:srgbClr val="000000"/>
                </a:solidFill>
              </a:rPr>
              <a:t>Подмешиваем рекламные карточки в топ выдачи и в корзину, ближе к покупке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ru-RU" sz="1400" b="1">
                <a:solidFill>
                  <a:srgbClr val="000000"/>
                </a:solidFill>
              </a:rPr>
              <a:t>Цена, +873 (~60%)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>
                <a:solidFill>
                  <a:srgbClr val="000000"/>
                </a:solidFill>
              </a:rPr>
              <a:t>Клиенты видят эффект в продажах, поэтому растёт спрос на CPM и CPD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>
                <a:solidFill>
                  <a:srgbClr val="000000"/>
                </a:solidFill>
              </a:rPr>
              <a:t>С 09.2026 действует новый прайс: средневзвешенный CPM +17%, сторис 70 → 100 тыс. руб. за день, чек перформанса +26%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ru-RU" sz="1400" b="1">
                <a:solidFill>
                  <a:srgbClr val="000000"/>
                </a:solidFill>
              </a:rPr>
              <a:t>Утилизация 95%+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>
                <a:solidFill>
                  <a:srgbClr val="000000"/>
                </a:solidFill>
              </a:rPr>
              <a:t>Инвентарь почти полностью продан, поэтому рост идёт через цену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>
                <a:solidFill>
                  <a:srgbClr val="000000"/>
                </a:solidFill>
              </a:rPr>
              <a:t>Рост цены создаёт буфер под экстра-кампании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ru-RU" sz="1400" b="1">
                <a:solidFill>
                  <a:srgbClr val="000000"/>
                </a:solidFill>
              </a:rPr>
              <a:t>Как считаем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>
                <a:solidFill>
                  <a:srgbClr val="000000"/>
                </a:solidFill>
              </a:rPr>
              <a:t>Доля AdTech в показах — на уровне факта 2026 г.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>
                <a:solidFill>
                  <a:srgbClr val="000000"/>
                </a:solidFill>
              </a:rPr>
              <a:t>Прайс 09.2026 — весь год, без доп. индексации</a:t>
            </a:r>
          </a:p>
        </p:txBody>
      </p:sp>
    </p:spTree>
    <p:extLst>
      <p:ext uri="{BB962C8B-B14F-4D97-AF65-F5344CB8AC3E}">
        <p14:creationId xmlns:p14="http://schemas.microsoft.com/office/powerpoint/2010/main" val="5080133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31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In-store +1 573 млн руб. (+64%): основной рост — полный год оборудования, введённого в 2026 г.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Выручка In-store по типам оборудования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0221407"/>
              </p:ext>
            </p:extLst>
          </p:nvPr>
        </p:nvGraphicFramePr>
        <p:xfrm>
          <a:off x="368300" y="1397000"/>
          <a:ext cx="7112000" cy="4318000"/>
        </p:xfrm>
        <a:graphic>
          <a:graphicData uri="http://schemas.openxmlformats.org/drawingml/2006/table">
            <a:tbl>
              <a:tblPr firstRow="1"/>
              <a:tblGrid>
                <a:gridCol w="1397000"/>
                <a:gridCol w="762000"/>
                <a:gridCol w="762000"/>
                <a:gridCol w="812800"/>
                <a:gridCol w="812800"/>
                <a:gridCol w="660400"/>
                <a:gridCol w="952500"/>
                <a:gridCol w="952500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Тип оборудования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На начало 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На начало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Доход на устр. в мес. 2026,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Доход на устр. в мес. 2027,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Δ дохода на устр., 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Выручка 2026,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Выручка 2027,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КСО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16 500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57 000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4 809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2 885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−40%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1 421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1 895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Шелф-баннеры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2 750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28 800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30 240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+5%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1 147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Фасадные экраны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1 231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30 214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24 171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−20%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383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TFT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2 310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2 310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14 350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11 480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−20%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368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306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Дисплеи покупателя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6 121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6 121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1 784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1 784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Радио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3 821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3 821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506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2 024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+300%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Прайсчекеры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4 408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4 408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1 112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1 112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Медиафасады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200 000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240 000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+20%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LED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7 136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7 136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Итого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DE1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33 664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DE1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77 721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DE1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DE1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DE1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DE1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2 446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DE1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4 019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DE1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02" name="Shape 302"/>
          <p:cNvSpPr txBox="1"/>
          <p:nvPr/>
        </p:nvSpPr>
        <p:spPr>
          <a:xfrm>
            <a:off x="7823200" y="1016000"/>
            <a:ext cx="40005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Почему растёт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>
                <a:solidFill>
                  <a:srgbClr val="000000"/>
                </a:solidFill>
              </a:rPr>
              <a:t>Полный год ввода 2026 г., +2 462: </a:t>
            </a:r>
            <a:r>
              <a:rPr lang="ru-RU" sz="1100">
                <a:solidFill>
                  <a:srgbClr val="000000"/>
                </a:solidFill>
              </a:rPr>
              <a:t>за 2026 г. парк вырос в 2,3 раза (33,7 → 77,7 тыс. устройств): 40,5 тыс. КСО, 2 725 шелф-баннеров и 831 фасадный экран работали 3–4 мес., в 2027 г. — 12 мес.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>
                <a:solidFill>
                  <a:srgbClr val="000000"/>
                </a:solidFill>
              </a:rPr>
              <a:t>Ввод 2027 г., +228: </a:t>
            </a:r>
            <a:r>
              <a:rPr lang="ru-RU" sz="1100">
                <a:solidFill>
                  <a:srgbClr val="000000"/>
                </a:solidFill>
              </a:rPr>
              <a:t>3 250 шелф-баннеров, 428 фасадных экранов, 20 медиафасадов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>
                <a:solidFill>
                  <a:srgbClr val="000000"/>
                </a:solidFill>
              </a:rPr>
              <a:t>Реализация инвентаря, +147: </a:t>
            </a:r>
            <a:r>
              <a:rPr lang="ru-RU" sz="1100">
                <a:solidFill>
                  <a:srgbClr val="000000"/>
                </a:solidFill>
              </a:rPr>
              <a:t>92,5% → 100%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Доход на устройство, −1 264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>
                <a:solidFill>
                  <a:srgbClr val="000000"/>
                </a:solidFill>
              </a:rPr>
              <a:t>Почему снижается: </a:t>
            </a:r>
            <a:r>
              <a:rPr lang="ru-RU" sz="1100">
                <a:solidFill>
                  <a:srgbClr val="000000"/>
                </a:solidFill>
              </a:rPr>
              <a:t>в 2026 г. парк рос опережающими темпами, а в 2027 г. всё новое оборудование работает полный год. Рекламный спрос распределяется на кратно большее число экранов, поэтому закладываем снижение среднего дохода на устройство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>
                <a:solidFill>
                  <a:srgbClr val="000000"/>
                </a:solidFill>
              </a:rPr>
              <a:t>КСО −40% (4 809 → 2 885 руб.), −1 217: </a:t>
            </a:r>
            <a:r>
              <a:rPr lang="ru-RU" sz="1100">
                <a:solidFill>
                  <a:srgbClr val="000000"/>
                </a:solidFill>
              </a:rPr>
              <a:t>парк вырос в 3,5 раза (16,5 → 57 тыс.)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>
                <a:solidFill>
                  <a:srgbClr val="000000"/>
                </a:solidFill>
              </a:rPr>
              <a:t>Фасадные экраны −20%, −92: </a:t>
            </a:r>
            <a:r>
              <a:rPr lang="ru-RU" sz="1100">
                <a:solidFill>
                  <a:srgbClr val="000000"/>
                </a:solidFill>
              </a:rPr>
              <a:t>парк вырос втрое (0,4 → 1,2 тыс.); TFT −20%, −74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>
                <a:solidFill>
                  <a:srgbClr val="000000"/>
                </a:solidFill>
              </a:rPr>
              <a:t>Радио ×4 (506 → 2 024 руб.), +64; шелф-баннеры +5%, +53: </a:t>
            </a:r>
            <a:r>
              <a:rPr lang="ru-RU" sz="1100">
                <a:solidFill>
                  <a:srgbClr val="000000"/>
                </a:solidFill>
              </a:rPr>
              <a:t>регулирование спроса</a:t>
            </a:r>
            <a:endParaRPr lang="ru-RU" sz="1100">
              <a:solidFill>
                <a:srgbClr val="FF452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02027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93E7A19-0F0B-E6EF-F271-75A86904B3E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млн руб. без НДС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389BD3-4A44-0347-87C5-EB7C12DB9D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32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B96AA7-FFF9-7FC0-FD4C-510EFB459B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DMP, Content factory и RMN: 2 851 млн руб. выручки (+69%) — от плана команд и юнит-экономики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3649133" cy="279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1">
                <a:solidFill>
                  <a:srgbClr val="000000"/>
                </a:solidFill>
              </a:rPr>
              <a:t>DMP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368300" y="1295400"/>
            <a:ext cx="3649133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1 787 млн руб.  ·  +64% к FC 2026</a:t>
            </a:r>
          </a:p>
        </p:txBody>
      </p:sp>
      <p:sp>
        <p:nvSpPr>
          <p:cNvPr id="302" name="Shape 302"/>
          <p:cNvSpPr txBox="1"/>
          <p:nvPr/>
        </p:nvSpPr>
        <p:spPr>
          <a:xfrm>
            <a:off x="368300" y="1549400"/>
            <a:ext cx="3649133" cy="31750"/>
          </a:xfrm>
          <a:prstGeom prst="rect">
            <a:avLst/>
          </a:prstGeom>
          <a:solidFill>
            <a:srgbClr val="FF452C"/>
          </a:solidFill>
        </p:spPr>
        <p:txBody>
          <a:bodyPr wrap="square" lIns="0" tIns="0" rIns="0" bIns="0">
            <a:noAutofit/>
          </a:bodyPr>
          <a:lstStyle/>
          <a:p>
            <a:endParaRPr lang="ru-RU"/>
          </a:p>
        </p:txBody>
      </p:sp>
      <p:sp>
        <p:nvSpPr>
          <p:cNvPr id="303" name="Shape 303"/>
          <p:cNvSpPr txBox="1"/>
          <p:nvPr/>
        </p:nvSpPr>
        <p:spPr>
          <a:xfrm>
            <a:off x="4271433" y="1016000"/>
            <a:ext cx="3649133" cy="279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1">
                <a:solidFill>
                  <a:srgbClr val="000000"/>
                </a:solidFill>
              </a:rPr>
              <a:t>Content factory</a:t>
            </a:r>
          </a:p>
        </p:txBody>
      </p:sp>
      <p:sp>
        <p:nvSpPr>
          <p:cNvPr id="304" name="Shape 304"/>
          <p:cNvSpPr txBox="1"/>
          <p:nvPr/>
        </p:nvSpPr>
        <p:spPr>
          <a:xfrm>
            <a:off x="4271433" y="1295400"/>
            <a:ext cx="3649133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213 млн руб.  ·  результат с ВГО 113 млн руб.</a:t>
            </a:r>
          </a:p>
        </p:txBody>
      </p:sp>
      <p:sp>
        <p:nvSpPr>
          <p:cNvPr id="305" name="Shape 305"/>
          <p:cNvSpPr txBox="1"/>
          <p:nvPr/>
        </p:nvSpPr>
        <p:spPr>
          <a:xfrm>
            <a:off x="4271433" y="1549400"/>
            <a:ext cx="3649133" cy="31750"/>
          </a:xfrm>
          <a:prstGeom prst="rect">
            <a:avLst/>
          </a:prstGeom>
          <a:solidFill>
            <a:srgbClr val="FF452C"/>
          </a:solidFill>
        </p:spPr>
        <p:txBody>
          <a:bodyPr wrap="square" lIns="0" tIns="0" rIns="0" bIns="0">
            <a:noAutofit/>
          </a:bodyPr>
          <a:lstStyle/>
          <a:p>
            <a:endParaRPr lang="ru-RU"/>
          </a:p>
        </p:txBody>
      </p:sp>
      <p:sp>
        <p:nvSpPr>
          <p:cNvPr id="306" name="Shape 306"/>
          <p:cNvSpPr txBox="1"/>
          <p:nvPr/>
        </p:nvSpPr>
        <p:spPr>
          <a:xfrm>
            <a:off x="8174567" y="1016000"/>
            <a:ext cx="3649133" cy="279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1">
                <a:solidFill>
                  <a:srgbClr val="000000"/>
                </a:solidFill>
              </a:rPr>
              <a:t>RMN</a:t>
            </a:r>
          </a:p>
        </p:txBody>
      </p:sp>
      <p:sp>
        <p:nvSpPr>
          <p:cNvPr id="307" name="Shape 307"/>
          <p:cNvSpPr txBox="1"/>
          <p:nvPr/>
        </p:nvSpPr>
        <p:spPr>
          <a:xfrm>
            <a:off x="8174567" y="1295400"/>
            <a:ext cx="3649133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850 млн руб.  ·  +43% к FC 2026</a:t>
            </a:r>
          </a:p>
        </p:txBody>
      </p:sp>
      <p:sp>
        <p:nvSpPr>
          <p:cNvPr id="308" name="Shape 308"/>
          <p:cNvSpPr txBox="1"/>
          <p:nvPr/>
        </p:nvSpPr>
        <p:spPr>
          <a:xfrm>
            <a:off x="8174567" y="1549400"/>
            <a:ext cx="3649133" cy="31750"/>
          </a:xfrm>
          <a:prstGeom prst="rect">
            <a:avLst/>
          </a:prstGeom>
          <a:solidFill>
            <a:srgbClr val="FF452C"/>
          </a:solidFill>
        </p:spPr>
        <p:txBody>
          <a:bodyPr wrap="square" lIns="0" tIns="0" rIns="0" bIns="0">
            <a:noAutofit/>
          </a:bodyPr>
          <a:lstStyle/>
          <a:p>
            <a:endParaRPr lang="ru-RU"/>
          </a:p>
        </p:txBody>
      </p:sp>
      <p:graphicFrame>
        <p:nvGraphicFramePr>
          <p:cNvPr id="309" name="Table 309"/>
          <p:cNvGraphicFramePr>
            <a:graphicFrameLocks noGrp="1"/>
          </p:cNvGraphicFramePr>
          <p:nvPr/>
        </p:nvGraphicFramePr>
        <p:xfrm>
          <a:off x="368300" y="1676400"/>
          <a:ext cx="3733800" cy="1925320"/>
        </p:xfrm>
        <a:graphic>
          <a:graphicData uri="http://schemas.openxmlformats.org/drawingml/2006/table">
            <a:tbl>
              <a:tblPr firstRow="1"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Направление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Выручка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Маржа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Пакеты и Онлайн+ТВ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393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25%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Баннеры и OLV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788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40%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Новые площадки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420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44%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DMP + Online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1 600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37,5%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Закупка трафика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(1 000)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DMP + Analytics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10" name="Shape 310"/>
          <p:cNvSpPr txBox="1"/>
          <p:nvPr/>
        </p:nvSpPr>
        <p:spPr>
          <a:xfrm>
            <a:off x="368300" y="3683000"/>
            <a:ext cx="3649133" cy="2413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 algn="l">
              <a:spcBef>
                <a:spcPts val="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Выручка — </a:t>
            </a:r>
            <a:r>
              <a:rPr lang="ru-RU" sz="1200">
                <a:solidFill>
                  <a:srgbClr val="000000"/>
                </a:solidFill>
              </a:rPr>
              <a:t>план команды DMP и интеграции брендов через Центральный маркетинг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Маржинальность 37,5%: </a:t>
            </a:r>
            <a:r>
              <a:rPr lang="ru-RU" sz="1200">
                <a:solidFill>
                  <a:srgbClr val="000000"/>
                </a:solidFill>
              </a:rPr>
              <a:t>закупка трафика — 1 000 из 1 600 млн руб. выручки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en-US" sz="1200" b="1">
                <a:solidFill>
                  <a:srgbClr val="000000"/>
                </a:solidFill>
              </a:rPr>
              <a:t>Analytics: </a:t>
            </a:r>
            <a:r>
              <a:rPr lang="ru-RU" sz="1200">
                <a:solidFill>
                  <a:srgbClr val="000000"/>
                </a:solidFill>
              </a:rPr>
              <a:t>DMP 54 и ad hoc 133 млн руб.</a:t>
            </a:r>
          </a:p>
        </p:txBody>
      </p:sp>
      <p:graphicFrame>
        <p:nvGraphicFramePr>
          <p:cNvPr id="311" name="Table 311"/>
          <p:cNvGraphicFramePr>
            <a:graphicFrameLocks noGrp="1"/>
          </p:cNvGraphicFramePr>
          <p:nvPr/>
        </p:nvGraphicFramePr>
        <p:xfrm>
          <a:off x="4271433" y="1676400"/>
          <a:ext cx="3733800" cy="2133600"/>
        </p:xfrm>
        <a:graphic>
          <a:graphicData uri="http://schemas.openxmlformats.org/drawingml/2006/table">
            <a:tbl>
              <a:tblPr firstRow="1"/>
              <a:tblGrid>
                <a:gridCol w="246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Воронка, 2027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Значение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Ячеек × креаторов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 × 25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Публикаций, тыс.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414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Просмотров, млн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569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Внешние: 284 млн × 0,75 руб.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ВГО, справочно: 284 млн × 0,5 руб.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99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Креаторы (176) и команда (66)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(242)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Результат CF (с ВГО)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12" name="Shape 312"/>
          <p:cNvSpPr txBox="1"/>
          <p:nvPr/>
        </p:nvSpPr>
        <p:spPr>
          <a:xfrm>
            <a:off x="4271433" y="3962400"/>
            <a:ext cx="3649133" cy="2133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 algn="l">
              <a:spcBef>
                <a:spcPts val="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Объём контента: </a:t>
            </a:r>
            <a:r>
              <a:rPr lang="ru-RU" sz="1200">
                <a:solidFill>
                  <a:srgbClr val="000000"/>
                </a:solidFill>
              </a:rPr>
              <a:t>60–70 роликов в месяц на креатора, каждый публикуется в 4 соцсетях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Себестоимость просмотра </a:t>
            </a:r>
            <a:r>
              <a:rPr lang="ru-RU" sz="1200">
                <a:solidFill>
                  <a:srgbClr val="000000"/>
                </a:solidFill>
              </a:rPr>
              <a:t>0,46 руб.; ставка креатора 105 тыс. руб. в месяц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Рентабельность 32% (с ВГО)</a:t>
            </a:r>
          </a:p>
        </p:txBody>
      </p:sp>
      <p:graphicFrame>
        <p:nvGraphicFramePr>
          <p:cNvPr id="313" name="Table 313"/>
          <p:cNvGraphicFramePr>
            <a:graphicFrameLocks noGrp="1"/>
          </p:cNvGraphicFramePr>
          <p:nvPr/>
        </p:nvGraphicFramePr>
        <p:xfrm>
          <a:off x="8174567" y="1676400"/>
          <a:ext cx="3733800" cy="800100"/>
        </p:xfrm>
        <a:graphic>
          <a:graphicData uri="http://schemas.openxmlformats.org/drawingml/2006/table">
            <a:tbl>
              <a:tblPr firstRow="1"/>
              <a:tblGrid>
                <a:gridCol w="246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000000"/>
                          </a:solidFill>
                          <a:latin typeface="Arial"/>
                        </a:rPr>
                        <a:t>RMN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млн руб.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593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2027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850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569"/>
                  </a:ext>
                </a:extLst>
              </a:tr>
            </a:tbl>
          </a:graphicData>
        </a:graphic>
      </p:graphicFrame>
      <p:sp>
        <p:nvSpPr>
          <p:cNvPr id="314" name="Shape 314"/>
          <p:cNvSpPr txBox="1"/>
          <p:nvPr/>
        </p:nvSpPr>
        <p:spPr>
          <a:xfrm>
            <a:off x="8174567" y="3962400"/>
            <a:ext cx="3649133" cy="2133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Отдельное ЮЛ </a:t>
            </a:r>
            <a:r>
              <a:rPr lang="ru-RU" sz="1200">
                <a:solidFill>
                  <a:srgbClr val="000000"/>
                </a:solidFill>
              </a:rPr>
              <a:t>для сделок по направлению</a:t>
            </a:r>
          </a:p>
        </p:txBody>
      </p:sp>
    </p:spTree>
    <p:extLst>
      <p:ext uri="{BB962C8B-B14F-4D97-AF65-F5344CB8AC3E}">
        <p14:creationId xmlns:p14="http://schemas.microsoft.com/office/powerpoint/2010/main" val="31769717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93E7A19-0F0B-E6EF-F271-75A86904B3E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млн руб. без НДС. ВГО — продажа просмотров внутренним заказчикам по 0,5 руб., в P&amp;L AdTech не отражается. 1. Nielsen. 2. «Родная Речь», «Изменение медиаландшафта», январь–май 2026 г., россияне 12+. Источники: Ads Market Calc, медиаплан контент-завода на Q4 2026 г., открытые данные брендов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389BD3-4A44-0347-87C5-EB7C12DB9D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33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B96AA7-FFF9-7FC0-FD4C-510EFB459B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Content factory</a:t>
            </a:r>
            <a:r>
              <a:rPr lang="ru-RU"/>
              <a:t>: охват в соцсетях потоком UGC-контента; внешняя выручка 213 млн руб., с ВГО результат 113 млн руб.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7810500" cy="279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1">
                <a:solidFill>
                  <a:srgbClr val="000000"/>
                </a:solidFill>
              </a:rPr>
              <a:t>P&amp;L Content factory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368300" y="1295400"/>
            <a:ext cx="7810500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200">
                <a:solidFill>
                  <a:srgbClr val="595959"/>
                </a:solidFill>
              </a:rPr>
              <a:t>P&amp;L 2027, млн руб.  ·  6 ячеек × 25 креаторов, 569 млн просмотров</a:t>
            </a:r>
          </a:p>
        </p:txBody>
      </p:sp>
      <p:sp>
        <p:nvSpPr>
          <p:cNvPr id="302" name="Shape 302"/>
          <p:cNvSpPr txBox="1"/>
          <p:nvPr/>
        </p:nvSpPr>
        <p:spPr>
          <a:xfrm>
            <a:off x="368300" y="1549400"/>
            <a:ext cx="7810500" cy="31750"/>
          </a:xfrm>
          <a:prstGeom prst="rect">
            <a:avLst/>
          </a:prstGeom>
          <a:solidFill>
            <a:srgbClr val="FF452C"/>
          </a:solidFill>
        </p:spPr>
        <p:txBody>
          <a:bodyPr wrap="square" lIns="0" tIns="0" rIns="0" bIns="0">
            <a:noAutofit/>
          </a:bodyPr>
          <a:lstStyle/>
          <a:p>
            <a:endParaRPr lang="ru-RU"/>
          </a:p>
        </p:txBody>
      </p:sp>
      <p:sp>
        <p:nvSpPr>
          <p:cNvPr id="306" name="Shape 306"/>
          <p:cNvSpPr txBox="1"/>
          <p:nvPr/>
        </p:nvSpPr>
        <p:spPr>
          <a:xfrm>
            <a:off x="8432800" y="1016000"/>
            <a:ext cx="3390900" cy="279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Предпосылки реализации </a:t>
            </a:r>
            <a:r>
              <a:rPr lang="en-US" sz="1600" b="1">
                <a:solidFill>
                  <a:srgbClr val="000000"/>
                </a:solidFill>
              </a:rPr>
              <a:t>Content factory</a:t>
            </a:r>
            <a:endParaRPr lang="ru-RU" sz="1600" b="1">
              <a:solidFill>
                <a:srgbClr val="000000"/>
              </a:solidFill>
            </a:endParaRPr>
          </a:p>
        </p:txBody>
      </p:sp>
      <p:sp>
        <p:nvSpPr>
          <p:cNvPr id="308" name="Shape 308"/>
          <p:cNvSpPr txBox="1"/>
          <p:nvPr/>
        </p:nvSpPr>
        <p:spPr>
          <a:xfrm>
            <a:off x="8432800" y="1549400"/>
            <a:ext cx="3390900" cy="31750"/>
          </a:xfrm>
          <a:prstGeom prst="rect">
            <a:avLst/>
          </a:prstGeom>
          <a:solidFill>
            <a:srgbClr val="FF452C"/>
          </a:solidFill>
        </p:spPr>
        <p:txBody>
          <a:bodyPr wrap="square" lIns="0" tIns="0" rIns="0" bIns="0">
            <a:noAutofit/>
          </a:bodyPr>
          <a:lstStyle/>
          <a:p>
            <a:endParaRPr lang="ru-RU"/>
          </a:p>
        </p:txBody>
      </p:sp>
      <p:graphicFrame>
        <p:nvGraphicFramePr>
          <p:cNvPr id="311" name="Table 4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3387940"/>
              </p:ext>
            </p:extLst>
          </p:nvPr>
        </p:nvGraphicFramePr>
        <p:xfrm>
          <a:off x="368300" y="1676400"/>
          <a:ext cx="7810500" cy="2667000"/>
        </p:xfrm>
        <a:graphic>
          <a:graphicData uri="http://schemas.openxmlformats.org/drawingml/2006/table">
            <a:tbl>
              <a:tblPr firstRow="1"/>
              <a:tblGrid>
                <a:gridCol w="63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Статья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2027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Выручка — внешние рекламодатели (284 млн просмотров × 0,75 руб.)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213,3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 i="1">
                          <a:solidFill>
                            <a:srgbClr val="595959"/>
                          </a:solidFill>
                          <a:latin typeface="Arial"/>
                        </a:rPr>
                        <a:t>Выручка ВГО — внутренние заказчики (284 млн просмотров × 0,5 руб.), справочно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i="1">
                          <a:solidFill>
                            <a:srgbClr val="595959"/>
                          </a:solidFill>
                          <a:latin typeface="Arial"/>
                        </a:rPr>
                        <a:t>142,2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solidFill>
                            <a:srgbClr val="000000"/>
                          </a:solidFill>
                          <a:latin typeface="Arial"/>
                        </a:rPr>
                        <a:t>Выручка всего с ВГО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1">
                          <a:solidFill>
                            <a:srgbClr val="000000"/>
                          </a:solidFill>
                          <a:latin typeface="Arial"/>
                        </a:rPr>
                        <a:t>355,5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Оплата креаторам (OPEX ячеек, Marketing)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(176,1)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ФОТ команды Content factory (PEX)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(66,4)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5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solidFill>
                            <a:srgbClr val="000000"/>
                          </a:solidFill>
                          <a:latin typeface="Arial"/>
                        </a:rPr>
                        <a:t>Расходы всего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1">
                          <a:solidFill>
                            <a:srgbClr val="000000"/>
                          </a:solidFill>
                          <a:latin typeface="Arial"/>
                        </a:rPr>
                        <a:t>(242,5)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6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 b="0" i="1" kern="1200">
                          <a:solidFill>
                            <a:srgbClr val="595959"/>
                          </a:solidFill>
                          <a:latin typeface="+mn-lt"/>
                          <a:ea typeface="+mn-ea"/>
                          <a:cs typeface="+mn-cs"/>
                        </a:rPr>
                        <a:t>Справочно: </a:t>
                      </a:r>
                      <a:r>
                        <a:rPr lang="ru-RU" sz="1200" b="0" i="1">
                          <a:solidFill>
                            <a:srgbClr val="595959"/>
                          </a:solidFill>
                          <a:latin typeface="Arial"/>
                        </a:rPr>
                        <a:t>Результат Content </a:t>
                      </a:r>
                      <a:r>
                        <a:rPr lang="en-US" sz="1200" b="0" i="1">
                          <a:solidFill>
                            <a:srgbClr val="595959"/>
                          </a:solidFill>
                          <a:latin typeface="Arial"/>
                        </a:rPr>
                        <a:t>factory</a:t>
                      </a:r>
                      <a:r>
                        <a:rPr lang="ru-RU" sz="1200" b="0" i="1">
                          <a:solidFill>
                            <a:srgbClr val="595959"/>
                          </a:solidFill>
                          <a:latin typeface="Arial"/>
                        </a:rPr>
                        <a:t> с ВГО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0" i="1">
                          <a:solidFill>
                            <a:srgbClr val="595959"/>
                          </a:solidFill>
                          <a:latin typeface="Arial"/>
                        </a:rPr>
                        <a:t>113,0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7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 i="1">
                          <a:solidFill>
                            <a:srgbClr val="595959"/>
                          </a:solidFill>
                          <a:latin typeface="Arial"/>
                        </a:rPr>
                        <a:t>Рентабельность с ВГО, 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i="1">
                          <a:solidFill>
                            <a:srgbClr val="595959"/>
                          </a:solidFill>
                          <a:latin typeface="Arial"/>
                        </a:rPr>
                        <a:t>32%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8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algn="l" defTabSz="914354" rtl="0" eaLnBrk="1" latinLnBrk="0" hangingPunct="1"/>
                      <a:r>
                        <a:rPr lang="ru-RU" sz="1200" b="1" kern="120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Результат без ВГО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solidFill>
                      <a:srgbClr val="FFE3E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354" rtl="0" eaLnBrk="1" latinLnBrk="0" hangingPunct="1"/>
                      <a:r>
                        <a:rPr lang="ru-RU" sz="1200" b="1" kern="120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(29,2)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solidFill>
                      <a:srgbClr val="FFE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9"/>
                  </a:ext>
                </a:extLst>
              </a:tr>
            </a:tbl>
          </a:graphicData>
        </a:graphic>
      </p:graphicFrame>
      <p:sp>
        <p:nvSpPr>
          <p:cNvPr id="312" name="CF narrative"/>
          <p:cNvSpPr/>
          <p:nvPr/>
        </p:nvSpPr>
        <p:spPr>
          <a:xfrm>
            <a:off x="8432800" y="1676400"/>
            <a:ext cx="3390900" cy="4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ru-RU" sz="1200" b="1">
                <a:solidFill>
                  <a:srgbClr val="FF452C"/>
                </a:solidFill>
                <a:latin typeface="Arial"/>
              </a:rPr>
              <a:t>1. Рынок растёт</a:t>
            </a:r>
          </a:p>
          <a:p>
            <a:pPr algn="l">
              <a:spcBef>
                <a:spcPts val="300"/>
              </a:spcBef>
            </a:pPr>
            <a:r>
              <a:rPr lang="ru-RU" sz="1050" b="1">
                <a:solidFill>
                  <a:srgbClr val="000000"/>
                </a:solidFill>
                <a:latin typeface="Arial"/>
              </a:rPr>
              <a:t>74 → 93 млрд руб. </a:t>
            </a:r>
            <a:r>
              <a:rPr lang="ru-RU" sz="1050">
                <a:solidFill>
                  <a:srgbClr val="000000"/>
                </a:solidFill>
                <a:latin typeface="Arial"/>
              </a:rPr>
              <a:t>— рынок </a:t>
            </a:r>
            <a:r>
              <a:rPr lang="ru-RU" sz="1050">
                <a:solidFill>
                  <a:srgbClr val="000000"/>
                </a:solidFill>
                <a:latin typeface="Arial"/>
              </a:rPr>
              <a:t>инфлюенс</a:t>
            </a:r>
            <a:r>
              <a:rPr lang="ru-RU" sz="1050">
                <a:solidFill>
                  <a:srgbClr val="000000"/>
                </a:solidFill>
                <a:latin typeface="Arial"/>
              </a:rPr>
              <a:t>-маркетинга в РФ в 2026–2027 гг. (~30% г/г)</a:t>
            </a:r>
          </a:p>
          <a:p>
            <a:pPr algn="l">
              <a:spcBef>
                <a:spcPts val="300"/>
              </a:spcBef>
            </a:pPr>
            <a:r>
              <a:rPr lang="ru-RU" sz="1050" b="1">
                <a:solidFill>
                  <a:srgbClr val="000000"/>
                </a:solidFill>
                <a:latin typeface="Arial"/>
              </a:rPr>
              <a:t>88% </a:t>
            </a:r>
            <a:r>
              <a:rPr lang="ru-RU" sz="1050">
                <a:solidFill>
                  <a:srgbClr val="000000"/>
                </a:solidFill>
                <a:latin typeface="Arial"/>
              </a:rPr>
              <a:t>покупателей доверяют рекомендациям креаторов больше, чем рекламе бренда¹</a:t>
            </a:r>
          </a:p>
          <a:p>
            <a:pPr algn="l">
              <a:spcBef>
                <a:spcPts val="300"/>
              </a:spcBef>
            </a:pPr>
            <a:r>
              <a:rPr lang="ru-RU" sz="1050" b="1">
                <a:solidFill>
                  <a:srgbClr val="000000"/>
                </a:solidFill>
                <a:latin typeface="Arial"/>
              </a:rPr>
              <a:t>4 ч 18 мин. </a:t>
            </a:r>
            <a:r>
              <a:rPr lang="ru-RU" sz="1050">
                <a:solidFill>
                  <a:srgbClr val="000000"/>
                </a:solidFill>
                <a:latin typeface="Arial"/>
              </a:rPr>
              <a:t>в день россияне проводят в интернете против ~3,5 ч у телевизора²</a:t>
            </a:r>
          </a:p>
          <a:p>
            <a:pPr algn="l">
              <a:spcBef>
                <a:spcPts val="900"/>
              </a:spcBef>
            </a:pPr>
            <a:r>
              <a:rPr lang="ru-RU" sz="1200" b="1">
                <a:solidFill>
                  <a:srgbClr val="FF452C"/>
                </a:solidFill>
                <a:latin typeface="Arial"/>
              </a:rPr>
              <a:t>2. Аудитория разбросана</a:t>
            </a:r>
          </a:p>
          <a:p>
            <a:pPr algn="l">
              <a:spcBef>
                <a:spcPts val="300"/>
              </a:spcBef>
            </a:pPr>
            <a:r>
              <a:rPr lang="en-US" sz="1050" b="1">
                <a:solidFill>
                  <a:srgbClr val="000000"/>
                </a:solidFill>
                <a:latin typeface="Arial"/>
              </a:rPr>
              <a:t>Likee</a:t>
            </a:r>
            <a:r>
              <a:rPr lang="en-US" sz="1050" b="1">
                <a:solidFill>
                  <a:srgbClr val="000000"/>
                </a:solidFill>
                <a:latin typeface="Arial"/>
              </a:rPr>
              <a:t>, TikTok, YouTube, VK: </a:t>
            </a:r>
            <a:r>
              <a:rPr lang="ru-RU" sz="1050">
                <a:solidFill>
                  <a:srgbClr val="000000"/>
                </a:solidFill>
                <a:latin typeface="Arial"/>
              </a:rPr>
              <a:t>каждую сеть нужно закупать отдельно; у топ-блогеров дорогой контакт и разовый эффект, есть регуляторные риски</a:t>
            </a:r>
          </a:p>
          <a:p>
            <a:pPr algn="l">
              <a:spcBef>
                <a:spcPts val="900"/>
              </a:spcBef>
            </a:pPr>
            <a:r>
              <a:rPr lang="ru-RU" sz="1200" b="1">
                <a:solidFill>
                  <a:srgbClr val="FF452C"/>
                </a:solidFill>
                <a:latin typeface="Arial"/>
              </a:rPr>
              <a:t>3. Решение: </a:t>
            </a:r>
            <a:r>
              <a:rPr lang="en-US" sz="1200" b="1">
                <a:solidFill>
                  <a:srgbClr val="FF452C"/>
                </a:solidFill>
                <a:latin typeface="Arial"/>
              </a:rPr>
              <a:t>Content factory</a:t>
            </a:r>
            <a:endParaRPr lang="ru-RU" sz="1200" b="1">
              <a:solidFill>
                <a:srgbClr val="FF452C"/>
              </a:solidFill>
              <a:latin typeface="Arial"/>
            </a:endParaRPr>
          </a:p>
          <a:p>
            <a:pPr algn="l">
              <a:spcBef>
                <a:spcPts val="300"/>
              </a:spcBef>
            </a:pPr>
            <a:r>
              <a:rPr lang="ru-RU" sz="1050" b="1">
                <a:solidFill>
                  <a:srgbClr val="000000"/>
                </a:solidFill>
                <a:latin typeface="Arial"/>
              </a:rPr>
              <a:t>Сеть </a:t>
            </a:r>
            <a:r>
              <a:rPr lang="ru-RU" sz="1050" b="1">
                <a:solidFill>
                  <a:srgbClr val="000000"/>
                </a:solidFill>
                <a:latin typeface="Arial"/>
              </a:rPr>
              <a:t>нано</a:t>
            </a:r>
            <a:r>
              <a:rPr lang="ru-RU" sz="1050" b="1">
                <a:solidFill>
                  <a:srgbClr val="000000"/>
                </a:solidFill>
                <a:latin typeface="Arial"/>
              </a:rPr>
              <a:t>-креаторов: </a:t>
            </a:r>
            <a:r>
              <a:rPr lang="ru-RU" sz="1050">
                <a:solidFill>
                  <a:srgbClr val="000000"/>
                </a:solidFill>
                <a:latin typeface="Arial"/>
              </a:rPr>
              <a:t>группы с продюсером, тренд-аналитиком и PM; 60–70 роликов в месяц на креатора, каждый — в 4 соцсетях, лучшие дублируем в ленту приложения</a:t>
            </a:r>
          </a:p>
          <a:p>
            <a:pPr algn="l">
              <a:spcBef>
                <a:spcPts val="300"/>
              </a:spcBef>
            </a:pPr>
            <a:r>
              <a:rPr lang="ru-RU" sz="1050" b="1">
                <a:solidFill>
                  <a:srgbClr val="000000"/>
                </a:solidFill>
                <a:latin typeface="Arial"/>
              </a:rPr>
              <a:t>~1 500 просмотров </a:t>
            </a:r>
            <a:r>
              <a:rPr lang="ru-RU" sz="1050">
                <a:solidFill>
                  <a:srgbClr val="000000"/>
                </a:solidFill>
                <a:latin typeface="Arial"/>
              </a:rPr>
              <a:t>на публикацию (подтверждено экспериментами)</a:t>
            </a:r>
          </a:p>
          <a:p>
            <a:pPr algn="l">
              <a:spcBef>
                <a:spcPts val="300"/>
              </a:spcBef>
            </a:pPr>
            <a:r>
              <a:rPr lang="ru-RU" sz="1050" b="1">
                <a:solidFill>
                  <a:srgbClr val="000000"/>
                </a:solidFill>
                <a:latin typeface="Arial"/>
              </a:rPr>
              <a:t>Под ключ для бренда: </a:t>
            </a:r>
            <a:r>
              <a:rPr lang="ru-RU" sz="1050">
                <a:solidFill>
                  <a:srgbClr val="000000"/>
                </a:solidFill>
                <a:latin typeface="Arial"/>
              </a:rPr>
              <a:t>бриф, сценарии, публикации, отчёт; CPV 0,75 руб. в соцсетях, 1,5 руб. </a:t>
            </a:r>
            <a:r>
              <a:rPr lang="en-US" sz="1050">
                <a:solidFill>
                  <a:srgbClr val="000000"/>
                </a:solidFill>
                <a:latin typeface="Arial"/>
              </a:rPr>
              <a:t>in-app</a:t>
            </a:r>
            <a:endParaRPr lang="ru-RU" sz="105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CF plan label"/>
          <p:cNvSpPr/>
          <p:nvPr/>
        </p:nvSpPr>
        <p:spPr>
          <a:xfrm>
            <a:off x="368300" y="4520000"/>
            <a:ext cx="7810500" cy="2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Autofit/>
          </a:bodyPr>
          <a:lstStyle/>
          <a:p>
            <a:pPr algn="l"/>
            <a:r>
              <a:rPr lang="ru-RU" sz="1100" b="1">
                <a:solidFill>
                  <a:srgbClr val="7F7F7F"/>
                </a:solidFill>
                <a:latin typeface="Arial"/>
              </a:rPr>
              <a:t>План и бенчмарки</a:t>
            </a:r>
          </a:p>
        </p:txBody>
      </p:sp>
      <p:sp>
        <p:nvSpPr>
          <p:cNvPr id="314" name="CF card 1"/>
          <p:cNvSpPr/>
          <p:nvPr/>
        </p:nvSpPr>
        <p:spPr>
          <a:xfrm>
            <a:off x="368300" y="4830000"/>
            <a:ext cx="1880000" cy="1250000"/>
          </a:xfrm>
          <a:prstGeom prst="rect">
            <a:avLst/>
          </a:prstGeom>
          <a:solidFill>
            <a:srgbClr val="FFE3DF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ru-RU" sz="1200" b="1">
                <a:solidFill>
                  <a:srgbClr val="FF452C"/>
                </a:solidFill>
                <a:latin typeface="Arial"/>
              </a:rPr>
              <a:t>2026 г. — пилот</a:t>
            </a:r>
          </a:p>
          <a:p>
            <a:pPr algn="ctr">
              <a:spcBef>
                <a:spcPts val="300"/>
              </a:spcBef>
            </a:pPr>
            <a:r>
              <a:rPr lang="ru-RU" sz="1000">
                <a:solidFill>
                  <a:srgbClr val="000000"/>
                </a:solidFill>
                <a:latin typeface="Arial"/>
              </a:rPr>
              <a:t>12,3 млн просмотров; клиенты — Магнит Косметик и 43 Brands</a:t>
            </a:r>
          </a:p>
        </p:txBody>
      </p:sp>
      <p:sp>
        <p:nvSpPr>
          <p:cNvPr id="315" name="CF card 2"/>
          <p:cNvSpPr/>
          <p:nvPr/>
        </p:nvSpPr>
        <p:spPr>
          <a:xfrm>
            <a:off x="2311800" y="4830000"/>
            <a:ext cx="1880000" cy="1250000"/>
          </a:xfrm>
          <a:prstGeom prst="rect">
            <a:avLst/>
          </a:prstGeom>
          <a:solidFill>
            <a:srgbClr val="FFE3DF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ru-RU" sz="1200" b="1">
                <a:solidFill>
                  <a:srgbClr val="FF452C"/>
                </a:solidFill>
                <a:latin typeface="Arial"/>
              </a:rPr>
              <a:t>2027 г. — выход на поставщиков Магнита</a:t>
            </a:r>
          </a:p>
          <a:p>
            <a:pPr algn="ctr">
              <a:spcBef>
                <a:spcPts val="300"/>
              </a:spcBef>
            </a:pPr>
            <a:r>
              <a:rPr lang="ru-RU" sz="1000">
                <a:solidFill>
                  <a:srgbClr val="000000"/>
                </a:solidFill>
                <a:latin typeface="Arial"/>
              </a:rPr>
              <a:t>569 млн просмотров, 150 креаторов в штате</a:t>
            </a:r>
          </a:p>
        </p:txBody>
      </p:sp>
      <p:sp>
        <p:nvSpPr>
          <p:cNvPr id="316" name="CF card 3"/>
          <p:cNvSpPr/>
          <p:nvPr/>
        </p:nvSpPr>
        <p:spPr>
          <a:xfrm>
            <a:off x="4255300" y="4830000"/>
            <a:ext cx="1880000" cy="1250000"/>
          </a:xfrm>
          <a:prstGeom prst="rect">
            <a:avLst/>
          </a:prstGeom>
          <a:solidFill>
            <a:srgbClr val="FFE3DF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ru-RU" sz="1200" b="1">
                <a:solidFill>
                  <a:srgbClr val="FF452C"/>
                </a:solidFill>
                <a:latin typeface="Arial"/>
              </a:rPr>
              <a:t>Выручка 2027 г.</a:t>
            </a:r>
          </a:p>
          <a:p>
            <a:pPr algn="ctr">
              <a:spcBef>
                <a:spcPts val="300"/>
              </a:spcBef>
            </a:pPr>
            <a:r>
              <a:rPr lang="ru-RU" sz="1000">
                <a:solidFill>
                  <a:srgbClr val="000000"/>
                </a:solidFill>
                <a:latin typeface="Arial"/>
              </a:rPr>
              <a:t>355,5 млн руб. с ВГО, из них 213 — внешние рекламодатели</a:t>
            </a:r>
          </a:p>
        </p:txBody>
      </p:sp>
      <p:sp>
        <p:nvSpPr>
          <p:cNvPr id="317" name="CF card 4"/>
          <p:cNvSpPr/>
          <p:nvPr/>
        </p:nvSpPr>
        <p:spPr>
          <a:xfrm>
            <a:off x="6198800" y="4830000"/>
            <a:ext cx="1880000" cy="125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ru-RU" sz="1200" b="1">
                <a:solidFill>
                  <a:srgbClr val="000000"/>
                </a:solidFill>
                <a:latin typeface="Arial"/>
              </a:rPr>
              <a:t>Бенчмарки рынка</a:t>
            </a:r>
          </a:p>
          <a:p>
            <a:pPr algn="ctr">
              <a:spcBef>
                <a:spcPts val="300"/>
              </a:spcBef>
            </a:pPr>
            <a:r>
              <a:rPr lang="ru-RU" sz="1000">
                <a:solidFill>
                  <a:srgbClr val="000000"/>
                </a:solidFill>
                <a:latin typeface="Arial"/>
              </a:rPr>
              <a:t>VOIS — 1 700 креаторов за 2 года, MIXIT — 500 UGC-креаторов</a:t>
            </a:r>
          </a:p>
        </p:txBody>
      </p:sp>
    </p:spTree>
    <p:extLst>
      <p:ext uri="{BB962C8B-B14F-4D97-AF65-F5344CB8AC3E}">
        <p14:creationId xmlns:p14="http://schemas.microsoft.com/office/powerpoint/2010/main" val="27182818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2B1FA00-966B-D804-0FFD-15FCFF347BD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млн руб. без НДС. Красным — расходы, которые масштабируются с выручкой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C60FB5-2F57-2A40-8B8F-6189F97D95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34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26C368-B69A-4DC3-8713-5D58E7BC4B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OPEX с COGS +1 504 млн руб. (+67%): 73% прироста — переменные расходы, которые масштабируются вместе с выручкой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333500"/>
          <a:ext cx="6985000" cy="48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0" name="Shape 300"/>
          <p:cNvSpPr txBox="1"/>
          <p:nvPr/>
        </p:nvSpPr>
        <p:spPr>
          <a:xfrm>
            <a:off x="368300" y="1016000"/>
            <a:ext cx="6858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Прирост OPEX 2027 к FC 2026 по статьям, млн руб.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7620000" y="1016000"/>
            <a:ext cx="4203700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OPEX в % от выручки</a:t>
            </a:r>
          </a:p>
        </p:txBody>
      </p:sp>
      <p:graphicFrame>
        <p:nvGraphicFramePr>
          <p:cNvPr id="302" name="Table 302"/>
          <p:cNvGraphicFramePr>
            <a:graphicFrameLocks noGrp="1"/>
          </p:cNvGraphicFramePr>
          <p:nvPr/>
        </p:nvGraphicFramePr>
        <p:xfrm>
          <a:off x="7620000" y="1397000"/>
          <a:ext cx="4203700" cy="1333500"/>
        </p:xfrm>
        <a:graphic>
          <a:graphicData uri="http://schemas.openxmlformats.org/drawingml/2006/table">
            <a:tbl>
              <a:tblPr firstRow="1"/>
              <a:tblGrid>
                <a:gridCol w="153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Статья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>
                          <a:solidFill>
                            <a:srgbClr val="000000"/>
                          </a:solidFill>
                          <a:latin typeface="Arial"/>
                        </a:rPr>
                        <a:t>FC 2026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>
                          <a:solidFill>
                            <a:srgbClr val="000000"/>
                          </a:solidFill>
                          <a:latin typeface="Arial"/>
                        </a:rPr>
                        <a:t>BU 2027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Δ, п.п.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Marketing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14,2%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+5,2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PEX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10,8%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−1,0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IT и прочие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1,8%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1,6%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−0,2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OPEX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21,7%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25,7%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+4,0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3" name="Shape 303"/>
          <p:cNvSpPr txBox="1"/>
          <p:nvPr/>
        </p:nvSpPr>
        <p:spPr>
          <a:xfrm>
            <a:off x="7620000" y="2921000"/>
            <a:ext cx="4203700" cy="3175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>
              <a:spcBef>
                <a:spcPts val="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Закупка трафика DMP 1 000 млн руб. </a:t>
            </a:r>
            <a:r>
              <a:rPr lang="ru-RU" sz="1200">
                <a:solidFill>
                  <a:srgbClr val="000000"/>
                </a:solidFill>
              </a:rPr>
              <a:t>— 62,5% выручки DMP + Online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Агентские вознаграждения 795 млн руб. </a:t>
            </a:r>
            <a:r>
              <a:rPr lang="ru-RU" sz="1200">
                <a:solidFill>
                  <a:srgbClr val="000000"/>
                </a:solidFill>
              </a:rPr>
              <a:t>— 30% выручки, привлечённой через агентства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Креаторы 176 млн руб. </a:t>
            </a:r>
            <a:r>
              <a:rPr lang="ru-RU" sz="1200">
                <a:solidFill>
                  <a:srgbClr val="000000"/>
                </a:solidFill>
              </a:rPr>
              <a:t>— оплата ячеек Content factory при внешней выручке 213 млн руб.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PEX +28% — медленнее выручки, </a:t>
            </a:r>
            <a:r>
              <a:rPr lang="ru-RU" sz="1200">
                <a:solidFill>
                  <a:srgbClr val="000000"/>
                </a:solidFill>
              </a:rPr>
              <a:t>доля в выручке снижается: +250 — полный год штата 2026 г. и +42 FTE, +66 — команда Content factory</a:t>
            </a:r>
          </a:p>
        </p:txBody>
      </p:sp>
    </p:spTree>
    <p:extLst>
      <p:ext uri="{BB962C8B-B14F-4D97-AF65-F5344CB8AC3E}">
        <p14:creationId xmlns:p14="http://schemas.microsoft.com/office/powerpoint/2010/main" val="4283941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FA32A12-DBF8-B635-A4EF-BC200353AF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млн руб. без НДС. «Прочие» — Other PEX и Other OPEX.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9A00D5-F5F7-4269-9282-3782D2317F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35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8F8EA2-D748-7415-AF7B-A35DE0C7B2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EBITDA +2 739 млн руб. (+34%)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333500"/>
          <a:ext cx="7112000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EBITDA: FC 2026 → BU 2027, млн руб.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7696200" y="1016000"/>
            <a:ext cx="41275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Комментарии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Выручка +4 243: </a:t>
            </a:r>
            <a:r>
              <a:rPr lang="ru-RU" sz="1200">
                <a:solidFill>
                  <a:srgbClr val="000000"/>
                </a:solidFill>
              </a:rPr>
              <a:t>72% прироста дают APP и In-store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Marketing −1 136 — в основном переменные расходы: </a:t>
            </a:r>
            <a:r>
              <a:rPr lang="ru-RU" sz="1200">
                <a:solidFill>
                  <a:srgbClr val="000000"/>
                </a:solidFill>
              </a:rPr>
              <a:t>трафик DMP (−489), агентские (−441), креаторы (−160)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en-US" sz="1200" b="1">
                <a:solidFill>
                  <a:srgbClr val="000000"/>
                </a:solidFill>
              </a:rPr>
              <a:t>PEX −316: </a:t>
            </a:r>
            <a:r>
              <a:rPr lang="ru-RU" sz="1200">
                <a:solidFill>
                  <a:srgbClr val="000000"/>
                </a:solidFill>
              </a:rPr>
              <a:t>полный год работы штата 2026 г. (−250) и команда Content factory (−66)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en-US" sz="1200" b="1">
                <a:solidFill>
                  <a:srgbClr val="000000"/>
                </a:solidFill>
              </a:rPr>
              <a:t>IT −34: </a:t>
            </a:r>
            <a:r>
              <a:rPr lang="ru-RU" sz="1200">
                <a:solidFill>
                  <a:srgbClr val="000000"/>
                </a:solidFill>
              </a:rPr>
              <a:t>поддержка и сопровождение ПО, всего 92 млн руб.</a:t>
            </a:r>
          </a:p>
        </p:txBody>
      </p:sp>
    </p:spTree>
    <p:extLst>
      <p:ext uri="{BB962C8B-B14F-4D97-AF65-F5344CB8AC3E}">
        <p14:creationId xmlns:p14="http://schemas.microsoft.com/office/powerpoint/2010/main" val="29694367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DA91855-A4E0-FABA-3EBF-ADB659F3343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BBA5D7-7FA0-A89F-F576-81B46FDABE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36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878B28-0AD1-DD08-24A2-52FA2A0D0B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CAPEX 1 151 млн руб. (−2%): рост капитализации разработки компенсирован сокращением in-store проектов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333500"/>
          <a:ext cx="7112000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CAPEX: FC 2026 → BU 2027, млн руб.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7696200" y="1016000"/>
            <a:ext cx="4127500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CAPEX по проектам</a:t>
            </a:r>
          </a:p>
        </p:txBody>
      </p:sp>
      <p:graphicFrame>
        <p:nvGraphicFramePr>
          <p:cNvPr id="302" name="Table 302"/>
          <p:cNvGraphicFramePr>
            <a:graphicFrameLocks noGrp="1"/>
          </p:cNvGraphicFramePr>
          <p:nvPr/>
        </p:nvGraphicFramePr>
        <p:xfrm>
          <a:off x="7696200" y="1397000"/>
          <a:ext cx="4127500" cy="1183640"/>
        </p:xfrm>
        <a:graphic>
          <a:graphicData uri="http://schemas.openxmlformats.org/drawingml/2006/table">
            <a:tbl>
              <a:tblPr firstRow="1"/>
              <a:tblGrid>
                <a:gridCol w="146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млн руб.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>
                          <a:solidFill>
                            <a:srgbClr val="000000"/>
                          </a:solidFill>
                          <a:latin typeface="Arial"/>
                        </a:rPr>
                        <a:t>FC 2026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>
                          <a:solidFill>
                            <a:srgbClr val="000000"/>
                          </a:solidFill>
                          <a:latin typeface="Arial"/>
                        </a:rPr>
                        <a:t>BU 2027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Стратегия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AT Platform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447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541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In-store digital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732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610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1 180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1 151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1 242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03" name="Shape 303"/>
          <p:cNvSpPr txBox="1"/>
          <p:nvPr/>
        </p:nvSpPr>
        <p:spPr>
          <a:xfrm>
            <a:off x="7696200" y="2819400"/>
            <a:ext cx="4127500" cy="3276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>
              <a:spcBef>
                <a:spcPts val="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ФОТ разработки 510: </a:t>
            </a:r>
            <a:r>
              <a:rPr lang="ru-RU" sz="1200">
                <a:solidFill>
                  <a:srgbClr val="000000"/>
                </a:solidFill>
              </a:rPr>
              <a:t>капитализируется 27% ФОТ IT, Product, Analytics и </a:t>
            </a:r>
            <a:r>
              <a:rPr lang="en-US" sz="1200">
                <a:solidFill>
                  <a:srgbClr val="000000"/>
                </a:solidFill>
              </a:rPr>
              <a:t>BizDev</a:t>
            </a:r>
            <a:r>
              <a:rPr lang="en-US" sz="1200">
                <a:solidFill>
                  <a:srgbClr val="000000"/>
                </a:solidFill>
              </a:rPr>
              <a:t> IT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en-US" sz="1200" b="1">
                <a:solidFill>
                  <a:srgbClr val="000000"/>
                </a:solidFill>
              </a:rPr>
              <a:t>In-store 610, </a:t>
            </a:r>
            <a:r>
              <a:rPr lang="ru-RU" sz="1200">
                <a:solidFill>
                  <a:srgbClr val="000000"/>
                </a:solidFill>
              </a:rPr>
              <a:t>в т.ч. система управления медиаконтентом 438; интеграция медиа с КСО в бюджет не закладывается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Собственная разработка </a:t>
            </a:r>
            <a:r>
              <a:rPr lang="ru-RU" sz="1200">
                <a:solidFill>
                  <a:srgbClr val="000000"/>
                </a:solidFill>
              </a:rPr>
              <a:t>(</a:t>
            </a:r>
            <a:r>
              <a:rPr lang="en-US" sz="1200">
                <a:solidFill>
                  <a:srgbClr val="000000"/>
                </a:solidFill>
              </a:rPr>
              <a:t>Cubic</a:t>
            </a:r>
            <a:r>
              <a:rPr lang="ru-RU" sz="1200">
                <a:solidFill>
                  <a:srgbClr val="000000"/>
                </a:solidFill>
              </a:rPr>
              <a:t>, </a:t>
            </a:r>
            <a:r>
              <a:rPr lang="en-US" sz="1200">
                <a:solidFill>
                  <a:srgbClr val="000000"/>
                </a:solidFill>
              </a:rPr>
              <a:t>InAppStory</a:t>
            </a:r>
            <a:r>
              <a:rPr lang="ru-RU" sz="1200">
                <a:solidFill>
                  <a:srgbClr val="000000"/>
                </a:solidFill>
              </a:rPr>
              <a:t>) экономит ГК 22 млн руб. в год</a:t>
            </a:r>
          </a:p>
        </p:txBody>
      </p:sp>
    </p:spTree>
    <p:extLst>
      <p:ext uri="{BB962C8B-B14F-4D97-AF65-F5344CB8AC3E}">
        <p14:creationId xmlns:p14="http://schemas.microsoft.com/office/powerpoint/2010/main" val="26659662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09DB9-1FB1-3DAD-4998-AE89D829E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A82BCC1A-CF7F-5BD0-835E-1A5ED5861E8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82BCC1A-CF7F-5BD0-835E-1A5ED5861E8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F97CC15E-D697-13C1-9DA4-4177E17D94E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1B1EF871-FB30-468F-EFB0-7FBAD802277A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ru-RU" sz="5000" b="1">
                <a:solidFill>
                  <a:srgbClr val="FF452C"/>
                </a:solidFill>
                <a:latin typeface="Arial"/>
              </a:rPr>
              <a:t>0</a:t>
            </a:r>
            <a:r>
              <a:rPr lang="ru-RU" sz="5000" b="1">
                <a:solidFill>
                  <a:srgbClr val="FF452C"/>
                </a:solidFill>
                <a:latin typeface="Arial"/>
              </a:rPr>
              <a:t>4</a:t>
            </a:r>
            <a:endParaRPr lang="ru-RU" sz="5000" b="1">
              <a:solidFill>
                <a:srgbClr val="FF452C"/>
              </a:solidFill>
              <a:latin typeface="Arial"/>
            </a:endParaRPr>
          </a:p>
          <a:p>
            <a:pPr>
              <a:lnSpc>
                <a:spcPct val="90000"/>
              </a:lnSpc>
              <a:buNone/>
            </a:pPr>
            <a:r>
              <a:rPr lang="ru-RU" sz="5000" b="1">
                <a:solidFill>
                  <a:srgbClr val="FFFFFF"/>
                </a:solidFill>
                <a:latin typeface="Arial"/>
              </a:rPr>
              <a:t>Продукт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8540E57A-ED51-8929-FED3-80D4514385B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/>
              <a:t>Развитие форматов онлайн-инвентаря</a:t>
            </a:r>
          </a:p>
        </p:txBody>
      </p:sp>
    </p:spTree>
    <p:extLst>
      <p:ext uri="{BB962C8B-B14F-4D97-AF65-F5344CB8AC3E}">
        <p14:creationId xmlns:p14="http://schemas.microsoft.com/office/powerpoint/2010/main" val="14027518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B7809-9F21-486C-D811-64AA4DE96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8DE5692B-A644-9C53-1EEF-8D52BBB27A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3780" y="224059"/>
            <a:ext cx="11129749" cy="908344"/>
          </a:xfrm>
        </p:spPr>
        <p:txBody>
          <a:bodyPr/>
          <a:lstStyle/>
          <a:p>
            <a:r>
              <a:rPr lang="en-US"/>
              <a:t>ADTECH</a:t>
            </a:r>
            <a:r>
              <a:rPr lang="ru-RU"/>
              <a:t> это функция, которая максимизирует уровень </a:t>
            </a:r>
            <a:br>
              <a:rPr lang="ru-RU" dirty="0"/>
            </a:br>
            <a:r>
              <a:rPr lang="ru-RU"/>
              <a:t>рекламной монетизации группы </a:t>
            </a:r>
          </a:p>
        </p:txBody>
      </p:sp>
      <p:sp>
        <p:nvSpPr>
          <p:cNvPr id="8" name="Google Shape;47;p5">
            <a:extLst>
              <a:ext uri="{FF2B5EF4-FFF2-40B4-BE49-F238E27FC236}">
                <a16:creationId xmlns:a16="http://schemas.microsoft.com/office/drawing/2014/main" id="{C1410773-F401-9E4B-34FA-EE82825D6785}"/>
              </a:ext>
            </a:extLst>
          </p:cNvPr>
          <p:cNvSpPr/>
          <p:nvPr/>
        </p:nvSpPr>
        <p:spPr>
          <a:xfrm>
            <a:off x="271597" y="1092647"/>
            <a:ext cx="10921105" cy="692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2E28"/>
              </a:buClr>
              <a:buSzPts val="3000"/>
              <a:buFont typeface="Arial"/>
              <a:buNone/>
            </a:pPr>
            <a:r>
              <a:rPr lang="ru-RU">
                <a:solidFill>
                  <a:srgbClr val="442E28"/>
                </a:solidFill>
                <a:latin typeface="Montserrat" pitchFamily="2" charset="0"/>
                <a:ea typeface="Calibri"/>
                <a:cs typeface="Arial"/>
                <a:sym typeface="Arial"/>
              </a:rPr>
              <a:t>Мы раскрываем рекламный потенциал форматов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2E28"/>
              </a:buClr>
              <a:buSzPts val="3000"/>
              <a:buFont typeface="Arial"/>
              <a:buNone/>
            </a:pPr>
            <a:r>
              <a:rPr lang="ru-RU">
                <a:solidFill>
                  <a:srgbClr val="442E28"/>
                </a:solidFill>
                <a:latin typeface="Montserrat" pitchFamily="2" charset="0"/>
                <a:ea typeface="Calibri"/>
                <a:cs typeface="Arial"/>
                <a:sym typeface="Arial"/>
              </a:rPr>
              <a:t>и зависим от роста аудитории экосистемы и покрытия пользовательских сценариев</a:t>
            </a:r>
            <a:r>
              <a:rPr lang="ru-RU">
                <a:solidFill>
                  <a:srgbClr val="442E28"/>
                </a:solidFill>
                <a:latin typeface="Montserrat" pitchFamily="2" charset="0"/>
                <a:ea typeface="Calibri"/>
                <a:cs typeface="Arial"/>
                <a:sym typeface="Arial"/>
              </a:rPr>
              <a:t> </a:t>
            </a:r>
            <a:endParaRPr lang="ru-RU">
              <a:solidFill>
                <a:schemeClr val="dk1"/>
              </a:solidFill>
              <a:latin typeface="Montserrat" pitchFamily="2" charset="0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CC27094E-A3B1-2F1D-DF5B-1F97507504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25"/>
          <a:stretch>
            <a:fillRect/>
          </a:stretch>
        </p:blipFill>
        <p:spPr bwMode="auto">
          <a:xfrm>
            <a:off x="1047045" y="1825255"/>
            <a:ext cx="9423218" cy="4304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BF5053C-20DA-E544-065C-A73E4D41EAD9}"/>
              </a:ext>
            </a:extLst>
          </p:cNvPr>
          <p:cNvSpPr/>
          <p:nvPr/>
        </p:nvSpPr>
        <p:spPr>
          <a:xfrm>
            <a:off x="7287823" y="4911478"/>
            <a:ext cx="3520317" cy="14720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3862C71-A94A-4D86-4AED-999CF5AB52C1}"/>
              </a:ext>
            </a:extLst>
          </p:cNvPr>
          <p:cNvSpPr/>
          <p:nvPr/>
        </p:nvSpPr>
        <p:spPr>
          <a:xfrm>
            <a:off x="4449564" y="2931818"/>
            <a:ext cx="2565169" cy="886348"/>
          </a:xfrm>
          <a:prstGeom prst="rect">
            <a:avLst/>
          </a:prstGeom>
          <a:solidFill>
            <a:srgbClr val="ED0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>
                <a:solidFill>
                  <a:schemeClr val="bg1"/>
                </a:solidFill>
                <a:latin typeface="Montserrat" pitchFamily="2" charset="0"/>
                <a:ea typeface="Arial"/>
                <a:cs typeface="Arial"/>
                <a:sym typeface="Arial"/>
              </a:rPr>
              <a:t>Драйверы</a:t>
            </a:r>
            <a:r>
              <a:rPr lang="en-US" sz="2000" b="1">
                <a:solidFill>
                  <a:schemeClr val="bg1"/>
                </a:solidFill>
                <a:latin typeface="Montserrat" pitchFamily="2" charset="0"/>
                <a:ea typeface="Arial"/>
                <a:cs typeface="Arial"/>
                <a:sym typeface="Arial"/>
              </a:rPr>
              <a:t> ADTECH</a:t>
            </a:r>
            <a:endParaRPr lang="ru-RU" sz="2000" b="1">
              <a:solidFill>
                <a:schemeClr val="bg1"/>
              </a:solidFill>
              <a:latin typeface="Montserrat" pitchFamily="2" charset="0"/>
              <a:ea typeface="Arial"/>
              <a:cs typeface="Arial"/>
              <a:sym typeface="Arial"/>
            </a:endParaRPr>
          </a:p>
        </p:txBody>
      </p:sp>
      <p:sp>
        <p:nvSpPr>
          <p:cNvPr id="16" name="Google Shape;208;p14">
            <a:extLst>
              <a:ext uri="{FF2B5EF4-FFF2-40B4-BE49-F238E27FC236}">
                <a16:creationId xmlns:a16="http://schemas.microsoft.com/office/drawing/2014/main" id="{AA3DD2A6-0881-B67B-BEA1-3B8226C7C773}"/>
              </a:ext>
            </a:extLst>
          </p:cNvPr>
          <p:cNvSpPr/>
          <p:nvPr/>
        </p:nvSpPr>
        <p:spPr>
          <a:xfrm>
            <a:off x="870865" y="1556324"/>
            <a:ext cx="777721" cy="145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0E00"/>
              </a:buClr>
              <a:buSzPts val="3000"/>
              <a:buFont typeface="Arial"/>
              <a:buNone/>
            </a:pPr>
            <a:endParaRPr lang="ru-RU">
              <a:solidFill>
                <a:schemeClr val="dk1"/>
              </a:solidFill>
              <a:latin typeface="Montserrat" pitchFamily="2" charset="0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925276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C8261-6B9D-2892-08D6-18E3F7FD9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7BCF8FF6-C7C0-9B56-0CAD-6AAFAAF89D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3988" y="1750785"/>
            <a:ext cx="11029541" cy="908344"/>
          </a:xfrm>
        </p:spPr>
        <p:txBody>
          <a:bodyPr/>
          <a:lstStyle/>
          <a:p>
            <a:r>
              <a:rPr lang="ru-RU" sz="2800" b="0">
                <a:solidFill>
                  <a:srgbClr val="ED0E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Эффективная монетизация =</a:t>
            </a:r>
            <a:endParaRPr lang="ru-RU" sz="2800" b="0"/>
          </a:p>
        </p:txBody>
      </p: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EF3498CE-E219-919D-22F8-B74F488EB86D}"/>
              </a:ext>
            </a:extLst>
          </p:cNvPr>
          <p:cNvSpPr/>
          <p:nvPr/>
        </p:nvSpPr>
        <p:spPr>
          <a:xfrm>
            <a:off x="868470" y="2659129"/>
            <a:ext cx="4611757" cy="2352008"/>
          </a:xfrm>
          <a:prstGeom prst="roundRect">
            <a:avLst>
              <a:gd name="adj" fmla="val 7328"/>
            </a:avLst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>
                <a:solidFill>
                  <a:srgbClr val="ED0E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Рекламные технологии</a:t>
            </a:r>
            <a:endParaRPr lang="ru-RU" sz="1100">
              <a:latin typeface="Montserrat" pitchFamily="2" charset="0"/>
            </a:endParaRPr>
          </a:p>
        </p:txBody>
      </p:sp>
      <p:sp>
        <p:nvSpPr>
          <p:cNvPr id="9" name="Текст 1">
            <a:extLst>
              <a:ext uri="{FF2B5EF4-FFF2-40B4-BE49-F238E27FC236}">
                <a16:creationId xmlns:a16="http://schemas.microsoft.com/office/drawing/2014/main" id="{49F35F54-0DDE-BA45-7193-0C748DA35996}"/>
              </a:ext>
            </a:extLst>
          </p:cNvPr>
          <p:cNvSpPr txBox="1">
            <a:spLocks/>
          </p:cNvSpPr>
          <p:nvPr/>
        </p:nvSpPr>
        <p:spPr>
          <a:xfrm>
            <a:off x="5414959" y="3682163"/>
            <a:ext cx="1077613" cy="90834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rgbClr val="E30613"/>
                </a:solidFill>
                <a:latin typeface="Montserrat Medium" panose="00000600000000000000" pitchFamily="2" charset="-52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rgbClr val="E30613"/>
                </a:solidFill>
                <a:latin typeface="Montserrat" panose="00000500000000000000" pitchFamily="2" charset="-52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rgbClr val="E30613"/>
                </a:solidFill>
                <a:latin typeface="Montserrat" panose="00000500000000000000" pitchFamily="2" charset="-52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rgbClr val="E30613"/>
                </a:solidFill>
                <a:latin typeface="Montserrat" panose="00000500000000000000" pitchFamily="2" charset="-52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rgbClr val="E30613"/>
                </a:solidFill>
                <a:latin typeface="Montserrat" panose="00000500000000000000" pitchFamily="2" charset="-52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80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2C984E2-98AB-D41E-4214-35D0833C07A7}"/>
              </a:ext>
            </a:extLst>
          </p:cNvPr>
          <p:cNvSpPr/>
          <p:nvPr/>
        </p:nvSpPr>
        <p:spPr>
          <a:xfrm>
            <a:off x="6492572" y="2659129"/>
            <a:ext cx="4611757" cy="2352008"/>
          </a:xfrm>
          <a:prstGeom prst="roundRect">
            <a:avLst>
              <a:gd name="adj" fmla="val 7328"/>
            </a:avLst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>
                <a:solidFill>
                  <a:schemeClr val="tx1"/>
                </a:solidFill>
                <a:latin typeface="Montserrat" pitchFamily="2" charset="0"/>
                <a:ea typeface="Arial"/>
                <a:cs typeface="Arial"/>
                <a:sym typeface="Arial"/>
              </a:rPr>
              <a:t>Рост трафика и покрытия пользовательских сценариев </a:t>
            </a:r>
            <a:endParaRPr lang="ru-RU" sz="1100">
              <a:solidFill>
                <a:schemeClr val="tx1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99456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F78FC720-BB47-4423-02F3-CC7E8E21A9D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78FC720-BB47-4423-02F3-CC7E8E21A9D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6D7D2EA3-287E-A3C5-7B05-81B36404DE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3780" y="224059"/>
            <a:ext cx="10418801" cy="908344"/>
          </a:xfrm>
        </p:spPr>
        <p:txBody>
          <a:bodyPr/>
          <a:lstStyle/>
          <a:p>
            <a:r>
              <a:rPr lang="ru-RU"/>
              <a:t>Рекламные технологии</a:t>
            </a:r>
            <a:r>
              <a:rPr lang="ru-RU"/>
              <a:t>: </a:t>
            </a:r>
            <a:r>
              <a:rPr lang="ru-RU"/>
              <a:t>мы объединили все инструменты в общий технологический и коммерческий контур</a:t>
            </a: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23E040A9-3948-0631-DE2F-76DBF8D7118B}"/>
              </a:ext>
            </a:extLst>
          </p:cNvPr>
          <p:cNvSpPr/>
          <p:nvPr/>
        </p:nvSpPr>
        <p:spPr>
          <a:xfrm>
            <a:off x="609600" y="3760952"/>
            <a:ext cx="5383693" cy="2352008"/>
          </a:xfrm>
          <a:prstGeom prst="roundRect">
            <a:avLst>
              <a:gd name="adj" fmla="val 7328"/>
            </a:avLst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100">
              <a:latin typeface="Montserrat" pitchFamily="2" charset="0"/>
            </a:endParaRPr>
          </a:p>
        </p:txBody>
      </p:sp>
      <p:pic>
        <p:nvPicPr>
          <p:cNvPr id="5" name="Google Shape;202;p14" descr="preencoded.png">
            <a:extLst>
              <a:ext uri="{FF2B5EF4-FFF2-40B4-BE49-F238E27FC236}">
                <a16:creationId xmlns:a16="http://schemas.microsoft.com/office/drawing/2014/main" id="{40A2E10E-F069-F9C5-1990-07D40F89558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9600" y="1288366"/>
            <a:ext cx="3548759" cy="2352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203;p14" descr="preencoded.png">
            <a:extLst>
              <a:ext uri="{FF2B5EF4-FFF2-40B4-BE49-F238E27FC236}">
                <a16:creationId xmlns:a16="http://schemas.microsoft.com/office/drawing/2014/main" id="{0EF1AA88-4161-8E9D-DB9C-9F6CC735E3F0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279467" y="1288366"/>
            <a:ext cx="3548759" cy="2352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04;p14" descr="preencoded.png">
            <a:extLst>
              <a:ext uri="{FF2B5EF4-FFF2-40B4-BE49-F238E27FC236}">
                <a16:creationId xmlns:a16="http://schemas.microsoft.com/office/drawing/2014/main" id="{C4B7B0D7-ACEA-5134-8B6D-08509C02B758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949335" y="1288366"/>
            <a:ext cx="3548759" cy="235200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205;p14" descr="preencoded.png">
            <a:extLst>
              <a:ext uri="{FF2B5EF4-FFF2-40B4-BE49-F238E27FC236}">
                <a16:creationId xmlns:a16="http://schemas.microsoft.com/office/drawing/2014/main" id="{4E672D32-A5E1-8591-BBB1-9AD1A95F9EFF}"/>
              </a:ext>
            </a:extLst>
          </p:cNvPr>
          <p:cNvSpPr/>
          <p:nvPr/>
        </p:nvSpPr>
        <p:spPr>
          <a:xfrm>
            <a:off x="609600" y="3760952"/>
            <a:ext cx="5383693" cy="235232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ru-RU" sz="1100">
              <a:latin typeface="Montserrat" pitchFamily="2" charset="0"/>
            </a:endParaRPr>
          </a:p>
        </p:txBody>
      </p:sp>
      <p:pic>
        <p:nvPicPr>
          <p:cNvPr id="9" name="Google Shape;206;p14" descr="preencoded.png">
            <a:extLst>
              <a:ext uri="{FF2B5EF4-FFF2-40B4-BE49-F238E27FC236}">
                <a16:creationId xmlns:a16="http://schemas.microsoft.com/office/drawing/2014/main" id="{9063655A-9031-436B-867C-0B28A682BDB6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114401" y="3760952"/>
            <a:ext cx="5383693" cy="2352328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208;p14">
            <a:extLst>
              <a:ext uri="{FF2B5EF4-FFF2-40B4-BE49-F238E27FC236}">
                <a16:creationId xmlns:a16="http://schemas.microsoft.com/office/drawing/2014/main" id="{F2A07F91-7869-3C39-35B5-744435387BB8}"/>
              </a:ext>
            </a:extLst>
          </p:cNvPr>
          <p:cNvSpPr/>
          <p:nvPr/>
        </p:nvSpPr>
        <p:spPr>
          <a:xfrm>
            <a:off x="870865" y="1556324"/>
            <a:ext cx="777721" cy="145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0E00"/>
              </a:buClr>
              <a:buSzPts val="3000"/>
              <a:buFont typeface="Arial"/>
              <a:buNone/>
            </a:pPr>
            <a:r>
              <a:rPr lang="en-US">
                <a:solidFill>
                  <a:srgbClr val="ED0E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APP</a:t>
            </a:r>
            <a:endParaRPr lang="en-US">
              <a:solidFill>
                <a:schemeClr val="dk1"/>
              </a:solidFill>
              <a:latin typeface="Montserrat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209;p14">
            <a:extLst>
              <a:ext uri="{FF2B5EF4-FFF2-40B4-BE49-F238E27FC236}">
                <a16:creationId xmlns:a16="http://schemas.microsoft.com/office/drawing/2014/main" id="{AE5024ED-9CE7-8329-9A0A-9CFEC6E89E3E}"/>
              </a:ext>
            </a:extLst>
          </p:cNvPr>
          <p:cNvSpPr/>
          <p:nvPr/>
        </p:nvSpPr>
        <p:spPr>
          <a:xfrm>
            <a:off x="870865" y="1920880"/>
            <a:ext cx="1263795" cy="1288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2E28"/>
              </a:buClr>
              <a:buSzPts val="2400"/>
              <a:buFont typeface="Arial"/>
              <a:buNone/>
            </a:pPr>
            <a:r>
              <a:rPr lang="ru-RU" sz="1400">
                <a:solidFill>
                  <a:srgbClr val="442E28"/>
                </a:solidFill>
                <a:latin typeface="Montserrat" pitchFamily="2" charset="0"/>
                <a:ea typeface="Arial"/>
                <a:cs typeface="Arial"/>
                <a:sym typeface="Arial"/>
              </a:rPr>
              <a:t>Баннеры, stories, полки, карточки </a:t>
            </a:r>
            <a:br>
              <a:rPr lang="ru-RU" sz="1100" noProof="0" dirty="0">
                <a:solidFill>
                  <a:schemeClr val="dk1"/>
                </a:solidFill>
                <a:latin typeface="Montserrat" pitchFamily="2" charset="0"/>
                <a:ea typeface="Calibri"/>
                <a:cs typeface="Calibri"/>
                <a:sym typeface="Calibri"/>
              </a:rPr>
            </a:br>
            <a:r>
              <a:rPr lang="ru-RU" sz="1400">
                <a:solidFill>
                  <a:srgbClr val="442E28"/>
                </a:solidFill>
                <a:latin typeface="Montserrat" pitchFamily="2" charset="0"/>
                <a:ea typeface="Arial"/>
                <a:cs typeface="Arial"/>
                <a:sym typeface="Arial"/>
              </a:rPr>
              <a:t>и другие форматы</a:t>
            </a:r>
            <a:endParaRPr lang="ru-RU" sz="1400">
              <a:solidFill>
                <a:schemeClr val="dk1"/>
              </a:solidFill>
              <a:latin typeface="Montserrat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210;p14">
            <a:extLst>
              <a:ext uri="{FF2B5EF4-FFF2-40B4-BE49-F238E27FC236}">
                <a16:creationId xmlns:a16="http://schemas.microsoft.com/office/drawing/2014/main" id="{8A24A933-8D06-023A-EFDD-FAEE12452FC2}"/>
              </a:ext>
            </a:extLst>
          </p:cNvPr>
          <p:cNvSpPr/>
          <p:nvPr/>
        </p:nvSpPr>
        <p:spPr>
          <a:xfrm rot="21561562">
            <a:off x="6702905" y="2327794"/>
            <a:ext cx="233664" cy="24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2E28"/>
              </a:buClr>
              <a:buSzPts val="227"/>
              <a:buFont typeface="Arial"/>
              <a:buNone/>
            </a:pPr>
            <a:r>
              <a:rPr lang="ru-RU" sz="100" b="1">
                <a:solidFill>
                  <a:srgbClr val="442E28"/>
                </a:solidFill>
                <a:latin typeface="Montserrat" pitchFamily="2" charset="0"/>
                <a:ea typeface="Arial"/>
                <a:cs typeface="Arial"/>
                <a:sym typeface="Arial"/>
              </a:rPr>
              <a:t>Скидка 50% на комбо</a:t>
            </a:r>
            <a:endParaRPr lang="ru-RU" sz="100">
              <a:solidFill>
                <a:schemeClr val="dk1"/>
              </a:solidFill>
              <a:latin typeface="Montserrat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211;p14">
            <a:extLst>
              <a:ext uri="{FF2B5EF4-FFF2-40B4-BE49-F238E27FC236}">
                <a16:creationId xmlns:a16="http://schemas.microsoft.com/office/drawing/2014/main" id="{306B07F0-A3A3-F78C-FED8-99651C913449}"/>
              </a:ext>
            </a:extLst>
          </p:cNvPr>
          <p:cNvSpPr/>
          <p:nvPr/>
        </p:nvSpPr>
        <p:spPr>
          <a:xfrm rot="21561562">
            <a:off x="6703192" y="2356497"/>
            <a:ext cx="217684" cy="18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2E28"/>
              </a:buClr>
              <a:buSzPts val="169"/>
              <a:buFont typeface="Arial"/>
              <a:buNone/>
            </a:pPr>
            <a:r>
              <a:rPr lang="ru-RU" sz="100">
                <a:solidFill>
                  <a:srgbClr val="442E28"/>
                </a:solidFill>
                <a:latin typeface="Montserrat" pitchFamily="2" charset="0"/>
                <a:ea typeface="Arial"/>
                <a:cs typeface="Arial"/>
                <a:sym typeface="Arial"/>
              </a:rPr>
              <a:t>В магазинах Магнит у дома</a:t>
            </a:r>
            <a:endParaRPr lang="ru-RU" sz="100">
              <a:solidFill>
                <a:schemeClr val="dk1"/>
              </a:solidFill>
              <a:latin typeface="Montserrat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212;p14">
            <a:extLst>
              <a:ext uri="{FF2B5EF4-FFF2-40B4-BE49-F238E27FC236}">
                <a16:creationId xmlns:a16="http://schemas.microsoft.com/office/drawing/2014/main" id="{12771769-BEAA-14A8-746C-1D6F8AB1E908}"/>
              </a:ext>
            </a:extLst>
          </p:cNvPr>
          <p:cNvSpPr/>
          <p:nvPr/>
        </p:nvSpPr>
        <p:spPr>
          <a:xfrm rot="21561562">
            <a:off x="6709958" y="2382418"/>
            <a:ext cx="78987" cy="18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>
              <a:lnSpc>
                <a:spcPct val="133742"/>
              </a:lnSpc>
              <a:spcBef>
                <a:spcPts val="0"/>
              </a:spcBef>
              <a:spcAft>
                <a:spcPts val="0"/>
              </a:spcAft>
              <a:buClr>
                <a:srgbClr val="FA007E"/>
              </a:buClr>
              <a:buSzPts val="163"/>
              <a:buFont typeface="Arial"/>
              <a:buNone/>
            </a:pPr>
            <a:r>
              <a:rPr lang="ru-RU" sz="100">
                <a:solidFill>
                  <a:srgbClr val="FA007E"/>
                </a:solidFill>
                <a:latin typeface="Montserrat" pitchFamily="2" charset="0"/>
                <a:ea typeface="Arial"/>
                <a:cs typeface="Arial"/>
                <a:sym typeface="Arial"/>
              </a:rPr>
              <a:t>По карте</a:t>
            </a:r>
            <a:endParaRPr lang="ru-RU" sz="100">
              <a:solidFill>
                <a:schemeClr val="dk1"/>
              </a:solidFill>
              <a:latin typeface="Montserrat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213;p14">
            <a:extLst>
              <a:ext uri="{FF2B5EF4-FFF2-40B4-BE49-F238E27FC236}">
                <a16:creationId xmlns:a16="http://schemas.microsoft.com/office/drawing/2014/main" id="{99C6E895-4964-9FA6-182E-96BA659749F9}"/>
              </a:ext>
            </a:extLst>
          </p:cNvPr>
          <p:cNvSpPr/>
          <p:nvPr/>
        </p:nvSpPr>
        <p:spPr>
          <a:xfrm>
            <a:off x="4522505" y="1532020"/>
            <a:ext cx="714513" cy="166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0E00"/>
              </a:buClr>
              <a:buSzPts val="3000"/>
              <a:buFont typeface="Arial"/>
              <a:buNone/>
            </a:pPr>
            <a:r>
              <a:rPr lang="ru-RU">
                <a:solidFill>
                  <a:srgbClr val="ED0E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КСО</a:t>
            </a:r>
            <a:endParaRPr lang="ru-RU">
              <a:solidFill>
                <a:schemeClr val="dk1"/>
              </a:solidFill>
              <a:latin typeface="Montserrat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214;p14">
            <a:extLst>
              <a:ext uri="{FF2B5EF4-FFF2-40B4-BE49-F238E27FC236}">
                <a16:creationId xmlns:a16="http://schemas.microsoft.com/office/drawing/2014/main" id="{AC80E9FD-0447-0CA3-ED3E-FEA277761D49}"/>
              </a:ext>
            </a:extLst>
          </p:cNvPr>
          <p:cNvSpPr/>
          <p:nvPr/>
        </p:nvSpPr>
        <p:spPr>
          <a:xfrm>
            <a:off x="4522505" y="1896577"/>
            <a:ext cx="1263795" cy="595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2E28"/>
              </a:buClr>
              <a:buSzPts val="2400"/>
              <a:buFont typeface="Arial"/>
              <a:buNone/>
            </a:pPr>
            <a:r>
              <a:rPr lang="ru-RU" sz="1400">
                <a:solidFill>
                  <a:srgbClr val="442E28"/>
                </a:solidFill>
                <a:latin typeface="Montserrat" pitchFamily="2" charset="0"/>
                <a:ea typeface="Arial"/>
                <a:cs typeface="Arial"/>
                <a:sym typeface="Arial"/>
              </a:rPr>
              <a:t>Заставки, баннеры, интерактив</a:t>
            </a:r>
            <a:endParaRPr lang="ru-RU" sz="1400">
              <a:solidFill>
                <a:schemeClr val="dk1"/>
              </a:solidFill>
              <a:latin typeface="Montserrat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215;p14">
            <a:extLst>
              <a:ext uri="{FF2B5EF4-FFF2-40B4-BE49-F238E27FC236}">
                <a16:creationId xmlns:a16="http://schemas.microsoft.com/office/drawing/2014/main" id="{334568E5-9D38-C05E-7804-1799B5F23D0D}"/>
              </a:ext>
            </a:extLst>
          </p:cNvPr>
          <p:cNvSpPr/>
          <p:nvPr/>
        </p:nvSpPr>
        <p:spPr>
          <a:xfrm>
            <a:off x="8192372" y="1532020"/>
            <a:ext cx="1203036" cy="461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0E00"/>
              </a:buClr>
              <a:buSzPts val="3000"/>
              <a:buFont typeface="Arial"/>
              <a:buNone/>
            </a:pPr>
            <a:r>
              <a:rPr lang="ru-RU">
                <a:solidFill>
                  <a:srgbClr val="ED0E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Внешние </a:t>
            </a:r>
            <a:br>
              <a:rPr lang="ru-RU" sz="1100" noProof="0" dirty="0">
                <a:solidFill>
                  <a:schemeClr val="dk1"/>
                </a:solidFill>
                <a:latin typeface="Montserrat" pitchFamily="2" charset="0"/>
                <a:ea typeface="Calibri"/>
                <a:cs typeface="Calibri"/>
                <a:sym typeface="Calibri"/>
              </a:rPr>
            </a:br>
            <a:r>
              <a:rPr lang="ru-RU">
                <a:solidFill>
                  <a:srgbClr val="ED0E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экраны</a:t>
            </a:r>
            <a:endParaRPr lang="ru-RU">
              <a:solidFill>
                <a:schemeClr val="dk1"/>
              </a:solidFill>
              <a:latin typeface="Montserrat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216;p14">
            <a:extLst>
              <a:ext uri="{FF2B5EF4-FFF2-40B4-BE49-F238E27FC236}">
                <a16:creationId xmlns:a16="http://schemas.microsoft.com/office/drawing/2014/main" id="{9A79831F-9A5E-1ED6-4702-6D06BC1B6B76}"/>
              </a:ext>
            </a:extLst>
          </p:cNvPr>
          <p:cNvSpPr/>
          <p:nvPr/>
        </p:nvSpPr>
        <p:spPr>
          <a:xfrm>
            <a:off x="8192372" y="2188222"/>
            <a:ext cx="1263795" cy="1057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2E28"/>
              </a:buClr>
              <a:buSzPts val="2400"/>
              <a:buFont typeface="Arial"/>
              <a:buNone/>
            </a:pPr>
            <a:r>
              <a:rPr lang="ru-RU" sz="1400">
                <a:solidFill>
                  <a:srgbClr val="442E28"/>
                </a:solidFill>
                <a:latin typeface="Montserrat" pitchFamily="2" charset="0"/>
                <a:ea typeface="Arial"/>
                <a:cs typeface="Arial"/>
                <a:sym typeface="Arial"/>
              </a:rPr>
              <a:t>ТВ-экраны </a:t>
            </a:r>
            <a:br>
              <a:rPr lang="ru-RU" sz="1100" noProof="0" dirty="0">
                <a:solidFill>
                  <a:schemeClr val="dk1"/>
                </a:solidFill>
                <a:latin typeface="Montserrat" pitchFamily="2" charset="0"/>
                <a:ea typeface="Calibri"/>
                <a:cs typeface="Calibri"/>
                <a:sym typeface="Calibri"/>
              </a:rPr>
            </a:br>
            <a:r>
              <a:rPr lang="ru-RU" sz="1400">
                <a:solidFill>
                  <a:srgbClr val="442E28"/>
                </a:solidFill>
                <a:latin typeface="Montserrat" pitchFamily="2" charset="0"/>
                <a:ea typeface="Arial"/>
                <a:cs typeface="Arial"/>
                <a:sym typeface="Arial"/>
              </a:rPr>
              <a:t>в торговом зале, у входа </a:t>
            </a:r>
            <a:br>
              <a:rPr lang="ru-RU" sz="1100" noProof="0" dirty="0">
                <a:solidFill>
                  <a:schemeClr val="dk1"/>
                </a:solidFill>
                <a:latin typeface="Montserrat" pitchFamily="2" charset="0"/>
                <a:ea typeface="Calibri"/>
                <a:cs typeface="Calibri"/>
                <a:sym typeface="Calibri"/>
              </a:rPr>
            </a:br>
            <a:r>
              <a:rPr lang="ru-RU" sz="1400">
                <a:solidFill>
                  <a:srgbClr val="442E28"/>
                </a:solidFill>
                <a:latin typeface="Montserrat" pitchFamily="2" charset="0"/>
                <a:ea typeface="Arial"/>
                <a:cs typeface="Arial"/>
                <a:sym typeface="Arial"/>
              </a:rPr>
              <a:t>и в других зонах </a:t>
            </a:r>
            <a:endParaRPr lang="ru-RU" sz="1400">
              <a:solidFill>
                <a:schemeClr val="dk1"/>
              </a:solidFill>
              <a:latin typeface="Montserrat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217;p14">
            <a:extLst>
              <a:ext uri="{FF2B5EF4-FFF2-40B4-BE49-F238E27FC236}">
                <a16:creationId xmlns:a16="http://schemas.microsoft.com/office/drawing/2014/main" id="{9BE5E34B-931C-229B-B2FB-2E0EC95BDC62}"/>
              </a:ext>
            </a:extLst>
          </p:cNvPr>
          <p:cNvSpPr/>
          <p:nvPr/>
        </p:nvSpPr>
        <p:spPr>
          <a:xfrm>
            <a:off x="852638" y="4004927"/>
            <a:ext cx="795948" cy="170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0E00"/>
              </a:buClr>
              <a:buSzPts val="3000"/>
              <a:buFont typeface="Arial"/>
              <a:buNone/>
            </a:pPr>
            <a:r>
              <a:rPr lang="en-US">
                <a:solidFill>
                  <a:srgbClr val="ED0E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Web</a:t>
            </a:r>
            <a:endParaRPr lang="en-US">
              <a:solidFill>
                <a:schemeClr val="dk1"/>
              </a:solidFill>
              <a:latin typeface="Montserrat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18;p14">
            <a:extLst>
              <a:ext uri="{FF2B5EF4-FFF2-40B4-BE49-F238E27FC236}">
                <a16:creationId xmlns:a16="http://schemas.microsoft.com/office/drawing/2014/main" id="{518F179C-5AF6-CCC2-C127-8BAB3887F37B}"/>
              </a:ext>
            </a:extLst>
          </p:cNvPr>
          <p:cNvSpPr/>
          <p:nvPr/>
        </p:nvSpPr>
        <p:spPr>
          <a:xfrm>
            <a:off x="852638" y="4369484"/>
            <a:ext cx="2047592" cy="595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2E28"/>
              </a:buClr>
              <a:buSzPts val="2400"/>
              <a:buFont typeface="Arial"/>
              <a:buNone/>
            </a:pPr>
            <a:r>
              <a:rPr lang="ru-RU" sz="1400">
                <a:solidFill>
                  <a:srgbClr val="442E28"/>
                </a:solidFill>
                <a:latin typeface="Montserrat" pitchFamily="2" charset="0"/>
                <a:ea typeface="Arial"/>
                <a:cs typeface="Arial"/>
                <a:sym typeface="Arial"/>
              </a:rPr>
              <a:t>Баннеры, спецпроекты, категории</a:t>
            </a:r>
            <a:endParaRPr lang="ru-RU" sz="1400">
              <a:solidFill>
                <a:schemeClr val="dk1"/>
              </a:solidFill>
              <a:latin typeface="Montserrat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9;p14">
            <a:extLst>
              <a:ext uri="{FF2B5EF4-FFF2-40B4-BE49-F238E27FC236}">
                <a16:creationId xmlns:a16="http://schemas.microsoft.com/office/drawing/2014/main" id="{3810D586-3EBF-DE00-D082-881EC86788B2}"/>
              </a:ext>
            </a:extLst>
          </p:cNvPr>
          <p:cNvSpPr/>
          <p:nvPr/>
        </p:nvSpPr>
        <p:spPr>
          <a:xfrm>
            <a:off x="6357439" y="4004927"/>
            <a:ext cx="2363540" cy="170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0E00"/>
              </a:buClr>
              <a:buSzPts val="3000"/>
              <a:buFont typeface="Arial"/>
              <a:buNone/>
            </a:pPr>
            <a:r>
              <a:rPr lang="ru-RU">
                <a:solidFill>
                  <a:srgbClr val="ED0E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Новый инвентарь</a:t>
            </a:r>
            <a:endParaRPr lang="ru-RU">
              <a:solidFill>
                <a:schemeClr val="dk1"/>
              </a:solidFill>
              <a:latin typeface="Montserrat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0;p14">
            <a:extLst>
              <a:ext uri="{FF2B5EF4-FFF2-40B4-BE49-F238E27FC236}">
                <a16:creationId xmlns:a16="http://schemas.microsoft.com/office/drawing/2014/main" id="{D6F6CD33-B1D9-A2E2-9C75-49D78A13FE31}"/>
              </a:ext>
            </a:extLst>
          </p:cNvPr>
          <p:cNvSpPr/>
          <p:nvPr/>
        </p:nvSpPr>
        <p:spPr>
          <a:xfrm>
            <a:off x="6357439" y="4369484"/>
            <a:ext cx="2047592" cy="826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2E28"/>
              </a:buClr>
              <a:buSzPts val="2400"/>
              <a:buFont typeface="Arial"/>
              <a:buNone/>
            </a:pPr>
            <a:r>
              <a:rPr lang="ru-RU" sz="1400">
                <a:solidFill>
                  <a:srgbClr val="442E28"/>
                </a:solidFill>
                <a:latin typeface="Montserrat" pitchFamily="2" charset="0"/>
                <a:ea typeface="Arial"/>
                <a:cs typeface="Arial"/>
                <a:sym typeface="Arial"/>
              </a:rPr>
              <a:t>К платформе быстро подключаются </a:t>
            </a:r>
            <a:br>
              <a:rPr lang="ru-RU" sz="1100" noProof="0" dirty="0">
                <a:solidFill>
                  <a:schemeClr val="dk1"/>
                </a:solidFill>
                <a:latin typeface="Montserrat" pitchFamily="2" charset="0"/>
                <a:ea typeface="Calibri"/>
                <a:cs typeface="Calibri"/>
                <a:sym typeface="Calibri"/>
              </a:rPr>
            </a:br>
            <a:r>
              <a:rPr lang="ru-RU" sz="1400">
                <a:solidFill>
                  <a:srgbClr val="442E28"/>
                </a:solidFill>
                <a:latin typeface="Montserrat" pitchFamily="2" charset="0"/>
                <a:ea typeface="Arial"/>
                <a:cs typeface="Arial"/>
                <a:sym typeface="Arial"/>
              </a:rPr>
              <a:t>все новые типы инвентаря</a:t>
            </a:r>
            <a:endParaRPr lang="ru-RU" sz="1400">
              <a:solidFill>
                <a:schemeClr val="dk1"/>
              </a:solidFill>
              <a:latin typeface="Montserrat" pitchFamily="2" charset="0"/>
              <a:ea typeface="Calibri"/>
              <a:cs typeface="Calibri"/>
              <a:sym typeface="Calibri"/>
            </a:endParaRPr>
          </a:p>
        </p:txBody>
      </p:sp>
      <p:pic>
        <p:nvPicPr>
          <p:cNvPr id="43" name="Google Shape;221;p14">
            <a:extLst>
              <a:ext uri="{FF2B5EF4-FFF2-40B4-BE49-F238E27FC236}">
                <a16:creationId xmlns:a16="http://schemas.microsoft.com/office/drawing/2014/main" id="{E8737883-3B03-ED74-264C-2D29ECB95B61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675852" y="3550556"/>
            <a:ext cx="3687645" cy="27610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026506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0F174E2F-157C-5987-CCCC-A782A01D5AE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84" imgH="486" progId="TCLayout.ActiveDocument.1">
                  <p:embed/>
                </p:oleObj>
              </mc:Choice>
              <mc:Fallback>
                <p:oleObj name="think-cell Slide" r:id="rId4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F174E2F-157C-5987-CCCC-A782A01D5AE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1"/>
          <p:cNvSpPr/>
          <p:nvPr/>
        </p:nvSpPr>
        <p:spPr>
          <a:xfrm>
            <a:off x="364176" y="885825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300">
                <a:solidFill>
                  <a:srgbClr val="6B6B6B"/>
                </a:solidFill>
              </a:rPr>
              <a:t>Media, Social Commerce и Performance уходят в нативные форматы, а бренд управляет ими сам из одного кабинета.</a:t>
            </a:r>
            <a:endParaRPr lang="ru-RU" sz="130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75DA8E-B1BB-B4B9-4D0E-3096CB6B70F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lang="ru-RU" b="0"/>
              <a:t>41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3353E2-B7FA-388A-B389-849F23A6ED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>
                <a:solidFill>
                  <a:srgbClr val="151515"/>
                </a:solidFill>
              </a:rPr>
              <a:t>Онлайн-инвентарь: реклама встраивается в путь покупки</a:t>
            </a:r>
            <a:endParaRPr lang="ru-RU"/>
          </a:p>
          <a:p>
            <a:endParaRPr lang="ru-RU"/>
          </a:p>
        </p:txBody>
      </p:sp>
      <p:sp>
        <p:nvSpPr>
          <p:cNvPr id="100" name="Shape 101"/>
          <p:cNvSpPr/>
          <p:nvPr/>
        </p:nvSpPr>
        <p:spPr>
          <a:xfrm>
            <a:off x="375860" y="1365885"/>
            <a:ext cx="2540000" cy="3886200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E7E7E9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01" name="Shape 102"/>
          <p:cNvSpPr/>
          <p:nvPr/>
        </p:nvSpPr>
        <p:spPr>
          <a:xfrm>
            <a:off x="553660" y="1543685"/>
            <a:ext cx="787400" cy="254000"/>
          </a:xfrm>
          <a:prstGeom prst="roundRect">
            <a:avLst>
              <a:gd name="adj" fmla="val 23529"/>
            </a:avLst>
          </a:prstGeom>
          <a:solidFill>
            <a:srgbClr val="E30613"/>
          </a:solidFill>
          <a:ln w="12700">
            <a:solidFill>
              <a:srgbClr val="E30613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MEDIA</a:t>
            </a:r>
          </a:p>
        </p:txBody>
      </p:sp>
      <p:sp>
        <p:nvSpPr>
          <p:cNvPr id="102" name="Shape 103"/>
          <p:cNvSpPr/>
          <p:nvPr/>
        </p:nvSpPr>
        <p:spPr>
          <a:xfrm>
            <a:off x="553660" y="1873885"/>
            <a:ext cx="21844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ru-RU" sz="1400" b="1">
                <a:solidFill>
                  <a:srgbClr val="151515"/>
                </a:solidFill>
              </a:rPr>
              <a:t>Нативные форматы</a:t>
            </a:r>
          </a:p>
        </p:txBody>
      </p:sp>
      <p:sp>
        <p:nvSpPr>
          <p:cNvPr id="103" name="Shape 104"/>
          <p:cNvSpPr/>
          <p:nvPr/>
        </p:nvSpPr>
        <p:spPr>
          <a:xfrm>
            <a:off x="553660" y="2165985"/>
            <a:ext cx="2184400" cy="2082800"/>
          </a:xfrm>
          <a:prstGeom prst="roundRect">
            <a:avLst>
              <a:gd name="adj" fmla="val 4396"/>
            </a:avLst>
          </a:prstGeom>
          <a:solidFill>
            <a:srgbClr val="F4F4F6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04" name="Shape 105"/>
          <p:cNvSpPr/>
          <p:nvPr/>
        </p:nvSpPr>
        <p:spPr>
          <a:xfrm>
            <a:off x="553660" y="4350385"/>
            <a:ext cx="21844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14300" indent="-114300">
              <a:spcBef>
                <a:spcPts val="300"/>
              </a:spcBef>
              <a:buFont typeface="Arial"/>
              <a:buChar char="•"/>
            </a:pPr>
            <a:r>
              <a:rPr lang="ru-RU" sz="1200">
                <a:solidFill>
                  <a:srgbClr val="6B6B6B"/>
                </a:solidFill>
              </a:rPr>
              <a:t>Shoppable banner, модальный формат, полки</a:t>
            </a:r>
          </a:p>
          <a:p>
            <a:pPr marL="114300" indent="-114300">
              <a:spcBef>
                <a:spcPts val="300"/>
              </a:spcBef>
              <a:buFont typeface="Arial"/>
              <a:buChar char="•"/>
            </a:pPr>
            <a:r>
              <a:rPr lang="ru-RU" sz="1200">
                <a:solidFill>
                  <a:srgbClr val="6B6B6B"/>
                </a:solidFill>
              </a:rPr>
              <a:t>Реклама внутри сценария покупки</a:t>
            </a:r>
          </a:p>
        </p:txBody>
      </p:sp>
      <p:sp>
        <p:nvSpPr>
          <p:cNvPr id="105" name="Shape 106"/>
          <p:cNvSpPr/>
          <p:nvPr/>
        </p:nvSpPr>
        <p:spPr>
          <a:xfrm>
            <a:off x="3195260" y="1365885"/>
            <a:ext cx="2540000" cy="3886200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E7E7E9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06" name="Shape 107"/>
          <p:cNvSpPr/>
          <p:nvPr/>
        </p:nvSpPr>
        <p:spPr>
          <a:xfrm>
            <a:off x="3373060" y="1543685"/>
            <a:ext cx="1498600" cy="254000"/>
          </a:xfrm>
          <a:prstGeom prst="roundRect">
            <a:avLst>
              <a:gd name="adj" fmla="val 23529"/>
            </a:avLst>
          </a:prstGeom>
          <a:solidFill>
            <a:srgbClr val="E30613"/>
          </a:solidFill>
          <a:ln w="12700">
            <a:solidFill>
              <a:srgbClr val="E30613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SOCIAL COMMERCE</a:t>
            </a:r>
          </a:p>
        </p:txBody>
      </p:sp>
      <p:sp>
        <p:nvSpPr>
          <p:cNvPr id="107" name="Shape 108"/>
          <p:cNvSpPr/>
          <p:nvPr/>
        </p:nvSpPr>
        <p:spPr>
          <a:xfrm>
            <a:off x="3373060" y="1873885"/>
            <a:ext cx="21844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ru-RU" sz="1400" b="1">
                <a:solidFill>
                  <a:srgbClr val="151515"/>
                </a:solidFill>
              </a:rPr>
              <a:t>Контент у товара</a:t>
            </a:r>
          </a:p>
        </p:txBody>
      </p:sp>
      <p:sp>
        <p:nvSpPr>
          <p:cNvPr id="108" name="Shape 109"/>
          <p:cNvSpPr/>
          <p:nvPr/>
        </p:nvSpPr>
        <p:spPr>
          <a:xfrm>
            <a:off x="3373060" y="2165985"/>
            <a:ext cx="2184400" cy="2082800"/>
          </a:xfrm>
          <a:prstGeom prst="roundRect">
            <a:avLst>
              <a:gd name="adj" fmla="val 4396"/>
            </a:avLst>
          </a:prstGeom>
          <a:solidFill>
            <a:srgbClr val="F4F4F6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09" name="Shape 110"/>
          <p:cNvSpPr/>
          <p:nvPr/>
        </p:nvSpPr>
        <p:spPr>
          <a:xfrm>
            <a:off x="3373060" y="4350385"/>
            <a:ext cx="21844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14300" indent="-114300">
              <a:spcBef>
                <a:spcPts val="300"/>
              </a:spcBef>
              <a:buFont typeface="Arial"/>
              <a:buChar char="•"/>
            </a:pPr>
            <a:r>
              <a:rPr lang="ru-RU" sz="1200">
                <a:solidFill>
                  <a:srgbClr val="6B6B6B"/>
                </a:solidFill>
              </a:rPr>
              <a:t>Видео блогера работает в каталоге и карточке</a:t>
            </a:r>
          </a:p>
          <a:p>
            <a:pPr marL="114300" indent="-114300">
              <a:spcBef>
                <a:spcPts val="300"/>
              </a:spcBef>
              <a:buFont typeface="Arial"/>
              <a:buChar char="•"/>
            </a:pPr>
            <a:r>
              <a:rPr lang="ru-RU" sz="1200">
                <a:solidFill>
                  <a:srgbClr val="6B6B6B"/>
                </a:solidFill>
              </a:rPr>
              <a:t>Путь: контент → товар → покупка</a:t>
            </a:r>
          </a:p>
        </p:txBody>
      </p:sp>
      <p:sp>
        <p:nvSpPr>
          <p:cNvPr id="110" name="Shape 111"/>
          <p:cNvSpPr/>
          <p:nvPr/>
        </p:nvSpPr>
        <p:spPr>
          <a:xfrm>
            <a:off x="6014660" y="1365885"/>
            <a:ext cx="2540000" cy="3886200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E7E7E9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11" name="Shape 112"/>
          <p:cNvSpPr/>
          <p:nvPr/>
        </p:nvSpPr>
        <p:spPr>
          <a:xfrm>
            <a:off x="6192460" y="1543685"/>
            <a:ext cx="1219200" cy="254000"/>
          </a:xfrm>
          <a:prstGeom prst="roundRect">
            <a:avLst>
              <a:gd name="adj" fmla="val 23529"/>
            </a:avLst>
          </a:prstGeom>
          <a:solidFill>
            <a:srgbClr val="E30613"/>
          </a:solidFill>
          <a:ln w="12700">
            <a:solidFill>
              <a:srgbClr val="E30613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PERFORMANCE</a:t>
            </a:r>
          </a:p>
        </p:txBody>
      </p:sp>
      <p:sp>
        <p:nvSpPr>
          <p:cNvPr id="112" name="Shape 113"/>
          <p:cNvSpPr/>
          <p:nvPr/>
        </p:nvSpPr>
        <p:spPr>
          <a:xfrm>
            <a:off x="6192460" y="1873885"/>
            <a:ext cx="21844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ru-RU" sz="1400" b="1">
                <a:solidFill>
                  <a:srgbClr val="151515"/>
                </a:solidFill>
              </a:rPr>
              <a:t>Не только поиск</a:t>
            </a:r>
          </a:p>
        </p:txBody>
      </p:sp>
      <p:sp>
        <p:nvSpPr>
          <p:cNvPr id="113" name="Shape 114"/>
          <p:cNvSpPr/>
          <p:nvPr/>
        </p:nvSpPr>
        <p:spPr>
          <a:xfrm>
            <a:off x="6192460" y="2165985"/>
            <a:ext cx="2184400" cy="2082800"/>
          </a:xfrm>
          <a:prstGeom prst="roundRect">
            <a:avLst>
              <a:gd name="adj" fmla="val 4396"/>
            </a:avLst>
          </a:prstGeom>
          <a:solidFill>
            <a:srgbClr val="F4F4F6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14" name="Shape 115"/>
          <p:cNvSpPr/>
          <p:nvPr/>
        </p:nvSpPr>
        <p:spPr>
          <a:xfrm>
            <a:off x="6192460" y="4350385"/>
            <a:ext cx="21844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14300" indent="-114300">
              <a:spcBef>
                <a:spcPts val="300"/>
              </a:spcBef>
              <a:buFont typeface="Arial"/>
              <a:buChar char="•"/>
            </a:pPr>
            <a:r>
              <a:rPr lang="ru-RU" sz="1200">
                <a:solidFill>
                  <a:srgbClr val="6B6B6B"/>
                </a:solidFill>
              </a:rPr>
              <a:t>Товар в комбо, подборках и сценариях выбора</a:t>
            </a:r>
          </a:p>
          <a:p>
            <a:pPr marL="114300" indent="-114300">
              <a:spcBef>
                <a:spcPts val="300"/>
              </a:spcBef>
              <a:buFont typeface="Arial"/>
              <a:buChar char="•"/>
            </a:pPr>
            <a:r>
              <a:rPr lang="ru-RU" sz="1200">
                <a:solidFill>
                  <a:srgbClr val="6B6B6B"/>
                </a:solidFill>
              </a:rPr>
              <a:t>Растёт размер корзины</a:t>
            </a:r>
          </a:p>
        </p:txBody>
      </p:sp>
      <p:sp>
        <p:nvSpPr>
          <p:cNvPr id="115" name="Shape 116"/>
          <p:cNvSpPr/>
          <p:nvPr/>
        </p:nvSpPr>
        <p:spPr>
          <a:xfrm>
            <a:off x="8834060" y="1365885"/>
            <a:ext cx="2540000" cy="3886200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E7E7E9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16" name="Shape 117"/>
          <p:cNvSpPr/>
          <p:nvPr/>
        </p:nvSpPr>
        <p:spPr>
          <a:xfrm>
            <a:off x="9011860" y="1543685"/>
            <a:ext cx="1219200" cy="254000"/>
          </a:xfrm>
          <a:prstGeom prst="roundRect">
            <a:avLst>
              <a:gd name="adj" fmla="val 23529"/>
            </a:avLst>
          </a:prstGeom>
          <a:solidFill>
            <a:srgbClr val="E30613"/>
          </a:solidFill>
          <a:ln w="12700">
            <a:solidFill>
              <a:srgbClr val="E30613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SELF-SERVICE</a:t>
            </a:r>
          </a:p>
        </p:txBody>
      </p:sp>
      <p:sp>
        <p:nvSpPr>
          <p:cNvPr id="117" name="Shape 118"/>
          <p:cNvSpPr/>
          <p:nvPr/>
        </p:nvSpPr>
        <p:spPr>
          <a:xfrm>
            <a:off x="9011860" y="1873885"/>
            <a:ext cx="21844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ru-RU" sz="1400" b="1">
                <a:solidFill>
                  <a:srgbClr val="151515"/>
                </a:solidFill>
              </a:rPr>
              <a:t>Видеть → управлять</a:t>
            </a:r>
          </a:p>
        </p:txBody>
      </p:sp>
      <p:sp>
        <p:nvSpPr>
          <p:cNvPr id="118" name="Shape 119"/>
          <p:cNvSpPr/>
          <p:nvPr/>
        </p:nvSpPr>
        <p:spPr>
          <a:xfrm>
            <a:off x="9011860" y="2165985"/>
            <a:ext cx="2184400" cy="2082800"/>
          </a:xfrm>
          <a:prstGeom prst="roundRect">
            <a:avLst>
              <a:gd name="adj" fmla="val 4396"/>
            </a:avLst>
          </a:prstGeom>
          <a:solidFill>
            <a:srgbClr val="F4F4F6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19" name="Shape 120"/>
          <p:cNvSpPr/>
          <p:nvPr/>
        </p:nvSpPr>
        <p:spPr>
          <a:xfrm>
            <a:off x="9011860" y="4350385"/>
            <a:ext cx="21844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14300" indent="-114300">
              <a:spcBef>
                <a:spcPts val="300"/>
              </a:spcBef>
              <a:buFont typeface="Arial"/>
              <a:buChar char="•"/>
            </a:pPr>
            <a:r>
              <a:rPr lang="ru-RU" sz="1200">
                <a:solidFill>
                  <a:srgbClr val="6B6B6B"/>
                </a:solidFill>
              </a:rPr>
              <a:t>Позиция в выдаче, ставки и продажи в одном экране</a:t>
            </a:r>
          </a:p>
          <a:p>
            <a:pPr marL="114300" indent="-114300">
              <a:spcBef>
                <a:spcPts val="300"/>
              </a:spcBef>
              <a:buFont typeface="Arial"/>
              <a:buChar char="•"/>
            </a:pPr>
            <a:r>
              <a:rPr lang="ru-RU" sz="1200">
                <a:solidFill>
                  <a:srgbClr val="6B6B6B"/>
                </a:solidFill>
              </a:rPr>
              <a:t>Бренд сам запускает и оптимизирует</a:t>
            </a:r>
          </a:p>
        </p:txBody>
      </p:sp>
      <p:sp>
        <p:nvSpPr>
          <p:cNvPr id="120" name="Shape 121"/>
          <p:cNvSpPr/>
          <p:nvPr/>
        </p:nvSpPr>
        <p:spPr>
          <a:xfrm>
            <a:off x="375860" y="5442585"/>
            <a:ext cx="10998200" cy="40640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E7E7E9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21" name="Shape 122"/>
          <p:cNvSpPr/>
          <p:nvPr/>
        </p:nvSpPr>
        <p:spPr>
          <a:xfrm>
            <a:off x="553660" y="5518785"/>
            <a:ext cx="660400" cy="254000"/>
          </a:xfrm>
          <a:prstGeom prst="roundRect">
            <a:avLst>
              <a:gd name="adj" fmla="val 23529"/>
            </a:avLst>
          </a:prstGeom>
          <a:solidFill>
            <a:srgbClr val="E30613"/>
          </a:solidFill>
          <a:ln w="12700">
            <a:solidFill>
              <a:srgbClr val="E30613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DATA</a:t>
            </a:r>
          </a:p>
        </p:txBody>
      </p:sp>
      <p:sp>
        <p:nvSpPr>
          <p:cNvPr id="122" name="Shape 123"/>
          <p:cNvSpPr/>
          <p:nvPr/>
        </p:nvSpPr>
        <p:spPr>
          <a:xfrm>
            <a:off x="1366460" y="5480685"/>
            <a:ext cx="9906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ru-RU" sz="1200" b="1">
                <a:solidFill>
                  <a:srgbClr val="151515"/>
                </a:solidFill>
              </a:rPr>
              <a:t>Сегмент → контекст → триггер → показ: </a:t>
            </a:r>
            <a:r>
              <a:rPr lang="ru-RU" sz="1200">
                <a:solidFill>
                  <a:srgbClr val="6B6B6B"/>
                </a:solidFill>
              </a:rPr>
              <a:t>реклама выходит в нужный момент по корзине, гео, наличию, цене и действию пользователя</a:t>
            </a:r>
          </a:p>
        </p:txBody>
      </p:sp>
      <p:pic>
        <p:nvPicPr>
          <p:cNvPr id="123" name="Copied Picture 123" descr="/mnt/data/Shopable баннер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260" y="2216785"/>
            <a:ext cx="1212850" cy="1981200"/>
          </a:xfrm>
          <a:prstGeom prst="rect">
            <a:avLst/>
          </a:prstGeom>
        </p:spPr>
      </p:pic>
      <p:pic>
        <p:nvPicPr>
          <p:cNvPr id="124" name="Copied Picture 124" descr="/mnt/data/Видео блоггера в каталоге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09610" y="2216785"/>
            <a:ext cx="1515110" cy="1981200"/>
          </a:xfrm>
          <a:prstGeom prst="rect">
            <a:avLst/>
          </a:prstGeom>
        </p:spPr>
      </p:pic>
      <p:pic>
        <p:nvPicPr>
          <p:cNvPr id="125" name="Copied Picture 125" descr="/mnt/data/Комбо предложение 0.png"/>
          <p:cNvPicPr>
            <a:picLocks noChangeAspect="1"/>
          </p:cNvPicPr>
          <p:nvPr/>
        </p:nvPicPr>
        <p:blipFill>
          <a:blip r:embed="rId8"/>
          <a:srcRect r="2112"/>
          <a:stretch>
            <a:fillRect/>
          </a:stretch>
        </p:blipFill>
        <p:spPr>
          <a:xfrm>
            <a:off x="6837620" y="2216785"/>
            <a:ext cx="895350" cy="1981200"/>
          </a:xfrm>
          <a:prstGeom prst="rect">
            <a:avLst/>
          </a:prstGeom>
        </p:spPr>
      </p:pic>
      <p:pic>
        <p:nvPicPr>
          <p:cNvPr id="126" name="Copied Picture 126" descr="/mnt/data/кабинет бренда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62660" y="2623185"/>
            <a:ext cx="2082800" cy="117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1180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"/>
          <p:cNvSpPr/>
          <p:nvPr/>
        </p:nvSpPr>
        <p:spPr>
          <a:xfrm>
            <a:off x="7269480" y="658368"/>
            <a:ext cx="3794760" cy="5650992"/>
          </a:xfrm>
          <a:prstGeom prst="roundRect">
            <a:avLst>
              <a:gd name="adj" fmla="val 2892"/>
            </a:avLst>
          </a:prstGeom>
          <a:solidFill>
            <a:srgbClr val="FFFFFF">
              <a:alpha val="0"/>
            </a:srgbClr>
          </a:solidFill>
          <a:ln w="15240">
            <a:solidFill>
              <a:srgbClr val="DADAD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" name="Text 0"/>
          <p:cNvSpPr/>
          <p:nvPr/>
        </p:nvSpPr>
        <p:spPr>
          <a:xfrm>
            <a:off x="594360" y="1234440"/>
            <a:ext cx="6675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3400" b="1">
                <a:solidFill>
                  <a:srgbClr val="151515"/>
                </a:solidFill>
              </a:rPr>
              <a:t>От охвата до покупки —</a:t>
            </a:r>
            <a:endParaRPr lang="ru-RU" sz="3400"/>
          </a:p>
          <a:p>
            <a:pPr marL="0" indent="0">
              <a:buNone/>
            </a:pPr>
            <a:r>
              <a:rPr lang="ru-RU" sz="3400" b="1">
                <a:solidFill>
                  <a:srgbClr val="151515"/>
                </a:solidFill>
              </a:rPr>
              <a:t>в одной рекламной платформе</a:t>
            </a:r>
            <a:endParaRPr lang="ru-RU" sz="3400"/>
          </a:p>
        </p:txBody>
      </p:sp>
      <p:sp>
        <p:nvSpPr>
          <p:cNvPr id="3" name="Text 1"/>
          <p:cNvSpPr/>
          <p:nvPr/>
        </p:nvSpPr>
        <p:spPr>
          <a:xfrm>
            <a:off x="621792" y="285292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700" b="1">
                <a:solidFill>
                  <a:srgbClr val="E30613"/>
                </a:solidFill>
              </a:rPr>
              <a:t>Magnit Ads для брендов</a:t>
            </a:r>
            <a:endParaRPr lang="ru-RU" sz="1700"/>
          </a:p>
        </p:txBody>
      </p:sp>
      <p:pic>
        <p:nvPicPr>
          <p:cNvPr id="4" name="Image 0" descr="/mnt/data/Shopable баннер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2964" y="786384"/>
            <a:ext cx="2907792" cy="5394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1792" y="379476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6B6B6B"/>
                </a:solidFill>
              </a:rPr>
              <a:t>Media  •  Social Commerce  •  Performance  •  Indoor  •  Data</a:t>
            </a:r>
            <a:endParaRPr lang="en-US" sz="14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lang="ru-RU" b="0"/>
              <a:t>42</a:t>
            </a:fld>
            <a:endParaRPr lang="ru-RU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ru-RU" sz="2800"/>
          </a:p>
        </p:txBody>
      </p:sp>
      <p:sp>
        <p:nvSpPr>
          <p:cNvPr id="3" name="Text 1"/>
          <p:cNvSpPr/>
          <p:nvPr/>
        </p:nvSpPr>
        <p:spPr>
          <a:xfrm>
            <a:off x="585216" y="123444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300">
                <a:solidFill>
                  <a:srgbClr val="6B6B6B"/>
                </a:solidFill>
              </a:rPr>
              <a:t>Не набор форматов, а единая система коммуникации бренда с покупателем.</a:t>
            </a:r>
            <a:endParaRPr lang="ru-RU" sz="1300"/>
          </a:p>
        </p:txBody>
      </p:sp>
      <p:sp>
        <p:nvSpPr>
          <p:cNvPr id="4" name="Shape 2"/>
          <p:cNvSpPr/>
          <p:nvPr/>
        </p:nvSpPr>
        <p:spPr>
          <a:xfrm>
            <a:off x="658368" y="1965960"/>
            <a:ext cx="1920240" cy="21488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7E7E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347472" cy="310896"/>
          </a:xfrm>
          <a:prstGeom prst="roundRect">
            <a:avLst>
              <a:gd name="adj" fmla="val 23529"/>
            </a:avLst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896112" y="225399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900" b="1">
                <a:solidFill>
                  <a:srgbClr val="FFFFFF"/>
                </a:solidFill>
              </a:rPr>
              <a:t>1</a:t>
            </a:r>
            <a:endParaRPr lang="ru-RU" sz="90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900" b="1">
                <a:solidFill>
                  <a:srgbClr val="151515"/>
                </a:solidFill>
              </a:rPr>
              <a:t>Увидел</a:t>
            </a:r>
            <a:endParaRPr lang="ru-RU" sz="1900"/>
          </a:p>
        </p:txBody>
      </p:sp>
      <p:sp>
        <p:nvSpPr>
          <p:cNvPr id="8" name="Text 6"/>
          <p:cNvSpPr/>
          <p:nvPr/>
        </p:nvSpPr>
        <p:spPr>
          <a:xfrm>
            <a:off x="822960" y="33375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E30613"/>
                </a:solidFill>
              </a:rPr>
              <a:t>MEDIA</a:t>
            </a:r>
            <a:endParaRPr lang="en-US" sz="900"/>
          </a:p>
        </p:txBody>
      </p:sp>
      <p:sp>
        <p:nvSpPr>
          <p:cNvPr id="9" name="Text 7"/>
          <p:cNvSpPr/>
          <p:nvPr/>
        </p:nvSpPr>
        <p:spPr>
          <a:xfrm>
            <a:off x="2596896" y="27889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000">
                <a:solidFill>
                  <a:srgbClr val="B8B8BC"/>
                </a:solidFill>
              </a:rPr>
              <a:t>→</a:t>
            </a:r>
            <a:endParaRPr lang="ru-RU" sz="2000"/>
          </a:p>
        </p:txBody>
      </p:sp>
      <p:sp>
        <p:nvSpPr>
          <p:cNvPr id="10" name="Shape 8"/>
          <p:cNvSpPr/>
          <p:nvPr/>
        </p:nvSpPr>
        <p:spPr>
          <a:xfrm>
            <a:off x="2916936" y="1965960"/>
            <a:ext cx="1920240" cy="21488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7E7E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3081528" y="2194560"/>
            <a:ext cx="347472" cy="310896"/>
          </a:xfrm>
          <a:prstGeom prst="roundRect">
            <a:avLst>
              <a:gd name="adj" fmla="val 23529"/>
            </a:avLst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3154680" y="225399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900" b="1">
                <a:solidFill>
                  <a:srgbClr val="FFFFFF"/>
                </a:solidFill>
              </a:rPr>
              <a:t>2</a:t>
            </a:r>
            <a:endParaRPr lang="ru-RU" sz="900"/>
          </a:p>
        </p:txBody>
      </p:sp>
      <p:sp>
        <p:nvSpPr>
          <p:cNvPr id="13" name="Text 11"/>
          <p:cNvSpPr/>
          <p:nvPr/>
        </p:nvSpPr>
        <p:spPr>
          <a:xfrm>
            <a:off x="3081528" y="2788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900" b="1">
                <a:solidFill>
                  <a:srgbClr val="151515"/>
                </a:solidFill>
              </a:rPr>
              <a:t>Вовлёкся</a:t>
            </a:r>
            <a:endParaRPr lang="ru-RU" sz="1900"/>
          </a:p>
        </p:txBody>
      </p:sp>
      <p:sp>
        <p:nvSpPr>
          <p:cNvPr id="14" name="Text 12"/>
          <p:cNvSpPr/>
          <p:nvPr/>
        </p:nvSpPr>
        <p:spPr>
          <a:xfrm>
            <a:off x="3081528" y="33375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E30613"/>
                </a:solidFill>
              </a:rPr>
              <a:t>SOCIAL</a:t>
            </a:r>
            <a:endParaRPr lang="en-US" sz="900"/>
          </a:p>
        </p:txBody>
      </p:sp>
      <p:sp>
        <p:nvSpPr>
          <p:cNvPr id="15" name="Text 13"/>
          <p:cNvSpPr/>
          <p:nvPr/>
        </p:nvSpPr>
        <p:spPr>
          <a:xfrm>
            <a:off x="4855464" y="27889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000">
                <a:solidFill>
                  <a:srgbClr val="B8B8BC"/>
                </a:solidFill>
              </a:rPr>
              <a:t>→</a:t>
            </a:r>
            <a:endParaRPr lang="ru-RU" sz="2000"/>
          </a:p>
        </p:txBody>
      </p:sp>
      <p:sp>
        <p:nvSpPr>
          <p:cNvPr id="16" name="Shape 14"/>
          <p:cNvSpPr/>
          <p:nvPr/>
        </p:nvSpPr>
        <p:spPr>
          <a:xfrm>
            <a:off x="5175504" y="1965960"/>
            <a:ext cx="1920240" cy="21488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7E7E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Shape 15"/>
          <p:cNvSpPr/>
          <p:nvPr/>
        </p:nvSpPr>
        <p:spPr>
          <a:xfrm>
            <a:off x="5340096" y="2194560"/>
            <a:ext cx="347472" cy="310896"/>
          </a:xfrm>
          <a:prstGeom prst="roundRect">
            <a:avLst>
              <a:gd name="adj" fmla="val 23529"/>
            </a:avLst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5413248" y="225399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900" b="1">
                <a:solidFill>
                  <a:srgbClr val="FFFFFF"/>
                </a:solidFill>
              </a:rPr>
              <a:t>3</a:t>
            </a:r>
            <a:endParaRPr lang="ru-RU" sz="900"/>
          </a:p>
        </p:txBody>
      </p:sp>
      <p:sp>
        <p:nvSpPr>
          <p:cNvPr id="19" name="Text 17"/>
          <p:cNvSpPr/>
          <p:nvPr/>
        </p:nvSpPr>
        <p:spPr>
          <a:xfrm>
            <a:off x="5340096" y="2788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900" b="1">
                <a:solidFill>
                  <a:srgbClr val="151515"/>
                </a:solidFill>
              </a:rPr>
              <a:t>Нашёл</a:t>
            </a:r>
            <a:endParaRPr lang="ru-RU" sz="1900"/>
          </a:p>
        </p:txBody>
      </p:sp>
      <p:sp>
        <p:nvSpPr>
          <p:cNvPr id="20" name="Text 18"/>
          <p:cNvSpPr/>
          <p:nvPr/>
        </p:nvSpPr>
        <p:spPr>
          <a:xfrm>
            <a:off x="5340096" y="33375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E30613"/>
                </a:solidFill>
              </a:rPr>
              <a:t>PERFORMANCE</a:t>
            </a:r>
            <a:endParaRPr lang="en-US" sz="900"/>
          </a:p>
        </p:txBody>
      </p:sp>
      <p:sp>
        <p:nvSpPr>
          <p:cNvPr id="21" name="Text 19"/>
          <p:cNvSpPr/>
          <p:nvPr/>
        </p:nvSpPr>
        <p:spPr>
          <a:xfrm>
            <a:off x="7114032" y="27889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000">
                <a:solidFill>
                  <a:srgbClr val="B8B8BC"/>
                </a:solidFill>
              </a:rPr>
              <a:t>→</a:t>
            </a:r>
            <a:endParaRPr lang="ru-RU" sz="2000"/>
          </a:p>
        </p:txBody>
      </p:sp>
      <p:sp>
        <p:nvSpPr>
          <p:cNvPr id="22" name="Shape 20"/>
          <p:cNvSpPr/>
          <p:nvPr/>
        </p:nvSpPr>
        <p:spPr>
          <a:xfrm>
            <a:off x="7434072" y="1965960"/>
            <a:ext cx="1920240" cy="21488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7E7E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Shape 21"/>
          <p:cNvSpPr/>
          <p:nvPr/>
        </p:nvSpPr>
        <p:spPr>
          <a:xfrm>
            <a:off x="7598664" y="2194560"/>
            <a:ext cx="347472" cy="310896"/>
          </a:xfrm>
          <a:prstGeom prst="roundRect">
            <a:avLst>
              <a:gd name="adj" fmla="val 23529"/>
            </a:avLst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7671816" y="225399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900" b="1">
                <a:solidFill>
                  <a:srgbClr val="FFFFFF"/>
                </a:solidFill>
              </a:rPr>
              <a:t>4</a:t>
            </a:r>
            <a:endParaRPr lang="ru-RU" sz="900"/>
          </a:p>
        </p:txBody>
      </p:sp>
      <p:sp>
        <p:nvSpPr>
          <p:cNvPr id="25" name="Text 23"/>
          <p:cNvSpPr/>
          <p:nvPr/>
        </p:nvSpPr>
        <p:spPr>
          <a:xfrm>
            <a:off x="7598664" y="2788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900" b="1">
                <a:solidFill>
                  <a:srgbClr val="151515"/>
                </a:solidFill>
              </a:rPr>
              <a:t>Купил</a:t>
            </a:r>
            <a:endParaRPr lang="ru-RU" sz="1900"/>
          </a:p>
        </p:txBody>
      </p:sp>
      <p:sp>
        <p:nvSpPr>
          <p:cNvPr id="26" name="Text 24"/>
          <p:cNvSpPr/>
          <p:nvPr/>
        </p:nvSpPr>
        <p:spPr>
          <a:xfrm>
            <a:off x="7598664" y="33375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E30613"/>
                </a:solidFill>
              </a:rPr>
              <a:t>INDOOR</a:t>
            </a:r>
            <a:endParaRPr lang="en-US" sz="900"/>
          </a:p>
        </p:txBody>
      </p:sp>
      <p:sp>
        <p:nvSpPr>
          <p:cNvPr id="27" name="Text 25"/>
          <p:cNvSpPr/>
          <p:nvPr/>
        </p:nvSpPr>
        <p:spPr>
          <a:xfrm>
            <a:off x="9372600" y="27889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000">
                <a:solidFill>
                  <a:srgbClr val="B8B8BC"/>
                </a:solidFill>
              </a:rPr>
              <a:t>→</a:t>
            </a:r>
            <a:endParaRPr lang="ru-RU" sz="2000"/>
          </a:p>
        </p:txBody>
      </p:sp>
      <p:sp>
        <p:nvSpPr>
          <p:cNvPr id="28" name="Shape 26"/>
          <p:cNvSpPr/>
          <p:nvPr/>
        </p:nvSpPr>
        <p:spPr>
          <a:xfrm>
            <a:off x="9692640" y="1965960"/>
            <a:ext cx="1920240" cy="21488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7E7E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9" name="Shape 27"/>
          <p:cNvSpPr/>
          <p:nvPr/>
        </p:nvSpPr>
        <p:spPr>
          <a:xfrm>
            <a:off x="9857232" y="2194560"/>
            <a:ext cx="347472" cy="310896"/>
          </a:xfrm>
          <a:prstGeom prst="roundRect">
            <a:avLst>
              <a:gd name="adj" fmla="val 23529"/>
            </a:avLst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0" name="Text 28"/>
          <p:cNvSpPr/>
          <p:nvPr/>
        </p:nvSpPr>
        <p:spPr>
          <a:xfrm>
            <a:off x="9930384" y="225399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900" b="1">
                <a:solidFill>
                  <a:srgbClr val="FFFFFF"/>
                </a:solidFill>
              </a:rPr>
              <a:t>5</a:t>
            </a:r>
            <a:endParaRPr lang="ru-RU" sz="900"/>
          </a:p>
        </p:txBody>
      </p:sp>
      <p:sp>
        <p:nvSpPr>
          <p:cNvPr id="31" name="Text 29"/>
          <p:cNvSpPr/>
          <p:nvPr/>
        </p:nvSpPr>
        <p:spPr>
          <a:xfrm>
            <a:off x="9857232" y="2788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900" b="1">
                <a:solidFill>
                  <a:srgbClr val="151515"/>
                </a:solidFill>
              </a:rPr>
              <a:t>Вернулся</a:t>
            </a:r>
            <a:endParaRPr lang="ru-RU" sz="1900"/>
          </a:p>
        </p:txBody>
      </p:sp>
      <p:sp>
        <p:nvSpPr>
          <p:cNvPr id="32" name="Text 30"/>
          <p:cNvSpPr/>
          <p:nvPr/>
        </p:nvSpPr>
        <p:spPr>
          <a:xfrm>
            <a:off x="9857232" y="33375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E30613"/>
                </a:solidFill>
              </a:rPr>
              <a:t>DATA</a:t>
            </a:r>
            <a:endParaRPr lang="en-US" sz="900"/>
          </a:p>
        </p:txBody>
      </p:sp>
      <p:sp>
        <p:nvSpPr>
          <p:cNvPr id="33" name="Text 31"/>
          <p:cNvSpPr/>
          <p:nvPr/>
        </p:nvSpPr>
        <p:spPr>
          <a:xfrm>
            <a:off x="685800" y="48920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800" b="1">
                <a:solidFill>
                  <a:srgbClr val="151515"/>
                </a:solidFill>
              </a:rPr>
              <a:t>Бренд получает единый путь: от контакта до измеримого действия.</a:t>
            </a:r>
            <a:endParaRPr lang="ru-RU" sz="1800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FDA2062F-B152-3789-AD9A-E0255A23F33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lang="ru-RU" b="0"/>
              <a:t>43</a:t>
            </a:fld>
            <a:endParaRPr lang="ru-RU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45C70DCE-F0E0-C9CA-CBA6-A6E89DAE8F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>
                <a:solidFill>
                  <a:srgbClr val="151515"/>
                </a:solidFill>
              </a:rPr>
              <a:t>Одна</a:t>
            </a:r>
            <a:r>
              <a:rPr lang="ru-RU">
                <a:solidFill>
                  <a:srgbClr val="151515"/>
                </a:solidFill>
              </a:rPr>
              <a:t> </a:t>
            </a:r>
            <a:r>
              <a:rPr lang="ru-RU">
                <a:solidFill>
                  <a:srgbClr val="151515"/>
                </a:solidFill>
              </a:rPr>
              <a:t>платформа</a:t>
            </a:r>
            <a:r>
              <a:rPr lang="ru-RU">
                <a:solidFill>
                  <a:srgbClr val="151515"/>
                </a:solidFill>
              </a:rPr>
              <a:t> — </a:t>
            </a:r>
            <a:r>
              <a:rPr lang="ru-RU">
                <a:solidFill>
                  <a:srgbClr val="151515"/>
                </a:solidFill>
              </a:rPr>
              <a:t>весь</a:t>
            </a:r>
            <a:r>
              <a:rPr lang="ru-RU">
                <a:solidFill>
                  <a:srgbClr val="151515"/>
                </a:solidFill>
              </a:rPr>
              <a:t> </a:t>
            </a:r>
            <a:r>
              <a:rPr lang="ru-RU">
                <a:solidFill>
                  <a:srgbClr val="151515"/>
                </a:solidFill>
              </a:rPr>
              <a:t>путь</a:t>
            </a:r>
            <a:r>
              <a:rPr lang="ru-RU">
                <a:solidFill>
                  <a:srgbClr val="151515"/>
                </a:solidFill>
              </a:rPr>
              <a:t> </a:t>
            </a:r>
            <a:r>
              <a:rPr lang="ru-RU">
                <a:solidFill>
                  <a:srgbClr val="151515"/>
                </a:solidFill>
              </a:rPr>
              <a:t>покупателя</a:t>
            </a:r>
            <a:endParaRPr lang="ru-RU"/>
          </a:p>
          <a:p>
            <a:endParaRPr lang="ru-RU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ru-RU" sz="2800"/>
          </a:p>
        </p:txBody>
      </p:sp>
      <p:sp>
        <p:nvSpPr>
          <p:cNvPr id="3" name="Text 1"/>
          <p:cNvSpPr/>
          <p:nvPr/>
        </p:nvSpPr>
        <p:spPr>
          <a:xfrm>
            <a:off x="585216" y="123444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300">
                <a:solidFill>
                  <a:srgbClr val="6B6B6B"/>
                </a:solidFill>
              </a:rPr>
              <a:t>Новые форматы и поверхности — от охватных контактов до shoppable-механик.</a:t>
            </a:r>
            <a:endParaRPr lang="ru-RU" sz="130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2514600" cy="406908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7E7E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5" name="Image 0" descr="/mnt/data/Баннер в карточке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969" y="1901952"/>
            <a:ext cx="1843094" cy="34015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2376" y="546811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000" b="1">
                <a:solidFill>
                  <a:srgbClr val="151515"/>
                </a:solidFill>
              </a:rPr>
              <a:t>Баннер в карточке</a:t>
            </a:r>
            <a:endParaRPr lang="ru-RU" sz="1000"/>
          </a:p>
        </p:txBody>
      </p:sp>
      <p:sp>
        <p:nvSpPr>
          <p:cNvPr id="7" name="Shape 4"/>
          <p:cNvSpPr/>
          <p:nvPr/>
        </p:nvSpPr>
        <p:spPr>
          <a:xfrm>
            <a:off x="3429000" y="1783080"/>
            <a:ext cx="2514600" cy="406908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7E7E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8" name="Image 1" descr="/mnt/data/Shopable баннер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6316" y="1915090"/>
            <a:ext cx="2081679" cy="34015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557016" y="546811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51515"/>
                </a:solidFill>
              </a:rPr>
              <a:t>Shoppable banner</a:t>
            </a:r>
            <a:endParaRPr lang="en-US" sz="1000"/>
          </a:p>
        </p:txBody>
      </p:sp>
      <p:sp>
        <p:nvSpPr>
          <p:cNvPr id="10" name="Shape 6"/>
          <p:cNvSpPr/>
          <p:nvPr/>
        </p:nvSpPr>
        <p:spPr>
          <a:xfrm>
            <a:off x="6263640" y="1783080"/>
            <a:ext cx="2514600" cy="406908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7E7E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1" name="Image 2" descr="/mnt/data/модальное окно с выбором товаров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8775" y="1901952"/>
            <a:ext cx="1566042" cy="34015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391656" y="546811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000" b="1">
                <a:solidFill>
                  <a:srgbClr val="151515"/>
                </a:solidFill>
              </a:rPr>
              <a:t>Модальный формат</a:t>
            </a:r>
            <a:endParaRPr lang="ru-RU" sz="1000"/>
          </a:p>
        </p:txBody>
      </p:sp>
      <p:sp>
        <p:nvSpPr>
          <p:cNvPr id="13" name="Shape 8"/>
          <p:cNvSpPr/>
          <p:nvPr/>
        </p:nvSpPr>
        <p:spPr>
          <a:xfrm>
            <a:off x="9098280" y="1783080"/>
            <a:ext cx="2514600" cy="406908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7E7E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4" name="Image 3" descr="/mnt/data/товарные полки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13549" y="1924812"/>
            <a:ext cx="1465773" cy="34015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226296" y="546811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000" b="1">
                <a:solidFill>
                  <a:srgbClr val="151515"/>
                </a:solidFill>
              </a:rPr>
              <a:t>Товарные полки</a:t>
            </a:r>
            <a:endParaRPr lang="ru-RU" sz="100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2876C15-DA88-1D30-0BC9-7CC98671635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lang="ru-RU" b="0"/>
              <a:t>44</a:t>
            </a:fld>
            <a:endParaRPr lang="ru-RU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F177C60-9CF3-98F0-6F60-75763C97D6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>
                <a:solidFill>
                  <a:srgbClr val="151515"/>
                </a:solidFill>
              </a:rPr>
              <a:t>Медиа</a:t>
            </a:r>
            <a:r>
              <a:rPr lang="ru-RU">
                <a:solidFill>
                  <a:srgbClr val="151515"/>
                </a:solidFill>
              </a:rPr>
              <a:t>: </a:t>
            </a:r>
            <a:r>
              <a:rPr lang="ru-RU">
                <a:solidFill>
                  <a:srgbClr val="151515"/>
                </a:solidFill>
              </a:rPr>
              <a:t>реклама</a:t>
            </a:r>
            <a:r>
              <a:rPr lang="ru-RU">
                <a:solidFill>
                  <a:srgbClr val="151515"/>
                </a:solidFill>
              </a:rPr>
              <a:t> </a:t>
            </a:r>
            <a:r>
              <a:rPr lang="ru-RU">
                <a:solidFill>
                  <a:srgbClr val="151515"/>
                </a:solidFill>
              </a:rPr>
              <a:t>становится</a:t>
            </a:r>
            <a:r>
              <a:rPr lang="ru-RU">
                <a:solidFill>
                  <a:srgbClr val="151515"/>
                </a:solidFill>
              </a:rPr>
              <a:t> </a:t>
            </a:r>
            <a:r>
              <a:rPr lang="ru-RU">
                <a:solidFill>
                  <a:srgbClr val="151515"/>
                </a:solidFill>
              </a:rPr>
              <a:t>частью</a:t>
            </a:r>
            <a:r>
              <a:rPr lang="ru-RU">
                <a:solidFill>
                  <a:srgbClr val="151515"/>
                </a:solidFill>
              </a:rPr>
              <a:t> </a:t>
            </a:r>
            <a:r>
              <a:rPr lang="ru-RU">
                <a:solidFill>
                  <a:srgbClr val="151515"/>
                </a:solidFill>
              </a:rPr>
              <a:t>пользовательского</a:t>
            </a:r>
            <a:r>
              <a:rPr lang="ru-RU">
                <a:solidFill>
                  <a:srgbClr val="151515"/>
                </a:solidFill>
              </a:rPr>
              <a:t> </a:t>
            </a:r>
            <a:r>
              <a:rPr lang="ru-RU">
                <a:solidFill>
                  <a:srgbClr val="151515"/>
                </a:solidFill>
              </a:rPr>
              <a:t>сценария</a:t>
            </a:r>
            <a:endParaRPr lang="ru-RU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mnt/data/масКОТ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345" y="981222"/>
            <a:ext cx="2103120" cy="4800600"/>
          </a:xfrm>
          <a:prstGeom prst="rect">
            <a:avLst/>
          </a:prstGeom>
        </p:spPr>
      </p:pic>
      <p:pic>
        <p:nvPicPr>
          <p:cNvPr id="4" name="Image 1" descr="/mnt/data/Товарная полка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3897" y="981222"/>
            <a:ext cx="2320159" cy="2947626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984DBA9-21C8-0700-EE31-88B50FF3D26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lang="ru-RU" b="0"/>
              <a:t>45</a:t>
            </a:fld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E6798D-06BC-6A90-FFB2-9330AF5F0C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>
                <a:solidFill>
                  <a:srgbClr val="151515"/>
                </a:solidFill>
              </a:rPr>
              <a:t>От</a:t>
            </a:r>
            <a:r>
              <a:rPr lang="ru-RU">
                <a:solidFill>
                  <a:srgbClr val="151515"/>
                </a:solidFill>
              </a:rPr>
              <a:t> </a:t>
            </a:r>
            <a:r>
              <a:rPr lang="ru-RU">
                <a:solidFill>
                  <a:srgbClr val="151515"/>
                </a:solidFill>
              </a:rPr>
              <a:t>баннера</a:t>
            </a:r>
            <a:r>
              <a:rPr lang="ru-RU">
                <a:solidFill>
                  <a:srgbClr val="151515"/>
                </a:solidFill>
              </a:rPr>
              <a:t> к </a:t>
            </a:r>
            <a:r>
              <a:rPr lang="ru-RU">
                <a:solidFill>
                  <a:srgbClr val="151515"/>
                </a:solidFill>
              </a:rPr>
              <a:t>нативному</a:t>
            </a:r>
            <a:r>
              <a:rPr lang="ru-RU">
                <a:solidFill>
                  <a:srgbClr val="151515"/>
                </a:solidFill>
              </a:rPr>
              <a:t> </a:t>
            </a:r>
            <a:r>
              <a:rPr lang="ru-RU">
                <a:solidFill>
                  <a:srgbClr val="151515"/>
                </a:solidFill>
              </a:rPr>
              <a:t>месту</a:t>
            </a:r>
            <a:r>
              <a:rPr lang="ru-RU">
                <a:solidFill>
                  <a:srgbClr val="151515"/>
                </a:solidFill>
              </a:rPr>
              <a:t> </a:t>
            </a:r>
            <a:r>
              <a:rPr lang="ru-RU">
                <a:solidFill>
                  <a:srgbClr val="151515"/>
                </a:solidFill>
              </a:rPr>
              <a:t>внутри</a:t>
            </a:r>
            <a:r>
              <a:rPr lang="ru-RU">
                <a:solidFill>
                  <a:srgbClr val="151515"/>
                </a:solidFill>
              </a:rPr>
              <a:t> </a:t>
            </a:r>
            <a:r>
              <a:rPr lang="ru-RU">
                <a:solidFill>
                  <a:srgbClr val="151515"/>
                </a:solidFill>
              </a:rPr>
              <a:t>покупки</a:t>
            </a:r>
            <a:endParaRPr lang="ru-RU"/>
          </a:p>
          <a:p>
            <a:endParaRPr lang="ru-RU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ru-RU" sz="2800"/>
          </a:p>
        </p:txBody>
      </p:sp>
      <p:sp>
        <p:nvSpPr>
          <p:cNvPr id="3" name="Text 1"/>
          <p:cNvSpPr/>
          <p:nvPr/>
        </p:nvSpPr>
        <p:spPr>
          <a:xfrm>
            <a:off x="585216" y="123444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300">
                <a:solidFill>
                  <a:srgbClr val="6B6B6B"/>
                </a:solidFill>
              </a:rPr>
              <a:t>Размещение у блогера получает вторую жизнь — уже рядом с товаром и покупкой.</a:t>
            </a:r>
            <a:endParaRPr lang="ru-RU" sz="1300"/>
          </a:p>
        </p:txBody>
      </p:sp>
      <p:pic>
        <p:nvPicPr>
          <p:cNvPr id="4" name="Image 0" descr="/mnt/data/Блоггерское размещение в ленте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64208"/>
            <a:ext cx="278892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584448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3000" b="1">
                <a:solidFill>
                  <a:srgbClr val="E30613"/>
                </a:solidFill>
              </a:rPr>
              <a:t>→</a:t>
            </a:r>
            <a:endParaRPr lang="ru-RU" sz="3000"/>
          </a:p>
        </p:txBody>
      </p:sp>
      <p:pic>
        <p:nvPicPr>
          <p:cNvPr id="6" name="Image 1" descr="/mnt/data/Видео блоггера в каталоге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1664208"/>
            <a:ext cx="3429000" cy="44805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744968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3000" b="1">
                <a:solidFill>
                  <a:srgbClr val="E30613"/>
                </a:solidFill>
              </a:rPr>
              <a:t>→</a:t>
            </a:r>
            <a:endParaRPr lang="ru-RU" sz="3000"/>
          </a:p>
        </p:txBody>
      </p:sp>
      <p:sp>
        <p:nvSpPr>
          <p:cNvPr id="8" name="Shape 4"/>
          <p:cNvSpPr/>
          <p:nvPr/>
        </p:nvSpPr>
        <p:spPr>
          <a:xfrm>
            <a:off x="8275320" y="2240280"/>
            <a:ext cx="324612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7E7E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5"/>
          <p:cNvSpPr/>
          <p:nvPr/>
        </p:nvSpPr>
        <p:spPr>
          <a:xfrm>
            <a:off x="8577072" y="263347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800" b="1">
                <a:solidFill>
                  <a:srgbClr val="151515"/>
                </a:solidFill>
              </a:rPr>
              <a:t>Контент → товар → покупка</a:t>
            </a:r>
            <a:endParaRPr lang="ru-RU" sz="1800"/>
          </a:p>
        </p:txBody>
      </p:sp>
      <p:sp>
        <p:nvSpPr>
          <p:cNvPr id="10" name="Text 6"/>
          <p:cNvSpPr/>
          <p:nvPr/>
        </p:nvSpPr>
        <p:spPr>
          <a:xfrm>
            <a:off x="8577072" y="3310128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300">
                <a:solidFill>
                  <a:srgbClr val="6B6B6B"/>
                </a:solidFill>
              </a:rPr>
              <a:t>Бренд получает дополнительный контакт с аудиторией в тот момент, когда пользователь уже находится в shopping-сценарии.</a:t>
            </a:r>
            <a:endParaRPr lang="ru-RU" sz="1300"/>
          </a:p>
        </p:txBody>
      </p:sp>
      <p:sp>
        <p:nvSpPr>
          <p:cNvPr id="11" name="Shape 7"/>
          <p:cNvSpPr/>
          <p:nvPr/>
        </p:nvSpPr>
        <p:spPr>
          <a:xfrm>
            <a:off x="8577072" y="4800600"/>
            <a:ext cx="1691640" cy="310896"/>
          </a:xfrm>
          <a:prstGeom prst="roundRect">
            <a:avLst>
              <a:gd name="adj" fmla="val 23529"/>
            </a:avLst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8"/>
          <p:cNvSpPr/>
          <p:nvPr/>
        </p:nvSpPr>
        <p:spPr>
          <a:xfrm>
            <a:off x="8650224" y="4860036"/>
            <a:ext cx="1545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SOCIAL → COMMERCE</a:t>
            </a:r>
            <a:endParaRPr lang="en-US" sz="90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5CD177D-BAFD-A887-4058-228E7659575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lang="ru-RU" b="0"/>
              <a:t>46</a:t>
            </a:fld>
            <a:endParaRPr lang="ru-RU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446B61C-6CD5-ED27-9273-790353C0AC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>
                <a:solidFill>
                  <a:srgbClr val="151515"/>
                </a:solidFill>
              </a:rPr>
              <a:t>Social Commerce: </a:t>
            </a:r>
            <a:r>
              <a:rPr lang="ru-RU">
                <a:solidFill>
                  <a:srgbClr val="151515"/>
                </a:solidFill>
              </a:rPr>
              <a:t>контент</a:t>
            </a:r>
            <a:r>
              <a:rPr lang="ru-RU">
                <a:solidFill>
                  <a:srgbClr val="151515"/>
                </a:solidFill>
              </a:rPr>
              <a:t> </a:t>
            </a:r>
            <a:r>
              <a:rPr lang="ru-RU">
                <a:solidFill>
                  <a:srgbClr val="151515"/>
                </a:solidFill>
              </a:rPr>
              <a:t>блогера</a:t>
            </a:r>
            <a:r>
              <a:rPr lang="ru-RU">
                <a:solidFill>
                  <a:srgbClr val="151515"/>
                </a:solidFill>
              </a:rPr>
              <a:t> </a:t>
            </a:r>
            <a:r>
              <a:rPr lang="ru-RU">
                <a:solidFill>
                  <a:srgbClr val="151515"/>
                </a:solidFill>
              </a:rPr>
              <a:t>продолжает</a:t>
            </a:r>
            <a:r>
              <a:rPr lang="ru-RU">
                <a:solidFill>
                  <a:srgbClr val="151515"/>
                </a:solidFill>
              </a:rPr>
              <a:t> </a:t>
            </a:r>
            <a:r>
              <a:rPr lang="ru-RU">
                <a:solidFill>
                  <a:srgbClr val="151515"/>
                </a:solidFill>
              </a:rPr>
              <a:t>работать</a:t>
            </a:r>
            <a:r>
              <a:rPr lang="ru-RU">
                <a:solidFill>
                  <a:srgbClr val="151515"/>
                </a:solidFill>
              </a:rPr>
              <a:t> </a:t>
            </a:r>
            <a:r>
              <a:rPr lang="ru-RU">
                <a:solidFill>
                  <a:srgbClr val="151515"/>
                </a:solidFill>
              </a:rPr>
              <a:t>внутри</a:t>
            </a:r>
            <a:r>
              <a:rPr lang="ru-RU">
                <a:solidFill>
                  <a:srgbClr val="151515"/>
                </a:solidFill>
              </a:rPr>
              <a:t> </a:t>
            </a:r>
            <a:r>
              <a:rPr lang="ru-RU">
                <a:solidFill>
                  <a:srgbClr val="151515"/>
                </a:solidFill>
              </a:rPr>
              <a:t>Магнита</a:t>
            </a:r>
            <a:endParaRPr lang="ru-RU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ru-RU" sz="2800"/>
          </a:p>
        </p:txBody>
      </p:sp>
      <p:sp>
        <p:nvSpPr>
          <p:cNvPr id="3" name="Text 1"/>
          <p:cNvSpPr/>
          <p:nvPr/>
        </p:nvSpPr>
        <p:spPr>
          <a:xfrm>
            <a:off x="364176" y="905256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300">
                <a:solidFill>
                  <a:srgbClr val="6B6B6B"/>
                </a:solidFill>
              </a:rPr>
              <a:t>Не отдельная рекламная зона — контент встраивается прямо в товарный опыт.</a:t>
            </a:r>
            <a:endParaRPr lang="ru-RU" sz="130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7405D8-E717-8A4B-91FB-FA9A5D87238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lang="ru-RU" b="0"/>
              <a:t>47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960A41-7FC0-55BC-7BFE-67A5B7EF60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>
                <a:solidFill>
                  <a:srgbClr val="151515"/>
                </a:solidFill>
              </a:rPr>
              <a:t>Видео</a:t>
            </a:r>
            <a:r>
              <a:rPr lang="ru-RU">
                <a:solidFill>
                  <a:srgbClr val="151515"/>
                </a:solidFill>
              </a:rPr>
              <a:t> </a:t>
            </a:r>
            <a:r>
              <a:rPr lang="ru-RU">
                <a:solidFill>
                  <a:srgbClr val="151515"/>
                </a:solidFill>
              </a:rPr>
              <a:t>становится</a:t>
            </a:r>
            <a:r>
              <a:rPr lang="ru-RU">
                <a:solidFill>
                  <a:srgbClr val="151515"/>
                </a:solidFill>
              </a:rPr>
              <a:t> </a:t>
            </a:r>
            <a:r>
              <a:rPr lang="ru-RU">
                <a:solidFill>
                  <a:srgbClr val="151515"/>
                </a:solidFill>
              </a:rPr>
              <a:t>частью</a:t>
            </a:r>
            <a:r>
              <a:rPr lang="ru-RU">
                <a:solidFill>
                  <a:srgbClr val="151515"/>
                </a:solidFill>
              </a:rPr>
              <a:t> </a:t>
            </a:r>
            <a:r>
              <a:rPr lang="ru-RU">
                <a:solidFill>
                  <a:srgbClr val="151515"/>
                </a:solidFill>
              </a:rPr>
              <a:t>каталога</a:t>
            </a:r>
            <a:r>
              <a:rPr lang="ru-RU">
                <a:solidFill>
                  <a:srgbClr val="151515"/>
                </a:solidFill>
              </a:rPr>
              <a:t> и </a:t>
            </a:r>
            <a:r>
              <a:rPr lang="ru-RU">
                <a:solidFill>
                  <a:srgbClr val="151515"/>
                </a:solidFill>
              </a:rPr>
              <a:t>карточки</a:t>
            </a:r>
            <a:r>
              <a:rPr lang="ru-RU">
                <a:solidFill>
                  <a:srgbClr val="151515"/>
                </a:solidFill>
              </a:rPr>
              <a:t> </a:t>
            </a:r>
            <a:r>
              <a:rPr lang="ru-RU">
                <a:solidFill>
                  <a:srgbClr val="151515"/>
                </a:solidFill>
              </a:rPr>
              <a:t>товара</a:t>
            </a:r>
            <a:endParaRPr lang="ru-RU"/>
          </a:p>
          <a:p>
            <a:endParaRPr lang="ru-RU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ABD6386-650C-2DCF-0231-284E9C9B5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2468" y="1664208"/>
            <a:ext cx="1952936" cy="4335517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8838322-D807-BF9E-8C63-DB4DD18EA5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6599" y="1664209"/>
            <a:ext cx="1908716" cy="423735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85216" y="123444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300">
                <a:solidFill>
                  <a:srgbClr val="6B6B6B"/>
                </a:solidFill>
              </a:rPr>
              <a:t>Новый кабинет показывает представленность бренда в поиске и позволяет на неё влиять.</a:t>
            </a:r>
            <a:endParaRPr lang="ru-RU" sz="1300"/>
          </a:p>
        </p:txBody>
      </p:sp>
      <p:pic>
        <p:nvPicPr>
          <p:cNvPr id="4" name="Image 0" descr="/mnt/data/кабинет бренда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36" y="1600200"/>
            <a:ext cx="8092020" cy="455886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503920" y="1600200"/>
            <a:ext cx="3063240" cy="438912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7E7E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3"/>
          <p:cNvSpPr/>
          <p:nvPr/>
        </p:nvSpPr>
        <p:spPr>
          <a:xfrm>
            <a:off x="8796528" y="19659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800" b="1">
                <a:solidFill>
                  <a:srgbClr val="151515"/>
                </a:solidFill>
              </a:rPr>
              <a:t>В одном экране</a:t>
            </a:r>
            <a:endParaRPr lang="ru-RU" sz="1800"/>
          </a:p>
        </p:txBody>
      </p:sp>
      <p:sp>
        <p:nvSpPr>
          <p:cNvPr id="7" name="Text 4"/>
          <p:cNvSpPr/>
          <p:nvPr/>
        </p:nvSpPr>
        <p:spPr>
          <a:xfrm>
            <a:off x="8796528" y="2670048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300">
                <a:solidFill>
                  <a:srgbClr val="6B6B6B"/>
                </a:solidFill>
              </a:rPr>
              <a:t>• позиция товара в выдаче</a:t>
            </a:r>
            <a:endParaRPr lang="ru-RU" sz="1300"/>
          </a:p>
          <a:p>
            <a:pPr marL="0" indent="0">
              <a:buNone/>
            </a:pPr>
            <a:r>
              <a:rPr lang="ru-RU" sz="1300">
                <a:solidFill>
                  <a:srgbClr val="6B6B6B"/>
                </a:solidFill>
              </a:rPr>
              <a:t>• ставка и статус продвижения</a:t>
            </a:r>
            <a:endParaRPr lang="ru-RU" sz="1300"/>
          </a:p>
          <a:p>
            <a:pPr marL="0" indent="0">
              <a:buNone/>
            </a:pPr>
            <a:r>
              <a:rPr lang="ru-RU" sz="1300">
                <a:solidFill>
                  <a:srgbClr val="6B6B6B"/>
                </a:solidFill>
              </a:rPr>
              <a:t>• скорость продаж</a:t>
            </a:r>
            <a:endParaRPr lang="ru-RU" sz="1300"/>
          </a:p>
          <a:p>
            <a:pPr marL="0" indent="0">
              <a:buNone/>
            </a:pPr>
            <a:r>
              <a:rPr lang="ru-RU" sz="1300">
                <a:solidFill>
                  <a:srgbClr val="6B6B6B"/>
                </a:solidFill>
              </a:rPr>
              <a:t>• показы, клики, корзина</a:t>
            </a:r>
            <a:endParaRPr lang="ru-RU" sz="1300"/>
          </a:p>
          <a:p>
            <a:pPr marL="0" indent="0">
              <a:buNone/>
            </a:pPr>
            <a:r>
              <a:rPr lang="ru-RU" sz="1300">
                <a:solidFill>
                  <a:srgbClr val="6B6B6B"/>
                </a:solidFill>
              </a:rPr>
              <a:t>• заказы и выручка</a:t>
            </a:r>
            <a:endParaRPr lang="ru-RU" sz="1300"/>
          </a:p>
        </p:txBody>
      </p:sp>
      <p:sp>
        <p:nvSpPr>
          <p:cNvPr id="8" name="Shape 5"/>
          <p:cNvSpPr/>
          <p:nvPr/>
        </p:nvSpPr>
        <p:spPr>
          <a:xfrm>
            <a:off x="8796528" y="5120640"/>
            <a:ext cx="1965960" cy="310896"/>
          </a:xfrm>
          <a:prstGeom prst="roundRect">
            <a:avLst>
              <a:gd name="adj" fmla="val 23529"/>
            </a:avLst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6"/>
          <p:cNvSpPr/>
          <p:nvPr/>
        </p:nvSpPr>
        <p:spPr>
          <a:xfrm>
            <a:off x="8869680" y="5180076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900" b="1">
                <a:solidFill>
                  <a:srgbClr val="FFFFFF"/>
                </a:solidFill>
              </a:rPr>
              <a:t>ВИДЕТЬ → УПРАВЛЯТЬ</a:t>
            </a:r>
            <a:endParaRPr lang="ru-RU" sz="90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0B09929-4AE5-EAD1-2808-C5F9EAA971D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lang="ru-RU" b="0"/>
              <a:t>48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865046B-6465-9577-7AE3-69F9ABBA05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>
                <a:solidFill>
                  <a:srgbClr val="151515"/>
                </a:solidFill>
              </a:rPr>
              <a:t>Performance: </a:t>
            </a:r>
            <a:r>
              <a:rPr lang="ru-RU">
                <a:solidFill>
                  <a:srgbClr val="151515"/>
                </a:solidFill>
              </a:rPr>
              <a:t>управляем</a:t>
            </a:r>
            <a:r>
              <a:rPr lang="ru-RU">
                <a:solidFill>
                  <a:srgbClr val="151515"/>
                </a:solidFill>
              </a:rPr>
              <a:t> </a:t>
            </a:r>
            <a:r>
              <a:rPr lang="ru-RU">
                <a:solidFill>
                  <a:srgbClr val="151515"/>
                </a:solidFill>
              </a:rPr>
              <a:t>не</a:t>
            </a:r>
            <a:r>
              <a:rPr lang="ru-RU">
                <a:solidFill>
                  <a:srgbClr val="151515"/>
                </a:solidFill>
              </a:rPr>
              <a:t> </a:t>
            </a:r>
            <a:r>
              <a:rPr lang="ru-RU">
                <a:solidFill>
                  <a:srgbClr val="151515"/>
                </a:solidFill>
              </a:rPr>
              <a:t>только</a:t>
            </a:r>
            <a:r>
              <a:rPr lang="ru-RU">
                <a:solidFill>
                  <a:srgbClr val="151515"/>
                </a:solidFill>
              </a:rPr>
              <a:t> </a:t>
            </a:r>
            <a:r>
              <a:rPr lang="ru-RU">
                <a:solidFill>
                  <a:srgbClr val="151515"/>
                </a:solidFill>
              </a:rPr>
              <a:t>рекламой</a:t>
            </a:r>
            <a:r>
              <a:rPr lang="ru-RU">
                <a:solidFill>
                  <a:srgbClr val="151515"/>
                </a:solidFill>
              </a:rPr>
              <a:t>, </a:t>
            </a:r>
            <a:r>
              <a:rPr lang="ru-RU">
                <a:solidFill>
                  <a:srgbClr val="151515"/>
                </a:solidFill>
              </a:rPr>
              <a:t>но</a:t>
            </a:r>
            <a:r>
              <a:rPr lang="ru-RU">
                <a:solidFill>
                  <a:srgbClr val="151515"/>
                </a:solidFill>
              </a:rPr>
              <a:t> и </a:t>
            </a:r>
            <a:r>
              <a:rPr lang="ru-RU">
                <a:solidFill>
                  <a:srgbClr val="151515"/>
                </a:solidFill>
              </a:rPr>
              <a:t>позицией</a:t>
            </a:r>
            <a:r>
              <a:rPr lang="ru-RU">
                <a:solidFill>
                  <a:srgbClr val="151515"/>
                </a:solidFill>
              </a:rPr>
              <a:t> </a:t>
            </a:r>
            <a:r>
              <a:rPr lang="ru-RU">
                <a:solidFill>
                  <a:srgbClr val="151515"/>
                </a:solidFill>
              </a:rPr>
              <a:t>бренда</a:t>
            </a:r>
            <a:endParaRPr lang="ru-RU"/>
          </a:p>
          <a:p>
            <a:endParaRPr lang="ru-RU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85216" y="123444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300">
                <a:solidFill>
                  <a:srgbClr val="6B6B6B"/>
                </a:solidFill>
              </a:rPr>
              <a:t>Меньше ручного взаимодействия — больше скорости и контроля у самого бренда.</a:t>
            </a:r>
            <a:endParaRPr lang="ru-RU" sz="130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521208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E7E7E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914400" y="1947672"/>
            <a:ext cx="457200" cy="310896"/>
          </a:xfrm>
          <a:prstGeom prst="roundRect">
            <a:avLst>
              <a:gd name="adj" fmla="val 23529"/>
            </a:avLst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987552" y="2007108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900" b="1">
                <a:solidFill>
                  <a:srgbClr val="FFFFFF"/>
                </a:solidFill>
              </a:rPr>
              <a:t>01</a:t>
            </a:r>
            <a:endParaRPr lang="ru-RU" sz="900"/>
          </a:p>
        </p:txBody>
      </p:sp>
      <p:sp>
        <p:nvSpPr>
          <p:cNvPr id="7" name="Text 5"/>
          <p:cNvSpPr/>
          <p:nvPr/>
        </p:nvSpPr>
        <p:spPr>
          <a:xfrm>
            <a:off x="1600200" y="19476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800" b="1">
                <a:solidFill>
                  <a:srgbClr val="151515"/>
                </a:solidFill>
              </a:rPr>
              <a:t>Запустить</a:t>
            </a:r>
            <a:endParaRPr lang="ru-RU" sz="1800"/>
          </a:p>
        </p:txBody>
      </p:sp>
      <p:sp>
        <p:nvSpPr>
          <p:cNvPr id="8" name="Text 6"/>
          <p:cNvSpPr/>
          <p:nvPr/>
        </p:nvSpPr>
        <p:spPr>
          <a:xfrm>
            <a:off x="1600200" y="244144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200">
                <a:solidFill>
                  <a:srgbClr val="6B6B6B"/>
                </a:solidFill>
              </a:rPr>
              <a:t>выбрать товары и начать продвижение</a:t>
            </a:r>
            <a:endParaRPr lang="ru-RU" sz="1200"/>
          </a:p>
        </p:txBody>
      </p:sp>
      <p:sp>
        <p:nvSpPr>
          <p:cNvPr id="9" name="Shape 7"/>
          <p:cNvSpPr/>
          <p:nvPr/>
        </p:nvSpPr>
        <p:spPr>
          <a:xfrm>
            <a:off x="6309360" y="1691640"/>
            <a:ext cx="521208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E7E7E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6537960" y="1947672"/>
            <a:ext cx="457200" cy="310896"/>
          </a:xfrm>
          <a:prstGeom prst="roundRect">
            <a:avLst>
              <a:gd name="adj" fmla="val 23529"/>
            </a:avLst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6611112" y="2007108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900" b="1">
                <a:solidFill>
                  <a:srgbClr val="FFFFFF"/>
                </a:solidFill>
              </a:rPr>
              <a:t>02</a:t>
            </a:r>
            <a:endParaRPr lang="ru-RU" sz="900"/>
          </a:p>
        </p:txBody>
      </p:sp>
      <p:sp>
        <p:nvSpPr>
          <p:cNvPr id="12" name="Text 10"/>
          <p:cNvSpPr/>
          <p:nvPr/>
        </p:nvSpPr>
        <p:spPr>
          <a:xfrm>
            <a:off x="7223760" y="19476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800" b="1">
                <a:solidFill>
                  <a:srgbClr val="151515"/>
                </a:solidFill>
              </a:rPr>
              <a:t>Управлять</a:t>
            </a:r>
            <a:endParaRPr lang="ru-RU" sz="1800"/>
          </a:p>
        </p:txBody>
      </p:sp>
      <p:sp>
        <p:nvSpPr>
          <p:cNvPr id="13" name="Text 11"/>
          <p:cNvSpPr/>
          <p:nvPr/>
        </p:nvSpPr>
        <p:spPr>
          <a:xfrm>
            <a:off x="7223760" y="244144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200">
                <a:solidFill>
                  <a:srgbClr val="6B6B6B"/>
                </a:solidFill>
              </a:rPr>
              <a:t>ставками, бюджетом и регионами</a:t>
            </a:r>
            <a:endParaRPr lang="ru-RU" sz="1200"/>
          </a:p>
        </p:txBody>
      </p:sp>
      <p:sp>
        <p:nvSpPr>
          <p:cNvPr id="14" name="Shape 12"/>
          <p:cNvSpPr/>
          <p:nvPr/>
        </p:nvSpPr>
        <p:spPr>
          <a:xfrm>
            <a:off x="685800" y="3749040"/>
            <a:ext cx="521208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E7E7E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914400" y="4005072"/>
            <a:ext cx="457200" cy="310896"/>
          </a:xfrm>
          <a:prstGeom prst="roundRect">
            <a:avLst>
              <a:gd name="adj" fmla="val 23529"/>
            </a:avLst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987552" y="4064508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900" b="1">
                <a:solidFill>
                  <a:srgbClr val="FFFFFF"/>
                </a:solidFill>
              </a:rPr>
              <a:t>03</a:t>
            </a:r>
            <a:endParaRPr lang="ru-RU" sz="900"/>
          </a:p>
        </p:txBody>
      </p:sp>
      <p:sp>
        <p:nvSpPr>
          <p:cNvPr id="17" name="Text 15"/>
          <p:cNvSpPr/>
          <p:nvPr/>
        </p:nvSpPr>
        <p:spPr>
          <a:xfrm>
            <a:off x="1600200" y="40050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800" b="1">
                <a:solidFill>
                  <a:srgbClr val="151515"/>
                </a:solidFill>
              </a:rPr>
              <a:t>Измерять</a:t>
            </a:r>
            <a:endParaRPr lang="ru-RU" sz="1800"/>
          </a:p>
        </p:txBody>
      </p:sp>
      <p:sp>
        <p:nvSpPr>
          <p:cNvPr id="18" name="Text 16"/>
          <p:cNvSpPr/>
          <p:nvPr/>
        </p:nvSpPr>
        <p:spPr>
          <a:xfrm>
            <a:off x="1600200" y="449884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200">
                <a:solidFill>
                  <a:srgbClr val="6B6B6B"/>
                </a:solidFill>
              </a:rPr>
              <a:t>позиции, продажи и эффективность</a:t>
            </a:r>
            <a:endParaRPr lang="ru-RU" sz="1200"/>
          </a:p>
        </p:txBody>
      </p:sp>
      <p:sp>
        <p:nvSpPr>
          <p:cNvPr id="19" name="Shape 17"/>
          <p:cNvSpPr/>
          <p:nvPr/>
        </p:nvSpPr>
        <p:spPr>
          <a:xfrm>
            <a:off x="6309360" y="3749040"/>
            <a:ext cx="521208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E7E7E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Shape 18"/>
          <p:cNvSpPr/>
          <p:nvPr/>
        </p:nvSpPr>
        <p:spPr>
          <a:xfrm>
            <a:off x="6537960" y="4005072"/>
            <a:ext cx="457200" cy="310896"/>
          </a:xfrm>
          <a:prstGeom prst="roundRect">
            <a:avLst>
              <a:gd name="adj" fmla="val 23529"/>
            </a:avLst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6611112" y="4064508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900" b="1">
                <a:solidFill>
                  <a:srgbClr val="FFFFFF"/>
                </a:solidFill>
              </a:rPr>
              <a:t>04</a:t>
            </a:r>
            <a:endParaRPr lang="ru-RU" sz="900"/>
          </a:p>
        </p:txBody>
      </p:sp>
      <p:sp>
        <p:nvSpPr>
          <p:cNvPr id="22" name="Text 20"/>
          <p:cNvSpPr/>
          <p:nvPr/>
        </p:nvSpPr>
        <p:spPr>
          <a:xfrm>
            <a:off x="7223760" y="40050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800" b="1">
                <a:solidFill>
                  <a:srgbClr val="151515"/>
                </a:solidFill>
              </a:rPr>
              <a:t>Оптимизировать</a:t>
            </a:r>
            <a:endParaRPr lang="ru-RU" sz="1800"/>
          </a:p>
        </p:txBody>
      </p:sp>
      <p:sp>
        <p:nvSpPr>
          <p:cNvPr id="23" name="Text 21"/>
          <p:cNvSpPr/>
          <p:nvPr/>
        </p:nvSpPr>
        <p:spPr>
          <a:xfrm>
            <a:off x="7223760" y="449884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200">
                <a:solidFill>
                  <a:srgbClr val="6B6B6B"/>
                </a:solidFill>
              </a:rPr>
              <a:t>кампании без ожидания ручных операций</a:t>
            </a:r>
            <a:endParaRPr lang="ru-RU" sz="120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D3193E4-4D1A-5FC3-C91B-A8DD6174A85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lang="ru-RU" b="0"/>
              <a:t>49</a:t>
            </a:fld>
            <a:endParaRPr lang="ru-RU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500A6919-B58C-583B-8678-BE044AF4B4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>
                <a:solidFill>
                  <a:srgbClr val="151515"/>
                </a:solidFill>
              </a:rPr>
              <a:t>Даём</a:t>
            </a:r>
            <a:r>
              <a:rPr lang="ru-RU">
                <a:solidFill>
                  <a:srgbClr val="151515"/>
                </a:solidFill>
              </a:rPr>
              <a:t> </a:t>
            </a:r>
            <a:r>
              <a:rPr lang="ru-RU">
                <a:solidFill>
                  <a:srgbClr val="151515"/>
                </a:solidFill>
              </a:rPr>
              <a:t>брендам</a:t>
            </a:r>
            <a:r>
              <a:rPr lang="ru-RU">
                <a:solidFill>
                  <a:srgbClr val="151515"/>
                </a:solidFill>
              </a:rPr>
              <a:t> </a:t>
            </a:r>
            <a:r>
              <a:rPr lang="ru-RU">
                <a:solidFill>
                  <a:srgbClr val="151515"/>
                </a:solidFill>
              </a:rPr>
              <a:t>прямой</a:t>
            </a:r>
            <a:r>
              <a:rPr lang="ru-RU">
                <a:solidFill>
                  <a:srgbClr val="151515"/>
                </a:solidFill>
              </a:rPr>
              <a:t> </a:t>
            </a:r>
            <a:r>
              <a:rPr lang="ru-RU">
                <a:solidFill>
                  <a:srgbClr val="151515"/>
                </a:solidFill>
              </a:rPr>
              <a:t>доступ</a:t>
            </a:r>
            <a:r>
              <a:rPr lang="ru-RU">
                <a:solidFill>
                  <a:srgbClr val="151515"/>
                </a:solidFill>
              </a:rPr>
              <a:t> к </a:t>
            </a:r>
            <a:r>
              <a:rPr lang="ru-RU">
                <a:solidFill>
                  <a:srgbClr val="151515"/>
                </a:solidFill>
              </a:rPr>
              <a:t>управлению</a:t>
            </a:r>
            <a:endParaRPr lang="ru-RU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4176" y="836104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300">
                <a:solidFill>
                  <a:srgbClr val="6B6B6B"/>
                </a:solidFill>
              </a:rPr>
              <a:t>Продвигаем товар в разных сценариях выбора и увеличиваем размер корзины.</a:t>
            </a:r>
            <a:endParaRPr lang="ru-RU" sz="1300"/>
          </a:p>
        </p:txBody>
      </p:sp>
      <p:pic>
        <p:nvPicPr>
          <p:cNvPr id="4" name="Image 0" descr="/mnt/data/Комбо предложение 0.png"/>
          <p:cNvPicPr>
            <a:picLocks noChangeAspect="1"/>
          </p:cNvPicPr>
          <p:nvPr/>
        </p:nvPicPr>
        <p:blipFill>
          <a:blip r:embed="rId3"/>
          <a:srcRect r="2112"/>
          <a:stretch>
            <a:fillRect/>
          </a:stretch>
        </p:blipFill>
        <p:spPr>
          <a:xfrm>
            <a:off x="1911096" y="1554480"/>
            <a:ext cx="2040794" cy="4526280"/>
          </a:xfrm>
          <a:prstGeom prst="rect">
            <a:avLst/>
          </a:prstGeom>
        </p:spPr>
      </p:pic>
      <p:pic>
        <p:nvPicPr>
          <p:cNvPr id="5" name="Image 1" descr="/mnt/data/Комбо предложение 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0081" y="1554480"/>
            <a:ext cx="2245325" cy="4526280"/>
          </a:xfrm>
          <a:prstGeom prst="rect">
            <a:avLst/>
          </a:prstGeom>
        </p:spPr>
      </p:pic>
      <p:pic>
        <p:nvPicPr>
          <p:cNvPr id="6" name="Image 2" descr="/mnt/data/Комбо предложение 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3597" y="1554480"/>
            <a:ext cx="1840046" cy="4526280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A804519-4FEE-4BAB-5039-D877CA4184F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lang="ru-RU" b="0"/>
              <a:t>50</a:t>
            </a:fld>
            <a:endParaRPr lang="ru-RU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CA1465A-A12E-6CA5-5DC1-A63BF53FB1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>
                <a:solidFill>
                  <a:srgbClr val="151515"/>
                </a:solidFill>
              </a:rPr>
              <a:t>Performance </a:t>
            </a:r>
            <a:r>
              <a:rPr lang="ru-RU">
                <a:solidFill>
                  <a:srgbClr val="151515"/>
                </a:solidFill>
              </a:rPr>
              <a:t>выходит</a:t>
            </a:r>
            <a:r>
              <a:rPr lang="ru-RU">
                <a:solidFill>
                  <a:srgbClr val="151515"/>
                </a:solidFill>
              </a:rPr>
              <a:t> </a:t>
            </a:r>
            <a:r>
              <a:rPr lang="ru-RU">
                <a:solidFill>
                  <a:srgbClr val="151515"/>
                </a:solidFill>
              </a:rPr>
              <a:t>за</a:t>
            </a:r>
            <a:r>
              <a:rPr lang="ru-RU">
                <a:solidFill>
                  <a:srgbClr val="151515"/>
                </a:solidFill>
              </a:rPr>
              <a:t> </a:t>
            </a:r>
            <a:r>
              <a:rPr lang="ru-RU">
                <a:solidFill>
                  <a:srgbClr val="151515"/>
                </a:solidFill>
              </a:rPr>
              <a:t>пределы</a:t>
            </a:r>
            <a:r>
              <a:rPr lang="ru-RU">
                <a:solidFill>
                  <a:srgbClr val="151515"/>
                </a:solidFill>
              </a:rPr>
              <a:t> </a:t>
            </a:r>
            <a:r>
              <a:rPr lang="ru-RU">
                <a:solidFill>
                  <a:srgbClr val="151515"/>
                </a:solidFill>
              </a:rPr>
              <a:t>одной</a:t>
            </a:r>
            <a:r>
              <a:rPr lang="ru-RU">
                <a:solidFill>
                  <a:srgbClr val="151515"/>
                </a:solidFill>
              </a:rPr>
              <a:t> </a:t>
            </a:r>
            <a:r>
              <a:rPr lang="ru-RU">
                <a:solidFill>
                  <a:srgbClr val="151515"/>
                </a:solidFill>
              </a:rPr>
              <a:t>позиции</a:t>
            </a:r>
            <a:r>
              <a:rPr lang="ru-RU">
                <a:solidFill>
                  <a:srgbClr val="151515"/>
                </a:solidFill>
              </a:rPr>
              <a:t> в </a:t>
            </a:r>
            <a:r>
              <a:rPr lang="ru-RU">
                <a:solidFill>
                  <a:srgbClr val="151515"/>
                </a:solidFill>
              </a:rPr>
              <a:t>поиске</a:t>
            </a:r>
            <a:endParaRPr lang="ru-RU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85216" y="123444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300">
                <a:solidFill>
                  <a:srgbClr val="6B6B6B"/>
                </a:solidFill>
              </a:rPr>
              <a:t>КСО становится ещё одной управляемой рекламной поверхностью.</a:t>
            </a:r>
            <a:endParaRPr lang="ru-RU" sz="130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2423160" cy="320040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7E7E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886968" y="2121408"/>
            <a:ext cx="365760" cy="310896"/>
          </a:xfrm>
          <a:prstGeom prst="roundRect">
            <a:avLst>
              <a:gd name="adj" fmla="val 23529"/>
            </a:avLst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960120" y="2180844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900" b="1">
                <a:solidFill>
                  <a:srgbClr val="FFFFFF"/>
                </a:solidFill>
              </a:rPr>
              <a:t>1</a:t>
            </a:r>
            <a:endParaRPr lang="ru-RU" sz="900"/>
          </a:p>
        </p:txBody>
      </p:sp>
      <p:sp>
        <p:nvSpPr>
          <p:cNvPr id="7" name="Text 5"/>
          <p:cNvSpPr/>
          <p:nvPr/>
        </p:nvSpPr>
        <p:spPr>
          <a:xfrm>
            <a:off x="886968" y="27889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700" b="1">
                <a:solidFill>
                  <a:srgbClr val="151515"/>
                </a:solidFill>
              </a:rPr>
              <a:t>Сканирование</a:t>
            </a:r>
            <a:endParaRPr lang="ru-RU" sz="1700"/>
          </a:p>
        </p:txBody>
      </p:sp>
      <p:sp>
        <p:nvSpPr>
          <p:cNvPr id="8" name="Text 6"/>
          <p:cNvSpPr/>
          <p:nvPr/>
        </p:nvSpPr>
        <p:spPr>
          <a:xfrm>
            <a:off x="886968" y="3566160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200">
                <a:solidFill>
                  <a:srgbClr val="6B6B6B"/>
                </a:solidFill>
              </a:rPr>
              <a:t>Формат на экране во время формирования корзины</a:t>
            </a:r>
            <a:endParaRPr lang="ru-RU" sz="1200"/>
          </a:p>
        </p:txBody>
      </p:sp>
      <p:sp>
        <p:nvSpPr>
          <p:cNvPr id="9" name="Text 7"/>
          <p:cNvSpPr/>
          <p:nvPr/>
        </p:nvSpPr>
        <p:spPr>
          <a:xfrm>
            <a:off x="3136392" y="315468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000" b="1">
                <a:solidFill>
                  <a:srgbClr val="E30613"/>
                </a:solidFill>
              </a:rPr>
              <a:t>→</a:t>
            </a:r>
            <a:endParaRPr lang="ru-RU" sz="2000"/>
          </a:p>
        </p:txBody>
      </p:sp>
      <p:sp>
        <p:nvSpPr>
          <p:cNvPr id="10" name="Shape 8"/>
          <p:cNvSpPr/>
          <p:nvPr/>
        </p:nvSpPr>
        <p:spPr>
          <a:xfrm>
            <a:off x="3502152" y="1874520"/>
            <a:ext cx="2423160" cy="320040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7E7E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3703320" y="2121408"/>
            <a:ext cx="365760" cy="310896"/>
          </a:xfrm>
          <a:prstGeom prst="roundRect">
            <a:avLst>
              <a:gd name="adj" fmla="val 23529"/>
            </a:avLst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3776472" y="2180844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900" b="1">
                <a:solidFill>
                  <a:srgbClr val="FFFFFF"/>
                </a:solidFill>
              </a:rPr>
              <a:t>2</a:t>
            </a:r>
            <a:endParaRPr lang="ru-RU" sz="900"/>
          </a:p>
        </p:txBody>
      </p:sp>
      <p:sp>
        <p:nvSpPr>
          <p:cNvPr id="13" name="Text 11"/>
          <p:cNvSpPr/>
          <p:nvPr/>
        </p:nvSpPr>
        <p:spPr>
          <a:xfrm>
            <a:off x="3703320" y="27889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700" b="1">
                <a:solidFill>
                  <a:srgbClr val="151515"/>
                </a:solidFill>
              </a:rPr>
              <a:t>Карта лояльности</a:t>
            </a:r>
            <a:endParaRPr lang="ru-RU" sz="1700"/>
          </a:p>
        </p:txBody>
      </p:sp>
      <p:sp>
        <p:nvSpPr>
          <p:cNvPr id="14" name="Text 12"/>
          <p:cNvSpPr/>
          <p:nvPr/>
        </p:nvSpPr>
        <p:spPr>
          <a:xfrm>
            <a:off x="3703320" y="3566160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200">
                <a:solidFill>
                  <a:srgbClr val="6B6B6B"/>
                </a:solidFill>
              </a:rPr>
              <a:t>После идентификации понимаем профиль покупателя</a:t>
            </a:r>
            <a:endParaRPr lang="ru-RU" sz="1200"/>
          </a:p>
        </p:txBody>
      </p:sp>
      <p:sp>
        <p:nvSpPr>
          <p:cNvPr id="15" name="Text 13"/>
          <p:cNvSpPr/>
          <p:nvPr/>
        </p:nvSpPr>
        <p:spPr>
          <a:xfrm>
            <a:off x="5952744" y="315468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000" b="1">
                <a:solidFill>
                  <a:srgbClr val="E30613"/>
                </a:solidFill>
              </a:rPr>
              <a:t>→</a:t>
            </a:r>
            <a:endParaRPr lang="ru-RU" sz="2000"/>
          </a:p>
        </p:txBody>
      </p:sp>
      <p:sp>
        <p:nvSpPr>
          <p:cNvPr id="16" name="Shape 14"/>
          <p:cNvSpPr/>
          <p:nvPr/>
        </p:nvSpPr>
        <p:spPr>
          <a:xfrm>
            <a:off x="6318504" y="1874520"/>
            <a:ext cx="2423160" cy="320040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7E7E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Shape 15"/>
          <p:cNvSpPr/>
          <p:nvPr/>
        </p:nvSpPr>
        <p:spPr>
          <a:xfrm>
            <a:off x="6519672" y="2121408"/>
            <a:ext cx="365760" cy="310896"/>
          </a:xfrm>
          <a:prstGeom prst="roundRect">
            <a:avLst>
              <a:gd name="adj" fmla="val 23529"/>
            </a:avLst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6592824" y="2180844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900" b="1">
                <a:solidFill>
                  <a:srgbClr val="FFFFFF"/>
                </a:solidFill>
              </a:rPr>
              <a:t>3</a:t>
            </a:r>
            <a:endParaRPr lang="ru-RU" sz="900"/>
          </a:p>
        </p:txBody>
      </p:sp>
      <p:sp>
        <p:nvSpPr>
          <p:cNvPr id="19" name="Text 17"/>
          <p:cNvSpPr/>
          <p:nvPr/>
        </p:nvSpPr>
        <p:spPr>
          <a:xfrm>
            <a:off x="6519672" y="27889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700" b="1">
                <a:solidFill>
                  <a:srgbClr val="151515"/>
                </a:solidFill>
              </a:rPr>
              <a:t>Персонализация</a:t>
            </a:r>
            <a:endParaRPr lang="ru-RU" sz="1700"/>
          </a:p>
        </p:txBody>
      </p:sp>
      <p:sp>
        <p:nvSpPr>
          <p:cNvPr id="20" name="Text 18"/>
          <p:cNvSpPr/>
          <p:nvPr/>
        </p:nvSpPr>
        <p:spPr>
          <a:xfrm>
            <a:off x="6519672" y="3566160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200">
                <a:solidFill>
                  <a:srgbClr val="6B6B6B"/>
                </a:solidFill>
              </a:rPr>
              <a:t>Подбираем релевантное предложение</a:t>
            </a:r>
            <a:endParaRPr lang="ru-RU" sz="1200"/>
          </a:p>
        </p:txBody>
      </p:sp>
      <p:sp>
        <p:nvSpPr>
          <p:cNvPr id="21" name="Text 19"/>
          <p:cNvSpPr/>
          <p:nvPr/>
        </p:nvSpPr>
        <p:spPr>
          <a:xfrm>
            <a:off x="8769096" y="315468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000" b="1">
                <a:solidFill>
                  <a:srgbClr val="E30613"/>
                </a:solidFill>
              </a:rPr>
              <a:t>→</a:t>
            </a:r>
            <a:endParaRPr lang="ru-RU" sz="2000"/>
          </a:p>
        </p:txBody>
      </p:sp>
      <p:sp>
        <p:nvSpPr>
          <p:cNvPr id="22" name="Shape 20"/>
          <p:cNvSpPr/>
          <p:nvPr/>
        </p:nvSpPr>
        <p:spPr>
          <a:xfrm>
            <a:off x="9134856" y="1874520"/>
            <a:ext cx="2423160" cy="320040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7E7E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Shape 21"/>
          <p:cNvSpPr/>
          <p:nvPr/>
        </p:nvSpPr>
        <p:spPr>
          <a:xfrm>
            <a:off x="9336024" y="2121408"/>
            <a:ext cx="365760" cy="310896"/>
          </a:xfrm>
          <a:prstGeom prst="roundRect">
            <a:avLst>
              <a:gd name="adj" fmla="val 23529"/>
            </a:avLst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9409176" y="2180844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900" b="1">
                <a:solidFill>
                  <a:srgbClr val="FFFFFF"/>
                </a:solidFill>
              </a:rPr>
              <a:t>4</a:t>
            </a:r>
            <a:endParaRPr lang="ru-RU" sz="900"/>
          </a:p>
        </p:txBody>
      </p:sp>
      <p:sp>
        <p:nvSpPr>
          <p:cNvPr id="25" name="Text 23"/>
          <p:cNvSpPr/>
          <p:nvPr/>
        </p:nvSpPr>
        <p:spPr>
          <a:xfrm>
            <a:off x="9336024" y="27889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51515"/>
                </a:solidFill>
              </a:rPr>
              <a:t>Post-checkout</a:t>
            </a:r>
            <a:endParaRPr lang="en-US" sz="1700"/>
          </a:p>
        </p:txBody>
      </p:sp>
      <p:sp>
        <p:nvSpPr>
          <p:cNvPr id="26" name="Text 24"/>
          <p:cNvSpPr/>
          <p:nvPr/>
        </p:nvSpPr>
        <p:spPr>
          <a:xfrm>
            <a:off x="9336024" y="3566160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200">
                <a:solidFill>
                  <a:srgbClr val="6B6B6B"/>
                </a:solidFill>
              </a:rPr>
              <a:t>Продолжаем коммуникацию после оплаты</a:t>
            </a:r>
            <a:endParaRPr lang="ru-RU" sz="1200"/>
          </a:p>
        </p:txBody>
      </p:sp>
      <p:sp>
        <p:nvSpPr>
          <p:cNvPr id="27" name="Text 25"/>
          <p:cNvSpPr/>
          <p:nvPr/>
        </p:nvSpPr>
        <p:spPr>
          <a:xfrm>
            <a:off x="713232" y="5488093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600" b="1">
                <a:solidFill>
                  <a:srgbClr val="151515"/>
                </a:solidFill>
              </a:rPr>
              <a:t>Реклама подстраивается под профиль покупателя, если он идентифицировался картой лояльности</a:t>
            </a:r>
            <a:endParaRPr lang="ru-RU" sz="160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DE7BB026-6BC0-90ED-A2C7-077491C721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lang="ru-RU" b="0"/>
              <a:t>51</a:t>
            </a:fld>
            <a:endParaRPr lang="ru-RU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EF3D036A-5A6F-5C1E-15B2-73F93E5CDE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>
                <a:solidFill>
                  <a:srgbClr val="151515"/>
                </a:solidFill>
              </a:rPr>
              <a:t>Indoor: </a:t>
            </a:r>
            <a:r>
              <a:rPr lang="ru-RU">
                <a:solidFill>
                  <a:srgbClr val="151515"/>
                </a:solidFill>
              </a:rPr>
              <a:t>персональная</a:t>
            </a:r>
            <a:r>
              <a:rPr lang="ru-RU">
                <a:solidFill>
                  <a:srgbClr val="151515"/>
                </a:solidFill>
              </a:rPr>
              <a:t> </a:t>
            </a:r>
            <a:r>
              <a:rPr lang="ru-RU">
                <a:solidFill>
                  <a:srgbClr val="151515"/>
                </a:solidFill>
              </a:rPr>
              <a:t>коммуникация</a:t>
            </a:r>
            <a:r>
              <a:rPr lang="ru-RU">
                <a:solidFill>
                  <a:srgbClr val="151515"/>
                </a:solidFill>
              </a:rPr>
              <a:t> </a:t>
            </a:r>
            <a:r>
              <a:rPr lang="ru-RU">
                <a:solidFill>
                  <a:srgbClr val="151515"/>
                </a:solidFill>
              </a:rPr>
              <a:t>прямо</a:t>
            </a:r>
            <a:r>
              <a:rPr lang="ru-RU">
                <a:solidFill>
                  <a:srgbClr val="151515"/>
                </a:solidFill>
              </a:rPr>
              <a:t> </a:t>
            </a:r>
            <a:r>
              <a:rPr lang="ru-RU">
                <a:solidFill>
                  <a:srgbClr val="151515"/>
                </a:solidFill>
              </a:rPr>
              <a:t>на</a:t>
            </a:r>
            <a:r>
              <a:rPr lang="ru-RU">
                <a:solidFill>
                  <a:srgbClr val="151515"/>
                </a:solidFill>
              </a:rPr>
              <a:t> </a:t>
            </a:r>
            <a:r>
              <a:rPr lang="ru-RU">
                <a:solidFill>
                  <a:srgbClr val="151515"/>
                </a:solidFill>
              </a:rPr>
              <a:t>кассе</a:t>
            </a:r>
            <a:endParaRPr lang="ru-RU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ru-RU" sz="2800"/>
          </a:p>
        </p:txBody>
      </p:sp>
      <p:sp>
        <p:nvSpPr>
          <p:cNvPr id="3" name="Text 1"/>
          <p:cNvSpPr/>
          <p:nvPr/>
        </p:nvSpPr>
        <p:spPr>
          <a:xfrm>
            <a:off x="585216" y="123444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300">
                <a:solidFill>
                  <a:srgbClr val="6B6B6B"/>
                </a:solidFill>
              </a:rPr>
              <a:t>Показываем рекламу не только «кому», но и в правильный момент.</a:t>
            </a:r>
            <a:endParaRPr lang="ru-RU" sz="1300"/>
          </a:p>
        </p:txBody>
      </p:sp>
      <p:sp>
        <p:nvSpPr>
          <p:cNvPr id="4" name="Shape 2"/>
          <p:cNvSpPr/>
          <p:nvPr/>
        </p:nvSpPr>
        <p:spPr>
          <a:xfrm>
            <a:off x="685800" y="2011680"/>
            <a:ext cx="242316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7E7E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886968" y="2286000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8B8B90"/>
          </a:solidFill>
          <a:ln w="12700">
            <a:solidFill>
              <a:srgbClr val="8B8B9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960120" y="2345436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900" b="1">
                <a:solidFill>
                  <a:srgbClr val="FFFFFF"/>
                </a:solidFill>
              </a:rPr>
              <a:t>СЕГМЕНТ</a:t>
            </a:r>
            <a:endParaRPr lang="ru-RU" sz="900"/>
          </a:p>
        </p:txBody>
      </p:sp>
      <p:sp>
        <p:nvSpPr>
          <p:cNvPr id="7" name="Text 5"/>
          <p:cNvSpPr/>
          <p:nvPr/>
        </p:nvSpPr>
        <p:spPr>
          <a:xfrm>
            <a:off x="886968" y="30632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800" b="1">
                <a:solidFill>
                  <a:srgbClr val="151515"/>
                </a:solidFill>
              </a:rPr>
              <a:t>Кто этот покупатель?</a:t>
            </a:r>
            <a:endParaRPr lang="ru-RU" sz="1800"/>
          </a:p>
        </p:txBody>
      </p:sp>
      <p:sp>
        <p:nvSpPr>
          <p:cNvPr id="8" name="Text 6"/>
          <p:cNvSpPr/>
          <p:nvPr/>
        </p:nvSpPr>
        <p:spPr>
          <a:xfrm>
            <a:off x="3136392" y="297180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000" b="1">
                <a:solidFill>
                  <a:srgbClr val="E30613"/>
                </a:solidFill>
              </a:rPr>
              <a:t>→</a:t>
            </a:r>
            <a:endParaRPr lang="ru-RU" sz="2000"/>
          </a:p>
        </p:txBody>
      </p:sp>
      <p:sp>
        <p:nvSpPr>
          <p:cNvPr id="9" name="Shape 7"/>
          <p:cNvSpPr/>
          <p:nvPr/>
        </p:nvSpPr>
        <p:spPr>
          <a:xfrm>
            <a:off x="3502152" y="2011680"/>
            <a:ext cx="242316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7E7E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3703320" y="2286000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3776472" y="2345436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900" b="1">
                <a:solidFill>
                  <a:srgbClr val="FFFFFF"/>
                </a:solidFill>
              </a:rPr>
              <a:t>КОНТЕКСТ</a:t>
            </a:r>
            <a:endParaRPr lang="ru-RU" sz="900"/>
          </a:p>
        </p:txBody>
      </p:sp>
      <p:sp>
        <p:nvSpPr>
          <p:cNvPr id="12" name="Text 10"/>
          <p:cNvSpPr/>
          <p:nvPr/>
        </p:nvSpPr>
        <p:spPr>
          <a:xfrm>
            <a:off x="3703320" y="30632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800" b="1">
                <a:solidFill>
                  <a:srgbClr val="151515"/>
                </a:solidFill>
              </a:rPr>
              <a:t>Что происходит сейчас?</a:t>
            </a:r>
            <a:endParaRPr lang="ru-RU" sz="1800"/>
          </a:p>
        </p:txBody>
      </p:sp>
      <p:sp>
        <p:nvSpPr>
          <p:cNvPr id="13" name="Text 11"/>
          <p:cNvSpPr/>
          <p:nvPr/>
        </p:nvSpPr>
        <p:spPr>
          <a:xfrm>
            <a:off x="5952744" y="297180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000" b="1">
                <a:solidFill>
                  <a:srgbClr val="E30613"/>
                </a:solidFill>
              </a:rPr>
              <a:t>→</a:t>
            </a:r>
            <a:endParaRPr lang="ru-RU" sz="2000"/>
          </a:p>
        </p:txBody>
      </p:sp>
      <p:sp>
        <p:nvSpPr>
          <p:cNvPr id="14" name="Shape 12"/>
          <p:cNvSpPr/>
          <p:nvPr/>
        </p:nvSpPr>
        <p:spPr>
          <a:xfrm>
            <a:off x="6318504" y="2011680"/>
            <a:ext cx="242316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7E7E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6519672" y="2286000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6592824" y="2345436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900" b="1">
                <a:solidFill>
                  <a:srgbClr val="FFFFFF"/>
                </a:solidFill>
              </a:rPr>
              <a:t>ТРИГГЕР</a:t>
            </a:r>
            <a:endParaRPr lang="ru-RU" sz="900"/>
          </a:p>
        </p:txBody>
      </p:sp>
      <p:sp>
        <p:nvSpPr>
          <p:cNvPr id="17" name="Text 15"/>
          <p:cNvSpPr/>
          <p:nvPr/>
        </p:nvSpPr>
        <p:spPr>
          <a:xfrm>
            <a:off x="6519672" y="30632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800" b="1">
                <a:solidFill>
                  <a:srgbClr val="151515"/>
                </a:solidFill>
              </a:rPr>
              <a:t>Какое событие наступило?</a:t>
            </a:r>
            <a:endParaRPr lang="ru-RU" sz="1800"/>
          </a:p>
        </p:txBody>
      </p:sp>
      <p:sp>
        <p:nvSpPr>
          <p:cNvPr id="18" name="Text 16"/>
          <p:cNvSpPr/>
          <p:nvPr/>
        </p:nvSpPr>
        <p:spPr>
          <a:xfrm>
            <a:off x="8769096" y="297180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000" b="1">
                <a:solidFill>
                  <a:srgbClr val="E30613"/>
                </a:solidFill>
              </a:rPr>
              <a:t>→</a:t>
            </a:r>
            <a:endParaRPr lang="ru-RU" sz="2000"/>
          </a:p>
        </p:txBody>
      </p:sp>
      <p:sp>
        <p:nvSpPr>
          <p:cNvPr id="19" name="Shape 17"/>
          <p:cNvSpPr/>
          <p:nvPr/>
        </p:nvSpPr>
        <p:spPr>
          <a:xfrm>
            <a:off x="9134856" y="2011680"/>
            <a:ext cx="242316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7E7E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Shape 18"/>
          <p:cNvSpPr/>
          <p:nvPr/>
        </p:nvSpPr>
        <p:spPr>
          <a:xfrm>
            <a:off x="9336024" y="2286000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9409176" y="2345436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900" b="1">
                <a:solidFill>
                  <a:srgbClr val="FFFFFF"/>
                </a:solidFill>
              </a:rPr>
              <a:t>ПОКАЗ</a:t>
            </a:r>
            <a:endParaRPr lang="ru-RU" sz="900"/>
          </a:p>
        </p:txBody>
      </p:sp>
      <p:sp>
        <p:nvSpPr>
          <p:cNvPr id="22" name="Text 20"/>
          <p:cNvSpPr/>
          <p:nvPr/>
        </p:nvSpPr>
        <p:spPr>
          <a:xfrm>
            <a:off x="9336024" y="30632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800" b="1">
                <a:solidFill>
                  <a:srgbClr val="151515"/>
                </a:solidFill>
              </a:rPr>
              <a:t>Что релевантно показать?</a:t>
            </a:r>
            <a:endParaRPr lang="ru-RU" sz="1800"/>
          </a:p>
        </p:txBody>
      </p:sp>
      <p:sp>
        <p:nvSpPr>
          <p:cNvPr id="23" name="Text 21"/>
          <p:cNvSpPr/>
          <p:nvPr/>
        </p:nvSpPr>
        <p:spPr>
          <a:xfrm>
            <a:off x="713232" y="49834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300">
                <a:solidFill>
                  <a:srgbClr val="6B6B6B"/>
                </a:solidFill>
              </a:rPr>
              <a:t>Примеры контекста: состав корзины • гео и магазин • наличие • цена и промо • действие пользователя • этап customer journey</a:t>
            </a:r>
            <a:endParaRPr lang="ru-RU" sz="130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5E3CCD41-5CBC-EF2D-62F6-87294FA1053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lang="ru-RU" b="0"/>
              <a:t>52</a:t>
            </a:fld>
            <a:endParaRPr lang="ru-RU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786E2E4-506F-872D-3D0E-1E25EABE14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>
                <a:solidFill>
                  <a:srgbClr val="151515"/>
                </a:solidFill>
              </a:rPr>
              <a:t>Data: </a:t>
            </a:r>
            <a:r>
              <a:rPr lang="ru-RU">
                <a:solidFill>
                  <a:srgbClr val="151515"/>
                </a:solidFill>
              </a:rPr>
              <a:t>от</a:t>
            </a:r>
            <a:r>
              <a:rPr lang="ru-RU">
                <a:solidFill>
                  <a:srgbClr val="151515"/>
                </a:solidFill>
              </a:rPr>
              <a:t> </a:t>
            </a:r>
            <a:r>
              <a:rPr lang="ru-RU">
                <a:solidFill>
                  <a:srgbClr val="151515"/>
                </a:solidFill>
              </a:rPr>
              <a:t>статичных</a:t>
            </a:r>
            <a:r>
              <a:rPr lang="ru-RU">
                <a:solidFill>
                  <a:srgbClr val="151515"/>
                </a:solidFill>
              </a:rPr>
              <a:t> </a:t>
            </a:r>
            <a:r>
              <a:rPr lang="ru-RU">
                <a:solidFill>
                  <a:srgbClr val="151515"/>
                </a:solidFill>
              </a:rPr>
              <a:t>сегментов</a:t>
            </a:r>
            <a:r>
              <a:rPr lang="ru-RU">
                <a:solidFill>
                  <a:srgbClr val="151515"/>
                </a:solidFill>
              </a:rPr>
              <a:t> — к </a:t>
            </a:r>
            <a:r>
              <a:rPr lang="ru-RU">
                <a:solidFill>
                  <a:srgbClr val="151515"/>
                </a:solidFill>
              </a:rPr>
              <a:t>контексту</a:t>
            </a:r>
            <a:r>
              <a:rPr lang="ru-RU">
                <a:solidFill>
                  <a:srgbClr val="151515"/>
                </a:solidFill>
              </a:rPr>
              <a:t> и </a:t>
            </a:r>
            <a:r>
              <a:rPr lang="ru-RU">
                <a:solidFill>
                  <a:srgbClr val="151515"/>
                </a:solidFill>
              </a:rPr>
              <a:t>триггерам</a:t>
            </a:r>
            <a:endParaRPr lang="ru-RU"/>
          </a:p>
          <a:p>
            <a:endParaRPr lang="ru-RU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2094D5B-06D6-02D5-D431-2F5CBFB4681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237CBE-8A69-6F37-016A-C72D4D4620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53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D03681-7136-3949-EEB3-B817526484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Создаем плейсментами за пределами инфарструктуры Магнит</a:t>
            </a:r>
            <a:endParaRPr lang="ru-RU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E69CBD-D195-48B9-753A-6481238CF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177" y="779426"/>
            <a:ext cx="5936641" cy="22262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CC7FF03-CB89-339F-6D3A-4155DCCB63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2866" y="3087438"/>
            <a:ext cx="5643983" cy="3068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65569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ru-RU" sz="2800"/>
          </a:p>
        </p:txBody>
      </p:sp>
      <p:sp>
        <p:nvSpPr>
          <p:cNvPr id="3" name="Text 1"/>
          <p:cNvSpPr/>
          <p:nvPr/>
        </p:nvSpPr>
        <p:spPr>
          <a:xfrm>
            <a:off x="364176" y="104698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300">
                <a:solidFill>
                  <a:srgbClr val="6B6B6B"/>
                </a:solidFill>
              </a:rPr>
              <a:t>Единая точка доступа к покупателю — от первого контакта до продажи и повторной коммуникации.</a:t>
            </a:r>
            <a:endParaRPr lang="ru-RU" sz="1300"/>
          </a:p>
        </p:txBody>
      </p:sp>
      <p:sp>
        <p:nvSpPr>
          <p:cNvPr id="4" name="Shape 2"/>
          <p:cNvSpPr/>
          <p:nvPr/>
        </p:nvSpPr>
        <p:spPr>
          <a:xfrm>
            <a:off x="713232" y="1613916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786384" y="1687068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MEDIA</a:t>
            </a:r>
            <a:endParaRPr lang="en-US" sz="900"/>
          </a:p>
        </p:txBody>
      </p:sp>
      <p:sp>
        <p:nvSpPr>
          <p:cNvPr id="6" name="Text 4"/>
          <p:cNvSpPr/>
          <p:nvPr/>
        </p:nvSpPr>
        <p:spPr>
          <a:xfrm>
            <a:off x="2148840" y="165506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800" b="1">
                <a:solidFill>
                  <a:srgbClr val="151515"/>
                </a:solidFill>
              </a:rPr>
              <a:t>Больше форматов</a:t>
            </a:r>
            <a:endParaRPr lang="ru-RU" sz="1800"/>
          </a:p>
        </p:txBody>
      </p:sp>
      <p:sp>
        <p:nvSpPr>
          <p:cNvPr id="7" name="Shape 5"/>
          <p:cNvSpPr/>
          <p:nvPr/>
        </p:nvSpPr>
        <p:spPr>
          <a:xfrm>
            <a:off x="713232" y="2464308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786384" y="2537460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SOCIAL</a:t>
            </a:r>
            <a:endParaRPr lang="en-US" sz="900"/>
          </a:p>
        </p:txBody>
      </p:sp>
      <p:sp>
        <p:nvSpPr>
          <p:cNvPr id="9" name="Text 7"/>
          <p:cNvSpPr/>
          <p:nvPr/>
        </p:nvSpPr>
        <p:spPr>
          <a:xfrm>
            <a:off x="2148840" y="250545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800" b="1">
                <a:solidFill>
                  <a:srgbClr val="151515"/>
                </a:solidFill>
              </a:rPr>
              <a:t>Контент рядом с покупкой</a:t>
            </a:r>
            <a:endParaRPr lang="ru-RU" sz="1800"/>
          </a:p>
        </p:txBody>
      </p:sp>
      <p:sp>
        <p:nvSpPr>
          <p:cNvPr id="10" name="Shape 8"/>
          <p:cNvSpPr/>
          <p:nvPr/>
        </p:nvSpPr>
        <p:spPr>
          <a:xfrm>
            <a:off x="713232" y="3314700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786384" y="3387852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PERFORMANCE</a:t>
            </a:r>
            <a:endParaRPr lang="en-US" sz="900"/>
          </a:p>
        </p:txBody>
      </p:sp>
      <p:sp>
        <p:nvSpPr>
          <p:cNvPr id="12" name="Text 10"/>
          <p:cNvSpPr/>
          <p:nvPr/>
        </p:nvSpPr>
        <p:spPr>
          <a:xfrm>
            <a:off x="2148840" y="335584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800" b="1">
                <a:solidFill>
                  <a:srgbClr val="151515"/>
                </a:solidFill>
              </a:rPr>
              <a:t>Контроль цифровой полки</a:t>
            </a:r>
            <a:endParaRPr lang="ru-RU" sz="1800"/>
          </a:p>
        </p:txBody>
      </p:sp>
      <p:sp>
        <p:nvSpPr>
          <p:cNvPr id="13" name="Shape 11"/>
          <p:cNvSpPr/>
          <p:nvPr/>
        </p:nvSpPr>
        <p:spPr>
          <a:xfrm>
            <a:off x="713232" y="4165092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786384" y="4238244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INDOOR</a:t>
            </a:r>
            <a:endParaRPr lang="en-US" sz="900"/>
          </a:p>
        </p:txBody>
      </p:sp>
      <p:sp>
        <p:nvSpPr>
          <p:cNvPr id="15" name="Text 13"/>
          <p:cNvSpPr/>
          <p:nvPr/>
        </p:nvSpPr>
        <p:spPr>
          <a:xfrm>
            <a:off x="2148840" y="42062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800" b="1">
                <a:solidFill>
                  <a:srgbClr val="151515"/>
                </a:solidFill>
              </a:rPr>
              <a:t>Персонализация в магазине</a:t>
            </a:r>
            <a:endParaRPr lang="ru-RU" sz="1800"/>
          </a:p>
        </p:txBody>
      </p:sp>
      <p:sp>
        <p:nvSpPr>
          <p:cNvPr id="16" name="Shape 14"/>
          <p:cNvSpPr/>
          <p:nvPr/>
        </p:nvSpPr>
        <p:spPr>
          <a:xfrm>
            <a:off x="713232" y="5015484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786384" y="5088636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DATA</a:t>
            </a:r>
            <a:endParaRPr lang="en-US" sz="900"/>
          </a:p>
        </p:txBody>
      </p:sp>
      <p:sp>
        <p:nvSpPr>
          <p:cNvPr id="18" name="Text 16"/>
          <p:cNvSpPr/>
          <p:nvPr/>
        </p:nvSpPr>
        <p:spPr>
          <a:xfrm>
            <a:off x="2148840" y="505663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800" b="1">
                <a:solidFill>
                  <a:srgbClr val="151515"/>
                </a:solidFill>
              </a:rPr>
              <a:t>Правильный момент показа</a:t>
            </a:r>
            <a:endParaRPr lang="ru-RU" sz="1800"/>
          </a:p>
        </p:txBody>
      </p:sp>
      <p:sp>
        <p:nvSpPr>
          <p:cNvPr id="19" name="Shape 17"/>
          <p:cNvSpPr/>
          <p:nvPr/>
        </p:nvSpPr>
        <p:spPr>
          <a:xfrm>
            <a:off x="6995160" y="1508760"/>
            <a:ext cx="4434840" cy="4434840"/>
          </a:xfrm>
          <a:prstGeom prst="roundRect">
            <a:avLst>
              <a:gd name="adj" fmla="val 3093"/>
            </a:avLst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7635240" y="1938528"/>
            <a:ext cx="31546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2200" b="1">
                <a:solidFill>
                  <a:srgbClr val="FFFFFF"/>
                </a:solidFill>
              </a:rPr>
              <a:t>Увидел</a:t>
            </a:r>
            <a:endParaRPr lang="ru-RU" sz="2200"/>
          </a:p>
          <a:p>
            <a:pPr marL="0" indent="0" algn="ctr">
              <a:buNone/>
            </a:pPr>
            <a:r>
              <a:rPr lang="ru-RU" sz="2200" b="1">
                <a:solidFill>
                  <a:srgbClr val="FFFFFF"/>
                </a:solidFill>
              </a:rPr>
              <a:t>↓</a:t>
            </a:r>
            <a:endParaRPr lang="ru-RU" sz="2200"/>
          </a:p>
          <a:p>
            <a:pPr marL="0" indent="0" algn="ctr">
              <a:buNone/>
            </a:pPr>
            <a:r>
              <a:rPr lang="ru-RU" sz="2200" b="1">
                <a:solidFill>
                  <a:srgbClr val="FFFFFF"/>
                </a:solidFill>
              </a:rPr>
              <a:t>Вовлёкся</a:t>
            </a:r>
            <a:endParaRPr lang="ru-RU" sz="2200"/>
          </a:p>
          <a:p>
            <a:pPr marL="0" indent="0" algn="ctr">
              <a:buNone/>
            </a:pPr>
            <a:r>
              <a:rPr lang="ru-RU" sz="2200" b="1">
                <a:solidFill>
                  <a:srgbClr val="FFFFFF"/>
                </a:solidFill>
              </a:rPr>
              <a:t>↓</a:t>
            </a:r>
            <a:endParaRPr lang="ru-RU" sz="2200"/>
          </a:p>
          <a:p>
            <a:pPr marL="0" indent="0" algn="ctr">
              <a:buNone/>
            </a:pPr>
            <a:r>
              <a:rPr lang="ru-RU" sz="2200" b="1">
                <a:solidFill>
                  <a:srgbClr val="FFFFFF"/>
                </a:solidFill>
              </a:rPr>
              <a:t>Нашёл</a:t>
            </a:r>
            <a:endParaRPr lang="ru-RU" sz="2200"/>
          </a:p>
          <a:p>
            <a:pPr marL="0" indent="0" algn="ctr">
              <a:buNone/>
            </a:pPr>
            <a:r>
              <a:rPr lang="ru-RU" sz="2200" b="1">
                <a:solidFill>
                  <a:srgbClr val="FFFFFF"/>
                </a:solidFill>
              </a:rPr>
              <a:t>↓</a:t>
            </a:r>
            <a:endParaRPr lang="ru-RU" sz="2200"/>
          </a:p>
          <a:p>
            <a:pPr marL="0" indent="0" algn="ctr">
              <a:buNone/>
            </a:pPr>
            <a:r>
              <a:rPr lang="ru-RU" sz="2200" b="1">
                <a:solidFill>
                  <a:srgbClr val="FFFFFF"/>
                </a:solidFill>
              </a:rPr>
              <a:t>Купил</a:t>
            </a:r>
            <a:endParaRPr lang="ru-RU" sz="2200"/>
          </a:p>
          <a:p>
            <a:pPr marL="0" indent="0" algn="ctr">
              <a:buNone/>
            </a:pPr>
            <a:r>
              <a:rPr lang="ru-RU" sz="2200" b="1">
                <a:solidFill>
                  <a:srgbClr val="FFFFFF"/>
                </a:solidFill>
              </a:rPr>
              <a:t>↓</a:t>
            </a:r>
            <a:endParaRPr lang="ru-RU" sz="2200"/>
          </a:p>
          <a:p>
            <a:pPr marL="0" indent="0" algn="ctr">
              <a:buNone/>
            </a:pPr>
            <a:r>
              <a:rPr lang="ru-RU" sz="2200" b="1">
                <a:solidFill>
                  <a:srgbClr val="FFFFFF"/>
                </a:solidFill>
              </a:rPr>
              <a:t>Вернулся</a:t>
            </a:r>
            <a:endParaRPr lang="ru-RU" sz="220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68A7572-E252-5363-B39E-CAAAFAE2E00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lang="ru-RU" b="0"/>
              <a:t>54</a:t>
            </a:fld>
            <a:endParaRPr lang="ru-RU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FA1F11-995F-3AF8-7F92-182B69462A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>
                <a:solidFill>
                  <a:srgbClr val="151515"/>
                </a:solidFill>
              </a:rPr>
              <a:t>Что</a:t>
            </a:r>
            <a:r>
              <a:rPr lang="ru-RU">
                <a:solidFill>
                  <a:srgbClr val="151515"/>
                </a:solidFill>
              </a:rPr>
              <a:t> </a:t>
            </a:r>
            <a:r>
              <a:rPr lang="ru-RU">
                <a:solidFill>
                  <a:srgbClr val="151515"/>
                </a:solidFill>
              </a:rPr>
              <a:t>получает</a:t>
            </a:r>
            <a:r>
              <a:rPr lang="ru-RU">
                <a:solidFill>
                  <a:srgbClr val="151515"/>
                </a:solidFill>
              </a:rPr>
              <a:t> </a:t>
            </a:r>
            <a:r>
              <a:rPr lang="ru-RU">
                <a:solidFill>
                  <a:srgbClr val="151515"/>
                </a:solidFill>
              </a:rPr>
              <a:t>бренд</a:t>
            </a:r>
            <a:endParaRPr lang="ru-RU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DF8EBA-9590-4C81-9F69-5D123BF96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7D62E96-F664-40DC-868E-D0B2F0A46B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060A129-27E9-4599-B4E5-C57388EC22F3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ru-RU" sz="5000" b="1">
                <a:solidFill>
                  <a:srgbClr val="FF452C"/>
                </a:solidFill>
                <a:latin typeface="Arial"/>
              </a:rPr>
              <a:t>0</a:t>
            </a:r>
            <a:r>
              <a:rPr lang="ru-RU" sz="5000" b="1">
                <a:solidFill>
                  <a:srgbClr val="FF452C"/>
                </a:solidFill>
                <a:latin typeface="Arial"/>
              </a:rPr>
              <a:t>5</a:t>
            </a:r>
            <a:endParaRPr lang="ru-RU" sz="5000" b="1">
              <a:solidFill>
                <a:srgbClr val="FF452C"/>
              </a:solidFill>
              <a:latin typeface="Arial"/>
            </a:endParaRPr>
          </a:p>
          <a:p>
            <a:pPr>
              <a:lnSpc>
                <a:spcPct val="90000"/>
              </a:lnSpc>
              <a:buNone/>
            </a:pPr>
            <a:r>
              <a:rPr lang="ru-RU" sz="5000" b="1">
                <a:solidFill>
                  <a:srgbClr val="FFFFFF"/>
                </a:solidFill>
                <a:latin typeface="Arial"/>
              </a:rPr>
              <a:t>Приложение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BC4C214E-1A99-490C-A3B5-9407F8AE15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/>
              <a:t>Персонал и ФОТ, планы направлений, платформа и данные, дорожные карты, зоны ответственности</a:t>
            </a:r>
          </a:p>
        </p:txBody>
      </p:sp>
    </p:spTree>
    <p:extLst>
      <p:ext uri="{BB962C8B-B14F-4D97-AF65-F5344CB8AC3E}">
        <p14:creationId xmlns:p14="http://schemas.microsoft.com/office/powerpoint/2010/main" val="59808437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>
          <a:xfrm>
            <a:off x="1619251" y="6238124"/>
            <a:ext cx="9277350" cy="391275"/>
          </a:xfrm>
        </p:spPr>
        <p:txBody>
          <a:bodyPr lIns="0" tIns="0"/>
          <a:lstStyle/>
          <a:p>
            <a:r>
              <a:rPr lang="ru-RU">
                <a:solidFill>
                  <a:srgbClr val="6E6E6E"/>
                </a:solidFill>
              </a:rPr>
              <a:t>Источник: анализ Magnit ADS (AdTech)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</p:spPr>
        <p:txBody>
          <a:bodyPr/>
          <a:lstStyle/>
          <a:p>
            <a:fld id="{527D41D6-7756-D84E-A787-9DAD2BF0F149}" type="slidenum">
              <a:rPr lang="ru-RU" smtClean="0"/>
              <a:pPr/>
              <a:t>56</a:t>
            </a:fld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64176" y="225092"/>
            <a:ext cx="10594970" cy="660733"/>
          </a:xfrm>
        </p:spPr>
        <p:txBody>
          <a:bodyPr/>
          <a:lstStyle/>
          <a:p>
            <a:r>
              <a:rPr lang="ru-RU"/>
              <a:t>Рост сегментов, где находится выручка </a:t>
            </a:r>
            <a:r>
              <a:rPr lang="en-US"/>
              <a:t>AdTech</a:t>
            </a:r>
            <a:r>
              <a:rPr lang="ru-RU"/>
              <a:t>, сигнализирует </a:t>
            </a:r>
            <a:br>
              <a:rPr lang="ru-RU" dirty="0"/>
            </a:br>
            <a:r>
              <a:rPr lang="ru-RU"/>
              <a:t>о росте спроса со стороны поставщиков на рекламные инструменты</a:t>
            </a:r>
          </a:p>
        </p:txBody>
      </p:sp>
      <p:sp>
        <p:nvSpPr>
          <p:cNvPr id="5" name="ADS label 5"/>
          <p:cNvSpPr txBox="1"/>
          <p:nvPr/>
        </p:nvSpPr>
        <p:spPr>
          <a:xfrm>
            <a:off x="365760" y="1261625"/>
            <a:ext cx="22402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FF452C"/>
                </a:solidFill>
                <a:latin typeface="Arial"/>
                <a:cs typeface="Arial"/>
              </a:rPr>
              <a:t>Сегмент</a:t>
            </a:r>
            <a:endParaRPr lang="ru-RU"/>
          </a:p>
        </p:txBody>
      </p:sp>
      <p:sp>
        <p:nvSpPr>
          <p:cNvPr id="6" name="ADS label 6"/>
          <p:cNvSpPr txBox="1"/>
          <p:nvPr/>
        </p:nvSpPr>
        <p:spPr>
          <a:xfrm>
            <a:off x="3453681" y="1261625"/>
            <a:ext cx="8686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FF452C"/>
                </a:solidFill>
                <a:latin typeface="Arial"/>
                <a:cs typeface="Arial"/>
              </a:rPr>
              <a:t>9м 2026</a:t>
            </a:r>
            <a:endParaRPr lang="ru-RU"/>
          </a:p>
        </p:txBody>
      </p:sp>
      <p:sp>
        <p:nvSpPr>
          <p:cNvPr id="7" name="ADS label 7"/>
          <p:cNvSpPr txBox="1"/>
          <p:nvPr/>
        </p:nvSpPr>
        <p:spPr>
          <a:xfrm>
            <a:off x="4952302" y="1261625"/>
            <a:ext cx="21488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FF452C"/>
                </a:solidFill>
                <a:latin typeface="Arial"/>
                <a:cs typeface="Arial"/>
              </a:rPr>
              <a:t>Изм. 9м г/г (25-26 гг.)</a:t>
            </a:r>
            <a:endParaRPr lang="ru-RU"/>
          </a:p>
        </p:txBody>
      </p:sp>
      <p:sp>
        <p:nvSpPr>
          <p:cNvPr id="12" name="ADS label 12"/>
          <p:cNvSpPr txBox="1"/>
          <p:nvPr/>
        </p:nvSpPr>
        <p:spPr>
          <a:xfrm>
            <a:off x="365760" y="1636529"/>
            <a:ext cx="80924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>
                <a:solidFill>
                  <a:srgbClr val="FF452C"/>
                </a:solidFill>
                <a:latin typeface="Arial"/>
                <a:cs typeface="Arial"/>
              </a:rPr>
              <a:t>Сегменты, где находится рекламная выручка AdTech</a:t>
            </a:r>
            <a:endParaRPr lang="ru-RU" sz="1200"/>
          </a:p>
        </p:txBody>
      </p:sp>
      <p:sp>
        <p:nvSpPr>
          <p:cNvPr id="13" name="ADS label 13"/>
          <p:cNvSpPr txBox="1"/>
          <p:nvPr/>
        </p:nvSpPr>
        <p:spPr>
          <a:xfrm>
            <a:off x="438912" y="1846841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Маркетинг</a:t>
            </a:r>
            <a:endParaRPr lang="ru-RU" sz="1200"/>
          </a:p>
        </p:txBody>
      </p:sp>
      <p:sp>
        <p:nvSpPr>
          <p:cNvPr id="14" name="ADS label 14"/>
          <p:cNvSpPr txBox="1"/>
          <p:nvPr/>
        </p:nvSpPr>
        <p:spPr>
          <a:xfrm>
            <a:off x="3453681" y="1846841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21 934</a:t>
            </a:r>
            <a:endParaRPr lang="ru-RU" sz="1200"/>
          </a:p>
        </p:txBody>
      </p:sp>
      <p:sp>
        <p:nvSpPr>
          <p:cNvPr id="15" name="ADS chip 15"/>
          <p:cNvSpPr/>
          <p:nvPr/>
        </p:nvSpPr>
        <p:spPr>
          <a:xfrm>
            <a:off x="4962441" y="1947425"/>
            <a:ext cx="1270086" cy="164592"/>
          </a:xfrm>
          <a:prstGeom prst="roundRect">
            <a:avLst>
              <a:gd name="adj" fmla="val 10000"/>
            </a:avLst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6" name="ADS label 16"/>
          <p:cNvSpPr txBox="1"/>
          <p:nvPr/>
        </p:nvSpPr>
        <p:spPr>
          <a:xfrm>
            <a:off x="6287391" y="1846841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+86%</a:t>
            </a:r>
            <a:endParaRPr lang="ru-RU" sz="1200"/>
          </a:p>
        </p:txBody>
      </p:sp>
      <p:sp>
        <p:nvSpPr>
          <p:cNvPr id="20" name="ADS label 20"/>
          <p:cNvSpPr txBox="1"/>
          <p:nvPr/>
        </p:nvSpPr>
        <p:spPr>
          <a:xfrm>
            <a:off x="438912" y="2212601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Прочие бонусы от поставщиков</a:t>
            </a:r>
            <a:endParaRPr lang="ru-RU" sz="1200"/>
          </a:p>
        </p:txBody>
      </p:sp>
      <p:sp>
        <p:nvSpPr>
          <p:cNvPr id="21" name="ADS label 21"/>
          <p:cNvSpPr txBox="1"/>
          <p:nvPr/>
        </p:nvSpPr>
        <p:spPr>
          <a:xfrm>
            <a:off x="3453681" y="2212601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24 593</a:t>
            </a:r>
            <a:endParaRPr lang="ru-RU" sz="1200"/>
          </a:p>
        </p:txBody>
      </p:sp>
      <p:sp>
        <p:nvSpPr>
          <p:cNvPr id="22" name="ADS chip 22"/>
          <p:cNvSpPr/>
          <p:nvPr/>
        </p:nvSpPr>
        <p:spPr>
          <a:xfrm>
            <a:off x="4962441" y="2313185"/>
            <a:ext cx="282404" cy="164592"/>
          </a:xfrm>
          <a:prstGeom prst="roundRect">
            <a:avLst>
              <a:gd name="adj" fmla="val 10000"/>
            </a:avLst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3" name="ADS label 23"/>
          <p:cNvSpPr txBox="1"/>
          <p:nvPr/>
        </p:nvSpPr>
        <p:spPr>
          <a:xfrm>
            <a:off x="5299709" y="2212601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+19%</a:t>
            </a:r>
            <a:endParaRPr lang="ru-RU" sz="1200"/>
          </a:p>
        </p:txBody>
      </p:sp>
      <p:sp>
        <p:nvSpPr>
          <p:cNvPr id="27" name="ADS label 27"/>
          <p:cNvSpPr txBox="1"/>
          <p:nvPr/>
        </p:nvSpPr>
        <p:spPr>
          <a:xfrm>
            <a:off x="365760" y="2669801"/>
            <a:ext cx="80924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>
                <a:solidFill>
                  <a:srgbClr val="7F7F7F"/>
                </a:solidFill>
                <a:latin typeface="Arial"/>
                <a:cs typeface="Arial"/>
              </a:rPr>
              <a:t>Сегменты без AdTech</a:t>
            </a:r>
            <a:endParaRPr lang="ru-RU" sz="1200"/>
          </a:p>
        </p:txBody>
      </p:sp>
      <p:sp>
        <p:nvSpPr>
          <p:cNvPr id="28" name="ADS label 28"/>
          <p:cNvSpPr txBox="1"/>
          <p:nvPr/>
        </p:nvSpPr>
        <p:spPr>
          <a:xfrm>
            <a:off x="438912" y="2880113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Премии</a:t>
            </a:r>
            <a:endParaRPr lang="ru-RU" sz="1200"/>
          </a:p>
        </p:txBody>
      </p:sp>
      <p:sp>
        <p:nvSpPr>
          <p:cNvPr id="29" name="ADS label 29"/>
          <p:cNvSpPr txBox="1"/>
          <p:nvPr/>
        </p:nvSpPr>
        <p:spPr>
          <a:xfrm>
            <a:off x="3453681" y="2880113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110 694</a:t>
            </a:r>
            <a:endParaRPr lang="ru-RU" sz="1200"/>
          </a:p>
        </p:txBody>
      </p:sp>
      <p:sp>
        <p:nvSpPr>
          <p:cNvPr id="30" name="ADS chip 30"/>
          <p:cNvSpPr/>
          <p:nvPr/>
        </p:nvSpPr>
        <p:spPr>
          <a:xfrm>
            <a:off x="4962441" y="2980697"/>
            <a:ext cx="46910" cy="164592"/>
          </a:xfrm>
          <a:prstGeom prst="roundRect">
            <a:avLst>
              <a:gd name="adj" fmla="val 10000"/>
            </a:avLst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1" name="ADS label 31"/>
          <p:cNvSpPr txBox="1"/>
          <p:nvPr/>
        </p:nvSpPr>
        <p:spPr>
          <a:xfrm>
            <a:off x="5064215" y="2880113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595959"/>
                </a:solidFill>
                <a:latin typeface="Arial"/>
                <a:cs typeface="Arial"/>
              </a:rPr>
              <a:t>+3%</a:t>
            </a:r>
            <a:endParaRPr lang="ru-RU" sz="1200"/>
          </a:p>
        </p:txBody>
      </p:sp>
      <p:sp>
        <p:nvSpPr>
          <p:cNvPr id="35" name="ADS label 35"/>
          <p:cNvSpPr txBox="1"/>
          <p:nvPr/>
        </p:nvSpPr>
        <p:spPr>
          <a:xfrm>
            <a:off x="438912" y="3245873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Промо</a:t>
            </a:r>
            <a:endParaRPr lang="ru-RU" sz="1200"/>
          </a:p>
        </p:txBody>
      </p:sp>
      <p:sp>
        <p:nvSpPr>
          <p:cNvPr id="36" name="ADS label 36"/>
          <p:cNvSpPr txBox="1"/>
          <p:nvPr/>
        </p:nvSpPr>
        <p:spPr>
          <a:xfrm>
            <a:off x="3453681" y="3245873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47 279</a:t>
            </a:r>
            <a:endParaRPr lang="ru-RU" sz="1200"/>
          </a:p>
        </p:txBody>
      </p:sp>
      <p:sp>
        <p:nvSpPr>
          <p:cNvPr id="37" name="ADS label 37"/>
          <p:cNvSpPr txBox="1"/>
          <p:nvPr/>
        </p:nvSpPr>
        <p:spPr>
          <a:xfrm>
            <a:off x="5017304" y="3245873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595959"/>
                </a:solidFill>
                <a:latin typeface="Arial"/>
                <a:cs typeface="Arial"/>
              </a:rPr>
              <a:t>0%</a:t>
            </a:r>
            <a:endParaRPr lang="ru-RU" sz="1200"/>
          </a:p>
        </p:txBody>
      </p:sp>
      <p:sp>
        <p:nvSpPr>
          <p:cNvPr id="41" name="ADS label 41"/>
          <p:cNvSpPr txBox="1"/>
          <p:nvPr/>
        </p:nvSpPr>
        <p:spPr>
          <a:xfrm>
            <a:off x="438912" y="3611633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Разовые условия</a:t>
            </a:r>
            <a:endParaRPr lang="ru-RU" sz="1200"/>
          </a:p>
        </p:txBody>
      </p:sp>
      <p:sp>
        <p:nvSpPr>
          <p:cNvPr id="42" name="ADS label 42"/>
          <p:cNvSpPr txBox="1"/>
          <p:nvPr/>
        </p:nvSpPr>
        <p:spPr>
          <a:xfrm>
            <a:off x="3453681" y="3611633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13 061</a:t>
            </a:r>
            <a:endParaRPr lang="ru-RU" sz="1200"/>
          </a:p>
        </p:txBody>
      </p:sp>
      <p:sp>
        <p:nvSpPr>
          <p:cNvPr id="43" name="ADS chip 43"/>
          <p:cNvSpPr/>
          <p:nvPr/>
        </p:nvSpPr>
        <p:spPr>
          <a:xfrm>
            <a:off x="4860106" y="3712216"/>
            <a:ext cx="102334" cy="164592"/>
          </a:xfrm>
          <a:prstGeom prst="roundRect">
            <a:avLst>
              <a:gd name="adj" fmla="val 10000"/>
            </a:avLst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44" name="ADS label 44"/>
          <p:cNvSpPr txBox="1"/>
          <p:nvPr/>
        </p:nvSpPr>
        <p:spPr>
          <a:xfrm>
            <a:off x="5017304" y="3611633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595959"/>
                </a:solidFill>
                <a:latin typeface="Arial"/>
                <a:cs typeface="Arial"/>
              </a:rPr>
              <a:t>−7%</a:t>
            </a:r>
            <a:endParaRPr lang="ru-RU" sz="1200"/>
          </a:p>
        </p:txBody>
      </p:sp>
      <p:sp>
        <p:nvSpPr>
          <p:cNvPr id="48" name="ADS label 48"/>
          <p:cNvSpPr txBox="1"/>
          <p:nvPr/>
        </p:nvSpPr>
        <p:spPr>
          <a:xfrm>
            <a:off x="438912" y="3977393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Скидки</a:t>
            </a:r>
            <a:endParaRPr lang="ru-RU" sz="1200"/>
          </a:p>
        </p:txBody>
      </p:sp>
      <p:sp>
        <p:nvSpPr>
          <p:cNvPr id="49" name="ADS label 49"/>
          <p:cNvSpPr txBox="1"/>
          <p:nvPr/>
        </p:nvSpPr>
        <p:spPr>
          <a:xfrm>
            <a:off x="3453681" y="3977393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427</a:t>
            </a:r>
            <a:endParaRPr lang="ru-RU" sz="1200"/>
          </a:p>
        </p:txBody>
      </p:sp>
      <p:sp>
        <p:nvSpPr>
          <p:cNvPr id="50" name="ADS chip 50"/>
          <p:cNvSpPr/>
          <p:nvPr/>
        </p:nvSpPr>
        <p:spPr>
          <a:xfrm>
            <a:off x="4962441" y="4077977"/>
            <a:ext cx="410202" cy="164592"/>
          </a:xfrm>
          <a:prstGeom prst="roundRect">
            <a:avLst>
              <a:gd name="adj" fmla="val 10000"/>
            </a:avLst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51" name="ADS label 51"/>
          <p:cNvSpPr txBox="1"/>
          <p:nvPr/>
        </p:nvSpPr>
        <p:spPr>
          <a:xfrm>
            <a:off x="5427507" y="3977393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595959"/>
                </a:solidFill>
                <a:latin typeface="Arial"/>
                <a:cs typeface="Arial"/>
              </a:rPr>
              <a:t>+28%</a:t>
            </a:r>
            <a:endParaRPr lang="ru-RU" sz="1200"/>
          </a:p>
        </p:txBody>
      </p:sp>
      <p:sp>
        <p:nvSpPr>
          <p:cNvPr id="55" name="ADS label 55"/>
          <p:cNvSpPr txBox="1"/>
          <p:nvPr/>
        </p:nvSpPr>
        <p:spPr>
          <a:xfrm>
            <a:off x="438912" y="4343153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Бонусы от НЕ поставщиков</a:t>
            </a:r>
            <a:endParaRPr lang="ru-RU" sz="1200"/>
          </a:p>
        </p:txBody>
      </p:sp>
      <p:sp>
        <p:nvSpPr>
          <p:cNvPr id="56" name="ADS label 56"/>
          <p:cNvSpPr txBox="1"/>
          <p:nvPr/>
        </p:nvSpPr>
        <p:spPr>
          <a:xfrm>
            <a:off x="3453681" y="4343153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218</a:t>
            </a:r>
            <a:endParaRPr lang="ru-RU" sz="1200"/>
          </a:p>
        </p:txBody>
      </p:sp>
      <p:sp>
        <p:nvSpPr>
          <p:cNvPr id="57" name="ADS chip 57"/>
          <p:cNvSpPr/>
          <p:nvPr/>
        </p:nvSpPr>
        <p:spPr>
          <a:xfrm>
            <a:off x="4420132" y="4443737"/>
            <a:ext cx="542308" cy="164592"/>
          </a:xfrm>
          <a:prstGeom prst="roundRect">
            <a:avLst>
              <a:gd name="adj" fmla="val 10000"/>
            </a:avLst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58" name="ADS label 58"/>
          <p:cNvSpPr txBox="1"/>
          <p:nvPr/>
        </p:nvSpPr>
        <p:spPr>
          <a:xfrm>
            <a:off x="5017304" y="4343153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595959"/>
                </a:solidFill>
                <a:latin typeface="Arial"/>
                <a:cs typeface="Arial"/>
              </a:rPr>
              <a:t>−37%</a:t>
            </a:r>
            <a:endParaRPr lang="ru-RU" sz="1200"/>
          </a:p>
        </p:txBody>
      </p:sp>
      <p:sp>
        <p:nvSpPr>
          <p:cNvPr id="62" name="ADS chip 62"/>
          <p:cNvSpPr/>
          <p:nvPr/>
        </p:nvSpPr>
        <p:spPr>
          <a:xfrm>
            <a:off x="4957869" y="1846841"/>
            <a:ext cx="9144" cy="2862072"/>
          </a:xfrm>
          <a:prstGeom prst="roundRect">
            <a:avLst>
              <a:gd name="adj" fmla="val 10000"/>
            </a:avLst>
          </a:prstGeom>
          <a:solidFill>
            <a:srgbClr val="7F7F7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64" name="ADS chip 64"/>
          <p:cNvSpPr/>
          <p:nvPr/>
        </p:nvSpPr>
        <p:spPr>
          <a:xfrm>
            <a:off x="365759" y="4800353"/>
            <a:ext cx="6632151" cy="32918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65" name="ADS label 65"/>
          <p:cNvSpPr txBox="1"/>
          <p:nvPr/>
        </p:nvSpPr>
        <p:spPr>
          <a:xfrm>
            <a:off x="438912" y="4782065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Итого маркетинговые доходы</a:t>
            </a:r>
            <a:endParaRPr lang="ru-RU" sz="1200"/>
          </a:p>
        </p:txBody>
      </p:sp>
      <p:sp>
        <p:nvSpPr>
          <p:cNvPr id="66" name="ADS label 66"/>
          <p:cNvSpPr txBox="1"/>
          <p:nvPr/>
        </p:nvSpPr>
        <p:spPr>
          <a:xfrm>
            <a:off x="3453681" y="4782065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218 206</a:t>
            </a:r>
            <a:endParaRPr lang="ru-RU" sz="1200"/>
          </a:p>
        </p:txBody>
      </p:sp>
      <p:sp>
        <p:nvSpPr>
          <p:cNvPr id="67" name="ADS chip 67"/>
          <p:cNvSpPr/>
          <p:nvPr/>
        </p:nvSpPr>
        <p:spPr>
          <a:xfrm>
            <a:off x="4962441" y="4882649"/>
            <a:ext cx="120566" cy="164592"/>
          </a:xfrm>
          <a:prstGeom prst="roundRect">
            <a:avLst>
              <a:gd name="adj" fmla="val 10000"/>
            </a:avLst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68" name="ADS label 68"/>
          <p:cNvSpPr txBox="1"/>
          <p:nvPr/>
        </p:nvSpPr>
        <p:spPr>
          <a:xfrm>
            <a:off x="5137871" y="4782065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595959"/>
                </a:solidFill>
                <a:latin typeface="Arial"/>
                <a:cs typeface="Arial"/>
              </a:rPr>
              <a:t>+8%</a:t>
            </a:r>
            <a:endParaRPr lang="ru-RU" sz="1200"/>
          </a:p>
        </p:txBody>
      </p:sp>
      <p:sp>
        <p:nvSpPr>
          <p:cNvPr id="72" name="ADS label 72"/>
          <p:cNvSpPr txBox="1"/>
          <p:nvPr/>
        </p:nvSpPr>
        <p:spPr>
          <a:xfrm>
            <a:off x="438912" y="5147825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Доходы AdTech</a:t>
            </a:r>
            <a:endParaRPr lang="ru-RU" sz="1200"/>
          </a:p>
        </p:txBody>
      </p:sp>
      <p:sp>
        <p:nvSpPr>
          <p:cNvPr id="73" name="ADS label 73"/>
          <p:cNvSpPr txBox="1"/>
          <p:nvPr/>
        </p:nvSpPr>
        <p:spPr>
          <a:xfrm>
            <a:off x="3453681" y="5147825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6 399</a:t>
            </a:r>
            <a:endParaRPr lang="ru-RU" sz="1200"/>
          </a:p>
        </p:txBody>
      </p:sp>
      <p:sp>
        <p:nvSpPr>
          <p:cNvPr id="74" name="ADS chip 74"/>
          <p:cNvSpPr/>
          <p:nvPr/>
        </p:nvSpPr>
        <p:spPr>
          <a:xfrm>
            <a:off x="4962441" y="5248409"/>
            <a:ext cx="1325880" cy="164592"/>
          </a:xfrm>
          <a:prstGeom prst="roundRect">
            <a:avLst>
              <a:gd name="adj" fmla="val 10000"/>
            </a:avLst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75" name="ADS label 75"/>
          <p:cNvSpPr txBox="1"/>
          <p:nvPr/>
        </p:nvSpPr>
        <p:spPr>
          <a:xfrm>
            <a:off x="6343185" y="5147825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×11,8</a:t>
            </a:r>
            <a:endParaRPr lang="ru-RU" sz="1200"/>
          </a:p>
        </p:txBody>
      </p:sp>
      <p:sp>
        <p:nvSpPr>
          <p:cNvPr id="80" name="ADS card 80"/>
          <p:cNvSpPr/>
          <p:nvPr/>
        </p:nvSpPr>
        <p:spPr>
          <a:xfrm>
            <a:off x="7478668" y="1261625"/>
            <a:ext cx="4345032" cy="29810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81" name="ADS head 81"/>
          <p:cNvSpPr txBox="1"/>
          <p:nvPr/>
        </p:nvSpPr>
        <p:spPr>
          <a:xfrm>
            <a:off x="7661547" y="1362209"/>
            <a:ext cx="398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FF452C"/>
                </a:solidFill>
                <a:latin typeface="Arial"/>
                <a:cs typeface="Arial"/>
              </a:rPr>
              <a:t>Комментарий</a:t>
            </a:r>
            <a:endParaRPr lang="ru-RU" sz="1200"/>
          </a:p>
        </p:txBody>
      </p:sp>
      <p:sp>
        <p:nvSpPr>
          <p:cNvPr id="82" name="ADS thesis 82"/>
          <p:cNvSpPr txBox="1"/>
          <p:nvPr/>
        </p:nvSpPr>
        <p:spPr>
          <a:xfrm>
            <a:off x="7661547" y="1709681"/>
            <a:ext cx="3980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Рост дают только инструменты </a:t>
            </a:r>
            <a:b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</a:b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с измеримым эффектом</a:t>
            </a:r>
            <a:endParaRPr lang="ru-RU" sz="1200"/>
          </a:p>
        </p:txBody>
      </p:sp>
      <p:sp>
        <p:nvSpPr>
          <p:cNvPr id="83" name="ADS line 83"/>
          <p:cNvSpPr/>
          <p:nvPr/>
        </p:nvSpPr>
        <p:spPr>
          <a:xfrm>
            <a:off x="7661547" y="2176025"/>
            <a:ext cx="398000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84" name="ADS label 84"/>
          <p:cNvSpPr txBox="1"/>
          <p:nvPr/>
        </p:nvSpPr>
        <p:spPr>
          <a:xfrm>
            <a:off x="7661547" y="2249177"/>
            <a:ext cx="39800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Динамика 2026 г.</a:t>
            </a:r>
            <a:endParaRPr lang="ru-RU" sz="1200"/>
          </a:p>
        </p:txBody>
      </p:sp>
      <p:sp>
        <p:nvSpPr>
          <p:cNvPr id="85" name="ADS label 85"/>
          <p:cNvSpPr txBox="1"/>
          <p:nvPr/>
        </p:nvSpPr>
        <p:spPr>
          <a:xfrm>
            <a:off x="7661547" y="2505209"/>
            <a:ext cx="39800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>
                <a:solidFill>
                  <a:srgbClr val="FF452C"/>
                </a:solidFill>
                <a:latin typeface="Arial"/>
                <a:cs typeface="Arial"/>
              </a:rPr>
              <a:t>85%</a:t>
            </a:r>
            <a:endParaRPr lang="ru-RU" sz="1200"/>
          </a:p>
        </p:txBody>
      </p:sp>
      <p:sp>
        <p:nvSpPr>
          <p:cNvPr id="86" name="ADS label 86"/>
          <p:cNvSpPr txBox="1"/>
          <p:nvPr/>
        </p:nvSpPr>
        <p:spPr>
          <a:xfrm>
            <a:off x="7661547" y="2861825"/>
            <a:ext cx="39800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595959"/>
                </a:solidFill>
                <a:latin typeface="Arial"/>
                <a:cs typeface="Arial"/>
              </a:rPr>
              <a:t>прироста маркетинговых доходов за 9м дают маркетинг, где размещается выручка </a:t>
            </a:r>
            <a:r>
              <a:rPr lang="en-US" sz="900" b="0">
                <a:solidFill>
                  <a:srgbClr val="595959"/>
                </a:solidFill>
                <a:latin typeface="Arial"/>
                <a:cs typeface="Arial"/>
              </a:rPr>
              <a:t>AdTech</a:t>
            </a:r>
            <a:endParaRPr lang="ru-RU" sz="1200"/>
          </a:p>
        </p:txBody>
      </p:sp>
      <p:sp>
        <p:nvSpPr>
          <p:cNvPr id="89" name="ADS label 89"/>
          <p:cNvSpPr txBox="1"/>
          <p:nvPr/>
        </p:nvSpPr>
        <p:spPr>
          <a:xfrm>
            <a:off x="7661547" y="3309881"/>
            <a:ext cx="39800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>
                <a:solidFill>
                  <a:srgbClr val="FF452C"/>
                </a:solidFill>
                <a:latin typeface="Arial"/>
                <a:cs typeface="Arial"/>
              </a:rPr>
              <a:t>−7…+3%</a:t>
            </a:r>
            <a:endParaRPr lang="ru-RU" sz="1200"/>
          </a:p>
        </p:txBody>
      </p:sp>
      <p:sp>
        <p:nvSpPr>
          <p:cNvPr id="90" name="ADS label 90"/>
          <p:cNvSpPr txBox="1"/>
          <p:nvPr/>
        </p:nvSpPr>
        <p:spPr>
          <a:xfrm>
            <a:off x="7661547" y="3666497"/>
            <a:ext cx="39800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595959"/>
                </a:solidFill>
                <a:latin typeface="Arial"/>
                <a:cs typeface="Arial"/>
              </a:rPr>
              <a:t>динамика сегментов без AdTech за 9м: премии +3%, промо 0%, разовые условия −7%</a:t>
            </a:r>
            <a:endParaRPr lang="ru-RU" sz="1200"/>
          </a:p>
        </p:txBody>
      </p:sp>
      <p:cxnSp>
        <p:nvCxnSpPr>
          <p:cNvPr id="99" name="Прямая соединительная линия 98">
            <a:extLst>
              <a:ext uri="{FF2B5EF4-FFF2-40B4-BE49-F238E27FC236}">
                <a16:creationId xmlns:a16="http://schemas.microsoft.com/office/drawing/2014/main" id="{B84FACF7-0DCB-8F57-FD8C-75DD4C4DFDD5}"/>
              </a:ext>
            </a:extLst>
          </p:cNvPr>
          <p:cNvCxnSpPr>
            <a:cxnSpLocks/>
          </p:cNvCxnSpPr>
          <p:nvPr/>
        </p:nvCxnSpPr>
        <p:spPr>
          <a:xfrm>
            <a:off x="365760" y="1526801"/>
            <a:ext cx="67802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3">
            <a:extLst>
              <a:ext uri="{FF2B5EF4-FFF2-40B4-BE49-F238E27FC236}">
                <a16:creationId xmlns:a16="http://schemas.microsoft.com/office/drawing/2014/main" id="{76464562-93C9-46F2-BCFD-62F0C810A8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F2AE68-28B4-4B40-8AA4-3365A0AE6865}" type="slidenum">
              <a:rPr lang="ru-RU" kumimoji="0" sz="900" b="0" i="0" u="none" strike="noStrike" kern="1200" cap="none" spc="0" normalizeH="0" baseline="0" smtClean="0">
                <a:solidFill>
                  <a:srgbClr val="000000"/>
                </a:solidFill>
                <a:latin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lang="ru-RU" kumimoji="0" sz="900" b="0" i="0" u="none" strike="noStrike" kern="1200" cap="none" spc="0" normalizeH="0" baseline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2D1E39AE-6C75-4FDA-AD5B-E8CD145491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8300" y="228600"/>
            <a:ext cx="10591800" cy="660400"/>
          </a:xfrm>
        </p:spPr>
        <p:txBody>
          <a:bodyPr anchor="t">
            <a:normAutofit/>
          </a:bodyPr>
          <a:lstStyle/>
          <a:p>
            <a:r>
              <a:rPr lang="ru-RU" sz="2400" b="1">
                <a:solidFill>
                  <a:srgbClr val="000000"/>
                </a:solidFill>
                <a:latin typeface="+mj-lt"/>
              </a:rPr>
              <a:t>Динамика численности и ФОТ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4115025-E8F5-4941-B7CE-B777ED01DB7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25600" y="6311900"/>
            <a:ext cx="8890000" cy="342900"/>
          </a:xfrm>
        </p:spPr>
        <p:txBody>
          <a:bodyPr lIns="0" tIns="0"/>
          <a:lstStyle/>
          <a:p>
            <a:pPr>
              <a:spcBef>
                <a:spcPts val="1000"/>
              </a:spcBef>
            </a:pPr>
            <a:r>
              <a:rPr lang="ru-RU" sz="900">
                <a:solidFill>
                  <a:srgbClr val="6E6E6E"/>
                </a:solidFill>
                <a:latin typeface="+mn-lt"/>
              </a:rPr>
              <a:t>1 – </a:t>
            </a:r>
            <a:r>
              <a:rPr lang="en-US" sz="900">
                <a:solidFill>
                  <a:srgbClr val="6E6E6E"/>
                </a:solidFill>
                <a:latin typeface="+mn-lt"/>
              </a:rPr>
              <a:t>CC</a:t>
            </a:r>
            <a:r>
              <a:rPr lang="ru-RU" sz="900">
                <a:solidFill>
                  <a:srgbClr val="6E6E6E"/>
                </a:solidFill>
                <a:latin typeface="+mn-lt"/>
              </a:rPr>
              <a:t>Ч, включает % текучести кадров     2 - Базовый доход E-ком, учтенный в бюджете ФТ 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86A7F3-D771-4253-81CC-F6D2A10E6516}"/>
              </a:ext>
            </a:extLst>
          </p:cNvPr>
          <p:cNvSpPr txBox="1"/>
          <p:nvPr/>
        </p:nvSpPr>
        <p:spPr>
          <a:xfrm>
            <a:off x="389028" y="4689463"/>
            <a:ext cx="11397541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Core </a:t>
            </a:r>
            <a:r>
              <a:rPr lang="ru-RU" sz="1200">
                <a:solidFill>
                  <a:prstClr val="black"/>
                </a:solidFill>
                <a:latin typeface="Arial"/>
              </a:rPr>
              <a:t>РЕХ 2027 года ниже стратегии на 38 млн в результате снижения стоимости по новым вакансиям и перераспределения ресурсов между функциями: фактическая потребность сместилась в сторону non-tech с более низкооплачиваемыми ставками, при этом найм в tech скорректирован в меньшую сторону</a:t>
            </a:r>
            <a:endParaRPr lang="ru-RU" sz="1200">
              <a:solidFill>
                <a:prstClr val="black"/>
              </a:solidFill>
              <a:latin typeface="Arial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>
                <a:solidFill>
                  <a:prstClr val="black"/>
                </a:solidFill>
                <a:latin typeface="Arial"/>
              </a:rPr>
              <a:t>Project</a:t>
            </a:r>
            <a:r>
              <a:rPr lang="ru-RU" sz="1200">
                <a:solidFill>
                  <a:prstClr val="black"/>
                </a:solidFill>
                <a:latin typeface="Arial"/>
              </a:rPr>
              <a:t> «Платформа монетизации данных» перенесен из центрального маркетинга в контур </a:t>
            </a:r>
            <a:r>
              <a:rPr lang="en-US" sz="1200">
                <a:solidFill>
                  <a:prstClr val="black"/>
                </a:solidFill>
                <a:latin typeface="Arial"/>
              </a:rPr>
              <a:t>AdTech </a:t>
            </a:r>
            <a:r>
              <a:rPr lang="ru-RU" sz="1200">
                <a:solidFill>
                  <a:prstClr val="black"/>
                </a:solidFill>
                <a:latin typeface="Arial"/>
              </a:rPr>
              <a:t>с 2027 г. (</a:t>
            </a:r>
            <a:r>
              <a:rPr lang="en-US" sz="1200">
                <a:solidFill>
                  <a:prstClr val="black"/>
                </a:solidFill>
                <a:latin typeface="Arial"/>
              </a:rPr>
              <a:t>PEX </a:t>
            </a:r>
            <a:r>
              <a:rPr lang="ru-RU" sz="1200">
                <a:solidFill>
                  <a:prstClr val="black"/>
                </a:solidFill>
                <a:latin typeface="Arial"/>
              </a:rPr>
              <a:t>бюджет 48 млн </a:t>
            </a: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руб., </a:t>
            </a:r>
            <a:r>
              <a:rPr lang="en-US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FTE 10 </a:t>
            </a: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чел.). Требуется дополнительное согласование переноса </a:t>
            </a: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таргета</a:t>
            </a: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(сейчас указан в ЦМ)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Рост производительности персонала с </a:t>
            </a:r>
            <a:r>
              <a:rPr lang="ru-RU" kumimoji="0" sz="12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34</a:t>
            </a: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млн руб./чел. до </a:t>
            </a:r>
            <a:r>
              <a:rPr lang="ru-RU" kumimoji="0" sz="12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39</a:t>
            </a: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млн руб./чел.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DECF24CD-963F-426C-892C-EAB8D0CEDA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9719270"/>
              </p:ext>
            </p:extLst>
          </p:nvPr>
        </p:nvGraphicFramePr>
        <p:xfrm>
          <a:off x="697281" y="889000"/>
          <a:ext cx="10117464" cy="3598330"/>
        </p:xfrm>
        <a:graphic>
          <a:graphicData uri="http://schemas.openxmlformats.org/drawingml/2006/table">
            <a:tbl>
              <a:tblPr/>
              <a:tblGrid>
                <a:gridCol w="1002278">
                  <a:extLst>
                    <a:ext uri="{9D8B030D-6E8A-4147-A177-3AD203B41FA5}">
                      <a16:colId xmlns:a16="http://schemas.microsoft.com/office/drawing/2014/main" val="4219734060"/>
                    </a:ext>
                  </a:extLst>
                </a:gridCol>
                <a:gridCol w="1002278">
                  <a:extLst>
                    <a:ext uri="{9D8B030D-6E8A-4147-A177-3AD203B41FA5}">
                      <a16:colId xmlns:a16="http://schemas.microsoft.com/office/drawing/2014/main" val="2161084247"/>
                    </a:ext>
                  </a:extLst>
                </a:gridCol>
                <a:gridCol w="678963">
                  <a:extLst>
                    <a:ext uri="{9D8B030D-6E8A-4147-A177-3AD203B41FA5}">
                      <a16:colId xmlns:a16="http://schemas.microsoft.com/office/drawing/2014/main" val="3409259298"/>
                    </a:ext>
                  </a:extLst>
                </a:gridCol>
                <a:gridCol w="111571">
                  <a:extLst>
                    <a:ext uri="{9D8B030D-6E8A-4147-A177-3AD203B41FA5}">
                      <a16:colId xmlns:a16="http://schemas.microsoft.com/office/drawing/2014/main" val="2314202485"/>
                    </a:ext>
                  </a:extLst>
                </a:gridCol>
                <a:gridCol w="872953">
                  <a:extLst>
                    <a:ext uri="{9D8B030D-6E8A-4147-A177-3AD203B41FA5}">
                      <a16:colId xmlns:a16="http://schemas.microsoft.com/office/drawing/2014/main" val="3075667101"/>
                    </a:ext>
                  </a:extLst>
                </a:gridCol>
                <a:gridCol w="112617">
                  <a:extLst>
                    <a:ext uri="{9D8B030D-6E8A-4147-A177-3AD203B41FA5}">
                      <a16:colId xmlns:a16="http://schemas.microsoft.com/office/drawing/2014/main" val="3957536072"/>
                    </a:ext>
                  </a:extLst>
                </a:gridCol>
                <a:gridCol w="872953">
                  <a:extLst>
                    <a:ext uri="{9D8B030D-6E8A-4147-A177-3AD203B41FA5}">
                      <a16:colId xmlns:a16="http://schemas.microsoft.com/office/drawing/2014/main" val="4257973937"/>
                    </a:ext>
                  </a:extLst>
                </a:gridCol>
                <a:gridCol w="872953">
                  <a:extLst>
                    <a:ext uri="{9D8B030D-6E8A-4147-A177-3AD203B41FA5}">
                      <a16:colId xmlns:a16="http://schemas.microsoft.com/office/drawing/2014/main" val="102963320"/>
                    </a:ext>
                  </a:extLst>
                </a:gridCol>
                <a:gridCol w="872953">
                  <a:extLst>
                    <a:ext uri="{9D8B030D-6E8A-4147-A177-3AD203B41FA5}">
                      <a16:colId xmlns:a16="http://schemas.microsoft.com/office/drawing/2014/main" val="3516853602"/>
                    </a:ext>
                  </a:extLst>
                </a:gridCol>
                <a:gridCol w="112696">
                  <a:extLst>
                    <a:ext uri="{9D8B030D-6E8A-4147-A177-3AD203B41FA5}">
                      <a16:colId xmlns:a16="http://schemas.microsoft.com/office/drawing/2014/main" val="1905267272"/>
                    </a:ext>
                  </a:extLst>
                </a:gridCol>
                <a:gridCol w="872953">
                  <a:extLst>
                    <a:ext uri="{9D8B030D-6E8A-4147-A177-3AD203B41FA5}">
                      <a16:colId xmlns:a16="http://schemas.microsoft.com/office/drawing/2014/main" val="87710683"/>
                    </a:ext>
                  </a:extLst>
                </a:gridCol>
                <a:gridCol w="872953">
                  <a:extLst>
                    <a:ext uri="{9D8B030D-6E8A-4147-A177-3AD203B41FA5}">
                      <a16:colId xmlns:a16="http://schemas.microsoft.com/office/drawing/2014/main" val="3732715567"/>
                    </a:ext>
                  </a:extLst>
                </a:gridCol>
                <a:gridCol w="113437">
                  <a:extLst>
                    <a:ext uri="{9D8B030D-6E8A-4147-A177-3AD203B41FA5}">
                      <a16:colId xmlns:a16="http://schemas.microsoft.com/office/drawing/2014/main" val="1980540990"/>
                    </a:ext>
                  </a:extLst>
                </a:gridCol>
                <a:gridCol w="872953">
                  <a:extLst>
                    <a:ext uri="{9D8B030D-6E8A-4147-A177-3AD203B41FA5}">
                      <a16:colId xmlns:a16="http://schemas.microsoft.com/office/drawing/2014/main" val="3930230657"/>
                    </a:ext>
                  </a:extLst>
                </a:gridCol>
                <a:gridCol w="872953">
                  <a:extLst>
                    <a:ext uri="{9D8B030D-6E8A-4147-A177-3AD203B41FA5}">
                      <a16:colId xmlns:a16="http://schemas.microsoft.com/office/drawing/2014/main" val="1034041584"/>
                    </a:ext>
                  </a:extLst>
                </a:gridCol>
              </a:tblGrid>
              <a:tr h="394003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Блок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Метрика</a:t>
                      </a:r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Ед. изм.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2025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BU</a:t>
                      </a:r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2026 </a:t>
                      </a:r>
                      <a:b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сен’26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FC (9+3) </a:t>
                      </a:r>
                      <a:b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2026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RR 2027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BU 2027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Δ </a:t>
                      </a: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BU’27 vs </a:t>
                      </a:r>
                      <a:b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FC (9+3)’26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Стратегия</a:t>
                      </a:r>
                      <a:b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’27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Δ </a:t>
                      </a: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BU’27 vs </a:t>
                      </a:r>
                      <a:b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стратегия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068052"/>
                  </a:ext>
                </a:extLst>
              </a:tr>
              <a:tr h="337053">
                <a:tc rowSpan="2"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Core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РЕХ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млн руб.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536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1 488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1 348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1 658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1 947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599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1 985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>
                          <a:solidFill>
                            <a:srgbClr val="00B050"/>
                          </a:solidFill>
                          <a:effectLst/>
                          <a:latin typeface="Arial" panose="00000500000000000000" pitchFamily="2" charset="-52"/>
                        </a:rPr>
                        <a:t>-38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32812905"/>
                  </a:ext>
                </a:extLst>
              </a:tr>
              <a:tr h="337053">
                <a:tc vMerge="1">
                  <a:txBody>
                    <a:bodyPr/>
                    <a:lstStyle/>
                    <a:p>
                      <a:pPr algn="l" fontAlgn="b"/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FTE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0" i="0" u="none" strike="noStrike" baseline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чел.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167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313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312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365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53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64618145"/>
                  </a:ext>
                </a:extLst>
              </a:tr>
              <a:tr h="337053">
                <a:tc rowSpan="2"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Project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РЕХ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млн руб.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48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48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76940217"/>
                  </a:ext>
                </a:extLst>
              </a:tr>
              <a:tr h="337053">
                <a:tc vMerge="1">
                  <a:txBody>
                    <a:bodyPr/>
                    <a:lstStyle/>
                    <a:p>
                      <a:pPr algn="l" fontAlgn="b"/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FTE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0" i="0" u="none" strike="noStrike" baseline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чел.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1554354"/>
                  </a:ext>
                </a:extLst>
              </a:tr>
              <a:tr h="337053">
                <a:tc rowSpan="5"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РЕХ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млн руб.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536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1 488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1 348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1 658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1 995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647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1 985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670946"/>
                  </a:ext>
                </a:extLst>
              </a:tr>
              <a:tr h="337053">
                <a:tc vMerge="1">
                  <a:txBody>
                    <a:bodyPr/>
                    <a:lstStyle/>
                    <a:p>
                      <a:pPr algn="l" fontAlgn="b"/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FTE</a:t>
                      </a:r>
                      <a:r>
                        <a:rPr lang="en-US" sz="1050" b="1" i="0" u="none" strike="noStrike" baseline="300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0" i="0" u="none" strike="noStrike" baseline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чел.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167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313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312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375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63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269883"/>
                  </a:ext>
                </a:extLst>
              </a:tr>
              <a:tr h="394003">
                <a:tc vMerge="1">
                  <a:txBody>
                    <a:bodyPr/>
                    <a:lstStyle/>
                    <a:p>
                      <a:pPr algn="l" fontAlgn="b"/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AdTech </a:t>
                      </a:r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выручка</a:t>
                      </a:r>
                      <a:r>
                        <a:rPr lang="ru-RU" sz="1050" b="1" i="0" u="none" strike="noStrike" baseline="300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0" i="0" u="none" strike="noStrike" baseline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млн руб.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1 721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9 837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10 543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14 566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38%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584560"/>
                  </a:ext>
                </a:extLst>
              </a:tr>
              <a:tr h="394003">
                <a:tc vMerge="1">
                  <a:txBody>
                    <a:bodyPr/>
                    <a:lstStyle/>
                    <a:p>
                      <a:pPr algn="l" fontAlgn="b"/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Доля </a:t>
                      </a: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PEX </a:t>
                      </a:r>
                      <a:b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в выручке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31%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15%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13%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14%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0000500000000000000" pitchFamily="2" charset="-52"/>
                          <a:ea typeface="+mn-ea"/>
                          <a:cs typeface="+mn-cs"/>
                        </a:rPr>
                        <a:t>+1 п.п.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3759599"/>
                  </a:ext>
                </a:extLst>
              </a:tr>
              <a:tr h="394003">
                <a:tc vMerge="1">
                  <a:txBody>
                    <a:bodyPr/>
                    <a:lstStyle/>
                    <a:p>
                      <a:pPr algn="l" fontAlgn="b"/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3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Произв-ть, выручка/FTE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3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/>
                        <a:t>млн руб./чел.</a:t>
                      </a:r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31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34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39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 kern="1200">
                          <a:solidFill>
                            <a:srgbClr val="00B050"/>
                          </a:solidFill>
                          <a:effectLst/>
                          <a:latin typeface="Arial" panose="00000500000000000000" pitchFamily="2" charset="-52"/>
                          <a:ea typeface="+mn-ea"/>
                          <a:cs typeface="+mn-cs"/>
                        </a:rPr>
                        <a:t>+5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600345"/>
                  </a:ext>
                </a:extLst>
              </a:tr>
            </a:tbl>
          </a:graphicData>
        </a:graphic>
      </p:graphicFrame>
      <p:sp>
        <p:nvSpPr>
          <p:cNvPr id="14" name="Прямоугольник: скругленные верхние углы 13">
            <a:extLst>
              <a:ext uri="{FF2B5EF4-FFF2-40B4-BE49-F238E27FC236}">
                <a16:creationId xmlns:a16="http://schemas.microsoft.com/office/drawing/2014/main" id="{D47FE19D-9885-4346-8347-64565053480D}"/>
              </a:ext>
            </a:extLst>
          </p:cNvPr>
          <p:cNvSpPr/>
          <p:nvPr/>
        </p:nvSpPr>
        <p:spPr>
          <a:xfrm rot="16200000">
            <a:off x="-146904" y="1800686"/>
            <a:ext cx="1341583" cy="288000"/>
          </a:xfrm>
          <a:prstGeom prst="round2SameRect">
            <a:avLst>
              <a:gd name="adj1" fmla="val 35366"/>
              <a:gd name="adj2" fmla="val 0"/>
            </a:avLst>
          </a:prstGeom>
          <a:solidFill>
            <a:srgbClr val="E4E4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wrap="none" lIns="90000" tIns="36000" bIns="54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kumimoji="0" sz="11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Admin</a:t>
            </a:r>
          </a:p>
        </p:txBody>
      </p:sp>
    </p:spTree>
    <p:extLst>
      <p:ext uri="{BB962C8B-B14F-4D97-AF65-F5344CB8AC3E}">
        <p14:creationId xmlns:p14="http://schemas.microsoft.com/office/powerpoint/2010/main" val="31104492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ECD4A-6790-518A-36F9-8C8E8596E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FD965DCD-95E6-ABCF-EA8A-790F4385AA1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95" imgH="394" progId="TCLayout.ActiveDocument.1">
                  <p:embed/>
                </p:oleObj>
              </mc:Choice>
              <mc:Fallback>
                <p:oleObj name="think-cell Slide" r:id="rId8" imgW="395" imgH="39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D965DCD-95E6-ABCF-EA8A-790F4385AA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A850837-87DD-6483-24BD-DFC150747D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D41D6-7756-D84E-A787-9DAD2BF0F149}" type="slidenum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816E61E-1CB0-D0BE-6FF1-8F909D71E2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FTE</a:t>
            </a:r>
            <a:r>
              <a:rPr lang="ru-RU"/>
              <a:t>: рост производительности и снижение потенциального роста численности</a:t>
            </a:r>
          </a:p>
          <a:p>
            <a:endParaRPr lang="ru-RU"/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AC67F1E7-DA9C-9FB7-74E7-34149194BA95}"/>
              </a:ext>
            </a:extLst>
          </p:cNvPr>
          <p:cNvGraphicFramePr>
            <a:graphicFrameLocks noGrp="1"/>
          </p:cNvGraphicFramePr>
          <p:nvPr/>
        </p:nvGraphicFramePr>
        <p:xfrm>
          <a:off x="364176" y="974798"/>
          <a:ext cx="5641133" cy="747124"/>
        </p:xfrm>
        <a:graphic>
          <a:graphicData uri="http://schemas.openxmlformats.org/drawingml/2006/table">
            <a:tbl>
              <a:tblPr/>
              <a:tblGrid>
                <a:gridCol w="1005444">
                  <a:extLst>
                    <a:ext uri="{9D8B030D-6E8A-4147-A177-3AD203B41FA5}">
                      <a16:colId xmlns:a16="http://schemas.microsoft.com/office/drawing/2014/main" val="2161084247"/>
                    </a:ext>
                  </a:extLst>
                </a:gridCol>
                <a:gridCol w="681107">
                  <a:extLst>
                    <a:ext uri="{9D8B030D-6E8A-4147-A177-3AD203B41FA5}">
                      <a16:colId xmlns:a16="http://schemas.microsoft.com/office/drawing/2014/main" val="3409259298"/>
                    </a:ext>
                  </a:extLst>
                </a:gridCol>
                <a:gridCol w="111923">
                  <a:extLst>
                    <a:ext uri="{9D8B030D-6E8A-4147-A177-3AD203B41FA5}">
                      <a16:colId xmlns:a16="http://schemas.microsoft.com/office/drawing/2014/main" val="2314202485"/>
                    </a:ext>
                  </a:extLst>
                </a:gridCol>
                <a:gridCol w="875710">
                  <a:extLst>
                    <a:ext uri="{9D8B030D-6E8A-4147-A177-3AD203B41FA5}">
                      <a16:colId xmlns:a16="http://schemas.microsoft.com/office/drawing/2014/main" val="3075667101"/>
                    </a:ext>
                  </a:extLst>
                </a:gridCol>
                <a:gridCol w="112972">
                  <a:extLst>
                    <a:ext uri="{9D8B030D-6E8A-4147-A177-3AD203B41FA5}">
                      <a16:colId xmlns:a16="http://schemas.microsoft.com/office/drawing/2014/main" val="3957536072"/>
                    </a:ext>
                  </a:extLst>
                </a:gridCol>
                <a:gridCol w="875710">
                  <a:extLst>
                    <a:ext uri="{9D8B030D-6E8A-4147-A177-3AD203B41FA5}">
                      <a16:colId xmlns:a16="http://schemas.microsoft.com/office/drawing/2014/main" val="102963320"/>
                    </a:ext>
                  </a:extLst>
                </a:gridCol>
                <a:gridCol w="113052">
                  <a:extLst>
                    <a:ext uri="{9D8B030D-6E8A-4147-A177-3AD203B41FA5}">
                      <a16:colId xmlns:a16="http://schemas.microsoft.com/office/drawing/2014/main" val="1905267272"/>
                    </a:ext>
                  </a:extLst>
                </a:gridCol>
                <a:gridCol w="875710">
                  <a:extLst>
                    <a:ext uri="{9D8B030D-6E8A-4147-A177-3AD203B41FA5}">
                      <a16:colId xmlns:a16="http://schemas.microsoft.com/office/drawing/2014/main" val="87710683"/>
                    </a:ext>
                  </a:extLst>
                </a:gridCol>
                <a:gridCol w="875710">
                  <a:extLst>
                    <a:ext uri="{9D8B030D-6E8A-4147-A177-3AD203B41FA5}">
                      <a16:colId xmlns:a16="http://schemas.microsoft.com/office/drawing/2014/main" val="3732715567"/>
                    </a:ext>
                  </a:extLst>
                </a:gridCol>
                <a:gridCol w="113795">
                  <a:extLst>
                    <a:ext uri="{9D8B030D-6E8A-4147-A177-3AD203B41FA5}">
                      <a16:colId xmlns:a16="http://schemas.microsoft.com/office/drawing/2014/main" val="1980540990"/>
                    </a:ext>
                  </a:extLst>
                </a:gridCol>
              </a:tblGrid>
              <a:tr h="373562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Метрика</a:t>
                      </a:r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Ед. изм.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FC (</a:t>
                      </a: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9+3</a:t>
                      </a: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 </a:t>
                      </a:r>
                      <a:b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2026</a:t>
                      </a:r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 </a:t>
                      </a: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Δ</a:t>
                      </a:r>
                      <a:r>
                        <a:rPr lang="en-US" sz="105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BU’27 vs </a:t>
                      </a:r>
                      <a:b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FC (</a:t>
                      </a: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</a:t>
                      </a: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)’26</a:t>
                      </a:r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068052"/>
                  </a:ext>
                </a:extLst>
              </a:tr>
              <a:tr h="373562">
                <a:tc>
                  <a:txBody>
                    <a:bodyPr/>
                    <a:lstStyle/>
                    <a:p>
                      <a:pPr marL="0" marR="0" lvl="0" indent="0" algn="l" defTabSz="60963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Произв-ть</a:t>
                      </a:r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выручка/FTE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3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млн руб./чел.</a:t>
                      </a:r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34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39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 kern="120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+5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33600345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D9CBC0F6-8F4C-8D47-36E9-04074D486612}"/>
              </a:ext>
            </a:extLst>
          </p:cNvPr>
          <p:cNvSpPr txBox="1"/>
          <p:nvPr/>
        </p:nvSpPr>
        <p:spPr>
          <a:xfrm>
            <a:off x="6287452" y="907717"/>
            <a:ext cx="5297485" cy="472437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400" b="1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/>
                <a:sym typeface="Arial"/>
              </a:rPr>
              <a:t>Комментарии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lvl="0" indent="-265113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ru-RU" kumimoji="0" sz="110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Рост производительности на 1 </a:t>
            </a:r>
            <a:r>
              <a:rPr lang="ru-RU" sz="1100" kern="0">
                <a:solidFill>
                  <a:srgbClr val="000000"/>
                </a:solidFill>
                <a:ea typeface="Montserrat"/>
                <a:cs typeface="Arial" panose="020B0604020202020204" pitchFamily="34" charset="0"/>
                <a:sym typeface="Montserrat"/>
              </a:rPr>
              <a:t>сотрудника растет на </a:t>
            </a:r>
            <a:r>
              <a:rPr lang="ru-RU" sz="1100" kern="0">
                <a:solidFill>
                  <a:srgbClr val="000000"/>
                </a:solidFill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5</a:t>
            </a:r>
            <a:r>
              <a:rPr lang="ru-RU" kumimoji="0" sz="110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 млн</a:t>
            </a:r>
          </a:p>
          <a:p>
            <a:pPr marL="265113" lvl="0" indent="-265113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ru-RU" sz="1100" kern="0">
                <a:solidFill>
                  <a:srgbClr val="000000"/>
                </a:solidFill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Б</a:t>
            </a:r>
            <a:r>
              <a:rPr lang="ru-RU" kumimoji="0" sz="110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ез оптимизации процессов и </a:t>
            </a:r>
            <a:r>
              <a:rPr lang="ru-RU" sz="1100" kern="0">
                <a:solidFill>
                  <a:srgbClr val="000000"/>
                </a:solidFill>
                <a:ea typeface="Montserrat"/>
                <a:cs typeface="Arial" panose="020B0604020202020204" pitchFamily="34" charset="0"/>
                <a:sym typeface="Montserrat"/>
              </a:rPr>
              <a:t>повышения производительности </a:t>
            </a:r>
            <a:r>
              <a:rPr lang="ru-RU" sz="1100" b="1" kern="0">
                <a:solidFill>
                  <a:srgbClr val="000000"/>
                </a:solidFill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потенциальный рост</a:t>
            </a:r>
            <a:r>
              <a:rPr lang="ru-RU" kumimoji="0" sz="11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 оцениваем +128 </a:t>
            </a:r>
            <a:r>
              <a:rPr lang="en-US" kumimoji="0" sz="11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FTE</a:t>
            </a:r>
            <a:r>
              <a:rPr lang="ru-RU" kumimoji="0" sz="11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 в 2027</a:t>
            </a:r>
            <a:r>
              <a:rPr lang="ru-RU" kumimoji="0" sz="110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, вместо 53:</a:t>
            </a:r>
          </a:p>
          <a:p>
            <a:pPr marL="722313" lvl="1" indent="-265113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ru-RU" sz="1100" kern="0">
                <a:solidFill>
                  <a:srgbClr val="000000"/>
                </a:solidFill>
                <a:cs typeface="Arial" panose="020B0604020202020204" pitchFamily="34" charset="0"/>
                <a:sym typeface="Montserrat"/>
              </a:rPr>
              <a:t>в </a:t>
            </a:r>
            <a:r>
              <a:rPr lang="en-US" sz="1100" kern="0">
                <a:solidFill>
                  <a:srgbClr val="000000"/>
                </a:solidFill>
                <a:cs typeface="Arial" panose="020B0604020202020204" pitchFamily="34" charset="0"/>
                <a:sym typeface="Montserrat"/>
              </a:rPr>
              <a:t>tech </a:t>
            </a:r>
            <a:r>
              <a:rPr lang="ru-RU" sz="1100" kern="0">
                <a:solidFill>
                  <a:srgbClr val="000000"/>
                </a:solidFill>
                <a:latin typeface="Arial" panose="020B0604020202020204"/>
                <a:cs typeface="Arial" panose="020B0604020202020204" pitchFamily="34" charset="0"/>
                <a:sym typeface="Montserrat"/>
              </a:rPr>
              <a:t>оцениваем уменьшение на </a:t>
            </a:r>
            <a:r>
              <a:rPr lang="ru-RU" kumimoji="0" sz="110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 pitchFamily="34" charset="0"/>
                <a:sym typeface="Montserrat"/>
              </a:rPr>
              <a:t>3</a:t>
            </a:r>
            <a:r>
              <a:rPr lang="ru-RU" kumimoji="0" sz="110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 pitchFamily="34" charset="0"/>
                <a:sym typeface="Montserrat"/>
              </a:rPr>
              <a:t>6</a:t>
            </a:r>
            <a:r>
              <a:rPr lang="en-US" kumimoji="0" sz="110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 pitchFamily="34" charset="0"/>
                <a:sym typeface="Montserrat"/>
              </a:rPr>
              <a:t> FTE</a:t>
            </a:r>
            <a:r>
              <a:rPr lang="ru-RU" kumimoji="0" sz="110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 pitchFamily="34" charset="0"/>
                <a:sym typeface="Montserrat"/>
              </a:rPr>
              <a:t> </a:t>
            </a:r>
          </a:p>
          <a:p>
            <a:pPr marL="722313" lvl="1" indent="-265113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ru-RU" sz="1100" kern="0">
                <a:solidFill>
                  <a:srgbClr val="000000"/>
                </a:solidFill>
                <a:cs typeface="Arial" panose="020B0604020202020204" pitchFamily="34" charset="0"/>
                <a:sym typeface="Montserrat"/>
              </a:rPr>
              <a:t>в </a:t>
            </a:r>
            <a:r>
              <a:rPr lang="en-US" sz="1100" kern="0">
                <a:solidFill>
                  <a:srgbClr val="000000"/>
                </a:solidFill>
                <a:cs typeface="Arial" panose="020B0604020202020204" pitchFamily="34" charset="0"/>
                <a:sym typeface="Montserrat"/>
              </a:rPr>
              <a:t>non-tech</a:t>
            </a:r>
            <a:r>
              <a:rPr lang="ru-RU" sz="1100" kern="0">
                <a:solidFill>
                  <a:srgbClr val="000000"/>
                </a:solidFill>
                <a:cs typeface="Arial" panose="020B0604020202020204" pitchFamily="34" charset="0"/>
                <a:sym typeface="Montserrat"/>
              </a:rPr>
              <a:t> - 39</a:t>
            </a:r>
            <a:r>
              <a:rPr lang="en-US" sz="1100" kern="0">
                <a:solidFill>
                  <a:srgbClr val="000000"/>
                </a:solidFill>
                <a:cs typeface="Arial" panose="020B0604020202020204" pitchFamily="34" charset="0"/>
                <a:sym typeface="Montserrat"/>
              </a:rPr>
              <a:t> FTE</a:t>
            </a:r>
            <a:r>
              <a:rPr lang="ru-RU" sz="1100" kern="0">
                <a:solidFill>
                  <a:srgbClr val="000000"/>
                </a:solidFill>
                <a:cs typeface="Arial" panose="020B0604020202020204" pitchFamily="34" charset="0"/>
                <a:sym typeface="Montserrat"/>
              </a:rPr>
              <a:t> </a:t>
            </a:r>
          </a:p>
          <a:p>
            <a:pPr marL="265113" indent="-265113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ru-RU" sz="1100" b="1" kern="0">
                <a:solidFill>
                  <a:srgbClr val="000000"/>
                </a:solidFill>
                <a:cs typeface="Arial" panose="020B0604020202020204" pitchFamily="34" charset="0"/>
                <a:sym typeface="Montserrat"/>
              </a:rPr>
              <a:t>72% новых вакансий приносят выручку </a:t>
            </a:r>
            <a:r>
              <a:rPr lang="ru-RU" sz="1100" kern="0">
                <a:solidFill>
                  <a:srgbClr val="000000"/>
                </a:solidFill>
                <a:cs typeface="Arial" panose="020B0604020202020204" pitchFamily="34" charset="0"/>
                <a:sym typeface="Montserrat"/>
              </a:rPr>
              <a:t>(контент-завод, </a:t>
            </a:r>
            <a:r>
              <a:rPr lang="ru-RU" sz="1100" kern="0">
                <a:solidFill>
                  <a:srgbClr val="000000"/>
                </a:solidFill>
                <a:cs typeface="Arial" panose="020B0604020202020204" pitchFamily="34" charset="0"/>
              </a:rPr>
              <a:t>коммерция</a:t>
            </a:r>
            <a:r>
              <a:rPr lang="ru-RU" sz="1100" kern="0">
                <a:solidFill>
                  <a:srgbClr val="000000"/>
                </a:solidFill>
                <a:cs typeface="Arial" panose="020B0604020202020204" pitchFamily="34" charset="0"/>
                <a:sym typeface="Montserrat"/>
              </a:rPr>
              <a:t>, </a:t>
            </a:r>
            <a:r>
              <a:rPr lang="ru-RU" sz="1100" kern="0">
                <a:solidFill>
                  <a:srgbClr val="000000"/>
                </a:solidFill>
                <a:cs typeface="Arial" panose="020B0604020202020204" pitchFamily="34" charset="0"/>
                <a:sym typeface="Montserrat"/>
              </a:rPr>
              <a:t>биздев</a:t>
            </a:r>
            <a:r>
              <a:rPr lang="ru-RU" sz="1100" kern="0">
                <a:solidFill>
                  <a:srgbClr val="000000"/>
                </a:solidFill>
                <a:cs typeface="Arial" panose="020B0604020202020204" pitchFamily="34" charset="0"/>
                <a:sym typeface="Montserrat"/>
              </a:rPr>
              <a:t>)</a:t>
            </a:r>
            <a:r>
              <a:rPr lang="ru-RU" sz="1100" kern="0">
                <a:solidFill>
                  <a:srgbClr val="000000"/>
                </a:solidFill>
                <a:cs typeface="Arial" panose="020B0604020202020204" pitchFamily="34" charset="0"/>
              </a:rPr>
              <a:t>.  Остальные функции растут для поддержки масштабирования. </a:t>
            </a:r>
          </a:p>
          <a:p>
            <a:pPr marL="265113" indent="-265113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ru-RU" sz="1100" b="1" kern="0">
                <a:solidFill>
                  <a:srgbClr val="000000"/>
                </a:solidFill>
                <a:cs typeface="Arial" panose="020B0604020202020204" pitchFamily="34" charset="0"/>
              </a:rPr>
              <a:t>Не растет численность </a:t>
            </a:r>
            <a:r>
              <a:rPr lang="ru-RU" sz="1100" kern="0">
                <a:solidFill>
                  <a:srgbClr val="000000"/>
                </a:solidFill>
                <a:cs typeface="Arial" panose="020B0604020202020204" pitchFamily="34" charset="0"/>
              </a:rPr>
              <a:t>в ИТ (62 </a:t>
            </a:r>
            <a:r>
              <a:rPr lang="en-US" sz="1100" kern="0">
                <a:solidFill>
                  <a:srgbClr val="000000"/>
                </a:solidFill>
                <a:cs typeface="Arial" panose="020B0604020202020204" pitchFamily="34" charset="0"/>
              </a:rPr>
              <a:t>FTE)</a:t>
            </a:r>
            <a:r>
              <a:rPr lang="ru-RU" sz="1100" kern="0">
                <a:solidFill>
                  <a:srgbClr val="000000"/>
                </a:solidFill>
                <a:cs typeface="Arial" panose="020B0604020202020204" pitchFamily="34" charset="0"/>
              </a:rPr>
              <a:t>, и минимальный прирост в операциях</a:t>
            </a:r>
            <a:r>
              <a:rPr lang="ru-RU" sz="1100" kern="0">
                <a:solidFill>
                  <a:srgbClr val="000000"/>
                </a:solidFill>
                <a:cs typeface="Arial" panose="020B0604020202020204" pitchFamily="34" charset="0"/>
              </a:rPr>
              <a:t> (78+3</a:t>
            </a:r>
            <a:r>
              <a:rPr lang="ru-RU" sz="1100" kern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US" sz="1100" kern="0">
                <a:solidFill>
                  <a:srgbClr val="000000"/>
                </a:solidFill>
                <a:cs typeface="Arial" panose="020B0604020202020204" pitchFamily="34" charset="0"/>
              </a:rPr>
              <a:t>FTE)</a:t>
            </a:r>
            <a:endParaRPr lang="ru-RU" sz="1100" kern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marL="265113" indent="-265113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ru-RU" sz="1100" kern="0">
                <a:solidFill>
                  <a:srgbClr val="000000"/>
                </a:solidFill>
                <a:cs typeface="Arial" panose="020B0604020202020204" pitchFamily="34" charset="0"/>
                <a:sym typeface="Montserrat"/>
              </a:rPr>
              <a:t>Снижение числа потенциальных новых вакансий достигнут за счет:</a:t>
            </a:r>
          </a:p>
          <a:p>
            <a:pPr marL="722313" lvl="1" indent="-265113">
              <a:buClr>
                <a:srgbClr val="000000"/>
              </a:buClr>
              <a:buFont typeface="Courier New" panose="02070309020205020404" pitchFamily="49" charset="0"/>
              <a:buChar char="o"/>
              <a:defRPr/>
            </a:pPr>
            <a:r>
              <a:rPr lang="ru-RU" sz="1100" b="1" kern="0">
                <a:solidFill>
                  <a:srgbClr val="000000"/>
                </a:solidFill>
                <a:cs typeface="Arial" panose="020B0604020202020204" pitchFamily="34" charset="0"/>
                <a:sym typeface="Montserrat"/>
              </a:rPr>
              <a:t>Автоматизация: </a:t>
            </a:r>
            <a:r>
              <a:rPr lang="ru-RU" sz="1100" kern="0">
                <a:solidFill>
                  <a:srgbClr val="000000"/>
                </a:solidFill>
                <a:cs typeface="Arial" panose="020B0604020202020204" pitchFamily="34" charset="0"/>
                <a:sym typeface="Montserrat"/>
              </a:rPr>
              <a:t>автоматический сбор и консолидация финансовой отчетности, отчетности для поставщиков, автоматизация работы с внешними площадками</a:t>
            </a:r>
          </a:p>
          <a:p>
            <a:pPr marL="722313" lvl="1" indent="-265113">
              <a:buClr>
                <a:srgbClr val="000000"/>
              </a:buClr>
              <a:buFont typeface="Courier New" panose="02070309020205020404" pitchFamily="49" charset="0"/>
              <a:buChar char="o"/>
              <a:defRPr/>
            </a:pPr>
            <a:r>
              <a:rPr lang="ru-RU" sz="1100" b="1" kern="0">
                <a:solidFill>
                  <a:srgbClr val="000000"/>
                </a:solidFill>
                <a:cs typeface="Arial" panose="020B0604020202020204" pitchFamily="34" charset="0"/>
                <a:sym typeface="Montserrat"/>
              </a:rPr>
              <a:t>Стандартизация данных и процессов: </a:t>
            </a:r>
            <a:r>
              <a:rPr lang="ru-RU" sz="1100" kern="0">
                <a:solidFill>
                  <a:srgbClr val="000000"/>
                </a:solidFill>
                <a:cs typeface="Arial" panose="020B0604020202020204" pitchFamily="34" charset="0"/>
                <a:sym typeface="Montserrat"/>
              </a:rPr>
              <a:t>сбор дашбордов по единым стандартам, стандартизация отчетов, создание продакшен витрин вместо разовых выгрузок</a:t>
            </a:r>
          </a:p>
          <a:p>
            <a:pPr marL="722313" lvl="1" indent="-265113">
              <a:buClr>
                <a:srgbClr val="000000"/>
              </a:buClr>
              <a:buFont typeface="Courier New" panose="02070309020205020404" pitchFamily="49" charset="0"/>
              <a:buChar char="o"/>
              <a:defRPr/>
            </a:pPr>
            <a:r>
              <a:rPr lang="ru-RU" sz="1100" b="1" kern="0">
                <a:solidFill>
                  <a:srgbClr val="000000"/>
                </a:solidFill>
                <a:cs typeface="Arial" panose="020B0604020202020204" pitchFamily="34" charset="0"/>
                <a:sym typeface="Montserrat"/>
              </a:rPr>
              <a:t>ИИ: </a:t>
            </a:r>
            <a:r>
              <a:rPr lang="ru-RU" sz="1100" kern="0">
                <a:solidFill>
                  <a:srgbClr val="000000"/>
                </a:solidFill>
                <a:cs typeface="Arial" panose="020B0604020202020204" pitchFamily="34" charset="0"/>
                <a:sym typeface="Montserrat"/>
              </a:rPr>
              <a:t>внедрение ИИ-агентов в работе с библиотеками запросов, сценарии по данным, </a:t>
            </a:r>
            <a:r>
              <a:rPr lang="ru-RU" sz="1100" kern="0">
                <a:solidFill>
                  <a:srgbClr val="000000"/>
                </a:solidFill>
                <a:cs typeface="Arial" panose="020B0604020202020204" pitchFamily="34" charset="0"/>
                <a:sym typeface="Montserrat"/>
              </a:rPr>
              <a:t>агентизация</a:t>
            </a:r>
            <a:r>
              <a:rPr lang="ru-RU" sz="1100" kern="0">
                <a:solidFill>
                  <a:srgbClr val="000000"/>
                </a:solidFill>
                <a:cs typeface="Arial" panose="020B0604020202020204" pitchFamily="34" charset="0"/>
                <a:sym typeface="Montserrat"/>
              </a:rPr>
              <a:t> разработки и процессов выхода маркетинговых материалов</a:t>
            </a:r>
          </a:p>
          <a:p>
            <a:pPr marL="722313" lvl="1" indent="-265113">
              <a:buClr>
                <a:srgbClr val="000000"/>
              </a:buClr>
              <a:buFont typeface="Courier New" panose="02070309020205020404" pitchFamily="49" charset="0"/>
              <a:buChar char="o"/>
              <a:defRPr/>
            </a:pPr>
            <a:r>
              <a:rPr lang="ru-RU" sz="1100" b="1" kern="0">
                <a:solidFill>
                  <a:srgbClr val="000000"/>
                </a:solidFill>
                <a:cs typeface="Arial" panose="020B0604020202020204" pitchFamily="34" charset="0"/>
                <a:sym typeface="Montserrat"/>
              </a:rPr>
              <a:t>Оптимизация работы: </a:t>
            </a:r>
            <a:r>
              <a:rPr lang="ru-RU" sz="1100" kern="0">
                <a:solidFill>
                  <a:srgbClr val="000000"/>
                </a:solidFill>
                <a:cs typeface="Arial" panose="020B0604020202020204" pitchFamily="34" charset="0"/>
                <a:sym typeface="Montserrat"/>
              </a:rPr>
              <a:t>оптимизация сегментации онлайн-кампаний и прайс-листа, увеличение нагрузки на текущие команды, оптимизация ценообразования, настройка процессов в кросс функциях при выводе новых рекламных продуктов</a:t>
            </a:r>
          </a:p>
          <a:p>
            <a:pPr marL="265113" lvl="0" indent="-265113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endParaRPr lang="ru-RU" sz="1100" kern="0">
              <a:solidFill>
                <a:srgbClr val="000000"/>
              </a:solidFill>
              <a:cs typeface="Arial" panose="020B0604020202020204" pitchFamily="34" charset="0"/>
              <a:sym typeface="Montserrat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sz="1100" kern="0">
              <a:solidFill>
                <a:srgbClr val="000000"/>
              </a:solidFill>
              <a:cs typeface="Arial" panose="020B0604020202020204" pitchFamily="34" charset="0"/>
              <a:sym typeface="Montserrat"/>
            </a:endParaRPr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2" name="Диаграмма 1">
                <a:extLst>
                  <a:ext uri="{FF2B5EF4-FFF2-40B4-BE49-F238E27FC236}">
                    <a16:creationId xmlns:a16="http://schemas.microsoft.com/office/drawing/2014/main" id="{5C4AB533-6477-BCED-7F29-50695ABABB8B}"/>
                  </a:ext>
                </a:extLst>
              </p:cNvPr>
              <p:cNvGraphicFramePr/>
              <p:nvPr/>
            </p:nvGraphicFramePr>
            <p:xfrm>
              <a:off x="541098" y="2251113"/>
              <a:ext cx="5464211" cy="3521726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10"/>
              </a:graphicData>
            </a:graphic>
          </p:graphicFrame>
        </mc:Choice>
        <mc:Fallback xmlns="">
          <p:pic>
            <p:nvPicPr>
              <p:cNvPr id="2" name="Диаграмма 1">
                <a:extLst>
                  <a:ext uri="{FF2B5EF4-FFF2-40B4-BE49-F238E27FC236}">
                    <a16:creationId xmlns:a16="http://schemas.microsoft.com/office/drawing/2014/main" id="{5C4AB533-6477-BCED-7F29-50695ABABB8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41098" y="2251113"/>
                <a:ext cx="5464211" cy="3521726"/>
              </a:xfrm>
              <a:prstGeom prst="rect">
                <a:avLst/>
              </a:prstGeom>
            </p:spPr>
          </p:pic>
        </mc:Fallback>
      </mc:AlternateContent>
      <p:sp>
        <p:nvSpPr>
          <p:cNvPr id="5" name="Rectangle 16">
            <a:extLst>
              <a:ext uri="{FF2B5EF4-FFF2-40B4-BE49-F238E27FC236}">
                <a16:creationId xmlns:a16="http://schemas.microsoft.com/office/drawing/2014/main" id="{9446B0D7-0681-4D5D-244B-76963C2A1BFF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911647" y="5582269"/>
            <a:ext cx="74930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000">
                <a:solidFill>
                  <a:schemeClr val="tx1"/>
                </a:solidFill>
              </a:rPr>
              <a:t>Core FTE 2026</a:t>
            </a:r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15372D1D-A5E6-7B1A-E355-09E83087B535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3182986" y="5475153"/>
            <a:ext cx="1444816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ru-RU" sz="1000">
                <a:solidFill>
                  <a:schemeClr val="tx1"/>
                </a:solidFill>
              </a:rPr>
              <a:t>Эффект автоматизации процессов и повышения производительности</a:t>
            </a:r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15" name="Rectangle 16">
            <a:extLst>
              <a:ext uri="{FF2B5EF4-FFF2-40B4-BE49-F238E27FC236}">
                <a16:creationId xmlns:a16="http://schemas.microsoft.com/office/drawing/2014/main" id="{E11B6501-A72E-6C82-3567-E3C2DC185168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4910752" y="5590003"/>
            <a:ext cx="74930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000">
                <a:solidFill>
                  <a:schemeClr val="tx1"/>
                </a:solidFill>
              </a:rPr>
              <a:t>Core FTE 202</a:t>
            </a:r>
            <a:r>
              <a:rPr lang="en-US" sz="1000">
                <a:solidFill>
                  <a:schemeClr val="tx1"/>
                </a:solidFill>
              </a:rPr>
              <a:t>7</a:t>
            </a:r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565BA1B5-FE91-C4D3-E143-657B88F82B92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2031496" y="5523221"/>
            <a:ext cx="107950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ru-RU" sz="1000">
                <a:solidFill>
                  <a:schemeClr val="tx1"/>
                </a:solidFill>
              </a:rPr>
              <a:t>Потенциальный рост по нагрузке</a:t>
            </a:r>
            <a:endParaRPr lang="ru-RU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427133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56F8146A-6763-42E6-B3FA-9C73505CA69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5" imgW="395" imgH="394" progId="TCLayout.ActiveDocument.1">
                  <p:embed/>
                </p:oleObj>
              </mc:Choice>
              <mc:Fallback>
                <p:oleObj name="think-cell Slide" r:id="rId95" imgW="395" imgH="394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6F8146A-6763-42E6-B3FA-9C73505CA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Номер слайда 3">
            <a:extLst>
              <a:ext uri="{FF2B5EF4-FFF2-40B4-BE49-F238E27FC236}">
                <a16:creationId xmlns:a16="http://schemas.microsoft.com/office/drawing/2014/main" id="{50FC7100-1C1C-4402-A482-09BDCAB9DF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F2AE68-28B4-4B40-8AA4-3365A0AE6865}" type="slidenum">
              <a:rPr lang="ru-RU" kumimoji="0" sz="900" b="0" i="0" u="none" strike="noStrike" kern="1200" cap="none" spc="0" normalizeH="0" baseline="0" smtClean="0">
                <a:solidFill>
                  <a:srgbClr val="000000"/>
                </a:solidFill>
                <a:latin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lang="ru-RU" kumimoji="0" sz="900" b="0" i="0" u="none" strike="noStrike" kern="1200" cap="none" spc="0" normalizeH="0" baseline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F4348E34-2A95-4E43-8EEE-56EDC9E48DE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8300" y="228600"/>
            <a:ext cx="10591800" cy="660400"/>
          </a:xfrm>
        </p:spPr>
        <p:txBody>
          <a:bodyPr anchor="t">
            <a:normAutofit/>
          </a:bodyPr>
          <a:lstStyle/>
          <a:p>
            <a:r>
              <a:rPr lang="ru-RU" sz="2400" b="1">
                <a:solidFill>
                  <a:srgbClr val="000000"/>
                </a:solidFill>
                <a:latin typeface="+mj-lt"/>
              </a:rPr>
              <a:t>Факторный анализ: </a:t>
            </a:r>
            <a:r>
              <a:rPr lang="en-US" sz="2400" b="1">
                <a:solidFill>
                  <a:srgbClr val="000000"/>
                </a:solidFill>
                <a:latin typeface="+mj-lt"/>
              </a:rPr>
              <a:t>Admin PEX</a:t>
            </a:r>
            <a:endParaRPr lang="ru-RU" sz="2400" b="1">
              <a:solidFill>
                <a:srgbClr val="000000"/>
              </a:solidFill>
              <a:latin typeface="+mj-lt"/>
            </a:endParaRPr>
          </a:p>
        </p:txBody>
      </p:sp>
      <p:cxnSp>
        <p:nvCxnSpPr>
          <p:cNvPr id="517" name="Прямая соединительная линия 516">
            <a:extLst>
              <a:ext uri="{FF2B5EF4-FFF2-40B4-BE49-F238E27FC236}">
                <a16:creationId xmlns:a16="http://schemas.microsoft.com/office/drawing/2014/main" id="{E2066E8D-164F-421E-8D6D-CFE3924F7377}"/>
              </a:ext>
            </a:extLst>
          </p:cNvPr>
          <p:cNvCxnSpPr>
            <a:cxnSpLocks/>
          </p:cNvCxnSpPr>
          <p:nvPr>
            <p:custDataLst>
              <p:tags r:id="rId2"/>
            </p:custDataLst>
          </p:nvPr>
        </p:nvCxnSpPr>
        <p:spPr bwMode="auto">
          <a:xfrm>
            <a:off x="2770188" y="2619823"/>
            <a:ext cx="381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8" name="Прямая соединительная линия 517">
            <a:extLst>
              <a:ext uri="{FF2B5EF4-FFF2-40B4-BE49-F238E27FC236}">
                <a16:creationId xmlns:a16="http://schemas.microsoft.com/office/drawing/2014/main" id="{616BD943-5773-43AC-999F-585ED7C082B3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 bwMode="auto">
          <a:xfrm>
            <a:off x="3629025" y="2673798"/>
            <a:ext cx="381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9" name="Прямая соединительная линия 518">
            <a:extLst>
              <a:ext uri="{FF2B5EF4-FFF2-40B4-BE49-F238E27FC236}">
                <a16:creationId xmlns:a16="http://schemas.microsoft.com/office/drawing/2014/main" id="{75EE782E-AE06-44F7-9661-2999DAD1D95E}"/>
              </a:ext>
            </a:extLst>
          </p:cNvPr>
          <p:cNvCxnSpPr>
            <a:cxnSpLocks/>
          </p:cNvCxnSpPr>
          <p:nvPr>
            <p:custDataLst>
              <p:tags r:id="rId4"/>
            </p:custDataLst>
          </p:nvPr>
        </p:nvCxnSpPr>
        <p:spPr bwMode="auto">
          <a:xfrm>
            <a:off x="4487863" y="2594423"/>
            <a:ext cx="381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0" name="Прямая соединительная линия 519">
            <a:extLst>
              <a:ext uri="{FF2B5EF4-FFF2-40B4-BE49-F238E27FC236}">
                <a16:creationId xmlns:a16="http://schemas.microsoft.com/office/drawing/2014/main" id="{4894E697-8A66-477B-A996-AB7D47F02441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 bwMode="auto">
          <a:xfrm flipV="1">
            <a:off x="5346700" y="1843536"/>
            <a:ext cx="381000" cy="750888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9" name="Прямая соединительная линия 528">
            <a:extLst>
              <a:ext uri="{FF2B5EF4-FFF2-40B4-BE49-F238E27FC236}">
                <a16:creationId xmlns:a16="http://schemas.microsoft.com/office/drawing/2014/main" id="{61BA1634-35B4-403B-BB1D-9B5F4F8B9EEC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>
            <a:off x="6203950" y="1843536"/>
            <a:ext cx="381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3" name="Прямая соединительная линия 532">
            <a:extLst>
              <a:ext uri="{FF2B5EF4-FFF2-40B4-BE49-F238E27FC236}">
                <a16:creationId xmlns:a16="http://schemas.microsoft.com/office/drawing/2014/main" id="{97EDCD65-AC87-47BF-8E93-7316F3C07564}"/>
              </a:ext>
            </a:extLst>
          </p:cNvPr>
          <p:cNvCxnSpPr/>
          <p:nvPr>
            <p:custDataLst>
              <p:tags r:id="rId7"/>
            </p:custDataLst>
          </p:nvPr>
        </p:nvCxnSpPr>
        <p:spPr bwMode="auto">
          <a:xfrm>
            <a:off x="7062788" y="1360936"/>
            <a:ext cx="381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2" name="Прямая соединительная линия 181">
            <a:extLst>
              <a:ext uri="{FF2B5EF4-FFF2-40B4-BE49-F238E27FC236}">
                <a16:creationId xmlns:a16="http://schemas.microsoft.com/office/drawing/2014/main" id="{57A9CBC5-1D65-464B-9CDC-9862D12E273C}"/>
              </a:ext>
            </a:extLst>
          </p:cNvPr>
          <p:cNvCxnSpPr>
            <a:cxnSpLocks/>
          </p:cNvCxnSpPr>
          <p:nvPr>
            <p:custDataLst>
              <p:tags r:id="rId8"/>
            </p:custDataLst>
          </p:nvPr>
        </p:nvCxnSpPr>
        <p:spPr bwMode="auto">
          <a:xfrm>
            <a:off x="9637713" y="1025974"/>
            <a:ext cx="381000" cy="2381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Прямая соединительная линия 80">
            <a:extLst>
              <a:ext uri="{FF2B5EF4-FFF2-40B4-BE49-F238E27FC236}">
                <a16:creationId xmlns:a16="http://schemas.microsoft.com/office/drawing/2014/main" id="{967127C6-1854-4F87-9468-CBA24AD3E868}"/>
              </a:ext>
            </a:extLst>
          </p:cNvPr>
          <p:cNvCxnSpPr/>
          <p:nvPr>
            <p:custDataLst>
              <p:tags r:id="rId9"/>
            </p:custDataLst>
          </p:nvPr>
        </p:nvCxnSpPr>
        <p:spPr bwMode="auto">
          <a:xfrm>
            <a:off x="7921625" y="1187898"/>
            <a:ext cx="381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4" name="Прямая соединительная линия 533">
            <a:extLst>
              <a:ext uri="{FF2B5EF4-FFF2-40B4-BE49-F238E27FC236}">
                <a16:creationId xmlns:a16="http://schemas.microsoft.com/office/drawing/2014/main" id="{AE4B5719-5CE6-446B-8798-B4AEF931FABA}"/>
              </a:ext>
            </a:extLst>
          </p:cNvPr>
          <p:cNvCxnSpPr/>
          <p:nvPr>
            <p:custDataLst>
              <p:tags r:id="rId10"/>
            </p:custDataLst>
          </p:nvPr>
        </p:nvCxnSpPr>
        <p:spPr bwMode="auto">
          <a:xfrm>
            <a:off x="8780463" y="1025973"/>
            <a:ext cx="381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5" name="Прямая соединительная линия 514">
            <a:extLst>
              <a:ext uri="{FF2B5EF4-FFF2-40B4-BE49-F238E27FC236}">
                <a16:creationId xmlns:a16="http://schemas.microsoft.com/office/drawing/2014/main" id="{B40D68F9-C9B0-4BA8-A9EA-BD1B5BE1C5E5}"/>
              </a:ext>
            </a:extLst>
          </p:cNvPr>
          <p:cNvCxnSpPr/>
          <p:nvPr>
            <p:custDataLst>
              <p:tags r:id="rId11"/>
            </p:custDataLst>
          </p:nvPr>
        </p:nvCxnSpPr>
        <p:spPr bwMode="auto">
          <a:xfrm>
            <a:off x="1054100" y="2246761"/>
            <a:ext cx="381000" cy="7938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6" name="Прямая соединительная линия 515">
            <a:extLst>
              <a:ext uri="{FF2B5EF4-FFF2-40B4-BE49-F238E27FC236}">
                <a16:creationId xmlns:a16="http://schemas.microsoft.com/office/drawing/2014/main" id="{74FF4F6B-7987-4D5D-B362-18244B81DE82}"/>
              </a:ext>
            </a:extLst>
          </p:cNvPr>
          <p:cNvCxnSpPr>
            <a:cxnSpLocks/>
          </p:cNvCxnSpPr>
          <p:nvPr>
            <p:custDataLst>
              <p:tags r:id="rId12"/>
            </p:custDataLst>
          </p:nvPr>
        </p:nvCxnSpPr>
        <p:spPr bwMode="auto">
          <a:xfrm>
            <a:off x="1912938" y="2254698"/>
            <a:ext cx="381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38" name="Chart 137">
            <a:extLst>
              <a:ext uri="{FF2B5EF4-FFF2-40B4-BE49-F238E27FC236}">
                <a16:creationId xmlns:a16="http://schemas.microsoft.com/office/drawing/2014/main" id="{3E5F1F7C-F97C-415E-9204-1D41D86AF726}"/>
              </a:ext>
            </a:extLst>
          </p:cNvPr>
          <p:cNvGraphicFramePr/>
          <p:nvPr>
            <p:custDataLst>
              <p:tags r:id="rId13"/>
            </p:custDataLst>
          </p:nvPr>
        </p:nvGraphicFramePr>
        <p:xfrm>
          <a:off x="303213" y="800548"/>
          <a:ext cx="10466387" cy="2355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7"/>
          </a:graphicData>
        </a:graphic>
      </p:graphicFrame>
      <p:sp useBgFill="1">
        <p:nvSpPr>
          <p:cNvPr id="28" name="Freeform: Shape 27">
            <a:extLst>
              <a:ext uri="{FF2B5EF4-FFF2-40B4-BE49-F238E27FC236}">
                <a16:creationId xmlns:a16="http://schemas.microsoft.com/office/drawing/2014/main" id="{907AC657-FE82-4F5A-98D1-BFE03DDC9F0F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9980613" y="2699198"/>
            <a:ext cx="554038" cy="206376"/>
          </a:xfrm>
          <a:custGeom>
            <a:avLst/>
            <a:gdLst/>
            <a:ahLst/>
            <a:cxnLst/>
            <a:rect l="0" t="0" r="0" b="0"/>
            <a:pathLst>
              <a:path w="554038" h="206376">
                <a:moveTo>
                  <a:pt x="0" y="149225"/>
                </a:moveTo>
                <a:lnTo>
                  <a:pt x="554037" y="0"/>
                </a:lnTo>
                <a:lnTo>
                  <a:pt x="554037" y="57150"/>
                </a:lnTo>
                <a:lnTo>
                  <a:pt x="0" y="206375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24" name="Freeform: Shape 23">
            <a:extLst>
              <a:ext uri="{FF2B5EF4-FFF2-40B4-BE49-F238E27FC236}">
                <a16:creationId xmlns:a16="http://schemas.microsoft.com/office/drawing/2014/main" id="{EFA114FA-386F-4A45-B909-DD01631DD904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9123363" y="2699198"/>
            <a:ext cx="552451" cy="206376"/>
          </a:xfrm>
          <a:custGeom>
            <a:avLst/>
            <a:gdLst/>
            <a:ahLst/>
            <a:cxnLst/>
            <a:rect l="0" t="0" r="0" b="0"/>
            <a:pathLst>
              <a:path w="552451" h="206376">
                <a:moveTo>
                  <a:pt x="0" y="149225"/>
                </a:moveTo>
                <a:lnTo>
                  <a:pt x="552450" y="0"/>
                </a:lnTo>
                <a:lnTo>
                  <a:pt x="552450" y="57150"/>
                </a:lnTo>
                <a:lnTo>
                  <a:pt x="0" y="206375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21" name="Freeform: Shape 20">
            <a:extLst>
              <a:ext uri="{FF2B5EF4-FFF2-40B4-BE49-F238E27FC236}">
                <a16:creationId xmlns:a16="http://schemas.microsoft.com/office/drawing/2014/main" id="{9EC308CE-88AE-41A8-A475-9154AFC260FF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5689600" y="2699198"/>
            <a:ext cx="552451" cy="206376"/>
          </a:xfrm>
          <a:custGeom>
            <a:avLst/>
            <a:gdLst/>
            <a:ahLst/>
            <a:cxnLst/>
            <a:rect l="0" t="0" r="0" b="0"/>
            <a:pathLst>
              <a:path w="552451" h="206376">
                <a:moveTo>
                  <a:pt x="0" y="149225"/>
                </a:moveTo>
                <a:lnTo>
                  <a:pt x="552450" y="0"/>
                </a:lnTo>
                <a:lnTo>
                  <a:pt x="552450" y="57150"/>
                </a:lnTo>
                <a:lnTo>
                  <a:pt x="0" y="206375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0F2DC10A-EC99-4F95-A4B4-1DE3DB54A921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4830763" y="2699198"/>
            <a:ext cx="554038" cy="206376"/>
          </a:xfrm>
          <a:custGeom>
            <a:avLst/>
            <a:gdLst/>
            <a:ahLst/>
            <a:cxnLst/>
            <a:rect l="0" t="0" r="0" b="0"/>
            <a:pathLst>
              <a:path w="554038" h="206376">
                <a:moveTo>
                  <a:pt x="0" y="149225"/>
                </a:moveTo>
                <a:lnTo>
                  <a:pt x="554037" y="0"/>
                </a:lnTo>
                <a:lnTo>
                  <a:pt x="554037" y="57150"/>
                </a:lnTo>
                <a:lnTo>
                  <a:pt x="0" y="206375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8" name="Freeform: Shape 7">
            <a:extLst>
              <a:ext uri="{FF2B5EF4-FFF2-40B4-BE49-F238E27FC236}">
                <a16:creationId xmlns:a16="http://schemas.microsoft.com/office/drawing/2014/main" id="{48615165-C98C-4D09-A566-686EC8EA73AD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1397000" y="2699198"/>
            <a:ext cx="554039" cy="206376"/>
          </a:xfrm>
          <a:custGeom>
            <a:avLst/>
            <a:gdLst/>
            <a:ahLst/>
            <a:cxnLst/>
            <a:rect l="0" t="0" r="0" b="0"/>
            <a:pathLst>
              <a:path w="554039" h="206376">
                <a:moveTo>
                  <a:pt x="0" y="149225"/>
                </a:moveTo>
                <a:lnTo>
                  <a:pt x="554038" y="0"/>
                </a:lnTo>
                <a:lnTo>
                  <a:pt x="554038" y="57150"/>
                </a:lnTo>
                <a:lnTo>
                  <a:pt x="0" y="206375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5" name="Freeform: Shape 4">
            <a:extLst>
              <a:ext uri="{FF2B5EF4-FFF2-40B4-BE49-F238E27FC236}">
                <a16:creationId xmlns:a16="http://schemas.microsoft.com/office/drawing/2014/main" id="{68BDA687-A858-477E-838B-F8E81A46D424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538163" y="2699198"/>
            <a:ext cx="554038" cy="206376"/>
          </a:xfrm>
          <a:custGeom>
            <a:avLst/>
            <a:gdLst/>
            <a:ahLst/>
            <a:cxnLst/>
            <a:rect l="0" t="0" r="0" b="0"/>
            <a:pathLst>
              <a:path w="554038" h="206376">
                <a:moveTo>
                  <a:pt x="0" y="149225"/>
                </a:moveTo>
                <a:lnTo>
                  <a:pt x="554037" y="0"/>
                </a:lnTo>
                <a:lnTo>
                  <a:pt x="554037" y="57150"/>
                </a:lnTo>
                <a:lnTo>
                  <a:pt x="0" y="206375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7FB707B-2384-4225-BA79-3B23D6007A41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1397000" y="2756348"/>
            <a:ext cx="554039" cy="149226"/>
          </a:xfrm>
          <a:custGeom>
            <a:avLst/>
            <a:gdLst/>
            <a:ahLst/>
            <a:cxnLst/>
            <a:rect l="0" t="0" r="0" b="0"/>
            <a:pathLst>
              <a:path w="554039" h="149226">
                <a:moveTo>
                  <a:pt x="0" y="149225"/>
                </a:moveTo>
                <a:lnTo>
                  <a:pt x="554038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3C2E206-7B2A-452C-8CB1-35DBD966F1B9}"/>
              </a:ext>
            </a:extLst>
          </p:cNvPr>
          <p:cNvSpPr/>
          <p:nvPr>
            <p:custDataLst>
              <p:tags r:id="rId21"/>
            </p:custDataLst>
          </p:nvPr>
        </p:nvSpPr>
        <p:spPr bwMode="auto">
          <a:xfrm>
            <a:off x="4830763" y="2756348"/>
            <a:ext cx="554038" cy="149226"/>
          </a:xfrm>
          <a:custGeom>
            <a:avLst/>
            <a:gdLst/>
            <a:ahLst/>
            <a:cxnLst/>
            <a:rect l="0" t="0" r="0" b="0"/>
            <a:pathLst>
              <a:path w="554038" h="149226">
                <a:moveTo>
                  <a:pt x="0" y="149225"/>
                </a:moveTo>
                <a:lnTo>
                  <a:pt x="554037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6333203-66F9-4B6B-9F0A-CB1B749F50EF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5689600" y="2699198"/>
            <a:ext cx="552451" cy="149226"/>
          </a:xfrm>
          <a:custGeom>
            <a:avLst/>
            <a:gdLst/>
            <a:ahLst/>
            <a:cxnLst/>
            <a:rect l="0" t="0" r="0" b="0"/>
            <a:pathLst>
              <a:path w="552451" h="149226">
                <a:moveTo>
                  <a:pt x="0" y="149225"/>
                </a:moveTo>
                <a:lnTo>
                  <a:pt x="552450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D3A3EE2-B247-49D6-BAC4-91A489417465}"/>
              </a:ext>
            </a:extLst>
          </p:cNvPr>
          <p:cNvSpPr/>
          <p:nvPr>
            <p:custDataLst>
              <p:tags r:id="rId23"/>
            </p:custDataLst>
          </p:nvPr>
        </p:nvSpPr>
        <p:spPr bwMode="auto">
          <a:xfrm>
            <a:off x="5689600" y="2756348"/>
            <a:ext cx="552451" cy="149226"/>
          </a:xfrm>
          <a:custGeom>
            <a:avLst/>
            <a:gdLst/>
            <a:ahLst/>
            <a:cxnLst/>
            <a:rect l="0" t="0" r="0" b="0"/>
            <a:pathLst>
              <a:path w="552451" h="149226">
                <a:moveTo>
                  <a:pt x="0" y="149225"/>
                </a:moveTo>
                <a:lnTo>
                  <a:pt x="552450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3DF1CD7-BA5E-49C5-86DF-EA1A78F8E832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9123363" y="2756348"/>
            <a:ext cx="552451" cy="149226"/>
          </a:xfrm>
          <a:custGeom>
            <a:avLst/>
            <a:gdLst/>
            <a:ahLst/>
            <a:cxnLst/>
            <a:rect l="0" t="0" r="0" b="0"/>
            <a:pathLst>
              <a:path w="552451" h="149226">
                <a:moveTo>
                  <a:pt x="0" y="149225"/>
                </a:moveTo>
                <a:lnTo>
                  <a:pt x="552450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286CD78-2652-408B-9050-9CE9D5BD72E4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9980613" y="2699198"/>
            <a:ext cx="554038" cy="149226"/>
          </a:xfrm>
          <a:custGeom>
            <a:avLst/>
            <a:gdLst/>
            <a:ahLst/>
            <a:cxnLst/>
            <a:rect l="0" t="0" r="0" b="0"/>
            <a:pathLst>
              <a:path w="554038" h="149226">
                <a:moveTo>
                  <a:pt x="0" y="149225"/>
                </a:moveTo>
                <a:lnTo>
                  <a:pt x="554037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6E87D30-2744-4F14-998B-F87E00040F61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9980613" y="2756348"/>
            <a:ext cx="554038" cy="149226"/>
          </a:xfrm>
          <a:custGeom>
            <a:avLst/>
            <a:gdLst/>
            <a:ahLst/>
            <a:cxnLst/>
            <a:rect l="0" t="0" r="0" b="0"/>
            <a:pathLst>
              <a:path w="554038" h="149226">
                <a:moveTo>
                  <a:pt x="0" y="149225"/>
                </a:moveTo>
                <a:lnTo>
                  <a:pt x="554037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76E1B26-E7DD-4649-96FC-000E60B6A258}"/>
              </a:ext>
            </a:extLst>
          </p:cNvPr>
          <p:cNvSpPr/>
          <p:nvPr>
            <p:custDataLst>
              <p:tags r:id="rId27"/>
            </p:custDataLst>
          </p:nvPr>
        </p:nvSpPr>
        <p:spPr bwMode="auto">
          <a:xfrm>
            <a:off x="9123363" y="2699198"/>
            <a:ext cx="552451" cy="149226"/>
          </a:xfrm>
          <a:custGeom>
            <a:avLst/>
            <a:gdLst/>
            <a:ahLst/>
            <a:cxnLst/>
            <a:rect l="0" t="0" r="0" b="0"/>
            <a:pathLst>
              <a:path w="552451" h="149226">
                <a:moveTo>
                  <a:pt x="0" y="149225"/>
                </a:moveTo>
                <a:lnTo>
                  <a:pt x="552450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B3BC383-1601-493A-8C1F-CCC86150877D}"/>
              </a:ext>
            </a:extLst>
          </p:cNvPr>
          <p:cNvSpPr/>
          <p:nvPr>
            <p:custDataLst>
              <p:tags r:id="rId28"/>
            </p:custDataLst>
          </p:nvPr>
        </p:nvSpPr>
        <p:spPr bwMode="auto">
          <a:xfrm>
            <a:off x="4830763" y="2699198"/>
            <a:ext cx="554038" cy="149226"/>
          </a:xfrm>
          <a:custGeom>
            <a:avLst/>
            <a:gdLst/>
            <a:ahLst/>
            <a:cxnLst/>
            <a:rect l="0" t="0" r="0" b="0"/>
            <a:pathLst>
              <a:path w="554038" h="149226">
                <a:moveTo>
                  <a:pt x="0" y="149225"/>
                </a:moveTo>
                <a:lnTo>
                  <a:pt x="554037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A48BD0BA-87F4-4F15-995B-0360BFCD0C0B}"/>
              </a:ext>
            </a:extLst>
          </p:cNvPr>
          <p:cNvSpPr/>
          <p:nvPr>
            <p:custDataLst>
              <p:tags r:id="rId29"/>
            </p:custDataLst>
          </p:nvPr>
        </p:nvSpPr>
        <p:spPr bwMode="auto">
          <a:xfrm>
            <a:off x="538163" y="2699198"/>
            <a:ext cx="554038" cy="149226"/>
          </a:xfrm>
          <a:custGeom>
            <a:avLst/>
            <a:gdLst/>
            <a:ahLst/>
            <a:cxnLst/>
            <a:rect l="0" t="0" r="0" b="0"/>
            <a:pathLst>
              <a:path w="554038" h="149226">
                <a:moveTo>
                  <a:pt x="0" y="149225"/>
                </a:moveTo>
                <a:lnTo>
                  <a:pt x="554037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E338E25-1F3B-4787-9DFE-549526F3FA00}"/>
              </a:ext>
            </a:extLst>
          </p:cNvPr>
          <p:cNvSpPr/>
          <p:nvPr>
            <p:custDataLst>
              <p:tags r:id="rId30"/>
            </p:custDataLst>
          </p:nvPr>
        </p:nvSpPr>
        <p:spPr bwMode="auto">
          <a:xfrm>
            <a:off x="538163" y="2756348"/>
            <a:ext cx="554038" cy="149226"/>
          </a:xfrm>
          <a:custGeom>
            <a:avLst/>
            <a:gdLst/>
            <a:ahLst/>
            <a:cxnLst/>
            <a:rect l="0" t="0" r="0" b="0"/>
            <a:pathLst>
              <a:path w="554038" h="149226">
                <a:moveTo>
                  <a:pt x="0" y="149225"/>
                </a:moveTo>
                <a:lnTo>
                  <a:pt x="554037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181965B-9423-4822-AF14-A189BE50C5C9}"/>
              </a:ext>
            </a:extLst>
          </p:cNvPr>
          <p:cNvSpPr/>
          <p:nvPr>
            <p:custDataLst>
              <p:tags r:id="rId31"/>
            </p:custDataLst>
          </p:nvPr>
        </p:nvSpPr>
        <p:spPr bwMode="auto">
          <a:xfrm>
            <a:off x="1397000" y="2699198"/>
            <a:ext cx="554039" cy="149226"/>
          </a:xfrm>
          <a:custGeom>
            <a:avLst/>
            <a:gdLst/>
            <a:ahLst/>
            <a:cxnLst/>
            <a:rect l="0" t="0" r="0" b="0"/>
            <a:pathLst>
              <a:path w="554039" h="149226">
                <a:moveTo>
                  <a:pt x="0" y="149225"/>
                </a:moveTo>
                <a:lnTo>
                  <a:pt x="554038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584B79B-7ADF-43A5-959F-F342F62F2E31}"/>
              </a:ext>
            </a:extLst>
          </p:cNvPr>
          <p:cNvSpPr/>
          <p:nvPr>
            <p:custDataLst>
              <p:tags r:id="rId32"/>
            </p:custDataLst>
          </p:nvPr>
        </p:nvSpPr>
        <p:spPr bwMode="auto">
          <a:xfrm>
            <a:off x="541338" y="2973836"/>
            <a:ext cx="546100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36E7DC3-0130-406D-86EF-0764BF263F00}" type="datetime'''''''''''''''''''B''''U'''' 2''''''''''''02''''6'''''">
              <a:rPr lang="en-US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BU 2026</a:t>
            </a:fld>
            <a:endParaRPr lang="en-US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4E57E0D-9525-4A6C-9B3A-636432ED68D5}"/>
              </a:ext>
            </a:extLst>
          </p:cNvPr>
          <p:cNvSpPr/>
          <p:nvPr>
            <p:custDataLst>
              <p:tags r:id="rId33"/>
            </p:custDataLst>
          </p:nvPr>
        </p:nvSpPr>
        <p:spPr bwMode="auto">
          <a:xfrm>
            <a:off x="1404938" y="2973836"/>
            <a:ext cx="536575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0175762-5704-40DE-99B3-FB22ABFC3F6D}" type="datetime'''BU'' с''е''''нт'''''''''' 2''''0''''''2''''''6''''''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BU сент 2026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9AD51AFB-CCAC-4D67-B75B-79CDC7F6D7EF}"/>
              </a:ext>
            </a:extLst>
          </p:cNvPr>
          <p:cNvSpPr/>
          <p:nvPr>
            <p:custDataLst>
              <p:tags r:id="rId34"/>
            </p:custDataLst>
          </p:nvPr>
        </p:nvSpPr>
        <p:spPr bwMode="gray">
          <a:xfrm>
            <a:off x="2408238" y="2368998"/>
            <a:ext cx="247650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BEF4BB0-243F-4CB5-9863-8A786ADA9D6D}" type="datetime'''-1''''''''''''''''''''''''''''''''''''''''''''''5''''1'''">
              <a:rPr lang="ru-RU" kumimoji="0" sz="1000" b="0" i="0" u="none" strike="noStrike" kern="1200" cap="none" spc="0" normalizeH="0" baseline="0" smtClean="0"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-151</a:t>
            </a:fld>
            <a:endParaRPr lang="ru-RU" kumimoji="0" sz="1000" b="0" i="0" u="none" strike="noStrike" kern="1200" cap="none" spc="0" normalizeH="0" baseline="0"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C212D03-FD48-4D7E-B13B-F486446058F2}"/>
              </a:ext>
            </a:extLst>
          </p:cNvPr>
          <p:cNvSpPr/>
          <p:nvPr>
            <p:custDataLst>
              <p:tags r:id="rId35"/>
            </p:custDataLst>
          </p:nvPr>
        </p:nvSpPr>
        <p:spPr bwMode="auto">
          <a:xfrm>
            <a:off x="2219325" y="2973836"/>
            <a:ext cx="627063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D38EF60-809E-47F1-BB8D-F940553444D0}" type="datetime'К''''''''''''але''''''''''нд''''''а''''''''-р''из''ац''и''я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Календа-ризация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0D952144-5AFE-4228-B7B3-46CE299764D2}"/>
              </a:ext>
            </a:extLst>
          </p:cNvPr>
          <p:cNvSpPr/>
          <p:nvPr>
            <p:custDataLst>
              <p:tags r:id="rId36"/>
            </p:custDataLst>
          </p:nvPr>
        </p:nvSpPr>
        <p:spPr bwMode="gray">
          <a:xfrm>
            <a:off x="3276600" y="2578548"/>
            <a:ext cx="227013" cy="136525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E16F32C-754E-405B-985B-F8C8CC2C5293}" type="datetime'''-''''2''2'''''''''''">
              <a:rPr lang="ru-RU" kumimoji="0" sz="1000" b="0" i="0" u="none" strike="noStrike" kern="1200" cap="none" spc="0" normalizeH="0" baseline="0" smtClean="0"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-22</a:t>
            </a:fld>
            <a:endParaRPr lang="ru-RU" kumimoji="0" sz="1000" b="0" i="0" u="none" strike="noStrike" kern="1200" cap="none" spc="0" normalizeH="0" baseline="0"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FDBA3D0-80C4-4C85-BED2-6F5B8E73F6AE}"/>
              </a:ext>
            </a:extLst>
          </p:cNvPr>
          <p:cNvSpPr/>
          <p:nvPr>
            <p:custDataLst>
              <p:tags r:id="rId37"/>
            </p:custDataLst>
          </p:nvPr>
        </p:nvSpPr>
        <p:spPr bwMode="auto">
          <a:xfrm>
            <a:off x="2959100" y="2973836"/>
            <a:ext cx="860425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320B19A-7A0D-41DF-8FF0-CDD6705CDCA4}" type="datetime'''''''П''''е''р''''е''''''с''м''о''''т''ры ''20''2''''''''6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Пересмотры 2026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A3EA186-2BDF-4A55-9802-C998599F2B9B}"/>
              </a:ext>
            </a:extLst>
          </p:cNvPr>
          <p:cNvSpPr/>
          <p:nvPr>
            <p:custDataLst>
              <p:tags r:id="rId38"/>
            </p:custDataLst>
          </p:nvPr>
        </p:nvSpPr>
        <p:spPr bwMode="auto">
          <a:xfrm>
            <a:off x="3924300" y="2973836"/>
            <a:ext cx="649288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9A4863-16A8-4248-8921-916433D9FE47}" type="datetime'''''''''Рез''е''рвы'' на'' ''''''''''о''т''пу''с''''''''к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Резервы на отпуск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30" name="Прямоугольник 429">
            <a:extLst>
              <a:ext uri="{FF2B5EF4-FFF2-40B4-BE49-F238E27FC236}">
                <a16:creationId xmlns:a16="http://schemas.microsoft.com/office/drawing/2014/main" id="{DEBFF532-F1A9-4E70-967B-81706E55A280}"/>
              </a:ext>
            </a:extLst>
          </p:cNvPr>
          <p:cNvSpPr/>
          <p:nvPr>
            <p:custDataLst>
              <p:tags r:id="rId39"/>
            </p:custDataLst>
          </p:nvPr>
        </p:nvSpPr>
        <p:spPr bwMode="auto">
          <a:xfrm>
            <a:off x="4845050" y="2973836"/>
            <a:ext cx="523875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3AE19-2297-4CB6-8ED3-D86FFB8A8EAD}" type="datetime'''''''F''C'''' ''(''9+3)'' 202''''''''6'''''''''''''">
              <a:rPr lang="en-US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FC (9+3) 2026</a:t>
            </a:fld>
            <a:endParaRPr lang="en-US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5" name="Прямоугольник 294">
            <a:extLst>
              <a:ext uri="{FF2B5EF4-FFF2-40B4-BE49-F238E27FC236}">
                <a16:creationId xmlns:a16="http://schemas.microsoft.com/office/drawing/2014/main" id="{E1C6C1CC-446E-49CC-8E89-5AF5D07BDB1C}"/>
              </a:ext>
            </a:extLst>
          </p:cNvPr>
          <p:cNvSpPr/>
          <p:nvPr>
            <p:custDataLst>
              <p:tags r:id="rId40"/>
            </p:custDataLst>
          </p:nvPr>
        </p:nvSpPr>
        <p:spPr bwMode="gray">
          <a:xfrm>
            <a:off x="5786438" y="1681611"/>
            <a:ext cx="358775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5905A8B-463A-4C1C-8065-2B46D80E9A46}" type="datetime'''''1''''''''''''''''''''''.6''5''''''''''8'''''''''">
              <a:rPr lang="ru-RU" kumimoji="0" sz="10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1.658</a:t>
            </a:fld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E77B5523-B2AE-4DBC-BE28-D859028E4AB5}"/>
              </a:ext>
            </a:extLst>
          </p:cNvPr>
          <p:cNvSpPr/>
          <p:nvPr>
            <p:custDataLst>
              <p:tags r:id="rId41"/>
            </p:custDataLst>
          </p:nvPr>
        </p:nvSpPr>
        <p:spPr bwMode="auto">
          <a:xfrm>
            <a:off x="9128125" y="2973836"/>
            <a:ext cx="542925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8CA1C73-B7D0-44F8-8886-86FD85F3D4A1}" type="datetime'''BU ''''''''''''''''''''''''2''0''''2''7'''''''''''">
              <a:rPr lang="en-US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BU 2027</a:t>
            </a:fld>
            <a:endParaRPr lang="en-US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0" name="Прямоугольник 109">
            <a:extLst>
              <a:ext uri="{FF2B5EF4-FFF2-40B4-BE49-F238E27FC236}">
                <a16:creationId xmlns:a16="http://schemas.microsoft.com/office/drawing/2014/main" id="{258FDCFA-D59F-43CC-9409-5C2BD3E281FE}"/>
              </a:ext>
            </a:extLst>
          </p:cNvPr>
          <p:cNvSpPr/>
          <p:nvPr>
            <p:custDataLst>
              <p:tags r:id="rId42"/>
            </p:custDataLst>
          </p:nvPr>
        </p:nvSpPr>
        <p:spPr bwMode="gray">
          <a:xfrm>
            <a:off x="9228138" y="1968948"/>
            <a:ext cx="344488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BC3A527-AC14-43E7-BA78-4B00342733D4}" type="datetime'''''1''.''''9''''4''''''''''7''''''''''''''''''''''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1.947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6" name="Прямоугольник 105">
            <a:extLst>
              <a:ext uri="{FF2B5EF4-FFF2-40B4-BE49-F238E27FC236}">
                <a16:creationId xmlns:a16="http://schemas.microsoft.com/office/drawing/2014/main" id="{A0A9FE8F-9978-4E81-80EF-030E16236E20}"/>
              </a:ext>
            </a:extLst>
          </p:cNvPr>
          <p:cNvSpPr/>
          <p:nvPr>
            <p:custDataLst>
              <p:tags r:id="rId43"/>
            </p:custDataLst>
          </p:nvPr>
        </p:nvSpPr>
        <p:spPr bwMode="gray">
          <a:xfrm>
            <a:off x="6705600" y="1199011"/>
            <a:ext cx="236538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241D52-56BF-443C-9757-76F3C6E7EEB2}" type="datetime'''''''''''1''''''9''''''''''''''''''''''''''''''9''''''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199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B9122EED-8DB0-44A5-8FE6-05B2769E8800}"/>
              </a:ext>
            </a:extLst>
          </p:cNvPr>
          <p:cNvSpPr/>
          <p:nvPr>
            <p:custDataLst>
              <p:tags r:id="rId44"/>
            </p:custDataLst>
          </p:nvPr>
        </p:nvSpPr>
        <p:spPr bwMode="auto">
          <a:xfrm>
            <a:off x="8150224" y="2973836"/>
            <a:ext cx="781050" cy="4572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716B5FD-E205-4046-B101-E14ADDA79832}" type="datetime'Р''''ост'' ''числ-ти ''&quot;Ко''нтен''''''т ''''за''''в''од&quot;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Рост числ-ти "Контент завод"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1" name="Прямоугольник 110">
            <a:extLst>
              <a:ext uri="{FF2B5EF4-FFF2-40B4-BE49-F238E27FC236}">
                <a16:creationId xmlns:a16="http://schemas.microsoft.com/office/drawing/2014/main" id="{DB693632-7D7E-49FD-8FB9-16EAD86CAE60}"/>
              </a:ext>
            </a:extLst>
          </p:cNvPr>
          <p:cNvSpPr/>
          <p:nvPr>
            <p:custDataLst>
              <p:tags r:id="rId45"/>
            </p:custDataLst>
          </p:nvPr>
        </p:nvSpPr>
        <p:spPr bwMode="gray">
          <a:xfrm>
            <a:off x="9221788" y="864048"/>
            <a:ext cx="355600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A25A6A-8544-4A60-B089-A74F4967D33D}" type="datetime'''1''.''''''9''''''''''9''''''''''''''''''''''''''''''5'''''''">
              <a:rPr lang="ru-RU" kumimoji="0" sz="10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1.995</a:t>
            </a:fld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60" name="Прямоугольник 359">
            <a:extLst>
              <a:ext uri="{FF2B5EF4-FFF2-40B4-BE49-F238E27FC236}">
                <a16:creationId xmlns:a16="http://schemas.microsoft.com/office/drawing/2014/main" id="{9ACF061A-C833-4CB7-9D07-D93DF2F240C2}"/>
              </a:ext>
            </a:extLst>
          </p:cNvPr>
          <p:cNvSpPr/>
          <p:nvPr>
            <p:custDataLst>
              <p:tags r:id="rId46"/>
            </p:custDataLst>
          </p:nvPr>
        </p:nvSpPr>
        <p:spPr bwMode="gray">
          <a:xfrm>
            <a:off x="10077450" y="887861"/>
            <a:ext cx="358775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EDB30A8-2B53-49A4-B8B1-454042B7E310}" type="datetime'1''''''''''''''''''''.9''''8''5'''''''''''''''''''''''''''''">
              <a:rPr lang="ru-RU" kumimoji="0" sz="10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1.985</a:t>
            </a:fld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F10CC1DF-016E-497E-8804-AE2FCAC5758F}"/>
              </a:ext>
            </a:extLst>
          </p:cNvPr>
          <p:cNvSpPr/>
          <p:nvPr>
            <p:custDataLst>
              <p:tags r:id="rId47"/>
            </p:custDataLst>
          </p:nvPr>
        </p:nvSpPr>
        <p:spPr bwMode="auto">
          <a:xfrm>
            <a:off x="7264400" y="2973836"/>
            <a:ext cx="836613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B290D20-8DF8-4ABA-BCC8-CAF7B874BB0C}" type="datetime'''''''''''Рост ''''''&#10;в''''''''''оз''''нагр''''''''а''''жд''.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Рост 
вознагражд.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59FC9CC2-CDDB-409F-82F0-475AFBBF1D7F}"/>
              </a:ext>
            </a:extLst>
          </p:cNvPr>
          <p:cNvSpPr/>
          <p:nvPr>
            <p:custDataLst>
              <p:tags r:id="rId48"/>
            </p:custDataLst>
          </p:nvPr>
        </p:nvSpPr>
        <p:spPr bwMode="gray">
          <a:xfrm>
            <a:off x="4159250" y="2565848"/>
            <a:ext cx="177800" cy="136525"/>
          </a:xfrm>
          <a:prstGeom prst="rect">
            <a:avLst/>
          </a:prstGeom>
          <a:solidFill>
            <a:srgbClr val="FF452C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59288-CBAD-4067-A7A7-B9F1AF94D51E}" type="datetime'''''''''''''''''''''''''''''''''''3''3''''''''''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2" name="Прямоугольник 91">
            <a:extLst>
              <a:ext uri="{FF2B5EF4-FFF2-40B4-BE49-F238E27FC236}">
                <a16:creationId xmlns:a16="http://schemas.microsoft.com/office/drawing/2014/main" id="{1ACE87E5-31DE-44B0-B8E0-569257D3BA2F}"/>
              </a:ext>
            </a:extLst>
          </p:cNvPr>
          <p:cNvSpPr/>
          <p:nvPr>
            <p:custDataLst>
              <p:tags r:id="rId49"/>
            </p:custDataLst>
          </p:nvPr>
        </p:nvSpPr>
        <p:spPr bwMode="gray">
          <a:xfrm>
            <a:off x="647700" y="2084836"/>
            <a:ext cx="334963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BA8506-F9C8-4123-8000-A19E7B6A5A0E}" type="datetime'''''''''''''''''''''1''.''''4''''''''''''''''''9''''1'''''">
              <a:rPr lang="ru-RU" kumimoji="0" sz="10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1.491</a:t>
            </a:fld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29CE1DDC-5D0A-43CB-8FF3-F27045EF8B0A}"/>
              </a:ext>
            </a:extLst>
          </p:cNvPr>
          <p:cNvSpPr/>
          <p:nvPr>
            <p:custDataLst>
              <p:tags r:id="rId50"/>
            </p:custDataLst>
          </p:nvPr>
        </p:nvSpPr>
        <p:spPr bwMode="auto">
          <a:xfrm>
            <a:off x="6561138" y="2973836"/>
            <a:ext cx="525463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DCCA236-34CD-4620-A4AA-B3365A9A7B54}" type="datetime'''''Ро''с''''''''т'' ч''''ис''''''л''''''''''''-''''''ти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Рост числ-ти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89" name="Прямоугольник 288">
            <a:extLst>
              <a:ext uri="{FF2B5EF4-FFF2-40B4-BE49-F238E27FC236}">
                <a16:creationId xmlns:a16="http://schemas.microsoft.com/office/drawing/2014/main" id="{9EA864AA-04E8-4B46-B245-B69A6754F466}"/>
              </a:ext>
            </a:extLst>
          </p:cNvPr>
          <p:cNvSpPr/>
          <p:nvPr>
            <p:custDataLst>
              <p:tags r:id="rId51"/>
            </p:custDataLst>
          </p:nvPr>
        </p:nvSpPr>
        <p:spPr bwMode="gray">
          <a:xfrm>
            <a:off x="1487488" y="2092773"/>
            <a:ext cx="373063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0A8660-BC9C-4CBF-B765-D02F348C2C13}" type="datetime'1.4''''''''''''''''''''''''''''8''''''''''8'''''''''''">
              <a:rPr lang="ru-RU" kumimoji="0" sz="10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1.488</a:t>
            </a:fld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33" name="Прямоугольник 332">
            <a:extLst>
              <a:ext uri="{FF2B5EF4-FFF2-40B4-BE49-F238E27FC236}">
                <a16:creationId xmlns:a16="http://schemas.microsoft.com/office/drawing/2014/main" id="{74F4EF98-0A1C-4A84-9341-B2B323647FDC}"/>
              </a:ext>
            </a:extLst>
          </p:cNvPr>
          <p:cNvSpPr/>
          <p:nvPr>
            <p:custDataLst>
              <p:tags r:id="rId52"/>
            </p:custDataLst>
          </p:nvPr>
        </p:nvSpPr>
        <p:spPr bwMode="auto">
          <a:xfrm>
            <a:off x="9913938" y="2973836"/>
            <a:ext cx="687388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4AD6834-F602-4EDC-8571-CB3BBA1D4E31}" type="datetime'''Стр''ате''г''ия'''''''''''' ''2''''''''''0''2''''''''''''7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Стратегия 2027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DBF3F16A-3EE9-4095-A29B-8A92212E3764}"/>
              </a:ext>
            </a:extLst>
          </p:cNvPr>
          <p:cNvSpPr/>
          <p:nvPr>
            <p:custDataLst>
              <p:tags r:id="rId53"/>
            </p:custDataLst>
          </p:nvPr>
        </p:nvSpPr>
        <p:spPr bwMode="auto">
          <a:xfrm>
            <a:off x="5700713" y="2973836"/>
            <a:ext cx="531813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2718E79-A6C7-4B35-9550-BD66BC436066}" type="datetime'''R''''R'''''''''''''''''' ''''''20''2''''''''''''''''''''''7'">
              <a:rPr lang="en-US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RR 2027</a:t>
            </a:fld>
            <a:endParaRPr lang="en-US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50" name="Прямоугольник 449">
            <a:extLst>
              <a:ext uri="{FF2B5EF4-FFF2-40B4-BE49-F238E27FC236}">
                <a16:creationId xmlns:a16="http://schemas.microsoft.com/office/drawing/2014/main" id="{CD4E89CF-F0AC-44E1-B72F-15EDAB45255F}"/>
              </a:ext>
            </a:extLst>
          </p:cNvPr>
          <p:cNvSpPr/>
          <p:nvPr>
            <p:custDataLst>
              <p:tags r:id="rId54"/>
            </p:custDataLst>
          </p:nvPr>
        </p:nvSpPr>
        <p:spPr bwMode="gray">
          <a:xfrm>
            <a:off x="4926013" y="2432498"/>
            <a:ext cx="363538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CF9C5CA-C50F-4E08-9465-2DCC256DB0ED}" type="datetime'''''''''1.''''3''''''4''8'''''''''">
              <a:rPr lang="ru-RU" kumimoji="0" sz="10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1.348</a:t>
            </a:fld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68" name="TextBox 367">
            <a:extLst>
              <a:ext uri="{FF2B5EF4-FFF2-40B4-BE49-F238E27FC236}">
                <a16:creationId xmlns:a16="http://schemas.microsoft.com/office/drawing/2014/main" id="{05BA2723-6A99-4A79-A8BF-58DEABFE04BA}"/>
              </a:ext>
            </a:extLst>
          </p:cNvPr>
          <p:cNvSpPr txBox="1"/>
          <p:nvPr/>
        </p:nvSpPr>
        <p:spPr>
          <a:xfrm>
            <a:off x="7632700" y="4131399"/>
            <a:ext cx="419100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Юнит не участвовал в оптимизации по зеленому сценарию, был защищен отдельно</a:t>
            </a:r>
          </a:p>
          <a:p>
            <a:pPr marL="171450" lvl="0" indent="-1714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ru-RU" sz="1200">
                <a:solidFill>
                  <a:prstClr val="black"/>
                </a:solidFill>
                <a:latin typeface="Arial"/>
              </a:rPr>
              <a:t>Д</a:t>
            </a:r>
            <a:r>
              <a:rPr lang="ru-RU" sz="1200">
                <a:solidFill>
                  <a:prstClr val="black"/>
                </a:solidFill>
                <a:latin typeface="Arial"/>
              </a:rPr>
              <a:t>оп. найм для контент-завода, окупаемость в пределах года</a:t>
            </a:r>
            <a:endParaRPr lang="ru-RU" sz="1200">
              <a:solidFill>
                <a:prstClr val="black"/>
              </a:solidFill>
              <a:latin typeface="Arial"/>
            </a:endParaRPr>
          </a:p>
          <a:p>
            <a:pPr marL="171450" lvl="0" indent="-1714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Нанимаем на 5 ставок больше, чем в стратегии при том же бюджете </a:t>
            </a:r>
          </a:p>
        </p:txBody>
      </p:sp>
      <p:sp>
        <p:nvSpPr>
          <p:cNvPr id="369" name="Овал 368">
            <a:extLst>
              <a:ext uri="{FF2B5EF4-FFF2-40B4-BE49-F238E27FC236}">
                <a16:creationId xmlns:a16="http://schemas.microsoft.com/office/drawing/2014/main" id="{06F14DA0-5589-4632-8C81-9E416F953B73}"/>
              </a:ext>
            </a:extLst>
          </p:cNvPr>
          <p:cNvSpPr/>
          <p:nvPr/>
        </p:nvSpPr>
        <p:spPr>
          <a:xfrm>
            <a:off x="7655412" y="4648924"/>
            <a:ext cx="180000" cy="179388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50800" dist="38100" dir="5400000" algn="t" rotWithShape="0">
              <a:schemeClr val="bg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00" b="1" i="0" u="none" strike="noStrike" kern="120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</a:p>
        </p:txBody>
      </p:sp>
      <p:grpSp>
        <p:nvGrpSpPr>
          <p:cNvPr id="945" name="Группа 944">
            <a:extLst>
              <a:ext uri="{FF2B5EF4-FFF2-40B4-BE49-F238E27FC236}">
                <a16:creationId xmlns:a16="http://schemas.microsoft.com/office/drawing/2014/main" id="{714C5B96-E683-4F47-90EF-B1CC8DD53BF4}"/>
              </a:ext>
            </a:extLst>
          </p:cNvPr>
          <p:cNvGrpSpPr/>
          <p:nvPr/>
        </p:nvGrpSpPr>
        <p:grpSpPr>
          <a:xfrm>
            <a:off x="369887" y="1128394"/>
            <a:ext cx="3269805" cy="542328"/>
            <a:chOff x="197295" y="-41198"/>
            <a:chExt cx="3269805" cy="542328"/>
          </a:xfrm>
        </p:grpSpPr>
        <p:grpSp>
          <p:nvGrpSpPr>
            <p:cNvPr id="943" name="Группа 942">
              <a:extLst>
                <a:ext uri="{FF2B5EF4-FFF2-40B4-BE49-F238E27FC236}">
                  <a16:creationId xmlns:a16="http://schemas.microsoft.com/office/drawing/2014/main" id="{B6DB4C97-F943-4E73-8279-7D9F01FA441C}"/>
                </a:ext>
              </a:extLst>
            </p:cNvPr>
            <p:cNvGrpSpPr/>
            <p:nvPr/>
          </p:nvGrpSpPr>
          <p:grpSpPr>
            <a:xfrm>
              <a:off x="197295" y="224131"/>
              <a:ext cx="1900002" cy="276999"/>
              <a:chOff x="197295" y="224131"/>
              <a:chExt cx="1900002" cy="276999"/>
            </a:xfrm>
          </p:grpSpPr>
          <p:sp>
            <p:nvSpPr>
              <p:cNvPr id="382" name="Прямоугольник 381">
                <a:extLst>
                  <a:ext uri="{FF2B5EF4-FFF2-40B4-BE49-F238E27FC236}">
                    <a16:creationId xmlns:a16="http://schemas.microsoft.com/office/drawing/2014/main" id="{282CFADE-8F4F-4A0F-AD9A-E7C54BEAD2CA}"/>
                  </a:ext>
                </a:extLst>
              </p:cNvPr>
              <p:cNvSpPr/>
              <p:nvPr/>
            </p:nvSpPr>
            <p:spPr>
              <a:xfrm>
                <a:off x="197295" y="290365"/>
                <a:ext cx="273738" cy="144531"/>
              </a:xfrm>
              <a:prstGeom prst="rect">
                <a:avLst/>
              </a:prstGeom>
              <a:solidFill>
                <a:srgbClr val="6666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ru-RU" kumimoji="0" sz="1800" b="0" i="0" u="none" strike="noStrike" kern="1200" cap="none" spc="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83" name="TextBox 382">
                <a:extLst>
                  <a:ext uri="{FF2B5EF4-FFF2-40B4-BE49-F238E27FC236}">
                    <a16:creationId xmlns:a16="http://schemas.microsoft.com/office/drawing/2014/main" id="{886D6D2F-E144-4746-B109-88F2D27B6B21}"/>
                  </a:ext>
                </a:extLst>
              </p:cNvPr>
              <p:cNvSpPr txBox="1"/>
              <p:nvPr/>
            </p:nvSpPr>
            <p:spPr>
              <a:xfrm>
                <a:off x="543681" y="224131"/>
                <a:ext cx="155361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kumimoji="0" sz="1200" b="0" i="0" u="none" strike="noStrike" kern="12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Project</a:t>
                </a:r>
              </a:p>
            </p:txBody>
          </p:sp>
        </p:grpSp>
        <p:grpSp>
          <p:nvGrpSpPr>
            <p:cNvPr id="944" name="Группа 943">
              <a:extLst>
                <a:ext uri="{FF2B5EF4-FFF2-40B4-BE49-F238E27FC236}">
                  <a16:creationId xmlns:a16="http://schemas.microsoft.com/office/drawing/2014/main" id="{3B8339F3-1D38-41BC-997A-B94B5084ACD0}"/>
                </a:ext>
              </a:extLst>
            </p:cNvPr>
            <p:cNvGrpSpPr/>
            <p:nvPr/>
          </p:nvGrpSpPr>
          <p:grpSpPr>
            <a:xfrm>
              <a:off x="197295" y="-41198"/>
              <a:ext cx="3269805" cy="276999"/>
              <a:chOff x="197295" y="-41198"/>
              <a:chExt cx="3269805" cy="276999"/>
            </a:xfrm>
          </p:grpSpPr>
          <p:sp>
            <p:nvSpPr>
              <p:cNvPr id="230" name="TextBox 229">
                <a:extLst>
                  <a:ext uri="{FF2B5EF4-FFF2-40B4-BE49-F238E27FC236}">
                    <a16:creationId xmlns:a16="http://schemas.microsoft.com/office/drawing/2014/main" id="{69D80D5E-3B2E-46CE-8A06-7990B599C851}"/>
                  </a:ext>
                </a:extLst>
              </p:cNvPr>
              <p:cNvSpPr txBox="1"/>
              <p:nvPr/>
            </p:nvSpPr>
            <p:spPr>
              <a:xfrm>
                <a:off x="543681" y="-41198"/>
                <a:ext cx="29234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ru-RU" kumimoji="0" sz="1200" b="0" i="0" u="none" strike="noStrike" kern="12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Ненормируемые подразделения</a:t>
                </a:r>
              </a:p>
            </p:txBody>
          </p:sp>
          <p:sp>
            <p:nvSpPr>
              <p:cNvPr id="397" name="Прямоугольник 396">
                <a:extLst>
                  <a:ext uri="{FF2B5EF4-FFF2-40B4-BE49-F238E27FC236}">
                    <a16:creationId xmlns:a16="http://schemas.microsoft.com/office/drawing/2014/main" id="{F62D4C00-A014-4B11-906E-766633043731}"/>
                  </a:ext>
                </a:extLst>
              </p:cNvPr>
              <p:cNvSpPr/>
              <p:nvPr/>
            </p:nvSpPr>
            <p:spPr>
              <a:xfrm>
                <a:off x="197295" y="25301"/>
                <a:ext cx="273600" cy="144000"/>
              </a:xfrm>
              <a:prstGeom prst="rect">
                <a:avLst/>
              </a:prstGeom>
              <a:gradFill flip="none" rotWithShape="1">
                <a:gsLst>
                  <a:gs pos="51000">
                    <a:srgbClr val="999999"/>
                  </a:gs>
                  <a:gs pos="55000">
                    <a:srgbClr val="FF452C"/>
                  </a:gs>
                </a:gsLst>
                <a:lin ang="13500000" scaled="1"/>
                <a:tileRect/>
              </a:gra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ru-RU" kumimoji="0" sz="1050" b="1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400" name="TextBox 399">
            <a:extLst>
              <a:ext uri="{FF2B5EF4-FFF2-40B4-BE49-F238E27FC236}">
                <a16:creationId xmlns:a16="http://schemas.microsoft.com/office/drawing/2014/main" id="{FE1DF5B1-F3CF-471A-B037-4C1C98ED89CC}"/>
              </a:ext>
            </a:extLst>
          </p:cNvPr>
          <p:cNvSpPr txBox="1"/>
          <p:nvPr/>
        </p:nvSpPr>
        <p:spPr>
          <a:xfrm>
            <a:off x="371985" y="811588"/>
            <a:ext cx="3534229" cy="30777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kumimoji="0" sz="14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PEX, </a:t>
            </a:r>
            <a:r>
              <a:rPr lang="ru-RU" kumimoji="0" sz="14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млн руб. </a:t>
            </a:r>
          </a:p>
        </p:txBody>
      </p:sp>
      <p:sp>
        <p:nvSpPr>
          <p:cNvPr id="401" name="TextBox 400">
            <a:extLst>
              <a:ext uri="{FF2B5EF4-FFF2-40B4-BE49-F238E27FC236}">
                <a16:creationId xmlns:a16="http://schemas.microsoft.com/office/drawing/2014/main" id="{32F16D4D-E98E-440C-A889-770D07EB5CD3}"/>
              </a:ext>
            </a:extLst>
          </p:cNvPr>
          <p:cNvSpPr txBox="1"/>
          <p:nvPr/>
        </p:nvSpPr>
        <p:spPr>
          <a:xfrm>
            <a:off x="371985" y="3421511"/>
            <a:ext cx="3534229" cy="30797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4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ССЧ, </a:t>
            </a:r>
            <a:r>
              <a:rPr lang="ru-RU" kumimoji="0" sz="14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чел. </a:t>
            </a:r>
          </a:p>
        </p:txBody>
      </p:sp>
      <p:cxnSp>
        <p:nvCxnSpPr>
          <p:cNvPr id="811" name="Прямая соединительная линия 810">
            <a:extLst>
              <a:ext uri="{FF2B5EF4-FFF2-40B4-BE49-F238E27FC236}">
                <a16:creationId xmlns:a16="http://schemas.microsoft.com/office/drawing/2014/main" id="{65D37AB0-E748-4902-89FE-2E68118CC751}"/>
              </a:ext>
            </a:extLst>
          </p:cNvPr>
          <p:cNvCxnSpPr/>
          <p:nvPr>
            <p:custDataLst>
              <p:tags r:id="rId55"/>
            </p:custDataLst>
          </p:nvPr>
        </p:nvCxnSpPr>
        <p:spPr bwMode="auto">
          <a:xfrm>
            <a:off x="4784724" y="3966023"/>
            <a:ext cx="338138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3" name="Прямая соединительная линия 812">
            <a:extLst>
              <a:ext uri="{FF2B5EF4-FFF2-40B4-BE49-F238E27FC236}">
                <a16:creationId xmlns:a16="http://schemas.microsoft.com/office/drawing/2014/main" id="{6F89D128-726F-4A62-AF81-813A06A8F4A7}"/>
              </a:ext>
            </a:extLst>
          </p:cNvPr>
          <p:cNvCxnSpPr/>
          <p:nvPr>
            <p:custDataLst>
              <p:tags r:id="rId56"/>
            </p:custDataLst>
          </p:nvPr>
        </p:nvCxnSpPr>
        <p:spPr bwMode="auto">
          <a:xfrm>
            <a:off x="5546724" y="3966023"/>
            <a:ext cx="336550" cy="76041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2" name="Прямая соединительная линия 841">
            <a:extLst>
              <a:ext uri="{FF2B5EF4-FFF2-40B4-BE49-F238E27FC236}">
                <a16:creationId xmlns:a16="http://schemas.microsoft.com/office/drawing/2014/main" id="{6A5AFC30-6F6B-4655-8C76-446FD466235D}"/>
              </a:ext>
            </a:extLst>
          </p:cNvPr>
          <p:cNvCxnSpPr>
            <a:cxnSpLocks/>
          </p:cNvCxnSpPr>
          <p:nvPr>
            <p:custDataLst>
              <p:tags r:id="rId57"/>
            </p:custDataLst>
          </p:nvPr>
        </p:nvCxnSpPr>
        <p:spPr bwMode="auto">
          <a:xfrm flipV="1">
            <a:off x="977899" y="5340798"/>
            <a:ext cx="338138" cy="8890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3" name="Прямая соединительная линия 842">
            <a:extLst>
              <a:ext uri="{FF2B5EF4-FFF2-40B4-BE49-F238E27FC236}">
                <a16:creationId xmlns:a16="http://schemas.microsoft.com/office/drawing/2014/main" id="{7BD931B6-BD1E-4ED6-8CAB-74DCFD1B3FFB}"/>
              </a:ext>
            </a:extLst>
          </p:cNvPr>
          <p:cNvCxnSpPr/>
          <p:nvPr>
            <p:custDataLst>
              <p:tags r:id="rId58"/>
            </p:custDataLst>
          </p:nvPr>
        </p:nvCxnSpPr>
        <p:spPr bwMode="auto">
          <a:xfrm>
            <a:off x="1739899" y="5340798"/>
            <a:ext cx="3365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4" name="Прямая соединительная линия 843">
            <a:extLst>
              <a:ext uri="{FF2B5EF4-FFF2-40B4-BE49-F238E27FC236}">
                <a16:creationId xmlns:a16="http://schemas.microsoft.com/office/drawing/2014/main" id="{A458EDBC-2068-4E01-BD11-82E88A586AB5}"/>
              </a:ext>
            </a:extLst>
          </p:cNvPr>
          <p:cNvCxnSpPr/>
          <p:nvPr>
            <p:custDataLst>
              <p:tags r:id="rId59"/>
            </p:custDataLst>
          </p:nvPr>
        </p:nvCxnSpPr>
        <p:spPr bwMode="auto">
          <a:xfrm>
            <a:off x="2500312" y="5363023"/>
            <a:ext cx="338138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5" name="Прямая соединительная линия 844">
            <a:extLst>
              <a:ext uri="{FF2B5EF4-FFF2-40B4-BE49-F238E27FC236}">
                <a16:creationId xmlns:a16="http://schemas.microsoft.com/office/drawing/2014/main" id="{10CD846E-11C3-4B58-A965-7A35345BDD85}"/>
              </a:ext>
            </a:extLst>
          </p:cNvPr>
          <p:cNvCxnSpPr/>
          <p:nvPr>
            <p:custDataLst>
              <p:tags r:id="rId60"/>
            </p:custDataLst>
          </p:nvPr>
        </p:nvCxnSpPr>
        <p:spPr bwMode="auto">
          <a:xfrm>
            <a:off x="3262312" y="5363023"/>
            <a:ext cx="338138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0" name="Прямая соединительная линия 809">
            <a:extLst>
              <a:ext uri="{FF2B5EF4-FFF2-40B4-BE49-F238E27FC236}">
                <a16:creationId xmlns:a16="http://schemas.microsoft.com/office/drawing/2014/main" id="{EC55AECC-0771-4B19-A06B-736C8BC6C2E2}"/>
              </a:ext>
            </a:extLst>
          </p:cNvPr>
          <p:cNvCxnSpPr/>
          <p:nvPr>
            <p:custDataLst>
              <p:tags r:id="rId61"/>
            </p:custDataLst>
          </p:nvPr>
        </p:nvCxnSpPr>
        <p:spPr bwMode="auto">
          <a:xfrm>
            <a:off x="4024312" y="4356548"/>
            <a:ext cx="3365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57" name="Chart 156">
            <a:extLst>
              <a:ext uri="{FF2B5EF4-FFF2-40B4-BE49-F238E27FC236}">
                <a16:creationId xmlns:a16="http://schemas.microsoft.com/office/drawing/2014/main" id="{92666AAB-C2D7-414C-A8D5-698171721015}"/>
              </a:ext>
            </a:extLst>
          </p:cNvPr>
          <p:cNvGraphicFramePr/>
          <p:nvPr>
            <p:custDataLst>
              <p:tags r:id="rId62"/>
            </p:custDataLst>
          </p:nvPr>
        </p:nvGraphicFramePr>
        <p:xfrm>
          <a:off x="303213" y="3740598"/>
          <a:ext cx="6256337" cy="21574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8"/>
          </a:graphicData>
        </a:graphic>
      </p:graphicFrame>
      <p:sp useBgFill="1">
        <p:nvSpPr>
          <p:cNvPr id="36" name="Freeform: Shape 35">
            <a:extLst>
              <a:ext uri="{FF2B5EF4-FFF2-40B4-BE49-F238E27FC236}">
                <a16:creationId xmlns:a16="http://schemas.microsoft.com/office/drawing/2014/main" id="{9D3FC29A-03F0-4BA1-B3FE-D933512A006D}"/>
              </a:ext>
            </a:extLst>
          </p:cNvPr>
          <p:cNvSpPr/>
          <p:nvPr>
            <p:custDataLst>
              <p:tags r:id="rId63"/>
            </p:custDataLst>
          </p:nvPr>
        </p:nvSpPr>
        <p:spPr bwMode="auto">
          <a:xfrm>
            <a:off x="515938" y="5455098"/>
            <a:ext cx="500063" cy="192088"/>
          </a:xfrm>
          <a:custGeom>
            <a:avLst/>
            <a:gdLst/>
            <a:ahLst/>
            <a:cxnLst/>
            <a:rect l="0" t="0" r="0" b="0"/>
            <a:pathLst>
              <a:path w="500063" h="192089">
                <a:moveTo>
                  <a:pt x="0" y="134938"/>
                </a:moveTo>
                <a:lnTo>
                  <a:pt x="500062" y="0"/>
                </a:lnTo>
                <a:lnTo>
                  <a:pt x="500062" y="57150"/>
                </a:lnTo>
                <a:lnTo>
                  <a:pt x="0" y="192088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39" name="Freeform: Shape 38">
            <a:extLst>
              <a:ext uri="{FF2B5EF4-FFF2-40B4-BE49-F238E27FC236}">
                <a16:creationId xmlns:a16="http://schemas.microsoft.com/office/drawing/2014/main" id="{118A0AC9-29ED-46B9-A6BE-9C4CE08B56DB}"/>
              </a:ext>
            </a:extLst>
          </p:cNvPr>
          <p:cNvSpPr/>
          <p:nvPr>
            <p:custDataLst>
              <p:tags r:id="rId64"/>
            </p:custDataLst>
          </p:nvPr>
        </p:nvSpPr>
        <p:spPr bwMode="auto">
          <a:xfrm>
            <a:off x="1277938" y="5455098"/>
            <a:ext cx="500063" cy="192088"/>
          </a:xfrm>
          <a:custGeom>
            <a:avLst/>
            <a:gdLst/>
            <a:ahLst/>
            <a:cxnLst/>
            <a:rect l="0" t="0" r="0" b="0"/>
            <a:pathLst>
              <a:path w="500063" h="192089">
                <a:moveTo>
                  <a:pt x="0" y="134938"/>
                </a:moveTo>
                <a:lnTo>
                  <a:pt x="500062" y="0"/>
                </a:lnTo>
                <a:lnTo>
                  <a:pt x="500062" y="57150"/>
                </a:lnTo>
                <a:lnTo>
                  <a:pt x="0" y="192088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42" name="Freeform: Shape 41">
            <a:extLst>
              <a:ext uri="{FF2B5EF4-FFF2-40B4-BE49-F238E27FC236}">
                <a16:creationId xmlns:a16="http://schemas.microsoft.com/office/drawing/2014/main" id="{DE4484FC-E69F-43A4-9DC2-15C9999AB433}"/>
              </a:ext>
            </a:extLst>
          </p:cNvPr>
          <p:cNvSpPr/>
          <p:nvPr>
            <p:custDataLst>
              <p:tags r:id="rId65"/>
            </p:custDataLst>
          </p:nvPr>
        </p:nvSpPr>
        <p:spPr bwMode="auto">
          <a:xfrm>
            <a:off x="2800350" y="5455098"/>
            <a:ext cx="500064" cy="192088"/>
          </a:xfrm>
          <a:custGeom>
            <a:avLst/>
            <a:gdLst/>
            <a:ahLst/>
            <a:cxnLst/>
            <a:rect l="0" t="0" r="0" b="0"/>
            <a:pathLst>
              <a:path w="500064" h="192089">
                <a:moveTo>
                  <a:pt x="0" y="134938"/>
                </a:moveTo>
                <a:lnTo>
                  <a:pt x="500063" y="0"/>
                </a:lnTo>
                <a:lnTo>
                  <a:pt x="500063" y="57150"/>
                </a:lnTo>
                <a:lnTo>
                  <a:pt x="0" y="192088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48" name="Freeform: Shape 47">
            <a:extLst>
              <a:ext uri="{FF2B5EF4-FFF2-40B4-BE49-F238E27FC236}">
                <a16:creationId xmlns:a16="http://schemas.microsoft.com/office/drawing/2014/main" id="{B922B032-4B6A-40F8-8398-1EC6365C99A7}"/>
              </a:ext>
            </a:extLst>
          </p:cNvPr>
          <p:cNvSpPr/>
          <p:nvPr>
            <p:custDataLst>
              <p:tags r:id="rId66"/>
            </p:custDataLst>
          </p:nvPr>
        </p:nvSpPr>
        <p:spPr bwMode="auto">
          <a:xfrm>
            <a:off x="5084763" y="5455098"/>
            <a:ext cx="500063" cy="192088"/>
          </a:xfrm>
          <a:custGeom>
            <a:avLst/>
            <a:gdLst/>
            <a:ahLst/>
            <a:cxnLst/>
            <a:rect l="0" t="0" r="0" b="0"/>
            <a:pathLst>
              <a:path w="500063" h="192089">
                <a:moveTo>
                  <a:pt x="0" y="134938"/>
                </a:moveTo>
                <a:lnTo>
                  <a:pt x="500062" y="0"/>
                </a:lnTo>
                <a:lnTo>
                  <a:pt x="500062" y="57150"/>
                </a:lnTo>
                <a:lnTo>
                  <a:pt x="0" y="192088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51" name="Freeform: Shape 50">
            <a:extLst>
              <a:ext uri="{FF2B5EF4-FFF2-40B4-BE49-F238E27FC236}">
                <a16:creationId xmlns:a16="http://schemas.microsoft.com/office/drawing/2014/main" id="{6ACE4B7C-66BD-4D3B-AF0C-335B0F349F38}"/>
              </a:ext>
            </a:extLst>
          </p:cNvPr>
          <p:cNvSpPr/>
          <p:nvPr>
            <p:custDataLst>
              <p:tags r:id="rId67"/>
            </p:custDataLst>
          </p:nvPr>
        </p:nvSpPr>
        <p:spPr bwMode="auto">
          <a:xfrm>
            <a:off x="5845175" y="5455098"/>
            <a:ext cx="500064" cy="192088"/>
          </a:xfrm>
          <a:custGeom>
            <a:avLst/>
            <a:gdLst/>
            <a:ahLst/>
            <a:cxnLst/>
            <a:rect l="0" t="0" r="0" b="0"/>
            <a:pathLst>
              <a:path w="500064" h="192089">
                <a:moveTo>
                  <a:pt x="0" y="134938"/>
                </a:moveTo>
                <a:lnTo>
                  <a:pt x="500063" y="0"/>
                </a:lnTo>
                <a:lnTo>
                  <a:pt x="500063" y="57150"/>
                </a:lnTo>
                <a:lnTo>
                  <a:pt x="0" y="192088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350E9D71-DDA0-4867-BED3-2843BF39E84C}"/>
              </a:ext>
            </a:extLst>
          </p:cNvPr>
          <p:cNvSpPr/>
          <p:nvPr>
            <p:custDataLst>
              <p:tags r:id="rId68"/>
            </p:custDataLst>
          </p:nvPr>
        </p:nvSpPr>
        <p:spPr bwMode="auto">
          <a:xfrm>
            <a:off x="515938" y="5455098"/>
            <a:ext cx="500063" cy="134938"/>
          </a:xfrm>
          <a:custGeom>
            <a:avLst/>
            <a:gdLst/>
            <a:ahLst/>
            <a:cxnLst/>
            <a:rect l="0" t="0" r="0" b="0"/>
            <a:pathLst>
              <a:path w="500063" h="134939">
                <a:moveTo>
                  <a:pt x="0" y="134938"/>
                </a:moveTo>
                <a:lnTo>
                  <a:pt x="500062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893DF8D4-4877-466D-9EB7-AD089407B6FA}"/>
              </a:ext>
            </a:extLst>
          </p:cNvPr>
          <p:cNvSpPr/>
          <p:nvPr>
            <p:custDataLst>
              <p:tags r:id="rId69"/>
            </p:custDataLst>
          </p:nvPr>
        </p:nvSpPr>
        <p:spPr bwMode="auto">
          <a:xfrm>
            <a:off x="515938" y="5512248"/>
            <a:ext cx="500063" cy="134938"/>
          </a:xfrm>
          <a:custGeom>
            <a:avLst/>
            <a:gdLst/>
            <a:ahLst/>
            <a:cxnLst/>
            <a:rect l="0" t="0" r="0" b="0"/>
            <a:pathLst>
              <a:path w="500063" h="134939">
                <a:moveTo>
                  <a:pt x="0" y="134938"/>
                </a:moveTo>
                <a:lnTo>
                  <a:pt x="500062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DD58D4DC-8E7D-48DA-96B1-970B89F2B2FC}"/>
              </a:ext>
            </a:extLst>
          </p:cNvPr>
          <p:cNvSpPr/>
          <p:nvPr>
            <p:custDataLst>
              <p:tags r:id="rId70"/>
            </p:custDataLst>
          </p:nvPr>
        </p:nvSpPr>
        <p:spPr bwMode="auto">
          <a:xfrm>
            <a:off x="1277938" y="5455098"/>
            <a:ext cx="500063" cy="134938"/>
          </a:xfrm>
          <a:custGeom>
            <a:avLst/>
            <a:gdLst/>
            <a:ahLst/>
            <a:cxnLst/>
            <a:rect l="0" t="0" r="0" b="0"/>
            <a:pathLst>
              <a:path w="500063" h="134939">
                <a:moveTo>
                  <a:pt x="0" y="134938"/>
                </a:moveTo>
                <a:lnTo>
                  <a:pt x="500062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8B7C2974-30C8-4BA3-A012-2BBF68F32C7F}"/>
              </a:ext>
            </a:extLst>
          </p:cNvPr>
          <p:cNvSpPr/>
          <p:nvPr>
            <p:custDataLst>
              <p:tags r:id="rId71"/>
            </p:custDataLst>
          </p:nvPr>
        </p:nvSpPr>
        <p:spPr bwMode="auto">
          <a:xfrm>
            <a:off x="1277938" y="5512248"/>
            <a:ext cx="500063" cy="134938"/>
          </a:xfrm>
          <a:custGeom>
            <a:avLst/>
            <a:gdLst/>
            <a:ahLst/>
            <a:cxnLst/>
            <a:rect l="0" t="0" r="0" b="0"/>
            <a:pathLst>
              <a:path w="500063" h="134939">
                <a:moveTo>
                  <a:pt x="0" y="134938"/>
                </a:moveTo>
                <a:lnTo>
                  <a:pt x="500062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66CA1F14-85D1-405E-88FC-CE3DF23ECB5D}"/>
              </a:ext>
            </a:extLst>
          </p:cNvPr>
          <p:cNvSpPr/>
          <p:nvPr>
            <p:custDataLst>
              <p:tags r:id="rId72"/>
            </p:custDataLst>
          </p:nvPr>
        </p:nvSpPr>
        <p:spPr bwMode="auto">
          <a:xfrm>
            <a:off x="2800350" y="5455098"/>
            <a:ext cx="500064" cy="134938"/>
          </a:xfrm>
          <a:custGeom>
            <a:avLst/>
            <a:gdLst/>
            <a:ahLst/>
            <a:cxnLst/>
            <a:rect l="0" t="0" r="0" b="0"/>
            <a:pathLst>
              <a:path w="500064" h="134939">
                <a:moveTo>
                  <a:pt x="0" y="134938"/>
                </a:moveTo>
                <a:lnTo>
                  <a:pt x="500063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5642E4A1-3729-4D4C-BDE1-88473AD7882E}"/>
              </a:ext>
            </a:extLst>
          </p:cNvPr>
          <p:cNvSpPr/>
          <p:nvPr>
            <p:custDataLst>
              <p:tags r:id="rId73"/>
            </p:custDataLst>
          </p:nvPr>
        </p:nvSpPr>
        <p:spPr bwMode="auto">
          <a:xfrm>
            <a:off x="2800350" y="5512248"/>
            <a:ext cx="500064" cy="134938"/>
          </a:xfrm>
          <a:custGeom>
            <a:avLst/>
            <a:gdLst/>
            <a:ahLst/>
            <a:cxnLst/>
            <a:rect l="0" t="0" r="0" b="0"/>
            <a:pathLst>
              <a:path w="500064" h="134939">
                <a:moveTo>
                  <a:pt x="0" y="134938"/>
                </a:moveTo>
                <a:lnTo>
                  <a:pt x="500063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DD996FD9-47DE-46CC-994B-267663F4239C}"/>
              </a:ext>
            </a:extLst>
          </p:cNvPr>
          <p:cNvSpPr/>
          <p:nvPr>
            <p:custDataLst>
              <p:tags r:id="rId74"/>
            </p:custDataLst>
          </p:nvPr>
        </p:nvSpPr>
        <p:spPr bwMode="auto">
          <a:xfrm>
            <a:off x="5084763" y="5455098"/>
            <a:ext cx="500063" cy="134938"/>
          </a:xfrm>
          <a:custGeom>
            <a:avLst/>
            <a:gdLst/>
            <a:ahLst/>
            <a:cxnLst/>
            <a:rect l="0" t="0" r="0" b="0"/>
            <a:pathLst>
              <a:path w="500063" h="134939">
                <a:moveTo>
                  <a:pt x="0" y="134938"/>
                </a:moveTo>
                <a:lnTo>
                  <a:pt x="500062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94DACB82-27F9-496B-BBC0-5A5A85C83F0A}"/>
              </a:ext>
            </a:extLst>
          </p:cNvPr>
          <p:cNvSpPr/>
          <p:nvPr>
            <p:custDataLst>
              <p:tags r:id="rId75"/>
            </p:custDataLst>
          </p:nvPr>
        </p:nvSpPr>
        <p:spPr bwMode="auto">
          <a:xfrm>
            <a:off x="5084763" y="5512248"/>
            <a:ext cx="500063" cy="134938"/>
          </a:xfrm>
          <a:custGeom>
            <a:avLst/>
            <a:gdLst/>
            <a:ahLst/>
            <a:cxnLst/>
            <a:rect l="0" t="0" r="0" b="0"/>
            <a:pathLst>
              <a:path w="500063" h="134939">
                <a:moveTo>
                  <a:pt x="0" y="134938"/>
                </a:moveTo>
                <a:lnTo>
                  <a:pt x="500062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259B65F6-A57C-4FDB-82C2-42C22D343485}"/>
              </a:ext>
            </a:extLst>
          </p:cNvPr>
          <p:cNvSpPr/>
          <p:nvPr>
            <p:custDataLst>
              <p:tags r:id="rId76"/>
            </p:custDataLst>
          </p:nvPr>
        </p:nvSpPr>
        <p:spPr bwMode="auto">
          <a:xfrm>
            <a:off x="5845175" y="5455098"/>
            <a:ext cx="500064" cy="134938"/>
          </a:xfrm>
          <a:custGeom>
            <a:avLst/>
            <a:gdLst/>
            <a:ahLst/>
            <a:cxnLst/>
            <a:rect l="0" t="0" r="0" b="0"/>
            <a:pathLst>
              <a:path w="500064" h="134939">
                <a:moveTo>
                  <a:pt x="0" y="134938"/>
                </a:moveTo>
                <a:lnTo>
                  <a:pt x="500063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9AA491B5-5093-4F63-87DE-056D512B743F}"/>
              </a:ext>
            </a:extLst>
          </p:cNvPr>
          <p:cNvSpPr/>
          <p:nvPr>
            <p:custDataLst>
              <p:tags r:id="rId77"/>
            </p:custDataLst>
          </p:nvPr>
        </p:nvSpPr>
        <p:spPr bwMode="auto">
          <a:xfrm>
            <a:off x="5845175" y="5512248"/>
            <a:ext cx="500064" cy="134938"/>
          </a:xfrm>
          <a:custGeom>
            <a:avLst/>
            <a:gdLst/>
            <a:ahLst/>
            <a:cxnLst/>
            <a:rect l="0" t="0" r="0" b="0"/>
            <a:pathLst>
              <a:path w="500064" h="134939">
                <a:moveTo>
                  <a:pt x="0" y="134938"/>
                </a:moveTo>
                <a:lnTo>
                  <a:pt x="500063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85" name="Прямоугольник 784">
            <a:extLst>
              <a:ext uri="{FF2B5EF4-FFF2-40B4-BE49-F238E27FC236}">
                <a16:creationId xmlns:a16="http://schemas.microsoft.com/office/drawing/2014/main" id="{EBB79448-432B-46D5-BB37-44D62BBA98A6}"/>
              </a:ext>
            </a:extLst>
          </p:cNvPr>
          <p:cNvSpPr/>
          <p:nvPr>
            <p:custDataLst>
              <p:tags r:id="rId78"/>
            </p:custDataLst>
          </p:nvPr>
        </p:nvSpPr>
        <p:spPr bwMode="auto">
          <a:xfrm>
            <a:off x="1258888" y="5715448"/>
            <a:ext cx="536575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B3E321D-5BBA-46A8-BCBB-A2F207592B2E}" type="datetime'BU'' ''с''''''''е''''''н''''''т'''' 2''026''''''''''''''''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BU сент 2026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25" name="Прямоугольник 824">
            <a:extLst>
              <a:ext uri="{FF2B5EF4-FFF2-40B4-BE49-F238E27FC236}">
                <a16:creationId xmlns:a16="http://schemas.microsoft.com/office/drawing/2014/main" id="{5B492200-7AF0-4863-B3E2-904710C3F7B4}"/>
              </a:ext>
            </a:extLst>
          </p:cNvPr>
          <p:cNvSpPr/>
          <p:nvPr>
            <p:custDataLst>
              <p:tags r:id="rId79"/>
            </p:custDataLst>
          </p:nvPr>
        </p:nvSpPr>
        <p:spPr bwMode="gray">
          <a:xfrm>
            <a:off x="2222500" y="5283648"/>
            <a:ext cx="130175" cy="136525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6C36751-0410-486D-9FC2-3BEBD3FF8CC1}" type="datetime'''''-''''''''''''''''''''''''''''''''''''1'">
              <a:rPr lang="ru-RU" kumimoji="0" sz="1000" b="0" i="0" u="none" strike="noStrike" kern="1200" cap="none" spc="0" normalizeH="0" baseline="0" smtClean="0"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-1</a:t>
            </a:fld>
            <a:endParaRPr lang="ru-RU" kumimoji="0" sz="1000" b="0" i="0" u="none" strike="noStrike" kern="1200" cap="none" spc="0" normalizeH="0" baseline="0"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6" name="Прямоугольник 785">
            <a:extLst>
              <a:ext uri="{FF2B5EF4-FFF2-40B4-BE49-F238E27FC236}">
                <a16:creationId xmlns:a16="http://schemas.microsoft.com/office/drawing/2014/main" id="{6EA51B5B-8957-40C8-BC1E-D659D8A82FC1}"/>
              </a:ext>
            </a:extLst>
          </p:cNvPr>
          <p:cNvSpPr/>
          <p:nvPr>
            <p:custDataLst>
              <p:tags r:id="rId80"/>
            </p:custDataLst>
          </p:nvPr>
        </p:nvSpPr>
        <p:spPr bwMode="auto">
          <a:xfrm>
            <a:off x="1974850" y="5715448"/>
            <a:ext cx="627063" cy="4572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DBAA0EF-9006-4CD7-87BA-2FD3F99DD090}" type="datetime'''''К''''ален''д''а-''р''и''за''ция'' ''''''н''''''ай''ма''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Календа-ризация найма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4" name="Прямоугольник 143">
            <a:extLst>
              <a:ext uri="{FF2B5EF4-FFF2-40B4-BE49-F238E27FC236}">
                <a16:creationId xmlns:a16="http://schemas.microsoft.com/office/drawing/2014/main" id="{039EB1EC-6D65-438E-96C3-88FCA7415CE4}"/>
              </a:ext>
            </a:extLst>
          </p:cNvPr>
          <p:cNvSpPr/>
          <p:nvPr>
            <p:custDataLst>
              <p:tags r:id="rId81"/>
            </p:custDataLst>
          </p:nvPr>
        </p:nvSpPr>
        <p:spPr bwMode="auto">
          <a:xfrm>
            <a:off x="2787650" y="5715448"/>
            <a:ext cx="523875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80EA3E-C0C4-4883-B9B2-8D7B9F89600C}" type="datetime'F''''''''''''C (''''''''''''''9+''3'') ''''''''20''2''6'">
              <a:rPr lang="en-US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FC (9+3) 2026</a:t>
            </a:fld>
            <a:endParaRPr lang="en-US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8" name="Прямоугольник 787">
            <a:extLst>
              <a:ext uri="{FF2B5EF4-FFF2-40B4-BE49-F238E27FC236}">
                <a16:creationId xmlns:a16="http://schemas.microsoft.com/office/drawing/2014/main" id="{71E6E75A-5472-4550-90D7-647930EEF135}"/>
              </a:ext>
            </a:extLst>
          </p:cNvPr>
          <p:cNvSpPr/>
          <p:nvPr>
            <p:custDataLst>
              <p:tags r:id="rId82"/>
            </p:custDataLst>
          </p:nvPr>
        </p:nvSpPr>
        <p:spPr bwMode="auto">
          <a:xfrm>
            <a:off x="3484563" y="5715448"/>
            <a:ext cx="655638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0B63179-E887-47D7-9350-D14E2C76D8AE}" type="datetime'''''''''Доп''''''''''.''''''''''''''''''''''н''''ай''м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Доп.найм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9" name="Прямоугольник 788">
            <a:extLst>
              <a:ext uri="{FF2B5EF4-FFF2-40B4-BE49-F238E27FC236}">
                <a16:creationId xmlns:a16="http://schemas.microsoft.com/office/drawing/2014/main" id="{EC1A8879-44AD-44DF-840B-62CA8525067F}"/>
              </a:ext>
            </a:extLst>
          </p:cNvPr>
          <p:cNvSpPr/>
          <p:nvPr>
            <p:custDataLst>
              <p:tags r:id="rId83"/>
            </p:custDataLst>
          </p:nvPr>
        </p:nvSpPr>
        <p:spPr bwMode="auto">
          <a:xfrm>
            <a:off x="4295775" y="5715448"/>
            <a:ext cx="55245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83FF510-F166-4C67-AB4E-8C9A2872ACBC}" type="datetime'Ко''''н''''''т''е''''''нт'''' з''''ав''''''''о''''''д''''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Контент завод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28" name="Прямоугольник 827">
            <a:extLst>
              <a:ext uri="{FF2B5EF4-FFF2-40B4-BE49-F238E27FC236}">
                <a16:creationId xmlns:a16="http://schemas.microsoft.com/office/drawing/2014/main" id="{CF6AE9F8-5443-48FD-A679-75453434862B}"/>
              </a:ext>
            </a:extLst>
          </p:cNvPr>
          <p:cNvSpPr/>
          <p:nvPr>
            <p:custDataLst>
              <p:tags r:id="rId84"/>
            </p:custDataLst>
          </p:nvPr>
        </p:nvSpPr>
        <p:spPr bwMode="gray">
          <a:xfrm>
            <a:off x="5207000" y="4861373"/>
            <a:ext cx="255588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B67EF3D-14FA-452B-9043-1857F798A9E4}" type="datetime'''''''''''''''''''''''''''3''''''''6''''''''''''''''''5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365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90" name="Прямоугольник 789">
            <a:extLst>
              <a:ext uri="{FF2B5EF4-FFF2-40B4-BE49-F238E27FC236}">
                <a16:creationId xmlns:a16="http://schemas.microsoft.com/office/drawing/2014/main" id="{B5EA32DD-2EE3-4B40-9024-B0377BEC3403}"/>
              </a:ext>
            </a:extLst>
          </p:cNvPr>
          <p:cNvSpPr/>
          <p:nvPr>
            <p:custDataLst>
              <p:tags r:id="rId85"/>
            </p:custDataLst>
          </p:nvPr>
        </p:nvSpPr>
        <p:spPr bwMode="auto">
          <a:xfrm>
            <a:off x="5062538" y="5715448"/>
            <a:ext cx="542925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BB7F5A4-D517-40B8-B52E-48AFB291FBBD}" type="datetime'''''B''''''''''''U'''''' ''''''''''2''''''''02''''''''''''''7'">
              <a:rPr lang="en-US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BU 2027</a:t>
            </a:fld>
            <a:endParaRPr lang="en-US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95" name="Прямоугольник 794">
            <a:extLst>
              <a:ext uri="{FF2B5EF4-FFF2-40B4-BE49-F238E27FC236}">
                <a16:creationId xmlns:a16="http://schemas.microsoft.com/office/drawing/2014/main" id="{1FBB58F5-1F0C-4315-B98E-477CEBAEAD32}"/>
              </a:ext>
            </a:extLst>
          </p:cNvPr>
          <p:cNvSpPr/>
          <p:nvPr>
            <p:custDataLst>
              <p:tags r:id="rId86"/>
            </p:custDataLst>
          </p:nvPr>
        </p:nvSpPr>
        <p:spPr bwMode="auto">
          <a:xfrm>
            <a:off x="5751513" y="5715448"/>
            <a:ext cx="687388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A08D2AB-2A72-4E08-88C9-059A2988166C}" type="datetime'''''С''''т''''р''''а''''тегия'''''''' ''''2''''0''2''''7''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Стратегия 2027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89" name="Прямоугольник 888">
            <a:extLst>
              <a:ext uri="{FF2B5EF4-FFF2-40B4-BE49-F238E27FC236}">
                <a16:creationId xmlns:a16="http://schemas.microsoft.com/office/drawing/2014/main" id="{5F4BFD6B-DA0E-4C79-8C1B-332678479231}"/>
              </a:ext>
            </a:extLst>
          </p:cNvPr>
          <p:cNvSpPr/>
          <p:nvPr>
            <p:custDataLst>
              <p:tags r:id="rId87"/>
            </p:custDataLst>
          </p:nvPr>
        </p:nvSpPr>
        <p:spPr bwMode="gray">
          <a:xfrm>
            <a:off x="627063" y="5267773"/>
            <a:ext cx="276225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008D65-3FF8-4DCB-9226-A6086F5DD0A9}" type="datetime'''''3''''''''''''''''''0''''''9'''''''''''''''''''''''''''''">
              <a:rPr lang="ru-RU" kumimoji="0" sz="10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309</a:t>
            </a:fld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91" name="Прямоугольник 890">
            <a:extLst>
              <a:ext uri="{FF2B5EF4-FFF2-40B4-BE49-F238E27FC236}">
                <a16:creationId xmlns:a16="http://schemas.microsoft.com/office/drawing/2014/main" id="{80AC280B-407F-43A6-B1B7-1FAC96E48F21}"/>
              </a:ext>
            </a:extLst>
          </p:cNvPr>
          <p:cNvSpPr/>
          <p:nvPr>
            <p:custDataLst>
              <p:tags r:id="rId88"/>
            </p:custDataLst>
          </p:nvPr>
        </p:nvSpPr>
        <p:spPr bwMode="gray">
          <a:xfrm>
            <a:off x="1411288" y="5178873"/>
            <a:ext cx="233363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91F77D3-A876-4722-9E8A-BB42C6A09C40}" type="datetime'3''''''''''''''1''''''''''''3'''''''''''''''''''''''''''''''">
              <a:rPr lang="ru-RU" kumimoji="0" sz="10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313</a:t>
            </a:fld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3" name="Прямоугольник 782">
            <a:extLst>
              <a:ext uri="{FF2B5EF4-FFF2-40B4-BE49-F238E27FC236}">
                <a16:creationId xmlns:a16="http://schemas.microsoft.com/office/drawing/2014/main" id="{16D34D85-8E75-4CBF-8A88-DC062B5AB7F8}"/>
              </a:ext>
            </a:extLst>
          </p:cNvPr>
          <p:cNvSpPr/>
          <p:nvPr>
            <p:custDataLst>
              <p:tags r:id="rId89"/>
            </p:custDataLst>
          </p:nvPr>
        </p:nvSpPr>
        <p:spPr bwMode="auto">
          <a:xfrm>
            <a:off x="492125" y="5715448"/>
            <a:ext cx="546100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2CABFB-2CE6-4B96-A2C4-CD4FFE7EE838}" type="datetime'''''''B''''''''''''''''U 2''''''''''0''2''''''''''''6'''">
              <a:rPr lang="en-US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BU 2026</a:t>
            </a:fld>
            <a:endParaRPr lang="en-US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36" name="Прямоугольник 835">
            <a:extLst>
              <a:ext uri="{FF2B5EF4-FFF2-40B4-BE49-F238E27FC236}">
                <a16:creationId xmlns:a16="http://schemas.microsoft.com/office/drawing/2014/main" id="{04CB08CC-5D93-4ACD-8BE7-202EA7781671}"/>
              </a:ext>
            </a:extLst>
          </p:cNvPr>
          <p:cNvSpPr/>
          <p:nvPr>
            <p:custDataLst>
              <p:tags r:id="rId90"/>
            </p:custDataLst>
          </p:nvPr>
        </p:nvSpPr>
        <p:spPr bwMode="gray">
          <a:xfrm>
            <a:off x="3716338" y="4194623"/>
            <a:ext cx="190500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88CFFFB-6897-4828-B238-C9431BAB4AAD}" type="datetime'''''''''''''''''''''''''''4''''''''''''''''5''''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38" name="Прямоугольник 837">
            <a:extLst>
              <a:ext uri="{FF2B5EF4-FFF2-40B4-BE49-F238E27FC236}">
                <a16:creationId xmlns:a16="http://schemas.microsoft.com/office/drawing/2014/main" id="{568D7A1A-9C8A-4E57-A766-A510C3556298}"/>
              </a:ext>
            </a:extLst>
          </p:cNvPr>
          <p:cNvSpPr/>
          <p:nvPr>
            <p:custDataLst>
              <p:tags r:id="rId91"/>
            </p:custDataLst>
          </p:nvPr>
        </p:nvSpPr>
        <p:spPr bwMode="gray">
          <a:xfrm>
            <a:off x="5202238" y="3804098"/>
            <a:ext cx="265113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483745-9248-4E8D-A074-6E0BF2C3106B}" type="datetime'''''''''''''''''''3''''''''''''''''7''''5'''''''''">
              <a:rPr lang="ru-RU" kumimoji="0" sz="10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375</a:t>
            </a:fld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93" name="Прямоугольник 892">
            <a:extLst>
              <a:ext uri="{FF2B5EF4-FFF2-40B4-BE49-F238E27FC236}">
                <a16:creationId xmlns:a16="http://schemas.microsoft.com/office/drawing/2014/main" id="{06425A92-4A0D-450A-8DBE-9AFA36035D6B}"/>
              </a:ext>
            </a:extLst>
          </p:cNvPr>
          <p:cNvSpPr/>
          <p:nvPr>
            <p:custDataLst>
              <p:tags r:id="rId92"/>
            </p:custDataLst>
          </p:nvPr>
        </p:nvSpPr>
        <p:spPr bwMode="gray">
          <a:xfrm>
            <a:off x="5972175" y="4564511"/>
            <a:ext cx="246063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037D1C2-AEAE-4C7E-854A-C67AE2C3CE79}" type="datetime'''''''3''''''''''''''''''''''''''''''''''''4''1'">
              <a:rPr lang="ru-RU" kumimoji="0" sz="10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341</a:t>
            </a:fld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3" name="Прямоугольник 172">
            <a:extLst>
              <a:ext uri="{FF2B5EF4-FFF2-40B4-BE49-F238E27FC236}">
                <a16:creationId xmlns:a16="http://schemas.microsoft.com/office/drawing/2014/main" id="{F3D7B7E1-0269-4068-A7A5-9C10B8D66492}"/>
              </a:ext>
            </a:extLst>
          </p:cNvPr>
          <p:cNvSpPr/>
          <p:nvPr>
            <p:custDataLst>
              <p:tags r:id="rId93"/>
            </p:custDataLst>
          </p:nvPr>
        </p:nvSpPr>
        <p:spPr bwMode="gray">
          <a:xfrm>
            <a:off x="2933700" y="5201098"/>
            <a:ext cx="233363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1EA5E56-43B9-4244-8238-9FB9416649E5}" type="datetime'''''''3''''''''''''''''''''''''''''''''''''''''12'''''''">
              <a:rPr lang="ru-RU" kumimoji="0" sz="10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312</a:t>
            </a:fld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946" name="Группа 945">
            <a:extLst>
              <a:ext uri="{FF2B5EF4-FFF2-40B4-BE49-F238E27FC236}">
                <a16:creationId xmlns:a16="http://schemas.microsoft.com/office/drawing/2014/main" id="{405353C2-7B5C-4E44-9BA4-08709F2F5497}"/>
              </a:ext>
            </a:extLst>
          </p:cNvPr>
          <p:cNvGrpSpPr/>
          <p:nvPr/>
        </p:nvGrpSpPr>
        <p:grpSpPr>
          <a:xfrm>
            <a:off x="369887" y="3685036"/>
            <a:ext cx="3269805" cy="542925"/>
            <a:chOff x="197295" y="-41198"/>
            <a:chExt cx="3269805" cy="542328"/>
          </a:xfrm>
        </p:grpSpPr>
        <p:grpSp>
          <p:nvGrpSpPr>
            <p:cNvPr id="947" name="Группа 946">
              <a:extLst>
                <a:ext uri="{FF2B5EF4-FFF2-40B4-BE49-F238E27FC236}">
                  <a16:creationId xmlns:a16="http://schemas.microsoft.com/office/drawing/2014/main" id="{4E5AC93B-139B-48AF-A9F4-F25F0F58B590}"/>
                </a:ext>
              </a:extLst>
            </p:cNvPr>
            <p:cNvGrpSpPr/>
            <p:nvPr/>
          </p:nvGrpSpPr>
          <p:grpSpPr>
            <a:xfrm>
              <a:off x="197295" y="224131"/>
              <a:ext cx="1900002" cy="276999"/>
              <a:chOff x="197295" y="224131"/>
              <a:chExt cx="1900002" cy="276999"/>
            </a:xfrm>
          </p:grpSpPr>
          <p:sp>
            <p:nvSpPr>
              <p:cNvPr id="951" name="Прямоугольник 950">
                <a:extLst>
                  <a:ext uri="{FF2B5EF4-FFF2-40B4-BE49-F238E27FC236}">
                    <a16:creationId xmlns:a16="http://schemas.microsoft.com/office/drawing/2014/main" id="{822DDD24-5295-4F1A-A121-C0E5D6DFA502}"/>
                  </a:ext>
                </a:extLst>
              </p:cNvPr>
              <p:cNvSpPr/>
              <p:nvPr/>
            </p:nvSpPr>
            <p:spPr>
              <a:xfrm>
                <a:off x="197295" y="290365"/>
                <a:ext cx="273738" cy="144531"/>
              </a:xfrm>
              <a:prstGeom prst="rect">
                <a:avLst/>
              </a:prstGeom>
              <a:solidFill>
                <a:srgbClr val="6666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ru-RU" kumimoji="0" sz="1800" b="0" i="0" u="none" strike="noStrike" kern="1200" cap="none" spc="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52" name="TextBox 951">
                <a:extLst>
                  <a:ext uri="{FF2B5EF4-FFF2-40B4-BE49-F238E27FC236}">
                    <a16:creationId xmlns:a16="http://schemas.microsoft.com/office/drawing/2014/main" id="{3ECD9826-543C-404E-AB19-DD4CB39AE71E}"/>
                  </a:ext>
                </a:extLst>
              </p:cNvPr>
              <p:cNvSpPr txBox="1"/>
              <p:nvPr/>
            </p:nvSpPr>
            <p:spPr>
              <a:xfrm>
                <a:off x="543681" y="224131"/>
                <a:ext cx="155361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kumimoji="0" sz="1200" b="0" i="0" u="none" strike="noStrike" kern="12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Project</a:t>
                </a:r>
              </a:p>
            </p:txBody>
          </p:sp>
        </p:grpSp>
        <p:grpSp>
          <p:nvGrpSpPr>
            <p:cNvPr id="948" name="Группа 947">
              <a:extLst>
                <a:ext uri="{FF2B5EF4-FFF2-40B4-BE49-F238E27FC236}">
                  <a16:creationId xmlns:a16="http://schemas.microsoft.com/office/drawing/2014/main" id="{4F6487C5-E373-4B98-932C-8D366613EB1B}"/>
                </a:ext>
              </a:extLst>
            </p:cNvPr>
            <p:cNvGrpSpPr/>
            <p:nvPr/>
          </p:nvGrpSpPr>
          <p:grpSpPr>
            <a:xfrm>
              <a:off x="197295" y="-41198"/>
              <a:ext cx="3269805" cy="276999"/>
              <a:chOff x="197295" y="-41198"/>
              <a:chExt cx="3269805" cy="276999"/>
            </a:xfrm>
          </p:grpSpPr>
          <p:sp>
            <p:nvSpPr>
              <p:cNvPr id="949" name="TextBox 948">
                <a:extLst>
                  <a:ext uri="{FF2B5EF4-FFF2-40B4-BE49-F238E27FC236}">
                    <a16:creationId xmlns:a16="http://schemas.microsoft.com/office/drawing/2014/main" id="{40434D6E-4DB5-4FCA-AB54-F76F096117E4}"/>
                  </a:ext>
                </a:extLst>
              </p:cNvPr>
              <p:cNvSpPr txBox="1"/>
              <p:nvPr/>
            </p:nvSpPr>
            <p:spPr>
              <a:xfrm>
                <a:off x="543681" y="-41198"/>
                <a:ext cx="29234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ru-RU" kumimoji="0" sz="1200" b="0" i="0" u="none" strike="noStrike" kern="12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Ненормируемые подразделения</a:t>
                </a:r>
              </a:p>
            </p:txBody>
          </p:sp>
          <p:sp>
            <p:nvSpPr>
              <p:cNvPr id="950" name="Прямоугольник 949">
                <a:extLst>
                  <a:ext uri="{FF2B5EF4-FFF2-40B4-BE49-F238E27FC236}">
                    <a16:creationId xmlns:a16="http://schemas.microsoft.com/office/drawing/2014/main" id="{E6CE7880-F06C-4716-9CA4-A9553AE70827}"/>
                  </a:ext>
                </a:extLst>
              </p:cNvPr>
              <p:cNvSpPr/>
              <p:nvPr/>
            </p:nvSpPr>
            <p:spPr>
              <a:xfrm>
                <a:off x="197295" y="25301"/>
                <a:ext cx="273600" cy="144000"/>
              </a:xfrm>
              <a:prstGeom prst="rect">
                <a:avLst/>
              </a:prstGeom>
              <a:gradFill flip="none" rotWithShape="1">
                <a:gsLst>
                  <a:gs pos="51000">
                    <a:srgbClr val="999999"/>
                  </a:gs>
                  <a:gs pos="55000">
                    <a:srgbClr val="FF452C"/>
                  </a:gs>
                </a:gsLst>
                <a:lin ang="13500000" scaled="1"/>
                <a:tileRect/>
              </a:gra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ru-RU" kumimoji="0" sz="1050" b="1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953" name="Овал 952">
            <a:extLst>
              <a:ext uri="{FF2B5EF4-FFF2-40B4-BE49-F238E27FC236}">
                <a16:creationId xmlns:a16="http://schemas.microsoft.com/office/drawing/2014/main" id="{6AC04BB3-BC38-400B-B590-D8E956691AA0}"/>
              </a:ext>
            </a:extLst>
          </p:cNvPr>
          <p:cNvSpPr/>
          <p:nvPr/>
        </p:nvSpPr>
        <p:spPr>
          <a:xfrm>
            <a:off x="4490119" y="4431161"/>
            <a:ext cx="180000" cy="179388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50800" dist="38100" dir="5400000" algn="t" rotWithShape="0">
              <a:schemeClr val="bg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00" b="1" i="0" u="none" strike="noStrike" kern="120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</a:p>
        </p:txBody>
      </p:sp>
      <p:sp>
        <p:nvSpPr>
          <p:cNvPr id="992" name="Овал 991">
            <a:extLst>
              <a:ext uri="{FF2B5EF4-FFF2-40B4-BE49-F238E27FC236}">
                <a16:creationId xmlns:a16="http://schemas.microsoft.com/office/drawing/2014/main" id="{20CF2DF0-B7D6-4F21-B670-500D7EAFB2DA}"/>
              </a:ext>
            </a:extLst>
          </p:cNvPr>
          <p:cNvSpPr/>
          <p:nvPr/>
        </p:nvSpPr>
        <p:spPr>
          <a:xfrm>
            <a:off x="7655412" y="5102949"/>
            <a:ext cx="180000" cy="180975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50800" dist="38100" dir="5400000" algn="t" rotWithShape="0">
              <a:schemeClr val="bg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00" b="1" i="0" u="none" strike="noStrike" kern="120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</a:p>
        </p:txBody>
      </p:sp>
      <p:sp>
        <p:nvSpPr>
          <p:cNvPr id="993" name="Овал 992">
            <a:extLst>
              <a:ext uri="{FF2B5EF4-FFF2-40B4-BE49-F238E27FC236}">
                <a16:creationId xmlns:a16="http://schemas.microsoft.com/office/drawing/2014/main" id="{A118E490-5D4F-414C-BDF9-DD84920B11E1}"/>
              </a:ext>
            </a:extLst>
          </p:cNvPr>
          <p:cNvSpPr/>
          <p:nvPr/>
        </p:nvSpPr>
        <p:spPr>
          <a:xfrm>
            <a:off x="3726214" y="5397948"/>
            <a:ext cx="180000" cy="180975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50800" dist="38100" dir="5400000" algn="t" rotWithShape="0">
              <a:schemeClr val="bg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00" b="1" i="0" u="none" strike="noStrike" kern="120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27372021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60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Рост </a:t>
            </a:r>
            <a:r>
              <a:rPr lang="en-US"/>
              <a:t>FTE </a:t>
            </a:r>
            <a:r>
              <a:rPr lang="ru-RU"/>
              <a:t>напрямую коррелирует с ростом выручки. Поддерживаем эффективный рост бизнеса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Рост направлений и выручки</a:t>
            </a:r>
          </a:p>
        </p:txBody>
      </p:sp>
      <p:sp>
        <p:nvSpPr>
          <p:cNvPr id="302" name="Shape 302"/>
          <p:cNvSpPr txBox="1"/>
          <p:nvPr/>
        </p:nvSpPr>
        <p:spPr>
          <a:xfrm>
            <a:off x="7823200" y="1016000"/>
            <a:ext cx="40005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Комментарии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Новые ставки </a:t>
            </a:r>
            <a:r>
              <a:rPr lang="ru-RU" sz="1400">
                <a:solidFill>
                  <a:srgbClr val="000000"/>
                </a:solidFill>
              </a:rPr>
              <a:t>напрямую завязаны на </a:t>
            </a:r>
            <a:r>
              <a:rPr lang="ru-RU" sz="1400" b="1">
                <a:solidFill>
                  <a:srgbClr val="000000"/>
                </a:solidFill>
              </a:rPr>
              <a:t>рост выручки от направлений. </a:t>
            </a:r>
            <a:r>
              <a:rPr lang="ru-RU" sz="1400">
                <a:solidFill>
                  <a:srgbClr val="000000"/>
                </a:solidFill>
              </a:rPr>
              <a:t>Общий прирост выручки </a:t>
            </a:r>
            <a:r>
              <a:rPr lang="en-US" sz="1400">
                <a:solidFill>
                  <a:srgbClr val="000000"/>
                </a:solidFill>
              </a:rPr>
              <a:t>AdTech </a:t>
            </a:r>
            <a:r>
              <a:rPr lang="ru-RU" sz="1400">
                <a:solidFill>
                  <a:srgbClr val="000000"/>
                </a:solidFill>
              </a:rPr>
              <a:t>в 2027 году составит  41%, прирост по численности составит </a:t>
            </a:r>
            <a:r>
              <a:rPr lang="en-US" sz="1400">
                <a:solidFill>
                  <a:srgbClr val="000000"/>
                </a:solidFill>
              </a:rPr>
              <a:t>17% FTE</a:t>
            </a:r>
            <a:endParaRPr lang="ru-RU" sz="1400">
              <a:solidFill>
                <a:srgbClr val="000000"/>
              </a:solidFill>
            </a:endParaRP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72% новых вакансий </a:t>
            </a:r>
            <a:r>
              <a:rPr lang="ru-RU" sz="1400">
                <a:solidFill>
                  <a:srgbClr val="000000"/>
                </a:solidFill>
              </a:rPr>
              <a:t>приносят выручку (контент-завод, коммерция, </a:t>
            </a:r>
            <a:r>
              <a:rPr lang="ru-RU" sz="1400">
                <a:solidFill>
                  <a:srgbClr val="000000"/>
                </a:solidFill>
              </a:rPr>
              <a:t>биздев</a:t>
            </a:r>
            <a:r>
              <a:rPr lang="ru-RU" sz="1400">
                <a:solidFill>
                  <a:srgbClr val="000000"/>
                </a:solidFill>
              </a:rPr>
              <a:t>).  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Поддержка бизнес-функций под объем выручки и запуск новых схем работы с контрагентами (отдельное юр. лицо, </a:t>
            </a:r>
            <a:r>
              <a:rPr lang="en-US" sz="1400">
                <a:solidFill>
                  <a:srgbClr val="000000"/>
                </a:solidFill>
              </a:rPr>
              <a:t>RMN </a:t>
            </a:r>
            <a:r>
              <a:rPr lang="ru-RU" sz="1400">
                <a:solidFill>
                  <a:srgbClr val="000000"/>
                </a:solidFill>
              </a:rPr>
              <a:t>и пр.)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endParaRPr lang="ru-RU" sz="1200">
              <a:solidFill>
                <a:srgbClr val="000000"/>
              </a:solidFill>
            </a:endParaRPr>
          </a:p>
          <a:p>
            <a:pPr>
              <a:spcBef>
                <a:spcPts val="900"/>
              </a:spcBef>
            </a:pPr>
            <a:endParaRPr lang="ru-RU" sz="1200">
              <a:solidFill>
                <a:srgbClr val="000000"/>
              </a:solidFill>
            </a:endParaRP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endParaRPr lang="ru-RU" sz="1200">
              <a:solidFill>
                <a:srgbClr val="000000"/>
              </a:solidFill>
            </a:endParaRP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endParaRPr lang="ru-RU" sz="1200" b="1">
              <a:solidFill>
                <a:srgbClr val="000000"/>
              </a:solidFill>
            </a:endParaRPr>
          </a:p>
          <a:p>
            <a:pPr marL="0" indent="0">
              <a:spcBef>
                <a:spcPts val="1200"/>
              </a:spcBef>
              <a:buNone/>
            </a:pPr>
            <a:endParaRPr lang="ru-RU" sz="1200">
              <a:solidFill>
                <a:srgbClr val="000000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B2111A0-E513-4207-888F-CB237A8A59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7396292"/>
              </p:ext>
            </p:extLst>
          </p:nvPr>
        </p:nvGraphicFramePr>
        <p:xfrm>
          <a:off x="457200" y="1462922"/>
          <a:ext cx="6934200" cy="3835958"/>
        </p:xfrm>
        <a:graphic>
          <a:graphicData uri="http://schemas.openxmlformats.org/drawingml/2006/table">
            <a:tbl>
              <a:tblPr/>
              <a:tblGrid>
                <a:gridCol w="2341756">
                  <a:extLst>
                    <a:ext uri="{9D8B030D-6E8A-4147-A177-3AD203B41FA5}">
                      <a16:colId xmlns:a16="http://schemas.microsoft.com/office/drawing/2014/main" val="1457408025"/>
                    </a:ext>
                  </a:extLst>
                </a:gridCol>
                <a:gridCol w="1326995">
                  <a:extLst>
                    <a:ext uri="{9D8B030D-6E8A-4147-A177-3AD203B41FA5}">
                      <a16:colId xmlns:a16="http://schemas.microsoft.com/office/drawing/2014/main" val="441432754"/>
                    </a:ext>
                  </a:extLst>
                </a:gridCol>
                <a:gridCol w="3265449">
                  <a:extLst>
                    <a:ext uri="{9D8B030D-6E8A-4147-A177-3AD203B41FA5}">
                      <a16:colId xmlns:a16="http://schemas.microsoft.com/office/drawing/2014/main" val="4227249400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Направление бизнеса</a:t>
                      </a:r>
                    </a:p>
                  </a:txBody>
                  <a:tcPr marL="72000" marR="72000" marT="36000" marB="360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Кол-во ставок на 2027  (FTE)</a:t>
                      </a:r>
                    </a:p>
                  </a:txBody>
                  <a:tcPr marL="72000" marR="72000" marT="36000" marB="360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Прирост выручки</a:t>
                      </a:r>
                    </a:p>
                  </a:txBody>
                  <a:tcPr marL="72000" marR="72000" marT="36000" marB="360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7854551"/>
                  </a:ext>
                </a:extLst>
              </a:tr>
              <a:tr h="935794"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Контент-завод</a:t>
                      </a:r>
                    </a:p>
                  </a:txBody>
                  <a:tcPr marL="72000" marR="72000" marT="36000" marB="36000" anchor="ctr"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72000" marR="72000" marT="36000" marB="36000" anchor="ctr"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+213 млн рублей (без учета ВГО), развитие нового направления</a:t>
                      </a:r>
                    </a:p>
                  </a:txBody>
                  <a:tcPr marL="72000" marR="72000" marT="36000" marB="36000" anchor="ctr"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929754"/>
                  </a:ext>
                </a:extLst>
              </a:tr>
              <a:tr h="590814">
                <a:tc>
                  <a:txBody>
                    <a:bodyPr/>
                    <a:lstStyle/>
                    <a:p>
                      <a:pPr marL="0" marR="0" lvl="0" indent="0" algn="l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Развитие 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latin typeface="+mn-lt"/>
                        </a:rPr>
                        <a:t>n-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latin typeface="+mn-lt"/>
                        </a:rPr>
                        <a:t>store</a:t>
                      </a:r>
                      <a:r>
                        <a:rPr lang="ru-RU" sz="1200">
                          <a:solidFill>
                            <a:srgbClr val="000000"/>
                          </a:solidFill>
                          <a:latin typeface="+mn-lt"/>
                        </a:rPr>
                        <a:t> 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latin typeface="+mn-lt"/>
                        </a:rPr>
                        <a:t>digital</a:t>
                      </a:r>
                      <a:endParaRPr lang="ru-RU" sz="120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algn="l" fontAlgn="ctr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и 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APP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0" marR="72000" marT="36000" marB="36000" anchor="ctr">
                    <a:lnL w="6350">
                      <a:noFill/>
                    </a:lnL>
                    <a:lnR w="6350">
                      <a:noFill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</a:t>
                      </a:r>
                    </a:p>
                  </a:txBody>
                  <a:tcPr marL="72000" marR="72000" marT="36000" marB="36000" anchor="ctr">
                    <a:lnL w="6350">
                      <a:noFill/>
                    </a:lnL>
                    <a:lnR w="6350">
                      <a:noFill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+ 3 073 млн рублей выручки</a:t>
                      </a:r>
                    </a:p>
                  </a:txBody>
                  <a:tcPr marL="72000" marR="72000" marT="36000" marB="36000" anchor="ctr">
                    <a:lnL w="6350">
                      <a:noFill/>
                    </a:lnL>
                    <a:lnR w="6350">
                      <a:noFill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3896533"/>
                  </a:ext>
                </a:extLst>
              </a:tr>
              <a:tr h="187159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Поддержка бизнес-функций</a:t>
                      </a:r>
                    </a:p>
                  </a:txBody>
                  <a:tcPr marL="72000" marR="72000" marT="36000" marB="36000" anchor="ctr">
                    <a:lnL w="6350">
                      <a:noFill/>
                    </a:lnL>
                    <a:lnR w="6350">
                      <a:noFill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72000" marR="72000" marT="36000" marB="36000" anchor="ctr">
                    <a:lnL w="6350">
                      <a:noFill/>
                    </a:lnL>
                    <a:lnR w="6350">
                      <a:noFill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Поддержка масштабирования бизнеса. Запуск отдельного юр. лица под RMN и бренд-бюджеты поставщиков. Включает в себя функции операций, финансов, маркетинг</a:t>
                      </a:r>
                    </a:p>
                  </a:txBody>
                  <a:tcPr marL="72000" marR="72000" marT="36000" marB="36000" anchor="ctr">
                    <a:lnL w="6350">
                      <a:noFill/>
                    </a:lnL>
                    <a:lnR w="6350">
                      <a:noFill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443354"/>
                  </a:ext>
                </a:extLst>
              </a:tr>
            </a:tbl>
          </a:graphicData>
        </a:graphic>
      </p:graphicFrame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046EFB5-9FD4-40D0-A0EF-F92205C92E4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852901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4142CEA1-99F4-4574-A5E9-425A86727A0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0" imgW="395" imgH="394" progId="TCLayout.ActiveDocument.1">
                  <p:embed/>
                </p:oleObj>
              </mc:Choice>
              <mc:Fallback>
                <p:oleObj name="think-cell Slide" r:id="rId20" imgW="395" imgH="394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142CEA1-99F4-4574-A5E9-425A86727A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8342B784-DAF1-4F67-8060-CB1D1E72435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8300" y="228600"/>
            <a:ext cx="10591800" cy="660400"/>
          </a:xfrm>
        </p:spPr>
        <p:txBody>
          <a:bodyPr anchor="t">
            <a:normAutofit/>
          </a:bodyPr>
          <a:lstStyle/>
          <a:p>
            <a:r>
              <a:rPr lang="ru-RU" sz="2400" b="1">
                <a:solidFill>
                  <a:srgbClr val="000000"/>
                </a:solidFill>
                <a:latin typeface="+mj-lt"/>
              </a:rPr>
              <a:t>Динамика стоимости ШР контура </a:t>
            </a:r>
            <a:r>
              <a:rPr lang="en-US" sz="2400" b="1">
                <a:solidFill>
                  <a:srgbClr val="000000"/>
                </a:solidFill>
                <a:latin typeface="+mj-lt"/>
              </a:rPr>
              <a:t>Admin PEX</a:t>
            </a:r>
            <a:endParaRPr lang="ru-RU" sz="2400" b="1">
              <a:solidFill>
                <a:srgbClr val="000000"/>
              </a:solidFill>
              <a:latin typeface="+mj-lt"/>
            </a:endParaRPr>
          </a:p>
        </p:txBody>
      </p:sp>
      <p:graphicFrame>
        <p:nvGraphicFramePr>
          <p:cNvPr id="61" name="Chart 3">
            <a:extLst>
              <a:ext uri="{FF2B5EF4-FFF2-40B4-BE49-F238E27FC236}">
                <a16:creationId xmlns:a16="http://schemas.microsoft.com/office/drawing/2014/main" id="{C9275DC2-F268-42B7-9C30-5E8AEEE510C8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303213" y="2685594"/>
          <a:ext cx="7040562" cy="33258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2"/>
          </a:graphicData>
        </a:graphic>
      </p:graphicFrame>
      <p:sp>
        <p:nvSpPr>
          <p:cNvPr id="179" name="Прямоугольник 178">
            <a:extLst>
              <a:ext uri="{FF2B5EF4-FFF2-40B4-BE49-F238E27FC236}">
                <a16:creationId xmlns:a16="http://schemas.microsoft.com/office/drawing/2014/main" id="{5F820AB2-4CA9-420D-9C9B-A67D59731016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455613" y="5795507"/>
            <a:ext cx="157797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94EB7-FC41-4B33-83E1-0B3C57330C6A}" type="datetime'''''''''С''''''тои''''''м''''о''''ст''ь ШР ''20''''2''6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Стоимость ШР 2026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0" name="Прямоугольник 179">
            <a:extLst>
              <a:ext uri="{FF2B5EF4-FFF2-40B4-BE49-F238E27FC236}">
                <a16:creationId xmlns:a16="http://schemas.microsoft.com/office/drawing/2014/main" id="{5893CC0A-DE5A-4838-BF45-C2E542B61F95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2266950" y="5795507"/>
            <a:ext cx="1395413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6BAE9C1-20B8-4AC3-B77D-5095CE87BAB2}" type="datetime'B''''''U'''' ''''''20''''26'','''' ''б''е''''''з'''' ''ОСВ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BU 2026, без ОСВ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1" name="Прямоугольник 180">
            <a:extLst>
              <a:ext uri="{FF2B5EF4-FFF2-40B4-BE49-F238E27FC236}">
                <a16:creationId xmlns:a16="http://schemas.microsoft.com/office/drawing/2014/main" id="{D6F18824-F041-4FF9-8295-B8976CA4FC97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3895724" y="5795507"/>
            <a:ext cx="1576388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5C91A91-EEB6-451D-93C7-8D920EF8656B}" type="datetime'''''С''т''''о''''''''имост''ь'' Ш''Р'' 2''0''''2''''''''7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Стоимость ШР 2027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2" name="Прямоугольник 181">
            <a:extLst>
              <a:ext uri="{FF2B5EF4-FFF2-40B4-BE49-F238E27FC236}">
                <a16:creationId xmlns:a16="http://schemas.microsoft.com/office/drawing/2014/main" id="{DAC92FBD-B69A-47D6-B5E1-94D242333600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5703888" y="5795507"/>
            <a:ext cx="139382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3EA334D-F4A6-4851-8C81-C9158EB0E35B}" type="datetime'''BU ''''''''''202''7,'' б''''ез'''''''''' ''''''О''''''С''В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BU 2027, без ОСВ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8415760-995E-4EFA-8DE1-88F7697CAB3F}"/>
              </a:ext>
            </a:extLst>
          </p:cNvPr>
          <p:cNvSpPr/>
          <p:nvPr>
            <p:custDataLst>
              <p:tags r:id="rId7"/>
            </p:custDataLst>
          </p:nvPr>
        </p:nvSpPr>
        <p:spPr bwMode="gray">
          <a:xfrm>
            <a:off x="1173163" y="3441244"/>
            <a:ext cx="144463" cy="165100"/>
          </a:xfrm>
          <a:prstGeom prst="rect">
            <a:avLst/>
          </a:prstGeom>
          <a:solidFill>
            <a:srgbClr val="666666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62ECCCC-3A30-4405-80E2-704F8BB9B062}" type="datetime'''''''''''''''''''''''''''''''''''''''''''''''''''4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1B65A1E1-4516-448A-8477-314665144E46}"/>
              </a:ext>
            </a:extLst>
          </p:cNvPr>
          <p:cNvSpPr/>
          <p:nvPr>
            <p:custDataLst>
              <p:tags r:id="rId8"/>
            </p:custDataLst>
          </p:nvPr>
        </p:nvSpPr>
        <p:spPr bwMode="gray">
          <a:xfrm>
            <a:off x="2892425" y="3507919"/>
            <a:ext cx="144463" cy="165100"/>
          </a:xfrm>
          <a:prstGeom prst="rect">
            <a:avLst/>
          </a:prstGeom>
          <a:solidFill>
            <a:srgbClr val="666666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31541C1-D7B8-4DFE-891E-585E9326F2A2}" type="datetime'''''''''''''''''''''''''''''''''''''''4''''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CCF475B-EEBF-432A-AAC4-EF0B843E1AA6}"/>
              </a:ext>
            </a:extLst>
          </p:cNvPr>
          <p:cNvSpPr/>
          <p:nvPr>
            <p:custDataLst>
              <p:tags r:id="rId9"/>
            </p:custDataLst>
          </p:nvPr>
        </p:nvSpPr>
        <p:spPr bwMode="gray">
          <a:xfrm>
            <a:off x="4611688" y="2903082"/>
            <a:ext cx="144463" cy="165100"/>
          </a:xfrm>
          <a:prstGeom prst="rect">
            <a:avLst/>
          </a:prstGeom>
          <a:solidFill>
            <a:srgbClr val="666666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BE53B12-C351-4E91-A476-277EC289F42B}" type="datetime'''4''''''''''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8B1D2EEB-7A1B-417B-B735-D389F93E4524}"/>
              </a:ext>
            </a:extLst>
          </p:cNvPr>
          <p:cNvSpPr/>
          <p:nvPr>
            <p:custDataLst>
              <p:tags r:id="rId10"/>
            </p:custDataLst>
          </p:nvPr>
        </p:nvSpPr>
        <p:spPr bwMode="gray">
          <a:xfrm>
            <a:off x="6329363" y="2960232"/>
            <a:ext cx="144463" cy="165100"/>
          </a:xfrm>
          <a:prstGeom prst="rect">
            <a:avLst/>
          </a:prstGeom>
          <a:solidFill>
            <a:srgbClr val="666666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79E5824-DB05-4BF1-AF6B-7CC1E5ECF789}" type="datetime'''''''''''''''''''''''''''''''''''''''''''''''4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FA7D83D-B158-4D7B-B7BF-2381D5ED1750}"/>
              </a:ext>
            </a:extLst>
          </p:cNvPr>
          <p:cNvSpPr/>
          <p:nvPr>
            <p:custDataLst>
              <p:tags r:id="rId11"/>
            </p:custDataLst>
          </p:nvPr>
        </p:nvSpPr>
        <p:spPr bwMode="gray">
          <a:xfrm>
            <a:off x="1101725" y="3276144"/>
            <a:ext cx="2857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3BBB44F-E510-4444-8DAE-DC5EFCDB3028}" type="datetime'''''''''''1''''2''''''''''''''''''''''''3'''''">
              <a:rPr lang="ru-RU" kumimoji="0" sz="12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123</a:t>
            </a:fld>
            <a:endParaRPr lang="ru-RU" kumimoji="0" sz="12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E39A10F5-CD27-44B3-8DFD-70F7EBBA7B8C}"/>
              </a:ext>
            </a:extLst>
          </p:cNvPr>
          <p:cNvSpPr/>
          <p:nvPr>
            <p:custDataLst>
              <p:tags r:id="rId12"/>
            </p:custDataLst>
          </p:nvPr>
        </p:nvSpPr>
        <p:spPr bwMode="gray">
          <a:xfrm>
            <a:off x="2833688" y="3342819"/>
            <a:ext cx="26193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45A6B40-6135-4FFD-BE67-9CEAF3829074}" type="datetime'''''''''''''''''11''''''''''''''''''''''''''9'''''">
              <a:rPr lang="ru-RU" kumimoji="0" sz="12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119</a:t>
            </a:fld>
            <a:endParaRPr lang="ru-RU" kumimoji="0" sz="12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7F3FA55A-E5B7-4BE8-A746-E3C863924F62}"/>
              </a:ext>
            </a:extLst>
          </p:cNvPr>
          <p:cNvSpPr/>
          <p:nvPr>
            <p:custDataLst>
              <p:tags r:id="rId13"/>
            </p:custDataLst>
          </p:nvPr>
        </p:nvSpPr>
        <p:spPr bwMode="gray">
          <a:xfrm>
            <a:off x="4540250" y="2737982"/>
            <a:ext cx="2857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0B395F-C4F5-47D5-8DCE-CD6DC9D6B4E2}" type="datetime'''''''''''''''''''''''''''''''''1''''''''''''5''2'''''''''''''">
              <a:rPr lang="ru-RU" kumimoji="0" sz="12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152</a:t>
            </a:fld>
            <a:endParaRPr lang="ru-RU" kumimoji="0" sz="12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75B43D90-E470-44B4-A235-1F3326C7F4DC}"/>
              </a:ext>
            </a:extLst>
          </p:cNvPr>
          <p:cNvSpPr/>
          <p:nvPr>
            <p:custDataLst>
              <p:tags r:id="rId14"/>
            </p:custDataLst>
          </p:nvPr>
        </p:nvSpPr>
        <p:spPr bwMode="gray">
          <a:xfrm>
            <a:off x="6248400" y="2795132"/>
            <a:ext cx="3063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0A4A661-07F0-4B6B-B47D-4158FDB075EF}" type="datetime'''''''''''''''''''''''''''''''''''''''''1''''''4''9'''''''">
              <a:rPr lang="ru-RU" kumimoji="0" sz="12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149</a:t>
            </a:fld>
            <a:endParaRPr lang="ru-RU" kumimoji="0" sz="12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77E55974-64E7-4F6C-B8CD-A4894380DD67}"/>
              </a:ext>
            </a:extLst>
          </p:cNvPr>
          <p:cNvSpPr txBox="1"/>
          <p:nvPr/>
        </p:nvSpPr>
        <p:spPr>
          <a:xfrm>
            <a:off x="8302171" y="1615939"/>
            <a:ext cx="34843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0000500000000000000" pitchFamily="2" charset="-52"/>
                <a:ea typeface="+mn-ea"/>
                <a:cs typeface="+mn-cs"/>
              </a:rPr>
              <a:t>В 2027 г. комплектность увеличилась с 97% до 98%, из-за низкого процента текучести по 2026 г.</a:t>
            </a:r>
          </a:p>
        </p:txBody>
      </p:sp>
      <p:sp>
        <p:nvSpPr>
          <p:cNvPr id="29" name="Номер слайда 3">
            <a:extLst>
              <a:ext uri="{FF2B5EF4-FFF2-40B4-BE49-F238E27FC236}">
                <a16:creationId xmlns:a16="http://schemas.microsoft.com/office/drawing/2014/main" id="{5DBFE8FF-868E-4667-8484-575FEA7AE144}"/>
              </a:ext>
            </a:extLst>
          </p:cNvPr>
          <p:cNvSpPr txBox="1">
            <a:spLocks/>
          </p:cNvSpPr>
          <p:nvPr/>
        </p:nvSpPr>
        <p:spPr>
          <a:xfrm>
            <a:off x="11374252" y="6429889"/>
            <a:ext cx="625661" cy="199509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ctr" defTabSz="914400" rtl="0" eaLnBrk="1" latinLnBrk="0" hangingPunct="1">
              <a:defRPr sz="1000" b="0" kern="1200">
                <a:solidFill>
                  <a:srgbClr val="FF452C"/>
                </a:solidFill>
                <a:latin typeface="Arial" pitchFamily="2" charset="-52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F2AE68-28B4-4B40-8AA4-3365A0AE6865}" type="slidenum">
              <a:rPr lang="ru-RU" kumimoji="0" sz="900" b="0" i="0" u="none" strike="noStrike" kern="1200" cap="none" spc="0" normalizeH="0" baseline="0" smtClean="0">
                <a:solidFill>
                  <a:srgbClr val="000000"/>
                </a:solidFill>
                <a:latin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lang="ru-RU" kumimoji="0" sz="900" b="0" i="0" u="none" strike="noStrike" kern="1200" cap="none" spc="0" normalizeH="0" baseline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8B62F8B-6287-4A1D-B049-850DFDC2CB43}"/>
              </a:ext>
            </a:extLst>
          </p:cNvPr>
          <p:cNvSpPr txBox="1"/>
          <p:nvPr/>
        </p:nvSpPr>
        <p:spPr>
          <a:xfrm>
            <a:off x="371984" y="1108234"/>
            <a:ext cx="7140575" cy="30777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4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Стоимость ШР контура </a:t>
            </a:r>
            <a:r>
              <a:rPr lang="en-US" kumimoji="0" sz="14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Admin PEX</a:t>
            </a:r>
            <a:r>
              <a:rPr lang="ru-RU" kumimoji="0" sz="1400" b="1" i="0" u="none" strike="noStrike" kern="1200" cap="none" spc="0" normalizeH="0" baseline="3000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  <a:r>
              <a:rPr lang="ru-RU" kumimoji="0" sz="14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</a:t>
            </a:r>
            <a:r>
              <a:rPr lang="ru-RU" kumimoji="0" sz="14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млн руб.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6EC1006-850E-46A6-8D92-7BD71F7CA6B4}"/>
              </a:ext>
            </a:extLst>
          </p:cNvPr>
          <p:cNvSpPr txBox="1"/>
          <p:nvPr/>
        </p:nvSpPr>
        <p:spPr>
          <a:xfrm>
            <a:off x="547036" y="2500941"/>
            <a:ext cx="1477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2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УКП</a:t>
            </a:r>
            <a:r>
              <a:rPr lang="en-US" kumimoji="0" sz="12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FTE</a:t>
            </a:r>
            <a:b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lang="ru-RU" kumimoji="0" sz="1200" b="1" i="0" u="none" strike="noStrike" kern="1200" cap="none" spc="0" normalizeH="0" baseline="0">
                <a:ln>
                  <a:noFill/>
                </a:ln>
                <a:solidFill>
                  <a:srgbClr val="E8E8E8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97%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200" b="1" i="0" u="none" strike="noStrike" kern="1200" cap="none" spc="0" normalizeH="0" baseline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95%</a:t>
            </a:r>
          </a:p>
        </p:txBody>
      </p:sp>
      <p:sp>
        <p:nvSpPr>
          <p:cNvPr id="101" name="Текст 5">
            <a:extLst>
              <a:ext uri="{FF2B5EF4-FFF2-40B4-BE49-F238E27FC236}">
                <a16:creationId xmlns:a16="http://schemas.microsoft.com/office/drawing/2014/main" id="{C2CD0DFB-EDAA-4B50-889E-9230B11C7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27466" y="6315178"/>
            <a:ext cx="8890000" cy="339337"/>
          </a:xfrm>
        </p:spPr>
        <p:txBody>
          <a:bodyPr lIns="0" tIns="0"/>
          <a:lstStyle/>
          <a:p>
            <a:pPr>
              <a:spcBef>
                <a:spcPts val="1000"/>
              </a:spcBef>
            </a:pPr>
            <a:r>
              <a:rPr lang="ru-RU" sz="900">
                <a:solidFill>
                  <a:srgbClr val="6E6E6E"/>
                </a:solidFill>
                <a:latin typeface="+mn-lt"/>
              </a:rPr>
              <a:t>1 – На декабрь соответствующего года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3C629C24-1F93-4E93-BC2A-AA6E5C188D70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388938" y="1523544"/>
            <a:ext cx="214313" cy="160338"/>
          </a:xfrm>
          <a:prstGeom prst="rect">
            <a:avLst/>
          </a:prstGeom>
          <a:solidFill>
            <a:srgbClr val="D6D7D9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kumimoji="0" sz="1800" b="0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E811B90C-5B01-4A6F-8ACF-56F2DAD06353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3417888" y="1523544"/>
            <a:ext cx="214313" cy="160338"/>
          </a:xfrm>
          <a:prstGeom prst="rect">
            <a:avLst/>
          </a:prstGeom>
          <a:solidFill>
            <a:srgbClr val="666666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kumimoji="0" sz="1800" b="0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AF46032B-2B65-423F-8992-09F12F3A8541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654050" y="1518782"/>
            <a:ext cx="2662238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2735F91-C67D-4BEB-990A-55233DD31875}" type="datetime'Нен''орм''иру''''е''''мы''''''е ''''''п''одраз''де''лен''ия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Ненормируемые подразделения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F2A452EA-9496-49AE-B989-7A3CFC2BA4AD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3683000" y="1518782"/>
            <a:ext cx="546100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884A1A1-9BF8-4626-8831-6E80F4C6AF9A}" type="datetime'''''P''''''''''''r''''''oj''''''''''''e''''c''''''''''t'''''">
              <a:rPr lang="en-US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Project</a:t>
            </a:fld>
            <a:endParaRPr lang="en-US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988A16-4075-446A-BDAE-FE4BE6BE36C9}"/>
              </a:ext>
            </a:extLst>
          </p:cNvPr>
          <p:cNvSpPr txBox="1"/>
          <p:nvPr/>
        </p:nvSpPr>
        <p:spPr>
          <a:xfrm>
            <a:off x="3957714" y="1988251"/>
            <a:ext cx="1477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2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УКП</a:t>
            </a:r>
            <a:r>
              <a:rPr lang="en-US" kumimoji="0" sz="12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FTE</a:t>
            </a:r>
            <a:b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lang="ru-RU" kumimoji="0" sz="1200" b="1" i="0" u="none" strike="noStrike" kern="1200" cap="none" spc="0" normalizeH="0" baseline="0">
                <a:ln>
                  <a:noFill/>
                </a:ln>
                <a:solidFill>
                  <a:srgbClr val="E8E8E8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98%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200" b="1" i="0" u="none" strike="noStrike" kern="1200" cap="none" spc="0" normalizeH="0" baseline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95%</a:t>
            </a:r>
          </a:p>
        </p:txBody>
      </p:sp>
    </p:spTree>
    <p:extLst>
      <p:ext uri="{BB962C8B-B14F-4D97-AF65-F5344CB8AC3E}">
        <p14:creationId xmlns:p14="http://schemas.microsoft.com/office/powerpoint/2010/main" val="75760908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45198CCB-CAC7-4E96-94CF-E81AAA7978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0" imgW="395" imgH="394" progId="TCLayout.ActiveDocument.1">
                  <p:embed/>
                </p:oleObj>
              </mc:Choice>
              <mc:Fallback>
                <p:oleObj name="think-cell Slide" r:id="rId70" imgW="395" imgH="39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5198CCB-CAC7-4E96-94CF-E81AAA7978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B32245ED-C725-40BD-9C91-DEDDB00039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8300" y="228600"/>
            <a:ext cx="10591800" cy="660400"/>
          </a:xfrm>
        </p:spPr>
        <p:txBody>
          <a:bodyPr anchor="t">
            <a:normAutofit/>
          </a:bodyPr>
          <a:lstStyle/>
          <a:p>
            <a:r>
              <a:rPr lang="ru-RU" sz="2400" b="1">
                <a:solidFill>
                  <a:srgbClr val="000000"/>
                </a:solidFill>
                <a:latin typeface="+mj-lt"/>
              </a:rPr>
              <a:t>Динамика резервов на отпуска </a:t>
            </a:r>
            <a:r>
              <a:rPr lang="en-US" sz="2400" b="1">
                <a:solidFill>
                  <a:srgbClr val="000000"/>
                </a:solidFill>
                <a:latin typeface="+mj-lt"/>
              </a:rPr>
              <a:t>Admin PEX</a:t>
            </a:r>
            <a:endParaRPr lang="ru-RU" sz="2400" b="1">
              <a:solidFill>
                <a:srgbClr val="000000"/>
              </a:solidFill>
              <a:latin typeface="+mj-lt"/>
            </a:endParaRPr>
          </a:p>
        </p:txBody>
      </p:sp>
      <p:sp>
        <p:nvSpPr>
          <p:cNvPr id="8" name="Номер слайда 3">
            <a:extLst>
              <a:ext uri="{FF2B5EF4-FFF2-40B4-BE49-F238E27FC236}">
                <a16:creationId xmlns:a16="http://schemas.microsoft.com/office/drawing/2014/main" id="{44D9FD44-C1E4-4B11-AC52-35AE0C4605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74252" y="6429889"/>
            <a:ext cx="625661" cy="199509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F2AE68-28B4-4B40-8AA4-3365A0AE6865}" type="slidenum">
              <a:rPr lang="ru-RU" kumimoji="0" sz="900" b="0" i="0" u="none" strike="noStrike" kern="1200" cap="none" spc="0" normalizeH="0" baseline="0" smtClean="0">
                <a:solidFill>
                  <a:srgbClr val="000000"/>
                </a:solidFill>
                <a:latin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lang="ru-RU" kumimoji="0" sz="900" b="0" i="0" u="none" strike="noStrike" kern="1200" cap="none" spc="0" normalizeH="0" baseline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DAD5B0-D4EC-4753-A91F-D726B6688734}"/>
              </a:ext>
            </a:extLst>
          </p:cNvPr>
          <p:cNvSpPr txBox="1"/>
          <p:nvPr/>
        </p:nvSpPr>
        <p:spPr>
          <a:xfrm>
            <a:off x="371985" y="1037200"/>
            <a:ext cx="7140575" cy="30777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4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Динамика резервов на отпуска 2026 </a:t>
            </a:r>
            <a:r>
              <a:rPr lang="en-US" kumimoji="0" sz="14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vs </a:t>
            </a:r>
            <a:r>
              <a:rPr lang="ru-RU" kumimoji="0" sz="14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2027, </a:t>
            </a:r>
            <a:r>
              <a:rPr lang="ru-RU" kumimoji="0" sz="14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дни</a:t>
            </a:r>
          </a:p>
        </p:txBody>
      </p:sp>
      <p:graphicFrame>
        <p:nvGraphicFramePr>
          <p:cNvPr id="204" name="Chart 3">
            <a:extLst>
              <a:ext uri="{FF2B5EF4-FFF2-40B4-BE49-F238E27FC236}">
                <a16:creationId xmlns:a16="http://schemas.microsoft.com/office/drawing/2014/main" id="{69160662-EC69-4545-A528-91C8D383DE58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507556" y="1820863"/>
          <a:ext cx="8649398" cy="193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2"/>
          </a:graphicData>
        </a:graphic>
      </p:graphicFrame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F29826C4-F0E0-451D-BADC-430DA8221524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7127621" y="2994025"/>
            <a:ext cx="0" cy="2063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DE3460F8-D0DA-4C59-BCEA-40415488EDFF}"/>
              </a:ext>
            </a:extLst>
          </p:cNvPr>
          <p:cNvCxnSpPr>
            <a:cxnSpLocks/>
          </p:cNvCxnSpPr>
          <p:nvPr>
            <p:custDataLst>
              <p:tags r:id="rId4"/>
            </p:custDataLst>
          </p:nvPr>
        </p:nvCxnSpPr>
        <p:spPr bwMode="auto">
          <a:xfrm flipV="1">
            <a:off x="7127621" y="3219450"/>
            <a:ext cx="0" cy="2063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>
            <a:extLst>
              <a:ext uri="{FF2B5EF4-FFF2-40B4-BE49-F238E27FC236}">
                <a16:creationId xmlns:a16="http://schemas.microsoft.com/office/drawing/2014/main" id="{FFE79DC7-8472-4C55-BDFC-6B624B70B8B8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 flipH="1">
            <a:off x="8505380" y="2722563"/>
            <a:ext cx="2063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Прямая соединительная линия 63">
            <a:extLst>
              <a:ext uri="{FF2B5EF4-FFF2-40B4-BE49-F238E27FC236}">
                <a16:creationId xmlns:a16="http://schemas.microsoft.com/office/drawing/2014/main" id="{663B8480-C344-4033-93BD-341244E16593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 flipH="1">
            <a:off x="9160510" y="2722563"/>
            <a:ext cx="20637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Прямоугольник 74">
            <a:extLst>
              <a:ext uri="{FF2B5EF4-FFF2-40B4-BE49-F238E27FC236}">
                <a16:creationId xmlns:a16="http://schemas.microsoft.com/office/drawing/2014/main" id="{7726BD7B-136C-430C-8D74-EA1F15D4B937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926782" y="3719513"/>
            <a:ext cx="598488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093675F-BA0B-409A-A873-3EAEA7DED6A0}" type="datetime'''''Я''''''''''''''''н''в''''''''''''''''а''''''''''рь'''''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Январь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0" name="Прямоугольник 169">
            <a:extLst>
              <a:ext uri="{FF2B5EF4-FFF2-40B4-BE49-F238E27FC236}">
                <a16:creationId xmlns:a16="http://schemas.microsoft.com/office/drawing/2014/main" id="{59877593-E021-4743-B552-AECB2F47C0B8}"/>
              </a:ext>
            </a:extLst>
          </p:cNvPr>
          <p:cNvSpPr/>
          <p:nvPr>
            <p:custDataLst>
              <p:tags r:id="rId8"/>
            </p:custDataLst>
          </p:nvPr>
        </p:nvSpPr>
        <p:spPr bwMode="gray">
          <a:xfrm>
            <a:off x="1662684" y="3379788"/>
            <a:ext cx="4381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BE4265-4276-4BB7-B6D2-A406D374A178}" type="datetime'''2''''''''''.52''''''0''''''''''''''''''''''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2.520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9" name="Прямоугольник 148">
            <a:extLst>
              <a:ext uri="{FF2B5EF4-FFF2-40B4-BE49-F238E27FC236}">
                <a16:creationId xmlns:a16="http://schemas.microsoft.com/office/drawing/2014/main" id="{9DD11E1F-7C6E-4841-B58E-F26F60E9C4D0}"/>
              </a:ext>
            </a:extLst>
          </p:cNvPr>
          <p:cNvSpPr/>
          <p:nvPr>
            <p:custDataLst>
              <p:tags r:id="rId9"/>
            </p:custDataLst>
          </p:nvPr>
        </p:nvSpPr>
        <p:spPr bwMode="gray">
          <a:xfrm>
            <a:off x="1656334" y="2025650"/>
            <a:ext cx="4508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9754CD2-2E6B-46D2-BD27-C9403A36AA05}" type="datetime'''''4''''''''''.''''9''''8''''''''''''''''''5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4.985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8" name="Прямоугольник 97">
            <a:extLst>
              <a:ext uri="{FF2B5EF4-FFF2-40B4-BE49-F238E27FC236}">
                <a16:creationId xmlns:a16="http://schemas.microsoft.com/office/drawing/2014/main" id="{4CEC7A33-D398-4E84-8CA8-91ACC673C935}"/>
              </a:ext>
            </a:extLst>
          </p:cNvPr>
          <p:cNvSpPr/>
          <p:nvPr>
            <p:custDataLst>
              <p:tags r:id="rId10"/>
            </p:custDataLst>
          </p:nvPr>
        </p:nvSpPr>
        <p:spPr bwMode="auto">
          <a:xfrm>
            <a:off x="1524572" y="3719513"/>
            <a:ext cx="71437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A066B0-3589-4719-B9E3-4B7A61333553}" type="datetime'''''''''''''''''Ф''''''е''''''''''''''в''''р''''а''л''''''''ь'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Февраль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7" name="Прямоугольник 166">
            <a:extLst>
              <a:ext uri="{FF2B5EF4-FFF2-40B4-BE49-F238E27FC236}">
                <a16:creationId xmlns:a16="http://schemas.microsoft.com/office/drawing/2014/main" id="{5D40BF5A-7C2E-4324-8E24-6BD80F868138}"/>
              </a:ext>
            </a:extLst>
          </p:cNvPr>
          <p:cNvSpPr/>
          <p:nvPr>
            <p:custDataLst>
              <p:tags r:id="rId11"/>
            </p:custDataLst>
          </p:nvPr>
        </p:nvSpPr>
        <p:spPr bwMode="gray">
          <a:xfrm>
            <a:off x="2332102" y="3303588"/>
            <a:ext cx="40957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550FDD0-8935-4A71-86B6-B6B304E7B080}" type="datetime'''''''''''''2''''''.''''''''''''''''''''''''714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2.714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0" name="Прямоугольник 149">
            <a:extLst>
              <a:ext uri="{FF2B5EF4-FFF2-40B4-BE49-F238E27FC236}">
                <a16:creationId xmlns:a16="http://schemas.microsoft.com/office/drawing/2014/main" id="{41D788EE-66A8-49C6-B81A-CBD8B74E8892}"/>
              </a:ext>
            </a:extLst>
          </p:cNvPr>
          <p:cNvSpPr/>
          <p:nvPr>
            <p:custDataLst>
              <p:tags r:id="rId12"/>
            </p:custDataLst>
          </p:nvPr>
        </p:nvSpPr>
        <p:spPr bwMode="gray">
          <a:xfrm>
            <a:off x="2333498" y="1951038"/>
            <a:ext cx="4079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C62645A-43CF-4183-99CA-DC7F3EEB6580}" type="datetime'5''''''.''''''17''''''''''''4''''''''''''''''''''''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5.174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6" name="Прямоугольник 75">
            <a:extLst>
              <a:ext uri="{FF2B5EF4-FFF2-40B4-BE49-F238E27FC236}">
                <a16:creationId xmlns:a16="http://schemas.microsoft.com/office/drawing/2014/main" id="{E1B5120F-9FFB-4ACB-A6D8-F2F9D2F71C9A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2325560" y="3719513"/>
            <a:ext cx="423863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9A675AA-A970-45FE-840E-16EA783A9709}" type="datetime'''''''''''''''''''''''''''''''''''Ма''''р''т'''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Март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1" name="Прямоугольник 170">
            <a:extLst>
              <a:ext uri="{FF2B5EF4-FFF2-40B4-BE49-F238E27FC236}">
                <a16:creationId xmlns:a16="http://schemas.microsoft.com/office/drawing/2014/main" id="{FC4046D0-CF35-4A54-A53B-779C8C7581CF}"/>
              </a:ext>
            </a:extLst>
          </p:cNvPr>
          <p:cNvSpPr/>
          <p:nvPr>
            <p:custDataLst>
              <p:tags r:id="rId14"/>
            </p:custDataLst>
          </p:nvPr>
        </p:nvSpPr>
        <p:spPr bwMode="gray">
          <a:xfrm>
            <a:off x="2972371" y="3238500"/>
            <a:ext cx="442913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BFA7B23-6F6C-437A-ACF0-6CD8A75357B3}" type="datetime'''''''''''''''''''''''''''''''''''''''''''''''2.8''''''79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2.879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1" name="Прямоугольник 150">
            <a:extLst>
              <a:ext uri="{FF2B5EF4-FFF2-40B4-BE49-F238E27FC236}">
                <a16:creationId xmlns:a16="http://schemas.microsoft.com/office/drawing/2014/main" id="{C8321F44-74DF-4777-8F81-A0101DF17302}"/>
              </a:ext>
            </a:extLst>
          </p:cNvPr>
          <p:cNvSpPr/>
          <p:nvPr>
            <p:custDataLst>
              <p:tags r:id="rId15"/>
            </p:custDataLst>
          </p:nvPr>
        </p:nvSpPr>
        <p:spPr bwMode="gray">
          <a:xfrm>
            <a:off x="2996184" y="1893888"/>
            <a:ext cx="3952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534EC14-3BCA-42E4-BD1F-BBBFD5EB48BC}" type="datetime'''''5''''''''''''''''''.''''''3''''1''''''''''''''9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5.319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7" name="Прямоугольник 76">
            <a:extLst>
              <a:ext uri="{FF2B5EF4-FFF2-40B4-BE49-F238E27FC236}">
                <a16:creationId xmlns:a16="http://schemas.microsoft.com/office/drawing/2014/main" id="{EEF55518-A08C-4AC1-9CDB-112B23601A14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2888425" y="3719513"/>
            <a:ext cx="609600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EE5843C-21D2-43AC-A57A-86E8D4B7BE26}" type="datetime'''Апр''''''''''''''''''е''''''''''л''ь'''''''''''''''''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Апрель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9" name="Прямоугольник 168">
            <a:extLst>
              <a:ext uri="{FF2B5EF4-FFF2-40B4-BE49-F238E27FC236}">
                <a16:creationId xmlns:a16="http://schemas.microsoft.com/office/drawing/2014/main" id="{EB8E6F3A-97EC-431A-84CE-67FB6840A36C}"/>
              </a:ext>
            </a:extLst>
          </p:cNvPr>
          <p:cNvSpPr/>
          <p:nvPr>
            <p:custDataLst>
              <p:tags r:id="rId17"/>
            </p:custDataLst>
          </p:nvPr>
        </p:nvSpPr>
        <p:spPr bwMode="gray">
          <a:xfrm>
            <a:off x="3622738" y="3155950"/>
            <a:ext cx="45243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03379BD-933C-49A1-8CD0-882668246F79}" type="datetime'''''''''''''''''''3.''08''''''''''''''9''''''''''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3.089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2" name="Прямоугольник 151">
            <a:extLst>
              <a:ext uri="{FF2B5EF4-FFF2-40B4-BE49-F238E27FC236}">
                <a16:creationId xmlns:a16="http://schemas.microsoft.com/office/drawing/2014/main" id="{19D36DCC-9CCF-44BD-A25F-8C68DCE50202}"/>
              </a:ext>
            </a:extLst>
          </p:cNvPr>
          <p:cNvSpPr/>
          <p:nvPr>
            <p:custDataLst>
              <p:tags r:id="rId18"/>
            </p:custDataLst>
          </p:nvPr>
        </p:nvSpPr>
        <p:spPr bwMode="gray">
          <a:xfrm>
            <a:off x="3638613" y="1811338"/>
            <a:ext cx="4206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3213D1A-51AE-4AB2-ABA7-CB661A333EC3}" type="datetime'5''''''''''''''''''''.''''''''''''5''3''''''''''2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5.532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" name="Прямоугольник 77">
            <a:extLst>
              <a:ext uri="{FF2B5EF4-FFF2-40B4-BE49-F238E27FC236}">
                <a16:creationId xmlns:a16="http://schemas.microsoft.com/office/drawing/2014/main" id="{8DD0257F-A5E8-41CD-BD20-361624450885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3672142" y="3719513"/>
            <a:ext cx="35242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20BD22C-D20A-4109-BCE6-C02D77A77CE2}" type="datetime'М''''''''''''''''''''''''''''''''ай'''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Май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2" name="Прямоугольник 171">
            <a:extLst>
              <a:ext uri="{FF2B5EF4-FFF2-40B4-BE49-F238E27FC236}">
                <a16:creationId xmlns:a16="http://schemas.microsoft.com/office/drawing/2014/main" id="{71A01645-1293-4FF5-8A69-90D5BCEFA9D1}"/>
              </a:ext>
            </a:extLst>
          </p:cNvPr>
          <p:cNvSpPr/>
          <p:nvPr>
            <p:custDataLst>
              <p:tags r:id="rId20"/>
            </p:custDataLst>
          </p:nvPr>
        </p:nvSpPr>
        <p:spPr bwMode="gray">
          <a:xfrm>
            <a:off x="4287013" y="3178175"/>
            <a:ext cx="436563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8E09685-6705-4769-A5D3-F4470A856FF1}" type="datetime'''''''''''''''''''''''''''''3''''''.''''''''''''''''032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3.032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3" name="Прямоугольник 152">
            <a:extLst>
              <a:ext uri="{FF2B5EF4-FFF2-40B4-BE49-F238E27FC236}">
                <a16:creationId xmlns:a16="http://schemas.microsoft.com/office/drawing/2014/main" id="{2C6EB692-CD30-401D-8C12-81EE6A63ED7E}"/>
              </a:ext>
            </a:extLst>
          </p:cNvPr>
          <p:cNvSpPr/>
          <p:nvPr>
            <p:custDataLst>
              <p:tags r:id="rId21"/>
            </p:custDataLst>
          </p:nvPr>
        </p:nvSpPr>
        <p:spPr bwMode="gray">
          <a:xfrm>
            <a:off x="4282249" y="1820863"/>
            <a:ext cx="4460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2FC8EAC-5997-44DE-B9DF-6CCE62B30F11}" type="datetime'''''''''''''''''5''.''''''''''''''5''''''0''''''''''8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5.508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9" name="Прямоугольник 78">
            <a:extLst>
              <a:ext uri="{FF2B5EF4-FFF2-40B4-BE49-F238E27FC236}">
                <a16:creationId xmlns:a16="http://schemas.microsoft.com/office/drawing/2014/main" id="{AD513218-5FDC-4B5A-B367-2F642B1BD6C0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4275899" y="3719513"/>
            <a:ext cx="458788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E15660A-3AEE-4826-9F8A-C4CA4A99846D}" type="datetime'''''Ию''''''''''''''''''''''''''''''''''''''''н''''''ь'''''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Июнь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3" name="Прямоугольник 172">
            <a:extLst>
              <a:ext uri="{FF2B5EF4-FFF2-40B4-BE49-F238E27FC236}">
                <a16:creationId xmlns:a16="http://schemas.microsoft.com/office/drawing/2014/main" id="{8AD674DA-B018-45B4-A525-050DD921E04F}"/>
              </a:ext>
            </a:extLst>
          </p:cNvPr>
          <p:cNvSpPr/>
          <p:nvPr>
            <p:custDataLst>
              <p:tags r:id="rId23"/>
            </p:custDataLst>
          </p:nvPr>
        </p:nvSpPr>
        <p:spPr bwMode="gray">
          <a:xfrm>
            <a:off x="4942333" y="3178175"/>
            <a:ext cx="43497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B2089BB-BFB4-43F0-9DDE-A3132DF523CB}" type="datetime'3''''''''.''''''''''''03''''''5''''''''''''''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3.035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4" name="Прямоугольник 153">
            <a:extLst>
              <a:ext uri="{FF2B5EF4-FFF2-40B4-BE49-F238E27FC236}">
                <a16:creationId xmlns:a16="http://schemas.microsoft.com/office/drawing/2014/main" id="{F96255E0-EBB9-4904-99D5-D41A55BB8AD4}"/>
              </a:ext>
            </a:extLst>
          </p:cNvPr>
          <p:cNvSpPr/>
          <p:nvPr>
            <p:custDataLst>
              <p:tags r:id="rId24"/>
            </p:custDataLst>
          </p:nvPr>
        </p:nvSpPr>
        <p:spPr bwMode="gray">
          <a:xfrm>
            <a:off x="4937379" y="2035175"/>
            <a:ext cx="4460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C73D3FB-723B-4DF9-A174-335BB3D28A94}" type="datetime'''4.''''''''''''''''''9''''''''59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4.959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0" name="Прямоугольник 79">
            <a:extLst>
              <a:ext uri="{FF2B5EF4-FFF2-40B4-BE49-F238E27FC236}">
                <a16:creationId xmlns:a16="http://schemas.microsoft.com/office/drawing/2014/main" id="{E6BEAA3E-2954-4B1C-9603-3156CCFB2E01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4934204" y="3719513"/>
            <a:ext cx="452438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5D1412C-EFDE-4CB4-A56B-FF13D33A1CCB}" type="datetime'''''''''''''''''''''И''ю''''''''''л''''''''''ь'''''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Июль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5" name="Прямоугольник 164">
            <a:extLst>
              <a:ext uri="{FF2B5EF4-FFF2-40B4-BE49-F238E27FC236}">
                <a16:creationId xmlns:a16="http://schemas.microsoft.com/office/drawing/2014/main" id="{FDE9E720-F5A4-4A32-86FA-2B953EF17859}"/>
              </a:ext>
            </a:extLst>
          </p:cNvPr>
          <p:cNvSpPr/>
          <p:nvPr>
            <p:custDataLst>
              <p:tags r:id="rId26"/>
            </p:custDataLst>
          </p:nvPr>
        </p:nvSpPr>
        <p:spPr bwMode="gray">
          <a:xfrm>
            <a:off x="5598669" y="3260725"/>
            <a:ext cx="43497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850CAC3-056B-4693-BD8F-3DE25CCD3592}" type="datetime'2''''''''''''''''''''''''''''''''''''.8''2''2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2.822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 useBgFill="1">
        <p:nvSpPr>
          <p:cNvPr id="155" name="Прямоугольник 154">
            <a:extLst>
              <a:ext uri="{FF2B5EF4-FFF2-40B4-BE49-F238E27FC236}">
                <a16:creationId xmlns:a16="http://schemas.microsoft.com/office/drawing/2014/main" id="{B4B20133-8D77-4106-9547-E0528F693B76}"/>
              </a:ext>
            </a:extLst>
          </p:cNvPr>
          <p:cNvSpPr/>
          <p:nvPr>
            <p:custDataLst>
              <p:tags r:id="rId27"/>
            </p:custDataLst>
          </p:nvPr>
        </p:nvSpPr>
        <p:spPr bwMode="gray">
          <a:xfrm>
            <a:off x="5619115" y="2749550"/>
            <a:ext cx="395288" cy="165100"/>
          </a:xfrm>
          <a:prstGeom prst="rect">
            <a:avLst/>
          </a:pr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EBBF051-494F-47CA-A615-8AAE57DB518C}" type="datetime'''3''''''.13''''''''9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3.139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1" name="Прямоугольник 80">
            <a:extLst>
              <a:ext uri="{FF2B5EF4-FFF2-40B4-BE49-F238E27FC236}">
                <a16:creationId xmlns:a16="http://schemas.microsoft.com/office/drawing/2014/main" id="{ECC013C8-C010-4CAA-91E7-B4EAE5757F6A}"/>
              </a:ext>
            </a:extLst>
          </p:cNvPr>
          <p:cNvSpPr/>
          <p:nvPr>
            <p:custDataLst>
              <p:tags r:id="rId28"/>
            </p:custDataLst>
          </p:nvPr>
        </p:nvSpPr>
        <p:spPr bwMode="auto">
          <a:xfrm>
            <a:off x="5549456" y="3719513"/>
            <a:ext cx="533400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D3C7D70-B858-4289-A31A-0E439FE34975}" type="datetime'А''''в''''''''''г''''''''у''''''''с''''''''''''''''т'''''''''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Август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4" name="Прямоугольник 173">
            <a:extLst>
              <a:ext uri="{FF2B5EF4-FFF2-40B4-BE49-F238E27FC236}">
                <a16:creationId xmlns:a16="http://schemas.microsoft.com/office/drawing/2014/main" id="{ED7F6AEE-C56B-413B-9245-B8A96C1C0B94}"/>
              </a:ext>
            </a:extLst>
          </p:cNvPr>
          <p:cNvSpPr/>
          <p:nvPr>
            <p:custDataLst>
              <p:tags r:id="rId29"/>
            </p:custDataLst>
          </p:nvPr>
        </p:nvSpPr>
        <p:spPr bwMode="gray">
          <a:xfrm>
            <a:off x="6248844" y="2894013"/>
            <a:ext cx="4460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ED889EB-BD38-4AD5-B2E6-CDA178480799}" type="datetime'''''''2''''.''''''''''''''''''7''''''''''''''''70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2.770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6" name="Прямоугольник 155">
            <a:extLst>
              <a:ext uri="{FF2B5EF4-FFF2-40B4-BE49-F238E27FC236}">
                <a16:creationId xmlns:a16="http://schemas.microsoft.com/office/drawing/2014/main" id="{14447913-FDD3-452E-8A7C-E2638CC9F73D}"/>
              </a:ext>
            </a:extLst>
          </p:cNvPr>
          <p:cNvSpPr/>
          <p:nvPr>
            <p:custDataLst>
              <p:tags r:id="rId30"/>
            </p:custDataLst>
          </p:nvPr>
        </p:nvSpPr>
        <p:spPr bwMode="gray">
          <a:xfrm>
            <a:off x="6247257" y="3324225"/>
            <a:ext cx="449263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70F8D95-6A99-42C0-AF27-41E0CD031A0E}" type="datetime'2''.''''''''6''''''''''''''''60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2.660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2" name="Прямоугольник 81">
            <a:extLst>
              <a:ext uri="{FF2B5EF4-FFF2-40B4-BE49-F238E27FC236}">
                <a16:creationId xmlns:a16="http://schemas.microsoft.com/office/drawing/2014/main" id="{3F5F4875-4A8E-454C-B890-DF6DD4BC9CAE}"/>
              </a:ext>
            </a:extLst>
          </p:cNvPr>
          <p:cNvSpPr/>
          <p:nvPr>
            <p:custDataLst>
              <p:tags r:id="rId31"/>
            </p:custDataLst>
          </p:nvPr>
        </p:nvSpPr>
        <p:spPr bwMode="auto">
          <a:xfrm>
            <a:off x="6085332" y="3719513"/>
            <a:ext cx="773113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4F12790-3916-4EAF-AAC0-4FFAAA0126B1}" type="datetime'''''''''''''''С''''''''''ен''тя''''''''''''б''''''р''ь'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Сентябрь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5" name="Прямоугольник 174">
            <a:extLst>
              <a:ext uri="{FF2B5EF4-FFF2-40B4-BE49-F238E27FC236}">
                <a16:creationId xmlns:a16="http://schemas.microsoft.com/office/drawing/2014/main" id="{C70CDA3B-3E06-46FA-ADBC-D65D9C320DE2}"/>
              </a:ext>
            </a:extLst>
          </p:cNvPr>
          <p:cNvSpPr/>
          <p:nvPr>
            <p:custDataLst>
              <p:tags r:id="rId32"/>
            </p:custDataLst>
          </p:nvPr>
        </p:nvSpPr>
        <p:spPr bwMode="gray">
          <a:xfrm>
            <a:off x="6914705" y="2828925"/>
            <a:ext cx="42703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27344FC-DDE2-4690-97BA-1DF4743FE0C9}" type="datetime'''''''''''2''''.''''9''''''''''''35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2.935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6" name="Прямоугольник 165">
            <a:extLst>
              <a:ext uri="{FF2B5EF4-FFF2-40B4-BE49-F238E27FC236}">
                <a16:creationId xmlns:a16="http://schemas.microsoft.com/office/drawing/2014/main" id="{01C3DDA2-4DEF-4594-8C91-0BA477284B59}"/>
              </a:ext>
            </a:extLst>
          </p:cNvPr>
          <p:cNvSpPr/>
          <p:nvPr>
            <p:custDataLst>
              <p:tags r:id="rId33"/>
            </p:custDataLst>
          </p:nvPr>
        </p:nvSpPr>
        <p:spPr bwMode="gray">
          <a:xfrm>
            <a:off x="359092" y="3509963"/>
            <a:ext cx="442913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703C317-DC32-422C-84B2-8A1AF8306066}" type="datetime'''''''''''''2''''.''06''''''''''''5''''''''''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2.065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7" name="Прямоугольник 156">
            <a:extLst>
              <a:ext uri="{FF2B5EF4-FFF2-40B4-BE49-F238E27FC236}">
                <a16:creationId xmlns:a16="http://schemas.microsoft.com/office/drawing/2014/main" id="{602E54FF-02FB-4754-A240-9432FB22292A}"/>
              </a:ext>
            </a:extLst>
          </p:cNvPr>
          <p:cNvSpPr/>
          <p:nvPr>
            <p:custDataLst>
              <p:tags r:id="rId34"/>
            </p:custDataLst>
          </p:nvPr>
        </p:nvSpPr>
        <p:spPr bwMode="gray">
          <a:xfrm>
            <a:off x="6902196" y="3240088"/>
            <a:ext cx="4508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D46075D-2057-4DA3-9628-9EFE52F23324}" type="datetime'''''''''''''2''''''''''''''''''''''.''''''87''4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2.874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7" name="Прямоугольник 146">
            <a:extLst>
              <a:ext uri="{FF2B5EF4-FFF2-40B4-BE49-F238E27FC236}">
                <a16:creationId xmlns:a16="http://schemas.microsoft.com/office/drawing/2014/main" id="{F04101FE-CD12-4092-B863-1F1E0FDD00A2}"/>
              </a:ext>
            </a:extLst>
          </p:cNvPr>
          <p:cNvSpPr/>
          <p:nvPr>
            <p:custDataLst>
              <p:tags r:id="rId35"/>
            </p:custDataLst>
          </p:nvPr>
        </p:nvSpPr>
        <p:spPr bwMode="gray">
          <a:xfrm>
            <a:off x="370776" y="2462213"/>
            <a:ext cx="4460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97A6BC9-7D42-4E25-9A1E-F508E020A0D0}" type="datetime'3''''.''''8''03''''''''''''''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3.803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3" name="Прямоугольник 82">
            <a:extLst>
              <a:ext uri="{FF2B5EF4-FFF2-40B4-BE49-F238E27FC236}">
                <a16:creationId xmlns:a16="http://schemas.microsoft.com/office/drawing/2014/main" id="{A7CC30C3-8EDE-492A-98F7-E4E4A0140B40}"/>
              </a:ext>
            </a:extLst>
          </p:cNvPr>
          <p:cNvSpPr/>
          <p:nvPr>
            <p:custDataLst>
              <p:tags r:id="rId36"/>
            </p:custDataLst>
          </p:nvPr>
        </p:nvSpPr>
        <p:spPr bwMode="auto">
          <a:xfrm>
            <a:off x="6784721" y="3719513"/>
            <a:ext cx="685800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EC6C8B-490D-40B8-8998-B8D01EAEFE24}" type="datetime'''О''к''т''''''''''''''''''''''''''''я''б''р''''''''''''ь'''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Октябрь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6" name="Прямоугольник 175">
            <a:extLst>
              <a:ext uri="{FF2B5EF4-FFF2-40B4-BE49-F238E27FC236}">
                <a16:creationId xmlns:a16="http://schemas.microsoft.com/office/drawing/2014/main" id="{F69D31B7-B93F-4408-85E0-0030B8FE965D}"/>
              </a:ext>
            </a:extLst>
          </p:cNvPr>
          <p:cNvSpPr/>
          <p:nvPr>
            <p:custDataLst>
              <p:tags r:id="rId37"/>
            </p:custDataLst>
          </p:nvPr>
        </p:nvSpPr>
        <p:spPr bwMode="gray">
          <a:xfrm>
            <a:off x="7582726" y="2727325"/>
            <a:ext cx="4000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98D1032-B7A9-4E3B-AB95-7B05357A8872}" type="datetime'''3''.''''''''''''''''''''1''''''''''97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3.197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4" name="Прямоугольник 73">
            <a:extLst>
              <a:ext uri="{FF2B5EF4-FFF2-40B4-BE49-F238E27FC236}">
                <a16:creationId xmlns:a16="http://schemas.microsoft.com/office/drawing/2014/main" id="{72477DF7-18BC-4AFF-AEAF-660F38A66D1F}"/>
              </a:ext>
            </a:extLst>
          </p:cNvPr>
          <p:cNvSpPr/>
          <p:nvPr>
            <p:custDataLst>
              <p:tags r:id="rId38"/>
            </p:custDataLst>
          </p:nvPr>
        </p:nvSpPr>
        <p:spPr bwMode="auto">
          <a:xfrm>
            <a:off x="278797" y="3719513"/>
            <a:ext cx="584200" cy="54768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D8C7BD1-5F94-4DA7-BDF3-63F575E1E916}" type="datetime'''''''''Ост''ат''ок на на''ч''а''л''''''''о'''' ''''''''года'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Остаток на начало года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4" name="Прямоугольник 83">
            <a:extLst>
              <a:ext uri="{FF2B5EF4-FFF2-40B4-BE49-F238E27FC236}">
                <a16:creationId xmlns:a16="http://schemas.microsoft.com/office/drawing/2014/main" id="{CE168C9B-9191-4241-BE45-4C675A71EB57}"/>
              </a:ext>
            </a:extLst>
          </p:cNvPr>
          <p:cNvSpPr/>
          <p:nvPr>
            <p:custDataLst>
              <p:tags r:id="rId39"/>
            </p:custDataLst>
          </p:nvPr>
        </p:nvSpPr>
        <p:spPr bwMode="auto">
          <a:xfrm>
            <a:off x="7474585" y="3719513"/>
            <a:ext cx="617538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AB7D175-12A4-441A-BC7A-33D376268122}" type="datetime'''Н''''''''''''''о''''яб''''''р''''''''''''''''''''''''ь'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Ноябрь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7" name="Прямоугольник 176">
            <a:extLst>
              <a:ext uri="{FF2B5EF4-FFF2-40B4-BE49-F238E27FC236}">
                <a16:creationId xmlns:a16="http://schemas.microsoft.com/office/drawing/2014/main" id="{BF039152-F9FF-407C-896A-AB195408BBCB}"/>
              </a:ext>
            </a:extLst>
          </p:cNvPr>
          <p:cNvSpPr/>
          <p:nvPr>
            <p:custDataLst>
              <p:tags r:id="rId40"/>
            </p:custDataLst>
          </p:nvPr>
        </p:nvSpPr>
        <p:spPr bwMode="gray">
          <a:xfrm>
            <a:off x="8216646" y="2876550"/>
            <a:ext cx="4460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C1E9D8-2D41-44B0-8700-93D88D6B914A}" type="datetime'''3''''''''''.''''''''''''''''''803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3.803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 useBgFill="1">
        <p:nvSpPr>
          <p:cNvPr id="159" name="Прямоугольник 158">
            <a:extLst>
              <a:ext uri="{FF2B5EF4-FFF2-40B4-BE49-F238E27FC236}">
                <a16:creationId xmlns:a16="http://schemas.microsoft.com/office/drawing/2014/main" id="{9CBAFD68-F482-4ADD-83EC-7E35EEBC17B6}"/>
              </a:ext>
            </a:extLst>
          </p:cNvPr>
          <p:cNvSpPr/>
          <p:nvPr>
            <p:custDataLst>
              <p:tags r:id="rId41"/>
            </p:custDataLst>
          </p:nvPr>
        </p:nvSpPr>
        <p:spPr bwMode="gray">
          <a:xfrm>
            <a:off x="8476107" y="2525713"/>
            <a:ext cx="395288" cy="165100"/>
          </a:xfrm>
          <a:prstGeom prst="rect">
            <a:avLst/>
          </a:pr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41210A2-B542-4CA1-AFE8-3A68082B6AD3}" type="datetime'''''3.''''''''''''''''''''''''9''''''13''''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3.913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8" name="Прямоугольник 167">
            <a:extLst>
              <a:ext uri="{FF2B5EF4-FFF2-40B4-BE49-F238E27FC236}">
                <a16:creationId xmlns:a16="http://schemas.microsoft.com/office/drawing/2014/main" id="{9C76CA0B-D88A-43BE-A70E-18FDF9FA713A}"/>
              </a:ext>
            </a:extLst>
          </p:cNvPr>
          <p:cNvSpPr/>
          <p:nvPr>
            <p:custDataLst>
              <p:tags r:id="rId42"/>
            </p:custDataLst>
          </p:nvPr>
        </p:nvSpPr>
        <p:spPr bwMode="gray">
          <a:xfrm>
            <a:off x="1006157" y="3497263"/>
            <a:ext cx="43973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4A6FC22-4DA4-41B8-8421-7D610D178FD6}" type="datetime'2''.''22''''''''''''''''''''''''''''''0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2.220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8" name="Прямоугольник 157">
            <a:extLst>
              <a:ext uri="{FF2B5EF4-FFF2-40B4-BE49-F238E27FC236}">
                <a16:creationId xmlns:a16="http://schemas.microsoft.com/office/drawing/2014/main" id="{4B79C3A0-C9BF-4330-A0E1-F1966720A221}"/>
              </a:ext>
            </a:extLst>
          </p:cNvPr>
          <p:cNvSpPr/>
          <p:nvPr>
            <p:custDataLst>
              <p:tags r:id="rId43"/>
            </p:custDataLst>
          </p:nvPr>
        </p:nvSpPr>
        <p:spPr bwMode="gray">
          <a:xfrm>
            <a:off x="7585710" y="3114675"/>
            <a:ext cx="3952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1A46D3C-DADA-448D-9D1F-5215198D9168}" type="datetime'''''''3''''''.''''''''''''''''''''''1''''''9''''''''''''5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3.195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8" name="Прямоугольник 177">
            <a:extLst>
              <a:ext uri="{FF2B5EF4-FFF2-40B4-BE49-F238E27FC236}">
                <a16:creationId xmlns:a16="http://schemas.microsoft.com/office/drawing/2014/main" id="{F13FFABF-8D9D-498A-9EFA-1F80C95AEA3B}"/>
              </a:ext>
            </a:extLst>
          </p:cNvPr>
          <p:cNvSpPr/>
          <p:nvPr>
            <p:custDataLst>
              <p:tags r:id="rId44"/>
            </p:custDataLst>
          </p:nvPr>
        </p:nvSpPr>
        <p:spPr bwMode="gray">
          <a:xfrm>
            <a:off x="8871775" y="2876550"/>
            <a:ext cx="4460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9ABCEAB-58D6-4D46-8FC9-B4FBB2AE9CA4}" type="datetime'''''''''''3''''''''''''''''.''8''''''0''''''''''''''''''3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3.803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0" name="Прямоугольник 159">
            <a:extLst>
              <a:ext uri="{FF2B5EF4-FFF2-40B4-BE49-F238E27FC236}">
                <a16:creationId xmlns:a16="http://schemas.microsoft.com/office/drawing/2014/main" id="{66F408D1-1911-4122-B947-DE54A9248CFF}"/>
              </a:ext>
            </a:extLst>
          </p:cNvPr>
          <p:cNvSpPr/>
          <p:nvPr>
            <p:custDataLst>
              <p:tags r:id="rId45"/>
            </p:custDataLst>
          </p:nvPr>
        </p:nvSpPr>
        <p:spPr bwMode="gray">
          <a:xfrm>
            <a:off x="9131236" y="2525713"/>
            <a:ext cx="3952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EA27193-225E-4A5B-BB02-FD2107FC82ED}" type="datetime'''3''''''''''''''''''''''.9''''''''''''1''''''''''3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3.913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8" name="Прямоугольник 147">
            <a:extLst>
              <a:ext uri="{FF2B5EF4-FFF2-40B4-BE49-F238E27FC236}">
                <a16:creationId xmlns:a16="http://schemas.microsoft.com/office/drawing/2014/main" id="{4BAE2088-3A7A-4A66-A26A-4048FDA345E1}"/>
              </a:ext>
            </a:extLst>
          </p:cNvPr>
          <p:cNvSpPr/>
          <p:nvPr>
            <p:custDataLst>
              <p:tags r:id="rId46"/>
            </p:custDataLst>
          </p:nvPr>
        </p:nvSpPr>
        <p:spPr bwMode="gray">
          <a:xfrm>
            <a:off x="993457" y="2220913"/>
            <a:ext cx="46513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E3AF32D-43C6-4482-B230-C3D13C513DA3}" type="datetime'''''4''''''''''''''''''''''''.''''''''''''''''4''''''''8''6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4.486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6" name="Прямоугольник 85">
            <a:extLst>
              <a:ext uri="{FF2B5EF4-FFF2-40B4-BE49-F238E27FC236}">
                <a16:creationId xmlns:a16="http://schemas.microsoft.com/office/drawing/2014/main" id="{340DAF8D-6E43-4292-ACB1-0796E9A1B764}"/>
              </a:ext>
            </a:extLst>
          </p:cNvPr>
          <p:cNvSpPr/>
          <p:nvPr>
            <p:custDataLst>
              <p:tags r:id="rId47"/>
            </p:custDataLst>
          </p:nvPr>
        </p:nvSpPr>
        <p:spPr bwMode="auto">
          <a:xfrm>
            <a:off x="8802719" y="3719513"/>
            <a:ext cx="584200" cy="54768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9139AAD-13E9-4445-B60D-175B00CE57B2}" type="datetime'О''''с''т''ато''''к'''''' ''на'' ''''кон''''е''ц'' г''о''да'''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Остаток на конец года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5" name="Прямоугольник 84">
            <a:extLst>
              <a:ext uri="{FF2B5EF4-FFF2-40B4-BE49-F238E27FC236}">
                <a16:creationId xmlns:a16="http://schemas.microsoft.com/office/drawing/2014/main" id="{B1BF5C66-ADA3-41FB-8A3A-B97F033CF015}"/>
              </a:ext>
            </a:extLst>
          </p:cNvPr>
          <p:cNvSpPr/>
          <p:nvPr>
            <p:custDataLst>
              <p:tags r:id="rId48"/>
            </p:custDataLst>
          </p:nvPr>
        </p:nvSpPr>
        <p:spPr bwMode="auto">
          <a:xfrm>
            <a:off x="8091424" y="3719513"/>
            <a:ext cx="69532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399DFAC-71FD-48ED-8772-8F1B676890E9}" type="datetime'''''Дек''''''''''а''''''''''б''''''''''р''''''''''''ь'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Декабрь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98" name="Прямая соединительная линия 197">
            <a:extLst>
              <a:ext uri="{FF2B5EF4-FFF2-40B4-BE49-F238E27FC236}">
                <a16:creationId xmlns:a16="http://schemas.microsoft.com/office/drawing/2014/main" id="{058442B3-D21C-4199-8E5B-7C6CFB0801A6}"/>
              </a:ext>
            </a:extLst>
          </p:cNvPr>
          <p:cNvCxnSpPr/>
          <p:nvPr>
            <p:custDataLst>
              <p:tags r:id="rId49"/>
            </p:custDataLst>
          </p:nvPr>
        </p:nvCxnSpPr>
        <p:spPr bwMode="gray">
          <a:xfrm>
            <a:off x="460375" y="1489075"/>
            <a:ext cx="296863" cy="0"/>
          </a:xfrm>
          <a:prstGeom prst="line">
            <a:avLst/>
          </a:prstGeom>
          <a:ln w="28575" cap="rnd" cmpd="sng" algn="ctr">
            <a:solidFill>
              <a:srgbClr val="C0C0C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9" name="Прямая соединительная линия 198">
            <a:extLst>
              <a:ext uri="{FF2B5EF4-FFF2-40B4-BE49-F238E27FC236}">
                <a16:creationId xmlns:a16="http://schemas.microsoft.com/office/drawing/2014/main" id="{436D1145-95AD-4BAF-B153-A00F97FAE4C0}"/>
              </a:ext>
            </a:extLst>
          </p:cNvPr>
          <p:cNvCxnSpPr/>
          <p:nvPr>
            <p:custDataLst>
              <p:tags r:id="rId50"/>
            </p:custDataLst>
          </p:nvPr>
        </p:nvCxnSpPr>
        <p:spPr bwMode="gray">
          <a:xfrm>
            <a:off x="1306512" y="1489075"/>
            <a:ext cx="296863" cy="0"/>
          </a:xfrm>
          <a:prstGeom prst="line">
            <a:avLst/>
          </a:prstGeom>
          <a:ln w="28575" cap="rnd" cmpd="sng" algn="ctr">
            <a:solidFill>
              <a:srgbClr val="FF452C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2" name="Ромб 201">
            <a:extLst>
              <a:ext uri="{FF2B5EF4-FFF2-40B4-BE49-F238E27FC236}">
                <a16:creationId xmlns:a16="http://schemas.microsoft.com/office/drawing/2014/main" id="{70036F63-13AC-4206-B8A6-9416619F49CB}"/>
              </a:ext>
            </a:extLst>
          </p:cNvPr>
          <p:cNvSpPr/>
          <p:nvPr>
            <p:custDataLst>
              <p:tags r:id="rId51"/>
            </p:custDataLst>
          </p:nvPr>
        </p:nvSpPr>
        <p:spPr bwMode="auto">
          <a:xfrm>
            <a:off x="557212" y="1438275"/>
            <a:ext cx="101600" cy="101600"/>
          </a:xfrm>
          <a:prstGeom prst="diamond">
            <a:avLst/>
          </a:prstGeom>
          <a:solidFill>
            <a:srgbClr val="C0C0C0"/>
          </a:solidFill>
          <a:ln w="9525" cap="flat" cmpd="sng" algn="ctr">
            <a:solidFill>
              <a:srgbClr val="C0C0C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kumimoji="0" sz="1800" b="0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3" name="Ромб 202">
            <a:extLst>
              <a:ext uri="{FF2B5EF4-FFF2-40B4-BE49-F238E27FC236}">
                <a16:creationId xmlns:a16="http://schemas.microsoft.com/office/drawing/2014/main" id="{1B4E199A-F282-4B38-9D53-756AB2CDF354}"/>
              </a:ext>
            </a:extLst>
          </p:cNvPr>
          <p:cNvSpPr/>
          <p:nvPr>
            <p:custDataLst>
              <p:tags r:id="rId52"/>
            </p:custDataLst>
          </p:nvPr>
        </p:nvSpPr>
        <p:spPr bwMode="auto">
          <a:xfrm>
            <a:off x="1403350" y="1438275"/>
            <a:ext cx="101600" cy="101600"/>
          </a:xfrm>
          <a:prstGeom prst="diamond">
            <a:avLst/>
          </a:prstGeom>
          <a:solidFill>
            <a:srgbClr val="FF452C"/>
          </a:solidFill>
          <a:ln w="9525" cap="flat" cmpd="sng" algn="ctr">
            <a:solidFill>
              <a:srgbClr val="FF452C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kumimoji="0" sz="1800" b="0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5" name="Прямоугольник 104">
            <a:extLst>
              <a:ext uri="{FF2B5EF4-FFF2-40B4-BE49-F238E27FC236}">
                <a16:creationId xmlns:a16="http://schemas.microsoft.com/office/drawing/2014/main" id="{DA9CE187-493D-4E37-BDCA-845701A9A6D0}"/>
              </a:ext>
            </a:extLst>
          </p:cNvPr>
          <p:cNvSpPr/>
          <p:nvPr>
            <p:custDataLst>
              <p:tags r:id="rId53"/>
            </p:custDataLst>
          </p:nvPr>
        </p:nvSpPr>
        <p:spPr bwMode="auto">
          <a:xfrm>
            <a:off x="822325" y="1404938"/>
            <a:ext cx="368300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ABB035-4285-48E8-B255-F21162CEBB7F}" type="datetime'''''''''''''''''''''''2''0''''''''''''''''''''2''''''''''6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7" name="Прямоугольник 66">
            <a:extLst>
              <a:ext uri="{FF2B5EF4-FFF2-40B4-BE49-F238E27FC236}">
                <a16:creationId xmlns:a16="http://schemas.microsoft.com/office/drawing/2014/main" id="{C191B661-0ED5-4F78-8C25-024423F7B5CA}"/>
              </a:ext>
            </a:extLst>
          </p:cNvPr>
          <p:cNvSpPr/>
          <p:nvPr>
            <p:custDataLst>
              <p:tags r:id="rId54"/>
            </p:custDataLst>
          </p:nvPr>
        </p:nvSpPr>
        <p:spPr bwMode="auto">
          <a:xfrm>
            <a:off x="1668463" y="1404938"/>
            <a:ext cx="366713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2F1083E-BE73-4471-8105-F67EB6BD88DF}" type="datetime'20''2''''''''''''''''''7''''''''''''''''''''''''''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2027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215" name="Таблица 214">
            <a:extLst>
              <a:ext uri="{FF2B5EF4-FFF2-40B4-BE49-F238E27FC236}">
                <a16:creationId xmlns:a16="http://schemas.microsoft.com/office/drawing/2014/main" id="{57A8F848-5A79-4256-9E11-93CFA5A337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7338052"/>
              </p:ext>
            </p:extLst>
          </p:nvPr>
        </p:nvGraphicFramePr>
        <p:xfrm>
          <a:off x="9626600" y="1066800"/>
          <a:ext cx="2184400" cy="2393950"/>
        </p:xfrm>
        <a:graphic>
          <a:graphicData uri="http://schemas.openxmlformats.org/drawingml/2006/table">
            <a:tbl>
              <a:tblPr/>
              <a:tblGrid>
                <a:gridCol w="723900">
                  <a:extLst>
                    <a:ext uri="{9D8B030D-6E8A-4147-A177-3AD203B41FA5}">
                      <a16:colId xmlns:a16="http://schemas.microsoft.com/office/drawing/2014/main" val="273598262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497454657"/>
                    </a:ext>
                  </a:extLst>
                </a:gridCol>
                <a:gridCol w="774700">
                  <a:extLst>
                    <a:ext uri="{9D8B030D-6E8A-4147-A177-3AD203B41FA5}">
                      <a16:colId xmlns:a16="http://schemas.microsoft.com/office/drawing/2014/main" val="1890773029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Год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2026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2027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36137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январь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5,6%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7,4%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385565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февраль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4,7%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5,2%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458272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март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4,3%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1,9%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852280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апрель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-0,8%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1,4%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130244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май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7,4%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2,0%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327505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июнь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0,4%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-0,2%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397935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июль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-3,2%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-5,1%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820462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август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0,6%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-17,0%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561195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сентябрь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1,8%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-4,5%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361513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октябрь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2,7%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2,0%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232342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ноябрь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2,9%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3,0%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834390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декабрь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3,6%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6,7%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0331541"/>
                  </a:ext>
                </a:extLst>
              </a:tr>
            </a:tbl>
          </a:graphicData>
        </a:graphic>
      </p:graphicFrame>
      <p:sp>
        <p:nvSpPr>
          <p:cNvPr id="225" name="TextBox 224">
            <a:extLst>
              <a:ext uri="{FF2B5EF4-FFF2-40B4-BE49-F238E27FC236}">
                <a16:creationId xmlns:a16="http://schemas.microsoft.com/office/drawing/2014/main" id="{807CB5F2-0937-4F65-9F03-CB1E80A3E015}"/>
              </a:ext>
            </a:extLst>
          </p:cNvPr>
          <p:cNvSpPr txBox="1"/>
          <p:nvPr/>
        </p:nvSpPr>
        <p:spPr>
          <a:xfrm>
            <a:off x="6116184" y="4377722"/>
            <a:ext cx="5588000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В течение 2026 года ожидается рост резервов на отпуск, что связано, в первую очередь, с наймом новых сотрудников, которые еще не приобрели право на отпуск в 2026 году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2027 год запланирован без прироста среднего количества дней на человека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3FFD84D9-84D7-4CC8-B1A8-7AE830D408C1}"/>
              </a:ext>
            </a:extLst>
          </p:cNvPr>
          <p:cNvSpPr txBox="1"/>
          <p:nvPr/>
        </p:nvSpPr>
        <p:spPr>
          <a:xfrm>
            <a:off x="369887" y="4265277"/>
            <a:ext cx="5671771" cy="52322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4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Распределение сотрудников с неиспользованными отпусками на конец года</a:t>
            </a:r>
          </a:p>
        </p:txBody>
      </p:sp>
      <p:graphicFrame>
        <p:nvGraphicFramePr>
          <p:cNvPr id="207" name="Chart 3">
            <a:extLst>
              <a:ext uri="{FF2B5EF4-FFF2-40B4-BE49-F238E27FC236}">
                <a16:creationId xmlns:a16="http://schemas.microsoft.com/office/drawing/2014/main" id="{1E11D37A-D88D-42BA-AE3E-68C3FE669B32}"/>
              </a:ext>
            </a:extLst>
          </p:cNvPr>
          <p:cNvGraphicFramePr/>
          <p:nvPr>
            <p:custDataLst>
              <p:tags r:id="rId55"/>
            </p:custDataLst>
          </p:nvPr>
        </p:nvGraphicFramePr>
        <p:xfrm>
          <a:off x="303213" y="5153002"/>
          <a:ext cx="5830887" cy="9276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3"/>
          </a:graphicData>
        </a:graphic>
      </p:graphicFrame>
      <p:sp>
        <p:nvSpPr>
          <p:cNvPr id="251" name="Прямоугольник 250">
            <a:extLst>
              <a:ext uri="{FF2B5EF4-FFF2-40B4-BE49-F238E27FC236}">
                <a16:creationId xmlns:a16="http://schemas.microsoft.com/office/drawing/2014/main" id="{8367E371-C7CE-4C03-810A-C3A7FE360F3D}"/>
              </a:ext>
            </a:extLst>
          </p:cNvPr>
          <p:cNvSpPr/>
          <p:nvPr>
            <p:custDataLst>
              <p:tags r:id="rId56"/>
            </p:custDataLst>
          </p:nvPr>
        </p:nvSpPr>
        <p:spPr bwMode="auto">
          <a:xfrm>
            <a:off x="900112" y="5908929"/>
            <a:ext cx="86042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041CA6B-1FEA-43EF-941B-8ABFB75E33C2}" type="datetime'''41''-''''''''''''''''''''''6''''''0'' ''д''''н''ей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41-60 дней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3" name="Прямоугольник 252">
            <a:extLst>
              <a:ext uri="{FF2B5EF4-FFF2-40B4-BE49-F238E27FC236}">
                <a16:creationId xmlns:a16="http://schemas.microsoft.com/office/drawing/2014/main" id="{9BFE9603-6BD7-46F7-9046-0AA7863E38BA}"/>
              </a:ext>
            </a:extLst>
          </p:cNvPr>
          <p:cNvSpPr/>
          <p:nvPr>
            <p:custDataLst>
              <p:tags r:id="rId57"/>
            </p:custDataLst>
          </p:nvPr>
        </p:nvSpPr>
        <p:spPr bwMode="auto">
          <a:xfrm>
            <a:off x="2759075" y="5908929"/>
            <a:ext cx="91757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73C843F-B3DE-4EDD-9084-F127865DC498}" type="datetime'''61''''''''''''''-10''0'''' ''''''''''д''''н''''''''''ей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61-100 дней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4" name="Прямоугольник 253">
            <a:extLst>
              <a:ext uri="{FF2B5EF4-FFF2-40B4-BE49-F238E27FC236}">
                <a16:creationId xmlns:a16="http://schemas.microsoft.com/office/drawing/2014/main" id="{FD22412F-27FA-4A05-A949-049EF00F80D4}"/>
              </a:ext>
            </a:extLst>
          </p:cNvPr>
          <p:cNvSpPr/>
          <p:nvPr>
            <p:custDataLst>
              <p:tags r:id="rId58"/>
            </p:custDataLst>
          </p:nvPr>
        </p:nvSpPr>
        <p:spPr bwMode="auto">
          <a:xfrm>
            <a:off x="4730750" y="5908929"/>
            <a:ext cx="75247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734856-C337-4F2E-BB41-48C7380BB8E1}" type="datetime'1''''''0''''''1''''''''''+'''' дн''''''''е''''й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101+ дней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2" name="Прямоугольник 91">
            <a:extLst>
              <a:ext uri="{FF2B5EF4-FFF2-40B4-BE49-F238E27FC236}">
                <a16:creationId xmlns:a16="http://schemas.microsoft.com/office/drawing/2014/main" id="{11E9CCD6-697A-40CB-875B-22DD8F62E3DA}"/>
              </a:ext>
            </a:extLst>
          </p:cNvPr>
          <p:cNvSpPr/>
          <p:nvPr>
            <p:custDataLst>
              <p:tags r:id="rId59"/>
            </p:custDataLst>
          </p:nvPr>
        </p:nvSpPr>
        <p:spPr bwMode="gray">
          <a:xfrm>
            <a:off x="1593850" y="5755140"/>
            <a:ext cx="1460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C09ABC3-1D43-4B74-9ACA-245484E15F38}" type="datetime'''0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0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4" name="Прямоугольник 93">
            <a:extLst>
              <a:ext uri="{FF2B5EF4-FFF2-40B4-BE49-F238E27FC236}">
                <a16:creationId xmlns:a16="http://schemas.microsoft.com/office/drawing/2014/main" id="{6EB6F67F-4B40-407C-916A-C618D59F5E39}"/>
              </a:ext>
            </a:extLst>
          </p:cNvPr>
          <p:cNvSpPr/>
          <p:nvPr>
            <p:custDataLst>
              <p:tags r:id="rId60"/>
            </p:custDataLst>
          </p:nvPr>
        </p:nvSpPr>
        <p:spPr bwMode="gray">
          <a:xfrm>
            <a:off x="2806700" y="5755140"/>
            <a:ext cx="1460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C7B8A52-B795-4844-9484-B8BDB551B28B}" type="datetime'''''''''''0''''''''''''''''''''''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0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5" name="Прямоугольник 94">
            <a:extLst>
              <a:ext uri="{FF2B5EF4-FFF2-40B4-BE49-F238E27FC236}">
                <a16:creationId xmlns:a16="http://schemas.microsoft.com/office/drawing/2014/main" id="{DB810767-2BC7-4EEC-8F89-6298C62921CD}"/>
              </a:ext>
            </a:extLst>
          </p:cNvPr>
          <p:cNvSpPr/>
          <p:nvPr>
            <p:custDataLst>
              <p:tags r:id="rId61"/>
            </p:custDataLst>
          </p:nvPr>
        </p:nvSpPr>
        <p:spPr bwMode="gray">
          <a:xfrm>
            <a:off x="3481388" y="5755140"/>
            <a:ext cx="1460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430205A-170F-44DB-8DE6-6CF859D90B28}" type="datetime'''''''''''''''''''''''''''''''''0''''''''''''''''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0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6" name="Прямоугольник 95">
            <a:extLst>
              <a:ext uri="{FF2B5EF4-FFF2-40B4-BE49-F238E27FC236}">
                <a16:creationId xmlns:a16="http://schemas.microsoft.com/office/drawing/2014/main" id="{DF0911E4-82DC-411E-BE3E-25F58BE9A9B8}"/>
              </a:ext>
            </a:extLst>
          </p:cNvPr>
          <p:cNvSpPr/>
          <p:nvPr>
            <p:custDataLst>
              <p:tags r:id="rId62"/>
            </p:custDataLst>
          </p:nvPr>
        </p:nvSpPr>
        <p:spPr bwMode="gray">
          <a:xfrm>
            <a:off x="4695825" y="5755140"/>
            <a:ext cx="1460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4090257-22D5-455A-85B5-3D16F481BC2E}" type="datetime'''''''''''''''''''''''''''''''''''''''''0''''''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0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7" name="Прямоугольник 96">
            <a:extLst>
              <a:ext uri="{FF2B5EF4-FFF2-40B4-BE49-F238E27FC236}">
                <a16:creationId xmlns:a16="http://schemas.microsoft.com/office/drawing/2014/main" id="{77438B5D-2BD3-48F3-8490-E57B5AEE6FFD}"/>
              </a:ext>
            </a:extLst>
          </p:cNvPr>
          <p:cNvSpPr/>
          <p:nvPr>
            <p:custDataLst>
              <p:tags r:id="rId63"/>
            </p:custDataLst>
          </p:nvPr>
        </p:nvSpPr>
        <p:spPr bwMode="gray">
          <a:xfrm>
            <a:off x="5370513" y="5755140"/>
            <a:ext cx="1460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17DD57A-8464-4783-BB04-4BE375AA2DD6}" type="datetime'''''''''''''''''''0''''''''''''''''''''''''''''''''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0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7" name="Прямоугольник 276">
            <a:extLst>
              <a:ext uri="{FF2B5EF4-FFF2-40B4-BE49-F238E27FC236}">
                <a16:creationId xmlns:a16="http://schemas.microsoft.com/office/drawing/2014/main" id="{6081C616-5ABC-441E-A1E5-379217062E38}"/>
              </a:ext>
            </a:extLst>
          </p:cNvPr>
          <p:cNvSpPr/>
          <p:nvPr>
            <p:custDataLst>
              <p:tags r:id="rId64"/>
            </p:custDataLst>
          </p:nvPr>
        </p:nvSpPr>
        <p:spPr bwMode="auto">
          <a:xfrm>
            <a:off x="446087" y="4854552"/>
            <a:ext cx="214313" cy="160338"/>
          </a:xfrm>
          <a:prstGeom prst="rect">
            <a:avLst/>
          </a:prstGeom>
          <a:solidFill>
            <a:srgbClr val="D6D7D9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kumimoji="0" sz="1800" b="0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8" name="Прямоугольник 277">
            <a:extLst>
              <a:ext uri="{FF2B5EF4-FFF2-40B4-BE49-F238E27FC236}">
                <a16:creationId xmlns:a16="http://schemas.microsoft.com/office/drawing/2014/main" id="{B9868070-0F19-4D56-A1BF-31E510C74943}"/>
              </a:ext>
            </a:extLst>
          </p:cNvPr>
          <p:cNvSpPr/>
          <p:nvPr>
            <p:custDataLst>
              <p:tags r:id="rId65"/>
            </p:custDataLst>
          </p:nvPr>
        </p:nvSpPr>
        <p:spPr bwMode="auto">
          <a:xfrm>
            <a:off x="1181100" y="4854552"/>
            <a:ext cx="214313" cy="160338"/>
          </a:xfrm>
          <a:prstGeom prst="rect">
            <a:avLst/>
          </a:prstGeom>
          <a:solidFill>
            <a:srgbClr val="FF452C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kumimoji="0" sz="1800" b="0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7" name="Прямоугольник 256">
            <a:extLst>
              <a:ext uri="{FF2B5EF4-FFF2-40B4-BE49-F238E27FC236}">
                <a16:creationId xmlns:a16="http://schemas.microsoft.com/office/drawing/2014/main" id="{B2FB4F8D-4875-4B09-BFE1-39BD81E68D61}"/>
              </a:ext>
            </a:extLst>
          </p:cNvPr>
          <p:cNvSpPr/>
          <p:nvPr>
            <p:custDataLst>
              <p:tags r:id="rId66"/>
            </p:custDataLst>
          </p:nvPr>
        </p:nvSpPr>
        <p:spPr bwMode="auto">
          <a:xfrm>
            <a:off x="711200" y="4849789"/>
            <a:ext cx="368300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84331EA-40A0-444A-BD37-C5E520AA3017}" type="datetime'''''''''2''''0''''''''''2''''''''6''''''''''''''''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6" name="Прямоугольник 255">
            <a:extLst>
              <a:ext uri="{FF2B5EF4-FFF2-40B4-BE49-F238E27FC236}">
                <a16:creationId xmlns:a16="http://schemas.microsoft.com/office/drawing/2014/main" id="{EF0DEA67-02E8-4F81-9389-E229C66F0829}"/>
              </a:ext>
            </a:extLst>
          </p:cNvPr>
          <p:cNvSpPr/>
          <p:nvPr>
            <p:custDataLst>
              <p:tags r:id="rId67"/>
            </p:custDataLst>
          </p:nvPr>
        </p:nvSpPr>
        <p:spPr bwMode="auto">
          <a:xfrm>
            <a:off x="1446212" y="4849789"/>
            <a:ext cx="366713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2663475-1665-4B53-866A-67665FDAFA7A}" type="datetime'''''''''''''''2''''''''''0''''''''''2''''''''''7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2027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679590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97156-6838-65B5-D6E9-8F600135D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2A114BD-65C6-6B0B-5A30-FCCCDB55465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4" imgW="395" imgH="394" progId="TCLayout.ActiveDocument.1">
                  <p:embed/>
                </p:oleObj>
              </mc:Choice>
              <mc:Fallback>
                <p:oleObj name="Слайд think-cell" r:id="rId4" imgW="395" imgH="39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2A114BD-65C6-6B0B-5A30-FCCCDB5546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6531C63-E8A6-3AFA-1E3F-9A51E27112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D41D6-7756-D84E-A787-9DAD2BF0F149}" type="slidenum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664EFC2-BEE6-3E29-6644-AE4B7912FE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Детальное обоснование ставок 2027</a:t>
            </a: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9EFFD6E2-002D-AFA2-54C8-8F665A091C1D}"/>
              </a:ext>
            </a:extLst>
          </p:cNvPr>
          <p:cNvGraphicFramePr>
            <a:graphicFrameLocks noGrp="1"/>
          </p:cNvGraphicFramePr>
          <p:nvPr/>
        </p:nvGraphicFramePr>
        <p:xfrm>
          <a:off x="364177" y="691438"/>
          <a:ext cx="10900427" cy="5229225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1158172">
                  <a:extLst>
                    <a:ext uri="{9D8B030D-6E8A-4147-A177-3AD203B41FA5}">
                      <a16:colId xmlns:a16="http://schemas.microsoft.com/office/drawing/2014/main" val="2161084247"/>
                    </a:ext>
                  </a:extLst>
                </a:gridCol>
                <a:gridCol w="126234">
                  <a:extLst>
                    <a:ext uri="{9D8B030D-6E8A-4147-A177-3AD203B41FA5}">
                      <a16:colId xmlns:a16="http://schemas.microsoft.com/office/drawing/2014/main" val="2314202485"/>
                    </a:ext>
                  </a:extLst>
                </a:gridCol>
                <a:gridCol w="603530">
                  <a:extLst>
                    <a:ext uri="{9D8B030D-6E8A-4147-A177-3AD203B41FA5}">
                      <a16:colId xmlns:a16="http://schemas.microsoft.com/office/drawing/2014/main" val="111183517"/>
                    </a:ext>
                  </a:extLst>
                </a:gridCol>
                <a:gridCol w="8941119">
                  <a:extLst>
                    <a:ext uri="{9D8B030D-6E8A-4147-A177-3AD203B41FA5}">
                      <a16:colId xmlns:a16="http://schemas.microsoft.com/office/drawing/2014/main" val="3776771907"/>
                    </a:ext>
                  </a:extLst>
                </a:gridCol>
                <a:gridCol w="71372">
                  <a:extLst>
                    <a:ext uri="{9D8B030D-6E8A-4147-A177-3AD203B41FA5}">
                      <a16:colId xmlns:a16="http://schemas.microsoft.com/office/drawing/2014/main" val="1905267272"/>
                    </a:ext>
                  </a:extLst>
                </a:gridCol>
              </a:tblGrid>
              <a:tr h="454834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50" b="1" u="none" strike="noStrike">
                          <a:solidFill>
                            <a:srgbClr val="000000"/>
                          </a:solidFill>
                          <a:effectLst/>
                        </a:rPr>
                        <a:t>Функция</a:t>
                      </a:r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Кол-во ставок на 2027</a:t>
                      </a:r>
                      <a:r>
                        <a:rPr lang="ru-RU" sz="1000" b="1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*</a:t>
                      </a:r>
                      <a:r>
                        <a:rPr lang="ru-RU" sz="1000" b="1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</a:p>
                    <a:p>
                      <a:pPr algn="ctr" fontAlgn="b">
                        <a:buNone/>
                      </a:pPr>
                      <a:endParaRPr lang="ru-RU" sz="1000" b="1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000" b="1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Обоснование ставок</a:t>
                      </a:r>
                      <a:endParaRPr lang="ru-RU" sz="1000" b="1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00" b="1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74068052"/>
                  </a:ext>
                </a:extLst>
              </a:tr>
              <a:tr h="14624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SOCIAL COM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18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Контент-завод </a:t>
                      </a:r>
                      <a:br>
                        <a:rPr lang="ru-RU" sz="1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1-5. команда менеджеров по работе с блогерами + руководитель команды: 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работают сразу с несколькими брендами и форматами: разработка визуальных концепций, шаблонов, гайдлайнов и презентационных материалов, в т.ч. 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sales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-маркетинг материалы, необходимые команде продаж при взаимодействии с поставщиками</a:t>
                      </a:r>
                      <a:br>
                        <a:rPr lang="ru-RU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6-10: команда продюсеров + руководитель команды: 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ключевая роль внутри производственной ячейки: продюсер превращает задачи бренда в работающие идеи, ставит задания креаторам, контролирует качество и отвечает за результат контента. нужен специалист с опытом в 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social-first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 контенте, способный одновременно вести несколько брендов и большой объём производства, это роль на пересечении креатива, продакшена и работы с блогерами.</a:t>
                      </a:r>
                      <a:br>
                        <a:rPr lang="ru-RU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11-18: команда </a:t>
                      </a:r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проджектов</a:t>
                      </a:r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 + рук команд: 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управляет полным производственным циклом: планированием, загрузкой команды, сроками, статусами, согласованиями и взаимодействием со смежными подразделениями. при масштабе проекта эта роль необходима, чтобы креативная команда не тратила время на администрирование, а производство выполняло планы.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33600345"/>
                  </a:ext>
                </a:extLst>
              </a:tr>
              <a:tr h="16863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BIZDEV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7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1. Менеджер по развитию: 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создание бизнес процессов, ценообразования и подбор инвентаря для локальных рекламодателей, от 50 млн. 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руб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 в год</a:t>
                      </a:r>
                      <a:br>
                        <a:rPr lang="ru-RU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2. Ведущий менеджер: 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аукцион по дополнительному месту продаж все сети. от 300 млн в год (ранее ставка была бизнес-партнера категории 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food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 (в процессе бюджетной кампании скорректировали)</a:t>
                      </a:r>
                      <a:br>
                        <a:rPr lang="ru-RU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3. Ведущий менеджер: 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поиск партнеров и их подключение к RMN (50+ партнеров) страт проект (ранее ставка была бизнес-партнера категории 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non-food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 (в процессе бюджетной кампании скорректировали)</a:t>
                      </a:r>
                      <a:br>
                        <a:rPr lang="ru-RU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4. Менеджер по развитию: 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разработка нового индор инвентаря персонализировано под каждого рекламодателя. (зарядки с экранами для 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Нац.Лотереи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, монетизация партнерского мерчандайзинга, курьерские сумки и другое), инкрементальный доход от 50 млн. в год.</a:t>
                      </a:r>
                      <a:br>
                        <a:rPr lang="ru-RU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5. Менеджер по развитию: 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Новые инициативы и спецпроекты для повышения рекламной выручки (страхование покупок, агрегатор лабораторий и др.). Инкрементальный доход от 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непоставщиков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 +100 млн 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руб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 год</a:t>
                      </a:r>
                      <a:br>
                        <a:rPr lang="ru-RU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6. Менеджер проектов: 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реализация РМН в части Digital In-Store, интеграция Лемана Про, Лента, М.Видео и новые сети. Инкрементальный доход от 50 млн. в год</a:t>
                      </a:r>
                      <a:br>
                        <a:rPr lang="ru-RU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7. Менеджер по развитию: 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Интеграция рекламных обязательств в тендеры Магнит, работа с топ 100 КА, проведение тендеров на 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экслюзивную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 продажу рекламного инвентаря, инкрементальный доход+200 млн 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руб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 год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42538024"/>
                  </a:ext>
                </a:extLst>
              </a:tr>
              <a:tr h="27443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MARKETING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1. Дизайнер: 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увеличение нагрузки на дизайн за счет увеличения объема рекламодателей, новых форматов, подключение новых рекламных площадок в рамках ГК Магнит: Дикси, АВ и 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др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22880650"/>
                  </a:ext>
                </a:extLst>
              </a:tr>
              <a:tr h="27443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OPS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 Главный специалист по размещению рекламы:</a:t>
                      </a:r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Под рост нагрузки по количеству запусков и увеличению кол-ва рекламодателей.</a:t>
                      </a:r>
                      <a:b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ru-RU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2, 3. Ведущий специалист по размещению рекламы: </a:t>
                      </a:r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Фин</a:t>
                      </a:r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план растет на 35% 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YoY</a:t>
                      </a:r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(поставщики и не поставщики БЕЗ лояльности). Основной рост ожидаем за счет инвентаря Digital 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Instore</a:t>
                      </a:r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. Под рост запусков с поправкой на то, что их количество не соотносится с </a:t>
                      </a:r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Адревом</a:t>
                      </a:r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как 1:1, требуется плюс 20-22% FTE. С учетом наших планов по автоматизации и оптимизации процессов, закладываем в два раза меньше, + 10% к штату (2 FTE).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9048381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9F9F9421-2E4A-9898-6D1B-08CAF3CD0DDB}"/>
              </a:ext>
            </a:extLst>
          </p:cNvPr>
          <p:cNvSpPr txBox="1"/>
          <p:nvPr/>
        </p:nvSpPr>
        <p:spPr>
          <a:xfrm>
            <a:off x="1728787" y="6367789"/>
            <a:ext cx="45291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1100" i="1"/>
              <a:t>* </a:t>
            </a:r>
            <a:r>
              <a:rPr lang="ru-RU" sz="1100" i="1"/>
              <a:t>Численность по ставкам, без учета ССЧ</a:t>
            </a:r>
          </a:p>
        </p:txBody>
      </p:sp>
    </p:spTree>
    <p:extLst>
      <p:ext uri="{BB962C8B-B14F-4D97-AF65-F5344CB8AC3E}">
        <p14:creationId xmlns:p14="http://schemas.microsoft.com/office/powerpoint/2010/main" val="360768549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9936E-8563-A9C1-D53E-BE837A58C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F7B541C5-3932-1541-3E8A-C3E3C7B7CC3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4" imgW="395" imgH="394" progId="TCLayout.ActiveDocument.1">
                  <p:embed/>
                </p:oleObj>
              </mc:Choice>
              <mc:Fallback>
                <p:oleObj name="Слайд think-cell" r:id="rId4" imgW="395" imgH="39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7B541C5-3932-1541-3E8A-C3E3C7B7CC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7CF72EB-F9F5-6059-F903-DDBC2DA931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D41D6-7756-D84E-A787-9DAD2BF0F149}" type="slidenum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20DBEC6C-D05C-B4F0-BB4C-44260079759C}"/>
              </a:ext>
            </a:extLst>
          </p:cNvPr>
          <p:cNvGraphicFramePr>
            <a:graphicFrameLocks noGrp="1"/>
          </p:cNvGraphicFramePr>
          <p:nvPr/>
        </p:nvGraphicFramePr>
        <p:xfrm>
          <a:off x="364177" y="691437"/>
          <a:ext cx="10900426" cy="5445755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1158172">
                  <a:extLst>
                    <a:ext uri="{9D8B030D-6E8A-4147-A177-3AD203B41FA5}">
                      <a16:colId xmlns:a16="http://schemas.microsoft.com/office/drawing/2014/main" val="2161084247"/>
                    </a:ext>
                  </a:extLst>
                </a:gridCol>
                <a:gridCol w="126233">
                  <a:extLst>
                    <a:ext uri="{9D8B030D-6E8A-4147-A177-3AD203B41FA5}">
                      <a16:colId xmlns:a16="http://schemas.microsoft.com/office/drawing/2014/main" val="2314202485"/>
                    </a:ext>
                  </a:extLst>
                </a:gridCol>
                <a:gridCol w="910300">
                  <a:extLst>
                    <a:ext uri="{9D8B030D-6E8A-4147-A177-3AD203B41FA5}">
                      <a16:colId xmlns:a16="http://schemas.microsoft.com/office/drawing/2014/main" val="111183517"/>
                    </a:ext>
                  </a:extLst>
                </a:gridCol>
                <a:gridCol w="8634349">
                  <a:extLst>
                    <a:ext uri="{9D8B030D-6E8A-4147-A177-3AD203B41FA5}">
                      <a16:colId xmlns:a16="http://schemas.microsoft.com/office/drawing/2014/main" val="3776771907"/>
                    </a:ext>
                  </a:extLst>
                </a:gridCol>
                <a:gridCol w="71372">
                  <a:extLst>
                    <a:ext uri="{9D8B030D-6E8A-4147-A177-3AD203B41FA5}">
                      <a16:colId xmlns:a16="http://schemas.microsoft.com/office/drawing/2014/main" val="1905267272"/>
                    </a:ext>
                  </a:extLst>
                </a:gridCol>
              </a:tblGrid>
              <a:tr h="611354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u="none" strike="noStrike">
                          <a:solidFill>
                            <a:srgbClr val="000000"/>
                          </a:solidFill>
                          <a:effectLst/>
                        </a:rPr>
                        <a:t>Функция</a:t>
                      </a:r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54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Кол-во ставок на 2027 </a:t>
                      </a:r>
                    </a:p>
                    <a:p>
                      <a:pPr algn="l" fontAlgn="b">
                        <a:buNone/>
                      </a:pPr>
                      <a:endParaRPr lang="ru-RU" sz="1000" b="1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000" b="1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Обоснование ставок</a:t>
                      </a:r>
                      <a:endParaRPr lang="ru-RU" sz="1000" b="1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00" b="1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74068052"/>
                  </a:ext>
                </a:extLst>
              </a:tr>
              <a:tr h="28686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PRODUCT</a:t>
                      </a:r>
                      <a:endParaRPr lang="en-US" sz="1000" b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00" b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  <a:endParaRPr lang="ru-RU" sz="1000" b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1. Руководитель команды медийной рекламы. Масштаб медийного направления становится существенно больше: кроме развития собственного инвентаря </a:t>
                      </a:r>
                      <a:r>
                        <a:rPr lang="en-US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web</a:t>
                      </a:r>
                      <a:r>
                        <a:rPr lang="ru-RU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/</a:t>
                      </a:r>
                      <a:r>
                        <a:rPr lang="en-US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app</a:t>
                      </a:r>
                      <a:r>
                        <a:rPr lang="ru-RU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 появляются Social Commerce, </a:t>
                      </a:r>
                      <a:r>
                        <a:rPr lang="en-US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shoppable</a:t>
                      </a:r>
                      <a:r>
                        <a:rPr lang="ru-RU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 и нативные форматы, </a:t>
                      </a:r>
                      <a:r>
                        <a:rPr lang="en-US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indoor</a:t>
                      </a:r>
                      <a:r>
                        <a:rPr lang="ru-RU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, внешние SSP и новые модели монетизации. Здесь уже недостаточно управления отдельными продуктами — нужен единый владелец направления, который будет отвечать за стратегию развития медийной рекламы, синхронизировать несколько продуктовых потоков, определять приоритеты между форматами и поверхностями и отвечать за рост инвентаря, его монетизацию и эффективность для рекламодателей. Это также позволит снять часть операционного управления с CPO и сохранить единый вектор развития Media по мере роста команды.</a:t>
                      </a:r>
                      <a:br>
                        <a:rPr lang="ru-RU" sz="1000" b="0" u="none" strike="noStrike" kern="1200" dirty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ru-RU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2. Ведущий менеджер продукта: Поддержку подключения новых партнеров: Азбука Вкуса, Дикси и </a:t>
                      </a:r>
                      <a:r>
                        <a:rPr lang="ru-RU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тд</a:t>
                      </a:r>
                      <a:r>
                        <a:rPr lang="ru-RU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, что обеспечит рост трафика и выручки</a:t>
                      </a:r>
                      <a:br>
                        <a:rPr lang="ru-RU" sz="1000" b="0" u="none" strike="noStrike" kern="1200" dirty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ru-RU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3. Ведущий менеджер продукта: В 2027 году медийное направление сильно расширяется: запускаем новые нативные и </a:t>
                      </a:r>
                      <a:r>
                        <a:rPr lang="en-US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shoppable</a:t>
                      </a:r>
                      <a:r>
                        <a:rPr lang="ru-RU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-форматы, видео и </a:t>
                      </a:r>
                      <a:r>
                        <a:rPr lang="en-US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stories</a:t>
                      </a:r>
                      <a:r>
                        <a:rPr lang="ru-RU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, Social Commerce с переносом контента блогеров в приложение, персонализацию рекламы, новые поверхности и подключение внешних SSP. Текущего ресурса уже недостаточно, чтобы одновременно развивать базовую медийную платформу и выводить на рынок новые продукты. Дополнительный менеджер позволит выделить отдельный фокус на развитии форматов и инвентаря, их эффективности и масштабировании на все поверхности Магнит</a:t>
                      </a:r>
                      <a:br>
                        <a:rPr lang="ru-RU" sz="1000" b="0" u="none" strike="noStrike" kern="1200" dirty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ru-RU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4. Ведущий менеджер продукта: Дополнительный менеджер продукта на </a:t>
                      </a:r>
                      <a:r>
                        <a:rPr lang="en-US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performance</a:t>
                      </a:r>
                      <a:r>
                        <a:rPr lang="ru-RU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. Performance развивается из инструмента продвижения отдельных SKU в полноценную систему управления присутствием бренда на цифровой полке. В планах — управление позициями бренда в поиске, новые </a:t>
                      </a:r>
                      <a:r>
                        <a:rPr lang="en-US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performance</a:t>
                      </a:r>
                      <a:r>
                        <a:rPr lang="ru-RU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-форматы, автоматическое распределение бюджета, </a:t>
                      </a:r>
                      <a:r>
                        <a:rPr lang="ru-RU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автоставки</a:t>
                      </a:r>
                      <a:r>
                        <a:rPr lang="ru-RU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 и </a:t>
                      </a:r>
                      <a:r>
                        <a:rPr lang="ru-RU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автоподбор</a:t>
                      </a:r>
                      <a:r>
                        <a:rPr lang="ru-RU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 плейсментов, AI-ассистент и использование контекстуальных и триггерных сигналов. Это уже отдельный большой продуктовый контур со своей логикой аукциона, ML, аналитики и оптимизации. Дополнительный менеджер нужен, чтобы ускорить развитие этих инструментов и сделать </a:t>
                      </a:r>
                      <a:r>
                        <a:rPr lang="en-US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performance</a:t>
                      </a:r>
                      <a:r>
                        <a:rPr lang="ru-RU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 полноценным </a:t>
                      </a:r>
                      <a:r>
                        <a:rPr lang="en-US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self-service</a:t>
                      </a:r>
                      <a:r>
                        <a:rPr lang="ru-RU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 продуктом для брендов.</a:t>
                      </a:r>
                      <a:endParaRPr lang="ru-RU" sz="1000" b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74834544"/>
                  </a:ext>
                </a:extLst>
              </a:tr>
              <a:tr h="196573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FINANCE</a:t>
                      </a:r>
                      <a:endParaRPr lang="en-US" sz="1000" b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00" b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ru-RU" sz="1000" b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1. Финансовый бизнес-партнёр In-</a:t>
                      </a:r>
                      <a:r>
                        <a:rPr lang="en-US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App</a:t>
                      </a:r>
                      <a:r>
                        <a:rPr lang="ru-RU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: планирование выручки и затрат, контроль маржинальности и P&amp;L, оценка финансового эффекта новых рекламных продуктов и тарифов, контроль исполнения бюджета и подготовка управленческой отчетности. Отдельная роль необходима из-за роста объема </a:t>
                      </a:r>
                      <a:r>
                        <a:rPr lang="en-US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digital</a:t>
                      </a:r>
                      <a:r>
                        <a:rPr lang="ru-RU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-инвентаря и необходимости оперативно принимать решения по экономике размещений.</a:t>
                      </a:r>
                      <a:br>
                        <a:rPr lang="ru-RU" sz="1000" b="0" u="none" strike="noStrike" kern="1200" dirty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ru-RU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2. Финансовый бизнес-партнёр In-Store: расчет </a:t>
                      </a:r>
                      <a:r>
                        <a:rPr lang="en-US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unit</a:t>
                      </a:r>
                      <a:r>
                        <a:rPr lang="ru-RU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-экономики и рентабельности рекламного инвентаря, финансовая оценка новых форматов и партнерских моделей, контроль план-факт по выручке и затратам, участие в ценообразовании и подготовке бизнес-кейсов. Ставка позволит обеспечить финансовый контроль при масштабировании и запуске новых </a:t>
                      </a:r>
                      <a:r>
                        <a:rPr lang="en-US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in-store</a:t>
                      </a:r>
                      <a:r>
                        <a:rPr lang="ru-RU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 форматов.</a:t>
                      </a:r>
                      <a:br>
                        <a:rPr lang="ru-RU" sz="1000" b="0" u="none" strike="noStrike" kern="1200" dirty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ru-RU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3,4. Финансовый аналитик: План-факт анализ, подготовка регулярной управленческой отчетности, сбор и консолидация данных, контроль бюджета и KPI, анализ отклонений, подготовка финансовых моделей и презентационных материалов для принятия управленческих решений. Дополнительная ставка необходима для своевременного закрытия регулярного аналитического контура.</a:t>
                      </a:r>
                      <a:br>
                        <a:rPr lang="ru-RU" sz="1000" b="0" u="none" strike="noStrike" kern="1200" dirty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ru-RU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5. Финансовый бизнес-партнёр: Финансовое сопровождение прочих направлений монетизации: оценка бизнес-кейсов, планирование доходов и расходов, контроль финансовых KPI, анализ отклонений и подготовка рекомендаций по повышению эффективности. Роль необходима для единого финансового контура по новым источникам дохода и снижения риска разрозненного управления экономикой инициатив.</a:t>
                      </a:r>
                      <a:endParaRPr lang="ru-RU" sz="1000" b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17912646"/>
                  </a:ext>
                </a:extLst>
              </a:tr>
            </a:tbl>
          </a:graphicData>
        </a:graphic>
      </p:graphicFrame>
      <p:sp>
        <p:nvSpPr>
          <p:cNvPr id="28" name="Овал 8">
            <a:extLst>
              <a:ext uri="{FF2B5EF4-FFF2-40B4-BE49-F238E27FC236}">
                <a16:creationId xmlns:a16="http://schemas.microsoft.com/office/drawing/2014/main" id="{7FB9AF32-4299-F962-7E8E-1B5B28B378C6}"/>
              </a:ext>
            </a:extLst>
          </p:cNvPr>
          <p:cNvSpPr/>
          <p:nvPr/>
        </p:nvSpPr>
        <p:spPr>
          <a:xfrm>
            <a:off x="2029800" y="8894131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9" name="Овал 8">
            <a:extLst>
              <a:ext uri="{FF2B5EF4-FFF2-40B4-BE49-F238E27FC236}">
                <a16:creationId xmlns:a16="http://schemas.microsoft.com/office/drawing/2014/main" id="{4690F45B-BAB0-E7D7-0B12-7F1B7A0A480E}"/>
              </a:ext>
            </a:extLst>
          </p:cNvPr>
          <p:cNvSpPr/>
          <p:nvPr/>
        </p:nvSpPr>
        <p:spPr>
          <a:xfrm>
            <a:off x="2029800" y="9229652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30" name="Овал 8">
            <a:extLst>
              <a:ext uri="{FF2B5EF4-FFF2-40B4-BE49-F238E27FC236}">
                <a16:creationId xmlns:a16="http://schemas.microsoft.com/office/drawing/2014/main" id="{0D071AAE-17D6-E42C-07B8-DBF29402B1FE}"/>
              </a:ext>
            </a:extLst>
          </p:cNvPr>
          <p:cNvSpPr/>
          <p:nvPr/>
        </p:nvSpPr>
        <p:spPr>
          <a:xfrm>
            <a:off x="2029800" y="9732940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9" name="Текст 3">
            <a:extLst>
              <a:ext uri="{FF2B5EF4-FFF2-40B4-BE49-F238E27FC236}">
                <a16:creationId xmlns:a16="http://schemas.microsoft.com/office/drawing/2014/main" id="{B8DF65BB-C2E3-9246-30CF-7CFD3E3F8AC3}"/>
              </a:ext>
            </a:extLst>
          </p:cNvPr>
          <p:cNvSpPr txBox="1">
            <a:spLocks/>
          </p:cNvSpPr>
          <p:nvPr/>
        </p:nvSpPr>
        <p:spPr>
          <a:xfrm>
            <a:off x="364176" y="225092"/>
            <a:ext cx="10594970" cy="660733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354" rtl="0" eaLnBrk="1" latinLnBrk="0" hangingPunct="1">
              <a:lnSpc>
                <a:spcPct val="90000"/>
              </a:lnSpc>
              <a:spcBef>
                <a:spcPts val="0"/>
              </a:spcBef>
              <a:buFontTx/>
              <a:buNone/>
              <a:defRPr sz="240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Детальное обоснование ставок 2027 (продолжение)</a:t>
            </a:r>
          </a:p>
        </p:txBody>
      </p:sp>
    </p:spTree>
    <p:extLst>
      <p:ext uri="{BB962C8B-B14F-4D97-AF65-F5344CB8AC3E}">
        <p14:creationId xmlns:p14="http://schemas.microsoft.com/office/powerpoint/2010/main" val="219305081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61797-A576-2D9B-674D-BF7AC6B37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627477E-46BB-3E6D-1A13-F4142BF89E4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4" imgW="395" imgH="394" progId="TCLayout.ActiveDocument.1">
                  <p:embed/>
                </p:oleObj>
              </mc:Choice>
              <mc:Fallback>
                <p:oleObj name="Слайд think-cell" r:id="rId4" imgW="395" imgH="39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627477E-46BB-3E6D-1A13-F4142BF89E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162773D-5FC7-BEE3-8651-F78EF6540A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D41D6-7756-D84E-A787-9DAD2BF0F149}" type="slidenum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860D2AE4-EBD2-D9BA-CCC7-48F67194BAAC}"/>
              </a:ext>
            </a:extLst>
          </p:cNvPr>
          <p:cNvGraphicFramePr>
            <a:graphicFrameLocks noGrp="1"/>
          </p:cNvGraphicFramePr>
          <p:nvPr/>
        </p:nvGraphicFramePr>
        <p:xfrm>
          <a:off x="364175" y="577133"/>
          <a:ext cx="11463650" cy="5507204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1218015">
                  <a:extLst>
                    <a:ext uri="{9D8B030D-6E8A-4147-A177-3AD203B41FA5}">
                      <a16:colId xmlns:a16="http://schemas.microsoft.com/office/drawing/2014/main" val="2161084247"/>
                    </a:ext>
                  </a:extLst>
                </a:gridCol>
                <a:gridCol w="132756">
                  <a:extLst>
                    <a:ext uri="{9D8B030D-6E8A-4147-A177-3AD203B41FA5}">
                      <a16:colId xmlns:a16="http://schemas.microsoft.com/office/drawing/2014/main" val="2314202485"/>
                    </a:ext>
                  </a:extLst>
                </a:gridCol>
                <a:gridCol w="957335">
                  <a:extLst>
                    <a:ext uri="{9D8B030D-6E8A-4147-A177-3AD203B41FA5}">
                      <a16:colId xmlns:a16="http://schemas.microsoft.com/office/drawing/2014/main" val="111183517"/>
                    </a:ext>
                  </a:extLst>
                </a:gridCol>
                <a:gridCol w="9080484">
                  <a:extLst>
                    <a:ext uri="{9D8B030D-6E8A-4147-A177-3AD203B41FA5}">
                      <a16:colId xmlns:a16="http://schemas.microsoft.com/office/drawing/2014/main" val="3776771907"/>
                    </a:ext>
                  </a:extLst>
                </a:gridCol>
                <a:gridCol w="75060">
                  <a:extLst>
                    <a:ext uri="{9D8B030D-6E8A-4147-A177-3AD203B41FA5}">
                      <a16:colId xmlns:a16="http://schemas.microsoft.com/office/drawing/2014/main" val="1905267272"/>
                    </a:ext>
                  </a:extLst>
                </a:gridCol>
              </a:tblGrid>
              <a:tr h="611354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u="none" strike="noStrike">
                          <a:solidFill>
                            <a:srgbClr val="000000"/>
                          </a:solidFill>
                          <a:effectLst/>
                        </a:rPr>
                        <a:t>Функция</a:t>
                      </a:r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54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Кол-во ставок на 2027 </a:t>
                      </a:r>
                    </a:p>
                    <a:p>
                      <a:pPr algn="l" fontAlgn="b">
                        <a:buNone/>
                      </a:pPr>
                      <a:endParaRPr lang="ru-RU" sz="1000" b="1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000" b="1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Обоснование ставок</a:t>
                      </a:r>
                      <a:endParaRPr lang="ru-RU" sz="1000" b="1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00" b="1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74068052"/>
                  </a:ext>
                </a:extLst>
              </a:tr>
              <a:tr h="91232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ANALYTICS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1. Аналитик данных: 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появляются новые механики 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M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+: кешбэк онлайн, бонусы за отзывы, 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daily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offer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. Чтобы поддержать стратегические проекты по эффективности механик и достичь бюджетов x2 по 2027 году относительно 2026 года нужен +1 аналитик на 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M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+. На текущий момент 1.5 аналитика на этом направлении</a:t>
                      </a:r>
                      <a:br>
                        <a:rPr lang="ru-RU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2. Дата инженер:  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рост команды аналитики в два раза + масштабирование рекламной платформы на новые форматы (внутри магнита, Азбука, Дикси). Чтобы обеспечить рост трафика и вырастить утилизацию, при этом не просесть в качестве данных, необходимо +1 ставка дата инженера. На текущий момент на всех 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AdTech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 только два дата инженера. 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09394797"/>
                  </a:ext>
                </a:extLst>
              </a:tr>
              <a:tr h="33201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COMMERCE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14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">
                        <a:buNone/>
                      </a:pPr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1.Менеджер по работе с клиентами: 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Ведет портфель ТОП поставщиков напитков, увеличиваем количество клиентов в работе на +80</a:t>
                      </a:r>
                      <a:br>
                        <a:rPr lang="ru-RU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2. </a:t>
                      </a:r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Менеджер по работе с клиентами: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 Охватываем длинный хвост поставщиков, порядка 1300 клиентов</a:t>
                      </a:r>
                      <a:br>
                        <a:rPr lang="ru-RU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3. Начальник отдела: 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Объединяет всех поставщиков категорий Нон-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фуд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 + напитки, табак. Увеличиваем покрытие клиентской базы в 2 раза (250+500) 30% в деньгах. + 150 клиентов из новых форматов: Аптеки, АВ, В1, Дикси</a:t>
                      </a:r>
                      <a:br>
                        <a:rPr lang="ru-RU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4. Начальник отдела: 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Объединяет всех поставщиков категорий 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фуд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. В структуре 2 команды между которыми поделены равнозначные куски категорий. Увеличиваем покрытие клиентов в категории в 2 раза(300-600), в деньгах + 30-35%. Также появляется новая роль BDM на новые форматы, задача роли будет продавать инвентарь 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AdTeсh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 для клиентов АВ, В1, Заряд, Дикси. Итого отдел из 13 человек. Напрямую руководителю отдела подчиняется: руководитель команды Фреш, руководитель команды Драй, 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медиапланер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, BDM на новые форматы</a:t>
                      </a:r>
                      <a:br>
                        <a:rPr lang="ru-RU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. Менеджер по развитию новых форматов: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 Охватываем новые форматы: Аптеки, АВ, В1, Дикси. +150 клиентов в нон 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фуде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 и 200+ клиентов в 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фуде</a:t>
                      </a:r>
                      <a:br>
                        <a:rPr lang="ru-RU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6. </a:t>
                      </a:r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Менеджер по работе с клиентами: 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охватываем дополнительно 120 клиентов в категориях драй</a:t>
                      </a:r>
                      <a:br>
                        <a:rPr lang="ru-RU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7.</a:t>
                      </a:r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 Менеджер по работе с клиентами: 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охватываем дополнительно 80 клиентов в категориях фреш</a:t>
                      </a:r>
                      <a:br>
                        <a:rPr lang="ru-RU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8. Руководитель команды: 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отделение команды по работе с рекламными агентствами, где выделены фокусы на: рост 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инкриментальной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 выручки по ФМСГ / Работа с перфоманс и медиа командами РА/ Формирование долгосрочных и прочных отношений с рекламным рынком.</a:t>
                      </a:r>
                      <a:br>
                        <a:rPr lang="ru-RU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9. Менеджер внешних специальных проектов: 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 формирование и аккаунтинг стратегических проектов: 150-300 млн ( проекты) / 350 -500 млн ( диджитал проекты через ММТ); Проекты с внешним инвентарем и переговоры по СТВ интеграции и РМН ; Сим-Карты ( аккаунтинг и развитие); Диджитал бюджетирование ФМСГ через ММТ</a:t>
                      </a:r>
                      <a:br>
                        <a:rPr lang="ru-RU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10. Менеджер по работе с клиентами: 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выделяем дополнительно под задачи кросс-функций с целью реализации и работы по Экосистемным продуктам и продажи в Азбуке вкуса / Дикси /B1/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гроу-фуд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/МА/МК / Финтех и М+ ( воронки составляют свыше 500 клиентов), ожидания как поддержка + доп деньги при среднем чеке в 500к - 250 млн +</a:t>
                      </a:r>
                      <a:br>
                        <a:rPr lang="ru-RU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11. Менеджер по работе с клиентами: 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Доп ресурс на работу с 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инкриментальными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 бюджетами ФМСГ через ММТ по направлению РА : 50 млн / мес, 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Медиапланирвоание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Посткампейны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, Аккаунтинг  </a:t>
                      </a:r>
                    </a:p>
                    <a:p>
                      <a:pPr marL="0" marR="0" lvl="0" indent="0" algn="l" defTabSz="914354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12. Менеджер по работе с поставщиками(</a:t>
                      </a:r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кэшбэк</a:t>
                      </a:r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 на </a:t>
                      </a:r>
                      <a:r>
                        <a:rPr lang="en-US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sku</a:t>
                      </a:r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): 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под рост планируемой выручки в 3 раза 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YoY</a:t>
                      </a:r>
                      <a:br>
                        <a:rPr lang="ru-RU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3. Менеджер по работе с поставщиками(Любимая категория): 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увеличение 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кпэ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 на 2027 год по направлению любимой категории почти X3, на данную ставку заложено привлечение более 500 млн от поставщиков</a:t>
                      </a:r>
                      <a:br>
                        <a:rPr lang="ru-RU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14: Менеджер по работе с поставщиками(СVM):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 Рост планируемой выручки в 1,7 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YoY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 и добавление отдельно цели по Daily 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offer</a:t>
                      </a:r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228600" indent="-228600" algn="l" fontAlgn="b">
                        <a:buAutoNum type="arabicPeriod"/>
                      </a:pP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ru-RU" sz="1050" b="0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ctr" rtl="0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97644946"/>
                  </a:ext>
                </a:extLst>
              </a:tr>
            </a:tbl>
          </a:graphicData>
        </a:graphic>
      </p:graphicFrame>
      <p:sp>
        <p:nvSpPr>
          <p:cNvPr id="28" name="Овал 8">
            <a:extLst>
              <a:ext uri="{FF2B5EF4-FFF2-40B4-BE49-F238E27FC236}">
                <a16:creationId xmlns:a16="http://schemas.microsoft.com/office/drawing/2014/main" id="{90811C81-3FB6-D2B3-6721-1F09624D3F6A}"/>
              </a:ext>
            </a:extLst>
          </p:cNvPr>
          <p:cNvSpPr/>
          <p:nvPr/>
        </p:nvSpPr>
        <p:spPr>
          <a:xfrm>
            <a:off x="2029800" y="8894131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9" name="Овал 8">
            <a:extLst>
              <a:ext uri="{FF2B5EF4-FFF2-40B4-BE49-F238E27FC236}">
                <a16:creationId xmlns:a16="http://schemas.microsoft.com/office/drawing/2014/main" id="{52067F7F-0D68-5348-ADDA-7FF9341C1268}"/>
              </a:ext>
            </a:extLst>
          </p:cNvPr>
          <p:cNvSpPr/>
          <p:nvPr/>
        </p:nvSpPr>
        <p:spPr>
          <a:xfrm>
            <a:off x="2029800" y="9229652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30" name="Овал 8">
            <a:extLst>
              <a:ext uri="{FF2B5EF4-FFF2-40B4-BE49-F238E27FC236}">
                <a16:creationId xmlns:a16="http://schemas.microsoft.com/office/drawing/2014/main" id="{C176DD78-1774-EAE3-9B7E-237995F418BA}"/>
              </a:ext>
            </a:extLst>
          </p:cNvPr>
          <p:cNvSpPr/>
          <p:nvPr/>
        </p:nvSpPr>
        <p:spPr>
          <a:xfrm>
            <a:off x="2029800" y="9732940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9" name="Текст 3">
            <a:extLst>
              <a:ext uri="{FF2B5EF4-FFF2-40B4-BE49-F238E27FC236}">
                <a16:creationId xmlns:a16="http://schemas.microsoft.com/office/drawing/2014/main" id="{1E5F50C6-9C49-2B59-0F0E-0A04B49E55C2}"/>
              </a:ext>
            </a:extLst>
          </p:cNvPr>
          <p:cNvSpPr txBox="1">
            <a:spLocks/>
          </p:cNvSpPr>
          <p:nvPr/>
        </p:nvSpPr>
        <p:spPr>
          <a:xfrm>
            <a:off x="364176" y="225092"/>
            <a:ext cx="10594970" cy="660733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354" rtl="0" eaLnBrk="1" latinLnBrk="0" hangingPunct="1">
              <a:lnSpc>
                <a:spcPct val="90000"/>
              </a:lnSpc>
              <a:spcBef>
                <a:spcPts val="0"/>
              </a:spcBef>
              <a:buFontTx/>
              <a:buNone/>
              <a:defRPr sz="240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Детальное обоснование ставок 2027 (продолжение 2)</a:t>
            </a:r>
          </a:p>
        </p:txBody>
      </p:sp>
    </p:spTree>
    <p:extLst>
      <p:ext uri="{BB962C8B-B14F-4D97-AF65-F5344CB8AC3E}">
        <p14:creationId xmlns:p14="http://schemas.microsoft.com/office/powerpoint/2010/main" val="246511834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9"/>
          <p:cNvSpPr txBox="1">
            <a:spLocks noGrp="1"/>
          </p:cNvSpPr>
          <p:nvPr>
            <p:ph type="sldNum" idx="12"/>
          </p:nvPr>
        </p:nvSpPr>
        <p:spPr>
          <a:xfrm>
            <a:off x="11163300" y="6324600"/>
            <a:ext cx="485700" cy="266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66</a:t>
            </a:fld>
            <a:endParaRPr lang="ru-RU"/>
          </a:p>
        </p:txBody>
      </p:sp>
      <p:sp>
        <p:nvSpPr>
          <p:cNvPr id="271" name="Google Shape;271;p49"/>
          <p:cNvSpPr txBox="1">
            <a:spLocks noGrp="1"/>
          </p:cNvSpPr>
          <p:nvPr>
            <p:ph type="body" idx="2"/>
          </p:nvPr>
        </p:nvSpPr>
        <p:spPr>
          <a:xfrm>
            <a:off x="550900" y="512775"/>
            <a:ext cx="9828300" cy="43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UGC-завод: генерируем контент от собственных креаторов, которыми управляем через MIP</a:t>
            </a:r>
            <a:endParaRPr lang="ru-RU"/>
          </a:p>
        </p:txBody>
      </p:sp>
      <p:sp>
        <p:nvSpPr>
          <p:cNvPr id="272" name="Google Shape;272;p49"/>
          <p:cNvSpPr/>
          <p:nvPr/>
        </p:nvSpPr>
        <p:spPr>
          <a:xfrm>
            <a:off x="1121669" y="3809836"/>
            <a:ext cx="2520000" cy="1999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70375" tIns="70375" rIns="70375" bIns="70375" anchor="ctr" anchorCtr="0">
            <a:noAutofit/>
          </a:bodyPr>
          <a:lstStyle/>
          <a:p>
            <a:pPr marL="351932" marR="0" lvl="0" indent="-25906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0614"/>
              </a:buClr>
              <a:buSzPts val="1309"/>
              <a:buChar char="●"/>
            </a:pPr>
            <a:r>
              <a:rPr lang="ru-RU" sz="1309"/>
              <a:t>С командой инфлюенс-маркетинга нанимаем менеджеров и UGC-креаторов</a:t>
            </a:r>
            <a:endParaRPr lang="ru-RU" sz="1309"/>
          </a:p>
        </p:txBody>
      </p:sp>
      <p:sp>
        <p:nvSpPr>
          <p:cNvPr id="273" name="Google Shape;273;p49"/>
          <p:cNvSpPr/>
          <p:nvPr/>
        </p:nvSpPr>
        <p:spPr>
          <a:xfrm>
            <a:off x="4244714" y="3809836"/>
            <a:ext cx="2520000" cy="1999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70375" tIns="70375" rIns="70375" bIns="70375" anchor="ctr" anchorCtr="0">
            <a:noAutofit/>
          </a:bodyPr>
          <a:lstStyle/>
          <a:p>
            <a:pPr marL="351932" marR="0" lvl="0" indent="-25906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0614"/>
              </a:buClr>
              <a:buSzPts val="1309"/>
              <a:buChar char="●"/>
            </a:pPr>
            <a:r>
              <a:rPr lang="ru-RU" sz="1309"/>
              <a:t>Создаем </a:t>
            </a:r>
            <a:r>
              <a:rPr lang="ru-RU" sz="1309" i="1"/>
              <a:t>собственные</a:t>
            </a:r>
            <a:r>
              <a:rPr lang="ru-RU" sz="1309"/>
              <a:t> аккаунты для ежедневной публикации контента в них + управляем загрузкой контента через MIP </a:t>
            </a:r>
            <a:endParaRPr lang="ru-RU" sz="1309"/>
          </a:p>
        </p:txBody>
      </p:sp>
      <p:sp>
        <p:nvSpPr>
          <p:cNvPr id="274" name="Google Shape;274;p49"/>
          <p:cNvSpPr/>
          <p:nvPr/>
        </p:nvSpPr>
        <p:spPr>
          <a:xfrm>
            <a:off x="7367685" y="3809798"/>
            <a:ext cx="2520000" cy="1999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70375" tIns="70375" rIns="70375" bIns="70375" anchor="ctr" anchorCtr="0">
            <a:noAutofit/>
          </a:bodyPr>
          <a:lstStyle/>
          <a:p>
            <a:pPr marL="351932" marR="0" lvl="0" indent="-25906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0614"/>
              </a:buClr>
              <a:buSzPts val="1309"/>
              <a:buChar char="●"/>
            </a:pPr>
            <a:r>
              <a:rPr lang="ru-RU" sz="1309"/>
              <a:t>Модерируем аккаунты и владеем всем созданным контентом = не зависим от увольнений / найма новых креаторов</a:t>
            </a:r>
            <a:endParaRPr lang="ru-RU" sz="1309"/>
          </a:p>
          <a:p>
            <a:pPr marL="35193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1309" b="1">
              <a:solidFill>
                <a:srgbClr val="FF0700"/>
              </a:solidFill>
            </a:endParaRPr>
          </a:p>
        </p:txBody>
      </p:sp>
      <p:sp>
        <p:nvSpPr>
          <p:cNvPr id="275" name="Google Shape;275;p49"/>
          <p:cNvSpPr/>
          <p:nvPr/>
        </p:nvSpPr>
        <p:spPr>
          <a:xfrm>
            <a:off x="1010324" y="3429000"/>
            <a:ext cx="539100" cy="539100"/>
          </a:xfrm>
          <a:prstGeom prst="ellipse">
            <a:avLst/>
          </a:prstGeom>
          <a:solidFill>
            <a:schemeClr val="dk2"/>
          </a:solidFill>
          <a:ln w="73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375" tIns="70375" rIns="70375" bIns="70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924" b="1">
                <a:solidFill>
                  <a:schemeClr val="lt1"/>
                </a:solidFill>
              </a:rPr>
              <a:t>1</a:t>
            </a:r>
            <a:endParaRPr lang="ru-RU" sz="1924" b="1">
              <a:solidFill>
                <a:schemeClr val="lt1"/>
              </a:solidFill>
            </a:endParaRPr>
          </a:p>
        </p:txBody>
      </p:sp>
      <p:sp>
        <p:nvSpPr>
          <p:cNvPr id="276" name="Google Shape;276;p49"/>
          <p:cNvSpPr/>
          <p:nvPr/>
        </p:nvSpPr>
        <p:spPr>
          <a:xfrm>
            <a:off x="4037018" y="3524758"/>
            <a:ext cx="539100" cy="539100"/>
          </a:xfrm>
          <a:prstGeom prst="ellipse">
            <a:avLst/>
          </a:prstGeom>
          <a:solidFill>
            <a:schemeClr val="dk2"/>
          </a:solidFill>
          <a:ln w="73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375" tIns="70375" rIns="70375" bIns="70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924" b="1">
                <a:solidFill>
                  <a:schemeClr val="lt1"/>
                </a:solidFill>
              </a:rPr>
              <a:t>2</a:t>
            </a:r>
            <a:endParaRPr lang="ru-RU" sz="1924" b="1">
              <a:solidFill>
                <a:schemeClr val="lt1"/>
              </a:solidFill>
            </a:endParaRPr>
          </a:p>
        </p:txBody>
      </p:sp>
      <p:sp>
        <p:nvSpPr>
          <p:cNvPr id="277" name="Google Shape;277;p49"/>
          <p:cNvSpPr/>
          <p:nvPr/>
        </p:nvSpPr>
        <p:spPr>
          <a:xfrm>
            <a:off x="7232038" y="3524758"/>
            <a:ext cx="539100" cy="539100"/>
          </a:xfrm>
          <a:prstGeom prst="ellipse">
            <a:avLst/>
          </a:prstGeom>
          <a:solidFill>
            <a:schemeClr val="dk2"/>
          </a:solidFill>
          <a:ln w="73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375" tIns="70375" rIns="70375" bIns="70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924" b="1">
                <a:solidFill>
                  <a:schemeClr val="lt1"/>
                </a:solidFill>
              </a:rPr>
              <a:t>3</a:t>
            </a:r>
            <a:endParaRPr lang="ru-RU" sz="1924" b="1">
              <a:solidFill>
                <a:schemeClr val="lt1"/>
              </a:solidFill>
            </a:endParaRPr>
          </a:p>
        </p:txBody>
      </p:sp>
      <p:sp>
        <p:nvSpPr>
          <p:cNvPr id="278" name="Google Shape;278;p49"/>
          <p:cNvSpPr txBox="1"/>
          <p:nvPr/>
        </p:nvSpPr>
        <p:spPr>
          <a:xfrm>
            <a:off x="591575" y="1520113"/>
            <a:ext cx="10888200" cy="17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0" bIns="68575" anchor="t" anchorCtr="0">
            <a:sp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ru-RU" sz="1500" b="1"/>
              <a:t>Мы управляем  “штатными” креаторами, которые создают контент </a:t>
            </a:r>
            <a:endParaRPr lang="ru-RU" sz="1500" b="1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/>
              <a:t>для поставщиков и внутренних заказчиков</a:t>
            </a:r>
            <a:endParaRPr lang="ru-RU"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sz="1500" b="1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ru-RU" sz="1500" b="1"/>
              <a:t>Продаем трафик в рамках комплексного инструмента “UGC-продвижение” вместе с размещениями коротких роликов в in-app ленте</a:t>
            </a:r>
            <a:endParaRPr lang="ru-RU"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sz="1500" b="1"/>
          </a:p>
        </p:txBody>
      </p:sp>
      <p:sp>
        <p:nvSpPr>
          <p:cNvPr id="279" name="Google Shape;279;p49"/>
          <p:cNvSpPr txBox="1">
            <a:spLocks noGrp="1"/>
          </p:cNvSpPr>
          <p:nvPr>
            <p:ph type="body" idx="2"/>
          </p:nvPr>
        </p:nvSpPr>
        <p:spPr>
          <a:xfrm>
            <a:off x="590575" y="3043837"/>
            <a:ext cx="9828300" cy="43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900"/>
              <a:t>Как это работает </a:t>
            </a:r>
            <a:endParaRPr lang="ru-RU" sz="190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50"/>
          <p:cNvSpPr txBox="1">
            <a:spLocks noGrp="1"/>
          </p:cNvSpPr>
          <p:nvPr>
            <p:ph type="sldNum" idx="12"/>
          </p:nvPr>
        </p:nvSpPr>
        <p:spPr>
          <a:xfrm>
            <a:off x="11155362" y="6362700"/>
            <a:ext cx="485700" cy="266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67</a:t>
            </a:fld>
            <a:endParaRPr lang="ru-RU"/>
          </a:p>
        </p:txBody>
      </p:sp>
      <p:sp>
        <p:nvSpPr>
          <p:cNvPr id="286" name="Google Shape;286;p50"/>
          <p:cNvSpPr txBox="1">
            <a:spLocks noGrp="1"/>
          </p:cNvSpPr>
          <p:nvPr>
            <p:ph type="body" idx="2"/>
          </p:nvPr>
        </p:nvSpPr>
        <p:spPr>
          <a:xfrm>
            <a:off x="550875" y="512768"/>
            <a:ext cx="11090400" cy="541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Структура 1 масштабиуремой ячейки UGC-завода</a:t>
            </a:r>
            <a:endParaRPr lang="ru-RU"/>
          </a:p>
        </p:txBody>
      </p:sp>
      <p:sp>
        <p:nvSpPr>
          <p:cNvPr id="287" name="Google Shape;287;p50"/>
          <p:cNvSpPr/>
          <p:nvPr/>
        </p:nvSpPr>
        <p:spPr>
          <a:xfrm>
            <a:off x="4816325" y="2679825"/>
            <a:ext cx="2438700" cy="2438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/>
              <a:t>UGC креаторы </a:t>
            </a:r>
            <a:endParaRPr lang="ru-RU"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/>
              <a:t>(до 50 чел)</a:t>
            </a:r>
            <a:endParaRPr lang="ru-RU" b="1"/>
          </a:p>
        </p:txBody>
      </p:sp>
      <p:sp>
        <p:nvSpPr>
          <p:cNvPr id="288" name="Google Shape;288;p50"/>
          <p:cNvSpPr/>
          <p:nvPr/>
        </p:nvSpPr>
        <p:spPr>
          <a:xfrm>
            <a:off x="8920700" y="2787525"/>
            <a:ext cx="2438700" cy="864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2857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/>
              <a:t>In-app лента Магнит</a:t>
            </a:r>
            <a:endParaRPr lang="ru-RU" b="1"/>
          </a:p>
        </p:txBody>
      </p:sp>
      <p:sp>
        <p:nvSpPr>
          <p:cNvPr id="289" name="Google Shape;289;p50"/>
          <p:cNvSpPr/>
          <p:nvPr/>
        </p:nvSpPr>
        <p:spPr>
          <a:xfrm>
            <a:off x="8920700" y="4006875"/>
            <a:ext cx="2438700" cy="864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2857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/>
              <a:t>Соцсети</a:t>
            </a:r>
            <a:endParaRPr lang="ru-RU" b="1"/>
          </a:p>
        </p:txBody>
      </p:sp>
      <p:sp>
        <p:nvSpPr>
          <p:cNvPr id="290" name="Google Shape;290;p50"/>
          <p:cNvSpPr/>
          <p:nvPr/>
        </p:nvSpPr>
        <p:spPr>
          <a:xfrm>
            <a:off x="713250" y="1800475"/>
            <a:ext cx="5544300" cy="421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/>
              <a:t>Менеджер ячейки</a:t>
            </a:r>
            <a:endParaRPr lang="ru-RU" b="1"/>
          </a:p>
        </p:txBody>
      </p:sp>
      <p:sp>
        <p:nvSpPr>
          <p:cNvPr id="291" name="Google Shape;291;p50"/>
          <p:cNvSpPr/>
          <p:nvPr/>
        </p:nvSpPr>
        <p:spPr>
          <a:xfrm>
            <a:off x="713250" y="2962549"/>
            <a:ext cx="2760000" cy="612357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/>
              <a:t>Менеджер</a:t>
            </a:r>
            <a:r>
              <a:rPr lang="ru-RU" b="1"/>
              <a:t> </a:t>
            </a:r>
            <a:r>
              <a:rPr lang="ru-RU" b="1"/>
              <a:t>по</a:t>
            </a:r>
            <a:r>
              <a:rPr lang="ru-RU" b="1"/>
              <a:t> </a:t>
            </a:r>
            <a:r>
              <a:rPr lang="ru-RU" b="1"/>
              <a:t>работе</a:t>
            </a:r>
            <a:r>
              <a:rPr lang="ru-RU" b="1"/>
              <a:t> </a:t>
            </a:r>
            <a:r>
              <a:rPr lang="ru-RU" b="1"/>
              <a:t>с</a:t>
            </a:r>
            <a:r>
              <a:rPr lang="ru-RU" b="1"/>
              <a:t> </a:t>
            </a:r>
            <a:r>
              <a:rPr lang="ru-RU" b="1"/>
              <a:t>блогерами</a:t>
            </a:r>
            <a:endParaRPr lang="ru-RU" b="1"/>
          </a:p>
        </p:txBody>
      </p:sp>
      <p:sp>
        <p:nvSpPr>
          <p:cNvPr id="292" name="Google Shape;292;p50"/>
          <p:cNvSpPr/>
          <p:nvPr/>
        </p:nvSpPr>
        <p:spPr>
          <a:xfrm>
            <a:off x="713250" y="3688574"/>
            <a:ext cx="2760000" cy="612357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>
                <a:solidFill>
                  <a:schemeClr val="dk1"/>
                </a:solidFill>
              </a:rPr>
              <a:t>Контент-продюсер</a:t>
            </a:r>
            <a:endParaRPr lang="ru-RU" b="1"/>
          </a:p>
        </p:txBody>
      </p:sp>
      <p:sp>
        <p:nvSpPr>
          <p:cNvPr id="293" name="Google Shape;293;p50"/>
          <p:cNvSpPr/>
          <p:nvPr/>
        </p:nvSpPr>
        <p:spPr>
          <a:xfrm>
            <a:off x="713250" y="4414587"/>
            <a:ext cx="2760000" cy="612357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/>
              <a:t>Сценарист </a:t>
            </a:r>
            <a:endParaRPr lang="ru-RU" b="1"/>
          </a:p>
        </p:txBody>
      </p:sp>
      <p:cxnSp>
        <p:nvCxnSpPr>
          <p:cNvPr id="294" name="Google Shape;294;p50"/>
          <p:cNvCxnSpPr/>
          <p:nvPr/>
        </p:nvCxnSpPr>
        <p:spPr>
          <a:xfrm rot="10800000" flipH="1">
            <a:off x="8144400" y="3891825"/>
            <a:ext cx="694800" cy="147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95" name="Google Shape;295;p50"/>
          <p:cNvSpPr/>
          <p:nvPr/>
        </p:nvSpPr>
        <p:spPr>
          <a:xfrm>
            <a:off x="550875" y="2407500"/>
            <a:ext cx="7090800" cy="3140400"/>
          </a:xfrm>
          <a:prstGeom prst="rect">
            <a:avLst/>
          </a:prstGeom>
          <a:noFill/>
          <a:ln w="19050" cap="flat" cmpd="sng">
            <a:solidFill>
              <a:srgbClr val="66666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ru-RU"/>
          </a:p>
        </p:txBody>
      </p:sp>
      <p:pic>
        <p:nvPicPr>
          <p:cNvPr id="296" name="Google Shape;296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43563" y="5039224"/>
            <a:ext cx="353398" cy="3533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95050" y="5039225"/>
            <a:ext cx="353400" cy="353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pic>
        <p:nvPicPr>
          <p:cNvPr id="298" name="Google Shape;298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72450" y="5039225"/>
            <a:ext cx="353400" cy="35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014700" y="5039233"/>
            <a:ext cx="353375" cy="35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D7A2D0A2-E774-33F4-016C-254DDE8DAC4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r>
              <a:rPr lang="ru-RU">
                <a:solidFill>
                  <a:srgbClr val="6E6E6E"/>
                </a:solidFill>
              </a:rPr>
              <a:t>Источники: Sostav (11.04.2025), click.ru (10.2024), ppc.world (11.02.2026), Т-Ж (16.04.2025)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B930E18-D2B0-F1A6-ED72-55B5F8381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68</a:t>
            </a:fld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5F93D32-6B1F-C6F7-D714-53E5BFFD97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Конкуренты развивают self-service кабинеты </a:t>
            </a:r>
            <a:br>
              <a:rPr lang="ru-RU" dirty="0"/>
            </a:br>
            <a:r>
              <a:rPr lang="ru-RU"/>
              <a:t>и покупки из коротких видео</a:t>
            </a:r>
          </a:p>
        </p:txBody>
      </p:sp>
      <p:sp>
        <p:nvSpPr>
          <p:cNvPr id="1081" name="Competitor card 1"/>
          <p:cNvSpPr/>
          <p:nvPr/>
        </p:nvSpPr>
        <p:spPr>
          <a:xfrm>
            <a:off x="368300" y="1000000"/>
            <a:ext cx="3651800" cy="5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82" name="ADS 1082"/>
          <p:cNvSpPr txBox="1"/>
          <p:nvPr/>
        </p:nvSpPr>
        <p:spPr>
          <a:xfrm>
            <a:off x="518300" y="1120000"/>
            <a:ext cx="33518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rgbClr val="FF452C"/>
                </a:solidFill>
                <a:latin typeface="Arial"/>
                <a:cs typeface="Arial"/>
              </a:rPr>
              <a:t>X5 Media: рекламный кабинет</a:t>
            </a:r>
            <a:endParaRPr lang="ru-RU" sz="1200"/>
          </a:p>
        </p:txBody>
      </p:sp>
      <p:sp>
        <p:nvSpPr>
          <p:cNvPr id="1083" name="ADS 1083"/>
          <p:cNvSpPr txBox="1"/>
          <p:nvPr/>
        </p:nvSpPr>
        <p:spPr>
          <a:xfrm>
            <a:off x="518300" y="1420000"/>
            <a:ext cx="33518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7F7F7F"/>
                </a:solidFill>
                <a:latin typeface="Arial"/>
                <a:cs typeface="Arial"/>
              </a:rPr>
              <a:t>Бета для агентств с апреля 2025</a:t>
            </a:r>
            <a:endParaRPr lang="ru-RU" sz="1200"/>
          </a:p>
        </p:txBody>
      </p:sp>
      <p:sp>
        <p:nvSpPr>
          <p:cNvPr id="1085" name="ADS 1085"/>
          <p:cNvSpPr txBox="1"/>
          <p:nvPr/>
        </p:nvSpPr>
        <p:spPr>
          <a:xfrm>
            <a:off x="518300" y="3600000"/>
            <a:ext cx="3351800" cy="1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Самостоятельное планирование digital in-store кампаний: сети, география, тип инвентаря</a:t>
            </a:r>
            <a:endParaRPr lang="ru-RU" sz="120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Расчет OTS, охвата и частоты до запуска</a:t>
            </a:r>
            <a:endParaRPr lang="ru-RU" sz="120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~50 тыс. экранов и КСО, радио в 25,5 тыс. магазинов Пятерочки, Перекрестка и Чижика</a:t>
            </a:r>
            <a:endParaRPr lang="ru-RU" sz="1200"/>
          </a:p>
        </p:txBody>
      </p:sp>
      <p:sp>
        <p:nvSpPr>
          <p:cNvPr id="1086" name="ADS 1086"/>
          <p:cNvSpPr/>
          <p:nvPr/>
        </p:nvSpPr>
        <p:spPr>
          <a:xfrm>
            <a:off x="518300" y="5250000"/>
            <a:ext cx="3351800" cy="680000"/>
          </a:xfrm>
          <a:prstGeom prst="roundRect">
            <a:avLst>
              <a:gd name="adj" fmla="val 12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87" name="ADS 1087"/>
          <p:cNvSpPr txBox="1"/>
          <p:nvPr/>
        </p:nvSpPr>
        <p:spPr>
          <a:xfrm>
            <a:off x="618300" y="5290000"/>
            <a:ext cx="31518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Ответ Magnit ADS</a:t>
            </a:r>
            <a:endParaRPr lang="ru-RU" sz="1200"/>
          </a:p>
          <a:p>
            <a:pPr marL="0" indent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Self-service кабинет для МСБ и агентств, таргетинг и фотофиксация indoor</a:t>
            </a:r>
            <a:endParaRPr lang="ru-RU" sz="1200"/>
          </a:p>
        </p:txBody>
      </p:sp>
      <p:sp>
        <p:nvSpPr>
          <p:cNvPr id="1088" name="Competitor card 2"/>
          <p:cNvSpPr/>
          <p:nvPr/>
        </p:nvSpPr>
        <p:spPr>
          <a:xfrm>
            <a:off x="4270100" y="1000000"/>
            <a:ext cx="3651800" cy="5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89" name="ADS 1089"/>
          <p:cNvSpPr txBox="1"/>
          <p:nvPr/>
        </p:nvSpPr>
        <p:spPr>
          <a:xfrm>
            <a:off x="4420100" y="1120000"/>
            <a:ext cx="33518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rgbClr val="FF452C"/>
                </a:solidFill>
                <a:latin typeface="Arial"/>
                <a:cs typeface="Arial"/>
              </a:rPr>
              <a:t>Ozon × VK: покупки в соцсети</a:t>
            </a:r>
            <a:endParaRPr lang="ru-RU" sz="1200"/>
          </a:p>
        </p:txBody>
      </p:sp>
      <p:sp>
        <p:nvSpPr>
          <p:cNvPr id="1090" name="ADS 1090"/>
          <p:cNvSpPr txBox="1"/>
          <p:nvPr/>
        </p:nvSpPr>
        <p:spPr>
          <a:xfrm>
            <a:off x="4420100" y="1420000"/>
            <a:ext cx="33518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7F7F7F"/>
                </a:solidFill>
                <a:latin typeface="Arial"/>
                <a:cs typeface="Arial"/>
              </a:rPr>
              <a:t>Интеграция с октября 2024</a:t>
            </a:r>
            <a:endParaRPr lang="ru-RU" sz="1200"/>
          </a:p>
        </p:txBody>
      </p:sp>
      <p:sp>
        <p:nvSpPr>
          <p:cNvPr id="1091" name="ADS 1091"/>
          <p:cNvSpPr/>
          <p:nvPr/>
        </p:nvSpPr>
        <p:spPr>
          <a:xfrm>
            <a:off x="4420100" y="1640000"/>
            <a:ext cx="3351800" cy="1830000"/>
          </a:xfrm>
          <a:prstGeom prst="roundRect">
            <a:avLst>
              <a:gd name="adj" fmla="val 5000"/>
            </a:avLst>
          </a:prstGeom>
          <a:solidFill>
            <a:srgbClr val="F7F7F7"/>
          </a:solidFill>
          <a:ln w="9525">
            <a:solidFill>
              <a:srgbClr val="BFBFBF"/>
            </a:solidFill>
            <a:prstDash val="dash"/>
          </a:ln>
        </p:spPr>
        <p:txBody>
          <a:bodyPr wrap="square" lIns="90000" tIns="0" rIns="900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ru-RU" sz="1200"/>
          </a:p>
        </p:txBody>
      </p:sp>
      <p:sp>
        <p:nvSpPr>
          <p:cNvPr id="1092" name="ADS 1092"/>
          <p:cNvSpPr txBox="1"/>
          <p:nvPr/>
        </p:nvSpPr>
        <p:spPr>
          <a:xfrm>
            <a:off x="4420100" y="3600000"/>
            <a:ext cx="3351800" cy="1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Товары продавцов Ozon в ленте, сообществах, поиске и VK Маркете; заказ и оплата внутри VK</a:t>
            </a:r>
            <a:endParaRPr lang="ru-RU" sz="120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С февраля 2026 ИИ распознает товары в клипах и ставит ссылку на карточку</a:t>
            </a:r>
            <a:endParaRPr lang="ru-RU" sz="120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Конверсия из просмотра в карточку товара за полгода пилота выросла втрое</a:t>
            </a:r>
            <a:endParaRPr lang="ru-RU" sz="1200"/>
          </a:p>
        </p:txBody>
      </p:sp>
      <p:sp>
        <p:nvSpPr>
          <p:cNvPr id="1093" name="ADS 1093"/>
          <p:cNvSpPr/>
          <p:nvPr/>
        </p:nvSpPr>
        <p:spPr>
          <a:xfrm>
            <a:off x="4420100" y="5250000"/>
            <a:ext cx="3351800" cy="680000"/>
          </a:xfrm>
          <a:prstGeom prst="roundRect">
            <a:avLst>
              <a:gd name="adj" fmla="val 12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94" name="ADS 1094"/>
          <p:cNvSpPr txBox="1"/>
          <p:nvPr/>
        </p:nvSpPr>
        <p:spPr>
          <a:xfrm>
            <a:off x="4520100" y="5290000"/>
            <a:ext cx="31518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Ответ Magnit ADS</a:t>
            </a:r>
            <a:endParaRPr lang="ru-RU" sz="1200"/>
          </a:p>
          <a:p>
            <a:pPr marL="0" indent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Тестируем shoppable-механики с внешними платформами</a:t>
            </a:r>
            <a:endParaRPr lang="ru-RU" sz="1200"/>
          </a:p>
        </p:txBody>
      </p:sp>
      <p:sp>
        <p:nvSpPr>
          <p:cNvPr id="1095" name="Competitor card 3"/>
          <p:cNvSpPr/>
          <p:nvPr/>
        </p:nvSpPr>
        <p:spPr>
          <a:xfrm>
            <a:off x="8171900" y="1000000"/>
            <a:ext cx="3651800" cy="5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96" name="ADS 1096"/>
          <p:cNvSpPr txBox="1"/>
          <p:nvPr/>
        </p:nvSpPr>
        <p:spPr>
          <a:xfrm>
            <a:off x="8321900" y="1120000"/>
            <a:ext cx="33518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FF452C"/>
                </a:solidFill>
                <a:latin typeface="Arial"/>
                <a:cs typeface="Arial"/>
              </a:rPr>
              <a:t>Wildberries: Wibes</a:t>
            </a:r>
            <a:endParaRPr lang="en-US" sz="1200"/>
          </a:p>
        </p:txBody>
      </p:sp>
      <p:sp>
        <p:nvSpPr>
          <p:cNvPr id="1097" name="ADS 1097"/>
          <p:cNvSpPr txBox="1"/>
          <p:nvPr/>
        </p:nvSpPr>
        <p:spPr>
          <a:xfrm>
            <a:off x="8321900" y="1420000"/>
            <a:ext cx="33518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7F7F7F"/>
                </a:solidFill>
                <a:latin typeface="Arial"/>
                <a:cs typeface="Arial"/>
              </a:rPr>
              <a:t>Видеоплатформа с марта 2025</a:t>
            </a:r>
            <a:endParaRPr lang="ru-RU" sz="1200"/>
          </a:p>
        </p:txBody>
      </p:sp>
      <p:sp>
        <p:nvSpPr>
          <p:cNvPr id="1098" name="ADS 1098"/>
          <p:cNvSpPr/>
          <p:nvPr/>
        </p:nvSpPr>
        <p:spPr>
          <a:xfrm>
            <a:off x="8321900" y="1640000"/>
            <a:ext cx="3351800" cy="1830000"/>
          </a:xfrm>
          <a:prstGeom prst="roundRect">
            <a:avLst>
              <a:gd name="adj" fmla="val 5000"/>
            </a:avLst>
          </a:prstGeom>
          <a:solidFill>
            <a:srgbClr val="F7F7F7"/>
          </a:solidFill>
          <a:ln w="9525">
            <a:solidFill>
              <a:srgbClr val="BFBFBF"/>
            </a:solidFill>
            <a:prstDash val="dash"/>
          </a:ln>
        </p:spPr>
        <p:txBody>
          <a:bodyPr wrap="square" lIns="90000" tIns="0" rIns="900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ru-RU" sz="1200"/>
          </a:p>
        </p:txBody>
      </p:sp>
      <p:sp>
        <p:nvSpPr>
          <p:cNvPr id="1099" name="ADS 1099"/>
          <p:cNvSpPr txBox="1"/>
          <p:nvPr/>
        </p:nvSpPr>
        <p:spPr>
          <a:xfrm>
            <a:off x="8321900" y="3600000"/>
            <a:ext cx="3351800" cy="1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Короткие вертикальные видео до 90 секунд от селлеров и блогеров</a:t>
            </a:r>
            <a:endParaRPr lang="ru-RU" sz="120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Товар добавляется в корзину Wildberries прямо из ролика</a:t>
            </a:r>
            <a:endParaRPr lang="ru-RU" sz="120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Контент и покупка замкнуты внутри экосистемы маркетплейса</a:t>
            </a:r>
            <a:endParaRPr lang="ru-RU" sz="1200"/>
          </a:p>
        </p:txBody>
      </p:sp>
      <p:sp>
        <p:nvSpPr>
          <p:cNvPr id="1100" name="ADS 1100"/>
          <p:cNvSpPr/>
          <p:nvPr/>
        </p:nvSpPr>
        <p:spPr>
          <a:xfrm>
            <a:off x="8321900" y="5250000"/>
            <a:ext cx="3351800" cy="680000"/>
          </a:xfrm>
          <a:prstGeom prst="roundRect">
            <a:avLst>
              <a:gd name="adj" fmla="val 12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101" name="ADS 1101"/>
          <p:cNvSpPr txBox="1"/>
          <p:nvPr/>
        </p:nvSpPr>
        <p:spPr>
          <a:xfrm>
            <a:off x="8421900" y="5290000"/>
            <a:ext cx="31518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Ответ Magnit ADS</a:t>
            </a:r>
            <a:endParaRPr lang="ru-RU" sz="1200"/>
          </a:p>
          <a:p>
            <a:pPr marL="0" indent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Контент-завод: UGC в приложении Магнит и внешних соцсетях</a:t>
            </a:r>
            <a:endParaRPr lang="ru-RU" sz="1200"/>
          </a:p>
        </p:txBody>
      </p:sp>
      <p:pic>
        <p:nvPicPr>
          <p:cNvPr id="5" name="Picture 2" descr="Х5 Media открыл рекламный кабинет в формате Friends &amp; Family | Маркетинг |  Новости | AdIndex.ru">
            <a:extLst>
              <a:ext uri="{FF2B5EF4-FFF2-40B4-BE49-F238E27FC236}">
                <a16:creationId xmlns:a16="http://schemas.microsoft.com/office/drawing/2014/main" id="{87911579-97BE-BD38-2127-42374DBE3F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631"/>
          <a:stretch>
            <a:fillRect/>
          </a:stretch>
        </p:blipFill>
        <p:spPr bwMode="auto">
          <a:xfrm>
            <a:off x="518301" y="1640000"/>
            <a:ext cx="3351799" cy="1830000"/>
          </a:xfrm>
          <a:prstGeom prst="roundRect">
            <a:avLst>
              <a:gd name="adj" fmla="val 2942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ВКонтакте (ВК) связала товары из видео в ленте с карточками товаров на  маркетплейсах">
            <a:extLst>
              <a:ext uri="{FF2B5EF4-FFF2-40B4-BE49-F238E27FC236}">
                <a16:creationId xmlns:a16="http://schemas.microsoft.com/office/drawing/2014/main" id="{F7628572-F29B-AE88-1F00-8483713BCE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2815" y="1629063"/>
            <a:ext cx="2726370" cy="1851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Wibes: как работает видеоплатформа от Wildberries">
            <a:extLst>
              <a:ext uri="{FF2B5EF4-FFF2-40B4-BE49-F238E27FC236}">
                <a16:creationId xmlns:a16="http://schemas.microsoft.com/office/drawing/2014/main" id="{AE6DE4AA-EE00-2E43-2DB6-694075E1FC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" b="2817"/>
          <a:stretch>
            <a:fillRect/>
          </a:stretch>
        </p:blipFill>
        <p:spPr bwMode="auto">
          <a:xfrm>
            <a:off x="9009177" y="1677087"/>
            <a:ext cx="1977245" cy="1755825"/>
          </a:xfrm>
          <a:prstGeom prst="roundRect">
            <a:avLst>
              <a:gd name="adj" fmla="val 5094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801521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1. Объем бюджетов — внутреннее исследование Magnit ADS: около 200 млрд руб. среднегодовой маркетинговый бюджет FMCG-компаний. </a:t>
            </a:r>
          </a:p>
          <a:p>
            <a:r>
              <a:rPr lang="ru-RU" sz="900">
                <a:solidFill>
                  <a:srgbClr val="6E6E6E"/>
                </a:solidFill>
              </a:rPr>
              <a:t>План 2027 — BU 2027, млн руб. без НДС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69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Два типа бюджетов поставщика: трейд через Коммерцию форматов, бренд через внешнее ЮЛ AdTech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11457432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Как Magnit ADS работает с трейд- и бренд-бюджетами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1069094"/>
              </p:ext>
            </p:extLst>
          </p:nvPr>
        </p:nvGraphicFramePr>
        <p:xfrm>
          <a:off x="368300" y="1396999"/>
          <a:ext cx="11457432" cy="4445001"/>
        </p:xfrm>
        <a:graphic>
          <a:graphicData uri="http://schemas.openxmlformats.org/drawingml/2006/table">
            <a:tbl>
              <a:tblPr firstRow="1"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0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9631">
                <a:tc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solidFill>
                            <a:schemeClr val="tx2"/>
                          </a:solidFill>
                          <a:latin typeface="Arial"/>
                        </a:rPr>
                        <a:t>Параметр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solidFill>
                            <a:schemeClr val="tx2"/>
                          </a:solidFill>
                          <a:latin typeface="Arial"/>
                        </a:rPr>
                        <a:t>Трейд-бюджеты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solidFill>
                            <a:schemeClr val="tx2"/>
                          </a:solidFill>
                          <a:latin typeface="Arial"/>
                        </a:rPr>
                        <a:t>Бренд-бюджеты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Описание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Инвестиции поставщика в продвижение в сети в рамках коммерческих условий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Бюджеты бренд-маркетинга поставщика на охватную рекламу: </a:t>
                      </a:r>
                      <a:b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ТВ, OOH, digital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Объем у FMCG-компаний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120-140 млрд руб. в год</a:t>
                      </a:r>
                      <a:r>
                        <a:rPr lang="ru-RU" sz="1100" baseline="3000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60-80 млрд руб. в год</a:t>
                      </a:r>
                      <a:r>
                        <a:rPr lang="ru-RU" sz="1100" baseline="3000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Кто продает со стороны Магнит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Коммерция форматов в переговорах с поставщиком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AdTech самостоятельно или через рекламные агентства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Роль AdTech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Создает новый и инновационный инвентарь, ведет кампании и отчетность; Коммерция наращивает на нем рекламную выручку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Выходит на бренд-команды поставщиков и получает бюджеты через внешнее ЮЛ Магнит Маркета (Retail Media Network в связке с Дикси </a:t>
                      </a:r>
                      <a:b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и Азбукой Вкуса)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Инвентарь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APP (медиа и перформанс), in-store digital, DMP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Охваты RMN: digital и in-store, контакт в момент выбора товара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План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Планируемая рекламная выручка 13 502 млн руб. </a:t>
                      </a:r>
                      <a:b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(APP 7 696; in-store 4 019; DMP+Online+Analytics 1 787)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Планируемая рекламная выручка 1 064 млн руб.</a:t>
                      </a: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+mn-lt"/>
                        </a:rPr>
                        <a:t>(RMN — 850; Content factory — 213)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376601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70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Внешний инвентарь: Retail Media Network, social commerce и данные Магнита на внешних площадках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FF452C"/>
                </a:solidFill>
              </a:rPr>
              <a:t>Retail Media Network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850 млн руб.  ·  +43%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Внешнее ЮЛ для бренд-бюджетов поставщиков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Охваты как альтернатива ТВ, OOH и digital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Пакеты с инвентарем других ритейл-медиа игроков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FF452C"/>
                </a:solidFill>
              </a:rPr>
              <a:t>Social commerce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213 млн руб.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</a:rPr>
              <a:t>Content factory: </a:t>
            </a:r>
            <a:r>
              <a:rPr lang="ru-RU" sz="1400" b="1">
                <a:solidFill>
                  <a:srgbClr val="000000"/>
                </a:solidFill>
              </a:rPr>
              <a:t>6 ячеек</a:t>
            </a:r>
            <a:r>
              <a:rPr lang="ru-RU" sz="1400">
                <a:solidFill>
                  <a:srgbClr val="000000"/>
                </a:solidFill>
              </a:rPr>
              <a:t> по 25 креаторов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569 млн</a:t>
            </a:r>
            <a:r>
              <a:rPr lang="ru-RU" sz="1400">
                <a:solidFill>
                  <a:srgbClr val="000000"/>
                </a:solidFill>
              </a:rPr>
              <a:t> просмотров, половина — внешним рекламодателям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Блогерская платформа MIP и </a:t>
            </a:r>
            <a:r>
              <a:rPr lang="en-US" sz="1400">
                <a:solidFill>
                  <a:srgbClr val="000000"/>
                </a:solidFill>
              </a:rPr>
              <a:t>shoppable</a:t>
            </a:r>
            <a:r>
              <a:rPr lang="ru-RU" sz="1400">
                <a:solidFill>
                  <a:srgbClr val="000000"/>
                </a:solidFill>
              </a:rPr>
              <a:t>-партнерства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FF452C"/>
                </a:solidFill>
              </a:rPr>
              <a:t>DMP + Online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1 600 млн руб.  ·  +62%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Баннеры и OLV на внешних площадках по данным Магнита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Пакеты и Онлайн+ТВ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Новые площадки: </a:t>
            </a:r>
            <a:r>
              <a:rPr lang="ru-RU" sz="1400" b="1">
                <a:solidFill>
                  <a:srgbClr val="000000"/>
                </a:solidFill>
              </a:rPr>
              <a:t>SmartTV, Авито,</a:t>
            </a:r>
            <a:r>
              <a:rPr lang="ru-RU" sz="1400">
                <a:solidFill>
                  <a:srgbClr val="000000"/>
                </a:solidFill>
              </a:rPr>
              <a:t> маркетплейсы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Внешний инвентарь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Следующий шаг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Подключение Дикси и Азбуки Вкуса к платформе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OOH и DOOH, внешние рекламные сети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Технологии и данные — для внешнего трафика</a:t>
            </a:r>
          </a:p>
        </p:txBody>
      </p:sp>
    </p:spTree>
    <p:extLst>
      <p:ext uri="{BB962C8B-B14F-4D97-AF65-F5344CB8AC3E}">
        <p14:creationId xmlns:p14="http://schemas.microsoft.com/office/powerpoint/2010/main" val="120914386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Сроки — презентация </a:t>
            </a:r>
            <a:r>
              <a:rPr lang="en-US" sz="900">
                <a:solidFill>
                  <a:srgbClr val="6E6E6E"/>
                </a:solidFill>
              </a:rPr>
              <a:t>AdT</a:t>
            </a:r>
            <a:r>
              <a:rPr lang="en-US">
                <a:solidFill>
                  <a:srgbClr val="6E6E6E"/>
                </a:solidFill>
              </a:rPr>
              <a:t>ech</a:t>
            </a:r>
            <a:r>
              <a:rPr lang="ru-RU" sz="900">
                <a:solidFill>
                  <a:srgbClr val="6E6E6E"/>
                </a:solidFill>
              </a:rPr>
              <a:t>, октябрь 2026. Описание изменений </a:t>
            </a:r>
            <a:r>
              <a:rPr lang="ru-RU">
                <a:solidFill>
                  <a:srgbClr val="6E6E6E"/>
                </a:solidFill>
              </a:rPr>
              <a:t>на </a:t>
            </a:r>
            <a:r>
              <a:rPr lang="ru-RU" sz="900">
                <a:solidFill>
                  <a:srgbClr val="6E6E6E"/>
                </a:solidFill>
              </a:rPr>
              <a:t>основании стратегии Magnit </a:t>
            </a:r>
            <a:r>
              <a:rPr lang="en-US" sz="900">
                <a:solidFill>
                  <a:srgbClr val="6E6E6E"/>
                </a:solidFill>
              </a:rPr>
              <a:t>AdTech</a:t>
            </a:r>
            <a:r>
              <a:rPr lang="ru-RU" sz="900">
                <a:solidFill>
                  <a:srgbClr val="6E6E6E"/>
                </a:solidFill>
              </a:rPr>
              <a:t> 2026–2031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71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Данные платформы: шесть новых источников сигналов для таргетинга и аукциона до Q2 2027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11457432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Дорожная карта: данные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8300" y="1397000"/>
          <a:ext cx="11457432" cy="3381000"/>
        </p:xfrm>
        <a:graphic>
          <a:graphicData uri="http://schemas.openxmlformats.org/drawingml/2006/table">
            <a:tbl>
              <a:tblPr firstRow="1"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2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Изменение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Срок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Что меняется в продукте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Что это дает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Супергео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Q4 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Таргетинг с точностью до магазина и зоны доставки вместо города или региона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Локальные кампании под конкретные торговые точки и радиус вокруг них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Остатки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Q4 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Аукцион учитывает наличие товара в магазине и в зоне доставки покупателя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Реклама не показывается, когда товара нет: рекламный бюджет не расходуется впустую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Триггеры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Показ по событию в реальном времени: поиск, просмотр категории, добавление в корзину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Контакт в момент готовности к покупке; без триггера работают модели исторического спроса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Контекст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В ранжирование добавляются время, локация, погода и ситуация покупки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Сообщение подбирается под момент: погода, время суток, формат магазина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Акции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Платформа получает данные о промо и ценах поставщика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Реклама синхронизируется с промо и усиливает его эффект на продажи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Внешние данные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Q2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Обмен сегментами DMP с внешними площадками и SSP, подключение 2nd и 3rd party данных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Более широкие сегменты и запуск кампаний на внешнем трафике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159769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>
                <a:solidFill>
                  <a:srgbClr val="6E6E6E"/>
                </a:solidFill>
              </a:rPr>
              <a:t>Сроки — презентация </a:t>
            </a:r>
            <a:r>
              <a:rPr lang="en-US">
                <a:solidFill>
                  <a:srgbClr val="6E6E6E"/>
                </a:solidFill>
              </a:rPr>
              <a:t>AdTech</a:t>
            </a:r>
            <a:r>
              <a:rPr lang="ru-RU">
                <a:solidFill>
                  <a:srgbClr val="6E6E6E"/>
                </a:solidFill>
              </a:rPr>
              <a:t>, октябрь 2026. Описание изменений на основании стратегии Magnit </a:t>
            </a:r>
            <a:r>
              <a:rPr lang="en-US">
                <a:solidFill>
                  <a:srgbClr val="6E6E6E"/>
                </a:solidFill>
              </a:rPr>
              <a:t>AdTech</a:t>
            </a:r>
            <a:r>
              <a:rPr lang="ru-RU">
                <a:solidFill>
                  <a:srgbClr val="6E6E6E"/>
                </a:solidFill>
              </a:rPr>
              <a:t> 2026–2031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72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Функции платформы: аукцион, автоматизация кампаний и управляемый in-store до Q2 2027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11457432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Дорожная карта: функции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8300" y="1397000"/>
          <a:ext cx="11457432" cy="3381000"/>
        </p:xfrm>
        <a:graphic>
          <a:graphicData uri="http://schemas.openxmlformats.org/drawingml/2006/table">
            <a:tbl>
              <a:tblPr firstRow="1"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2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Изменение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Срок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Что меняется в продукте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Что это дает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Аукцион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Q4 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Переход от ручного квотирования к аукциону по всем медийным и перформанс-размещениям; модели CPM, CPC, CPA, CPO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Прозрачная конкуренция за показ с учетом ставки, релевантности и маржи бренда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Агентские аккаунты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Q4 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Кабинет агентства: несколько рекламодателей в одном аккаунте, единый прайс, быстрый запуск кампаний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Агентства сами ведут кампании клиентов; растут продажи не поставщикам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ИИ-ассистент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Помощник в кабинете: подбор оффера и аудитории, генерация креативов, сводка результатов кампании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Быстрее запуск кампаний и меньше ручной работы менеджеров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Автостратегии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Автоматическое управление ставками под цель рекламодателя: охват, клики или заказы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Рекламодатель задает цель и бюджет, платформа сама оптимизирует ставки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Таргетинг indoor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Показ на экранах в магазине по аудитории, времени и локации; QR-коды и персональные офферы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In-store становится управляемым каналом и основой для performance-инвентаря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Фотофиксация indoor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Q2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Система контроля показов на экранах и фотоотчет для рекламодателя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Подтверждение размещения — условие продажи нового in-store инвентаря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159769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73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AdTech — горизонтальный партнер Коммерции форматов: зоны разделены по типам бюджетов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Трейд-бюджеты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Отвечает Коммерция форматов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Объем инвестиций определяется в переговорах по коммерческим условиям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AdTech обеспечивает инвентарь, execution и трекинг продаж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KPI Коммерции — </a:t>
            </a:r>
            <a:r>
              <a:rPr lang="ru-RU" sz="1400" b="1">
                <a:solidFill>
                  <a:srgbClr val="000000"/>
                </a:solidFill>
              </a:rPr>
              <a:t>абсолютный прирост</a:t>
            </a:r>
            <a:r>
              <a:rPr lang="ru-RU" sz="1400">
                <a:solidFill>
                  <a:srgbClr val="000000"/>
                </a:solidFill>
              </a:rPr>
              <a:t> трейд-бюджетов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Бренд-бюджеты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Отвечает AdTech через RMN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</a:rPr>
              <a:t>Retail Media Network — </a:t>
            </a:r>
            <a:r>
              <a:rPr lang="ru-RU" sz="1400" b="1">
                <a:solidFill>
                  <a:srgbClr val="000000"/>
                </a:solidFill>
              </a:rPr>
              <a:t>отдельное ЮЛ</a:t>
            </a:r>
            <a:r>
              <a:rPr lang="ru-RU" sz="1400">
                <a:solidFill>
                  <a:srgbClr val="000000"/>
                </a:solidFill>
              </a:rPr>
              <a:t>, не связанное с трейд-маркетингом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Альтернатива охватной рекламе: TV, OOH, digital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Контакт с покупателем в момент выбора: digital и in-store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Не поставщики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Отвечает AdTech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Прямые продажи внешним рекламодателям и агентствам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Кабинет с единым ценообразованием и быстрым запуском кампаний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Выручка распределяется по форматам по принадлежности инвентаря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SMB и интерком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AdTech обеспечивает инвентарь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</a:rPr>
              <a:t>Self-service</a:t>
            </a:r>
            <a:r>
              <a:rPr lang="ru-RU" sz="1400">
                <a:solidFill>
                  <a:srgbClr val="000000"/>
                </a:solidFill>
              </a:rPr>
              <a:t> кабинет открывает доступ к малым поставщикам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Операционный инвентарь для интеркома и маркетинга форматов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Вся рекламная выручка аллоцируется на форматы</a:t>
            </a:r>
          </a:p>
        </p:txBody>
      </p:sp>
    </p:spTree>
    <p:extLst>
      <p:ext uri="{BB962C8B-B14F-4D97-AF65-F5344CB8AC3E}">
        <p14:creationId xmlns:p14="http://schemas.microsoft.com/office/powerpoint/2010/main" val="190000783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R — исполнитель, A — ответственный за результат, C — консультант, I — наблюдатель. Источник: «Роль Магнит AdTech в 2027+», июль 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74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Зона ответственности: AdTech отвечает за инвентарь, эффективность и execution, категории — за трейд-бюджеты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RACI по рекламной выручке и инвентарю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8300" y="1397000"/>
          <a:ext cx="7114032" cy="2643000"/>
        </p:xfrm>
        <a:graphic>
          <a:graphicData uri="http://schemas.openxmlformats.org/drawingml/2006/table">
            <a:tbl>
              <a:tblPr firstRow="1"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99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Зона ответственности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R и A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C и I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Рекламная выручка от поставщиков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Категории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Финансы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Выручка от не поставщиков и бренд-бюджеты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AdTech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Финансы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Расширение инвентаря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AdTech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FoodTech, М+, FinTech, операционный маркетинг, категории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Эффективность инвентаря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AdTech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FoodTech, М+, FinTech, операционный маркетинг, категории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Execution рекламных кампаний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AdTech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Финансы, FoodTech, М+, FinTech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2" name="Shape 302"/>
          <p:cNvSpPr txBox="1"/>
          <p:nvPr/>
        </p:nvSpPr>
        <p:spPr>
          <a:xfrm>
            <a:off x="7823200" y="1016000"/>
            <a:ext cx="40005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За что отвечает AdTech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Инвентарь:</a:t>
            </a:r>
            <a:r>
              <a:rPr lang="ru-RU" sz="1200">
                <a:solidFill>
                  <a:srgbClr val="000000"/>
                </a:solidFill>
              </a:rPr>
              <a:t> новые рекламные места и инструменты — медиа, перформанс, social commerce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Эффективность:</a:t>
            </a:r>
            <a:r>
              <a:rPr lang="ru-RU" sz="1200">
                <a:solidFill>
                  <a:srgbClr val="000000"/>
                </a:solidFill>
              </a:rPr>
              <a:t> рост результативности рекламы за счет данных и аналитики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en-US" sz="1200" b="1">
                <a:solidFill>
                  <a:srgbClr val="000000"/>
                </a:solidFill>
              </a:rPr>
              <a:t>Execution:</a:t>
            </a:r>
            <a:r>
              <a:rPr lang="ru-RU" sz="1200">
                <a:solidFill>
                  <a:srgbClr val="000000"/>
                </a:solidFill>
              </a:rPr>
              <a:t> все кампании от медиаплана до отчетности и ОРД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Продажи:</a:t>
            </a:r>
            <a:r>
              <a:rPr lang="ru-RU" sz="1200">
                <a:solidFill>
                  <a:srgbClr val="000000"/>
                </a:solidFill>
              </a:rPr>
              <a:t> медиакит и прайсинг, внешние рекламодатели, агентства, партнерства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За что не отвечает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Объем трейд-бюджетов:</a:t>
            </a:r>
            <a:r>
              <a:rPr lang="ru-RU" sz="1200">
                <a:solidFill>
                  <a:srgbClr val="000000"/>
                </a:solidFill>
              </a:rPr>
              <a:t> инвестиции поставщиков в рамках коммерческих условий — зона Коммерции форматов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Единый КПЭ:</a:t>
            </a:r>
            <a:r>
              <a:rPr lang="ru-RU" sz="1200">
                <a:solidFill>
                  <a:srgbClr val="000000"/>
                </a:solidFill>
              </a:rPr>
              <a:t> у AdTech и категорий общая цель на рост рекламной выручки и инвентаря</a:t>
            </a:r>
          </a:p>
        </p:txBody>
      </p:sp>
    </p:spTree>
    <p:extLst>
      <p:ext uri="{BB962C8B-B14F-4D97-AF65-F5344CB8AC3E}">
        <p14:creationId xmlns:p14="http://schemas.microsoft.com/office/powerpoint/2010/main" val="231180176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75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Единая рекламная платформа: весь инвентарь экосистемы в одном технологическом контуре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Инвентарь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Все типы в одной платформе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APP и web:</a:t>
            </a:r>
            <a:r>
              <a:rPr lang="ru-RU" sz="1400">
                <a:solidFill>
                  <a:srgbClr val="000000"/>
                </a:solidFill>
              </a:rPr>
              <a:t> баннеры, сторис, полки, карточки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</a:rPr>
              <a:t>In-store:</a:t>
            </a:r>
            <a:r>
              <a:rPr lang="ru-RU" sz="1400">
                <a:solidFill>
                  <a:srgbClr val="000000"/>
                </a:solidFill>
              </a:rPr>
              <a:t> КСО, шелф-баннеры, фасадные и ТВ-экраны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Внешний:</a:t>
            </a:r>
            <a:r>
              <a:rPr lang="ru-RU" sz="1400">
                <a:solidFill>
                  <a:srgbClr val="000000"/>
                </a:solidFill>
              </a:rPr>
              <a:t> площадки Рунета, indoor и outdoor, блогеры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Новые типы инвентаря подключаются быстро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FF452C"/>
                </a:solidFill>
              </a:rPr>
              <a:t>DMP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Данные о покупателе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Data-интерфейс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1st–3rd party данные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</a:rPr>
              <a:t>AI:</a:t>
            </a:r>
            <a:r>
              <a:rPr lang="ru-RU" sz="1400">
                <a:solidFill>
                  <a:srgbClr val="000000"/>
                </a:solidFill>
              </a:rPr>
              <a:t> предикторы конверсии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</a:rPr>
              <a:t>AI:</a:t>
            </a:r>
            <a:r>
              <a:rPr lang="ru-RU" sz="1400">
                <a:solidFill>
                  <a:srgbClr val="000000"/>
                </a:solidFill>
              </a:rPr>
              <a:t> таргетинг аудиторий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FF452C"/>
                </a:solidFill>
              </a:rPr>
              <a:t>Ad server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Показ и аукцион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Хранение креативов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</a:rPr>
              <a:t>Ads exchange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Биддинг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</a:rPr>
              <a:t>AI:</a:t>
            </a:r>
            <a:r>
              <a:rPr lang="ru-RU" sz="1400">
                <a:solidFill>
                  <a:srgbClr val="000000"/>
                </a:solidFill>
              </a:rPr>
              <a:t> создание креативов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FF452C"/>
                </a:solidFill>
              </a:rPr>
              <a:t>Analytics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Измерение эффекта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Матчинг пользователей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Логирование показов и кликов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Модуль sales lift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</a:rPr>
              <a:t>AI:</a:t>
            </a:r>
            <a:r>
              <a:rPr lang="ru-RU" sz="1400">
                <a:solidFill>
                  <a:srgbClr val="000000"/>
                </a:solidFill>
              </a:rPr>
              <a:t> инсайты по данным</a:t>
            </a:r>
          </a:p>
        </p:txBody>
      </p:sp>
    </p:spTree>
    <p:extLst>
      <p:ext uri="{BB962C8B-B14F-4D97-AF65-F5344CB8AC3E}">
        <p14:creationId xmlns:p14="http://schemas.microsoft.com/office/powerpoint/2010/main" val="190000783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24ABF6-6C43-16EC-7903-593D29D0BA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76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1E654-5F65-A4D3-44C6-50BD96A0DF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Полноценная рекламная платформа менее чем за год: от первой команды до коммерческого запуска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Продуктовый запуск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>
                <a:solidFill>
                  <a:srgbClr val="000000"/>
                </a:solidFill>
              </a:rPr>
              <a:t>6 мес.</a:t>
            </a:r>
          </a:p>
        </p:txBody>
      </p:sp>
      <p:sp>
        <p:nvSpPr>
          <p:cNvPr id="203" name="Shape 203"/>
          <p:cNvSpPr txBox="1"/>
          <p:nvPr/>
        </p:nvSpPr>
        <p:spPr>
          <a:xfrm>
            <a:off x="52070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от первой команды до основных модулей</a:t>
            </a:r>
          </a:p>
        </p:txBody>
      </p:sp>
      <p:sp>
        <p:nvSpPr>
          <p:cNvPr id="204" name="Shape 204"/>
          <p:cNvSpPr/>
          <p:nvPr/>
        </p:nvSpPr>
        <p:spPr>
          <a:xfrm>
            <a:off x="67310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5" name="Shape 205"/>
          <p:cNvSpPr txBox="1"/>
          <p:nvPr/>
        </p:nvSpPr>
        <p:spPr>
          <a:xfrm>
            <a:off x="54610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01.09.2025</a:t>
            </a:r>
            <a:r>
              <a:rPr lang="ru-RU" sz="1400">
                <a:solidFill>
                  <a:srgbClr val="000000"/>
                </a:solidFill>
              </a:rPr>
              <a:t> — укомплектована первая команда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13.10.2025</a:t>
            </a:r>
            <a:r>
              <a:rPr lang="ru-RU" sz="1400">
                <a:solidFill>
                  <a:srgbClr val="000000"/>
                </a:solidFill>
              </a:rPr>
              <a:t> — готовы требования, начался первый спринт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01.03.2026</a:t>
            </a:r>
            <a:r>
              <a:rPr lang="ru-RU" sz="1400">
                <a:solidFill>
                  <a:srgbClr val="000000"/>
                </a:solidFill>
              </a:rPr>
              <a:t> — готовы основные модули</a:t>
            </a:r>
          </a:p>
        </p:txBody>
      </p:sp>
      <p:sp>
        <p:nvSpPr>
          <p:cNvPr id="206" name="Shape 206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7" name="Shape 207"/>
          <p:cNvSpPr txBox="1"/>
          <p:nvPr/>
        </p:nvSpPr>
        <p:spPr>
          <a:xfrm>
            <a:off x="343535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Коммерческий запуск</a:t>
            </a:r>
          </a:p>
        </p:txBody>
      </p:sp>
      <p:sp>
        <p:nvSpPr>
          <p:cNvPr id="208" name="Shape 208"/>
          <p:cNvSpPr txBox="1"/>
          <p:nvPr/>
        </p:nvSpPr>
        <p:spPr>
          <a:xfrm>
            <a:off x="343535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>
                <a:solidFill>
                  <a:srgbClr val="000000"/>
                </a:solidFill>
              </a:rPr>
              <a:t>8 мес.</a:t>
            </a:r>
          </a:p>
        </p:txBody>
      </p:sp>
      <p:sp>
        <p:nvSpPr>
          <p:cNvPr id="209" name="Shape 209"/>
          <p:cNvSpPr txBox="1"/>
          <p:nvPr/>
        </p:nvSpPr>
        <p:spPr>
          <a:xfrm>
            <a:off x="343535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до массового перехода на новую платформу</a:t>
            </a:r>
          </a:p>
        </p:txBody>
      </p:sp>
      <p:sp>
        <p:nvSpPr>
          <p:cNvPr id="210" name="Shape 210"/>
          <p:cNvSpPr/>
          <p:nvPr/>
        </p:nvSpPr>
        <p:spPr>
          <a:xfrm>
            <a:off x="358775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346075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27.03.2026</a:t>
            </a:r>
            <a:r>
              <a:rPr lang="ru-RU" sz="1400">
                <a:solidFill>
                  <a:srgbClr val="000000"/>
                </a:solidFill>
              </a:rPr>
              <a:t> — первый продуктивный показ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20.04.2026</a:t>
            </a:r>
            <a:r>
              <a:rPr lang="ru-RU" sz="1400">
                <a:solidFill>
                  <a:srgbClr val="000000"/>
                </a:solidFill>
              </a:rPr>
              <a:t> — массовый переход трафик-менеджеров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Впереди — настройка платформы и обучение</a:t>
            </a:r>
          </a:p>
        </p:txBody>
      </p:sp>
      <p:sp>
        <p:nvSpPr>
          <p:cNvPr id="212" name="Shape 212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3" name="Shape 213"/>
          <p:cNvSpPr txBox="1"/>
          <p:nvPr/>
        </p:nvSpPr>
        <p:spPr>
          <a:xfrm>
            <a:off x="635000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Ближайший конкурент</a:t>
            </a:r>
          </a:p>
        </p:txBody>
      </p:sp>
      <p:sp>
        <p:nvSpPr>
          <p:cNvPr id="214" name="Shape 214"/>
          <p:cNvSpPr txBox="1"/>
          <p:nvPr/>
        </p:nvSpPr>
        <p:spPr>
          <a:xfrm>
            <a:off x="635000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>
                <a:solidFill>
                  <a:srgbClr val="000000"/>
                </a:solidFill>
              </a:rPr>
              <a:t>4 года</a:t>
            </a:r>
            <a:endParaRPr lang="ru-RU" sz="1600" b="1">
              <a:solidFill>
                <a:srgbClr val="000000"/>
              </a:solidFill>
            </a:endParaRPr>
          </a:p>
        </p:txBody>
      </p:sp>
      <p:sp>
        <p:nvSpPr>
          <p:cNvPr id="215" name="Shape 215"/>
          <p:cNvSpPr txBox="1"/>
          <p:nvPr/>
        </p:nvSpPr>
        <p:spPr>
          <a:xfrm>
            <a:off x="635000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строит собственную рекламную платформу</a:t>
            </a:r>
          </a:p>
        </p:txBody>
      </p:sp>
      <p:sp>
        <p:nvSpPr>
          <p:cNvPr id="216" name="Shape 216"/>
          <p:cNvSpPr/>
          <p:nvPr/>
        </p:nvSpPr>
        <p:spPr>
          <a:xfrm>
            <a:off x="650240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7" name="Shape 217"/>
          <p:cNvSpPr txBox="1"/>
          <p:nvPr/>
        </p:nvSpPr>
        <p:spPr>
          <a:xfrm>
            <a:off x="637540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Magnit ADS прошел путь до коммерческого запуска в шесть раз быстрее</a:t>
            </a:r>
          </a:p>
        </p:txBody>
      </p:sp>
      <p:sp>
        <p:nvSpPr>
          <p:cNvPr id="218" name="Shape 218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6465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Яндекс и другие игроки</a:t>
            </a:r>
          </a:p>
        </p:txBody>
      </p:sp>
      <p:sp>
        <p:nvSpPr>
          <p:cNvPr id="220" name="Shape 220"/>
          <p:cNvSpPr txBox="1"/>
          <p:nvPr/>
        </p:nvSpPr>
        <p:spPr>
          <a:xfrm>
            <a:off x="926465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>
                <a:solidFill>
                  <a:srgbClr val="000000"/>
                </a:solidFill>
              </a:rPr>
              <a:t>10+ лет</a:t>
            </a:r>
          </a:p>
        </p:txBody>
      </p:sp>
      <p:sp>
        <p:nvSpPr>
          <p:cNvPr id="221" name="Shape 221"/>
          <p:cNvSpPr txBox="1"/>
          <p:nvPr/>
        </p:nvSpPr>
        <p:spPr>
          <a:xfrm>
            <a:off x="926465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формировались рекламные платформы</a:t>
            </a:r>
          </a:p>
        </p:txBody>
      </p:sp>
      <p:sp>
        <p:nvSpPr>
          <p:cNvPr id="222" name="Shape 222"/>
          <p:cNvSpPr/>
          <p:nvPr/>
        </p:nvSpPr>
        <p:spPr>
          <a:xfrm>
            <a:off x="941705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23" name="Shape 223"/>
          <p:cNvSpPr txBox="1"/>
          <p:nvPr/>
        </p:nvSpPr>
        <p:spPr>
          <a:xfrm>
            <a:off x="929005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Все инструменты Magnit ADS сразу объединены в общий технологический и коммерческий контур</a:t>
            </a:r>
          </a:p>
        </p:txBody>
      </p:sp>
    </p:spTree>
    <p:extLst>
      <p:ext uri="{BB962C8B-B14F-4D97-AF65-F5344CB8AC3E}">
        <p14:creationId xmlns:p14="http://schemas.microsoft.com/office/powerpoint/2010/main" val="409960239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77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Конкурентное преимущество Magnit ADS — данные о покупателе в аукционе и ранжировании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Аудитория и сегменты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Кто покупатель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Сегменты покупателей экосистемы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1st–3rd party данные в DMP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AI-таргетинг аудиторий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Поведение и интересы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Что ему интересно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Поведение и интересы покупателя в экосистеме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Триггеры и акции — </a:t>
            </a:r>
            <a:r>
              <a:rPr lang="en-US" sz="1400" b="1">
                <a:solidFill>
                  <a:srgbClr val="000000"/>
                </a:solidFill>
              </a:rPr>
              <a:t>Q1 2027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Контекст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Где и когда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Время, локация, погода, ситуация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Супергео и остатки — </a:t>
            </a:r>
            <a:r>
              <a:rPr lang="en-US" sz="1400" b="1">
                <a:solidFill>
                  <a:srgbClr val="000000"/>
                </a:solidFill>
              </a:rPr>
              <a:t>Q4 2026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Внешние данные — </a:t>
            </a:r>
            <a:r>
              <a:rPr lang="en-US" sz="1400" b="1">
                <a:solidFill>
                  <a:srgbClr val="000000"/>
                </a:solidFill>
              </a:rPr>
              <a:t>Q2 2027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Цели и ставки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Что нужно рекламодателю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Цели рекламодателя и ставки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ML-модель и бизнес-правила определяют показ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Аукцион — </a:t>
            </a:r>
            <a:r>
              <a:rPr lang="en-US" sz="1400" b="1">
                <a:solidFill>
                  <a:srgbClr val="000000"/>
                </a:solidFill>
              </a:rPr>
              <a:t>Q4 2026</a:t>
            </a:r>
            <a:r>
              <a:rPr lang="ru-RU" sz="1400">
                <a:solidFill>
                  <a:srgbClr val="000000"/>
                </a:solidFill>
              </a:rPr>
              <a:t>, автостратегии — </a:t>
            </a:r>
            <a:r>
              <a:rPr lang="en-US" sz="1400" b="1">
                <a:solidFill>
                  <a:srgbClr val="000000"/>
                </a:solidFill>
              </a:rPr>
              <a:t>Q1 2027</a:t>
            </a:r>
          </a:p>
        </p:txBody>
      </p:sp>
    </p:spTree>
    <p:extLst>
      <p:ext uri="{BB962C8B-B14F-4D97-AF65-F5344CB8AC3E}">
        <p14:creationId xmlns:p14="http://schemas.microsoft.com/office/powerpoint/2010/main" val="190000783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7WblZmppi9_LvZ5K2BVX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SZZBsvzTUWv0NfFkSnIZ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jouS.uCHamgDlgun46tbQ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XxzK.zPZ1Vodv1bJxVTt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xyfK8wSXJseip1tG1RPEQ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yp.gvf4yCnxpzv.jYnGy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hso15TXm5ycDOzDHUuoH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SWYagZT95K6sKkt3.6O6g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aD1cZSf6Bal0PLbITXmVQ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TDoiBYXxsSMYzgVZtokdw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uOd.2PK30xJbWjoukqczw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8Ve12zTpUHrKqnqfE3KHA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lBcF8VnmjYJh5ngmXvDDw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ENI6.5qnkwVDI8QSzHnkg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ot0ed5CfKncGTFtJOEAwQ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evVgkIxdBQYJTAkftoBuQ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hjPZp4e6UBt7QbeXuh_Y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dSfoDBbEaALWYuItqSaX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..Evd_28hFwbfemLJ2VFQ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WdtQ56p60OYMlFH_iFBDQ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JUS7HYKWGLgVJbTMdZ0rQ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IvWRj3u3iSTrkY5TCFTiQ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h3_FPBjb32dK0nkXbBN1Q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D3oxKLg6EOU12C9B2umug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4xoJv66beMf68AZOLTt.w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bqsiGz66Iip8PPJJO42Xg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kK8Vzk88MMFnUxb_trarQ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IX3L1mXDyarEH1_7olzlg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F029pkKVmzXLzpMnP_wlg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rOm1NfkKxodZEbaxYJLpA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h._afNMdejJ601tZUY.rg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h._afNMdejJ601tZUY.r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rOm1NfkKxodZEbaxYJLpA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a3UHfhn1pAsh6QBFs5UIA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rZTV8eULbt7VG2VsnhL6w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Sr7oWst2r6HESSQlqK3KQ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upNtV6plIGmhMD0lqp1Ng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GLMbzgyooDVuESNMqXbhQ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hhHhRUfd.EyaXFhRTxKIg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pwoZSJGcdwQXrvmnYs6hQ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a803zSypTgeXK_ZO3_iQ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kQj1hyP0kIqFkyHi73pPg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Jcgp27EmOcptahNdBbaSA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AmW_ZlMuPnItWT4w29m3A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OiCsB21IViBk0X0pKqFnw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mlM6cSJdvhrFj268TIeSA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7j2fjdxQUmkIn_fQ_N7M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.9T4wFTTOfhEqZtpG11IQ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ZT.O8WYus4wrJpw2Jcd8w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uFnZ7iwEquVKljgOXvXiA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nTyGu6jF43sjMyU.c.TDg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B1HXxbZMkYPYm.cJYrDBw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TPC_h1.Y82YV6sl5K6CNw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GBprxKuLqXXISPio1iUhQ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UYQbZU1a22wlqjEL0GHfg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2c8dvgVOK2aqHBvsduo9Q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Bpuwd9HQ6svUbC2vkfxUg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EyJlpaMR_UApzHka.giQg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mvyL3PuwCijBQDu57PBYw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_y7S1cuJ0o_fUu_R37FUg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f12l8Uvk1C9V6xo_kDp.A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Vxy.glcdTgg.6rN.HbW_Q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eQv5Siv6P2qkVuDkFlGiQ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4U0jH9IHYzOk3EcycC1rA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CQwIxEQ0DmEvCNNNnUZ4w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9TtRRIDy.E_8ES49IlLpg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QBz9xZtYdbwYi1rd57d_A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rW5Ckk9IIya3eUOXNw.RQ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3QWbWfLavtgk2DAlFNdAg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II_pyn_25DkfVeRnNuH7Q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.gwHrjKO5yQqai8n5UoZA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UNYE_lb4cyWhvXk0PC3Xg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Rul88uh9SY3YI5i2zgncQ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q4nm.UWOJWCaSrha5kdgw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j3Gu4FKbpgJvtxx4n3bJA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mVSZpIFihVlKPUswbckkw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qXHYkLK79loizqc5Jj2Rw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_PWx_VRCtrcrubJ3s5b8g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z9bTGNbQ2Q8YaWxXD.Opw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.nO.nCM8fKPbiPC9uC28Q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omaLCwjdrSENiUBRcp89Q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Dty7mdTO3LWWBVsemF3gg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ijC3UMNQN7JNQ99vZPOvw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5O74yTO8Uay_BO5VN.wNA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rD65n4_3AKo_kd2W7q02A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IChs_XHtoIKQSk3DEZTgQ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xndNDiQkOC2Dw732pXsg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1Hip06KFGQ8t.JYFV.0Yw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rtd0lF3fVdUzwCD2w7qCw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oAklxPwvv.hbifrNwwrXA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8vXDZc0daG3T8C._cS4LQ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B58Jwmp2kz0ufzNjI.I4g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HtyNQWBt.tV3u7ISl6Yaw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aJEAhlID8bFTf7DyiYxOA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WgTm.5S5S5.KuDzlyShDA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yHdHEflJCOSn4KtZY1oRQ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zLUYz3wq7.4gd8dE3btHg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Hd8KVsNoIj.LAb0FAPmzQ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4HCmqO8W7n5wwNnhacjNA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W_INeQz_4BC1X8DPHCVaw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BwnyFuutbPWpA2Q.1piFA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bqVxZKhqZJ5jp8x.FXzug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mZUpFPbw1mjmrGHaxJ9KQ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46u1spz0Dpg43Sysp45cQ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kKavfu9w8O.6smfyo6RXA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uueT4VoSmn5jhfhMUeGCg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gPe54zukJl5fA4kYR3cAw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auqT87YaQZS2.pVPI4ZaQ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h6aFhD3MxA3fS5L_ljZOw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lzNv4WwbX1igzybM9o.3g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3ECwPjEXoM6VPgRiEzXrw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OPavhpQ5ztiampnUwhA2w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JuLTRsYlHM4O9crRJ.VUA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0t_J6vzglxSIqZXQrUSJw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HTNugafa.Ew02arbUnk3w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ZhGnc4YthrGngoQoknkXg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Yxmz2OgDMcuVAnkC3t2Bw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dd1z39SDwVgS3mYXLlOcA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9FRJKaIYDSu0ePNBu_Dqg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d__RAXuM6S7EAnU_onarg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biZ3TtJS3ARdo_s6ro_Zg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UCwRjSoqOorC.v9z3kxlw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ENI6.5qnkwVDI8QSzHnkg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ENI6.5qnkwVDI8QSzHnkg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ENI6.5qnkwVDI8QSzHnkg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ENI6.5qnkwVDI8QSzHnkg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vQn1wZpwZH5Up4Gj0wnSw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5Ug5ocG5EL1rAWUaJBEAw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T3phR2iZkStbtC8Q0X.VA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ROvB62jk.0vlSvJe3D1OA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Qh2Hl_ECqiwAtXzmELClA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zxLKWYWqHx61Ew37B8j1A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v6GNYMUrTVALET2OQQb6Q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Nfximrvojriy2MgH0aGcw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nb8s4uZdcm.c4vhTS8CVg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nJg2.Mw8xAW_FR5SS1a8A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obG.s8ahIbWZbTJ.x73YA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cQDeomNKO6CCFRc1Z5e5w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1G4xzDr2LSafCIvVQ46tQ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ZF9Ab3PYUwWB3rttKyuiQ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0WGQtWMZvgFhGELpZlWVA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GY3fo970CJMT1Op4OKXsA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yo8T50f8HyicQhq7pvOeA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clrQP3Wf3vNltQLzaErHA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8Z3bsJYwmhAiPxvZeLC5A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OQLrXdpqCtgmO8wE1SisQ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r8TLaTM13eREwmfhmHk9Q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jXKympIk6yDAaoYoI8TlQ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8G8Vr89t2lhbeNI0PmUhQ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4A8WPnFXf1M0u83ly6uqg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TD1C3XYoq_QsHhcSxkp3Q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cnI1r9Bb21XPxspZEFTgg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a5YNbeODudoOCqceBwbUg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MpelXBSLn4r0QWIAib3UA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2X.HRySW0ySn7ItBipZoA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.YgUOsf.7RqOq3kTeHtZQ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lZEn5hddEoy29BNoVdtxg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bnIvKdmCuth9eDHThMhRQ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03ygoxHrSocjsh5lVD2.w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.3X8vub86_Z.plkJzN0qA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_e7d8StBohQ5fxi.U6xaQ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vXtwCDgnakfx_a.QKKbCQ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ajsxLGF4Ostl_P30.EFhA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mt6iB6ilt9DD.HQYoCnVw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Fp6yeSbjSKcqIwlP9BqZg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JBk583GWCeYq8dx23cfPw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0v5fxQ.BkMW0SDz4LHTOA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frb9Rmv_KgkGIlDTYcAsQ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nrfcEQ3GYGcBsQkU7UPzQ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cKWYTWr_OXxDariu2vqbQ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QDcFuMRLJBDAkCFfmOuog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4ItIjYajqGJ37iWPTbZsA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vpxn5f24ZPTm0t6A.OZvA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AT5WHfM75Uw66FT6op_Og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5d5OZCIfnl3Rw.5t3V0uQ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AGbvcaLMpeXyjRv_KxE5g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4VYGOOKv.gHxWs5kgP8SQ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M4xoRqjjBIowxAFk9tBnw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qlDHATUaSm2WYBPks38vg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pPIW.UXwoTezHqqVHfUuw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xdCZqtnWsYzYj7ipZHZtw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2omLHzR6P2VlYQFC1z_.g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qD.5F.cOYZBeD3RclD96w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ltKMx_CImG8xJTRN6Jc6Q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JY2vA9DpeJCSb5tyaezhg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78h1qFGk.xugVKCPqS.Kw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RJgOdmAg1HdSzB86bKFgA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7vooJsXcpAquCoM1Rr51w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eex6bKufFcJe1L6egJuAA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lXqZZWQ3HVadeNLA5TmSA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LIYVpCk6JdhRkHBhUeGtw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evjckcodPx5THpluwItZQ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qROvqoDUH_KG_0rPsagjQ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X_muDNuFj7nGpXW.sLjHg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xoBrdY19Y0Of5zT5cUx1Q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a7WAGduOmeQ_pkGCmoPAw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.uhfh.feB8OcphZsLrUIw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TH9hmhRqFWpdLwn5etSrw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o6zJP5t4U5E8YvEUI5WZA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X4ShQd8MwOkrAkq8HZMcw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uvysgk5pglkaT9op4Y.Cg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rRVDr13.TfmUOnD7TexQg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5zZzMcWZ3M.190QibkEdQ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jBYfTnyAQY.DUA0sGdL3Q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LLEOvZJJbWymfobG81XNg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Fo3mNoQ7eu_tfPkpqfqeg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NCGVer.ovdTXZ3dkYgU3g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jD6Maya3wcpU0tWZ_B1Yg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lEB74kMV5jQWAi1_MoIlA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uAQb.KCJOCjJT7D8yXhYQ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_KoxNXrIQlgGskZ0tKTOg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GhScWSq0ITTXCj.iVNFnA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D_9SMMIlWJKqxhJewmKqA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J_CayAPhKo56prI5dgM.A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bmi7KpgFDmgHJMD_ioDWw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yAKaBXf4CKNzMtcIb2bQg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iWUyIRCJoIY3_l_VTArdg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.P2U_f.0XbPW4N5YqJyrw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N3oyTH6ygzwe7.FrILIyQ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fHw9APP6ABOlMi.ZPWqg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RQo5Kv70NidHADFNoMXgA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uVAo7h0GIhqe_nHpYyOaQ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JQU180O8wNCp5IDz3U9dw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iK7AT08W2ea.9FBSh4SjA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hyy9uATyVWXz0j1vd34HQ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gb1G1MlYpSwu.hEgmWH3Q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mJt8AZw4jythQmu0bbq7A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xdlfHpD0bOpp1NXZ4PUfg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z3jazTBfHpkni9YIsFNwA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2K9JBRa0i7tYdO8gtXm5g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65cFe6N7NWCJGZsPV_OxQ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S74qig36EQpHm0HglIjjQ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N0wdi2yVfWvklazBBSLjg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OAFoCGkqwAjlPrDa5cGsA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oKj2jC6mvwYbSM0aQ9XmQ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XUV7hVykWMgjcd.4Zr.fw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QQUmGJOlhU.btC2ZlStrA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WRH8T4IjosfEKQP9EGDSQ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JL.5uMW4y4e1qe.NNDzWQ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bkCan5AXb92JFa.ckx5PQ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y717g3P.8n7h5ZBqylhEg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aSV9xU104DyaRtYT8Xktg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KgOuWHVGQqwEGvrN97WSg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0m6E7M08bST.FU9gFf77A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9TakoA602z3Awhuzz87XQ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JCAub09J4QmchXgolvJVA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DBFTPUWdhcaddiZ.8tnTg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o3ISrcOcNhyYGaJCMpm2w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sAo6L.M5_0xHDmGbUQZyw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hVFh9OPkZGifqMxpoXwew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Mfv2SWJ7anhJ_SRNBOqlQ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MwKK0fBYHy0hg4wWhR4xg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vnozPmW2X1N37uSt3HAvw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Uls9MBB4ZNpml6OBV4MnA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bgMJRh1g45udQuQ06uRTQ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hhWhapbfW7WL.PtSAU2ug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99B4n6QLZdhiKx4cs.yAw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IFKB3KgO1T5yXaNd7lpwQ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lvTuLezUSMk0Pir7NLjrw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8NSfG3EZLACnBmOjg6EGA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xPlwSDHAJM5hPdRFAUwcA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N_w3.RvIOI6cHCFv1uP0Q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H.ZVuRdm_GXQynASbFu6A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YIx41fNxi2bZ._tWIFfLQ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cnaUlQjeHsUb.w1HPzDtA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SI5kKY27DMeaIqSHxarcQ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cBRixDObrkpC9Aht9iJxg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BXERSv53YZO2lbApuLcEQ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fj.qElN2RJFlV.yLP8R4A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vzk6PaQDhQKq7yPQBc.8g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EszuTUhcDFsf3Ri.oyR5A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Zg1twlpEoL5SKUCuS8W3g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9jl1uJqJN7XUIw9AmjW7g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efLb.HjhzgHPBmmzH22bg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dvtugPe1eaVejlOOLmO7g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ozihGTha6CtidFt1hGI9Q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AFk1nrbdJKWAbD17qSRVg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eB5qLVrCS0l0Wa5IzOEEw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M6NwGuQjtaEm7v.wI6HkA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WgWboLU3omcXZ8Xf02G5g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n9w8QJOp9FS7quszxQZvQ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4rP4pELBvafEJ2uZe9Vtw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hGmw76my.eX2T44yDkdNA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7QnsJ5mGURUyiSRKV7pug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m7jn8R.iL67j1k_w_pbkA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VbBbq86Vk1azQbrXa24aw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GdbvuMcgKcjFIN_2w8mAw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v1J.oSAhKNfjDT0xRQEKw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UDBdHdZwDSJ_rSddn54Fw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n7kCU14LQNCj3ZI805_oA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_tJVgQ7t8Xp07RGOAAlxg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vpiq1i76COMP20MMP4Scw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jELrrLUVk6eMmk2DrxldQ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OagMklw2ze3Y4l1_yyByA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vIOYQLYNde8WvPJvWz8gA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.raoeQAz5btpi7L3a8xFQ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iVQQ1tNsMRFG3VA5SeDfg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u8yCbGiDE_4ZCYbs2jS_g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93r_GZEvgxQH8Lv8K9fdw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Ivm9FjHb4Ms5sq8IB4r_g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PDnQ36h1EiCZ1lWtwI4g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7_Тема Office">
  <a:themeElements>
    <a:clrScheme name="Пользовательские 5">
      <a:dk1>
        <a:srgbClr val="000000"/>
      </a:dk1>
      <a:lt1>
        <a:srgbClr val="FFFFFF"/>
      </a:lt1>
      <a:dk2>
        <a:srgbClr val="FF452C"/>
      </a:dk2>
      <a:lt2>
        <a:srgbClr val="FFFEFF"/>
      </a:lt2>
      <a:accent1>
        <a:srgbClr val="FF452C"/>
      </a:accent1>
      <a:accent2>
        <a:srgbClr val="999999"/>
      </a:accent2>
      <a:accent3>
        <a:srgbClr val="FEA296"/>
      </a:accent3>
      <a:accent4>
        <a:srgbClr val="CCCCCC"/>
      </a:accent4>
      <a:accent5>
        <a:srgbClr val="FE7460"/>
      </a:accent5>
      <a:accent6>
        <a:srgbClr val="E4E4E4"/>
      </a:accent6>
      <a:hlink>
        <a:srgbClr val="0963FA"/>
      </a:hlink>
      <a:folHlink>
        <a:srgbClr val="9FD1F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4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5813DC4-6E6A-334C-8A92-F7C8F4D76641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6e2f2751-92b3-472b-badd-636cf7a347c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2062</TotalTime>
  <Words>13195</Words>
  <Application>Microsoft Macintosh PowerPoint</Application>
  <PresentationFormat>Widescreen</PresentationFormat>
  <Paragraphs>2526</Paragraphs>
  <Slides>77</Slides>
  <Notes>31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77</vt:i4>
      </vt:variant>
    </vt:vector>
  </HeadingPairs>
  <TitlesOfParts>
    <vt:vector size="86" baseType="lpstr">
      <vt:lpstr>Arha Magnit</vt:lpstr>
      <vt:lpstr>Arial</vt:lpstr>
      <vt:lpstr>Calibri</vt:lpstr>
      <vt:lpstr>Courier New</vt:lpstr>
      <vt:lpstr>Montserrat</vt:lpstr>
      <vt:lpstr>Montserrat Medium</vt:lpstr>
      <vt:lpstr>7_Тема Office</vt:lpstr>
      <vt:lpstr>think-cell Slide</vt:lpstr>
      <vt:lpstr>Слайд think-cell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Бабкин Денис Владимирович</dc:creator>
  <cp:keywords/>
  <dc:description/>
  <cp:lastModifiedBy>Бабкин Денис Владимирович</cp:lastModifiedBy>
  <cp:revision>44</cp:revision>
  <dcterms:created xsi:type="dcterms:W3CDTF">2026-10-05T11:53:56Z</dcterms:created>
  <dcterms:modified xsi:type="dcterms:W3CDTF">2026-10-19T09:56:09Z</dcterms:modified>
  <cp:category/>
</cp:coreProperties>
</file>