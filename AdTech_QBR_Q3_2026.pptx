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media/image2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4"/>
  </p:notesMasterIdLst>
  <p:sldIdLst>
    <p:sldId id="345" r:id="rId2"/>
    <p:sldId id="2147480845" r:id="rId4"/>
    <p:sldId id="2147480846" r:id="rId5"/>
    <p:sldId id="2147480847" r:id="rId6"/>
    <p:sldId id="2147480848" r:id="rId7"/>
    <p:sldId id="2147480849" r:id="rId8"/>
    <p:sldId id="2147480850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E0"/>
    <a:srgbClr val="595959"/>
    <a:srgbClr val="FF452B"/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6"/>
    <p:restoredTop sz="94710"/>
  </p:normalViewPr>
  <p:slideViewPr>
    <p:cSldViewPr snapToGrid="0">
      <p:cViewPr varScale="1">
        <p:scale>
          <a:sx n="149" d="100"/>
          <a:sy n="149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1183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1183</c:v>
                </c:pt>
                <c:pt idx="9">
                  <c:v>971</c:v>
                </c:pt>
                <c:pt idx="10">
                  <c:v>1272</c:v>
                </c:pt>
                <c:pt idx="11">
                  <c:v>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6207.8871425564885</c:v>
                </c:pt>
                <c:pt idx="3">
                  <c:v>7198.854620626313</c:v>
                </c:pt>
                <c:pt idx="4">
                  <c:v>7812.983772855635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28-4742-908C-CB4B4A0E95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8220.11583874005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28-4742-908C-CB4B4A0E95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3149.769052680595</c:v>
                </c:pt>
                <c:pt idx="2">
                  <c:v>990.9674780698247</c:v>
                </c:pt>
                <c:pt idx="3">
                  <c:v>614.1291522293222</c:v>
                </c:pt>
                <c:pt idx="4">
                  <c:v>407.1320658844138</c:v>
                </c:pt>
                <c:pt idx="5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28-4742-908C-CB4B4A0E95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28-4742-908C-CB4B4A0E95B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+3 150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F28-4742-908C-CB4B4A0E95B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+991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F28-4742-908C-CB4B4A0E95B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+614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F28-4742-908C-CB4B4A0E95B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+407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F28-4742-908C-CB4B4A0E95B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1">
                        <a:latin typeface="Arial"/>
                      </a:rPr>
                      <a:t>8 220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F28-4742-908C-CB4B4A0E95B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FF28-4742-908C-CB4B4A0E95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ru-RU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Relationship Id="rId5" Type="http://schemas.openxmlformats.org/officeDocument/2006/relationships/image" Target="../media/image5.png"/><Relationship Id="rId6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Дата. Шрифт </a:t>
            </a:r>
            <a:r>
              <a:rPr lang="en-US"/>
              <a:t>Arial Regular 12</a:t>
            </a: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/>
              <a:t>Заголовок презентации</a:t>
            </a:r>
          </a:p>
          <a:p>
            <a:r>
              <a:rPr lang="ru-RU"/>
              <a:t>в несколько строк</a:t>
            </a:r>
          </a:p>
          <a:p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/>
              <a:t>Имя Фамилия </a:t>
            </a:r>
            <a:br>
              <a:rPr lang="en-US" dirty="0"/>
            </a:br>
            <a:r>
              <a:rPr lang="ru-RU"/>
              <a:t>Шрифт </a:t>
            </a:r>
            <a:r>
              <a:rPr lang="en-US"/>
              <a:t>Arial Regular </a:t>
            </a:r>
            <a:r>
              <a:rPr lang="ru-RU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Сноска. Шрифт </a:t>
            </a:r>
            <a:r>
              <a:rPr lang="en-US"/>
              <a:t>Arial Regular </a:t>
            </a:r>
            <a:r>
              <a:rPr lang="ru-RU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/>
              <a:t>Заголовок слайда в две строки</a:t>
            </a:r>
            <a:br>
              <a:rPr lang="ru-RU" dirty="0"/>
            </a:br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2">
            <a:extLst>
              <a:ext uri="{FF2B5EF4-FFF2-40B4-BE49-F238E27FC236}">
                <a16:creationId xmlns:a16="http://schemas.microsoft.com/office/drawing/2014/main" id="{E7EE3C8A-F97F-2E6D-D5C4-E85ADD793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4252" y="6429889"/>
            <a:ext cx="625661" cy="199509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rgbClr val="E30613"/>
                </a:solidFill>
                <a:latin typeface="Montserrat Medium" pitchFamily="2" charset="-52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BA81D881-30B5-EEEF-623E-FCB08A74A52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185" y="169335"/>
            <a:ext cx="11805728" cy="97642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ts val="3667"/>
              </a:lnSpc>
              <a:spcBef>
                <a:spcPts val="0"/>
              </a:spcBef>
              <a:buNone/>
              <a:defRPr sz="3334" b="1">
                <a:solidFill>
                  <a:srgbClr val="E30613"/>
                </a:solidFill>
                <a:latin typeface="Arha Magnit" panose="020B0503030408080203" pitchFamily="34" charset="0"/>
                <a:ea typeface="Arha Magnit" panose="020B0503030408080203" pitchFamily="34" charset="0"/>
              </a:defRPr>
            </a:lvl1pPr>
            <a:lvl2pPr>
              <a:defRPr>
                <a:solidFill>
                  <a:srgbClr val="E30613"/>
                </a:solidFill>
              </a:defRPr>
            </a:lvl2pPr>
            <a:lvl3pPr>
              <a:defRPr>
                <a:solidFill>
                  <a:srgbClr val="E30613"/>
                </a:solidFill>
              </a:defRPr>
            </a:lvl3pPr>
            <a:lvl4pPr>
              <a:defRPr>
                <a:solidFill>
                  <a:srgbClr val="E30613"/>
                </a:solidFill>
              </a:defRPr>
            </a:lvl4pPr>
            <a:lvl5pPr>
              <a:defRPr>
                <a:solidFill>
                  <a:srgbClr val="E30613"/>
                </a:solidFill>
              </a:defRPr>
            </a:lvl5pPr>
          </a:lstStyle>
          <a:p>
            <a:pPr lvl="0"/>
            <a:r>
              <a:rPr lang="ru-RU">
                <a:effectLst/>
              </a:rPr>
              <a:t>Действуй смело</a:t>
            </a:r>
          </a:p>
          <a:p>
            <a:pPr lvl="0"/>
            <a:r>
              <a:rPr lang="ru-RU">
                <a:effectLst/>
              </a:rPr>
              <a:t>Достигай невозможного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DD5DBD3-9CA8-4504-9712-DECDFE190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433" y="6432036"/>
            <a:ext cx="3600000" cy="197362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tx1"/>
                </a:solidFill>
                <a:latin typeface="Montserrat" panose="00000500000000000000" pitchFamily="2" charset="-52"/>
              </a:defRPr>
            </a:lvl1pPr>
            <a:lvl2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2pPr>
            <a:lvl3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3pPr>
            <a:lvl4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4pPr>
            <a:lvl5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5pPr>
          </a:lstStyle>
          <a:p>
            <a:pPr lvl="0"/>
            <a:r>
              <a:rPr lang="ru-RU">
                <a:effectLst/>
              </a:rPr>
              <a:t>Тема презентации. Название раздела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12809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559">
          <p15:clr>
            <a:srgbClr val="FBAE40"/>
          </p15:clr>
        </p15:guide>
        <p15:guide id="4" pos="12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Relationship Id="rId8" Type="http://schemas.openxmlformats.org/officeDocument/2006/relationships/image" Target="../media/image2.svg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25" imgH="426" progId="TCLayout.ActiveDocument.1">
                  <p:embed/>
                </p:oleObj>
              </mc:Choice>
              <mc:Fallback>
                <p:oleObj name="think-cell Slide" r:id="rId6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75" r:id="rId3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4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4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4.emf"/><Relationship Id="rId5" Type="http://schemas.openxmlformats.org/officeDocument/2006/relationships/chart" Target="../charts/chart1.xml"/><Relationship Id="rId6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QBR Q3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/>
              <a:t>Людмила Марлье</a:t>
            </a:r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Статус выполнения КПЭ: on track</a:t>
            </a:r>
            <a:endParaRPr lang="ru-RU"/>
          </a:p>
          <a:p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485019"/>
              </p:ext>
            </p:extLst>
          </p:nvPr>
        </p:nvGraphicFramePr>
        <p:xfrm>
          <a:off x="364174" y="88660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ru-RU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210,4%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146,97%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/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121,19%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121,74%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/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+2 168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(1 888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+1 395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(508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(133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3224118588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3 215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5 161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4 566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1 657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1 564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411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227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79%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1 109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1 026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1 236%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686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846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707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914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+296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(147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+227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(-35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+4 141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(3 150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(59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+614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(-549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(158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Оплата труда +104 млн руб. (рекласс ФОТ в CAPEX), индексация не закладывается (+49 млн руб.); премии и резерв STI (-112 млн руб.), отпускные (-72 млн руб.), налоги (-12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(+306 млн руб.), вознаграждения РА (+91 млн руб.), маркетинг ВГО (-27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(+36 млн руб.), IT: ноутбуки и облачное хранение (+41 млн руб.), резерв отпусков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4 141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4 728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(2 382)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(1 131)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(1 140)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5 162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+1 973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(1 262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(58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-781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(-1 057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(25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Индексация не закладывается (+28 млн руб.); премии и резерв STI (-46 млн руб.), отпускные (-25 млн руб.), оплата труда (-14 млн руб.), налоги (-6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(+52 млн руб.), маркетинг ВГО (-5 млн руб.), вознаграждения блогерам (-2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(+11 млн руб.), IT (+9 млн руб.), резерв отпусков (+7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1 360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3 059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1 629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997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8</a:t>
            </a:fld>
            <a:endParaRPr kumimoji="0" lang="ru-RU" sz="9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4 755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Выручки поставщиков FT (3 150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(991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(614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5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431837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19361"/>
              </p:ext>
            </p:extLst>
          </p:nvPr>
        </p:nvGraphicFramePr>
        <p:xfrm>
          <a:off x="6393164" y="2801837"/>
          <a:ext cx="5434661" cy="32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1989</TotalTime>
  <Words>13128</Words>
  <Application>Microsoft Macintosh PowerPoint</Application>
  <PresentationFormat>Widescreen</PresentationFormat>
  <Paragraphs>2977</Paragraphs>
  <Slides>62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Arha Magnit</vt:lpstr>
      <vt:lpstr>Arial</vt:lpstr>
      <vt:lpstr>Calibri</vt:lpstr>
      <vt:lpstr>Montserrat</vt:lpstr>
      <vt:lpstr>Montserrat Medium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40</cp:revision>
  <dcterms:created xsi:type="dcterms:W3CDTF">2026-10-05T11:53:56Z</dcterms:created>
  <dcterms:modified xsi:type="dcterms:W3CDTF">2026-10-17T10:19:42Z</dcterms:modified>
  <cp:category/>
</cp:coreProperties>
</file>