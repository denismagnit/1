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embeddings/oleObject1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media/image2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  <Override PartName="/ppt/embeddings/oleObject9.bin" ContentType="application/vnd.openxmlformats-officedocument.oleObject"/>
  <Override PartName="/ppt/tags/tag11.xml" ContentType="application/vnd.openxmlformats-officedocument.presentationml.tags+xml"/>
  <Override PartName="/ppt/embeddings/oleObject10.bin" ContentType="application/vnd.openxmlformats-officedocument.oleObject"/>
  <Override PartName="/ppt/embeddings/oleObject11.bin" ContentType="application/vnd.openxmlformats-officedocument.oleObject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345" r:id="rId2"/>
    <p:sldId id="2147480845" r:id="rId3"/>
    <p:sldId id="2147480846" r:id="rId4"/>
    <p:sldId id="2147480847" r:id="rId5"/>
    <p:sldId id="2147480851" r:id="rId14"/>
    <p:sldId id="2147480848" r:id="rId6"/>
    <p:sldId id="2147480849" r:id="rId7"/>
    <p:sldId id="2147480850" r:id="rId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3E0"/>
    <a:srgbClr val="595959"/>
    <a:srgbClr val="FF452B"/>
    <a:srgbClr val="FDE1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668"/>
    <p:restoredTop sz="94694"/>
  </p:normalViewPr>
  <p:slideViewPr>
    <p:cSldViewPr snapToGrid="0">
      <p:cViewPr varScale="1">
        <p:scale>
          <a:sx n="121" d="100"/>
          <a:sy n="121" d="100"/>
        </p:scale>
        <p:origin x="86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5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4455831692913381E-2"/>
          <c:y val="6.5541495754017298E-2"/>
          <c:w val="0.94616916830708664"/>
          <c:h val="0.93445858654222436"/>
        </c:manualLayout>
      </c:layout>
      <c:lineChart>
        <c:grouping val="standar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Факт 2026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dLbls>
            <c:dLbl>
              <c:idx val="4"/>
              <c:layout>
                <c:manualLayout>
                  <c:x val="-6.4532952251410758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09F1-4BA8-A001-E0458BBE0912}"/>
                </c:ext>
              </c:extLst>
            </c:dLbl>
            <c:dLbl>
              <c:idx val="6"/>
              <c:layout>
                <c:manualLayout>
                  <c:x val="-2.591156201979166E-2"/>
                  <c:y val="-3.4358117042394318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Лист1!$B$2:$B$13</c:f>
              <c:numCache>
                <c:formatCode>General</c:formatCode>
                <c:ptCount val="12"/>
                <c:pt idx="0">
                  <c:v>279</c:v>
                </c:pt>
                <c:pt idx="1">
                  <c:v>439</c:v>
                </c:pt>
                <c:pt idx="2">
                  <c:v>434</c:v>
                </c:pt>
                <c:pt idx="3">
                  <c:v>455</c:v>
                </c:pt>
                <c:pt idx="4">
                  <c:v>699</c:v>
                </c:pt>
                <c:pt idx="5">
                  <c:v>1199</c:v>
                </c:pt>
                <c:pt idx="6">
                  <c:v>1065</c:v>
                </c:pt>
                <c:pt idx="7">
                  <c:v>964</c:v>
                </c:pt>
                <c:pt idx="8">
                  <c:v>1183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09F1-4BA8-A001-E0458BBE0912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Прогноз 2026</c:v>
                </c:pt>
              </c:strCache>
            </c:strRef>
          </c:tx>
          <c:spPr>
            <a:ln w="28575" cap="rnd">
              <a:solidFill>
                <a:schemeClr val="tx2"/>
              </a:solidFill>
              <a:prstDash val="sysDot"/>
              <a:round/>
            </a:ln>
            <a:effectLst/>
          </c:spPr>
          <c:marker>
            <c:symbol val="diamond"/>
            <c:size val="8"/>
            <c:spPr>
              <a:solidFill>
                <a:schemeClr val="tx2"/>
              </a:solidFill>
              <a:ln w="9525">
                <a:solidFill>
                  <a:schemeClr val="tx2"/>
                </a:solidFill>
              </a:ln>
              <a:effectLst/>
            </c:spPr>
          </c:marker>
          <c:dLbls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Лист1!$C$2:$C$13</c:f>
              <c:numCache>
                <c:formatCode>General</c:formatCode>
                <c:ptCount val="12"/>
                <c:pt idx="8">
                  <c:v>1183</c:v>
                </c:pt>
                <c:pt idx="9">
                  <c:v>971</c:v>
                </c:pt>
                <c:pt idx="10">
                  <c:v>1272</c:v>
                </c:pt>
                <c:pt idx="11">
                  <c:v>1641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09F1-4BA8-A001-E0458BBE0912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Бюджет 2026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diamond"/>
            <c:size val="8"/>
            <c:spPr>
              <a:solidFill>
                <a:schemeClr val="tx1"/>
              </a:solidFill>
              <a:ln w="9525">
                <a:solidFill>
                  <a:schemeClr val="tx1">
                    <a:alpha val="97000"/>
                  </a:schemeClr>
                </a:solidFill>
              </a:ln>
              <a:effectLst/>
            </c:spPr>
          </c:marker>
          <c:dLbls>
            <c:dLbl>
              <c:idx val="0"/>
              <c:layout>
                <c:manualLayout>
                  <c:x val="-4.0480025481983976E-2"/>
                  <c:y val="2.7425857770760152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9F1-4BA8-A001-E0458BBE0912}"/>
                </c:ext>
              </c:extLst>
            </c:dLbl>
            <c:dLbl>
              <c:idx val="2"/>
              <c:layout>
                <c:manualLayout>
                  <c:x val="-3.8293395775672451E-2"/>
                  <c:y val="-2.941539905734194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09F1-4BA8-A001-E0458BBE0912}"/>
                </c:ext>
              </c:extLst>
            </c:dLbl>
            <c:dLbl>
              <c:idx val="3"/>
              <c:layout>
                <c:manualLayout>
                  <c:x val="-4.0480025481984018E-2"/>
                  <c:y val="-2.694404006481567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9F1-4BA8-A001-E0458BBE0912}"/>
                </c:ext>
              </c:extLst>
            </c:dLbl>
            <c:dLbl>
              <c:idx val="9"/>
              <c:layout>
                <c:manualLayout>
                  <c:x val="-4.3759970041451268E-2"/>
                  <c:y val="-2.3237001576026494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9F1-4BA8-A001-E0458BBE091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Лист1!$A$2:$A$13</c:f>
              <c:numCache>
                <c:formatCode>General</c:formatCode>
                <c:ptCount val="12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</c:numCache>
            </c:numRef>
          </c:cat>
          <c:val>
            <c:numRef>
              <c:f>Лист1!$D$2:$D$13</c:f>
              <c:numCache>
                <c:formatCode>General</c:formatCode>
                <c:ptCount val="12"/>
                <c:pt idx="0">
                  <c:v>228</c:v>
                </c:pt>
                <c:pt idx="1">
                  <c:v>168</c:v>
                </c:pt>
                <c:pt idx="2">
                  <c:v>264</c:v>
                </c:pt>
                <c:pt idx="3">
                  <c:v>267</c:v>
                </c:pt>
                <c:pt idx="4">
                  <c:v>294</c:v>
                </c:pt>
                <c:pt idx="5">
                  <c:v>344</c:v>
                </c:pt>
                <c:pt idx="6">
                  <c:v>393</c:v>
                </c:pt>
                <c:pt idx="7">
                  <c:v>537</c:v>
                </c:pt>
                <c:pt idx="8">
                  <c:v>660</c:v>
                </c:pt>
                <c:pt idx="9">
                  <c:v>831</c:v>
                </c:pt>
                <c:pt idx="10">
                  <c:v>877</c:v>
                </c:pt>
                <c:pt idx="11">
                  <c:v>984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4-09F1-4BA8-A001-E0458BBE091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894981536"/>
        <c:axId val="1894979872"/>
      </c:lineChart>
      <c:catAx>
        <c:axId val="1894981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894979872"/>
        <c:crosses val="autoZero"/>
        <c:auto val="1"/>
        <c:lblAlgn val="ctr"/>
        <c:lblOffset val="100"/>
        <c:noMultiLvlLbl val="0"/>
      </c:catAx>
      <c:valAx>
        <c:axId val="1894979872"/>
        <c:scaling>
          <c:orientation val="minMax"/>
          <c:max val="2700"/>
        </c:scaling>
        <c:delete val="1"/>
        <c:axPos val="l"/>
        <c:numFmt formatCode="General" sourceLinked="1"/>
        <c:majorTickMark val="none"/>
        <c:minorTickMark val="none"/>
        <c:tickLblPos val="nextTo"/>
        <c:crossAx val="1894981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9103100393700789E-2"/>
          <c:y val="1.2089462786158536E-2"/>
          <c:w val="0.89999991391221623"/>
          <c:h val="4.7637682425699178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0"/>
    <c:plotArea>
      <c:layout/>
      <c:barChart>
        <c:barDir val="col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3058.1180898758935</c:v>
                </c:pt>
                <c:pt idx="2">
                  <c:v>6207.8871425564885</c:v>
                </c:pt>
                <c:pt idx="3">
                  <c:v>7198.8546206263127</c:v>
                </c:pt>
                <c:pt idx="4">
                  <c:v>7812.9837728556349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F28-4742-908C-CB4B4A0E95B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Итог</c:v>
                </c:pt>
              </c:strCache>
            </c:strRef>
          </c:tx>
          <c:spPr>
            <a:solidFill>
              <a:srgbClr val="262626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3058.1180898758935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8220.1158387400501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28-4742-908C-CB4B4A0E95B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Изменение</c:v>
                </c:pt>
              </c:strCache>
            </c:strRef>
          </c:tx>
          <c:spPr>
            <a:solidFill>
              <a:srgbClr val="FF452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3149.769052680595</c:v>
                </c:pt>
                <c:pt idx="2">
                  <c:v>990.96747806982466</c:v>
                </c:pt>
                <c:pt idx="3">
                  <c:v>614.12915222932224</c:v>
                </c:pt>
                <c:pt idx="4">
                  <c:v>407.13206588441381</c:v>
                </c:pt>
                <c:pt idx="5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28-4742-908C-CB4B4A0E95B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dLbls>
            <c:dLbl>
              <c:idx val="0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3 058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F28-4742-908C-CB4B4A0E95B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+3 150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4-FF28-4742-908C-CB4B4A0E95B3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+991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F28-4742-908C-CB4B4A0E95B3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+614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6-FF28-4742-908C-CB4B4A0E95B3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+407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F28-4742-908C-CB4B4A0E95B3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1100" b="1">
                        <a:latin typeface="Arial"/>
                      </a:rPr>
                      <a:t>8 220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8-FF28-4742-908C-CB4B4A0E95B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Бюджет 2026</c:v>
                </c:pt>
                <c:pt idx="1">
                  <c:v>FT (E-com)</c:v>
                </c:pt>
                <c:pt idx="2">
                  <c:v>E-com без FT</c:v>
                </c:pt>
                <c:pt idx="3">
                  <c:v>Non-E-com</c:v>
                </c:pt>
                <c:pt idx="4">
                  <c:v>OPEX</c:v>
                </c:pt>
                <c:pt idx="5">
                  <c:v>Прогноз 9+3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600</c:v>
                </c:pt>
                <c:pt idx="1">
                  <c:v>600</c:v>
                </c:pt>
                <c:pt idx="2">
                  <c:v>600</c:v>
                </c:pt>
                <c:pt idx="3">
                  <c:v>600</c:v>
                </c:pt>
                <c:pt idx="4">
                  <c:v>600</c:v>
                </c:pt>
                <c:pt idx="5">
                  <c:v>600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FF28-4742-908C-CB4B4A0E95B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900"/>
            </a:pPr>
            <a:endParaRPr lang="ru-RU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930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000">
          <a:latin typeface="Arial"/>
        </a:defRPr>
      </a:pPr>
      <a:endParaRPr lang="ru-RU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E-comm</c:v>
                </c:pt>
              </c:strCache>
            </c:strRef>
          </c:tx>
          <c:spPr>
            <a:solidFill>
              <a:srgbClr val="262626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145.4</c:v>
                </c:pt>
                <c:pt idx="1">
                  <c:v>276.2</c:v>
                </c:pt>
                <c:pt idx="2">
                  <c:v>300.1</c:v>
                </c:pt>
                <c:pt idx="3">
                  <c:v>330.6</c:v>
                </c:pt>
                <c:pt idx="4">
                  <c:v>446.8</c:v>
                </c:pt>
                <c:pt idx="5">
                  <c:v>650.0</c:v>
                </c:pt>
                <c:pt idx="6">
                  <c:v>488.0</c:v>
                </c:pt>
                <c:pt idx="7">
                  <c:v>400.7</c:v>
                </c:pt>
                <c:pt idx="8">
                  <c:v>458.0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Instore</c:v>
                </c:pt>
              </c:strCache>
            </c:strRef>
          </c:tx>
          <c:spPr>
            <a:solidFill>
              <a:schemeClr val="accent1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27.5</c:v>
                </c:pt>
                <c:pt idx="1">
                  <c:v>67.5</c:v>
                </c:pt>
                <c:pt idx="2">
                  <c:v>72.0</c:v>
                </c:pt>
                <c:pt idx="3">
                  <c:v>46.1</c:v>
                </c:pt>
                <c:pt idx="4">
                  <c:v>160.2</c:v>
                </c:pt>
                <c:pt idx="5">
                  <c:v>276.0</c:v>
                </c:pt>
                <c:pt idx="6">
                  <c:v>354.1</c:v>
                </c:pt>
                <c:pt idx="7">
                  <c:v>241.3</c:v>
                </c:pt>
                <c:pt idx="8">
                  <c:v>421.8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Online+DMP и DMP</c:v>
                </c:pt>
              </c:strCache>
            </c:strRef>
          </c:tx>
          <c:spPr>
            <a:solidFill>
              <a:srgbClr val="8C8C8C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21.5</c:v>
                </c:pt>
                <c:pt idx="1">
                  <c:v>13.2</c:v>
                </c:pt>
                <c:pt idx="2">
                  <c:v>7.6</c:v>
                </c:pt>
                <c:pt idx="3">
                  <c:v>30.7</c:v>
                </c:pt>
                <c:pt idx="4">
                  <c:v>61.7</c:v>
                </c:pt>
                <c:pt idx="5">
                  <c:v>221.3</c:v>
                </c:pt>
                <c:pt idx="6">
                  <c:v>77.6</c:v>
                </c:pt>
                <c:pt idx="7">
                  <c:v>134.9</c:v>
                </c:pt>
                <c:pt idx="8">
                  <c:v>204.1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Прочее</c:v>
                </c:pt>
              </c:strCache>
            </c:strRef>
          </c:tx>
          <c:spPr>
            <a:solidFill>
              <a:srgbClr val="D0D0D0"/>
            </a:solidFill>
          </c:spPr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85.1</c:v>
                </c:pt>
                <c:pt idx="1">
                  <c:v>82.0</c:v>
                </c:pt>
                <c:pt idx="2">
                  <c:v>70.1</c:v>
                </c:pt>
                <c:pt idx="3">
                  <c:v>31.4</c:v>
                </c:pt>
                <c:pt idx="4">
                  <c:v>30.6</c:v>
                </c:pt>
                <c:pt idx="5">
                  <c:v>52.2</c:v>
                </c:pt>
                <c:pt idx="6">
                  <c:v>145.6</c:v>
                </c:pt>
                <c:pt idx="7">
                  <c:v>187.2</c:v>
                </c:pt>
                <c:pt idx="8">
                  <c:v>99.3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label</c:v>
                </c:pt>
              </c:strCache>
            </c:strRef>
          </c:tx>
          <c:spPr>
            <a:noFill/>
            <a:ln>
              <a:noFill/>
            </a:ln>
          </c:spPr>
          <c:dLbls>
            <c:dLbl>
              <c:idx val="0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279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450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439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699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1 199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1 065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964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sz="1000" b="1">
                        <a:latin typeface="Arial"/>
                      </a:rPr>
                      <a:t>1 183</a:t>
                    </a:r>
                  </a:p>
                </c:rich>
              </c:tx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Янв</c:v>
                </c:pt>
                <c:pt idx="1">
                  <c:v>Фев</c:v>
                </c:pt>
                <c:pt idx="2">
                  <c:v>Мар</c:v>
                </c:pt>
                <c:pt idx="3">
                  <c:v>Апр</c:v>
                </c:pt>
                <c:pt idx="4">
                  <c:v>Май</c:v>
                </c:pt>
                <c:pt idx="5">
                  <c:v>Июн</c:v>
                </c:pt>
                <c:pt idx="6">
                  <c:v>Июл</c:v>
                </c:pt>
                <c:pt idx="7">
                  <c:v>Авг</c:v>
                </c:pt>
                <c:pt idx="8">
                  <c:v>Сен</c:v>
                </c:pt>
              </c:strCache>
            </c: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150</c:v>
                </c:pt>
                <c:pt idx="1">
                  <c:v>150</c:v>
                </c:pt>
                <c:pt idx="2">
                  <c:v>150</c:v>
                </c:pt>
                <c:pt idx="3">
                  <c:v>150</c:v>
                </c:pt>
                <c:pt idx="4">
                  <c:v>150</c:v>
                </c:pt>
                <c:pt idx="5">
                  <c:v>150</c:v>
                </c:pt>
                <c:pt idx="6">
                  <c:v>150</c:v>
                </c:pt>
                <c:pt idx="7">
                  <c:v>150</c:v>
                </c:pt>
                <c:pt idx="8">
                  <c:v>150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legendEntry>
        <c:idx val="4"/>
        <c:delete val="1"/>
      </c:legendEntry>
      <c:overlay val="0"/>
    </c:legend>
    <c:dispBlanksAs val="gap"/>
  </c:chart>
  <c:txPr>
    <a:bodyPr/>
    <a:lstStyle/>
    <a:p>
      <a:pPr>
        <a:defRPr sz="1000">
          <a:latin typeface="Arial"/>
        </a:defRPr>
      </a:pPr>
      <a:endParaRPr lang="en-US"/>
    </a:p>
  </c:tx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B509E16-A88B-8B44-9AED-5D26A22D5264}" type="datetimeFigureOut">
              <a:rPr lang="ru-RU" smtClean="0"/>
              <a:t>19.10.2026</a:t>
            </a:fld>
            <a:endParaRPr lang="ru-R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19F212-A752-C14B-A109-423296A66E5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37195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3D7615-9D8D-4AFB-A858-D9C1AB35B5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2332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2.bin"/><Relationship Id="rId4" Type="http://schemas.openxmlformats.org/officeDocument/2006/relationships/image" Target="../media/image4.emf"/><Relationship Id="rId5" Type="http://schemas.openxmlformats.org/officeDocument/2006/relationships/image" Target="../media/image5.png"/><Relationship Id="rId6" Type="http://schemas.openxmlformats.org/officeDocument/2006/relationships/image" Target="../media/image6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3.bin"/><Relationship Id="rId4" Type="http://schemas.openxmlformats.org/officeDocument/2006/relationships/image" Target="../media/image4.emf"/><Relationship Id="rId5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6_Обложка">
    <p:bg>
      <p:bgPr>
        <a:solidFill>
          <a:srgbClr val="091E2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CA352461-ED9D-49E8-A227-4BE396B7BB0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CA352461-ED9D-49E8-A227-4BE396B7BB0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E5C9D1B3-9449-1E35-A4F9-B27E63F23C36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Текст 8">
            <a:extLst>
              <a:ext uri="{FF2B5EF4-FFF2-40B4-BE49-F238E27FC236}">
                <a16:creationId xmlns:a16="http://schemas.microsoft.com/office/drawing/2014/main" id="{77C6AA7E-B9EC-D689-A34D-26514F873C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265324" y="6039859"/>
            <a:ext cx="4383751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ru-RU"/>
              <a:t>Дата. Шрифт </a:t>
            </a:r>
            <a:r>
              <a:rPr lang="en-US"/>
              <a:t>Arial Regular 12</a:t>
            </a:r>
            <a:endParaRPr lang="ru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2E6B423-8860-5583-7550-8185EF9884D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0862" y="5684181"/>
            <a:ext cx="2631725" cy="822101"/>
          </a:xfrm>
          <a:prstGeom prst="rect">
            <a:avLst/>
          </a:prstGeom>
        </p:spPr>
      </p:pic>
      <p:sp>
        <p:nvSpPr>
          <p:cNvPr id="7" name="Текст 5">
            <a:extLst>
              <a:ext uri="{FF2B5EF4-FFF2-40B4-BE49-F238E27FC236}">
                <a16:creationId xmlns:a16="http://schemas.microsoft.com/office/drawing/2014/main" id="{1661DD3A-AD3B-4577-8E6F-0575534B65F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50863" y="1514475"/>
            <a:ext cx="11098211" cy="2095500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baseline="0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ru-RU"/>
              <a:t>Заголовок презентации</a:t>
            </a:r>
          </a:p>
          <a:p>
            <a:r>
              <a:rPr lang="ru-RU"/>
              <a:t>в несколько строк</a:t>
            </a:r>
          </a:p>
          <a:p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50</a:t>
            </a:r>
          </a:p>
        </p:txBody>
      </p:sp>
      <p:sp>
        <p:nvSpPr>
          <p:cNvPr id="8" name="Текст 5">
            <a:extLst>
              <a:ext uri="{FF2B5EF4-FFF2-40B4-BE49-F238E27FC236}">
                <a16:creationId xmlns:a16="http://schemas.microsoft.com/office/drawing/2014/main" id="{EFFB686D-4A94-40E6-894F-ABB96ADE7A4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50864" y="3827102"/>
            <a:ext cx="5484812" cy="126089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defRPr sz="1800" b="0" i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ru-RU"/>
              <a:t>Имя Фамилия </a:t>
            </a:r>
            <a:br>
              <a:rPr lang="en-US" dirty="0"/>
            </a:br>
            <a:r>
              <a:rPr lang="ru-RU"/>
              <a:t>Шрифт </a:t>
            </a:r>
            <a:r>
              <a:rPr lang="en-US"/>
              <a:t>Arial Regular </a:t>
            </a:r>
            <a:r>
              <a:rPr lang="ru-RU"/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083553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Внутренняя страница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54D6B520-E496-4DE7-A7EA-039CB24155C4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95" imgH="394" progId="TCLayout.ActiveDocument.1">
                  <p:embed/>
                </p:oleObj>
              </mc:Choice>
              <mc:Fallback>
                <p:oleObj name="think-cell Slide" r:id="rId3" imgW="395" imgH="394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54D6B520-E496-4DE7-A7EA-039CB24155C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Текст 3">
            <a:extLst>
              <a:ext uri="{FF2B5EF4-FFF2-40B4-BE49-F238E27FC236}">
                <a16:creationId xmlns:a16="http://schemas.microsoft.com/office/drawing/2014/main" id="{F4EADE36-7228-4328-B953-053A78FFB6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619251" y="6238124"/>
            <a:ext cx="9277350" cy="391275"/>
          </a:xfrm>
          <a:prstGeom prst="rect">
            <a:avLst/>
          </a:prstGeom>
        </p:spPr>
        <p:txBody>
          <a:bodyPr lIns="0" tIns="0"/>
          <a:lstStyle>
            <a:lvl1pPr>
              <a:defRPr sz="900">
                <a:solidFill>
                  <a:schemeClr val="tx1"/>
                </a:solidFill>
              </a:defRPr>
            </a:lvl1pPr>
          </a:lstStyle>
          <a:p>
            <a:pPr lvl="0"/>
            <a:r>
              <a:rPr lang="ru-RU"/>
              <a:t>Сноска. Шрифт </a:t>
            </a:r>
            <a:r>
              <a:rPr lang="en-US"/>
              <a:t>Arial Regular </a:t>
            </a:r>
            <a:r>
              <a:rPr lang="ru-RU"/>
              <a:t>9</a:t>
            </a:r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B17D90FF-1B5F-46FE-8880-4FF59512C99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11" name="Текст 5">
            <a:extLst>
              <a:ext uri="{FF2B5EF4-FFF2-40B4-BE49-F238E27FC236}">
                <a16:creationId xmlns:a16="http://schemas.microsoft.com/office/drawing/2014/main" id="{AC2FBA2D-C41D-4879-85FA-C8B9BDB2A7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64176" y="225092"/>
            <a:ext cx="10594970" cy="660733"/>
          </a:xfrm>
          <a:prstGeom prst="rect">
            <a:avLst/>
          </a:prstGeom>
        </p:spPr>
        <p:txBody>
          <a:bodyPr lIns="0" tIns="0" rIns="0" bIns="0"/>
          <a:lstStyle>
            <a:lvl1pPr>
              <a:lnSpc>
                <a:spcPct val="90000"/>
              </a:lnSpc>
              <a:spcBef>
                <a:spcPts val="0"/>
              </a:spcBef>
              <a:defRPr sz="2400" b="1" i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ru-RU"/>
              <a:t>Заголовок слайда в две строки</a:t>
            </a:r>
            <a:br>
              <a:rPr lang="ru-RU" dirty="0"/>
            </a:br>
            <a:r>
              <a:rPr lang="ru-RU"/>
              <a:t>Шрифт </a:t>
            </a:r>
            <a:r>
              <a:rPr lang="en-US"/>
              <a:t>Arial Bold </a:t>
            </a:r>
            <a:r>
              <a:rPr lang="ru-RU"/>
              <a:t>24</a:t>
            </a:r>
          </a:p>
        </p:txBody>
      </p:sp>
      <p:pic>
        <p:nvPicPr>
          <p:cNvPr id="5" name="Google Shape;329;p48">
            <a:extLst>
              <a:ext uri="{FF2B5EF4-FFF2-40B4-BE49-F238E27FC236}">
                <a16:creationId xmlns:a16="http://schemas.microsoft.com/office/drawing/2014/main" id="{C2310AFE-C757-48FC-8C89-768B12B79D26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174354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 слайд 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Номер слайда 2">
            <a:extLst>
              <a:ext uri="{FF2B5EF4-FFF2-40B4-BE49-F238E27FC236}">
                <a16:creationId xmlns:a16="http://schemas.microsoft.com/office/drawing/2014/main" id="{E7EE3C8A-F97F-2E6D-D5C4-E85ADD7938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74252" y="6429889"/>
            <a:ext cx="625661" cy="199509"/>
          </a:xfrm>
          <a:prstGeom prst="rect">
            <a:avLst/>
          </a:prstGeom>
        </p:spPr>
        <p:txBody>
          <a:bodyPr/>
          <a:lstStyle>
            <a:lvl1pPr algn="ctr">
              <a:defRPr sz="1000" b="0">
                <a:solidFill>
                  <a:srgbClr val="E30613"/>
                </a:solidFill>
                <a:latin typeface="Montserrat Medium" pitchFamily="2" charset="-52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sp>
        <p:nvSpPr>
          <p:cNvPr id="3" name="Текст 3">
            <a:extLst>
              <a:ext uri="{FF2B5EF4-FFF2-40B4-BE49-F238E27FC236}">
                <a16:creationId xmlns:a16="http://schemas.microsoft.com/office/drawing/2014/main" id="{BA81D881-30B5-EEEF-623E-FCB08A74A52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94185" y="169335"/>
            <a:ext cx="11805728" cy="976420"/>
          </a:xfrm>
          <a:prstGeom prst="rect">
            <a:avLst/>
          </a:prstGeom>
        </p:spPr>
        <p:txBody>
          <a:bodyPr lIns="0" rIns="0"/>
          <a:lstStyle>
            <a:lvl1pPr marL="0" indent="0">
              <a:lnSpc>
                <a:spcPts val="3667"/>
              </a:lnSpc>
              <a:spcBef>
                <a:spcPts val="0"/>
              </a:spcBef>
              <a:buNone/>
              <a:defRPr sz="3334" b="1">
                <a:solidFill>
                  <a:srgbClr val="E30613"/>
                </a:solidFill>
                <a:latin typeface="Arha Magnit" panose="020B0503030408080203" pitchFamily="34" charset="0"/>
                <a:ea typeface="Arha Magnit" panose="020B0503030408080203" pitchFamily="34" charset="0"/>
              </a:defRPr>
            </a:lvl1pPr>
            <a:lvl2pPr>
              <a:defRPr>
                <a:solidFill>
                  <a:srgbClr val="E30613"/>
                </a:solidFill>
              </a:defRPr>
            </a:lvl2pPr>
            <a:lvl3pPr>
              <a:defRPr>
                <a:solidFill>
                  <a:srgbClr val="E30613"/>
                </a:solidFill>
              </a:defRPr>
            </a:lvl3pPr>
            <a:lvl4pPr>
              <a:defRPr>
                <a:solidFill>
                  <a:srgbClr val="E30613"/>
                </a:solidFill>
              </a:defRPr>
            </a:lvl4pPr>
            <a:lvl5pPr>
              <a:defRPr>
                <a:solidFill>
                  <a:srgbClr val="E30613"/>
                </a:solidFill>
              </a:defRPr>
            </a:lvl5pPr>
          </a:lstStyle>
          <a:p>
            <a:pPr lvl="0"/>
            <a:r>
              <a:rPr lang="ru-RU">
                <a:effectLst/>
              </a:rPr>
              <a:t>Действуй смело</a:t>
            </a:r>
          </a:p>
          <a:p>
            <a:pPr lvl="0"/>
            <a:r>
              <a:rPr lang="ru-RU">
                <a:effectLst/>
              </a:rPr>
              <a:t>Достигай невозможного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7DD5DBD3-9CA8-4504-9712-DECDFE190FF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07433" y="6432036"/>
            <a:ext cx="3600000" cy="197362"/>
          </a:xfrm>
          <a:prstGeom prst="rect">
            <a:avLst/>
          </a:prstGeom>
        </p:spPr>
        <p:txBody>
          <a:bodyPr/>
          <a:lstStyle>
            <a:lvl1pPr marL="0" indent="0" algn="l">
              <a:spcBef>
                <a:spcPts val="0"/>
              </a:spcBef>
              <a:buNone/>
              <a:defRPr sz="1000">
                <a:solidFill>
                  <a:schemeClr val="tx1"/>
                </a:solidFill>
                <a:latin typeface="Montserrat" panose="00000500000000000000" pitchFamily="2" charset="-52"/>
              </a:defRPr>
            </a:lvl1pPr>
            <a:lvl2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2pPr>
            <a:lvl3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3pPr>
            <a:lvl4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4pPr>
            <a:lvl5pPr algn="r">
              <a:defRPr sz="1600">
                <a:solidFill>
                  <a:srgbClr val="E30613"/>
                </a:solidFill>
                <a:latin typeface="Montserrat Medium" pitchFamily="2" charset="-52"/>
              </a:defRPr>
            </a:lvl5pPr>
          </a:lstStyle>
          <a:p>
            <a:pPr lvl="0"/>
            <a:r>
              <a:rPr lang="ru-RU">
                <a:effectLst/>
              </a:rPr>
              <a:t>Тема презентации. Название раздела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412809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orient="horz" pos="2160">
          <p15:clr>
            <a:srgbClr val="FBAE40"/>
          </p15:clr>
        </p15:guide>
        <p15:guide id="3" pos="7559">
          <p15:clr>
            <a:srgbClr val="FBAE40"/>
          </p15:clr>
        </p15:guide>
        <p15:guide id="4" pos="12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tags" Target="../tags/tag1.xml"/><Relationship Id="rId6" Type="http://schemas.openxmlformats.org/officeDocument/2006/relationships/oleObject" Target="../embeddings/oleObject1.bin"/><Relationship Id="rId7" Type="http://schemas.openxmlformats.org/officeDocument/2006/relationships/image" Target="../media/image1.emf"/><Relationship Id="rId8" Type="http://schemas.openxmlformats.org/officeDocument/2006/relationships/image" Target="../media/image2.svg"/><Relationship Id="rId9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2DF0275F-82EB-4AF8-93F2-E32D2E3F4A0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425" imgH="426" progId="TCLayout.ActiveDocument.1">
                  <p:embed/>
                </p:oleObj>
              </mc:Choice>
              <mc:Fallback>
                <p:oleObj name="think-cell Slide" r:id="rId6" imgW="425" imgH="426" progId="TCLayout.ActiveDocument.1">
                  <p:embed/>
                  <p:pic>
                    <p:nvPicPr>
                      <p:cNvPr id="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2DF0275F-82EB-4AF8-93F2-E32D2E3F4A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EC4ABD1C-F459-2C26-F2B9-9BA713F071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55362" y="6362700"/>
            <a:ext cx="485775" cy="2667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527D41D6-7756-D84E-A787-9DAD2BF0F149}" type="slidenum">
              <a:rPr lang="ru-RU" smtClean="0"/>
              <a:pPr/>
              <a:t>‹#›</a:t>
            </a:fld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1C2BBA4-A98A-7E39-4BDE-05CCE102983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4175" y="6260830"/>
            <a:ext cx="1179870" cy="368569"/>
          </a:xfrm>
          <a:prstGeom prst="rect">
            <a:avLst/>
          </a:prstGeom>
        </p:spPr>
      </p:pic>
      <p:pic>
        <p:nvPicPr>
          <p:cNvPr id="6" name="Google Shape;329;p48">
            <a:extLst>
              <a:ext uri="{FF2B5EF4-FFF2-40B4-BE49-F238E27FC236}">
                <a16:creationId xmlns:a16="http://schemas.microsoft.com/office/drawing/2014/main" id="{E1B4E335-9445-4D22-A1BC-8334344EE35A}"/>
              </a:ext>
            </a:extLst>
          </p:cNvPr>
          <p:cNvPicPr preferRelativeResize="0"/>
          <p:nvPr userDrawn="1"/>
        </p:nvPicPr>
        <p:blipFill rotWithShape="1">
          <a:blip r:embed="rId9">
            <a:alphaModFix/>
          </a:blip>
          <a:srcRect t="32015" b="29633"/>
          <a:stretch/>
        </p:blipFill>
        <p:spPr>
          <a:xfrm>
            <a:off x="10959145" y="210404"/>
            <a:ext cx="868680" cy="33315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30710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74" r:id="rId2"/>
    <p:sldLayoutId id="2147483675" r:id="rId3"/>
  </p:sldLayoutIdLst>
  <p:hf hdr="0" ft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354" rtl="0" eaLnBrk="1" latinLnBrk="0" hangingPunct="1">
        <a:lnSpc>
          <a:spcPct val="90000"/>
        </a:lnSpc>
        <a:spcBef>
          <a:spcPts val="1000"/>
        </a:spcBef>
        <a:buFontTx/>
        <a:buNone/>
        <a:defRPr sz="2000" kern="1200">
          <a:solidFill>
            <a:schemeClr val="accent3"/>
          </a:solidFill>
          <a:latin typeface="+mn-lt"/>
          <a:ea typeface="+mn-ea"/>
          <a:cs typeface="+mn-cs"/>
        </a:defRPr>
      </a:lvl1pPr>
      <a:lvl2pPr marL="457178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indent="0" algn="l" defTabSz="914354" rtl="0" eaLnBrk="1" latinLnBrk="0" hangingPunct="1">
        <a:lnSpc>
          <a:spcPct val="90000"/>
        </a:lnSpc>
        <a:spcBef>
          <a:spcPts val="500"/>
        </a:spcBef>
        <a:buFontTx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47">
          <p15:clr>
            <a:srgbClr val="F26B43"/>
          </p15:clr>
        </p15:guide>
        <p15:guide id="4" orient="horz" pos="4156">
          <p15:clr>
            <a:srgbClr val="F26B43"/>
          </p15:clr>
        </p15:guide>
        <p15:guide id="5" orient="horz" pos="323">
          <p15:clr>
            <a:srgbClr val="F26B43"/>
          </p15:clr>
        </p15:guide>
        <p15:guide id="7" pos="1148">
          <p15:clr>
            <a:srgbClr val="F26B43"/>
          </p15:clr>
        </p15:guide>
        <p15:guide id="8" pos="1236">
          <p15:clr>
            <a:srgbClr val="F26B43"/>
          </p15:clr>
        </p15:guide>
        <p15:guide id="10" pos="2032">
          <p15:clr>
            <a:srgbClr val="F26B43"/>
          </p15:clr>
        </p15:guide>
        <p15:guide id="11" pos="2120">
          <p15:clr>
            <a:srgbClr val="F26B43"/>
          </p15:clr>
        </p15:guide>
        <p15:guide id="13" pos="2916">
          <p15:clr>
            <a:srgbClr val="F26B43"/>
          </p15:clr>
        </p15:guide>
        <p15:guide id="14" pos="3004">
          <p15:clr>
            <a:srgbClr val="F26B43"/>
          </p15:clr>
        </p15:guide>
        <p15:guide id="16" pos="3802">
          <p15:clr>
            <a:srgbClr val="F26B43"/>
          </p15:clr>
        </p15:guide>
        <p15:guide id="17" pos="7338">
          <p15:clr>
            <a:srgbClr val="F26B43"/>
          </p15:clr>
        </p15:guide>
        <p15:guide id="19" pos="6538">
          <p15:clr>
            <a:srgbClr val="F26B43"/>
          </p15:clr>
        </p15:guide>
        <p15:guide id="20" pos="6452">
          <p15:clr>
            <a:srgbClr val="F26B43"/>
          </p15:clr>
        </p15:guide>
        <p15:guide id="22" pos="5656">
          <p15:clr>
            <a:srgbClr val="F26B43"/>
          </p15:clr>
        </p15:guide>
        <p15:guide id="23" pos="5568">
          <p15:clr>
            <a:srgbClr val="F26B43"/>
          </p15:clr>
        </p15:guide>
        <p15:guide id="25" pos="4770">
          <p15:clr>
            <a:srgbClr val="F26B43"/>
          </p15:clr>
        </p15:guide>
        <p15:guide id="26" pos="4684">
          <p15:clr>
            <a:srgbClr val="F26B43"/>
          </p15:clr>
        </p15:guide>
        <p15:guide id="28" pos="3888">
          <p15:clr>
            <a:srgbClr val="F26B43"/>
          </p15:clr>
        </p15:guide>
        <p15:guide id="39" orient="horz" pos="398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Relationship Id="rId4" Type="http://schemas.openxmlformats.org/officeDocument/2006/relationships/oleObject" Target="../embeddings/oleObject4.bin"/><Relationship Id="rId5" Type="http://schemas.openxmlformats.org/officeDocument/2006/relationships/image" Target="../media/image4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5.bin"/><Relationship Id="rId4" Type="http://schemas.openxmlformats.org/officeDocument/2006/relationships/image" Target="../media/image4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6.bin"/><Relationship Id="rId4" Type="http://schemas.openxmlformats.org/officeDocument/2006/relationships/image" Target="../media/image4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7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7.bin"/><Relationship Id="rId4" Type="http://schemas.openxmlformats.org/officeDocument/2006/relationships/image" Target="../media/image4.em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ags" Target="../tags/tag11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4.emf"/><Relationship Id="rId5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0.bin"/><Relationship Id="rId4" Type="http://schemas.openxmlformats.org/officeDocument/2006/relationships/image" Target="../media/image4.em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ags" Target="../tags/tag9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11.bin"/><Relationship Id="rId4" Type="http://schemas.openxmlformats.org/officeDocument/2006/relationships/image" Target="../media/image4.em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slideLayout" Target="../slideLayouts/slideLayout2.xml"/><Relationship Id="rId3" Type="http://schemas.openxmlformats.org/officeDocument/2006/relationships/oleObject" Target="../embeddings/oleObject8.bin"/><Relationship Id="rId4" Type="http://schemas.openxmlformats.org/officeDocument/2006/relationships/image" Target="../media/image4.emf"/><Relationship Id="rId5" Type="http://schemas.openxmlformats.org/officeDocument/2006/relationships/chart" Target="../charts/chart1.xml"/><Relationship Id="rId6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85DF8EBA-9590-4C81-9F69-5D123BF9617A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95" imgH="394" progId="TCLayout.ActiveDocument.1">
                  <p:embed/>
                </p:oleObj>
              </mc:Choice>
              <mc:Fallback>
                <p:oleObj name="think-cell Slide" r:id="rId4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85DF8EBA-9590-4C81-9F69-5D123BF961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E7D62E96-F664-40DC-868E-D0B2F0A46B2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ru-RU"/>
              <a:t>Октябрь 2026</a:t>
            </a:r>
          </a:p>
        </p:txBody>
      </p:sp>
      <p:sp>
        <p:nvSpPr>
          <p:cNvPr id="6" name="Текст 2">
            <a:extLst>
              <a:ext uri="{FF2B5EF4-FFF2-40B4-BE49-F238E27FC236}">
                <a16:creationId xmlns:a16="http://schemas.microsoft.com/office/drawing/2014/main" id="{6060A129-27E9-4599-B4E5-C57388EC22F3}"/>
              </a:ext>
            </a:extLst>
          </p:cNvPr>
          <p:cNvSpPr txBox="1">
            <a:spLocks/>
          </p:cNvSpPr>
          <p:nvPr/>
        </p:nvSpPr>
        <p:spPr>
          <a:xfrm>
            <a:off x="550863" y="512763"/>
            <a:ext cx="11098211" cy="2743055"/>
          </a:xfrm>
          <a:prstGeom prst="rect">
            <a:avLst/>
          </a:prstGeom>
        </p:spPr>
        <p:txBody>
          <a:bodyPr lIns="0" tIns="0" rIns="0" bIns="0"/>
          <a:lstStyle>
            <a:lvl1pPr marL="0" marR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000" b="1" i="0" kern="1200" baseline="0">
                <a:solidFill>
                  <a:schemeClr val="bg1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457178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54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32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09" indent="0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74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52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29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006" indent="-228589" algn="l" defTabSz="914354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Магнит </a:t>
            </a: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AdTech</a:t>
            </a:r>
            <a:endParaRPr kumimoji="0" lang="ru-RU" sz="5000" b="1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sym typeface="Arial"/>
            </a:endParaRPr>
          </a:p>
          <a:p>
            <a:pPr marL="0" marR="0" lvl="0" indent="0" algn="l" defTabSz="914354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000" b="1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QBR Q3 2026</a:t>
            </a:r>
          </a:p>
        </p:txBody>
      </p:sp>
      <p:sp>
        <p:nvSpPr>
          <p:cNvPr id="7" name="Текст 7">
            <a:extLst>
              <a:ext uri="{FF2B5EF4-FFF2-40B4-BE49-F238E27FC236}">
                <a16:creationId xmlns:a16="http://schemas.microsoft.com/office/drawing/2014/main" id="{BC4C214E-1A99-490C-A3B5-9407F8AE158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50864" y="3550877"/>
            <a:ext cx="5484812" cy="1260893"/>
          </a:xfrm>
        </p:spPr>
        <p:txBody>
          <a:bodyPr/>
          <a:lstStyle/>
          <a:p>
            <a:r>
              <a:rPr lang="ru-RU"/>
              <a:t>Людмила Марлье</a:t>
            </a:r>
          </a:p>
        </p:txBody>
      </p:sp>
    </p:spTree>
    <p:extLst>
      <p:ext uri="{BB962C8B-B14F-4D97-AF65-F5344CB8AC3E}">
        <p14:creationId xmlns:p14="http://schemas.microsoft.com/office/powerpoint/2010/main" val="3825121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F84D4825-01B3-4D34-80A0-460B43F3816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301853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84D4825-01B3-4D34-80A0-460B43F3816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D65656BD-BDC7-4AB7-9502-886BF31BBDE6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6F8CBBF0-A6D9-4B80-B3B2-E0B409F94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1418B67-2B10-4F87-873F-7C10DAA6D7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Статус выполнения КПЭ: </a:t>
            </a:r>
            <a:r>
              <a:rPr lang="ru-RU">
                <a:solidFill>
                  <a:schemeClr val="dk1"/>
                </a:solidFill>
                <a:latin typeface="+mn-lt"/>
                <a:sym typeface="Montserrat"/>
              </a:rPr>
              <a:t>т</a:t>
            </a: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риггеры КПЭ выполняются </a:t>
            </a:r>
            <a:br>
              <a:rPr lang="ru-RU" sz="2400" b="1" dirty="0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</a:br>
            <a:r>
              <a:rPr lang="ru-RU" sz="2400" b="1">
                <a:solidFill>
                  <a:schemeClr val="dk1"/>
                </a:solidFill>
                <a:latin typeface="+mn-lt"/>
                <a:ea typeface="Montserrat"/>
                <a:sym typeface="Montserrat"/>
              </a:rPr>
              <a:t>в полном объеме</a:t>
            </a:r>
            <a:endParaRPr lang="ru-RU"/>
          </a:p>
          <a:p>
            <a:endParaRPr lang="ru-RU"/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639FE8D2-E681-4AB4-8331-4BF473CEC5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4485019"/>
              </p:ext>
            </p:extLst>
          </p:nvPr>
        </p:nvGraphicFramePr>
        <p:xfrm>
          <a:off x="364174" y="939157"/>
          <a:ext cx="11463642" cy="2759440"/>
        </p:xfrm>
        <a:graphic>
          <a:graphicData uri="http://schemas.openxmlformats.org/drawingml/2006/table">
            <a:tbl>
              <a:tblPr/>
              <a:tblGrid>
                <a:gridCol w="1506959">
                  <a:extLst>
                    <a:ext uri="{9D8B030D-6E8A-4147-A177-3AD203B41FA5}">
                      <a16:colId xmlns:a16="http://schemas.microsoft.com/office/drawing/2014/main" val="266420583"/>
                    </a:ext>
                  </a:extLst>
                </a:gridCol>
                <a:gridCol w="2003337">
                  <a:extLst>
                    <a:ext uri="{9D8B030D-6E8A-4147-A177-3AD203B41FA5}">
                      <a16:colId xmlns:a16="http://schemas.microsoft.com/office/drawing/2014/main" val="1371208351"/>
                    </a:ext>
                  </a:extLst>
                </a:gridCol>
                <a:gridCol w="474006">
                  <a:extLst>
                    <a:ext uri="{9D8B030D-6E8A-4147-A177-3AD203B41FA5}">
                      <a16:colId xmlns:a16="http://schemas.microsoft.com/office/drawing/2014/main" val="2790943951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1583470004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743709276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3662016787"/>
                    </a:ext>
                  </a:extLst>
                </a:gridCol>
                <a:gridCol w="697186">
                  <a:extLst>
                    <a:ext uri="{9D8B030D-6E8A-4147-A177-3AD203B41FA5}">
                      <a16:colId xmlns:a16="http://schemas.microsoft.com/office/drawing/2014/main" val="1493236834"/>
                    </a:ext>
                  </a:extLst>
                </a:gridCol>
                <a:gridCol w="97400">
                  <a:extLst>
                    <a:ext uri="{9D8B030D-6E8A-4147-A177-3AD203B41FA5}">
                      <a16:colId xmlns:a16="http://schemas.microsoft.com/office/drawing/2014/main" val="2644740059"/>
                    </a:ext>
                  </a:extLst>
                </a:gridCol>
                <a:gridCol w="587233">
                  <a:extLst>
                    <a:ext uri="{9D8B030D-6E8A-4147-A177-3AD203B41FA5}">
                      <a16:colId xmlns:a16="http://schemas.microsoft.com/office/drawing/2014/main" val="2101338174"/>
                    </a:ext>
                  </a:extLst>
                </a:gridCol>
                <a:gridCol w="931333">
                  <a:extLst>
                    <a:ext uri="{9D8B030D-6E8A-4147-A177-3AD203B41FA5}">
                      <a16:colId xmlns:a16="http://schemas.microsoft.com/office/drawing/2014/main" val="1045963864"/>
                    </a:ext>
                  </a:extLst>
                </a:gridCol>
                <a:gridCol w="93133">
                  <a:extLst>
                    <a:ext uri="{9D8B030D-6E8A-4147-A177-3AD203B41FA5}">
                      <a16:colId xmlns:a16="http://schemas.microsoft.com/office/drawing/2014/main" val="1009357481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1047428590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840101419"/>
                    </a:ext>
                  </a:extLst>
                </a:gridCol>
                <a:gridCol w="601133">
                  <a:extLst>
                    <a:ext uri="{9D8B030D-6E8A-4147-A177-3AD203B41FA5}">
                      <a16:colId xmlns:a16="http://schemas.microsoft.com/office/drawing/2014/main" val="2904748871"/>
                    </a:ext>
                  </a:extLst>
                </a:gridCol>
                <a:gridCol w="118534">
                  <a:extLst>
                    <a:ext uri="{9D8B030D-6E8A-4147-A177-3AD203B41FA5}">
                      <a16:colId xmlns:a16="http://schemas.microsoft.com/office/drawing/2014/main" val="3323509817"/>
                    </a:ext>
                  </a:extLst>
                </a:gridCol>
                <a:gridCol w="643465">
                  <a:extLst>
                    <a:ext uri="{9D8B030D-6E8A-4147-A177-3AD203B41FA5}">
                      <a16:colId xmlns:a16="http://schemas.microsoft.com/office/drawing/2014/main" val="1780177134"/>
                    </a:ext>
                  </a:extLst>
                </a:gridCol>
                <a:gridCol w="1015885">
                  <a:extLst>
                    <a:ext uri="{9D8B030D-6E8A-4147-A177-3AD203B41FA5}">
                      <a16:colId xmlns:a16="http://schemas.microsoft.com/office/drawing/2014/main" val="444242803"/>
                    </a:ext>
                  </a:extLst>
                </a:gridCol>
              </a:tblGrid>
              <a:tr h="356546"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endParaRPr lang="ru-RU" sz="1100" b="1" i="0" u="none" strike="noStrike" baseline="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 9м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6"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2026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accent1"/>
                        </a:solidFill>
                        <a:effectLst/>
                        <a:latin typeface="+mn-lt"/>
                        <a:ea typeface="+mn-ea"/>
                        <a:cs typeface="Calibri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511758"/>
                  </a:ext>
                </a:extLst>
              </a:tr>
              <a:tr h="356546"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КПЭ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Показатель</a:t>
                      </a:r>
                      <a:endParaRPr lang="ru-RU" sz="1100" b="1" i="0" u="none" strike="noStrike" baseline="30000">
                        <a:solidFill>
                          <a:schemeClr val="tx1"/>
                        </a:solidFill>
                        <a:effectLst/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ru-RU" sz="1100" b="1" i="0" u="none" strike="noStrike" baseline="0">
                          <a:solidFill>
                            <a:schemeClr val="tx1"/>
                          </a:solidFill>
                          <a:effectLst/>
                          <a:latin typeface="+mn-lt"/>
                          <a:cs typeface="Arial" panose="020B0604020202020204" pitchFamily="34" charset="0"/>
                        </a:rPr>
                        <a:t>Вес</a:t>
                      </a:r>
                    </a:p>
                  </a:txBody>
                  <a:tcPr marL="3600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Выполнение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Мин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Цель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Макс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5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 kern="120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Факт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100" b="1" i="0" u="none" strike="noStrike">
                          <a:solidFill>
                            <a:schemeClr val="tx1"/>
                          </a:solidFill>
                          <a:effectLst/>
                          <a:latin typeface="Arial" panose="020B0604020202020204" pitchFamily="34" charset="0"/>
                        </a:rPr>
                        <a:t>Прогноз выполнения</a:t>
                      </a:r>
                    </a:p>
                  </a:txBody>
                  <a:tcPr marL="5778" marR="5778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0243003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AdTech EBITDA</a:t>
                      </a:r>
                      <a:endParaRPr lang="en-US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fontAlgn="ctr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Значение, млрд руб.</a:t>
                      </a:r>
                      <a:endParaRPr lang="ru-RU" sz="1100" b="1" i="0" u="none" strike="noStrike" baseline="3000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0" marR="0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49%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1,43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1,56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1,94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3,4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4,3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5,1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FF45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290947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210,4%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92%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125%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146,97%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371140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chemeClr val="accent2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057018"/>
                  </a:ext>
                </a:extLst>
              </a:tr>
              <a:tr h="341058">
                <a:tc rowSpan="3">
                  <a:txBody>
                    <a:bodyPr/>
                    <a:lstStyle/>
                    <a:p>
                      <a:pPr marL="36000" marR="0" lvl="0" indent="0" algn="l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Инкрементальная выручка от некоммерческих поставщиков</a:t>
                      </a:r>
                    </a:p>
                  </a:txBody>
                  <a:tcPr marL="72000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Значение, млрд руб.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36000" algn="ctr" fontAlgn="ctr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21%</a:t>
                      </a: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 algn="r" rtl="0">
                        <a:buNone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0,51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0,63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0,77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  <a:endParaRPr lang="en-US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0,8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vl="0" algn="ctr" rtl="0">
                        <a:buNone/>
                      </a:pPr>
                      <a:endParaRPr lang="ru-RU" sz="1100" b="1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1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1,2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1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087936"/>
                          </a:solidFill>
                          <a:effectLst/>
                          <a:uLnTx/>
                          <a:uFillTx/>
                          <a:latin typeface="Arial" panose="020B0604020202020204" pitchFamily="34" charset="0"/>
                          <a:ea typeface="+mn-ea"/>
                          <a:cs typeface="+mn-cs"/>
                        </a:rPr>
                        <a:t>On track</a:t>
                      </a: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CCFF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81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% выполнения бюджета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121,19%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80%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121,74%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4750436"/>
                  </a:ext>
                </a:extLst>
              </a:tr>
              <a:tr h="341058">
                <a:tc vMerge="1">
                  <a:txBody>
                    <a:bodyPr/>
                    <a:lstStyle/>
                    <a:p>
                      <a:pPr marL="360000" marR="0" lvl="1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i="0" u="none" strike="noStrike" kern="1200" cap="none">
                        <a:solidFill>
                          <a:schemeClr val="accent2"/>
                        </a:solidFill>
                        <a:latin typeface="+mn-lt"/>
                        <a:ea typeface="Montserrat"/>
                        <a:cs typeface="Montserrat"/>
                        <a:sym typeface="Montserrat"/>
                      </a:endParaRP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36000" marR="0" lvl="1" indent="0" algn="l" defTabSz="914354" rtl="0" eaLnBrk="1" fontAlgn="ctr" latinLnBrk="0" hangingPunct="1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ru-RU" sz="1100" b="1" i="0" u="none" strike="noStrike" kern="120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  <a:ea typeface="+mn-ea"/>
                          <a:cs typeface="+mn-cs"/>
                          <a:sym typeface="Montserrat"/>
                        </a:rPr>
                        <a:t>Оценка (Выплата премии)</a:t>
                      </a:r>
                    </a:p>
                  </a:txBody>
                  <a:tcPr marL="0" marR="0" marT="0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36000" algn="ctr" fontAlgn="ctr"/>
                      <a:endParaRPr lang="ru-RU" sz="1100" b="1" i="0" u="none" strike="noStrike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tx1"/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noFill/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lvl="0" indent="0" algn="ctr" defTabSz="914354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 vMerge="1">
                  <a:txBody>
                    <a:bodyPr/>
                    <a:lstStyle/>
                    <a:p>
                      <a:endParaRPr lang="ru-RU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100" b="0" i="0" u="none" strike="noStrike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+mn-lt"/>
                      </a:endParaRPr>
                    </a:p>
                  </a:txBody>
                  <a:tcPr marL="0" marR="72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0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200" b="0" i="0" u="none" strike="noStrike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Calibri" panose="020F0502020204030204" pitchFamily="34" charset="0"/>
                        </a:rPr>
                        <a:t>150%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solidFill>
                      <a:srgbClr val="F2F2F2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 fontAlgn="ctr"/>
                      <a:endParaRPr lang="ru-RU" sz="1100" b="1" i="0" u="none" strike="noStrike">
                        <a:solidFill>
                          <a:srgbClr val="087936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5778" marR="5778" marT="5778" marB="0" anchor="ctr">
                    <a:lnL w="0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0">
                      <a:noFill/>
                    </a:lnTlToBr>
                    <a:lnBlToTr w="0"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1360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C54CBD42-8B3D-4B5C-8D9E-FA37F778EAED}"/>
              </a:ext>
            </a:extLst>
          </p:cNvPr>
          <p:cNvSpPr txBox="1"/>
          <p:nvPr/>
        </p:nvSpPr>
        <p:spPr>
          <a:xfrm>
            <a:off x="326464" y="3847656"/>
            <a:ext cx="102605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Расчет EBITDA, применимый к КПЭ выполняется без учета базовой выручки </a:t>
            </a:r>
            <a:r>
              <a:rPr kumimoji="0" lang="en-US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E-com</a:t>
            </a: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br>
              <a:rPr kumimoji="0" lang="en-US" sz="1200" b="0" i="1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</a:br>
            <a:r>
              <a:rPr kumimoji="0" lang="ru-RU" sz="1200" b="0" i="1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Расшифровка:</a:t>
            </a:r>
          </a:p>
        </p:txBody>
      </p:sp>
      <p:graphicFrame>
        <p:nvGraphicFramePr>
          <p:cNvPr id="11" name="Google Shape;315;p47">
            <a:extLst>
              <a:ext uri="{FF2B5EF4-FFF2-40B4-BE49-F238E27FC236}">
                <a16:creationId xmlns:a16="http://schemas.microsoft.com/office/drawing/2014/main" id="{424E3A06-3193-4916-98C3-B1A49BE3BD7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2365435"/>
              </p:ext>
            </p:extLst>
          </p:nvPr>
        </p:nvGraphicFramePr>
        <p:xfrm>
          <a:off x="364174" y="4259720"/>
          <a:ext cx="2867833" cy="191560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19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lt1"/>
                        </a:buClr>
                        <a:buSzPts val="800"/>
                        <a:buFont typeface="Montserrat"/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AdTech EBITDA, </a:t>
                      </a:r>
                      <a:r>
                        <a:rPr lang="ru-RU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1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1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4 830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946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1 616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1 499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253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(1 557)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845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1100" b="1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3 273</a:t>
                      </a:r>
                    </a:p>
                  </a:txBody>
                  <a:tcPr marL="0" marR="0" marT="0" marB="0" anchor="b">
                    <a:lnL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noFill/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Прямоугольник: скругленные углы 7">
            <a:extLst>
              <a:ext uri="{FF2B5EF4-FFF2-40B4-BE49-F238E27FC236}">
                <a16:creationId xmlns:a16="http://schemas.microsoft.com/office/drawing/2014/main" id="{DA39E7C9-4688-44BB-819A-7672B8A8DC45}"/>
              </a:ext>
            </a:extLst>
          </p:cNvPr>
          <p:cNvSpPr/>
          <p:nvPr/>
        </p:nvSpPr>
        <p:spPr>
          <a:xfrm rot="16200000">
            <a:off x="43676" y="4790599"/>
            <a:ext cx="385576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9" name="Прямоугольник: скругленные углы 8">
            <a:extLst>
              <a:ext uri="{FF2B5EF4-FFF2-40B4-BE49-F238E27FC236}">
                <a16:creationId xmlns:a16="http://schemas.microsoft.com/office/drawing/2014/main" id="{1E46B5DC-FF39-41BA-9F91-CE8DE528923E}"/>
              </a:ext>
            </a:extLst>
          </p:cNvPr>
          <p:cNvSpPr/>
          <p:nvPr/>
        </p:nvSpPr>
        <p:spPr>
          <a:xfrm rot="16200000">
            <a:off x="-48515" y="5334907"/>
            <a:ext cx="56996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7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3289171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9M 2026 MAGNIT ADS YTD BU vs YTD ACT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+2 168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(1 888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(278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+1 395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поставщикам (508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(133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(754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ФОТ +20 млн руб.: рекласс ФОТ в CAPEX в сентябре, индексация (+22 млн руб.); перерасход по премиям и STI (-66 млн руб.), отпускным (-47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(+254 млн руб.), по вознаграждениям РА (+91 млн руб.), маркетинг ВГО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ноутбуках и облачном хранении данных (+31 млн руб.), сдвиг по рекламному сбору (+25 млн руб.), подбор, обучение, HR-бренд (+13 млн руб.), резерв отпусков (-28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ФОТ, частично компенсирован реклассом ФОТ в CAPEX в сентябре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закупке оборудования +281 млн руб. Экономия за счет снижения тендерной цены закупки +102 млн руб.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61411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51174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3224118588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YTD 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2 048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3 215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3 368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1 395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3 563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1 888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1 499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(1 955)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(791)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(771)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5 161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3 961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(1 070)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4 566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4 436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1 657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1 564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Сентябрь 2026 Magnit ADS financial review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ACT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411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111%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227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46%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523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79%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150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163%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289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(577)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503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-87%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-145%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(468)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362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-77%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(1)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17%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1 109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1 026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1 236%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(243)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(423)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74%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(216)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494%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(160)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686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846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 (206)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707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914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557075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+296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(147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не-поставщикам (-1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+227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(-35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(18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(244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(+166 млн руб.); доначисление резерва STI (-16 млн руб.), отпускные (-7 млн руб.).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Экономия на закупке трафика для перепродажи (+325 млн руб.), по вознаграждениям РА (+31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(-2 млн руб.), резерв отпусков (-5 млн руб.), аренда (+2 млн руб.), IT (+1 млн руб.)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sz="1100" kern="0">
                <a:solidFill>
                  <a:srgbClr val="000000"/>
                </a:solidFill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Рекласс ФОТ в CAPEX (-180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целевая система управления медиаконтентом (206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28" name="Овал 8">
            <a:extLst>
              <a:ext uri="{FF2B5EF4-FFF2-40B4-BE49-F238E27FC236}">
                <a16:creationId xmlns:a16="http://schemas.microsoft.com/office/drawing/2014/main" id="{6DD61664-2957-4AE6-956B-768D34D413C8}"/>
              </a:ext>
            </a:extLst>
          </p:cNvPr>
          <p:cNvSpPr/>
          <p:nvPr/>
        </p:nvSpPr>
        <p:spPr>
          <a:xfrm>
            <a:off x="6763736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0BB0E809-DE6D-433D-B29F-A88526481BA8}"/>
              </a:ext>
            </a:extLst>
          </p:cNvPr>
          <p:cNvSpPr/>
          <p:nvPr/>
        </p:nvSpPr>
        <p:spPr>
          <a:xfrm>
            <a:off x="6763736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0" name="Овал 8">
            <a:extLst>
              <a:ext uri="{FF2B5EF4-FFF2-40B4-BE49-F238E27FC236}">
                <a16:creationId xmlns:a16="http://schemas.microsoft.com/office/drawing/2014/main" id="{5457E264-C436-47F0-8CD9-C364A845370E}"/>
              </a:ext>
            </a:extLst>
          </p:cNvPr>
          <p:cNvSpPr/>
          <p:nvPr/>
        </p:nvSpPr>
        <p:spPr>
          <a:xfrm>
            <a:off x="6763736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31" name="Овал 8">
            <a:extLst>
              <a:ext uri="{FF2B5EF4-FFF2-40B4-BE49-F238E27FC236}">
                <a16:creationId xmlns:a16="http://schemas.microsoft.com/office/drawing/2014/main" id="{24569A11-7FD3-4A55-BE8D-493888BBBB63}"/>
              </a:ext>
            </a:extLst>
          </p:cNvPr>
          <p:cNvSpPr/>
          <p:nvPr/>
        </p:nvSpPr>
        <p:spPr>
          <a:xfrm>
            <a:off x="6763736" y="3104274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32" name="Овал 8">
            <a:extLst>
              <a:ext uri="{FF2B5EF4-FFF2-40B4-BE49-F238E27FC236}">
                <a16:creationId xmlns:a16="http://schemas.microsoft.com/office/drawing/2014/main" id="{918442A0-B014-4841-B4A2-2735753C9202}"/>
              </a:ext>
            </a:extLst>
          </p:cNvPr>
          <p:cNvSpPr/>
          <p:nvPr/>
        </p:nvSpPr>
        <p:spPr>
          <a:xfrm>
            <a:off x="6763736" y="360756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34" name="Овал 8">
            <a:extLst>
              <a:ext uri="{FF2B5EF4-FFF2-40B4-BE49-F238E27FC236}">
                <a16:creationId xmlns:a16="http://schemas.microsoft.com/office/drawing/2014/main" id="{D28840EB-76EB-4C10-A67D-23E9A5CED7EC}"/>
              </a:ext>
            </a:extLst>
          </p:cNvPr>
          <p:cNvSpPr/>
          <p:nvPr/>
        </p:nvSpPr>
        <p:spPr>
          <a:xfrm>
            <a:off x="6763736" y="4110838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35" name="Овал 8">
            <a:extLst>
              <a:ext uri="{FF2B5EF4-FFF2-40B4-BE49-F238E27FC236}">
                <a16:creationId xmlns:a16="http://schemas.microsoft.com/office/drawing/2014/main" id="{B3EA53C5-2A57-48DB-A16F-12780C0A4892}"/>
              </a:ext>
            </a:extLst>
          </p:cNvPr>
          <p:cNvSpPr/>
          <p:nvPr/>
        </p:nvSpPr>
        <p:spPr>
          <a:xfrm>
            <a:off x="6763736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70009311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AT FIN SEP 2026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80488153"/>
              </p:ext>
            </p:extLst>
          </p:nvPr>
        </p:nvGraphicFramePr>
        <p:xfrm>
          <a:off x="665927" y="601465"/>
          <a:ext cx="5659900" cy="2366749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Выручка, 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Авг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Сен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9М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Доля 9М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401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3 496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52%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Digital Instore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241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422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1 666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Online+DMP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DMP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Пакеты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ФинТех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39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92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Другое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276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POSM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Прочее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18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&lt;1%</a:t>
                      </a: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964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1 183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6 718</a:t>
                      </a:r>
                      <a:endParaRPr lang="ru-RU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65927" y="3218214"/>
            <a:ext cx="5659900" cy="240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Сентябрь: 1 183 млн руб. (+219 млн руб., +23% к августу)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Digital Instore +181 млн руб., Online+DMP +71 млн руб., E-comm +57 млн руб.,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разовых: ФинТех (-13), пакеты (-29), «Другое» (-38)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None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9М 2026: 6 718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E-comm — 52%, Digital Instore — 25%, Online+DMP — 11% выручки</a:t>
            </a:r>
          </a:p>
        </p:txBody>
      </p:sp>
      <p:sp>
        <p:nvSpPr>
          <p:cNvPr id="26" name="Chart title">
            <a:extLst>
              <a:ext uri="{FF2B5EF4-FFF2-40B4-BE49-F238E27FC236}">
                <a16:creationId xmlns:a16="http://schemas.microsoft.com/office/drawing/2014/main" id="{CACE9DCB-4453-443B-B7EC-B94BB7C247F5}"/>
              </a:ext>
            </a:extLst>
          </p:cNvPr>
          <p:cNvSpPr txBox="1"/>
          <p:nvPr/>
        </p:nvSpPr>
        <p:spPr>
          <a:xfrm>
            <a:off x="6784848" y="643938"/>
            <a:ext cx="5042977" cy="34000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Выручка по направлениям, млн руб.</a:t>
            </a:r>
          </a:p>
        </p:txBody>
      </p:sp>
      <p:graphicFrame>
        <p:nvGraphicFramePr>
          <p:cNvPr id="328" name="Revenue by direction"/>
          <p:cNvGraphicFramePr>
            <a:graphicFrameLocks noGrp="1"/>
          </p:cNvGraphicFramePr>
          <p:nvPr/>
        </p:nvGraphicFramePr>
        <p:xfrm>
          <a:off x="6700000" y="1050000"/>
          <a:ext cx="5200000" cy="5150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  <p:extLst>
      <p:ext uri="{BB962C8B-B14F-4D97-AF65-F5344CB8AC3E}">
        <p14:creationId xmlns:p14="http://schemas.microsoft.com/office/powerpoint/2010/main" val="36129259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ru-RU"/>
              <a:t>9+3 FC 2026 MAGNIT ADS: BU vs FC (год)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+4 141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(3 150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(932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(59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+614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(-549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(1 005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(158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Оплата труда +104 млн руб. (рекласс ФОТ в CAPEX), индексация не закладывается (+49 млн руб.); премии и резерв STI (-112 млн руб.), отпускные (-72 млн руб.), налоги (-12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для перепродажи (+306 млн руб.), вознаграждения РА (+91 млн руб.), маркетинг ВГО (-27 млн руб.), PR/GR (+14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(+36 млн руб.), IT: ноутбуки и облачное хранение (+41 млн руб.), резерв отпусков (-22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Сдвиг по капитализации ФОТ за 9 мес. (+93 млн руб.), Q4 — по бюджету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Целевая система управления медиаконтентом (+227 млн руб.), фасадные экраны ТТ (+93 млн руб.), интеграция с КСО (+67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2026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9+3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3 515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1 734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4 141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4 113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4 728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614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5 847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10 602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4 755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3 150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809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2 333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(549)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1 531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2 535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1 005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(2 789)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(2 382)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(1 088)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(1 131)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(1 519)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(1 140)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(92)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(59)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(18)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3 058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8 220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5 162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(1 180)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(704)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475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(447)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(733)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(350)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-52%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1 878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7 516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5 637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725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3 286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2 561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hink-cell data - do not delete" hidden="1">
            <a:extLst>
              <a:ext uri="{FF2B5EF4-FFF2-40B4-BE49-F238E27FC236}">
                <a16:creationId xmlns:a16="http://schemas.microsoft.com/office/drawing/2014/main" id="{192AC1EC-B823-4BF0-B26A-C9D7B3071C0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5344221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92AC1EC-B823-4BF0-B26A-C9D7B3071C0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27" name="Google Shape;327;p48"/>
          <p:cNvSpPr txBox="1"/>
          <p:nvPr/>
        </p:nvSpPr>
        <p:spPr>
          <a:xfrm>
            <a:off x="240345" y="53157"/>
            <a:ext cx="11403457" cy="6324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100"/>
              <a:buFont typeface="Arial"/>
              <a:buNone/>
              <a:tabLst/>
              <a:defRPr/>
            </a:pPr>
            <a:endParaRPr kumimoji="0" lang="ru-RU" sz="1467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E48C7187-18FD-44A4-814C-AEACFE627CC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4176" y="225092"/>
            <a:ext cx="10594970" cy="313385"/>
          </a:xfrm>
        </p:spPr>
        <p:txBody>
          <a:bodyPr/>
          <a:lstStyle/>
          <a:p>
            <a:r>
              <a:rPr lang="en-US"/>
              <a:t>Q4 2026 (YTG) MAGNIT ADS: BU vs FC</a:t>
            </a:r>
          </a:p>
        </p:txBody>
      </p:sp>
      <p:sp>
        <p:nvSpPr>
          <p:cNvPr id="8" name="Номер слайда 2">
            <a:extLst>
              <a:ext uri="{FF2B5EF4-FFF2-40B4-BE49-F238E27FC236}">
                <a16:creationId xmlns:a16="http://schemas.microsoft.com/office/drawing/2014/main" id="{97AE4444-1457-4A8B-8FBC-FFEE0CE7E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42050" y="6362699"/>
            <a:ext cx="485775" cy="266700"/>
          </a:xfrm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120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ru-RU" sz="9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AEEA04-9C1D-4033-BDAE-A573C4676EE5}"/>
              </a:ext>
            </a:extLst>
          </p:cNvPr>
          <p:cNvSpPr txBox="1"/>
          <p:nvPr/>
        </p:nvSpPr>
        <p:spPr>
          <a:xfrm>
            <a:off x="6629400" y="643938"/>
            <a:ext cx="5452311" cy="590931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E-com revenue +1 973 млн руб.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Выручка поставщиков FT (1 262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(654 млн руб.), 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(58 млн руб.)</a:t>
            </a:r>
          </a:p>
          <a:p>
            <a:pPr marL="447675" marR="0" lvl="2" indent="-18256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0" indent="-265113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Non-E-com revenue -781 млн руб.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снижение реализации поставщикам (-1 057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реклама неактивным в 2025 г. поставщикам (251 млн руб.), </a:t>
            </a:r>
          </a:p>
          <a:p>
            <a:pPr marL="446088" marR="0" lvl="0" indent="-18097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увеличение реализации не-поставщикам (25 млн руб.)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2" marR="0" lvl="2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Индексация не закладывается (+28 млн руб.); премии и резерв STI (-46 млн руб.), отпускные (-25 млн руб.), оплата труда (-14 млн руб.), налоги (-6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Закупка трафика MIP (+52 млн руб.), маркетинг ВГО (-5 млн руб.), вознаграждения блогерам (-2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Рекламный сбор (+11 млн руб.), IT (+9 млн руб.), резерв отпусков (+7 млн руб.).</a:t>
            </a: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Montserrat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бюджету: капитализация ФОТ ~36 млн руб. в месяц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/>
              <a:sym typeface="Arial"/>
            </a:endParaRPr>
          </a:p>
          <a:p>
            <a:pPr marL="265113" marR="0" lvl="2" indent="-179388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1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По бюджету (в Q4 закупок не запланировано)</a:t>
            </a:r>
            <a:endParaRPr kumimoji="0" lang="ru-RU" sz="11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 pitchFamily="34" charset="0"/>
              <a:sym typeface="Arial"/>
            </a:endParaRPr>
          </a:p>
        </p:txBody>
      </p:sp>
      <p:sp>
        <p:nvSpPr>
          <p:cNvPr id="10" name="Овал 8">
            <a:extLst>
              <a:ext uri="{FF2B5EF4-FFF2-40B4-BE49-F238E27FC236}">
                <a16:creationId xmlns:a16="http://schemas.microsoft.com/office/drawing/2014/main" id="{8889FAF7-B4E1-451B-8947-E8401226A369}"/>
              </a:ext>
            </a:extLst>
          </p:cNvPr>
          <p:cNvSpPr/>
          <p:nvPr/>
        </p:nvSpPr>
        <p:spPr>
          <a:xfrm>
            <a:off x="421597" y="12674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1" name="Овал 15">
            <a:extLst>
              <a:ext uri="{FF2B5EF4-FFF2-40B4-BE49-F238E27FC236}">
                <a16:creationId xmlns:a16="http://schemas.microsoft.com/office/drawing/2014/main" id="{19826D86-69FF-4986-A814-CEB8EA3B1CFD}"/>
              </a:ext>
            </a:extLst>
          </p:cNvPr>
          <p:cNvSpPr/>
          <p:nvPr/>
        </p:nvSpPr>
        <p:spPr>
          <a:xfrm>
            <a:off x="421597" y="1513902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2" name="Овал 8">
            <a:extLst>
              <a:ext uri="{FF2B5EF4-FFF2-40B4-BE49-F238E27FC236}">
                <a16:creationId xmlns:a16="http://schemas.microsoft.com/office/drawing/2014/main" id="{02F64E21-B7F4-4B67-B185-A343A5857B91}"/>
              </a:ext>
            </a:extLst>
          </p:cNvPr>
          <p:cNvSpPr/>
          <p:nvPr/>
        </p:nvSpPr>
        <p:spPr>
          <a:xfrm>
            <a:off x="421597" y="387736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3" name="Овал 8">
            <a:extLst>
              <a:ext uri="{FF2B5EF4-FFF2-40B4-BE49-F238E27FC236}">
                <a16:creationId xmlns:a16="http://schemas.microsoft.com/office/drawing/2014/main" id="{A6279F2B-4BDD-4BA1-A7C4-E4D3B7F2AB20}"/>
              </a:ext>
            </a:extLst>
          </p:cNvPr>
          <p:cNvSpPr/>
          <p:nvPr/>
        </p:nvSpPr>
        <p:spPr>
          <a:xfrm>
            <a:off x="421597" y="4282031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14" name="Овал 8">
            <a:extLst>
              <a:ext uri="{FF2B5EF4-FFF2-40B4-BE49-F238E27FC236}">
                <a16:creationId xmlns:a16="http://schemas.microsoft.com/office/drawing/2014/main" id="{FA1236AB-4DC6-461D-B7C2-F46E8ABD5A66}"/>
              </a:ext>
            </a:extLst>
          </p:cNvPr>
          <p:cNvSpPr/>
          <p:nvPr/>
        </p:nvSpPr>
        <p:spPr>
          <a:xfrm>
            <a:off x="421597" y="450193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15" name="Овал 8">
            <a:extLst>
              <a:ext uri="{FF2B5EF4-FFF2-40B4-BE49-F238E27FC236}">
                <a16:creationId xmlns:a16="http://schemas.microsoft.com/office/drawing/2014/main" id="{1430FF61-C52C-4A41-88F7-946ACD388A92}"/>
              </a:ext>
            </a:extLst>
          </p:cNvPr>
          <p:cNvSpPr/>
          <p:nvPr/>
        </p:nvSpPr>
        <p:spPr>
          <a:xfrm>
            <a:off x="6629400" y="10911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1</a:t>
            </a:r>
          </a:p>
        </p:txBody>
      </p:sp>
      <p:sp>
        <p:nvSpPr>
          <p:cNvPr id="16" name="Овал 15">
            <a:extLst>
              <a:ext uri="{FF2B5EF4-FFF2-40B4-BE49-F238E27FC236}">
                <a16:creationId xmlns:a16="http://schemas.microsoft.com/office/drawing/2014/main" id="{226CD9A3-30BA-4EBC-8975-4E85F3F2FFAA}"/>
              </a:ext>
            </a:extLst>
          </p:cNvPr>
          <p:cNvSpPr/>
          <p:nvPr/>
        </p:nvSpPr>
        <p:spPr>
          <a:xfrm>
            <a:off x="6629400" y="1929956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2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18" name="Овал 8">
            <a:extLst>
              <a:ext uri="{FF2B5EF4-FFF2-40B4-BE49-F238E27FC236}">
                <a16:creationId xmlns:a16="http://schemas.microsoft.com/office/drawing/2014/main" id="{5CFE44FA-4804-473E-9017-9C8D85C4C481}"/>
              </a:ext>
            </a:extLst>
          </p:cNvPr>
          <p:cNvSpPr/>
          <p:nvPr/>
        </p:nvSpPr>
        <p:spPr>
          <a:xfrm>
            <a:off x="421597" y="536128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19" name="Овал 8">
            <a:extLst>
              <a:ext uri="{FF2B5EF4-FFF2-40B4-BE49-F238E27FC236}">
                <a16:creationId xmlns:a16="http://schemas.microsoft.com/office/drawing/2014/main" id="{D097829D-48F1-44DB-8792-096A20C04808}"/>
              </a:ext>
            </a:extLst>
          </p:cNvPr>
          <p:cNvSpPr/>
          <p:nvPr/>
        </p:nvSpPr>
        <p:spPr>
          <a:xfrm>
            <a:off x="421597" y="558584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sp>
        <p:nvSpPr>
          <p:cNvPr id="20" name="Овал 8">
            <a:extLst>
              <a:ext uri="{FF2B5EF4-FFF2-40B4-BE49-F238E27FC236}">
                <a16:creationId xmlns:a16="http://schemas.microsoft.com/office/drawing/2014/main" id="{A6706867-0F12-4550-AA81-1C9C0FAEC80D}"/>
              </a:ext>
            </a:extLst>
          </p:cNvPr>
          <p:cNvSpPr/>
          <p:nvPr/>
        </p:nvSpPr>
        <p:spPr>
          <a:xfrm>
            <a:off x="6629400" y="276875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3</a:t>
            </a:r>
            <a:endParaRPr kumimoji="0" lang="ru-RU" sz="1050" b="0" i="0" u="none" strike="noStrike" kern="1200" cap="none" spc="0" normalizeH="0" baseline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sym typeface="Arial"/>
            </a:endParaRPr>
          </a:p>
        </p:txBody>
      </p:sp>
      <p:sp>
        <p:nvSpPr>
          <p:cNvPr id="21" name="Овал 8">
            <a:extLst>
              <a:ext uri="{FF2B5EF4-FFF2-40B4-BE49-F238E27FC236}">
                <a16:creationId xmlns:a16="http://schemas.microsoft.com/office/drawing/2014/main" id="{A637FDDC-FD83-4F35-9D5F-A91657E30783}"/>
              </a:ext>
            </a:extLst>
          </p:cNvPr>
          <p:cNvSpPr/>
          <p:nvPr/>
        </p:nvSpPr>
        <p:spPr>
          <a:xfrm>
            <a:off x="6629400" y="3439795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4</a:t>
            </a:r>
          </a:p>
        </p:txBody>
      </p:sp>
      <p:sp>
        <p:nvSpPr>
          <p:cNvPr id="22" name="Овал 8">
            <a:extLst>
              <a:ext uri="{FF2B5EF4-FFF2-40B4-BE49-F238E27FC236}">
                <a16:creationId xmlns:a16="http://schemas.microsoft.com/office/drawing/2014/main" id="{F6D58699-F374-4F86-A33B-084B4231D36D}"/>
              </a:ext>
            </a:extLst>
          </p:cNvPr>
          <p:cNvSpPr/>
          <p:nvPr/>
        </p:nvSpPr>
        <p:spPr>
          <a:xfrm>
            <a:off x="6629400" y="3943083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5</a:t>
            </a:r>
          </a:p>
        </p:txBody>
      </p:sp>
      <p:sp>
        <p:nvSpPr>
          <p:cNvPr id="24" name="Овал 8">
            <a:extLst>
              <a:ext uri="{FF2B5EF4-FFF2-40B4-BE49-F238E27FC236}">
                <a16:creationId xmlns:a16="http://schemas.microsoft.com/office/drawing/2014/main" id="{1A7E6BA3-BEA1-4425-B7CB-E6F2E37DFDFE}"/>
              </a:ext>
            </a:extLst>
          </p:cNvPr>
          <p:cNvSpPr/>
          <p:nvPr/>
        </p:nvSpPr>
        <p:spPr>
          <a:xfrm>
            <a:off x="6629400" y="4446359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6</a:t>
            </a:r>
          </a:p>
        </p:txBody>
      </p:sp>
      <p:sp>
        <p:nvSpPr>
          <p:cNvPr id="25" name="Овал 8">
            <a:extLst>
              <a:ext uri="{FF2B5EF4-FFF2-40B4-BE49-F238E27FC236}">
                <a16:creationId xmlns:a16="http://schemas.microsoft.com/office/drawing/2014/main" id="{B1D488A2-2A48-4BA5-A8AD-911EBB7248D3}"/>
              </a:ext>
            </a:extLst>
          </p:cNvPr>
          <p:cNvSpPr/>
          <p:nvPr/>
        </p:nvSpPr>
        <p:spPr>
          <a:xfrm>
            <a:off x="6629400" y="4781880"/>
            <a:ext cx="180000" cy="180000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050" b="0" i="0" u="none" strike="noStrike" kern="1200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sym typeface="Arial"/>
              </a:rPr>
              <a:t>7</a:t>
            </a:r>
          </a:p>
        </p:txBody>
      </p:sp>
      <p:graphicFrame>
        <p:nvGraphicFramePr>
          <p:cNvPr id="326" name="Google Shape;326;p48"/>
          <p:cNvGraphicFramePr/>
          <p:nvPr>
            <p:extLst>
              <p:ext uri="{D42A27DB-BD31-4B8C-83A1-F6EECF244321}">
                <p14:modId xmlns:p14="http://schemas.microsoft.com/office/powerpoint/2010/main" val="549052267"/>
              </p:ext>
            </p:extLst>
          </p:nvPr>
        </p:nvGraphicFramePr>
        <p:xfrm>
          <a:off x="665927" y="601465"/>
          <a:ext cx="5659900" cy="5594134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248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3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PL, </a:t>
                      </a: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млн руб.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BU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Q4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 vs BU</a:t>
                      </a:r>
                      <a:endParaRPr lang="en-US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u="none" strike="noStrike" cap="none">
                          <a:solidFill>
                            <a:schemeClr val="tx2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%</a:t>
                      </a:r>
                      <a:endParaRPr lang="ru-RU" sz="1100" b="1" i="0" u="none" strike="noStrike" cap="none">
                        <a:solidFill>
                          <a:schemeClr val="tx2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Incremental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1 466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2 454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987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Non-vendor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366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2 524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1 973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Non-E-com Revenue</a:t>
                      </a:r>
                      <a:endParaRPr lang="en-US" sz="15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2 140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1 360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(781)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Gross Revenue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2 692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3 884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1 192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44%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1 262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316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969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207%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294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168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(1 057)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-86%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785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1 036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32%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поставщики/База 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Не поставщики/Инкремент</a:t>
                      </a:r>
                      <a:endParaRPr lang="ru-RU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130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(834)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(825)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(297)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(360)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(63)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21%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-42%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Marketing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(472)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(427)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45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Other OPEX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(30)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(20)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-35%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IT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(15)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(6)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-62%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1 858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3 059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65%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CAPEX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AT Platform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(109)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In-store digital</a:t>
                      </a:r>
                      <a:endParaRPr lang="en-US" sz="1100" b="0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 -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0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100%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accent4"/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FCF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1 748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2 950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1 201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69%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5159">
                <a:tc>
                  <a:txBody>
                    <a:bodyPr/>
                    <a:lstStyle/>
                    <a:p>
                      <a:pPr marL="2540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b="1" u="none" strike="noStrike" cap="none"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Increment EBITDA</a:t>
                      </a:r>
                      <a:endParaRPr lang="en-US" sz="1100" b="1" i="0" u="none" strike="noStrike" cap="none">
                        <a:solidFill>
                          <a:srgbClr val="000000"/>
                        </a:solidFill>
                        <a:latin typeface="+mn-lt"/>
                        <a:ea typeface="Montserrat"/>
                        <a:cs typeface="Arial" panose="020B0604020202020204" pitchFamily="34" charset="0"/>
                        <a:sym typeface="Montserra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632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1 629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-RU" sz="1100">
                        <a:latin typeface="+mn-lt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cs typeface="Arial" panose="020B0604020202020204" pitchFamily="34" charset="0"/>
                          <a:sym typeface="Montserrat"/>
                        </a:rPr>
                        <a:t>997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100" b="1" i="0" u="none" strike="noStrike" cap="none">
                          <a:solidFill>
                            <a:srgbClr val="000000"/>
                          </a:solidFill>
                          <a:latin typeface="+mn-lt"/>
                          <a:ea typeface="Montserrat"/>
                          <a:cs typeface="Arial" panose="020B0604020202020204" pitchFamily="34" charset="0"/>
                          <a:sym typeface="Montserrat"/>
                        </a:rPr>
                        <a:t>158%</a:t>
                      </a:r>
                      <a:endParaRPr lang="ru-RU" sz="1100">
                        <a:latin typeface="+mn-lt"/>
                        <a:cs typeface="Arial" panose="020B0604020202020204" pitchFamily="34" charset="0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bg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D8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</a:tbl>
          </a:graphicData>
        </a:graphic>
      </p:graphicFrame>
      <p:sp>
        <p:nvSpPr>
          <p:cNvPr id="4" name="Прямоугольник: скругленные углы 3">
            <a:extLst>
              <a:ext uri="{FF2B5EF4-FFF2-40B4-BE49-F238E27FC236}">
                <a16:creationId xmlns:a16="http://schemas.microsoft.com/office/drawing/2014/main" id="{3529FB5C-8AF3-439F-83C1-867730042278}"/>
              </a:ext>
            </a:extLst>
          </p:cNvPr>
          <p:cNvSpPr/>
          <p:nvPr/>
        </p:nvSpPr>
        <p:spPr>
          <a:xfrm rot="16200000">
            <a:off x="97172" y="2219727"/>
            <a:ext cx="828850" cy="180000"/>
          </a:xfrm>
          <a:prstGeom prst="roundRect">
            <a:avLst/>
          </a:prstGeom>
          <a:noFill/>
          <a:ln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FF452C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E-COM</a:t>
            </a:r>
          </a:p>
        </p:txBody>
      </p:sp>
      <p:sp>
        <p:nvSpPr>
          <p:cNvPr id="27" name="Прямоугольник: скругленные углы 26">
            <a:extLst>
              <a:ext uri="{FF2B5EF4-FFF2-40B4-BE49-F238E27FC236}">
                <a16:creationId xmlns:a16="http://schemas.microsoft.com/office/drawing/2014/main" id="{E2449E2A-1DA6-482F-98B6-D5691C4F7BCE}"/>
              </a:ext>
            </a:extLst>
          </p:cNvPr>
          <p:cNvSpPr/>
          <p:nvPr/>
        </p:nvSpPr>
        <p:spPr>
          <a:xfrm rot="16200000">
            <a:off x="87362" y="3102988"/>
            <a:ext cx="848471" cy="180000"/>
          </a:xfrm>
          <a:prstGeom prst="round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900" b="1" i="0" u="none" strike="noStrike" kern="0" cap="none" spc="0" normalizeH="0" baseline="0">
                <a:ln>
                  <a:noFill/>
                </a:ln>
                <a:solidFill>
                  <a:srgbClr val="999999"/>
                </a:solidFill>
                <a:effectLst/>
                <a:uLnTx/>
                <a:uFillTx/>
                <a:latin typeface="Arial" panose="020B0604020202020204"/>
                <a:sym typeface="Arial"/>
              </a:rPr>
              <a:t>NON-E-COM</a:t>
            </a:r>
          </a:p>
        </p:txBody>
      </p:sp>
    </p:spTree>
    <p:extLst>
      <p:ext uri="{BB962C8B-B14F-4D97-AF65-F5344CB8AC3E}">
        <p14:creationId xmlns:p14="http://schemas.microsoft.com/office/powerpoint/2010/main" val="2201540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143C22B8-F547-4826-81BC-55F958EEDE93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108603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Слайд think-cell" r:id="rId3" imgW="395" imgH="394" progId="TCLayout.ActiveDocument.1">
                  <p:embed/>
                </p:oleObj>
              </mc:Choice>
              <mc:Fallback>
                <p:oleObj name="Слайд think-cell" r:id="rId3" imgW="395" imgH="394" progId="TCLayout.ActiveDocument.1">
                  <p:embed/>
                  <p:pic>
                    <p:nvPicPr>
                      <p:cNvPr id="6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143C22B8-F547-4826-81BC-55F958EEDE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Текст 1">
            <a:extLst>
              <a:ext uri="{FF2B5EF4-FFF2-40B4-BE49-F238E27FC236}">
                <a16:creationId xmlns:a16="http://schemas.microsoft.com/office/drawing/2014/main" id="{6B3273D9-68C1-40FC-80A5-CB5F19D4309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5F025F59-A55B-4047-B72D-C8F4BA7274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527D41D6-7756-D84E-A787-9DAD2BF0F149}" type="slidenum">
              <a:rPr kumimoji="0" lang="ru-RU" sz="900" b="0" i="0" u="none" strike="noStrike" kern="0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7</a:t>
            </a:fld>
            <a:endParaRPr kumimoji="0" lang="ru-RU" sz="900" b="0" i="0" u="none" strike="noStrike" kern="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Arial"/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937F061-B44F-4053-964C-EB1C5E55D81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ru-RU"/>
              <a:t>Обзор основных метрик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BB0163E-06FD-45F7-9923-854A23C30E26}"/>
              </a:ext>
            </a:extLst>
          </p:cNvPr>
          <p:cNvSpPr txBox="1"/>
          <p:nvPr/>
        </p:nvSpPr>
        <p:spPr>
          <a:xfrm>
            <a:off x="6393164" y="643938"/>
            <a:ext cx="5434661" cy="1631216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600" b="1" i="0" u="none" strike="noStrike" kern="120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Комментарии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12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2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Revenue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Перевыполнение бюджетного таргета в 2026 г. на 4 755 млн руб. (факт 9М + прогноз), за счет: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Выручки поставщиков FT (3 150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E-com выручки сверх бюджета без учета FT (991 млн руб.)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1200" b="0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Montserrat"/>
                <a:cs typeface="Arial" panose="020B0604020202020204" pitchFamily="34" charset="0"/>
                <a:sym typeface="Montserrat"/>
              </a:rPr>
              <a:t>Роста продаж non-Ecom инвентаря (614 млн руб.)</a:t>
            </a:r>
          </a:p>
        </p:txBody>
      </p:sp>
      <p:graphicFrame>
        <p:nvGraphicFramePr>
          <p:cNvPr id="71" name="Диаграмма 70">
            <a:extLst>
              <a:ext uri="{FF2B5EF4-FFF2-40B4-BE49-F238E27FC236}">
                <a16:creationId xmlns:a16="http://schemas.microsoft.com/office/drawing/2014/main" id="{F76425C9-AAFC-4031-9659-0CDEE5871F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85505577"/>
              </p:ext>
            </p:extLst>
          </p:nvPr>
        </p:nvGraphicFramePr>
        <p:xfrm>
          <a:off x="364175" y="999459"/>
          <a:ext cx="5808025" cy="513887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2" name="TextBox 71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364175" y="643938"/>
            <a:ext cx="360176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AdTech Revenue, </a:t>
            </a: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млн руб.</a:t>
            </a:r>
          </a:p>
        </p:txBody>
      </p:sp>
      <p:sp>
        <p:nvSpPr>
          <p:cNvPr id="5" name="Bridge title">
            <a:extLst>
              <a:ext uri="{FF2B5EF4-FFF2-40B4-BE49-F238E27FC236}">
                <a16:creationId xmlns:a16="http://schemas.microsoft.com/office/drawing/2014/main" id="{6871B758-2E97-49FC-878B-F21BEA0E16A7}"/>
              </a:ext>
            </a:extLst>
          </p:cNvPr>
          <p:cNvSpPr txBox="1"/>
          <p:nvPr/>
        </p:nvSpPr>
        <p:spPr>
          <a:xfrm>
            <a:off x="6300000" y="2431837"/>
            <a:ext cx="543466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ru-RU" sz="1600" b="1" i="0" u="none" strike="noStrike" kern="0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Мост EBITDA: бюджет → прогноз 9+3, млн руб.</a:t>
            </a:r>
          </a:p>
        </p:txBody>
      </p:sp>
      <p:graphicFrame>
        <p:nvGraphicFramePr>
          <p:cNvPr id="73" name="EBITDA bridg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4819361"/>
              </p:ext>
            </p:extLst>
          </p:nvPr>
        </p:nvGraphicFramePr>
        <p:xfrm>
          <a:off x="6393164" y="2801837"/>
          <a:ext cx="5434661" cy="323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</p:spTree>
    <p:extLst>
      <p:ext uri="{BB962C8B-B14F-4D97-AF65-F5344CB8AC3E}">
        <p14:creationId xmlns:p14="http://schemas.microsoft.com/office/powerpoint/2010/main" val="33392121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7_Тема Office">
  <a:themeElements>
    <a:clrScheme name="Пользовательские 5">
      <a:dk1>
        <a:srgbClr val="000000"/>
      </a:dk1>
      <a:lt1>
        <a:srgbClr val="FFFFFF"/>
      </a:lt1>
      <a:dk2>
        <a:srgbClr val="FF452C"/>
      </a:dk2>
      <a:lt2>
        <a:srgbClr val="FFFEFF"/>
      </a:lt2>
      <a:accent1>
        <a:srgbClr val="FF452C"/>
      </a:accent1>
      <a:accent2>
        <a:srgbClr val="999999"/>
      </a:accent2>
      <a:accent3>
        <a:srgbClr val="FEA296"/>
      </a:accent3>
      <a:accent4>
        <a:srgbClr val="CCCCCC"/>
      </a:accent4>
      <a:accent5>
        <a:srgbClr val="FE7460"/>
      </a:accent5>
      <a:accent6>
        <a:srgbClr val="E4E4E4"/>
      </a:accent6>
      <a:hlink>
        <a:srgbClr val="0963FA"/>
      </a:hlink>
      <a:folHlink>
        <a:srgbClr val="9FD1F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5813DC4-6E6A-334C-8A92-F7C8F4D76641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2f2751-92b3-472b-badd-636cf7a347c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1991</TotalTime>
  <Words>2357</Words>
  <Application>Microsoft Macintosh PowerPoint</Application>
  <PresentationFormat>Widescreen</PresentationFormat>
  <Paragraphs>803</Paragraphs>
  <Slides>7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Arha Magnit</vt:lpstr>
      <vt:lpstr>Arial</vt:lpstr>
      <vt:lpstr>Calibri</vt:lpstr>
      <vt:lpstr>Montserrat</vt:lpstr>
      <vt:lpstr>Montserrat Medium</vt:lpstr>
      <vt:lpstr>7_Тема Office</vt:lpstr>
      <vt:lpstr>think-cell Slide</vt:lpstr>
      <vt:lpstr>Слайд think-cell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Бабкин Денис Владимирович</dc:creator>
  <cp:keywords/>
  <dc:description/>
  <cp:lastModifiedBy>Бабкин Денис Владимирович</cp:lastModifiedBy>
  <cp:revision>40</cp:revision>
  <dcterms:created xsi:type="dcterms:W3CDTF">2026-10-05T11:53:56Z</dcterms:created>
  <dcterms:modified xsi:type="dcterms:W3CDTF">2026-10-19T11:54:27Z</dcterms:modified>
  <cp:category/>
</cp:coreProperties>
</file>