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147480845" r:id="rId2"/>
    <p:sldId id="2147480847" r:id="rId3"/>
    <p:sldId id="2147480846" r:id="rId4"/>
    <p:sldId id="2147480851" r:id="rId5"/>
    <p:sldId id="2147480850" r:id="rId6"/>
    <p:sldId id="2147480848" r:id="rId7"/>
    <p:sldId id="2147480849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3E0"/>
    <a:srgbClr val="595959"/>
    <a:srgbClr val="FF452B"/>
    <a:srgbClr val="FDE1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59"/>
    <p:restoredTop sz="94694"/>
  </p:normalViewPr>
  <p:slideViewPr>
    <p:cSldViewPr snapToGrid="0">
      <p:cViewPr varScale="1">
        <p:scale>
          <a:sx n="121" d="100"/>
          <a:sy n="121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E-comm</c:v>
                </c:pt>
              </c:strCache>
            </c:strRef>
          </c:tx>
          <c:spPr>
            <a:solidFill>
              <a:srgbClr val="262626"/>
            </a:solidFill>
          </c:spPr>
          <c:invertIfNegative val="1"/>
          <c:cat>
            <c:strRef>
              <c:f>Sheet1!$A$2:$A$10</c:f>
              <c:strCache>
                <c:ptCount val="9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145.30000000000001</c:v>
                </c:pt>
                <c:pt idx="1">
                  <c:v>276.39999999999998</c:v>
                </c:pt>
                <c:pt idx="2">
                  <c:v>283.89999999999998</c:v>
                </c:pt>
                <c:pt idx="3">
                  <c:v>346.9</c:v>
                </c:pt>
                <c:pt idx="4">
                  <c:v>446.9</c:v>
                </c:pt>
                <c:pt idx="5">
                  <c:v>649.79999999999995</c:v>
                </c:pt>
                <c:pt idx="6">
                  <c:v>488</c:v>
                </c:pt>
                <c:pt idx="7">
                  <c:v>400.7</c:v>
                </c:pt>
                <c:pt idx="8">
                  <c:v>458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7FE-F14B-8CFB-25CBF48A97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Digital Instore</c:v>
                </c:pt>
              </c:strCache>
            </c:strRef>
          </c:tx>
          <c:spPr>
            <a:solidFill>
              <a:srgbClr val="FF452C"/>
            </a:solidFill>
          </c:spPr>
          <c:invertIfNegative val="1"/>
          <c:cat>
            <c:strRef>
              <c:f>Sheet1!$A$2:$A$10</c:f>
              <c:strCache>
                <c:ptCount val="9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27.5</c:v>
                </c:pt>
                <c:pt idx="1">
                  <c:v>67.5</c:v>
                </c:pt>
                <c:pt idx="2">
                  <c:v>72</c:v>
                </c:pt>
                <c:pt idx="3">
                  <c:v>46.1</c:v>
                </c:pt>
                <c:pt idx="4">
                  <c:v>160.19999999999999</c:v>
                </c:pt>
                <c:pt idx="5">
                  <c:v>276</c:v>
                </c:pt>
                <c:pt idx="6">
                  <c:v>354.1</c:v>
                </c:pt>
                <c:pt idx="7">
                  <c:v>241.3</c:v>
                </c:pt>
                <c:pt idx="8">
                  <c:v>421.8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7FE-F14B-8CFB-25CBF48A97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Online+DMP и DMP</c:v>
                </c:pt>
              </c:strCache>
            </c:strRef>
          </c:tx>
          <c:spPr>
            <a:solidFill>
              <a:srgbClr val="8C8C8C"/>
            </a:solidFill>
          </c:spPr>
          <c:invertIfNegative val="1"/>
          <c:cat>
            <c:strRef>
              <c:f>Sheet1!$A$2:$A$10</c:f>
              <c:strCache>
                <c:ptCount val="9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21.5</c:v>
                </c:pt>
                <c:pt idx="1">
                  <c:v>13.2</c:v>
                </c:pt>
                <c:pt idx="2">
                  <c:v>7.6</c:v>
                </c:pt>
                <c:pt idx="3">
                  <c:v>30.7</c:v>
                </c:pt>
                <c:pt idx="4">
                  <c:v>61.7</c:v>
                </c:pt>
                <c:pt idx="5">
                  <c:v>221.3</c:v>
                </c:pt>
                <c:pt idx="6">
                  <c:v>77.599999999999994</c:v>
                </c:pt>
                <c:pt idx="7">
                  <c:v>134.9</c:v>
                </c:pt>
                <c:pt idx="8">
                  <c:v>204.1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67FE-F14B-8CFB-25CBF48A97D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Прочее</c:v>
                </c:pt>
              </c:strCache>
            </c:strRef>
          </c:tx>
          <c:spPr>
            <a:solidFill>
              <a:srgbClr val="D0D0D0"/>
            </a:solidFill>
          </c:spPr>
          <c:invertIfNegative val="1"/>
          <c:cat>
            <c:strRef>
              <c:f>Sheet1!$A$2:$A$10</c:f>
              <c:strCache>
                <c:ptCount val="9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85.1</c:v>
                </c:pt>
                <c:pt idx="1">
                  <c:v>82</c:v>
                </c:pt>
                <c:pt idx="2">
                  <c:v>70.099999999999994</c:v>
                </c:pt>
                <c:pt idx="3">
                  <c:v>31.4</c:v>
                </c:pt>
                <c:pt idx="4">
                  <c:v>30.6</c:v>
                </c:pt>
                <c:pt idx="5">
                  <c:v>52.2</c:v>
                </c:pt>
                <c:pt idx="6">
                  <c:v>145.6</c:v>
                </c:pt>
                <c:pt idx="7">
                  <c:v>187.2</c:v>
                </c:pt>
                <c:pt idx="8">
                  <c:v>99.3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67FE-F14B-8CFB-25CBF48A97D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label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000" b="1">
                        <a:latin typeface="Arial"/>
                      </a:rPr>
                      <a:t>279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7FE-F14B-8CFB-25CBF48A97D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000" b="1">
                        <a:latin typeface="Arial"/>
                      </a:rPr>
                      <a:t>439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7FE-F14B-8CFB-25CBF48A97D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000" b="1">
                        <a:latin typeface="Arial"/>
                      </a:rPr>
                      <a:t>434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7FE-F14B-8CFB-25CBF48A97D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000" b="1">
                        <a:latin typeface="Arial"/>
                      </a:rPr>
                      <a:t>455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7FE-F14B-8CFB-25CBF48A97D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000" b="1">
                        <a:latin typeface="Arial"/>
                      </a:rPr>
                      <a:t>699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7FE-F14B-8CFB-25CBF48A97D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000" b="1">
                        <a:latin typeface="Arial"/>
                      </a:rPr>
                      <a:t>1 199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67FE-F14B-8CFB-25CBF48A97DC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000" b="1">
                        <a:latin typeface="Arial"/>
                      </a:rPr>
                      <a:t>1 065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67FE-F14B-8CFB-25CBF48A97DC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000" b="1">
                        <a:latin typeface="Arial"/>
                      </a:rPr>
                      <a:t>964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67FE-F14B-8CFB-25CBF48A97DC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1000" b="1">
                        <a:latin typeface="Arial"/>
                      </a:rPr>
                      <a:t>1 183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67FE-F14B-8CFB-25CBF48A97D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150</c:v>
                </c:pt>
                <c:pt idx="1">
                  <c:v>150</c:v>
                </c:pt>
                <c:pt idx="2">
                  <c:v>150</c:v>
                </c:pt>
                <c:pt idx="3">
                  <c:v>150</c:v>
                </c:pt>
                <c:pt idx="4">
                  <c:v>150</c:v>
                </c:pt>
                <c:pt idx="5">
                  <c:v>150</c:v>
                </c:pt>
                <c:pt idx="6">
                  <c:v>150</c:v>
                </c:pt>
                <c:pt idx="7">
                  <c:v>150</c:v>
                </c:pt>
                <c:pt idx="8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67FE-F14B-8CFB-25CBF48A97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/>
            </a:pPr>
            <a:endParaRPr lang="en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4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legendEntry>
        <c:idx val="4"/>
        <c:delete val="1"/>
      </c:legendEntry>
      <c:overlay val="0"/>
    </c:legend>
    <c:plotVisOnly val="1"/>
    <c:dispBlanksAs val="gap"/>
    <c:showDLblsOverMax val="1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455831692913381E-2"/>
          <c:y val="6.5541495754017298E-2"/>
          <c:w val="0.94616916830708664"/>
          <c:h val="0.93445858654222436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Факт 2026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8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6.4532952251410758E-2"/>
                  <c:y val="-3.43581170423943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9F1-4BA8-A001-E0458BBE0912}"/>
                </c:ext>
              </c:extLst>
            </c:dLbl>
            <c:dLbl>
              <c:idx val="6"/>
              <c:layout>
                <c:manualLayout>
                  <c:x val="-2.591156201979166E-2"/>
                  <c:y val="-3.43581170423943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Лист1!$B$2:$B$13</c:f>
              <c:numCache>
                <c:formatCode>General</c:formatCode>
                <c:ptCount val="12"/>
                <c:pt idx="0">
                  <c:v>279</c:v>
                </c:pt>
                <c:pt idx="1">
                  <c:v>439</c:v>
                </c:pt>
                <c:pt idx="2">
                  <c:v>434</c:v>
                </c:pt>
                <c:pt idx="3">
                  <c:v>455</c:v>
                </c:pt>
                <c:pt idx="4">
                  <c:v>699</c:v>
                </c:pt>
                <c:pt idx="5">
                  <c:v>1199</c:v>
                </c:pt>
                <c:pt idx="6">
                  <c:v>1065</c:v>
                </c:pt>
                <c:pt idx="7">
                  <c:v>964</c:v>
                </c:pt>
                <c:pt idx="8">
                  <c:v>1183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9F1-4BA8-A001-E0458BBE091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Прогноз 2026</c:v>
                </c:pt>
              </c:strCache>
            </c:strRef>
          </c:tx>
          <c:spPr>
            <a:ln w="28575" cap="rnd">
              <a:solidFill>
                <a:schemeClr val="tx2"/>
              </a:solidFill>
              <a:prstDash val="sysDot"/>
              <a:round/>
            </a:ln>
            <a:effectLst/>
          </c:spPr>
          <c:marker>
            <c:symbol val="diamond"/>
            <c:size val="8"/>
            <c:spPr>
              <a:solidFill>
                <a:schemeClr val="tx2"/>
              </a:solidFill>
              <a:ln w="9525">
                <a:solidFill>
                  <a:schemeClr val="tx2"/>
                </a:solidFill>
              </a:ln>
              <a:effectLst/>
            </c:spPr>
          </c:marker>
          <c:dLbls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Лист1!$C$2:$C$13</c:f>
              <c:numCache>
                <c:formatCode>General</c:formatCode>
                <c:ptCount val="12"/>
                <c:pt idx="8">
                  <c:v>1183</c:v>
                </c:pt>
                <c:pt idx="9">
                  <c:v>971</c:v>
                </c:pt>
                <c:pt idx="10">
                  <c:v>1272</c:v>
                </c:pt>
                <c:pt idx="11">
                  <c:v>1641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9F1-4BA8-A001-E0458BBE0912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Бюджет 2026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diamond"/>
            <c:size val="8"/>
            <c:spPr>
              <a:solidFill>
                <a:schemeClr val="tx1"/>
              </a:solidFill>
              <a:ln w="9525">
                <a:solidFill>
                  <a:schemeClr val="tx1">
                    <a:alpha val="97000"/>
                  </a:schemeClr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4.0480025481983976E-2"/>
                  <c:y val="2.742585777076015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9F1-4BA8-A001-E0458BBE0912}"/>
                </c:ext>
              </c:extLst>
            </c:dLbl>
            <c:dLbl>
              <c:idx val="2"/>
              <c:layout>
                <c:manualLayout>
                  <c:x val="-3.8293395775672451E-2"/>
                  <c:y val="-2.94153990573419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9F1-4BA8-A001-E0458BBE0912}"/>
                </c:ext>
              </c:extLst>
            </c:dLbl>
            <c:dLbl>
              <c:idx val="3"/>
              <c:layout>
                <c:manualLayout>
                  <c:x val="-4.0480025481984018E-2"/>
                  <c:y val="-2.69440400648156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9F1-4BA8-A001-E0458BBE0912}"/>
                </c:ext>
              </c:extLst>
            </c:dLbl>
            <c:dLbl>
              <c:idx val="9"/>
              <c:layout>
                <c:manualLayout>
                  <c:x val="-4.3759970041451268E-2"/>
                  <c:y val="-2.32370015760264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Лист1!$D$2:$D$13</c:f>
              <c:numCache>
                <c:formatCode>General</c:formatCode>
                <c:ptCount val="12"/>
                <c:pt idx="0">
                  <c:v>228</c:v>
                </c:pt>
                <c:pt idx="1">
                  <c:v>168</c:v>
                </c:pt>
                <c:pt idx="2">
                  <c:v>264</c:v>
                </c:pt>
                <c:pt idx="3">
                  <c:v>267</c:v>
                </c:pt>
                <c:pt idx="4">
                  <c:v>294</c:v>
                </c:pt>
                <c:pt idx="5">
                  <c:v>344</c:v>
                </c:pt>
                <c:pt idx="6">
                  <c:v>393</c:v>
                </c:pt>
                <c:pt idx="7">
                  <c:v>537</c:v>
                </c:pt>
                <c:pt idx="8">
                  <c:v>660</c:v>
                </c:pt>
                <c:pt idx="9">
                  <c:v>831</c:v>
                </c:pt>
                <c:pt idx="10">
                  <c:v>877</c:v>
                </c:pt>
                <c:pt idx="11">
                  <c:v>984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09F1-4BA8-A001-E0458BBE09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94981536"/>
        <c:axId val="1894979872"/>
      </c:lineChart>
      <c:catAx>
        <c:axId val="1894981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94979872"/>
        <c:crosses val="autoZero"/>
        <c:auto val="1"/>
        <c:lblAlgn val="ctr"/>
        <c:lblOffset val="100"/>
        <c:noMultiLvlLbl val="0"/>
      </c:catAx>
      <c:valAx>
        <c:axId val="1894979872"/>
        <c:scaling>
          <c:orientation val="minMax"/>
          <c:max val="2700"/>
        </c:scaling>
        <c:delete val="1"/>
        <c:axPos val="l"/>
        <c:numFmt formatCode="General" sourceLinked="1"/>
        <c:majorTickMark val="none"/>
        <c:minorTickMark val="none"/>
        <c:tickLblPos val="nextTo"/>
        <c:crossAx val="1894981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9103100393700789E-2"/>
          <c:y val="1.2089462786158536E-2"/>
          <c:w val="0.89999991391221623"/>
          <c:h val="4.763768242569917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3058</c:v>
                </c:pt>
                <c:pt idx="2">
                  <c:v>6988</c:v>
                </c:pt>
                <c:pt idx="3">
                  <c:v>7198</c:v>
                </c:pt>
                <c:pt idx="4">
                  <c:v>7813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28-4742-908C-CB4B4A0E95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rgbClr val="262626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3058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8220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F28-4742-908C-CB4B4A0E95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Изменение</c:v>
                </c:pt>
              </c:strCache>
            </c:strRef>
          </c:tx>
          <c:spPr>
            <a:solidFill>
              <a:srgbClr val="FF452C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3930</c:v>
                </c:pt>
                <c:pt idx="2">
                  <c:v>210</c:v>
                </c:pt>
                <c:pt idx="3">
                  <c:v>615</c:v>
                </c:pt>
                <c:pt idx="4">
                  <c:v>407</c:v>
                </c:pt>
                <c:pt idx="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FF28-4742-908C-CB4B4A0E95B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label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100" b="1">
                        <a:latin typeface="Arial"/>
                      </a:rPr>
                      <a:t>3 058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F28-4742-908C-CB4B4A0E95B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100" b="1">
                        <a:latin typeface="Arial"/>
                      </a:rPr>
                      <a:t>+3 930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F28-4742-908C-CB4B4A0E95B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100" b="1">
                        <a:latin typeface="Arial"/>
                      </a:rPr>
                      <a:t>+210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F28-4742-908C-CB4B4A0E95B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100" b="1">
                        <a:latin typeface="Arial"/>
                      </a:rPr>
                      <a:t>+615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F28-4742-908C-CB4B4A0E95B3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100" b="1">
                        <a:latin typeface="Arial"/>
                      </a:rPr>
                      <a:t>+407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F28-4742-908C-CB4B4A0E95B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100" b="1">
                        <a:latin typeface="Arial"/>
                      </a:rPr>
                      <a:t>8 220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FF28-4742-908C-CB4B4A0E95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600</c:v>
                </c:pt>
                <c:pt idx="1">
                  <c:v>600</c:v>
                </c:pt>
                <c:pt idx="2">
                  <c:v>600</c:v>
                </c:pt>
                <c:pt idx="3">
                  <c:v>600</c:v>
                </c:pt>
                <c:pt idx="4">
                  <c:v>600</c:v>
                </c:pt>
                <c:pt idx="5">
                  <c:v>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F28-4742-908C-CB4B4A0E95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latin typeface="Arial"/>
        </a:defRPr>
      </a:pPr>
      <a:endParaRPr lang="ru-RU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09E16-A88B-8B44-9AED-5D26A22D5264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9F212-A752-C14B-A109-423296A66E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71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4.emf"/><Relationship Id="rId5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нутренняя страница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D6B520-E496-4DE7-A7EA-039CB24155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D6B520-E496-4DE7-A7EA-039CB2415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Текст 3">
            <a:extLst>
              <a:ext uri="{FF2B5EF4-FFF2-40B4-BE49-F238E27FC236}">
                <a16:creationId xmlns:a16="http://schemas.microsoft.com/office/drawing/2014/main" id="{F4EADE36-7228-4328-B953-053A78FFB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Сноска. Шрифт </a:t>
            </a:r>
            <a:r>
              <a:rPr lang="en-US"/>
              <a:t>Arial Regular </a:t>
            </a:r>
            <a:r>
              <a:rPr lang="ru-RU"/>
              <a:t>9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17D90FF-1B5F-46FE-8880-4FF59512C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AC2FBA2D-C41D-4879-85FA-C8B9BDB2A7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6" y="225092"/>
            <a:ext cx="1059497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слайда в две строки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24</a:t>
            </a:r>
          </a:p>
        </p:txBody>
      </p:sp>
      <p:pic>
        <p:nvPicPr>
          <p:cNvPr id="5" name="Google Shape;329;p48">
            <a:extLst>
              <a:ext uri="{FF2B5EF4-FFF2-40B4-BE49-F238E27FC236}">
                <a16:creationId xmlns:a16="http://schemas.microsoft.com/office/drawing/2014/main" id="{C2310AFE-C757-48FC-8C89-768B12B79D2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7435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 слайд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2">
            <a:extLst>
              <a:ext uri="{FF2B5EF4-FFF2-40B4-BE49-F238E27FC236}">
                <a16:creationId xmlns:a16="http://schemas.microsoft.com/office/drawing/2014/main" id="{E7EE3C8A-F97F-2E6D-D5C4-E85ADD793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4252" y="6429889"/>
            <a:ext cx="625661" cy="199509"/>
          </a:xfrm>
          <a:prstGeom prst="rect">
            <a:avLst/>
          </a:prstGeom>
        </p:spPr>
        <p:txBody>
          <a:bodyPr/>
          <a:lstStyle>
            <a:lvl1pPr algn="ctr">
              <a:defRPr sz="1000" b="0">
                <a:solidFill>
                  <a:srgbClr val="E30613"/>
                </a:solidFill>
                <a:latin typeface="Montserrat Medium" pitchFamily="2" charset="-52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BA81D881-30B5-EEEF-623E-FCB08A74A5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185" y="169335"/>
            <a:ext cx="11805728" cy="97642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ts val="3667"/>
              </a:lnSpc>
              <a:spcBef>
                <a:spcPts val="0"/>
              </a:spcBef>
              <a:buNone/>
              <a:defRPr sz="3334" b="1">
                <a:solidFill>
                  <a:srgbClr val="E30613"/>
                </a:solidFill>
                <a:latin typeface="Arha Magnit" panose="020B0503030408080203" pitchFamily="34" charset="0"/>
                <a:ea typeface="Arha Magnit" panose="020B0503030408080203" pitchFamily="34" charset="0"/>
              </a:defRPr>
            </a:lvl1pPr>
            <a:lvl2pPr>
              <a:defRPr>
                <a:solidFill>
                  <a:srgbClr val="E30613"/>
                </a:solidFill>
              </a:defRPr>
            </a:lvl2pPr>
            <a:lvl3pPr>
              <a:defRPr>
                <a:solidFill>
                  <a:srgbClr val="E30613"/>
                </a:solidFill>
              </a:defRPr>
            </a:lvl3pPr>
            <a:lvl4pPr>
              <a:defRPr>
                <a:solidFill>
                  <a:srgbClr val="E30613"/>
                </a:solidFill>
              </a:defRPr>
            </a:lvl4pPr>
            <a:lvl5pPr>
              <a:defRPr>
                <a:solidFill>
                  <a:srgbClr val="E30613"/>
                </a:solidFill>
              </a:defRPr>
            </a:lvl5pPr>
          </a:lstStyle>
          <a:p>
            <a:pPr lvl="0"/>
            <a:r>
              <a:rPr lang="ru-RU">
                <a:effectLst/>
              </a:rPr>
              <a:t>Действуй смело</a:t>
            </a:r>
          </a:p>
          <a:p>
            <a:pPr lvl="0"/>
            <a:r>
              <a:rPr lang="ru-RU">
                <a:effectLst/>
              </a:rPr>
              <a:t>Достигай невозможного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DD5DBD3-9CA8-4504-9712-DECDFE190F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7433" y="6432036"/>
            <a:ext cx="3600000" cy="197362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Montserrat" panose="00000500000000000000" pitchFamily="2" charset="-52"/>
              </a:defRPr>
            </a:lvl1pPr>
            <a:lvl2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2pPr>
            <a:lvl3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3pPr>
            <a:lvl4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4pPr>
            <a:lvl5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5pPr>
          </a:lstStyle>
          <a:p>
            <a:pPr lvl="0"/>
            <a:r>
              <a:rPr lang="ru-RU">
                <a:effectLst/>
              </a:rPr>
              <a:t>Тема презентации. Название раздела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12809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559">
          <p15:clr>
            <a:srgbClr val="FBAE40"/>
          </p15:clr>
        </p15:guide>
        <p15:guide id="4" pos="12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tags" Target="../tags/tag1.xml"/><Relationship Id="rId5" Type="http://schemas.openxmlformats.org/officeDocument/2006/relationships/oleObject" Target="../embeddings/oleObject1.bin"/><Relationship Id="rId6" Type="http://schemas.openxmlformats.org/officeDocument/2006/relationships/image" Target="../media/image1.emf"/><Relationship Id="rId7" Type="http://schemas.openxmlformats.org/officeDocument/2006/relationships/image" Target="../media/image2.svg"/><Relationship Id="rId8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F0275F-82EB-4AF8-93F2-E32D2E3F4A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5" imgH="426" progId="TCLayout.ActiveDocument.1">
                  <p:embed/>
                </p:oleObj>
              </mc:Choice>
              <mc:Fallback>
                <p:oleObj name="think-cell Slide" r:id="rId5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F0275F-82EB-4AF8-93F2-E32D2E3F4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C4ABD1C-F459-2C26-F2B9-9BA713F0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C2BBA4-A98A-7E39-4BDE-05CCE10298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4175" y="6260830"/>
            <a:ext cx="1179870" cy="368569"/>
          </a:xfrm>
          <a:prstGeom prst="rect">
            <a:avLst/>
          </a:prstGeom>
        </p:spPr>
      </p:pic>
      <p:pic>
        <p:nvPicPr>
          <p:cNvPr id="6" name="Google Shape;329;p48">
            <a:extLst>
              <a:ext uri="{FF2B5EF4-FFF2-40B4-BE49-F238E27FC236}">
                <a16:creationId xmlns:a16="http://schemas.microsoft.com/office/drawing/2014/main" id="{E1B4E335-9445-4D22-A1BC-8334344EE35A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071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78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pos="1148">
          <p15:clr>
            <a:srgbClr val="F26B43"/>
          </p15:clr>
        </p15:guide>
        <p15:guide id="8" pos="1236">
          <p15:clr>
            <a:srgbClr val="F26B43"/>
          </p15:clr>
        </p15:guide>
        <p15:guide id="10" pos="2032">
          <p15:clr>
            <a:srgbClr val="F26B43"/>
          </p15:clr>
        </p15:guide>
        <p15:guide id="11" pos="2120">
          <p15:clr>
            <a:srgbClr val="F26B43"/>
          </p15:clr>
        </p15:guide>
        <p15:guide id="13" pos="2916">
          <p15:clr>
            <a:srgbClr val="F26B43"/>
          </p15:clr>
        </p15:guide>
        <p15:guide id="14" pos="3004">
          <p15:clr>
            <a:srgbClr val="F26B43"/>
          </p15:clr>
        </p15:guide>
        <p15:guide id="16" pos="3802">
          <p15:clr>
            <a:srgbClr val="F26B43"/>
          </p15:clr>
        </p15:guide>
        <p15:guide id="17" pos="7338">
          <p15:clr>
            <a:srgbClr val="F26B43"/>
          </p15:clr>
        </p15:guide>
        <p15:guide id="19" pos="6538">
          <p15:clr>
            <a:srgbClr val="F26B43"/>
          </p15:clr>
        </p15:guide>
        <p15:guide id="20" pos="6452">
          <p15:clr>
            <a:srgbClr val="F26B43"/>
          </p15:clr>
        </p15:guide>
        <p15:guide id="22" pos="5656">
          <p15:clr>
            <a:srgbClr val="F26B43"/>
          </p15:clr>
        </p15:guide>
        <p15:guide id="23" pos="5568">
          <p15:clr>
            <a:srgbClr val="F26B43"/>
          </p15:clr>
        </p15:guide>
        <p15:guide id="25" pos="4770">
          <p15:clr>
            <a:srgbClr val="F26B43"/>
          </p15:clr>
        </p15:guide>
        <p15:guide id="26" pos="4684">
          <p15:clr>
            <a:srgbClr val="F26B43"/>
          </p15:clr>
        </p15:guide>
        <p15:guide id="28" pos="3888">
          <p15:clr>
            <a:srgbClr val="F26B43"/>
          </p15:clr>
        </p15:guide>
        <p15:guide id="39" orient="horz" pos="398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4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4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4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4.emf"/><Relationship Id="rId5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4.emf"/><Relationship Id="rId5" Type="http://schemas.openxmlformats.org/officeDocument/2006/relationships/chart" Target="../charts/chart2.xml"/><Relationship Id="rId6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4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84D4825-01B3-4D34-80A0-460B43F381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1853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4D4825-01B3-4D34-80A0-460B43F38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D65656BD-BDC7-4AB7-9502-886BF31BBD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8CBBF0-A6D9-4B80-B3B2-E0B409F94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418B67-2B10-4F87-873F-7C10DAA6D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Статус выполнения КПЭ: </a:t>
            </a:r>
            <a:r>
              <a:rPr lang="ru-RU">
                <a:solidFill>
                  <a:schemeClr val="dk1"/>
                </a:solidFill>
                <a:latin typeface="+mn-lt"/>
                <a:sym typeface="Montserrat"/>
              </a:rPr>
              <a:t>т</a:t>
            </a:r>
            <a:r>
              <a:rPr lang="ru-RU" sz="2400" b="1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  <a:t>риггеры КПЭ выполняются </a:t>
            </a:r>
            <a:br>
              <a:rPr lang="ru-RU" sz="2400" b="1" dirty="0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</a:br>
            <a:r>
              <a:rPr lang="ru-RU" sz="2400" b="1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  <a:t>в полном объеме</a:t>
            </a:r>
            <a:endParaRPr lang="ru-RU"/>
          </a:p>
          <a:p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39FE8D2-E681-4AB4-8331-4BF473CEC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485019"/>
              </p:ext>
            </p:extLst>
          </p:nvPr>
        </p:nvGraphicFramePr>
        <p:xfrm>
          <a:off x="364174" y="939157"/>
          <a:ext cx="11463642" cy="2759440"/>
        </p:xfrm>
        <a:graphic>
          <a:graphicData uri="http://schemas.openxmlformats.org/drawingml/2006/table">
            <a:tbl>
              <a:tblPr/>
              <a:tblGrid>
                <a:gridCol w="1506959">
                  <a:extLst>
                    <a:ext uri="{9D8B030D-6E8A-4147-A177-3AD203B41FA5}">
                      <a16:colId xmlns:a16="http://schemas.microsoft.com/office/drawing/2014/main" val="266420583"/>
                    </a:ext>
                  </a:extLst>
                </a:gridCol>
                <a:gridCol w="2003337">
                  <a:extLst>
                    <a:ext uri="{9D8B030D-6E8A-4147-A177-3AD203B41FA5}">
                      <a16:colId xmlns:a16="http://schemas.microsoft.com/office/drawing/2014/main" val="1371208351"/>
                    </a:ext>
                  </a:extLst>
                </a:gridCol>
                <a:gridCol w="474006">
                  <a:extLst>
                    <a:ext uri="{9D8B030D-6E8A-4147-A177-3AD203B41FA5}">
                      <a16:colId xmlns:a16="http://schemas.microsoft.com/office/drawing/2014/main" val="2790943951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1583470004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743709276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3662016787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1493236834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2644740059"/>
                    </a:ext>
                  </a:extLst>
                </a:gridCol>
                <a:gridCol w="587233">
                  <a:extLst>
                    <a:ext uri="{9D8B030D-6E8A-4147-A177-3AD203B41FA5}">
                      <a16:colId xmlns:a16="http://schemas.microsoft.com/office/drawing/2014/main" val="2101338174"/>
                    </a:ext>
                  </a:extLst>
                </a:gridCol>
                <a:gridCol w="931333">
                  <a:extLst>
                    <a:ext uri="{9D8B030D-6E8A-4147-A177-3AD203B41FA5}">
                      <a16:colId xmlns:a16="http://schemas.microsoft.com/office/drawing/2014/main" val="1045963864"/>
                    </a:ext>
                  </a:extLst>
                </a:gridCol>
                <a:gridCol w="93133">
                  <a:extLst>
                    <a:ext uri="{9D8B030D-6E8A-4147-A177-3AD203B41FA5}">
                      <a16:colId xmlns:a16="http://schemas.microsoft.com/office/drawing/2014/main" val="1009357481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047428590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840101419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2904748871"/>
                    </a:ext>
                  </a:extLst>
                </a:gridCol>
                <a:gridCol w="118534">
                  <a:extLst>
                    <a:ext uri="{9D8B030D-6E8A-4147-A177-3AD203B41FA5}">
                      <a16:colId xmlns:a16="http://schemas.microsoft.com/office/drawing/2014/main" val="3323509817"/>
                    </a:ext>
                  </a:extLst>
                </a:gridCol>
                <a:gridCol w="643465">
                  <a:extLst>
                    <a:ext uri="{9D8B030D-6E8A-4147-A177-3AD203B41FA5}">
                      <a16:colId xmlns:a16="http://schemas.microsoft.com/office/drawing/2014/main" val="1780177134"/>
                    </a:ext>
                  </a:extLst>
                </a:gridCol>
                <a:gridCol w="1015885">
                  <a:extLst>
                    <a:ext uri="{9D8B030D-6E8A-4147-A177-3AD203B41FA5}">
                      <a16:colId xmlns:a16="http://schemas.microsoft.com/office/drawing/2014/main" val="444242803"/>
                    </a:ext>
                  </a:extLst>
                </a:gridCol>
              </a:tblGrid>
              <a:tr h="356546"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3000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 9м 2026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2026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511758"/>
                  </a:ext>
                </a:extLst>
              </a:tr>
              <a:tr h="356546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КПЭ</a:t>
                      </a: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Показатель</a:t>
                      </a:r>
                      <a:endParaRPr lang="ru-RU" sz="1100" b="1" i="0" u="none" strike="noStrike" baseline="3000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Вес</a:t>
                      </a: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Выполнение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выполнения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243003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AdTech EBITDA</a:t>
                      </a:r>
                      <a:endParaRPr lang="en-US" sz="1100" b="1" i="0" u="none" strike="noStrike" baseline="30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Значение, млрд руб.</a:t>
                      </a:r>
                      <a:endParaRPr lang="ru-RU" sz="1100" b="1" i="0" u="none" strike="noStrike" baseline="30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49%</a:t>
                      </a: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90947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выполнения бюджета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142,82%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126,81%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371140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Оценка (Выплата премии)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057018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marR="0" lvl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Инкрементальная выручка от некоммерческих поставщиков</a:t>
                      </a: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Значение, млрд руб.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21%</a:t>
                      </a: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0,77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81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i="0" u="none" strike="noStrike" kern="1200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выполнения бюджета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121,19%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121,74%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7504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i="0" u="none" strike="noStrike" kern="1200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Оценка (Выплата премии)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606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54CBD42-8B3D-4B5C-8D9E-FA37F778EAED}"/>
              </a:ext>
            </a:extLst>
          </p:cNvPr>
          <p:cNvSpPr txBox="1"/>
          <p:nvPr/>
        </p:nvSpPr>
        <p:spPr>
          <a:xfrm>
            <a:off x="326464" y="3847656"/>
            <a:ext cx="10260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0" i="1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Расчет EBITDA, применимый к КПЭ выполняется без учета базовой выручки </a:t>
            </a:r>
            <a:r>
              <a:rPr kumimoji="0" lang="en-US" sz="1200" b="0" i="1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E-com</a:t>
            </a:r>
            <a:r>
              <a:rPr kumimoji="0" lang="ru-RU" sz="1200" b="0" i="1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b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ru-RU" sz="1200" b="0" i="1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Расшифровка:</a:t>
            </a:r>
          </a:p>
        </p:txBody>
      </p:sp>
      <p:graphicFrame>
        <p:nvGraphicFramePr>
          <p:cNvPr id="11" name="Google Shape;315;p47">
            <a:extLst>
              <a:ext uri="{FF2B5EF4-FFF2-40B4-BE49-F238E27FC236}">
                <a16:creationId xmlns:a16="http://schemas.microsoft.com/office/drawing/2014/main" id="{424E3A06-3193-4916-98C3-B1A49BE3BD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2365435"/>
              </p:ext>
            </p:extLst>
          </p:nvPr>
        </p:nvGraphicFramePr>
        <p:xfrm>
          <a:off x="364174" y="4259720"/>
          <a:ext cx="2867833" cy="191560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ontserrat"/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AdTech EBITDA, </a:t>
                      </a:r>
                      <a:r>
                        <a:rPr lang="ru-RU" sz="1100" b="1" u="none" strike="noStrike" cap="none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1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ACT</a:t>
                      </a:r>
                      <a:endParaRPr lang="en-US" sz="1100" b="1" i="0" u="none" strike="noStrike" cap="none">
                        <a:solidFill>
                          <a:schemeClr val="tx1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3 779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(105)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516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1 616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1 499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253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(1 557)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2 222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A39E7C9-4688-44BB-819A-7672B8A8DC45}"/>
              </a:ext>
            </a:extLst>
          </p:cNvPr>
          <p:cNvSpPr/>
          <p:nvPr/>
        </p:nvSpPr>
        <p:spPr>
          <a:xfrm rot="16200000">
            <a:off x="43676" y="4790599"/>
            <a:ext cx="385576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E46B5DC-FF39-41BA-9F91-CE8DE528923E}"/>
              </a:ext>
            </a:extLst>
          </p:cNvPr>
          <p:cNvSpPr/>
          <p:nvPr/>
        </p:nvSpPr>
        <p:spPr>
          <a:xfrm rot="16200000">
            <a:off x="-48515" y="5334907"/>
            <a:ext cx="56996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</p:spTree>
    <p:extLst>
      <p:ext uri="{BB962C8B-B14F-4D97-AF65-F5344CB8AC3E}">
        <p14:creationId xmlns:p14="http://schemas.microsoft.com/office/powerpoint/2010/main" val="3289171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00931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lang="ru-RU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/>
              <a:t>Сентябрь 2026 Magnit ADS financial review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80488153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606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235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63%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118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17%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458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295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181%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497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725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228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46%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660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1 183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523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79%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(26)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-28%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69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(2)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289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254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-12%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178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244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137%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19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63%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(577)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(75)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-87%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(98)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45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143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-146%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-150%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(468)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-77%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(1)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1 108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1 025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1 235%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(243)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(423)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(180)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74%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(37)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(217)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(180)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486%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(160)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685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845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531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737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CE9DCB-4453-443B-B7EC-B94BB7C247F5}"/>
              </a:ext>
            </a:extLst>
          </p:cNvPr>
          <p:cNvSpPr txBox="1"/>
          <p:nvPr/>
        </p:nvSpPr>
        <p:spPr>
          <a:xfrm>
            <a:off x="6784848" y="643938"/>
            <a:ext cx="5042977" cy="43858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200" b="0" i="0" u="none" strike="noStrike" kern="120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+295 млн руб.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Выручка поставщиков FT (база, 323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инкремент поставщиков сверх базы (-26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(-2 млн руб.)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+228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(-35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(19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(244 млн руб.)</a:t>
            </a: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kern="0" dirty="0" err="1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Рекласс</a:t>
            </a:r>
            <a:r>
              <a:rPr lang="ru-RU" sz="1100" kern="0" dirty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ФОТ в CAPEX (+166 млн руб.); доначисление резерва STI (-16 млн руб.), отпускные (-7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закупке трафика для перепродажи (+325 млн руб.), по вознаграждениям РА (+31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(-2 млн руб.), резерв отпусков (-5 млн руб.), аренда (+2 млн руб.), IT (+1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kern="0" dirty="0" err="1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Рекласс</a:t>
            </a:r>
            <a:r>
              <a:rPr lang="ru-RU" sz="1100" kern="0" dirty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ФОТ в CAPEX (-180 млн руб.)</a:t>
            </a: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бюджету: целевая система управления медиаконтентом (206 млн руб.)</a:t>
            </a: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28" name="Овал 8">
            <a:extLst>
              <a:ext uri="{FF2B5EF4-FFF2-40B4-BE49-F238E27FC236}">
                <a16:creationId xmlns:a16="http://schemas.microsoft.com/office/drawing/2014/main" id="{6DD61664-2957-4AE6-956B-768D34D413C8}"/>
              </a:ext>
            </a:extLst>
          </p:cNvPr>
          <p:cNvSpPr/>
          <p:nvPr/>
        </p:nvSpPr>
        <p:spPr>
          <a:xfrm>
            <a:off x="6763736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0BB0E809-DE6D-433D-B29F-A88526481BA8}"/>
              </a:ext>
            </a:extLst>
          </p:cNvPr>
          <p:cNvSpPr/>
          <p:nvPr/>
        </p:nvSpPr>
        <p:spPr>
          <a:xfrm>
            <a:off x="6763736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0" name="Овал 8">
            <a:extLst>
              <a:ext uri="{FF2B5EF4-FFF2-40B4-BE49-F238E27FC236}">
                <a16:creationId xmlns:a16="http://schemas.microsoft.com/office/drawing/2014/main" id="{5457E264-C436-47F0-8CD9-C364A845370E}"/>
              </a:ext>
            </a:extLst>
          </p:cNvPr>
          <p:cNvSpPr/>
          <p:nvPr/>
        </p:nvSpPr>
        <p:spPr>
          <a:xfrm>
            <a:off x="6763736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1" name="Овал 8">
            <a:extLst>
              <a:ext uri="{FF2B5EF4-FFF2-40B4-BE49-F238E27FC236}">
                <a16:creationId xmlns:a16="http://schemas.microsoft.com/office/drawing/2014/main" id="{24569A11-7FD3-4A55-BE8D-493888BBBB63}"/>
              </a:ext>
            </a:extLst>
          </p:cNvPr>
          <p:cNvSpPr/>
          <p:nvPr/>
        </p:nvSpPr>
        <p:spPr>
          <a:xfrm>
            <a:off x="6763736" y="3272437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32" name="Овал 8">
            <a:extLst>
              <a:ext uri="{FF2B5EF4-FFF2-40B4-BE49-F238E27FC236}">
                <a16:creationId xmlns:a16="http://schemas.microsoft.com/office/drawing/2014/main" id="{918442A0-B014-4841-B4A2-2735753C9202}"/>
              </a:ext>
            </a:extLst>
          </p:cNvPr>
          <p:cNvSpPr/>
          <p:nvPr/>
        </p:nvSpPr>
        <p:spPr>
          <a:xfrm>
            <a:off x="6763736" y="377572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34" name="Овал 8">
            <a:extLst>
              <a:ext uri="{FF2B5EF4-FFF2-40B4-BE49-F238E27FC236}">
                <a16:creationId xmlns:a16="http://schemas.microsoft.com/office/drawing/2014/main" id="{D28840EB-76EB-4C10-A67D-23E9A5CED7EC}"/>
              </a:ext>
            </a:extLst>
          </p:cNvPr>
          <p:cNvSpPr/>
          <p:nvPr/>
        </p:nvSpPr>
        <p:spPr>
          <a:xfrm>
            <a:off x="6763736" y="427900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35" name="Овал 8">
            <a:extLst>
              <a:ext uri="{FF2B5EF4-FFF2-40B4-BE49-F238E27FC236}">
                <a16:creationId xmlns:a16="http://schemas.microsoft.com/office/drawing/2014/main" id="{B3EA53C5-2A57-48DB-A16F-12780C0A4892}"/>
              </a:ext>
            </a:extLst>
          </p:cNvPr>
          <p:cNvSpPr/>
          <p:nvPr/>
        </p:nvSpPr>
        <p:spPr>
          <a:xfrm>
            <a:off x="6763736" y="461452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12925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lang="ru-RU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en-US"/>
              <a:t>9M 2026 MAGNIT ADS YTD BU vs YTD ACT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+2 167 млн руб.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Выручка поставщиков FT (база, 2 939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инкремент поставщиков сверх базы (-774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(2 млн руб.)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+1 395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поставщикам (508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(133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(754 млн руб.)</a:t>
            </a: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ФОТ +20 млн руб.: рекласс ФОТ в CAPEX в сентябре, индексация (+22 млн руб.); перерасход по премиям и STI (-66 млн руб.), отпускным (-47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закупке трафика для перепродажи (+254 млн руб.), по вознаграждениям РА (+91 млн руб.), маркетинг ВГО (-22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ноутбуках и облачном хранении данных (+31 млн руб.), сдвиг по рекламному сбору (+25 млн руб.), подбор, обучение, HR-бренд (+13 млн руб.), резерв отпусков (-28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капитализации ФОТ, частично компенсирован реклассом ФОТ в CAPEX в сентябре (-180 млн руб.)</a:t>
            </a: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закупке оборудования +281 млн руб. Экономия за счет снижения тендерной цены закупки +102 млн руб.</a:t>
            </a:r>
            <a:endParaRPr kumimoji="0" lang="ru-RU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43979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94308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61411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1174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3224118588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ACT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2 048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2 163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769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3 350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2 167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183%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1 973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3 368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1 395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3 156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6 718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3 562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2 939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2 939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(774)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-116%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514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516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1 108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1 616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745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(1 955)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(1 557)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398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(791)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(771)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108%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(1 047)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(713)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(61)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1 201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5 161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3 960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330%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(1 070)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(595)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-28%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(732)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-52%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4 566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4 435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606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513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552%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00931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lang="ru-RU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 dirty="0"/>
              <a:t>Выручка по направлениям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80488153"/>
              </p:ext>
            </p:extLst>
          </p:nvPr>
        </p:nvGraphicFramePr>
        <p:xfrm>
          <a:off x="665927" y="601465"/>
          <a:ext cx="5659900" cy="236674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Выручка, 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Авг 2026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Сен 2026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9М 2026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Сен vs Авг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E-comm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458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3 496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+14%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Digital Instore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422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1 666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+75%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Online+DMP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130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202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732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+55%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33415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DMP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-47%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18663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Пакеты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33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305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-88%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733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ФинТех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53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39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92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-25%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09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Другое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94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55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276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-41%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42735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POSM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-85%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247658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Прочее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18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-100%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64705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964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1 183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6 718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+23%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29" name="Revenue forecast by direction"/>
          <p:cNvGraphicFramePr/>
          <p:nvPr>
            <p:extLst>
              <p:ext uri="{D42A27DB-BD31-4B8C-83A1-F6EECF244321}">
                <p14:modId xmlns:p14="http://schemas.microsoft.com/office/powerpoint/2010/main" val="80488153"/>
              </p:ext>
            </p:extLst>
          </p:nvPr>
        </p:nvGraphicFramePr>
        <p:xfrm>
          <a:off x="665927" y="3268214"/>
          <a:ext cx="5659900" cy="193643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Прогноз выручки, 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9М 2026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Q4 FC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9+3 2026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vs BU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E-comm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3 350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2 524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5 874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+237%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Digital Instore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1 667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1 000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2 667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+6%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Online+DMP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732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329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1 061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+4%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DMP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18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58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-52%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Пакеты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305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305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POSM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78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86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Прочее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546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551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+20%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6 718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3 884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10 602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+81%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Chart title">
            <a:extLst>
              <a:ext uri="{FF2B5EF4-FFF2-40B4-BE49-F238E27FC236}">
                <a16:creationId xmlns:a16="http://schemas.microsoft.com/office/drawing/2014/main" id="{CACE9DCB-4453-443B-B7EC-B94BB7C247F5}"/>
              </a:ext>
            </a:extLst>
          </p:cNvPr>
          <p:cNvSpPr txBox="1"/>
          <p:nvPr/>
        </p:nvSpPr>
        <p:spPr>
          <a:xfrm>
            <a:off x="6784848" y="643938"/>
            <a:ext cx="5042977" cy="34000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Динамика выручки по направлениям, млн руб.</a:t>
            </a:r>
          </a:p>
        </p:txBody>
      </p:sp>
      <p:graphicFrame>
        <p:nvGraphicFramePr>
          <p:cNvPr id="328" name="Revenue by direction"/>
          <p:cNvGraphicFramePr>
            <a:graphicFrameLocks noGrp="1"/>
          </p:cNvGraphicFramePr>
          <p:nvPr/>
        </p:nvGraphicFramePr>
        <p:xfrm>
          <a:off x="6700000" y="1050000"/>
          <a:ext cx="5200000" cy="51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612925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think-cell data - do not delete" hidden="1">
            <a:extLst>
              <a:ext uri="{FF2B5EF4-FFF2-40B4-BE49-F238E27FC236}">
                <a16:creationId xmlns:a16="http://schemas.microsoft.com/office/drawing/2014/main" id="{143C22B8-F547-4826-81BC-55F958EEDE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10860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6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3C22B8-F547-4826-81BC-55F958EEDE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6B3273D9-68C1-40FC-80A5-CB5F19D430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F025F59-A55B-4047-B72D-C8F4BA727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lang="ru-RU" sz="9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37F061-B44F-4053-964C-EB1C5E55D8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Обзор основных метрик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BB0163E-06FD-45F7-9923-854A23C30E26}"/>
              </a:ext>
            </a:extLst>
          </p:cNvPr>
          <p:cNvSpPr txBox="1"/>
          <p:nvPr/>
        </p:nvSpPr>
        <p:spPr>
          <a:xfrm>
            <a:off x="6393164" y="643938"/>
            <a:ext cx="5434661" cy="16312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Revenue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Перевыполнение бюджетного таргета в 2026 г. на 4 755 млн руб. (факт 9М + прогноз), за счет: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Выручки поставщиков FT (3 930 млн руб.)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Роста E-com выручки сверх бюджета без учета FT (210 млн руб.)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Роста продаж non-Ecom инвентаря (615 млн руб.)</a:t>
            </a:r>
          </a:p>
        </p:txBody>
      </p:sp>
      <p:graphicFrame>
        <p:nvGraphicFramePr>
          <p:cNvPr id="71" name="Диаграмма 70">
            <a:extLst>
              <a:ext uri="{FF2B5EF4-FFF2-40B4-BE49-F238E27FC236}">
                <a16:creationId xmlns:a16="http://schemas.microsoft.com/office/drawing/2014/main" id="{F76425C9-AAFC-4031-9659-0CDEE5871F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5505577"/>
              </p:ext>
            </p:extLst>
          </p:nvPr>
        </p:nvGraphicFramePr>
        <p:xfrm>
          <a:off x="364175" y="999459"/>
          <a:ext cx="5808025" cy="51388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6871B758-2E97-49FC-878B-F21BEA0E16A7}"/>
              </a:ext>
            </a:extLst>
          </p:cNvPr>
          <p:cNvSpPr txBox="1"/>
          <p:nvPr/>
        </p:nvSpPr>
        <p:spPr>
          <a:xfrm>
            <a:off x="364175" y="643938"/>
            <a:ext cx="3601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AdTech Revenue, </a:t>
            </a:r>
            <a:r>
              <a:rPr kumimoji="0" lang="ru-RU" sz="16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млн руб.</a:t>
            </a:r>
          </a:p>
        </p:txBody>
      </p:sp>
      <p:sp>
        <p:nvSpPr>
          <p:cNvPr id="5" name="Bridge title">
            <a:extLst>
              <a:ext uri="{FF2B5EF4-FFF2-40B4-BE49-F238E27FC236}">
                <a16:creationId xmlns:a16="http://schemas.microsoft.com/office/drawing/2014/main" id="{6871B758-2E97-49FC-878B-F21BEA0E16A7}"/>
              </a:ext>
            </a:extLst>
          </p:cNvPr>
          <p:cNvSpPr txBox="1"/>
          <p:nvPr/>
        </p:nvSpPr>
        <p:spPr>
          <a:xfrm>
            <a:off x="6300000" y="2431837"/>
            <a:ext cx="5434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Мост EBITDA: бюджет → прогноз 9+3, млн руб.</a:t>
            </a:r>
          </a:p>
        </p:txBody>
      </p:sp>
      <p:graphicFrame>
        <p:nvGraphicFramePr>
          <p:cNvPr id="73" name="EBITDA bridg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819361"/>
              </p:ext>
            </p:extLst>
          </p:nvPr>
        </p:nvGraphicFramePr>
        <p:xfrm>
          <a:off x="6393164" y="2801837"/>
          <a:ext cx="5434661" cy="323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339212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lang="ru-RU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/>
              <a:t>9+3 FC 2026 MAGNIT ADS: BU vs FC (год)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43858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200" b="0" i="0" u="none" strike="noStrike" kern="120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+4 140 млн руб.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Выручка поставщиков FT (база, 3 930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инкремент поставщиков сверх базы (151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(59 млн руб.)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+615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(-549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(1 006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(158 млн руб.)</a:t>
            </a: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Оплата труда +104 млн руб. (</a:t>
            </a:r>
            <a:r>
              <a:rPr kumimoji="0" lang="ru-RU" sz="1100" b="0" i="0" u="none" strike="noStrike" kern="0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рекласс</a:t>
            </a: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ФОТ в CAPEX), премии и резерв STI (-112 млн руб.), отпускные (-72 млн руб.), налоги (-12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Закупка трафика для перепродажи (+306 млн руб.), вознаграждения РА (+91 млн руб.), маркетинг ВГО (-27 млн руб.), PR/GR (+14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(+36 млн руб.), IT: ноутбуки и облачное хранение (+41 млн руб.), резерв отпусков (-22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капитализации ФОТ за 9 мес. (+93 млн руб.), Q4 — по бюджету</a:t>
            </a: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Целевая система управления медиаконтентом (+227 млн руб.), интеграция с КСО (+67 млн руб.), фасадные экраны ТТ (+23 млн руб., с учетом доп. закупки 70 млн руб. в Q4)</a:t>
            </a: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27163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77492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27819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461372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 2026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9+3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3 514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4 888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1 374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1 217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217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5 874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4 140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4 113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4 728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615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5 847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10 602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4 755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3 930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3 930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984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1 135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151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809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2 333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1 784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(549)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1 530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2 536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158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(2 789)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(2 382)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(1 088)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(1 132)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(1 518)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(1 140)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-69%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3 058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8 220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5 162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(1 180)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(774)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(447)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(733)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(420)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1 878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7 446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5 568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296%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725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2 506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1 781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lang="ru-RU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en-US"/>
              <a:t>Q4 2026 (YTG) MAGNIT ADS: BU vs FC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43858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200" b="0" i="0" u="none" strike="noStrike" kern="120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+1 973 млн руб.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Выручка поставщиков FT (база, 991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инкремент поставщиков сверх базы (924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(58 млн руб.)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-781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(-1 057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(251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(25 млн руб.)</a:t>
            </a: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Индексация не закладывается (+28 млн руб.); премии и резерв STI (-46 млн руб.), отпускные (-25 млн руб.), оплата труда (-14 млн руб.), налоги (-6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Закупка трафика MIP (+52 млн руб.), маркетинг ВГО (-5 млн руб.), вознаграждения блогерам (-2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(+11 млн руб.), IT (+9 млн руб.), резерв отпусков (+7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бюджету: капитализация ФОТ ~36 млн руб. в месяц</a:t>
            </a: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Доп. закупка фасадных экранов ТТ (-70 млн руб.): CAPEX In-store digital за год — 420 млн руб.</a:t>
            </a:r>
            <a:endParaRPr kumimoji="0" lang="ru-RU" sz="11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43979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94308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4463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478188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 Q4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Q4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1 467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2 725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1 258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449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552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2 525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1 973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357%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2 140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1 359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(781)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2 692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3 884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1 192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991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991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1 240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924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292%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294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(1 057)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785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1 036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155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(834)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(825)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(297)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(360)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(63)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(472)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(427)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(6)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-60%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1 858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3 059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1 201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(179)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1 749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2 880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1 131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633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1 900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1 267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7_Тема Office">
  <a:themeElements>
    <a:clrScheme name="Пользовательские 5">
      <a:dk1>
        <a:srgbClr val="000000"/>
      </a:dk1>
      <a:lt1>
        <a:srgbClr val="FFFFFF"/>
      </a:lt1>
      <a:dk2>
        <a:srgbClr val="FF452C"/>
      </a:dk2>
      <a:lt2>
        <a:srgbClr val="FFFEFF"/>
      </a:lt2>
      <a:accent1>
        <a:srgbClr val="FF452C"/>
      </a:accent1>
      <a:accent2>
        <a:srgbClr val="999999"/>
      </a:accent2>
      <a:accent3>
        <a:srgbClr val="FEA296"/>
      </a:accent3>
      <a:accent4>
        <a:srgbClr val="CCCCCC"/>
      </a:accent4>
      <a:accent5>
        <a:srgbClr val="FE7460"/>
      </a:accent5>
      <a:accent6>
        <a:srgbClr val="E4E4E4"/>
      </a:accent6>
      <a:hlink>
        <a:srgbClr val="0963FA"/>
      </a:hlink>
      <a:folHlink>
        <a:srgbClr val="9FD1F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813DC4-6E6A-334C-8A92-F7C8F4D7664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e2f2751-92b3-472b-badd-636cf7a347c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2015</TotalTime>
  <Words>2498</Words>
  <Application>Microsoft Macintosh PowerPoint</Application>
  <PresentationFormat>Widescreen</PresentationFormat>
  <Paragraphs>872</Paragraphs>
  <Slides>7</Slides>
  <Notes>0</Notes>
  <HiddenSlides>2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Arha Magnit</vt:lpstr>
      <vt:lpstr>Arial</vt:lpstr>
      <vt:lpstr>Calibri</vt:lpstr>
      <vt:lpstr>Montserrat</vt:lpstr>
      <vt:lpstr>Montserrat Medium</vt:lpstr>
      <vt:lpstr>7_Тема Office</vt:lpstr>
      <vt:lpstr>think-cell Slide</vt:lpstr>
      <vt:lpstr>Слайд think-cell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Бабкин Денис Владимирович</dc:creator>
  <cp:keywords/>
  <dc:description/>
  <cp:lastModifiedBy>Бабкин Денис Владимирович</cp:lastModifiedBy>
  <cp:revision>43</cp:revision>
  <dcterms:created xsi:type="dcterms:W3CDTF">2026-10-05T11:53:56Z</dcterms:created>
  <dcterms:modified xsi:type="dcterms:W3CDTF">2026-10-20T12:23:47Z</dcterms:modified>
  <cp:category/>
</cp:coreProperties>
</file>