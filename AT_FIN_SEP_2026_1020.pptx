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2147480845" r:id="rId2"/>
    <p:sldId id="2147480847" r:id="rId3"/>
    <p:sldId id="2147480846" r:id="rId4"/>
    <p:sldId id="2147480851" r:id="rId5"/>
    <p:sldId id="2147480850" r:id="rId6"/>
    <p:sldId id="2147480848" r:id="rId7"/>
    <p:sldId id="2147480849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3E0"/>
    <a:srgbClr val="595959"/>
    <a:srgbClr val="FF452B"/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59"/>
    <p:restoredTop sz="94694"/>
  </p:normalViewPr>
  <p:slideViewPr>
    <p:cSldViewPr snapToGrid="0">
      <p:cViewPr varScale="1">
        <p:scale>
          <a:sx n="121" d="100"/>
          <a:sy n="121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E-comm</c:v>
                </c:pt>
              </c:strCache>
            </c:strRef>
          </c:tx>
          <c:spPr>
            <a:solidFill>
              <a:srgbClr val="262626"/>
            </a:solidFill>
          </c:spPr>
          <c:invertIfNegative val="1"/>
          <c:dPt>
            <c:idx val="10"/>
            <c:spPr>
              <a:solidFill>
                <a:srgbClr val="262626">
                  <a:alpha val="65000"/>
                </a:srgbClr>
              </a:solidFill>
            </c:spPr>
          </c:dPt>
          <c:dPt>
            <c:idx val="11"/>
            <c:spPr>
              <a:solidFill>
                <a:srgbClr val="262626">
                  <a:alpha val="65000"/>
                </a:srgbClr>
              </a:solidFill>
            </c:spPr>
          </c:dPt>
          <c:dPt>
            <c:idx val="12"/>
            <c:spPr>
              <a:solidFill>
                <a:srgbClr val="262626">
                  <a:alpha val="65000"/>
                </a:srgbClr>
              </a:solidFill>
            </c:spPr>
          </c:dPt>
          <c:cat>
            <c:strRef>
              <c:f>Sheet1!$A$2:$A$14</c:f>
              <c:strCache>
                <c:ptCount val="13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 </c:v>
                </c:pt>
                <c:pt idx="10">
                  <c:v>Окт</c:v>
                </c:pt>
                <c:pt idx="11">
                  <c:v>Ноя</c:v>
                </c:pt>
                <c:pt idx="12">
                  <c:v>Дек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145.3</c:v>
                </c:pt>
                <c:pt idx="1">
                  <c:v>276.4</c:v>
                </c:pt>
                <c:pt idx="2">
                  <c:v>283.9</c:v>
                </c:pt>
                <c:pt idx="3">
                  <c:v>346.9</c:v>
                </c:pt>
                <c:pt idx="4">
                  <c:v>446.9</c:v>
                </c:pt>
                <c:pt idx="5">
                  <c:v>649.8</c:v>
                </c:pt>
                <c:pt idx="6">
                  <c:v>488.0</c:v>
                </c:pt>
                <c:pt idx="7">
                  <c:v>400.7</c:v>
                </c:pt>
                <c:pt idx="8">
                  <c:v>458.0</c:v>
                </c:pt>
                <c:pt idx="10">
                  <c:v>560.1</c:v>
                </c:pt>
                <c:pt idx="11">
                  <c:v>809.8</c:v>
                </c:pt>
                <c:pt idx="12">
                  <c:v>1154.4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7FE-F14B-8CFB-25CBF48A97D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Digital Instore</c:v>
                </c:pt>
              </c:strCache>
            </c:strRef>
          </c:tx>
          <c:spPr>
            <a:solidFill>
              <a:srgbClr val="FF452C"/>
            </a:solidFill>
          </c:spPr>
          <c:invertIfNegative val="1"/>
          <c:dPt>
            <c:idx val="10"/>
            <c:spPr>
              <a:solidFill>
                <a:srgbClr val="FF452C">
                  <a:alpha val="65000"/>
                </a:srgbClr>
              </a:solidFill>
            </c:spPr>
          </c:dPt>
          <c:dPt>
            <c:idx val="11"/>
            <c:spPr>
              <a:solidFill>
                <a:srgbClr val="FF452C">
                  <a:alpha val="65000"/>
                </a:srgbClr>
              </a:solidFill>
            </c:spPr>
          </c:dPt>
          <c:dPt>
            <c:idx val="12"/>
            <c:spPr>
              <a:solidFill>
                <a:srgbClr val="FF452C">
                  <a:alpha val="65000"/>
                </a:srgbClr>
              </a:solidFill>
            </c:spPr>
          </c:dPt>
          <c:cat>
            <c:strRef>
              <c:f>Sheet1!$A$2:$A$14</c:f>
              <c:strCache>
                <c:ptCount val="13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 </c:v>
                </c:pt>
                <c:pt idx="10">
                  <c:v>Окт</c:v>
                </c:pt>
                <c:pt idx="11">
                  <c:v>Ноя</c:v>
                </c:pt>
                <c:pt idx="12">
                  <c:v>Дек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27.5</c:v>
                </c:pt>
                <c:pt idx="1">
                  <c:v>67.5</c:v>
                </c:pt>
                <c:pt idx="2">
                  <c:v>72.0</c:v>
                </c:pt>
                <c:pt idx="3">
                  <c:v>46.1</c:v>
                </c:pt>
                <c:pt idx="4">
                  <c:v>160.2</c:v>
                </c:pt>
                <c:pt idx="5">
                  <c:v>276.0</c:v>
                </c:pt>
                <c:pt idx="6">
                  <c:v>354.1</c:v>
                </c:pt>
                <c:pt idx="7">
                  <c:v>241.3</c:v>
                </c:pt>
                <c:pt idx="8">
                  <c:v>421.8</c:v>
                </c:pt>
                <c:pt idx="10">
                  <c:v>310.0</c:v>
                </c:pt>
                <c:pt idx="11">
                  <c:v>345.0</c:v>
                </c:pt>
                <c:pt idx="12">
                  <c:v>345.0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7FE-F14B-8CFB-25CBF48A97D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Online+DMP и DMP</c:v>
                </c:pt>
              </c:strCache>
            </c:strRef>
          </c:tx>
          <c:spPr>
            <a:solidFill>
              <a:srgbClr val="8C8C8C"/>
            </a:solidFill>
          </c:spPr>
          <c:invertIfNegative val="1"/>
          <c:dPt>
            <c:idx val="10"/>
            <c:spPr>
              <a:solidFill>
                <a:srgbClr val="8C8C8C">
                  <a:alpha val="65000"/>
                </a:srgbClr>
              </a:solidFill>
            </c:spPr>
          </c:dPt>
          <c:dPt>
            <c:idx val="11"/>
            <c:spPr>
              <a:solidFill>
                <a:srgbClr val="8C8C8C">
                  <a:alpha val="65000"/>
                </a:srgbClr>
              </a:solidFill>
            </c:spPr>
          </c:dPt>
          <c:dPt>
            <c:idx val="12"/>
            <c:spPr>
              <a:solidFill>
                <a:srgbClr val="8C8C8C">
                  <a:alpha val="65000"/>
                </a:srgbClr>
              </a:solidFill>
            </c:spPr>
          </c:dPt>
          <c:cat>
            <c:strRef>
              <c:f>Sheet1!$A$2:$A$14</c:f>
              <c:strCache>
                <c:ptCount val="13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 </c:v>
                </c:pt>
                <c:pt idx="10">
                  <c:v>Окт</c:v>
                </c:pt>
                <c:pt idx="11">
                  <c:v>Ноя</c:v>
                </c:pt>
                <c:pt idx="12">
                  <c:v>Дек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21.5</c:v>
                </c:pt>
                <c:pt idx="1">
                  <c:v>13.2</c:v>
                </c:pt>
                <c:pt idx="2">
                  <c:v>7.6</c:v>
                </c:pt>
                <c:pt idx="3">
                  <c:v>30.7</c:v>
                </c:pt>
                <c:pt idx="4">
                  <c:v>61.7</c:v>
                </c:pt>
                <c:pt idx="5">
                  <c:v>221.3</c:v>
                </c:pt>
                <c:pt idx="6">
                  <c:v>77.6</c:v>
                </c:pt>
                <c:pt idx="7">
                  <c:v>134.9</c:v>
                </c:pt>
                <c:pt idx="8">
                  <c:v>204.1</c:v>
                </c:pt>
                <c:pt idx="10">
                  <c:v>96.8</c:v>
                </c:pt>
                <c:pt idx="11">
                  <c:v>113.0</c:v>
                </c:pt>
                <c:pt idx="12">
                  <c:v>137.2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67FE-F14B-8CFB-25CBF48A97D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Прочее</c:v>
                </c:pt>
              </c:strCache>
            </c:strRef>
          </c:tx>
          <c:spPr>
            <a:solidFill>
              <a:srgbClr val="D0D0D0"/>
            </a:solidFill>
          </c:spPr>
          <c:invertIfNegative val="1"/>
          <c:dPt>
            <c:idx val="10"/>
            <c:spPr>
              <a:solidFill>
                <a:srgbClr val="D0D0D0">
                  <a:alpha val="65000"/>
                </a:srgbClr>
              </a:solidFill>
            </c:spPr>
          </c:dPt>
          <c:dPt>
            <c:idx val="11"/>
            <c:spPr>
              <a:solidFill>
                <a:srgbClr val="D0D0D0">
                  <a:alpha val="65000"/>
                </a:srgbClr>
              </a:solidFill>
            </c:spPr>
          </c:dPt>
          <c:dPt>
            <c:idx val="12"/>
            <c:spPr>
              <a:solidFill>
                <a:srgbClr val="D0D0D0">
                  <a:alpha val="65000"/>
                </a:srgbClr>
              </a:solidFill>
            </c:spPr>
          </c:dPt>
          <c:cat>
            <c:strRef>
              <c:f>Sheet1!$A$2:$A$14</c:f>
              <c:strCache>
                <c:ptCount val="13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 </c:v>
                </c:pt>
                <c:pt idx="10">
                  <c:v>Окт</c:v>
                </c:pt>
                <c:pt idx="11">
                  <c:v>Ноя</c:v>
                </c:pt>
                <c:pt idx="12">
                  <c:v>Дек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85.1</c:v>
                </c:pt>
                <c:pt idx="1">
                  <c:v>82.0</c:v>
                </c:pt>
                <c:pt idx="2">
                  <c:v>70.1</c:v>
                </c:pt>
                <c:pt idx="3">
                  <c:v>31.4</c:v>
                </c:pt>
                <c:pt idx="4">
                  <c:v>30.6</c:v>
                </c:pt>
                <c:pt idx="5">
                  <c:v>52.2</c:v>
                </c:pt>
                <c:pt idx="6">
                  <c:v>145.6</c:v>
                </c:pt>
                <c:pt idx="7">
                  <c:v>187.2</c:v>
                </c:pt>
                <c:pt idx="8">
                  <c:v>99.3</c:v>
                </c:pt>
                <c:pt idx="10">
                  <c:v>3.9</c:v>
                </c:pt>
                <c:pt idx="11">
                  <c:v>4.1</c:v>
                </c:pt>
                <c:pt idx="12">
                  <c:v>4.5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67FE-F14B-8CFB-25CBF48A97D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279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67FE-F14B-8CFB-25CBF48A97D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67FE-F14B-8CFB-25CBF48A97D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434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67FE-F14B-8CFB-25CBF48A97D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455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67FE-F14B-8CFB-25CBF48A97DC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699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67FE-F14B-8CFB-25CBF48A97DC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1 199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67FE-F14B-8CFB-25CBF48A97DC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1 065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67FE-F14B-8CFB-25CBF48A97DC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964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67FE-F14B-8CFB-25CBF48A97DC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1 183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67FE-F14B-8CFB-25CBF48A97DC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971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1 272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1 641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Sheet1!$A$2:$A$14</c:f>
              <c:strCache>
                <c:ptCount val="13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 </c:v>
                </c:pt>
                <c:pt idx="10">
                  <c:v>Окт</c:v>
                </c:pt>
                <c:pt idx="11">
                  <c:v>Ноя</c:v>
                </c:pt>
                <c:pt idx="12">
                  <c:v>Дек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150</c:v>
                </c:pt>
                <c:pt idx="1">
                  <c:v>150</c:v>
                </c:pt>
                <c:pt idx="2">
                  <c:v>150</c:v>
                </c:pt>
                <c:pt idx="3">
                  <c:v>150</c:v>
                </c:pt>
                <c:pt idx="4">
                  <c:v>150</c:v>
                </c:pt>
                <c:pt idx="5">
                  <c:v>150</c:v>
                </c:pt>
                <c:pt idx="6">
                  <c:v>150</c:v>
                </c:pt>
                <c:pt idx="7">
                  <c:v>150</c:v>
                </c:pt>
                <c:pt idx="8">
                  <c:v>150</c:v>
                </c:pt>
                <c:pt idx="10">
                  <c:v>150</c:v>
                </c:pt>
                <c:pt idx="11">
                  <c:v>150</c:v>
                </c:pt>
                <c:pt idx="12">
                  <c:v>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67FE-F14B-8CFB-25CBF48A97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  <a:endParaRPr lang="en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900.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legendEntry>
        <c:idx val="4"/>
        <c:delete val="1"/>
      </c:legendEntry>
      <c:overlay val="0"/>
    </c:legend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1183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1183</c:v>
                </c:pt>
                <c:pt idx="9">
                  <c:v>971</c:v>
                </c:pt>
                <c:pt idx="10">
                  <c:v>1272</c:v>
                </c:pt>
                <c:pt idx="11">
                  <c:v>1641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</c:v>
                </c:pt>
                <c:pt idx="2">
                  <c:v>6988</c:v>
                </c:pt>
                <c:pt idx="3">
                  <c:v>7198</c:v>
                </c:pt>
                <c:pt idx="4">
                  <c:v>7813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28-4742-908C-CB4B4A0E95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8220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28-4742-908C-CB4B4A0E95B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rgbClr val="FF452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3930</c:v>
                </c:pt>
                <c:pt idx="2">
                  <c:v>210</c:v>
                </c:pt>
                <c:pt idx="3">
                  <c:v>615</c:v>
                </c:pt>
                <c:pt idx="4">
                  <c:v>407</c:v>
                </c:pt>
                <c:pt idx="5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28-4742-908C-CB4B4A0E95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F28-4742-908C-CB4B4A0E95B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+3 930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FF28-4742-908C-CB4B4A0E95B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+210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F28-4742-908C-CB4B4A0E95B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+615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FF28-4742-908C-CB4B4A0E95B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+407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F28-4742-908C-CB4B4A0E95B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8 220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FF28-4742-908C-CB4B4A0E95B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FF28-4742-908C-CB4B4A0E95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3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ru-RU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Relationship Id="rId5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Сноска. Шрифт </a:t>
            </a:r>
            <a:r>
              <a:rPr lang="en-US"/>
              <a:t>Arial Regular </a:t>
            </a:r>
            <a:r>
              <a:rPr lang="ru-RU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/>
              <a:t>Заголовок слайда в две строки</a:t>
            </a:r>
            <a:br>
              <a:rPr lang="ru-RU" dirty="0"/>
            </a:br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 слайд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2">
            <a:extLst>
              <a:ext uri="{FF2B5EF4-FFF2-40B4-BE49-F238E27FC236}">
                <a16:creationId xmlns:a16="http://schemas.microsoft.com/office/drawing/2014/main" id="{E7EE3C8A-F97F-2E6D-D5C4-E85ADD7938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74252" y="6429889"/>
            <a:ext cx="625661" cy="199509"/>
          </a:xfrm>
          <a:prstGeom prst="rect">
            <a:avLst/>
          </a:prstGeom>
        </p:spPr>
        <p:txBody>
          <a:bodyPr/>
          <a:lstStyle>
            <a:lvl1pPr algn="ctr">
              <a:defRPr sz="1000" b="0">
                <a:solidFill>
                  <a:srgbClr val="E30613"/>
                </a:solidFill>
                <a:latin typeface="Montserrat Medium" pitchFamily="2" charset="-52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BA81D881-30B5-EEEF-623E-FCB08A74A52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4185" y="169335"/>
            <a:ext cx="11805728" cy="97642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ts val="3667"/>
              </a:lnSpc>
              <a:spcBef>
                <a:spcPts val="0"/>
              </a:spcBef>
              <a:buNone/>
              <a:defRPr sz="3334" b="1">
                <a:solidFill>
                  <a:srgbClr val="E30613"/>
                </a:solidFill>
                <a:latin typeface="Arha Magnit" panose="020B0503030408080203" pitchFamily="34" charset="0"/>
                <a:ea typeface="Arha Magnit" panose="020B0503030408080203" pitchFamily="34" charset="0"/>
              </a:defRPr>
            </a:lvl1pPr>
            <a:lvl2pPr>
              <a:defRPr>
                <a:solidFill>
                  <a:srgbClr val="E30613"/>
                </a:solidFill>
              </a:defRPr>
            </a:lvl2pPr>
            <a:lvl3pPr>
              <a:defRPr>
                <a:solidFill>
                  <a:srgbClr val="E30613"/>
                </a:solidFill>
              </a:defRPr>
            </a:lvl3pPr>
            <a:lvl4pPr>
              <a:defRPr>
                <a:solidFill>
                  <a:srgbClr val="E30613"/>
                </a:solidFill>
              </a:defRPr>
            </a:lvl4pPr>
            <a:lvl5pPr>
              <a:defRPr>
                <a:solidFill>
                  <a:srgbClr val="E30613"/>
                </a:solidFill>
              </a:defRPr>
            </a:lvl5pPr>
          </a:lstStyle>
          <a:p>
            <a:pPr lvl="0"/>
            <a:r>
              <a:rPr lang="ru-RU">
                <a:effectLst/>
              </a:rPr>
              <a:t>Действуй смело</a:t>
            </a:r>
          </a:p>
          <a:p>
            <a:pPr lvl="0"/>
            <a:r>
              <a:rPr lang="ru-RU">
                <a:effectLst/>
              </a:rPr>
              <a:t>Достигай невозможного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DD5DBD3-9CA8-4504-9712-DECDFE190F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433" y="6432036"/>
            <a:ext cx="3600000" cy="197362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000">
                <a:solidFill>
                  <a:schemeClr val="tx1"/>
                </a:solidFill>
                <a:latin typeface="Montserrat" panose="00000500000000000000" pitchFamily="2" charset="-52"/>
              </a:defRPr>
            </a:lvl1pPr>
            <a:lvl2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2pPr>
            <a:lvl3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3pPr>
            <a:lvl4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4pPr>
            <a:lvl5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5pPr>
          </a:lstStyle>
          <a:p>
            <a:pPr lvl="0"/>
            <a:r>
              <a:rPr lang="ru-RU">
                <a:effectLst/>
              </a:rPr>
              <a:t>Тема презентации. Название раздела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12809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7559">
          <p15:clr>
            <a:srgbClr val="FBAE40"/>
          </p15:clr>
        </p15:guide>
        <p15:guide id="4" pos="12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tags" Target="../tags/tag1.xml"/><Relationship Id="rId5" Type="http://schemas.openxmlformats.org/officeDocument/2006/relationships/oleObject" Target="../embeddings/oleObject1.bin"/><Relationship Id="rId6" Type="http://schemas.openxmlformats.org/officeDocument/2006/relationships/image" Target="../media/image1.emf"/><Relationship Id="rId7" Type="http://schemas.openxmlformats.org/officeDocument/2006/relationships/image" Target="../media/image2.svg"/><Relationship Id="rId8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5" imgH="426" progId="TCLayout.ActiveDocument.1">
                  <p:embed/>
                </p:oleObj>
              </mc:Choice>
              <mc:Fallback>
                <p:oleObj name="think-cell Slide" r:id="rId5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4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4.emf"/><Relationship Id="rId5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Relationship Id="rId5" Type="http://schemas.openxmlformats.org/officeDocument/2006/relationships/chart" Target="../charts/chart2.xml"/><Relationship Id="rId6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Статус выполнения КПЭ: </a:t>
            </a:r>
            <a:r>
              <a:rPr lang="ru-RU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/>
          </a:p>
          <a:p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485019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ru-RU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142,82%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126,81%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121,19%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121,74%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</a:t>
            </a:r>
            <a:r>
              <a:rPr kumimoji="0" lang="en-US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</a:t>
            </a: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Расшифровка:</a:t>
            </a: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ru-RU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3 779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(105)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1 616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253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2 222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181%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228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79%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-28%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-146%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1 025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1 235%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486%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685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845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531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737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43858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+295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323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(-26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(-2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+228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(-35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(19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 err="1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</a:t>
            </a: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 ФОТ в CAPEX (+166 млн руб.); доначисление резерва STI (-16 млн руб.), отпускные (-7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 err="1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</a:t>
            </a: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 ФОТ в CAPEX (-180 млн руб.)</a:t>
            </a: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272437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77572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27900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61452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+2 167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2 939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(-774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+1 395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(508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(133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3224118588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2 939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2 939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-116%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5 161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3 960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4 566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606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Выручка по направлениям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236674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Выручка, 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Авг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Сен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9М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Сен vs Авг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+14%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Digital Instore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+75%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Online+DMP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732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+55%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933415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-47%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518663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Пакеты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-88%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4733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ФинТех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52409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Другое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142735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POSM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247658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Прочее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-100%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64705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+23%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9" name="Revenue forecast by direction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3268214"/>
          <a:ext cx="5659900" cy="193643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Прогноз выручки, 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9М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Q4 FC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9+3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vs BU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3 350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2 524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5 874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+237%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Digital Instore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1 667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2 667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+6%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Online+DMP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732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329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1 061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+4%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Пакеты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POSM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Прочее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546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+20%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3 884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10 602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+81%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Chart title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34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Динамика выручки по направлениям, млн руб.</a:t>
            </a:r>
          </a:p>
        </p:txBody>
      </p:sp>
      <p:graphicFrame>
        <p:nvGraphicFramePr>
          <p:cNvPr id="328" name="Revenue by direction"/>
          <p:cNvGraphicFramePr>
            <a:graphicFrameLocks noGrp="1"/>
          </p:cNvGraphicFramePr>
          <p:nvPr/>
        </p:nvGraphicFramePr>
        <p:xfrm>
          <a:off x="6700000" y="1050000"/>
          <a:ext cx="5200000" cy="51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cxnSp>
        <p:nvCxnSpPr>
          <p:cNvPr id="330" name="Forecast separator"/>
          <p:cNvCxnSpPr/>
          <p:nvPr/>
        </p:nvCxnSpPr>
        <p:spPr>
          <a:xfrm>
            <a:off x="10450000" y="1700000"/>
            <a:ext cx="0" cy="4350000"/>
          </a:xfrm>
          <a:prstGeom prst="line">
            <a:avLst/>
          </a:prstGeom>
          <a:ln w="12700">
            <a:solidFill>
              <a:srgbClr val="8C8C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orecast caption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10500000" y="1700000"/>
            <a:ext cx="1350000" cy="30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1" i="0" u="none" strike="noStrike" kern="1200" cap="none" spc="0" normalizeH="0" baseline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Прогноз</a:t>
            </a: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lang="ru-RU" sz="9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4 755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Выручки поставщиков FT (3 930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(210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(615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5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2431837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819361"/>
              </p:ext>
            </p:extLst>
          </p:nvPr>
        </p:nvGraphicFramePr>
        <p:xfrm>
          <a:off x="6393164" y="2801837"/>
          <a:ext cx="5434661" cy="323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43858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+4 140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3 930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(151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(59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+615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(-549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(1 006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(158 млн руб.)</a:t>
            </a: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Оплата труда +104 млн руб. (</a:t>
            </a:r>
            <a:r>
              <a:rPr kumimoji="0" lang="ru-RU" sz="1100" b="0" i="0" u="none" strike="noStrike" kern="0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</a:t>
            </a: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 ФОТ в CAPEX), премии и резерв STI (-112 млн руб.), отпускные (-72 млн руб.), налоги (-12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(+306 млн руб.), вознаграждения РА (+91 млн руб.), маркетинг ВГО (-27 млн руб.), PR/GR (+14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(+36 млн руб.), IT: ноутбуки и облачное хранение (+41 млн руб.), резерв отпусков (-22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интеграция с КСО (+67 млн руб.), фасадные экраны ТТ (+23 млн руб., с учетом доп. закупки 70 млн руб. в Q4)</a:t>
            </a: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271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77492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27819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61372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1 374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5 874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4 728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10 602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(2 382)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(1 132)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(1 140)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5 162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7 446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5 568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2 506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1 781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43858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+1 973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991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(924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(58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-781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(-1 057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(25 млн руб.)</a:t>
            </a: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Индексация не закладывается (+28 млн руб.); премии и резерв STI (-46 млн руб.), отпускные (-25 млн руб.), оплата труда (-14 млн руб.), налоги (-6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(+52 млн руб.), маркетинг ВГО (-5 млн руб.), вознаграждения блогерам (-2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(+11 млн руб.), IT (+9 млн руб.), резерв отпусков (+7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Доп. закупка фасадных экранов ТТ (-70 млн руб.): CAPEX In-store digital за год — 420 млн руб.</a:t>
            </a:r>
            <a:endParaRPr kumimoji="0" lang="ru-RU" sz="1100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3 884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991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991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3 059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(179)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2 880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1 900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1 267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2015</TotalTime>
  <Words>2498</Words>
  <Application>Microsoft Macintosh PowerPoint</Application>
  <PresentationFormat>Widescreen</PresentationFormat>
  <Paragraphs>872</Paragraphs>
  <Slides>7</Slides>
  <Notes>0</Notes>
  <HiddenSlides>2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Arha Magnit</vt:lpstr>
      <vt:lpstr>Arial</vt:lpstr>
      <vt:lpstr>Calibri</vt:lpstr>
      <vt:lpstr>Montserrat</vt:lpstr>
      <vt:lpstr>Montserrat Medium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43</cp:revision>
  <dcterms:created xsi:type="dcterms:W3CDTF">2026-10-05T11:53:56Z</dcterms:created>
  <dcterms:modified xsi:type="dcterms:W3CDTF">2026-10-20T12:23:47Z</dcterms:modified>
  <cp:category/>
</cp:coreProperties>
</file>