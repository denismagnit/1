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89" r:id="rId5"/>
    <p:sldId id="285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FCE"/>
    <a:srgbClr val="FFC7CE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4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10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6D58F-7999-4D19-B9B8-BB9C3785CC2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58E23-9E9B-43EA-83EC-07577BAB8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90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3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47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708324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93354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1080707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6254614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69000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046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ADD647-E937-DDB7-075E-A04B10D338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592A408-51AF-6A75-CEA1-8006E624F4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032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484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7882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713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8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46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BAF534-2BC1-CEB2-12DB-DBA45C0E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Рисунок 4">
            <a:extLst>
              <a:ext uri="{FF2B5EF4-FFF2-40B4-BE49-F238E27FC236}">
                <a16:creationId xmlns:a16="http://schemas.microsoft.com/office/drawing/2014/main" id="{ED29ABB3-204F-4660-39B6-A3914127D8D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72200" y="1934651"/>
            <a:ext cx="5476875" cy="39560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C5809D7-6169-42C4-8E87-D94D02BF16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EAB62C6A-5402-41DD-9134-E5CFC828EF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340547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2925" y="2328240"/>
            <a:ext cx="4075113" cy="3448126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F82D38E-A9A2-4CC6-8EB2-4B1E5F5557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0CAF06F-3325-4AD7-91BD-4B80720C6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FC70EEEC-1E74-4F17-A746-B7114BB4E0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78550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5481638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  <a:p>
            <a:pPr lvl="0"/>
            <a:endParaRPr lang="en" dirty="0"/>
          </a:p>
          <a:p>
            <a:pPr lvl="0"/>
            <a:r>
              <a:rPr lang="en" dirty="0"/>
              <a:t>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</a:t>
            </a:r>
            <a:br>
              <a:rPr lang="ru-RU" dirty="0"/>
            </a:br>
            <a:endParaRPr lang="en" dirty="0"/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C1451717-F6E1-DE5C-AE2C-48C5F1D7A6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200" y="1934651"/>
            <a:ext cx="5465764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</p:txBody>
      </p:sp>
      <p:sp>
        <p:nvSpPr>
          <p:cNvPr id="13" name="Текст 3">
            <a:extLst>
              <a:ext uri="{FF2B5EF4-FFF2-40B4-BE49-F238E27FC236}">
                <a16:creationId xmlns:a16="http://schemas.microsoft.com/office/drawing/2014/main" id="{6C3A7078-BED8-4ED7-BE07-FDA18050FC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8AED0945-555D-46E5-A080-300C793EB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7326B72E-C38B-4B9F-8AD4-199078EDC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32123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5">
            <a:extLst>
              <a:ext uri="{FF2B5EF4-FFF2-40B4-BE49-F238E27FC236}">
                <a16:creationId xmlns:a16="http://schemas.microsoft.com/office/drawing/2014/main" id="{9ED88214-D3A7-286C-C395-2442A0151C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588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Текст 20">
            <a:extLst>
              <a:ext uri="{FF2B5EF4-FFF2-40B4-BE49-F238E27FC236}">
                <a16:creationId xmlns:a16="http://schemas.microsoft.com/office/drawing/2014/main" id="{7763F19C-0856-EE50-BBB0-BE993E136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8799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161B89B-9D36-2458-6D08-690113954EE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3655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Рисунок 5">
            <a:extLst>
              <a:ext uri="{FF2B5EF4-FFF2-40B4-BE49-F238E27FC236}">
                <a16:creationId xmlns:a16="http://schemas.microsoft.com/office/drawing/2014/main" id="{FD39D98B-12C6-A333-220A-1415BBBE9B5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722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5" name="Рисунок 5">
            <a:extLst>
              <a:ext uri="{FF2B5EF4-FFF2-40B4-BE49-F238E27FC236}">
                <a16:creationId xmlns:a16="http://schemas.microsoft.com/office/drawing/2014/main" id="{7D39BBF4-7CF4-D70B-CE47-350ABF8015D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982075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20">
            <a:extLst>
              <a:ext uri="{FF2B5EF4-FFF2-40B4-BE49-F238E27FC236}">
                <a16:creationId xmlns:a16="http://schemas.microsoft.com/office/drawing/2014/main" id="{3AEF3D06-30F2-279B-8430-363419395E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8800" y="4234745"/>
            <a:ext cx="2670176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2" name="Текст 20">
            <a:extLst>
              <a:ext uri="{FF2B5EF4-FFF2-40B4-BE49-F238E27FC236}">
                <a16:creationId xmlns:a16="http://schemas.microsoft.com/office/drawing/2014/main" id="{D5DDAE00-2299-C938-71FC-422094086B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71271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3" name="Текст 20">
            <a:extLst>
              <a:ext uri="{FF2B5EF4-FFF2-40B4-BE49-F238E27FC236}">
                <a16:creationId xmlns:a16="http://schemas.microsoft.com/office/drawing/2014/main" id="{6A420EA7-9EA1-A815-3D77-3D579D7472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71271" y="4234745"/>
            <a:ext cx="2667579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8" name="Текст 20">
            <a:extLst>
              <a:ext uri="{FF2B5EF4-FFF2-40B4-BE49-F238E27FC236}">
                <a16:creationId xmlns:a16="http://schemas.microsoft.com/office/drawing/2014/main" id="{CC1D1C65-2907-F4F6-A7F6-19E419D3A3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72200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9" name="Текст 20">
            <a:extLst>
              <a:ext uri="{FF2B5EF4-FFF2-40B4-BE49-F238E27FC236}">
                <a16:creationId xmlns:a16="http://schemas.microsoft.com/office/drawing/2014/main" id="{4EBF752E-6642-76AD-0DC1-83A2B8D56D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172201" y="4234745"/>
            <a:ext cx="266700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0" name="Текст 20">
            <a:extLst>
              <a:ext uri="{FF2B5EF4-FFF2-40B4-BE49-F238E27FC236}">
                <a16:creationId xmlns:a16="http://schemas.microsoft.com/office/drawing/2014/main" id="{694FE88C-4379-3D8B-76A7-F5195EE7A8E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82362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516FBFF7-C429-CE9B-EDF9-4E3B4C6544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5538" y="4234745"/>
            <a:ext cx="266195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52DF74F6-6CCA-4803-B4CB-F96B4A811D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25" name="Номер слайда 5">
            <a:extLst>
              <a:ext uri="{FF2B5EF4-FFF2-40B4-BE49-F238E27FC236}">
                <a16:creationId xmlns:a16="http://schemas.microsoft.com/office/drawing/2014/main" id="{35CC99ED-8696-4AE6-87A9-2C30D2D12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Текст 5">
            <a:extLst>
              <a:ext uri="{FF2B5EF4-FFF2-40B4-BE49-F238E27FC236}">
                <a16:creationId xmlns:a16="http://schemas.microsoft.com/office/drawing/2014/main" id="{4B971074-74D1-43AB-A3FC-4C7544B7B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95332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214405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endParaRPr lang="en" dirty="0"/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4C70397A-45C2-4EF4-84A2-C14622476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2" name="Номер слайда 5">
            <a:extLst>
              <a:ext uri="{FF2B5EF4-FFF2-40B4-BE49-F238E27FC236}">
                <a16:creationId xmlns:a16="http://schemas.microsoft.com/office/drawing/2014/main" id="{45303B5C-8927-4448-AF87-9B1F95064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09C1EA99-A3BF-4009-9D5C-413434A75F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989344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286362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65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1847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Цифра с пояснением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2085531"/>
            <a:ext cx="11098211" cy="1343469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Большая цифра</a:t>
            </a:r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A0DA0AD8-5CC4-2653-66F5-95FE3F87D6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3429000"/>
            <a:ext cx="11098211" cy="2085531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Поясняющая информация или детали в пару строк</a:t>
            </a:r>
          </a:p>
        </p:txBody>
      </p:sp>
    </p:spTree>
    <p:extLst>
      <p:ext uri="{BB962C8B-B14F-4D97-AF65-F5344CB8AC3E}">
        <p14:creationId xmlns:p14="http://schemas.microsoft.com/office/powerpoint/2010/main" val="3085435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Стандарт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76A417F-C5FB-4127-8AA2-CD5890D1B8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443" imgH="443" progId="TCLayout.ActiveDocument.1">
                  <p:embed/>
                </p:oleObj>
              </mc:Choice>
              <mc:Fallback>
                <p:oleObj name="Слайд think-cell" r:id="rId3" imgW="443" imgH="44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6A417F-C5FB-4127-8AA2-CD5890D1B8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-1" y="292817"/>
            <a:ext cx="11160000" cy="477805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360000" tIns="72000" rIns="180000" bIns="72000" anchor="ctr">
            <a:noAutofit/>
          </a:bodyPr>
          <a:lstStyle>
            <a:lvl1pPr>
              <a:defRPr sz="2400" b="1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Заголовок</a:t>
            </a:r>
            <a:r>
              <a:rPr lang="en-US"/>
              <a:t> 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  </a:t>
            </a:r>
            <a:endParaRPr lang="ru-RU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809312"/>
            <a:ext cx="11160000" cy="341632"/>
          </a:xfrm>
          <a:prstGeom prst="rect">
            <a:avLst/>
          </a:prstGeom>
        </p:spPr>
        <p:txBody>
          <a:bodyPr wrap="square" lIns="32004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tabLst/>
              <a:defRPr lang="en-US" sz="1600" b="1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569912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258887" indent="0">
              <a:buFontTx/>
              <a:buNone/>
              <a:defRPr sz="1800"/>
            </a:lvl4pPr>
            <a:lvl5pPr marL="1603375" indent="0">
              <a:buFontTx/>
              <a:buNone/>
              <a:defRPr sz="1800"/>
            </a:lvl5pPr>
          </a:lstStyle>
          <a:p>
            <a:pPr lvl="0"/>
            <a:r>
              <a:rPr lang="ru-RU"/>
              <a:t>Подзаголовок </a:t>
            </a:r>
            <a:r>
              <a:rPr lang="en-US"/>
              <a:t>(Segoe Print 18 </a:t>
            </a:r>
            <a:r>
              <a:rPr lang="ru-RU"/>
              <a:t>Жирный курсив</a:t>
            </a:r>
            <a:r>
              <a:rPr lang="en-US"/>
              <a:t>)</a:t>
            </a:r>
          </a:p>
        </p:txBody>
      </p:sp>
      <p:sp>
        <p:nvSpPr>
          <p:cNvPr id="8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1465073" y="6368528"/>
            <a:ext cx="432000" cy="384872"/>
          </a:xfrm>
          <a:prstGeom prst="rect">
            <a:avLst/>
          </a:prstGeom>
          <a:noFill/>
        </p:spPr>
        <p:txBody>
          <a:bodyPr anchor="ctr"/>
          <a:lstStyle>
            <a:lvl1pPr algn="r"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24F2AE68-28B4-4B40-8AA4-3365A0AE686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7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  <p15:guide id="2" pos="746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Обложка главы">
    <p:bg>
      <p:bgPr>
        <a:solidFill>
          <a:srgbClr val="E2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44" imgH="443" progId="TCLayout.ActiveDocument.1">
                  <p:embed/>
                </p:oleObj>
              </mc:Choice>
              <mc:Fallback>
                <p:oleObj name="Слайд think-cell" r:id="rId4" imgW="444" imgH="443" progId="TCLayout.ActiveDocument.1">
                  <p:embed/>
                  <p:pic>
                    <p:nvPicPr>
                      <p:cNvPr id="5" name="Объект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Прямоугольник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/>
            <a:endParaRPr lang="en-US" sz="4000" b="0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олилиния 5"/>
          <p:cNvSpPr/>
          <p:nvPr userDrawn="1"/>
        </p:nvSpPr>
        <p:spPr>
          <a:xfrm>
            <a:off x="718040" y="0"/>
            <a:ext cx="3035812" cy="6858000"/>
          </a:xfrm>
          <a:custGeom>
            <a:avLst/>
            <a:gdLst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0 w 5075225"/>
              <a:gd name="connsiteY6" fmla="*/ 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91440 w 5075225"/>
              <a:gd name="connsiteY6" fmla="*/ 9144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  <a:gd name="connsiteX4" fmla="*/ 2522474 w 3035812"/>
              <a:gd name="connsiteY4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5812" h="6858000">
                <a:moveTo>
                  <a:pt x="0" y="0"/>
                </a:moveTo>
                <a:lnTo>
                  <a:pt x="183446" y="93955"/>
                </a:lnTo>
                <a:cubicBezTo>
                  <a:pt x="1882443" y="1016906"/>
                  <a:pt x="3035812" y="2816981"/>
                  <a:pt x="3035812" y="4886438"/>
                </a:cubicBezTo>
                <a:lnTo>
                  <a:pt x="3018289" y="6858000"/>
                </a:lnTo>
              </a:path>
            </a:pathLst>
          </a:custGeom>
          <a:noFill/>
          <a:ln>
            <a:solidFill>
              <a:srgbClr val="E3E3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/>
          <p:cNvSpPr>
            <a:spLocks noGrp="1"/>
          </p:cNvSpPr>
          <p:nvPr>
            <p:ph type="title" hasCustomPrompt="1"/>
          </p:nvPr>
        </p:nvSpPr>
        <p:spPr>
          <a:xfrm>
            <a:off x="601580" y="2660478"/>
            <a:ext cx="10786116" cy="752224"/>
          </a:xfrm>
          <a:prstGeom prst="rect">
            <a:avLst/>
          </a:prstGeom>
          <a:solidFill>
            <a:srgbClr val="E22A36"/>
          </a:solidFill>
        </p:spPr>
        <p:txBody>
          <a:bodyPr lIns="72000" rIns="7200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/>
              <a:t>Название раздела</a:t>
            </a:r>
            <a:r>
              <a:rPr lang="en-US"/>
              <a:t> (Arial 40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601580" y="3429000"/>
            <a:ext cx="10786115" cy="660246"/>
          </a:xfrm>
          <a:prstGeom prst="rect">
            <a:avLst/>
          </a:prstGeom>
          <a:solidFill>
            <a:srgbClr val="E22A36"/>
          </a:solidFill>
        </p:spPr>
        <p:txBody>
          <a:bodyPr lIns="72000" tIns="180000" rIns="72000" bIns="18000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Подзаголовок </a:t>
            </a:r>
            <a:r>
              <a:rPr lang="en-US"/>
              <a:t>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10" name="Прямоугольник с двумя скругленными противолежащими углами 9"/>
          <p:cNvSpPr/>
          <p:nvPr userDrawn="1"/>
        </p:nvSpPr>
        <p:spPr>
          <a:xfrm>
            <a:off x="4017649" y="4481656"/>
            <a:ext cx="947488" cy="2157897"/>
          </a:xfrm>
          <a:prstGeom prst="round2Diag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19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6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27" imgW="425" imgH="426" progId="TCLayout.ActiveDocument.1">
                  <p:embed/>
                </p:oleObj>
              </mc:Choice>
              <mc:Fallback>
                <p:oleObj name="Слайд think-cell" r:id="rId27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364175" y="6321790"/>
            <a:ext cx="1179870" cy="368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741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6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Прогноз 2026 = факт 9 мес. + прогноз 3 мес.; сентябрь — предв. факт (выручка по Rev); бюджет — утверждённый BU; «+» к бюджету — улучшение (по расходам — экономия)</a:t>
            </a:r>
            <a:br>
              <a:rPr lang="ru-RU" dirty="0"/>
            </a:br>
            <a:r>
              <a:rPr lang="ru-RU" dirty="0"/>
              <a:t>** - Факт 2025: выручка AdTech с июня 2025; выручка и EBITDA за год с корректировкой декабря (-423 млн); OPEX 2025 включает аренду; н/д — нет данных за 2025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Факт (Сентябрь)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520000"/>
        </p:xfrm>
        <a:graphic>
          <a:graphicData uri="http://schemas.openxmlformats.org/drawingml/2006/table">
            <a:tbl>
              <a:tblPr firstRow="1"/>
              <a:tblGrid>
                <a:gridCol w="1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4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Сентябрь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Факт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Сентябрь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Бюджету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Бюджету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Сен.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 /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Бюджету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Факт**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 /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2700">
                      <a:noFill/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Incremental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+106,4%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5 728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3 515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Non-vendor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КПЭ 2026: прогноз 1,22 млрд руб. при цели 1,0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1 222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E-comm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+338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+207,8%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Предв. факт: поставщики 441, не поставщики 60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6 346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+266,0%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Non-E-comm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На уровне бюджета (+2,7%)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4 455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4 113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+53,1%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Централизация монетизации ФудТех в АдТех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10 800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5 847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+84,7%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1 745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×6,2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+148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Рекласс ФОТ в CAPEX +180 млн (разово)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-2 364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-2 397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-659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×3,6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+499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+113,8%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выручки и рекласс ФОТ в CAPEX (+180 млн)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8 436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+144,5%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1 086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×7,8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 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3 364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1 117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+201,2%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Рекласс ФОТ в CAPEX −180 млн (AT Platform)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-704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+163,1%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7 732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2 270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+240,6%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н/д</a:t>
                      </a:r>
                    </a:p>
                  </a:txBody>
                  <a:tcPr marL="36000" marR="36000" marT="18000" marB="18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Прогноз 2026 = факт 9 мес. + прогноз 3 мес. EBITDA для КПЭ — без базовой выручки E-com. Оценка: 0,5 — при мин., 1,0 — при цели, 1,5 — при макс. и выше, между точками — линейно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Выполнение КПЭ 2026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760952"/>
              </p:ext>
            </p:extLst>
          </p:nvPr>
        </p:nvGraphicFramePr>
        <p:xfrm>
          <a:off x="364175" y="829165"/>
          <a:ext cx="11000000" cy="2720000"/>
        </p:xfrm>
        <a:graphic>
          <a:graphicData uri="http://schemas.openxmlformats.org/drawingml/2006/table">
            <a:tbl>
              <a:tblPr firstRow="1"/>
              <a:tblGrid>
                <a:gridCol w="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60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539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Мин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Цель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Макс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Факт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9 мес.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% к цели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Оценка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FF45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Триггер: EBITDA AdTech ≥ 92% бюджета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3,05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4,91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142%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Выполняется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b="0" i="0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AdTech EBITDA, млрд руб.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3,17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3,45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4,31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3,05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4,91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142%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Без учёта базовой выручки E-com (3,52 млрд руб.)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Инкрементальная выручка от некоммерческих поставщиков (Non-vendor), млрд руб.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0,80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1,20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0,75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1,22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b="0" i="0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27668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aBMu5Y9A2PtCcQK8SQl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DD568C-A782-FB4F-864B-BD5FFD469CE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80481db-ed65-47c9-a1c0-2fde1bfe45e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5586351EFA2A4845BBB1D74C44D60F86" ma:contentTypeVersion="8" ma:contentTypeDescription="Создание документа." ma:contentTypeScope="" ma:versionID="c99fc65a7d2f9829e42e56b639d06c75">
  <xsd:schema xmlns:xsd="http://www.w3.org/2001/XMLSchema" xmlns:xs="http://www.w3.org/2001/XMLSchema" xmlns:p="http://schemas.microsoft.com/office/2006/metadata/properties" xmlns:ns2="91f60a32-c13a-4850-8dc7-55ed60ec9666" targetNamespace="http://schemas.microsoft.com/office/2006/metadata/properties" ma:root="true" ma:fieldsID="e7580d880a114fb436c588a649554218" ns2:_="">
    <xsd:import namespace="91f60a32-c13a-4850-8dc7-55ed60ec966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60a32-c13a-4850-8dc7-55ed60ec96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5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946F04D-4563-4809-9B05-F3A5FDF2CB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88A7F6-7769-4DEC-A9A6-8DFCAF9EC1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f60a32-c13a-4850-8dc7-55ed60ec96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7D6A60-3681-4F1B-B8AD-94F5DA5ED429}">
  <ds:schemaRefs>
    <ds:schemaRef ds:uri="http://schemas.microsoft.com/office/infopath/2007/PartnerControls"/>
    <ds:schemaRef ds:uri="http://purl.org/dc/dcmitype/"/>
    <ds:schemaRef ds:uri="http://purl.org/dc/terms/"/>
    <ds:schemaRef ds:uri="http://schemas.microsoft.com/office/2006/documentManagement/types"/>
    <ds:schemaRef ds:uri="http://purl.org/dc/elements/1.1/"/>
    <ds:schemaRef ds:uri="91f60a32-c13a-4850-8dc7-55ed60ec9666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3025</TotalTime>
  <Words>563</Words>
  <Application>Microsoft Macintosh PowerPoint</Application>
  <PresentationFormat>Widescreen</PresentationFormat>
  <Paragraphs>203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6_Тема Office</vt:lpstr>
      <vt:lpstr>Слайд think-cell</vt:lpstr>
      <vt:lpstr>PowerPoint Presentation</vt:lpstr>
      <vt:lpstr>PowerPoint Presentation</vt:lpstr>
    </vt:vector>
  </TitlesOfParts>
  <Company>АО "Тандер"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Виноградов Даниил Алексеевич</dc:creator>
  <cp:lastModifiedBy>Бабкин Денис Владимирович</cp:lastModifiedBy>
  <cp:revision>124</cp:revision>
  <dcterms:created xsi:type="dcterms:W3CDTF">2026-03-13T09:21:41Z</dcterms:created>
  <dcterms:modified xsi:type="dcterms:W3CDTF">2026-10-14T12:39:44Z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0x0101005586351EFA2A4845BBB1D74C44D60F86</vt:lpwstr>
  </property>
</Properties>
</file>