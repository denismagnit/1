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ags/tag47.xml" ContentType="application/vnd.openxmlformats-officedocument.presentationml.tags+xml"/>
  <Override PartName="/ppt/notesSlides/notesSlide5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charts/chart7.xml" ContentType="application/vnd.openxmlformats-officedocument.drawingml.chart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8.xml" ContentType="application/vnd.openxmlformats-officedocument.drawingml.chart+xml"/>
  <Override PartName="/ppt/notesSlides/notesSlide7.xml" ContentType="application/vnd.openxmlformats-officedocument.presentationml.notesSlide+xml"/>
  <Override PartName="/ppt/charts/chart9.xml" ContentType="application/vnd.openxmlformats-officedocument.drawingml.chart+xml"/>
  <Override PartName="/ppt/tags/tag14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ags/tag14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charts/chart15.xml" ContentType="application/vnd.openxmlformats-officedocument.drawingml.chart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notesSlides/notesSlide12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1"/>
  </p:notesMasterIdLst>
  <p:sldIdLst>
    <p:sldId id="345" r:id="rId2"/>
    <p:sldId id="548" r:id="rId3"/>
    <p:sldId id="2147480845" r:id="rId4"/>
    <p:sldId id="2147480846" r:id="rId5"/>
    <p:sldId id="2147480847" r:id="rId6"/>
    <p:sldId id="2147480848" r:id="rId7"/>
    <p:sldId id="2147480849" r:id="rId8"/>
    <p:sldId id="2147480850" r:id="rId9"/>
    <p:sldId id="549" r:id="rId10"/>
    <p:sldId id="550" r:id="rId11"/>
    <p:sldId id="539" r:id="rId12"/>
    <p:sldId id="507" r:id="rId13"/>
    <p:sldId id="508" r:id="rId14"/>
    <p:sldId id="537" r:id="rId15"/>
    <p:sldId id="441" r:id="rId16"/>
    <p:sldId id="509" r:id="rId17"/>
    <p:sldId id="545" r:id="rId18"/>
    <p:sldId id="460" r:id="rId19"/>
    <p:sldId id="511" r:id="rId20"/>
    <p:sldId id="530" r:id="rId21"/>
    <p:sldId id="531" r:id="rId22"/>
    <p:sldId id="514" r:id="rId23"/>
    <p:sldId id="515" r:id="rId24"/>
    <p:sldId id="516" r:id="rId25"/>
    <p:sldId id="546" r:id="rId27"/>
    <p:sldId id="532" r:id="rId28"/>
    <p:sldId id="533" r:id="rId29"/>
    <p:sldId id="365" r:id="rId31"/>
    <p:sldId id="538" r:id="rId32"/>
    <p:sldId id="412" r:id="rId33"/>
    <p:sldId id="541" r:id="rId34"/>
    <p:sldId id="366" r:id="rId37"/>
    <p:sldId id="404" r:id="rId38"/>
    <p:sldId id="483" r:id="rId39"/>
    <p:sldId id="475" r:id="rId41"/>
    <p:sldId id="506" r:id="rId42"/>
    <p:sldId id="543" r:id="rId44"/>
    <p:sldId id="484" r:id="rId45"/>
    <p:sldId id="542" r:id="rId46"/>
    <p:sldId id="468" r:id="rId47"/>
    <p:sldId id="547" r:id="rId48"/>
    <p:sldId id="2147480839" r:id="rId49"/>
    <p:sldId id="2147480841" r:id="rId50"/>
    <p:sldId id="2147480842" r:id="rId51"/>
    <p:sldId id="2147480844" r:id="rId52"/>
    <p:sldId id="430" r:id="rId53"/>
    <p:sldId id="535" r:id="rId30"/>
    <p:sldId id="489" r:id="rId43"/>
    <p:sldId id="2147480851" r:id="rId66"/>
    <p:sldId id="432" r:id="rId40"/>
    <p:sldId id="421" r:id="rId57"/>
    <p:sldId id="422" r:id="rId58"/>
    <p:sldId id="2147480852" r:id="rId67"/>
    <p:sldId id="424" r:id="rId59"/>
    <p:sldId id="528" r:id="rId60"/>
    <p:sldId id="471" r:id="rId26"/>
    <p:sldId id="433" r:id="rId36"/>
    <p:sldId id="411" r:id="rId54"/>
    <p:sldId id="408" r:id="rId55"/>
    <p:sldId id="427" r:id="rId56"/>
    <p:sldId id="415" r:id="rId35"/>
    <p:sldId id="2147480853" r:id="rId6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E0"/>
    <a:srgbClr val="595959"/>
    <a:srgbClr val="FF452B"/>
    <a:srgbClr val="FDE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94"/>
  </p:normalViewPr>
  <p:slideViewPr>
    <p:cSldViewPr snapToGrid="0">
      <p:cViewPr varScale="1">
        <p:scale>
          <a:sx n="121" d="100"/>
          <a:sy n="121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455831692913381E-2"/>
          <c:y val="6.5541495754017298E-2"/>
          <c:w val="0.94616916830708664"/>
          <c:h val="0.93445858654222436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Факт 2026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6.4532952251410758E-2"/>
                  <c:y val="-3.43581170423943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9F1-4BA8-A001-E0458BBE0912}"/>
                </c:ext>
              </c:extLst>
            </c:dLbl>
            <c:dLbl>
              <c:idx val="6"/>
              <c:layout>
                <c:manualLayout>
                  <c:x val="-2.591156201979166E-2"/>
                  <c:y val="-3.43581170423943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Лист1!$B$2:$B$13</c:f>
              <c:numCache>
                <c:formatCode>General</c:formatCode>
                <c:ptCount val="12"/>
                <c:pt idx="0">
                  <c:v>279</c:v>
                </c:pt>
                <c:pt idx="1">
                  <c:v>439</c:v>
                </c:pt>
                <c:pt idx="2">
                  <c:v>434</c:v>
                </c:pt>
                <c:pt idx="3">
                  <c:v>455</c:v>
                </c:pt>
                <c:pt idx="4">
                  <c:v>699</c:v>
                </c:pt>
                <c:pt idx="5">
                  <c:v>1199</c:v>
                </c:pt>
                <c:pt idx="6">
                  <c:v>1065</c:v>
                </c:pt>
                <c:pt idx="7">
                  <c:v>964</c:v>
                </c:pt>
                <c:pt idx="8">
                  <c:v>1011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9F1-4BA8-A001-E0458BBE091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Прогноз 2026</c:v>
                </c:pt>
              </c:strCache>
            </c:strRef>
          </c:tx>
          <c:spPr>
            <a:ln w="28575" cap="rnd">
              <a:solidFill>
                <a:schemeClr val="tx2"/>
              </a:solidFill>
              <a:prstDash val="sysDot"/>
              <a:round/>
            </a:ln>
            <a:effectLst/>
          </c:spPr>
          <c:marker>
            <c:symbol val="diamond"/>
            <c:size val="8"/>
            <c:spPr>
              <a:solidFill>
                <a:schemeClr val="tx2"/>
              </a:solidFill>
              <a:ln w="9525">
                <a:solidFill>
                  <a:schemeClr val="tx2"/>
                </a:solidFill>
              </a:ln>
              <a:effectLst/>
            </c:spPr>
          </c:marker>
          <c:dLbls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Лист1!$C$2:$C$13</c:f>
              <c:numCache>
                <c:formatCode>General</c:formatCode>
                <c:ptCount val="12"/>
                <c:pt idx="8">
                  <c:v>1011</c:v>
                </c:pt>
                <c:pt idx="9">
                  <c:v>979</c:v>
                </c:pt>
                <c:pt idx="10">
                  <c:v>1343</c:v>
                </c:pt>
                <c:pt idx="11">
                  <c:v>1764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9F1-4BA8-A001-E0458BBE0912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Бюджет 2026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chemeClr val="tx1"/>
              </a:solidFill>
              <a:ln w="9525">
                <a:solidFill>
                  <a:schemeClr val="tx1">
                    <a:alpha val="97000"/>
                  </a:schemeClr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4.0480025481983976E-2"/>
                  <c:y val="2.742585777076015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9F1-4BA8-A001-E0458BBE0912}"/>
                </c:ext>
              </c:extLst>
            </c:dLbl>
            <c:dLbl>
              <c:idx val="2"/>
              <c:layout>
                <c:manualLayout>
                  <c:x val="-3.8293395775672451E-2"/>
                  <c:y val="-2.94153990573419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9F1-4BA8-A001-E0458BBE0912}"/>
                </c:ext>
              </c:extLst>
            </c:dLbl>
            <c:dLbl>
              <c:idx val="3"/>
              <c:layout>
                <c:manualLayout>
                  <c:x val="-4.0480025481984018E-2"/>
                  <c:y val="-2.69440400648156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9F1-4BA8-A001-E0458BBE0912}"/>
                </c:ext>
              </c:extLst>
            </c:dLbl>
            <c:dLbl>
              <c:idx val="9"/>
              <c:layout>
                <c:manualLayout>
                  <c:x val="-4.3759970041451268E-2"/>
                  <c:y val="-2.32370015760264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Лист1!$D$2:$D$13</c:f>
              <c:numCache>
                <c:formatCode>General</c:formatCode>
                <c:ptCount val="12"/>
                <c:pt idx="0">
                  <c:v>228</c:v>
                </c:pt>
                <c:pt idx="1">
                  <c:v>168</c:v>
                </c:pt>
                <c:pt idx="2">
                  <c:v>264</c:v>
                </c:pt>
                <c:pt idx="3">
                  <c:v>267</c:v>
                </c:pt>
                <c:pt idx="4">
                  <c:v>294</c:v>
                </c:pt>
                <c:pt idx="5">
                  <c:v>344</c:v>
                </c:pt>
                <c:pt idx="6">
                  <c:v>393</c:v>
                </c:pt>
                <c:pt idx="7">
                  <c:v>537</c:v>
                </c:pt>
                <c:pt idx="8">
                  <c:v>660</c:v>
                </c:pt>
                <c:pt idx="9">
                  <c:v>831</c:v>
                </c:pt>
                <c:pt idx="10">
                  <c:v>877</c:v>
                </c:pt>
                <c:pt idx="11">
                  <c:v>984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09F1-4BA8-A001-E0458BBE09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94981536"/>
        <c:axId val="1894979872"/>
      </c:lineChart>
      <c:catAx>
        <c:axId val="1894981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94979872"/>
        <c:crosses val="autoZero"/>
        <c:auto val="1"/>
        <c:lblAlgn val="ctr"/>
        <c:lblOffset val="100"/>
        <c:noMultiLvlLbl val="0"/>
      </c:catAx>
      <c:valAx>
        <c:axId val="1894979872"/>
        <c:scaling>
          <c:orientation val="minMax"/>
          <c:max val="2700"/>
        </c:scaling>
        <c:delete val="1"/>
        <c:axPos val="l"/>
        <c:numFmt formatCode="General" sourceLinked="1"/>
        <c:majorTickMark val="none"/>
        <c:minorTickMark val="none"/>
        <c:tickLblPos val="nextTo"/>
        <c:crossAx val="1894981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9103100393700789E-2"/>
          <c:y val="1.2089462786158536E-2"/>
          <c:w val="0.89999991391221623"/>
          <c:h val="4.76376824256991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3058.1180898758935</c:v>
                </c:pt>
                <c:pt idx="2">
                  <c:v>6487.9237250430288</c:v>
                </c:pt>
                <c:pt idx="3">
                  <c:v>7499.4580797954914</c:v>
                </c:pt>
                <c:pt idx="4">
                  <c:v>7843.2875487168258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28-4742-908C-CB4B4A0E95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rgbClr val="262626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3058.1180898758935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8268.2115958800568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F28-4742-908C-CB4B4A0E95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Изменение</c:v>
                </c:pt>
              </c:strCache>
            </c:strRef>
          </c:tx>
          <c:spPr>
            <a:solidFill>
              <a:srgbClr val="FF452C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3429.8056351671353</c:v>
                </c:pt>
                <c:pt idx="2">
                  <c:v>1011.5343547524621</c:v>
                </c:pt>
                <c:pt idx="3">
                  <c:v>343.82946892133441</c:v>
                </c:pt>
                <c:pt idx="4">
                  <c:v>424.92404716323017</c:v>
                </c:pt>
                <c:pt idx="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F28-4742-908C-CB4B4A0E95B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label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3 058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F28-4742-908C-CB4B4A0E95B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+3 430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F28-4742-908C-CB4B4A0E95B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+1 012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F28-4742-908C-CB4B4A0E95B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+344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F28-4742-908C-CB4B4A0E95B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+425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F28-4742-908C-CB4B4A0E95B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8 268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FF28-4742-908C-CB4B4A0E95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600</c:v>
                </c:pt>
                <c:pt idx="1">
                  <c:v>600</c:v>
                </c:pt>
                <c:pt idx="2">
                  <c:v>600</c:v>
                </c:pt>
                <c:pt idx="3">
                  <c:v>600</c:v>
                </c:pt>
                <c:pt idx="4">
                  <c:v>600</c:v>
                </c:pt>
                <c:pt idx="5">
                  <c:v>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F28-4742-908C-CB4B4A0E95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latin typeface="Arial"/>
        </a:defRPr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344141635170081E-2"/>
          <c:y val="0.12730870712401055"/>
          <c:w val="0.97931171672965989"/>
          <c:h val="0.7453825857519789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DC2-434F-B497-85A2709E7A86}"/>
              </c:ext>
            </c:extLst>
          </c:dPt>
          <c:dPt>
            <c:idx val="8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DC2-434F-B497-85A2709E7A86}"/>
              </c:ext>
            </c:extLst>
          </c:dPt>
          <c:dLbls>
            <c:dLbl>
              <c:idx val="0"/>
              <c:layout>
                <c:manualLayout>
                  <c:x val="0"/>
                  <c:y val="-0.3120052770448548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DC2-434F-B497-85A2709E7A86}"/>
                </c:ext>
              </c:extLst>
            </c:dLbl>
            <c:dLbl>
              <c:idx val="8"/>
              <c:layout>
                <c:manualLayout>
                  <c:x val="0"/>
                  <c:y val="-0.3984168865435356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9443</c:v>
                </c:pt>
                <c:pt idx="1">
                  <c:v>9443</c:v>
                </c:pt>
                <c:pt idx="2">
                  <c:v>10944</c:v>
                </c:pt>
                <c:pt idx="3">
                  <c:v>12517</c:v>
                </c:pt>
                <c:pt idx="4">
                  <c:v>13130</c:v>
                </c:pt>
                <c:pt idx="5">
                  <c:v>13388</c:v>
                </c:pt>
                <c:pt idx="6">
                  <c:v>13601</c:v>
                </c:pt>
                <c:pt idx="7">
                  <c:v>12595</c:v>
                </c:pt>
                <c:pt idx="8">
                  <c:v>12595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C2-434F-B497-85A2709E7A86}"/>
            </c:ext>
          </c:extLst>
        </c:ser>
        <c:ser>
          <c:idx val="1"/>
          <c:order val="1"/>
          <c:spPr>
            <a:solidFill>
              <a:srgbClr val="007770"/>
            </a:solidFill>
            <a:ln>
              <a:noFill/>
            </a:ln>
          </c:spPr>
          <c:invertIfNegative val="0"/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BDC2-434F-B497-85A2709E7A86}"/>
              </c:ext>
            </c:extLst>
          </c:dPt>
          <c:dLbls>
            <c:dLbl>
              <c:idx val="1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BDC2-434F-B497-85A2709E7A86}"/>
                </c:ext>
              </c:extLst>
            </c:dLbl>
            <c:dLbl>
              <c:idx val="2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1">
                  <c:v>1501</c:v>
                </c:pt>
                <c:pt idx="2">
                  <c:v>1573</c:v>
                </c:pt>
                <c:pt idx="3">
                  <c:v>613</c:v>
                </c:pt>
                <c:pt idx="4">
                  <c:v>258</c:v>
                </c:pt>
                <c:pt idx="5">
                  <c:v>213</c:v>
                </c:pt>
                <c:pt idx="6">
                  <c:v>85</c:v>
                </c:pt>
                <c:pt idx="7">
                  <c:v>1091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DC2-434F-B497-85A2709E7A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1802191"/>
        <c:axId val="1"/>
      </c:barChart>
      <c:catAx>
        <c:axId val="61802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68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18021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391705069124424"/>
          <c:y val="0.13129251700680272"/>
          <c:w val="0.46555050925801511"/>
          <c:h val="0.6613415372672202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9D-A549-AAA5-072DF4368739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10323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9D-A549-AAA5-072DF4368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7179167"/>
        <c:axId val="1"/>
      </c:barChart>
      <c:catAx>
        <c:axId val="18771791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59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771791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9827222115569207E-3"/>
          <c:y val="6.7039106145251395E-2"/>
          <c:w val="0.98003455557688612"/>
          <c:h val="0.8659217877094972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FE5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466</c:v>
                </c:pt>
                <c:pt idx="1">
                  <c:v>594.97</c:v>
                </c:pt>
                <c:pt idx="2">
                  <c:v>718.49</c:v>
                </c:pt>
                <c:pt idx="3">
                  <c:v>843.46</c:v>
                </c:pt>
                <c:pt idx="4">
                  <c:v>965.74</c:v>
                </c:pt>
                <c:pt idx="5">
                  <c:v>1090.33</c:v>
                </c:pt>
                <c:pt idx="6">
                  <c:v>1199.3630000000001</c:v>
                </c:pt>
                <c:pt idx="7">
                  <c:v>1319</c:v>
                </c:pt>
                <c:pt idx="8">
                  <c:v>1451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CA-8A46-ACF5-F745320F6151}"/>
            </c:ext>
          </c:extLst>
        </c:ser>
        <c:ser>
          <c:idx val="1"/>
          <c:order val="1"/>
          <c:spPr>
            <a:solidFill>
              <a:schemeClr val="tx2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185</c:v>
                </c:pt>
                <c:pt idx="1">
                  <c:v>388</c:v>
                </c:pt>
                <c:pt idx="2">
                  <c:v>582</c:v>
                </c:pt>
                <c:pt idx="3">
                  <c:v>890</c:v>
                </c:pt>
                <c:pt idx="4">
                  <c:v>1199.9999999999998</c:v>
                </c:pt>
                <c:pt idx="5">
                  <c:v>1565</c:v>
                </c:pt>
                <c:pt idx="6">
                  <c:v>1967.0000000000002</c:v>
                </c:pt>
                <c:pt idx="7">
                  <c:v>2389</c:v>
                </c:pt>
                <c:pt idx="8">
                  <c:v>2601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3CA-8A46-ACF5-F745320F6151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3CA-8A46-ACF5-F745320F6151}"/>
                </c:ext>
              </c:extLst>
            </c:dLbl>
            <c:dLbl>
              <c:idx val="1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53CA-8A46-ACF5-F745320F6151}"/>
                </c:ext>
              </c:extLst>
            </c:dLbl>
            <c:dLbl>
              <c:idx val="2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3CA-8A46-ACF5-F745320F6151}"/>
                </c:ext>
              </c:extLst>
            </c:dLbl>
            <c:dLbl>
              <c:idx val="3"/>
              <c:layout>
                <c:manualLayout>
                  <c:x val="3.7051257439047802E-2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18</c:v>
                </c:pt>
                <c:pt idx="1">
                  <c:v>46</c:v>
                </c:pt>
                <c:pt idx="2">
                  <c:v>57</c:v>
                </c:pt>
                <c:pt idx="3">
                  <c:v>74</c:v>
                </c:pt>
                <c:pt idx="4">
                  <c:v>93</c:v>
                </c:pt>
                <c:pt idx="5">
                  <c:v>116</c:v>
                </c:pt>
                <c:pt idx="6">
                  <c:v>145</c:v>
                </c:pt>
                <c:pt idx="7">
                  <c:v>181</c:v>
                </c:pt>
                <c:pt idx="8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3CA-8A46-ACF5-F745320F6151}"/>
            </c:ext>
          </c:extLst>
        </c:ser>
        <c:ser>
          <c:idx val="3"/>
          <c:order val="3"/>
          <c:spPr>
            <a:solidFill>
              <a:srgbClr val="9DB1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Sheet1!$A$4:$I$4</c:f>
              <c:numCache>
                <c:formatCode>General</c:formatCode>
                <c:ptCount val="9"/>
                <c:pt idx="0">
                  <c:v>219</c:v>
                </c:pt>
                <c:pt idx="1">
                  <c:v>263</c:v>
                </c:pt>
                <c:pt idx="2">
                  <c:v>302</c:v>
                </c:pt>
                <c:pt idx="3">
                  <c:v>340</c:v>
                </c:pt>
                <c:pt idx="4">
                  <c:v>374</c:v>
                </c:pt>
                <c:pt idx="5">
                  <c:v>411</c:v>
                </c:pt>
                <c:pt idx="6">
                  <c:v>452</c:v>
                </c:pt>
                <c:pt idx="7">
                  <c:v>498</c:v>
                </c:pt>
                <c:pt idx="8">
                  <c:v>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53CA-8A46-ACF5-F745320F6151}"/>
            </c:ext>
          </c:extLst>
        </c:ser>
        <c:ser>
          <c:idx val="4"/>
          <c:order val="4"/>
          <c:spPr>
            <a:solidFill>
              <a:srgbClr val="4C6C9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53CA-8A46-ACF5-F745320F6151}"/>
                </c:ext>
              </c:extLst>
            </c:dLbl>
            <c:dLbl>
              <c:idx val="1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Sheet1!$A$5:$I$5</c:f>
              <c:numCache>
                <c:formatCode>General</c:formatCode>
                <c:ptCount val="9"/>
                <c:pt idx="0">
                  <c:v>103.39999999999998</c:v>
                </c:pt>
                <c:pt idx="1">
                  <c:v>139.79999999999995</c:v>
                </c:pt>
                <c:pt idx="2">
                  <c:v>173.5</c:v>
                </c:pt>
                <c:pt idx="3">
                  <c:v>198.19999999999982</c:v>
                </c:pt>
                <c:pt idx="4">
                  <c:v>224</c:v>
                </c:pt>
                <c:pt idx="5">
                  <c:v>245.69999999999982</c:v>
                </c:pt>
                <c:pt idx="6">
                  <c:v>266.5</c:v>
                </c:pt>
                <c:pt idx="7">
                  <c:v>290</c:v>
                </c:pt>
                <c:pt idx="8">
                  <c:v>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53CA-8A46-ACF5-F745320F6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8984816"/>
        <c:axId val="1"/>
      </c:barChart>
      <c:catAx>
        <c:axId val="1948984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14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48984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pattFill prst="ltUpDiag">
                <a:fgClr>
                  <a:srgbClr val="BFBFBF"/>
                </a:fgClr>
                <a:bgClr>
                  <a:srgbClr val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FB8-ED43-81D5-18174E4D4C0E}"/>
              </c:ext>
            </c:extLst>
          </c:dPt>
          <c:dPt>
            <c:idx val="2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FB8-ED43-81D5-18174E4D4C0E}"/>
              </c:ext>
            </c:extLst>
          </c:dPt>
          <c:dLbls>
            <c:numFmt formatCode="[&gt;=1000]#&quot; &quot;##0;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2025</c:v>
              </c:pt>
              <c:pt idx="1">
                <c:v>2026E</c:v>
              </c:pt>
              <c:pt idx="2">
                <c:v>2027E</c:v>
              </c:pt>
            </c:strLit>
          </c:cat>
          <c:val>
            <c:numLit>
              <c:formatCode>General</c:formatCode>
              <c:ptCount val="3"/>
              <c:pt idx="0">
                <c:v>582</c:v>
              </c:pt>
              <c:pt idx="1">
                <c:v>890</c:v>
              </c:pt>
              <c:pt idx="2">
                <c:v>1200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FB8-ED43-81D5-18174E4D4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195121951219513E-2"/>
          <c:y val="2.9229904440697022E-2"/>
          <c:w val="0.97560975609756095"/>
          <c:h val="0.9415401911186059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8633.7868781419966</c:v>
                </c:pt>
                <c:pt idx="1">
                  <c:v>11643</c:v>
                </c:pt>
                <c:pt idx="2">
                  <c:v>15776.806859268567</c:v>
                </c:pt>
                <c:pt idx="3">
                  <c:v>21753.045333544404</c:v>
                </c:pt>
                <c:pt idx="4">
                  <c:v>30514.489672349213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1A-3343-B2A0-419CA258ECA4}"/>
            </c:ext>
          </c:extLst>
        </c:ser>
        <c:ser>
          <c:idx val="1"/>
          <c:order val="1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2057.8443729480714</c:v>
                </c:pt>
                <c:pt idx="3">
                  <c:v>5304.6178601648899</c:v>
                </c:pt>
                <c:pt idx="4">
                  <c:v>10450.717388401339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1A-3343-B2A0-419CA258ECA4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Sheet1!$A$3:$E$3</c:f>
              <c:numCache>
                <c:formatCode>General</c:formatCode>
                <c:ptCount val="5"/>
                <c:pt idx="0">
                  <c:v>2451.552795031057</c:v>
                </c:pt>
                <c:pt idx="1">
                  <c:v>3947</c:v>
                </c:pt>
                <c:pt idx="2">
                  <c:v>3947</c:v>
                </c:pt>
                <c:pt idx="3">
                  <c:v>3947</c:v>
                </c:pt>
                <c:pt idx="4">
                  <c:v>3947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1A-3343-B2A0-419CA258ECA4}"/>
            </c:ext>
          </c:extLst>
        </c:ser>
        <c:ser>
          <c:idx val="3"/>
          <c:order val="3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Sheet1!$A$4:$E$4</c:f>
              <c:numCache>
                <c:formatCode>General</c:formatCode>
                <c:ptCount val="5"/>
                <c:pt idx="0">
                  <c:v>3986.8852459016398</c:v>
                </c:pt>
                <c:pt idx="1">
                  <c:v>4864</c:v>
                </c:pt>
                <c:pt idx="2">
                  <c:v>5766.909677679887</c:v>
                </c:pt>
                <c:pt idx="3">
                  <c:v>6837.4274733795137</c:v>
                </c:pt>
                <c:pt idx="4">
                  <c:v>8106.6666666666642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1A-3343-B2A0-419CA258ECA4}"/>
            </c:ext>
          </c:extLst>
        </c:ser>
        <c:ser>
          <c:idx val="4"/>
          <c:order val="4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Sheet1!$A$5:$E$5</c:f>
              <c:numCache>
                <c:formatCode>General</c:formatCode>
                <c:ptCount val="5"/>
                <c:pt idx="0">
                  <c:v>2195.3488372093034</c:v>
                </c:pt>
                <c:pt idx="1">
                  <c:v>2832</c:v>
                </c:pt>
                <c:pt idx="2">
                  <c:v>4005.0528086406048</c:v>
                </c:pt>
                <c:pt idx="3">
                  <c:v>5664</c:v>
                </c:pt>
                <c:pt idx="4">
                  <c:v>8010.1056172812096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1A-3343-B2A0-419CA258EC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32353456"/>
        <c:axId val="1"/>
      </c:barChart>
      <c:catAx>
        <c:axId val="5323534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1028.97934469842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323534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APP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153.9</c:v>
              </c:pt>
              <c:pt idx="1">
                <c:v>384.8</c:v>
              </c:pt>
              <c:pt idx="2">
                <c:v>538.70000000000005</c:v>
              </c:pt>
              <c:pt idx="3">
                <c:v>538.70000000000005</c:v>
              </c:pt>
              <c:pt idx="4">
                <c:v>538.70000000000005</c:v>
              </c:pt>
              <c:pt idx="5">
                <c:v>538.70000000000005</c:v>
              </c:pt>
              <c:pt idx="6">
                <c:v>538.70000000000005</c:v>
              </c:pt>
              <c:pt idx="7">
                <c:v>615.70000000000005</c:v>
              </c:pt>
              <c:pt idx="8">
                <c:v>615.70000000000005</c:v>
              </c:pt>
              <c:pt idx="9">
                <c:v>846.6</c:v>
              </c:pt>
              <c:pt idx="10">
                <c:v>1077.5</c:v>
              </c:pt>
              <c:pt idx="11">
                <c:v>1308.4000000000001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2E3-434A-A5FC-A576C250FEB4}"/>
            </c:ext>
          </c:extLst>
        </c:ser>
        <c:ser>
          <c:idx val="1"/>
          <c:order val="1"/>
          <c:tx>
            <c:v>In-store</c:v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80.400000000000006</c:v>
              </c:pt>
              <c:pt idx="1">
                <c:v>201</c:v>
              </c:pt>
              <c:pt idx="2">
                <c:v>281.39999999999998</c:v>
              </c:pt>
              <c:pt idx="3">
                <c:v>281.39999999999998</c:v>
              </c:pt>
              <c:pt idx="4">
                <c:v>281.39999999999998</c:v>
              </c:pt>
              <c:pt idx="5">
                <c:v>281.39999999999998</c:v>
              </c:pt>
              <c:pt idx="6">
                <c:v>281.39999999999998</c:v>
              </c:pt>
              <c:pt idx="7">
                <c:v>321.5</c:v>
              </c:pt>
              <c:pt idx="8">
                <c:v>321.5</c:v>
              </c:pt>
              <c:pt idx="9">
                <c:v>442.1</c:v>
              </c:pt>
              <c:pt idx="10">
                <c:v>562.70000000000005</c:v>
              </c:pt>
              <c:pt idx="11">
                <c:v>683.3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2E3-434A-A5FC-A576C250FEB4}"/>
            </c:ext>
          </c:extLst>
        </c:ser>
        <c:ser>
          <c:idx val="2"/>
          <c:order val="2"/>
          <c:tx>
            <c:v>DMP, RMN, CF</c:v>
          </c:tx>
          <c:spPr>
            <a:solidFill>
              <a:srgbClr val="BFBFBF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57</c:v>
              </c:pt>
              <c:pt idx="1">
                <c:v>142.5</c:v>
              </c:pt>
              <c:pt idx="2">
                <c:v>199.5</c:v>
              </c:pt>
              <c:pt idx="3">
                <c:v>199.5</c:v>
              </c:pt>
              <c:pt idx="4">
                <c:v>199.5</c:v>
              </c:pt>
              <c:pt idx="5">
                <c:v>199.5</c:v>
              </c:pt>
              <c:pt idx="6">
                <c:v>199.5</c:v>
              </c:pt>
              <c:pt idx="7">
                <c:v>228</c:v>
              </c:pt>
              <c:pt idx="8">
                <c:v>228</c:v>
              </c:pt>
              <c:pt idx="9">
                <c:v>313.60000000000002</c:v>
              </c:pt>
              <c:pt idx="10">
                <c:v>399.1</c:v>
              </c:pt>
              <c:pt idx="11">
                <c:v>484.6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2E3-434A-A5FC-A576C250FEB4}"/>
            </c:ext>
          </c:extLst>
        </c:ser>
        <c:ser>
          <c:idx val="3"/>
          <c:order val="3"/>
          <c:tx>
            <c:v>Totals</c:v>
          </c:tx>
          <c:spPr>
            <a:noFill/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595959"/>
                    </a:solidFill>
                    <a:latin typeface="Arial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291.3</c:v>
              </c:pt>
              <c:pt idx="1">
                <c:v>728.3</c:v>
              </c:pt>
              <c:pt idx="2">
                <c:v>1019.6</c:v>
              </c:pt>
              <c:pt idx="3">
                <c:v>1019.6</c:v>
              </c:pt>
              <c:pt idx="4">
                <c:v>1019.6</c:v>
              </c:pt>
              <c:pt idx="5">
                <c:v>1019.6</c:v>
              </c:pt>
              <c:pt idx="6">
                <c:v>1019.6</c:v>
              </c:pt>
              <c:pt idx="7">
                <c:v>1165.3</c:v>
              </c:pt>
              <c:pt idx="8">
                <c:v>1165.3</c:v>
              </c:pt>
              <c:pt idx="9">
                <c:v>1602.3</c:v>
              </c:pt>
              <c:pt idx="10">
                <c:v>2039.3</c:v>
              </c:pt>
              <c:pt idx="11">
                <c:v>2476.3000000000002</c:v>
              </c:pt>
            </c:numLit>
          </c:val>
          <c:extLst>
            <c:ext xmlns:c16="http://schemas.microsoft.com/office/drawing/2014/chart" uri="{C3380CC4-5D6E-409C-BE32-E72D297353CC}">
              <c16:uniqueId val="{00000003-B2E3-434A-A5FC-A576C250F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1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legendEntry>
        <c:idx val="3"/>
        <c:delete val="1"/>
      </c:legendEntry>
      <c:overlay val="0"/>
      <c:txPr>
        <a:bodyPr rot="0" vert="horz"/>
        <a:lstStyle/>
        <a:p>
          <a:pPr>
            <a:defRPr sz="1200" b="0">
              <a:solidFill>
                <a:srgbClr val="595959"/>
              </a:solidFill>
              <a:latin typeface="Arial"/>
            </a:defRPr>
          </a:pPr>
          <a:endParaRPr lang="ru-RU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12948.09</c:v>
              </c:pt>
              <c:pt idx="2">
                <c:v>13798.3</c:v>
              </c:pt>
              <c:pt idx="3">
                <c:v>14334.86</c:v>
              </c:pt>
              <c:pt idx="4">
                <c:v>14780.29</c:v>
              </c:pt>
              <c:pt idx="5">
                <c:v>14993.59</c:v>
              </c:pt>
              <c:pt idx="6">
                <c:v>14566.23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28E2-624C-8CB8-F1DBAF9DF3C4}"/>
            </c:ext>
          </c:extLst>
        </c:ser>
        <c:ser>
          <c:idx val="1"/>
          <c:order val="1"/>
          <c:tx>
            <c:v>Increase</c:v>
          </c:tx>
          <c:spPr>
            <a:solidFill>
              <a:srgbClr val="2E9E5B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850.21</c:v>
              </c:pt>
              <c:pt idx="2">
                <c:v>536.55999999999995</c:v>
              </c:pt>
              <c:pt idx="3">
                <c:v>445.43</c:v>
              </c:pt>
              <c:pt idx="4">
                <c:v>213.3</c:v>
              </c:pt>
              <c:pt idx="5">
                <c:v>62.32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8E2-624C-8CB8-F1DBAF9DF3C4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6">
                <c:v>489.68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E2-624C-8CB8-F1DBAF9DF3C4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12948.09</c:v>
              </c:pt>
              <c:pt idx="7">
                <c:v>14566.24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28E2-624C-8CB8-F1DBAF9DF3C4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12 948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7CD-6C49-8B92-091A89458B1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E9E5B"/>
                        </a:solidFill>
                        <a:latin typeface="Arial"/>
                      </a:rPr>
                      <a:t>+850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7CD-6C49-8B92-091A89458B1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E9E5B"/>
                        </a:solidFill>
                        <a:latin typeface="Arial"/>
                      </a:rPr>
                      <a:t>+537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7CD-6C49-8B92-091A89458B1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E9E5B"/>
                        </a:solidFill>
                        <a:latin typeface="Arial"/>
                      </a:rPr>
                      <a:t>+445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7CD-6C49-8B92-091A89458B1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E9E5B"/>
                        </a:solidFill>
                        <a:latin typeface="Arial"/>
                      </a:rPr>
                      <a:t>+213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7CD-6C49-8B92-091A89458B1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E9E5B"/>
                        </a:solidFill>
                        <a:latin typeface="Arial"/>
                      </a:rPr>
                      <a:t>+62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7CD-6C49-8B92-091A89458B1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−490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7CD-6C49-8B92-091A89458B1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14 566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7CD-6C49-8B92-091A89458B1F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153.17920000000001</c:v>
              </c:pt>
              <c:pt idx="1">
                <c:v>153.17920000000001</c:v>
              </c:pt>
              <c:pt idx="2">
                <c:v>153.17920000000001</c:v>
              </c:pt>
              <c:pt idx="3">
                <c:v>153.17920000000001</c:v>
              </c:pt>
              <c:pt idx="4">
                <c:v>153.17920000000001</c:v>
              </c:pt>
              <c:pt idx="5">
                <c:v>153.17920000000001</c:v>
              </c:pt>
              <c:pt idx="6">
                <c:v>153.17920000000001</c:v>
              </c:pt>
              <c:pt idx="7">
                <c:v>153.17920000000001</c:v>
              </c:pt>
            </c:numLit>
          </c:val>
          <c:extLst>
            <c:ext xmlns:c16="http://schemas.microsoft.com/office/drawing/2014/chart" uri="{C3380CC4-5D6E-409C-BE32-E72D297353CC}">
              <c16:uniqueId val="{0000000D-28E2-624C-8CB8-F1DBAF9DF3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tickLblSkip val="1"/>
        <c:noMultiLvlLbl val="0"/>
      </c:catAx>
      <c:valAx>
        <c:axId val="2"/>
        <c:scaling>
          <c:orientation val="minMax"/>
          <c:max val="192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7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8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Lbls>
            <c:numFmt formatCode="&quot;+&quot;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9"/>
              <c:pt idx="0">
                <c:v>Other PEX</c:v>
              </c:pt>
              <c:pt idx="1">
                <c:v>Other OPEX</c:v>
              </c:pt>
              <c:pt idx="2">
                <c:v>PR/GR, исследования</c:v>
              </c:pt>
              <c:pt idx="3">
                <c:v>Маркетинг ВГО</c:v>
              </c:pt>
              <c:pt idx="4">
                <c:v>IT</c:v>
              </c:pt>
              <c:pt idx="5">
                <c:v>Креаторы</c:v>
              </c:pt>
              <c:pt idx="6">
                <c:v>PEX (ФОТ)</c:v>
              </c:pt>
              <c:pt idx="7">
                <c:v>Вознаграждения агентствам</c:v>
              </c:pt>
              <c:pt idx="8">
                <c:v>Закупка трафика DMP</c:v>
              </c:pt>
            </c:strLit>
          </c:cat>
          <c:val>
            <c:numLit>
              <c:formatCode>General</c:formatCode>
              <c:ptCount val="9"/>
              <c:pt idx="0">
                <c:v>8</c:v>
              </c:pt>
              <c:pt idx="1">
                <c:v>11</c:v>
              </c:pt>
              <c:pt idx="2">
                <c:v>16</c:v>
              </c:pt>
              <c:pt idx="3">
                <c:v>30</c:v>
              </c:pt>
              <c:pt idx="4">
                <c:v>34</c:v>
              </c:pt>
              <c:pt idx="5">
                <c:v>160</c:v>
              </c:pt>
              <c:pt idx="6">
                <c:v>316</c:v>
              </c:pt>
              <c:pt idx="7">
                <c:v>441</c:v>
              </c:pt>
              <c:pt idx="8">
                <c:v>489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F8-3448-B015-6E8DF631F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8084.69</c:v>
              </c:pt>
              <c:pt idx="2">
                <c:v>9585.52</c:v>
              </c:pt>
              <c:pt idx="3">
                <c:v>11158.92</c:v>
              </c:pt>
              <c:pt idx="4">
                <c:v>11191.55</c:v>
              </c:pt>
              <c:pt idx="5">
                <c:v>10875.26</c:v>
              </c:pt>
              <c:pt idx="6">
                <c:v>10841.76</c:v>
              </c:pt>
              <c:pt idx="7">
                <c:v>10823.46</c:v>
              </c:pt>
              <c:pt idx="8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CB36-7B4C-8030-856FD52DD8D6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1">
                <c:v>1500.83</c:v>
              </c:pt>
              <c:pt idx="2">
                <c:v>1573.4</c:v>
              </c:pt>
              <c:pt idx="3">
                <c:v>1168.56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B36-7B4C-8030-856FD52DD8D6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4">
                <c:v>1135.93</c:v>
              </c:pt>
              <c:pt idx="5">
                <c:v>316.29000000000002</c:v>
              </c:pt>
              <c:pt idx="6">
                <c:v>33.5</c:v>
              </c:pt>
              <c:pt idx="7">
                <c:v>18.3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B36-7B4C-8030-856FD52DD8D6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8084.69</c:v>
              </c:pt>
              <c:pt idx="8">
                <c:v>10823.45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CB36-7B4C-8030-856FD52DD8D6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8 085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FA9-234B-8AE8-E9A014A8A0C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FA9-234B-8AE8-E9A014A8A0C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+1 573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FA9-234B-8AE8-E9A014A8A0C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+1 169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FA9-234B-8AE8-E9A014A8A0C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−1 136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FA9-234B-8AE8-E9A014A8A0C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−316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FA9-234B-8AE8-E9A014A8A0C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−34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FA9-234B-8AE8-E9A014A8A0C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FA9-234B-8AE8-E9A014A8A0C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10 823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FA9-234B-8AE8-E9A014A8A0C6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123.9726</c:v>
              </c:pt>
              <c:pt idx="1">
                <c:v>123.9726</c:v>
              </c:pt>
              <c:pt idx="2">
                <c:v>123.9726</c:v>
              </c:pt>
              <c:pt idx="3">
                <c:v>123.9726</c:v>
              </c:pt>
              <c:pt idx="4">
                <c:v>123.9726</c:v>
              </c:pt>
              <c:pt idx="5">
                <c:v>123.9726</c:v>
              </c:pt>
              <c:pt idx="6">
                <c:v>123.9726</c:v>
              </c:pt>
              <c:pt idx="7">
                <c:v>123.9726</c:v>
              </c:pt>
              <c:pt idx="8">
                <c:v>123.9726</c:v>
              </c:pt>
            </c:numLit>
          </c:val>
          <c:extLst>
            <c:ext xmlns:c16="http://schemas.microsoft.com/office/drawing/2014/chart" uri="{C3380CC4-5D6E-409C-BE32-E72D297353CC}">
              <c16:uniqueId val="{0000000D-CB36-7B4C-8030-856FD52DD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5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1179.5999999999999</c:v>
              </c:pt>
              <c:pt idx="2">
                <c:v>1273.3999999999999</c:v>
              </c:pt>
              <c:pt idx="3">
                <c:v>1141.1999999999998</c:v>
              </c:pt>
              <c:pt idx="4">
                <c:v>1074.5999999999999</c:v>
              </c:pt>
              <c:pt idx="5">
                <c:v>1074.5999999999999</c:v>
              </c:pt>
              <c:pt idx="6">
                <c:v>1145.3999999999999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555E-9B44-A647-D1A58B1277AA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113.3</c:v>
              </c:pt>
              <c:pt idx="5">
                <c:v>70.8</c:v>
              </c:pt>
              <c:pt idx="6">
                <c:v>5.0999999999999996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55E-9B44-A647-D1A58B1277AA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2">
                <c:v>19.5</c:v>
              </c:pt>
              <c:pt idx="3">
                <c:v>132.19999999999999</c:v>
              </c:pt>
              <c:pt idx="4">
                <c:v>66.599999999999994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55E-9B44-A647-D1A58B1277AA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1179.5999999999999</c:v>
              </c:pt>
              <c:pt idx="7">
                <c:v>1150.6400000000001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555E-9B44-A647-D1A58B1277AA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1 180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55E-9B44-A647-D1A58B1277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55E-9B44-A647-D1A58B1277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55E-9B44-A647-D1A58B1277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−132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55E-9B44-A647-D1A58B1277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−67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55E-9B44-A647-D1A58B1277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+71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55E-9B44-A647-D1A58B1277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55E-9B44-A647-D1A58B1277A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1 151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55E-9B44-A647-D1A58B1277AA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12.928999999999998</c:v>
              </c:pt>
              <c:pt idx="1">
                <c:v>12.928999999999998</c:v>
              </c:pt>
              <c:pt idx="2">
                <c:v>12.928999999999998</c:v>
              </c:pt>
              <c:pt idx="3">
                <c:v>12.928999999999998</c:v>
              </c:pt>
              <c:pt idx="4">
                <c:v>12.928999999999998</c:v>
              </c:pt>
              <c:pt idx="5">
                <c:v>12.928999999999998</c:v>
              </c:pt>
              <c:pt idx="6">
                <c:v>12.928999999999998</c:v>
              </c:pt>
              <c:pt idx="7">
                <c:v>12.928999999999998</c:v>
              </c:pt>
            </c:numLit>
          </c:val>
          <c:extLst>
            <c:ext xmlns:c16="http://schemas.microsoft.com/office/drawing/2014/chart" uri="{C3380CC4-5D6E-409C-BE32-E72D297353CC}">
              <c16:uniqueId val="{0000000C-555E-9B44-A647-D1A58B127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6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871530411042008E-3"/>
          <c:y val="9.5687331536388143E-2"/>
          <c:w val="0.98422569391779158"/>
          <c:h val="0.8086253369272237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184-4F9C-93FB-BCB2E91AC74D}"/>
              </c:ext>
            </c:extLst>
          </c:dPt>
          <c:dPt>
            <c:idx val="1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184-4F9C-93FB-BCB2E91AC74D}"/>
              </c:ext>
            </c:extLst>
          </c:dPt>
          <c:dPt>
            <c:idx val="5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F184-4F9C-93FB-BCB2E91AC74D}"/>
              </c:ext>
            </c:extLst>
          </c:dPt>
          <c:dPt>
            <c:idx val="6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184-4F9C-93FB-BCB2E91AC74D}"/>
              </c:ext>
            </c:extLst>
          </c:dPt>
          <c:dPt>
            <c:idx val="1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F184-4F9C-93FB-BCB2E91AC74D}"/>
              </c:ext>
            </c:extLst>
          </c:dPt>
          <c:dPt>
            <c:idx val="11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F184-4F9C-93FB-BCB2E91AC74D}"/>
              </c:ext>
            </c:extLst>
          </c:dPt>
          <c:val>
            <c:numRef>
              <c:f>Sheet1!$A$1:$L$1</c:f>
              <c:numCache>
                <c:formatCode>General</c:formatCode>
                <c:ptCount val="12"/>
                <c:pt idx="0">
                  <c:v>282.1449595375725</c:v>
                </c:pt>
                <c:pt idx="1">
                  <c:v>279.1449595375725</c:v>
                </c:pt>
                <c:pt idx="2">
                  <c:v>128.1449595375725</c:v>
                </c:pt>
                <c:pt idx="3">
                  <c:v>106.1449595375725</c:v>
                </c:pt>
                <c:pt idx="4">
                  <c:v>106.1449595375725</c:v>
                </c:pt>
                <c:pt idx="5">
                  <c:v>139.1449595375725</c:v>
                </c:pt>
                <c:pt idx="6">
                  <c:v>448.77095953757271</c:v>
                </c:pt>
                <c:pt idx="7">
                  <c:v>448.77095953757271</c:v>
                </c:pt>
                <c:pt idx="8">
                  <c:v>648.25895953757276</c:v>
                </c:pt>
                <c:pt idx="9">
                  <c:v>719.25895953757276</c:v>
                </c:pt>
                <c:pt idx="10">
                  <c:v>737.77095953757271</c:v>
                </c:pt>
                <c:pt idx="11">
                  <c:v>776.1449595375725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184-4F9C-93FB-BCB2E91AC74D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F184-4F9C-93FB-BCB2E91AC74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F184-4F9C-93FB-BCB2E91AC74D}"/>
              </c:ext>
            </c:extLst>
          </c:dPt>
          <c:dPt>
            <c:idx val="10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F184-4F9C-93FB-BCB2E91AC74D}"/>
              </c:ext>
            </c:extLst>
          </c:dPt>
          <c:dLbls>
            <c:dLbl>
              <c:idx val="7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F184-4F9C-93FB-BCB2E91AC74D}"/>
                </c:ext>
              </c:extLst>
            </c:dLbl>
            <c:dLbl>
              <c:idx val="8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F184-4F9C-93FB-BCB2E91AC74D}"/>
                </c:ext>
              </c:extLst>
            </c:dLbl>
            <c:dLbl>
              <c:idx val="9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F184-4F9C-93FB-BCB2E91AC74D}"/>
                </c:ext>
              </c:extLst>
            </c:dLbl>
            <c:dLbl>
              <c:idx val="10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F184-4F9C-93FB-BCB2E91AC7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Sheet1!$A$2:$L$2</c:f>
              <c:numCache>
                <c:formatCode>General</c:formatCode>
                <c:ptCount val="12"/>
                <c:pt idx="2">
                  <c:v>151</c:v>
                </c:pt>
                <c:pt idx="3">
                  <c:v>22</c:v>
                </c:pt>
                <c:pt idx="4">
                  <c:v>33</c:v>
                </c:pt>
                <c:pt idx="7">
                  <c:v>151</c:v>
                </c:pt>
                <c:pt idx="8">
                  <c:v>71</c:v>
                </c:pt>
                <c:pt idx="9">
                  <c:v>67</c:v>
                </c:pt>
                <c:pt idx="10">
                  <c:v>48.488000000000056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F184-4F9C-93FB-BCB2E91AC74D}"/>
            </c:ext>
          </c:extLst>
        </c:ser>
        <c:ser>
          <c:idx val="2"/>
          <c:order val="2"/>
          <c:spPr>
            <a:solidFill>
              <a:srgbClr val="666666"/>
            </a:solidFill>
            <a:ln>
              <a:noFill/>
            </a:ln>
          </c:spPr>
          <c:invertIfNegative val="0"/>
          <c:dLbls>
            <c:dLbl>
              <c:idx val="7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F184-4F9C-93FB-BCB2E91AC7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Sheet1!$A$3:$L$3</c:f>
              <c:numCache>
                <c:formatCode>General</c:formatCode>
                <c:ptCount val="12"/>
                <c:pt idx="7">
                  <c:v>48.488000000000056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F184-4F9C-93FB-BCB2E91AC7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48246864"/>
        <c:axId val="1"/>
      </c:barChart>
      <c:catAx>
        <c:axId val="34824686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86.258959537572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4824686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3194620654656179E-2"/>
          <c:y val="0.10448859455481972"/>
          <c:w val="0.97361075869068769"/>
          <c:h val="0.7910228108903605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0E2B-4DAF-A04D-3042B4B526EB}"/>
              </c:ext>
            </c:extLst>
          </c:dPt>
          <c:dPt>
            <c:idx val="4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E2B-4DAF-A04D-3042B4B526EB}"/>
              </c:ext>
            </c:extLst>
          </c:dPt>
          <c:dPt>
            <c:idx val="5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0E2B-4DAF-A04D-3042B4B526EB}"/>
              </c:ext>
            </c:extLst>
          </c:dPt>
          <c:val>
            <c:numRef>
              <c:f>Sheet1!$A$1:$H$1</c:f>
              <c:numCache>
                <c:formatCode>General</c:formatCode>
                <c:ptCount val="8"/>
                <c:pt idx="0">
                  <c:v>10.935683297180049</c:v>
                </c:pt>
                <c:pt idx="1">
                  <c:v>14.935683297180049</c:v>
                </c:pt>
                <c:pt idx="2">
                  <c:v>13.935683297180049</c:v>
                </c:pt>
                <c:pt idx="3">
                  <c:v>13.935683297180049</c:v>
                </c:pt>
                <c:pt idx="4">
                  <c:v>13.935683297180049</c:v>
                </c:pt>
                <c:pt idx="5">
                  <c:v>59.23568329718006</c:v>
                </c:pt>
                <c:pt idx="6">
                  <c:v>66.835683297180083</c:v>
                </c:pt>
                <c:pt idx="7">
                  <c:v>42.535683297180071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2B-4DAF-A04D-3042B4B526EB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0E2B-4DAF-A04D-3042B4B526EB}"/>
              </c:ext>
            </c:extLst>
          </c:dPt>
          <c:dPt>
            <c:idx val="6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0E2B-4DAF-A04D-3042B4B526EB}"/>
              </c:ext>
            </c:extLst>
          </c:dPt>
          <c:dLbls>
            <c:dLbl>
              <c:idx val="4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0E2B-4DAF-A04D-3042B4B526EB}"/>
                </c:ext>
              </c:extLst>
            </c:dLbl>
            <c:dLbl>
              <c:idx val="5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0E2B-4DAF-A04D-3042B4B526EB}"/>
                </c:ext>
              </c:extLst>
            </c:dLbl>
            <c:dLbl>
              <c:idx val="6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0E2B-4DAF-A04D-3042B4B526E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Sheet1!$A$2:$H$2</c:f>
              <c:numCache>
                <c:formatCode>General</c:formatCode>
                <c:ptCount val="8"/>
                <c:pt idx="2">
                  <c:v>1</c:v>
                </c:pt>
                <c:pt idx="4">
                  <c:v>35.300000000000011</c:v>
                </c:pt>
                <c:pt idx="5">
                  <c:v>17.600000000000023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E2B-4DAF-A04D-3042B4B526EB}"/>
            </c:ext>
          </c:extLst>
        </c:ser>
        <c:ser>
          <c:idx val="2"/>
          <c:order val="2"/>
          <c:spPr>
            <a:solidFill>
              <a:srgbClr val="666666"/>
            </a:solidFill>
            <a:ln>
              <a:noFill/>
            </a:ln>
          </c:spPr>
          <c:invertIfNegative val="0"/>
          <c:dLbls>
            <c:dLbl>
              <c:idx val="4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0E2B-4DAF-A04D-3042B4B526E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Sheet1!$A$3:$H$3</c:f>
              <c:numCache>
                <c:formatCode>General</c:formatCode>
                <c:ptCount val="8"/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E2B-4DAF-A04D-3042B4B526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13603904"/>
        <c:axId val="1"/>
      </c:barChart>
      <c:catAx>
        <c:axId val="71360390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6.83568329718008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1360390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724915445321308E-2"/>
          <c:y val="8.0190930787589501E-2"/>
          <c:w val="0.97655016910935744"/>
          <c:h val="0.8396181384248210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D15-4254-A274-58FE18D1374A}"/>
                </c:ext>
              </c:extLst>
            </c:dLbl>
            <c:dLbl>
              <c:idx val="1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D15-4254-A274-58FE18D1374A}"/>
                </c:ext>
              </c:extLst>
            </c:dLbl>
            <c:dLbl>
              <c:idx val="2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D15-4254-A274-58FE18D1374A}"/>
                </c:ext>
              </c:extLst>
            </c:dLbl>
            <c:dLbl>
              <c:idx val="3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CD15-4254-A274-58FE18D1374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118.80315204081633</c:v>
                </c:pt>
                <c:pt idx="1">
                  <c:v>115.23905747959184</c:v>
                </c:pt>
                <c:pt idx="2">
                  <c:v>147.98743571428571</c:v>
                </c:pt>
                <c:pt idx="3">
                  <c:v>145.02768699999999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15-4254-A274-58FE18D1374A}"/>
            </c:ext>
          </c:extLst>
        </c:ser>
        <c:ser>
          <c:idx val="1"/>
          <c:order val="1"/>
          <c:spPr>
            <a:solidFill>
              <a:srgbClr val="666666"/>
            </a:solidFill>
            <a:ln>
              <a:noFill/>
            </a:ln>
          </c:spPr>
          <c:invertIfNegative val="0"/>
          <c:val>
            <c:numRef>
              <c:f>Sheet1!$A$2:$D$2</c:f>
              <c:numCache>
                <c:formatCode>General</c:formatCode>
                <c:ptCount val="4"/>
                <c:pt idx="0">
                  <c:v>3.7284210526315746</c:v>
                </c:pt>
                <c:pt idx="1">
                  <c:v>3.5420000000000016</c:v>
                </c:pt>
                <c:pt idx="2">
                  <c:v>3.7284210526315746</c:v>
                </c:pt>
                <c:pt idx="3">
                  <c:v>3.5420000000000016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D15-4254-A274-58FE18D137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00708816"/>
        <c:axId val="1"/>
      </c:barChart>
      <c:catAx>
        <c:axId val="300708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1.7158567669172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00708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2534523643464919E-3"/>
          <c:y val="4.2763157894736843E-2"/>
          <c:w val="0.98549309527130702"/>
          <c:h val="0.91447368421052633"/>
        </c:manualLayout>
      </c:layout>
      <c:lineChart>
        <c:grouping val="standard"/>
        <c:varyColors val="0"/>
        <c:ser>
          <c:idx val="0"/>
          <c:order val="0"/>
          <c:spPr>
            <a:ln w="28575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F40-4688-B62D-6A6FE35F0F20}"/>
              </c:ext>
            </c:extLst>
          </c:dPt>
          <c:dPt>
            <c:idx val="1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F40-4688-B62D-6A6FE35F0F20}"/>
              </c:ext>
            </c:extLst>
          </c:dPt>
          <c:dPt>
            <c:idx val="2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4F40-4688-B62D-6A6FE35F0F20}"/>
              </c:ext>
            </c:extLst>
          </c:dPt>
          <c:dPt>
            <c:idx val="3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4F40-4688-B62D-6A6FE35F0F20}"/>
              </c:ext>
            </c:extLst>
          </c:dPt>
          <c:dPt>
            <c:idx val="4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4F40-4688-B62D-6A6FE35F0F20}"/>
              </c:ext>
            </c:extLst>
          </c:dPt>
          <c:dPt>
            <c:idx val="5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4F40-4688-B62D-6A6FE35F0F20}"/>
              </c:ext>
            </c:extLst>
          </c:dPt>
          <c:dPt>
            <c:idx val="6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4F40-4688-B62D-6A6FE35F0F20}"/>
              </c:ext>
            </c:extLst>
          </c:dPt>
          <c:dPt>
            <c:idx val="7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4F40-4688-B62D-6A6FE35F0F20}"/>
              </c:ext>
            </c:extLst>
          </c:dPt>
          <c:dPt>
            <c:idx val="8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4F40-4688-B62D-6A6FE35F0F20}"/>
              </c:ext>
            </c:extLst>
          </c:dPt>
          <c:dPt>
            <c:idx val="9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4F40-4688-B62D-6A6FE35F0F20}"/>
              </c:ext>
            </c:extLst>
          </c:dPt>
          <c:dPt>
            <c:idx val="10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4F40-4688-B62D-6A6FE35F0F20}"/>
              </c:ext>
            </c:extLst>
          </c:dPt>
          <c:dPt>
            <c:idx val="11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4F40-4688-B62D-6A6FE35F0F20}"/>
              </c:ext>
            </c:extLst>
          </c:dPt>
          <c:dPt>
            <c:idx val="12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4F40-4688-B62D-6A6FE35F0F20}"/>
              </c:ext>
            </c:extLst>
          </c:dPt>
          <c:dPt>
            <c:idx val="13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4F40-4688-B62D-6A6FE35F0F20}"/>
              </c:ext>
            </c:extLst>
          </c:dPt>
          <c:val>
            <c:numRef>
              <c:f>Sheet1!$A$1:$N$1</c:f>
              <c:numCache>
                <c:formatCode>General</c:formatCode>
                <c:ptCount val="14"/>
                <c:pt idx="0">
                  <c:v>2064.9069000000004</c:v>
                </c:pt>
                <c:pt idx="1">
                  <c:v>2220.3300000000004</c:v>
                </c:pt>
                <c:pt idx="2">
                  <c:v>2520</c:v>
                </c:pt>
                <c:pt idx="3">
                  <c:v>2714</c:v>
                </c:pt>
                <c:pt idx="4">
                  <c:v>2879</c:v>
                </c:pt>
                <c:pt idx="5">
                  <c:v>3089</c:v>
                </c:pt>
                <c:pt idx="6">
                  <c:v>3032</c:v>
                </c:pt>
                <c:pt idx="7">
                  <c:v>3035</c:v>
                </c:pt>
                <c:pt idx="8">
                  <c:v>2822</c:v>
                </c:pt>
                <c:pt idx="9">
                  <c:v>2770</c:v>
                </c:pt>
                <c:pt idx="10">
                  <c:v>2935.1874360322581</c:v>
                </c:pt>
                <c:pt idx="11">
                  <c:v>3197.1255558219436</c:v>
                </c:pt>
                <c:pt idx="12">
                  <c:v>3803.1560937609493</c:v>
                </c:pt>
                <c:pt idx="13">
                  <c:v>3803.1560937609493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E-4F40-4688-B62D-6A6FE35F0F20}"/>
            </c:ext>
          </c:extLst>
        </c:ser>
        <c:ser>
          <c:idx val="1"/>
          <c:order val="1"/>
          <c:spPr>
            <a:ln w="28575" cmpd="sng" algn="ctr">
              <a:solidFill>
                <a:srgbClr val="FF452C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4F40-4688-B62D-6A6FE35F0F20}"/>
              </c:ext>
            </c:extLst>
          </c:dPt>
          <c:dPt>
            <c:idx val="1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4F40-4688-B62D-6A6FE35F0F20}"/>
              </c:ext>
            </c:extLst>
          </c:dPt>
          <c:dPt>
            <c:idx val="2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1-4F40-4688-B62D-6A6FE35F0F20}"/>
              </c:ext>
            </c:extLst>
          </c:dPt>
          <c:dPt>
            <c:idx val="3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2-4F40-4688-B62D-6A6FE35F0F20}"/>
              </c:ext>
            </c:extLst>
          </c:dPt>
          <c:dPt>
            <c:idx val="4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3-4F40-4688-B62D-6A6FE35F0F20}"/>
              </c:ext>
            </c:extLst>
          </c:dPt>
          <c:dPt>
            <c:idx val="5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4-4F40-4688-B62D-6A6FE35F0F20}"/>
              </c:ext>
            </c:extLst>
          </c:dPt>
          <c:dPt>
            <c:idx val="6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5-4F40-4688-B62D-6A6FE35F0F20}"/>
              </c:ext>
            </c:extLst>
          </c:dPt>
          <c:dPt>
            <c:idx val="7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6-4F40-4688-B62D-6A6FE35F0F20}"/>
              </c:ext>
            </c:extLst>
          </c:dPt>
          <c:dPt>
            <c:idx val="8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7-4F40-4688-B62D-6A6FE35F0F20}"/>
              </c:ext>
            </c:extLst>
          </c:dPt>
          <c:dPt>
            <c:idx val="9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8-4F40-4688-B62D-6A6FE35F0F20}"/>
              </c:ext>
            </c:extLst>
          </c:dPt>
          <c:dPt>
            <c:idx val="10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9-4F40-4688-B62D-6A6FE35F0F20}"/>
              </c:ext>
            </c:extLst>
          </c:dPt>
          <c:dPt>
            <c:idx val="11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A-4F40-4688-B62D-6A6FE35F0F20}"/>
              </c:ext>
            </c:extLst>
          </c:dPt>
          <c:dPt>
            <c:idx val="12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B-4F40-4688-B62D-6A6FE35F0F20}"/>
              </c:ext>
            </c:extLst>
          </c:dPt>
          <c:dPt>
            <c:idx val="13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C-4F40-4688-B62D-6A6FE35F0F20}"/>
              </c:ext>
            </c:extLst>
          </c:dPt>
          <c:val>
            <c:numRef>
              <c:f>Sheet1!$A$2:$N$2</c:f>
              <c:numCache>
                <c:formatCode>General</c:formatCode>
                <c:ptCount val="14"/>
                <c:pt idx="0">
                  <c:v>3803.1560937609493</c:v>
                </c:pt>
                <c:pt idx="1">
                  <c:v>4485.5951540326369</c:v>
                </c:pt>
                <c:pt idx="2">
                  <c:v>4985.3374382022221</c:v>
                </c:pt>
                <c:pt idx="3">
                  <c:v>5174.1840321726031</c:v>
                </c:pt>
                <c:pt idx="4">
                  <c:v>5319.4200494762244</c:v>
                </c:pt>
                <c:pt idx="5">
                  <c:v>5531.6556602699802</c:v>
                </c:pt>
                <c:pt idx="6">
                  <c:v>5507.7149704813992</c:v>
                </c:pt>
                <c:pt idx="7">
                  <c:v>4958.7361989237006</c:v>
                </c:pt>
                <c:pt idx="8">
                  <c:v>3138.6863685870048</c:v>
                </c:pt>
                <c:pt idx="9">
                  <c:v>2660.379726707607</c:v>
                </c:pt>
                <c:pt idx="10">
                  <c:v>2874.2128847076069</c:v>
                </c:pt>
                <c:pt idx="11">
                  <c:v>3194.8185467625717</c:v>
                </c:pt>
                <c:pt idx="12">
                  <c:v>3913.2109080715336</c:v>
                </c:pt>
                <c:pt idx="13">
                  <c:v>3913.2109080715336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D-4F40-4688-B62D-6A6FE35F0F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4968880"/>
        <c:axId val="1"/>
      </c:lineChart>
      <c:catAx>
        <c:axId val="11249688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00"/>
          <c:min val="150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124968880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157364552137218E-2"/>
          <c:y val="0.26473859844271413"/>
          <c:w val="0.97168527089572554"/>
          <c:h val="0.5483870967741935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537263626251390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5D4-4FD3-9D32-017A516D59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D4-4FD3-9D32-017A516D5975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D4-4FD3-9D32-017A516D59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00948016"/>
        <c:axId val="1"/>
      </c:barChart>
      <c:catAx>
        <c:axId val="11009480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1009480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09E16-A88B-8B44-9AED-5D26A22D5264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9F212-A752-C14B-A109-423296A66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71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C2E3D-CD9C-A017-E9AB-4511C1AF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09528A0-348B-54EA-87C0-0CE9D800D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06F41C-DFAE-3875-4751-754EF17E1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28A4F3-6122-9CEE-A761-19AC6657A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199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2D701-3988-49D2-2C0F-3C141BE57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D9A475F-497B-245D-A83A-EEEA35073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E5D6C75-E729-6F87-F002-36BF3C8C7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F87825-6EA4-BEF4-9586-E9277B596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230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569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511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187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67737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D4DE14-7C29-47E9-9897-4D374DDC2AC0}" type="slidenum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0362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A352461-ED9D-49E8-A227-4BE396B7B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352461-ED9D-49E8-A227-4BE396B7B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Дата. Шрифт </a:t>
            </a:r>
            <a:r>
              <a:rPr lang="en-US"/>
              <a:t>Arial Regular 12</a:t>
            </a: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Заголовок презентации</a:t>
            </a:r>
          </a:p>
          <a:p>
            <a:r>
              <a:rPr lang="ru-RU"/>
              <a:t>в несколько строк</a:t>
            </a:r>
          </a:p>
          <a:p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Имя Фамилия </a:t>
            </a:r>
            <a:br>
              <a:rPr lang="en-US" dirty="0"/>
            </a:br>
            <a:r>
              <a:rPr lang="ru-RU"/>
              <a:t>Шрифт </a:t>
            </a:r>
            <a:r>
              <a:rPr lang="en-US"/>
              <a:t>Arial Regular </a:t>
            </a:r>
            <a:r>
              <a:rPr lang="ru-RU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83553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D6B520-E496-4DE7-A7EA-039CB24155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D6B520-E496-4DE7-A7EA-039CB2415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 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  <p:pic>
        <p:nvPicPr>
          <p:cNvPr id="5" name="Google Shape;329;p48">
            <a:extLst>
              <a:ext uri="{FF2B5EF4-FFF2-40B4-BE49-F238E27FC236}">
                <a16:creationId xmlns:a16="http://schemas.microsoft.com/office/drawing/2014/main" id="{C2310AFE-C757-48FC-8C89-768B12B79D2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435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 слайд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2">
            <a:extLst>
              <a:ext uri="{FF2B5EF4-FFF2-40B4-BE49-F238E27FC236}">
                <a16:creationId xmlns:a16="http://schemas.microsoft.com/office/drawing/2014/main" id="{E7EE3C8A-F97F-2E6D-D5C4-E85ADD793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4252" y="6429889"/>
            <a:ext cx="625661" cy="199509"/>
          </a:xfrm>
          <a:prstGeom prst="rect">
            <a:avLst/>
          </a:prstGeom>
        </p:spPr>
        <p:txBody>
          <a:bodyPr/>
          <a:lstStyle>
            <a:lvl1pPr algn="ctr">
              <a:defRPr sz="1000" b="0">
                <a:solidFill>
                  <a:srgbClr val="E30613"/>
                </a:solidFill>
                <a:latin typeface="Montserrat Medium" pitchFamily="2" charset="-52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BA81D881-30B5-EEEF-623E-FCB08A74A5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185" y="169335"/>
            <a:ext cx="11805728" cy="97642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ts val="3667"/>
              </a:lnSpc>
              <a:spcBef>
                <a:spcPts val="0"/>
              </a:spcBef>
              <a:buNone/>
              <a:defRPr sz="3334" b="1">
                <a:solidFill>
                  <a:srgbClr val="E30613"/>
                </a:solidFill>
                <a:latin typeface="Arha Magnit" panose="020B0503030408080203" pitchFamily="34" charset="0"/>
                <a:ea typeface="Arha Magnit" panose="020B0503030408080203" pitchFamily="34" charset="0"/>
              </a:defRPr>
            </a:lvl1pPr>
            <a:lvl2pPr>
              <a:defRPr>
                <a:solidFill>
                  <a:srgbClr val="E30613"/>
                </a:solidFill>
              </a:defRPr>
            </a:lvl2pPr>
            <a:lvl3pPr>
              <a:defRPr>
                <a:solidFill>
                  <a:srgbClr val="E30613"/>
                </a:solidFill>
              </a:defRPr>
            </a:lvl3pPr>
            <a:lvl4pPr>
              <a:defRPr>
                <a:solidFill>
                  <a:srgbClr val="E30613"/>
                </a:solidFill>
              </a:defRPr>
            </a:lvl4pPr>
            <a:lvl5pPr>
              <a:defRPr>
                <a:solidFill>
                  <a:srgbClr val="E30613"/>
                </a:solidFill>
              </a:defRPr>
            </a:lvl5pPr>
          </a:lstStyle>
          <a:p>
            <a:pPr lvl="0"/>
            <a:r>
              <a:rPr lang="ru-RU">
                <a:effectLst/>
              </a:rPr>
              <a:t>Действуй смело</a:t>
            </a:r>
          </a:p>
          <a:p>
            <a:pPr lvl="0"/>
            <a:r>
              <a:rPr lang="ru-RU">
                <a:effectLst/>
              </a:rPr>
              <a:t>Достигай невозможного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DD5DBD3-9CA8-4504-9712-DECDFE190F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7433" y="6432036"/>
            <a:ext cx="3600000" cy="197362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ontserrat" panose="00000500000000000000" pitchFamily="2" charset="-52"/>
              </a:defRPr>
            </a:lvl1pPr>
            <a:lvl2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2pPr>
            <a:lvl3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3pPr>
            <a:lvl4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4pPr>
            <a:lvl5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5pPr>
          </a:lstStyle>
          <a:p>
            <a:pPr lvl="0"/>
            <a:r>
              <a:rPr lang="ru-RU">
                <a:effectLst/>
              </a:rPr>
              <a:t>Тема презентации. Название раздела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12809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559">
          <p15:clr>
            <a:srgbClr val="FBAE40"/>
          </p15:clr>
        </p15:guide>
        <p15:guide id="4" pos="12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theme" Target="../theme/theme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25" imgH="426" progId="TCLayout.ActiveDocument.1">
                  <p:embed/>
                </p:oleObj>
              </mc:Choice>
              <mc:Fallback>
                <p:oleObj name="think-cell Slide" r:id="rId6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175" y="6260830"/>
            <a:ext cx="1179870" cy="368569"/>
          </a:xfrm>
          <a:prstGeom prst="rect">
            <a:avLst/>
          </a:prstGeom>
        </p:spPr>
      </p:pic>
      <p:pic>
        <p:nvPicPr>
          <p:cNvPr id="6" name="Google Shape;329;p48">
            <a:extLst>
              <a:ext uri="{FF2B5EF4-FFF2-40B4-BE49-F238E27FC236}">
                <a16:creationId xmlns:a16="http://schemas.microsoft.com/office/drawing/2014/main" id="{E1B4E335-9445-4D22-A1BC-8334344EE35A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7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4" r:id="rId2"/>
    <p:sldLayoutId id="2147483675" r:id="rId3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26.xml"/><Relationship Id="rId18" Type="http://schemas.openxmlformats.org/officeDocument/2006/relationships/tags" Target="../tags/tag31.xml"/><Relationship Id="rId26" Type="http://schemas.openxmlformats.org/officeDocument/2006/relationships/tags" Target="../tags/tag39.xml"/><Relationship Id="rId3" Type="http://schemas.openxmlformats.org/officeDocument/2006/relationships/tags" Target="../tags/tag16.xml"/><Relationship Id="rId21" Type="http://schemas.openxmlformats.org/officeDocument/2006/relationships/tags" Target="../tags/tag34.xml"/><Relationship Id="rId34" Type="http://schemas.openxmlformats.org/officeDocument/2006/relationships/slideLayout" Target="../slideLayouts/slideLayout2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tags" Target="../tags/tag30.xml"/><Relationship Id="rId25" Type="http://schemas.openxmlformats.org/officeDocument/2006/relationships/tags" Target="../tags/tag38.xml"/><Relationship Id="rId33" Type="http://schemas.openxmlformats.org/officeDocument/2006/relationships/tags" Target="../tags/tag4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20" Type="http://schemas.openxmlformats.org/officeDocument/2006/relationships/tags" Target="../tags/tag33.xml"/><Relationship Id="rId29" Type="http://schemas.openxmlformats.org/officeDocument/2006/relationships/tags" Target="../tags/tag42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24" Type="http://schemas.openxmlformats.org/officeDocument/2006/relationships/tags" Target="../tags/tag37.xml"/><Relationship Id="rId32" Type="http://schemas.openxmlformats.org/officeDocument/2006/relationships/tags" Target="../tags/tag45.xml"/><Relationship Id="rId5" Type="http://schemas.openxmlformats.org/officeDocument/2006/relationships/tags" Target="../tags/tag18.xml"/><Relationship Id="rId15" Type="http://schemas.openxmlformats.org/officeDocument/2006/relationships/tags" Target="../tags/tag28.xml"/><Relationship Id="rId23" Type="http://schemas.openxmlformats.org/officeDocument/2006/relationships/tags" Target="../tags/tag36.xml"/><Relationship Id="rId28" Type="http://schemas.openxmlformats.org/officeDocument/2006/relationships/tags" Target="../tags/tag41.xml"/><Relationship Id="rId36" Type="http://schemas.openxmlformats.org/officeDocument/2006/relationships/chart" Target="../charts/chart4.xml"/><Relationship Id="rId10" Type="http://schemas.openxmlformats.org/officeDocument/2006/relationships/tags" Target="../tags/tag23.xml"/><Relationship Id="rId19" Type="http://schemas.openxmlformats.org/officeDocument/2006/relationships/tags" Target="../tags/tag32.xml"/><Relationship Id="rId31" Type="http://schemas.openxmlformats.org/officeDocument/2006/relationships/tags" Target="../tags/tag44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tags" Target="../tags/tag27.xml"/><Relationship Id="rId22" Type="http://schemas.openxmlformats.org/officeDocument/2006/relationships/tags" Target="../tags/tag35.xml"/><Relationship Id="rId27" Type="http://schemas.openxmlformats.org/officeDocument/2006/relationships/tags" Target="../tags/tag40.xml"/><Relationship Id="rId30" Type="http://schemas.openxmlformats.org/officeDocument/2006/relationships/tags" Target="../tags/tag43.xml"/><Relationship Id="rId35" Type="http://schemas.openxmlformats.org/officeDocument/2006/relationships/chart" Target="../charts/chart3.xml"/><Relationship Id="rId8" Type="http://schemas.openxmlformats.org/officeDocument/2006/relationships/tags" Target="../tags/tag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60.xml"/><Relationship Id="rId18" Type="http://schemas.openxmlformats.org/officeDocument/2006/relationships/tags" Target="../tags/tag65.xml"/><Relationship Id="rId26" Type="http://schemas.openxmlformats.org/officeDocument/2006/relationships/tags" Target="../tags/tag73.xml"/><Relationship Id="rId39" Type="http://schemas.openxmlformats.org/officeDocument/2006/relationships/tags" Target="../tags/tag86.xml"/><Relationship Id="rId21" Type="http://schemas.openxmlformats.org/officeDocument/2006/relationships/tags" Target="../tags/tag68.xml"/><Relationship Id="rId34" Type="http://schemas.openxmlformats.org/officeDocument/2006/relationships/tags" Target="../tags/tag81.xml"/><Relationship Id="rId42" Type="http://schemas.openxmlformats.org/officeDocument/2006/relationships/tags" Target="../tags/tag89.xml"/><Relationship Id="rId47" Type="http://schemas.openxmlformats.org/officeDocument/2006/relationships/tags" Target="../tags/tag94.xml"/><Relationship Id="rId50" Type="http://schemas.openxmlformats.org/officeDocument/2006/relationships/tags" Target="../tags/tag97.xml"/><Relationship Id="rId55" Type="http://schemas.openxmlformats.org/officeDocument/2006/relationships/chart" Target="../charts/chart5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6" Type="http://schemas.openxmlformats.org/officeDocument/2006/relationships/tags" Target="../tags/tag63.xml"/><Relationship Id="rId29" Type="http://schemas.openxmlformats.org/officeDocument/2006/relationships/tags" Target="../tags/tag76.xml"/><Relationship Id="rId11" Type="http://schemas.openxmlformats.org/officeDocument/2006/relationships/tags" Target="../tags/tag58.xml"/><Relationship Id="rId24" Type="http://schemas.openxmlformats.org/officeDocument/2006/relationships/tags" Target="../tags/tag71.xml"/><Relationship Id="rId32" Type="http://schemas.openxmlformats.org/officeDocument/2006/relationships/tags" Target="../tags/tag79.xml"/><Relationship Id="rId37" Type="http://schemas.openxmlformats.org/officeDocument/2006/relationships/tags" Target="../tags/tag84.xml"/><Relationship Id="rId40" Type="http://schemas.openxmlformats.org/officeDocument/2006/relationships/tags" Target="../tags/tag87.xml"/><Relationship Id="rId45" Type="http://schemas.openxmlformats.org/officeDocument/2006/relationships/tags" Target="../tags/tag92.xml"/><Relationship Id="rId53" Type="http://schemas.openxmlformats.org/officeDocument/2006/relationships/oleObject" Target="../embeddings/oleObject10.bin"/><Relationship Id="rId5" Type="http://schemas.openxmlformats.org/officeDocument/2006/relationships/tags" Target="../tags/tag52.xml"/><Relationship Id="rId10" Type="http://schemas.openxmlformats.org/officeDocument/2006/relationships/tags" Target="../tags/tag57.xml"/><Relationship Id="rId19" Type="http://schemas.openxmlformats.org/officeDocument/2006/relationships/tags" Target="../tags/tag66.xml"/><Relationship Id="rId31" Type="http://schemas.openxmlformats.org/officeDocument/2006/relationships/tags" Target="../tags/tag78.xml"/><Relationship Id="rId44" Type="http://schemas.openxmlformats.org/officeDocument/2006/relationships/tags" Target="../tags/tag91.xml"/><Relationship Id="rId52" Type="http://schemas.openxmlformats.org/officeDocument/2006/relationships/slideLayout" Target="../slideLayouts/slideLayout2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Relationship Id="rId22" Type="http://schemas.openxmlformats.org/officeDocument/2006/relationships/tags" Target="../tags/tag69.xml"/><Relationship Id="rId27" Type="http://schemas.openxmlformats.org/officeDocument/2006/relationships/tags" Target="../tags/tag74.xml"/><Relationship Id="rId30" Type="http://schemas.openxmlformats.org/officeDocument/2006/relationships/tags" Target="../tags/tag77.xml"/><Relationship Id="rId35" Type="http://schemas.openxmlformats.org/officeDocument/2006/relationships/tags" Target="../tags/tag82.xml"/><Relationship Id="rId43" Type="http://schemas.openxmlformats.org/officeDocument/2006/relationships/tags" Target="../tags/tag90.xml"/><Relationship Id="rId48" Type="http://schemas.openxmlformats.org/officeDocument/2006/relationships/tags" Target="../tags/tag95.xml"/><Relationship Id="rId8" Type="http://schemas.openxmlformats.org/officeDocument/2006/relationships/tags" Target="../tags/tag55.xml"/><Relationship Id="rId51" Type="http://schemas.openxmlformats.org/officeDocument/2006/relationships/tags" Target="../tags/tag98.xml"/><Relationship Id="rId3" Type="http://schemas.openxmlformats.org/officeDocument/2006/relationships/tags" Target="../tags/tag50.xml"/><Relationship Id="rId12" Type="http://schemas.openxmlformats.org/officeDocument/2006/relationships/tags" Target="../tags/tag59.xml"/><Relationship Id="rId17" Type="http://schemas.openxmlformats.org/officeDocument/2006/relationships/tags" Target="../tags/tag64.xml"/><Relationship Id="rId25" Type="http://schemas.openxmlformats.org/officeDocument/2006/relationships/tags" Target="../tags/tag72.xml"/><Relationship Id="rId33" Type="http://schemas.openxmlformats.org/officeDocument/2006/relationships/tags" Target="../tags/tag80.xml"/><Relationship Id="rId38" Type="http://schemas.openxmlformats.org/officeDocument/2006/relationships/tags" Target="../tags/tag85.xml"/><Relationship Id="rId46" Type="http://schemas.openxmlformats.org/officeDocument/2006/relationships/tags" Target="../tags/tag93.xml"/><Relationship Id="rId20" Type="http://schemas.openxmlformats.org/officeDocument/2006/relationships/tags" Target="../tags/tag67.xml"/><Relationship Id="rId41" Type="http://schemas.openxmlformats.org/officeDocument/2006/relationships/tags" Target="../tags/tag88.xml"/><Relationship Id="rId54" Type="http://schemas.openxmlformats.org/officeDocument/2006/relationships/image" Target="../media/image7.emf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5" Type="http://schemas.openxmlformats.org/officeDocument/2006/relationships/tags" Target="../tags/tag62.xml"/><Relationship Id="rId23" Type="http://schemas.openxmlformats.org/officeDocument/2006/relationships/tags" Target="../tags/tag70.xml"/><Relationship Id="rId28" Type="http://schemas.openxmlformats.org/officeDocument/2006/relationships/tags" Target="../tags/tag75.xml"/><Relationship Id="rId36" Type="http://schemas.openxmlformats.org/officeDocument/2006/relationships/tags" Target="../tags/tag83.xml"/><Relationship Id="rId49" Type="http://schemas.openxmlformats.org/officeDocument/2006/relationships/tags" Target="../tags/tag9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tags" Target="../tags/tag111.xml"/><Relationship Id="rId18" Type="http://schemas.openxmlformats.org/officeDocument/2006/relationships/tags" Target="../tags/tag116.xml"/><Relationship Id="rId26" Type="http://schemas.openxmlformats.org/officeDocument/2006/relationships/tags" Target="../tags/tag124.xml"/><Relationship Id="rId39" Type="http://schemas.openxmlformats.org/officeDocument/2006/relationships/tags" Target="../tags/tag137.xml"/><Relationship Id="rId21" Type="http://schemas.openxmlformats.org/officeDocument/2006/relationships/tags" Target="../tags/tag119.xml"/><Relationship Id="rId34" Type="http://schemas.openxmlformats.org/officeDocument/2006/relationships/tags" Target="../tags/tag132.xml"/><Relationship Id="rId42" Type="http://schemas.openxmlformats.org/officeDocument/2006/relationships/oleObject" Target="../embeddings/oleObject11.bin"/><Relationship Id="rId7" Type="http://schemas.openxmlformats.org/officeDocument/2006/relationships/tags" Target="../tags/tag105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20" Type="http://schemas.openxmlformats.org/officeDocument/2006/relationships/tags" Target="../tags/tag118.xml"/><Relationship Id="rId29" Type="http://schemas.openxmlformats.org/officeDocument/2006/relationships/tags" Target="../tags/tag127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24" Type="http://schemas.openxmlformats.org/officeDocument/2006/relationships/tags" Target="../tags/tag122.xml"/><Relationship Id="rId32" Type="http://schemas.openxmlformats.org/officeDocument/2006/relationships/tags" Target="../tags/tag130.xml"/><Relationship Id="rId37" Type="http://schemas.openxmlformats.org/officeDocument/2006/relationships/tags" Target="../tags/tag135.xml"/><Relationship Id="rId40" Type="http://schemas.openxmlformats.org/officeDocument/2006/relationships/tags" Target="../tags/tag138.xml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23" Type="http://schemas.openxmlformats.org/officeDocument/2006/relationships/tags" Target="../tags/tag121.xml"/><Relationship Id="rId28" Type="http://schemas.openxmlformats.org/officeDocument/2006/relationships/tags" Target="../tags/tag126.xml"/><Relationship Id="rId36" Type="http://schemas.openxmlformats.org/officeDocument/2006/relationships/tags" Target="../tags/tag134.xml"/><Relationship Id="rId10" Type="http://schemas.openxmlformats.org/officeDocument/2006/relationships/tags" Target="../tags/tag108.xml"/><Relationship Id="rId19" Type="http://schemas.openxmlformats.org/officeDocument/2006/relationships/tags" Target="../tags/tag117.xml"/><Relationship Id="rId31" Type="http://schemas.openxmlformats.org/officeDocument/2006/relationships/tags" Target="../tags/tag129.xml"/><Relationship Id="rId44" Type="http://schemas.openxmlformats.org/officeDocument/2006/relationships/chart" Target="../charts/chart7.xml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Relationship Id="rId22" Type="http://schemas.openxmlformats.org/officeDocument/2006/relationships/tags" Target="../tags/tag120.xml"/><Relationship Id="rId27" Type="http://schemas.openxmlformats.org/officeDocument/2006/relationships/tags" Target="../tags/tag125.xml"/><Relationship Id="rId30" Type="http://schemas.openxmlformats.org/officeDocument/2006/relationships/tags" Target="../tags/tag128.xml"/><Relationship Id="rId35" Type="http://schemas.openxmlformats.org/officeDocument/2006/relationships/tags" Target="../tags/tag133.xml"/><Relationship Id="rId43" Type="http://schemas.openxmlformats.org/officeDocument/2006/relationships/image" Target="../media/image8.emf"/><Relationship Id="rId8" Type="http://schemas.openxmlformats.org/officeDocument/2006/relationships/tags" Target="../tags/tag106.xml"/><Relationship Id="rId3" Type="http://schemas.openxmlformats.org/officeDocument/2006/relationships/tags" Target="../tags/tag101.xml"/><Relationship Id="rId12" Type="http://schemas.openxmlformats.org/officeDocument/2006/relationships/tags" Target="../tags/tag110.xml"/><Relationship Id="rId17" Type="http://schemas.openxmlformats.org/officeDocument/2006/relationships/tags" Target="../tags/tag115.xml"/><Relationship Id="rId25" Type="http://schemas.openxmlformats.org/officeDocument/2006/relationships/tags" Target="../tags/tag123.xml"/><Relationship Id="rId33" Type="http://schemas.openxmlformats.org/officeDocument/2006/relationships/tags" Target="../tags/tag131.xml"/><Relationship Id="rId38" Type="http://schemas.openxmlformats.org/officeDocument/2006/relationships/tags" Target="../tags/tag13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9.xml"/><Relationship Id="rId4" Type="http://schemas.openxmlformats.org/officeDocument/2006/relationships/image" Target="../media/image9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0.xml"/><Relationship Id="rId4" Type="http://schemas.openxmlformats.org/officeDocument/2006/relationships/image" Target="../media/image10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6" Type="http://schemas.openxmlformats.org/officeDocument/2006/relationships/tags" Target="../tags/tag169.xml"/><Relationship Id="rId21" Type="http://schemas.openxmlformats.org/officeDocument/2006/relationships/tags" Target="../tags/tag164.xml"/><Relationship Id="rId42" Type="http://schemas.openxmlformats.org/officeDocument/2006/relationships/tags" Target="../tags/tag185.xml"/><Relationship Id="rId47" Type="http://schemas.openxmlformats.org/officeDocument/2006/relationships/tags" Target="../tags/tag190.xml"/><Relationship Id="rId63" Type="http://schemas.openxmlformats.org/officeDocument/2006/relationships/tags" Target="../tags/tag206.xml"/><Relationship Id="rId68" Type="http://schemas.openxmlformats.org/officeDocument/2006/relationships/tags" Target="../tags/tag211.xml"/><Relationship Id="rId84" Type="http://schemas.openxmlformats.org/officeDocument/2006/relationships/tags" Target="../tags/tag227.xml"/><Relationship Id="rId89" Type="http://schemas.openxmlformats.org/officeDocument/2006/relationships/tags" Target="../tags/tag232.xml"/><Relationship Id="rId16" Type="http://schemas.openxmlformats.org/officeDocument/2006/relationships/tags" Target="../tags/tag159.xml"/><Relationship Id="rId11" Type="http://schemas.openxmlformats.org/officeDocument/2006/relationships/tags" Target="../tags/tag154.xml"/><Relationship Id="rId32" Type="http://schemas.openxmlformats.org/officeDocument/2006/relationships/tags" Target="../tags/tag175.xml"/><Relationship Id="rId37" Type="http://schemas.openxmlformats.org/officeDocument/2006/relationships/tags" Target="../tags/tag180.xml"/><Relationship Id="rId53" Type="http://schemas.openxmlformats.org/officeDocument/2006/relationships/tags" Target="../tags/tag196.xml"/><Relationship Id="rId58" Type="http://schemas.openxmlformats.org/officeDocument/2006/relationships/tags" Target="../tags/tag201.xml"/><Relationship Id="rId74" Type="http://schemas.openxmlformats.org/officeDocument/2006/relationships/tags" Target="../tags/tag217.xml"/><Relationship Id="rId79" Type="http://schemas.openxmlformats.org/officeDocument/2006/relationships/tags" Target="../tags/tag222.xml"/><Relationship Id="rId5" Type="http://schemas.openxmlformats.org/officeDocument/2006/relationships/tags" Target="../tags/tag148.xml"/><Relationship Id="rId90" Type="http://schemas.openxmlformats.org/officeDocument/2006/relationships/tags" Target="../tags/tag233.xml"/><Relationship Id="rId95" Type="http://schemas.openxmlformats.org/officeDocument/2006/relationships/oleObject" Target="../embeddings/oleObject14.bin"/><Relationship Id="rId22" Type="http://schemas.openxmlformats.org/officeDocument/2006/relationships/tags" Target="../tags/tag165.xml"/><Relationship Id="rId27" Type="http://schemas.openxmlformats.org/officeDocument/2006/relationships/tags" Target="../tags/tag170.xml"/><Relationship Id="rId43" Type="http://schemas.openxmlformats.org/officeDocument/2006/relationships/tags" Target="../tags/tag186.xml"/><Relationship Id="rId48" Type="http://schemas.openxmlformats.org/officeDocument/2006/relationships/tags" Target="../tags/tag191.xml"/><Relationship Id="rId64" Type="http://schemas.openxmlformats.org/officeDocument/2006/relationships/tags" Target="../tags/tag207.xml"/><Relationship Id="rId69" Type="http://schemas.openxmlformats.org/officeDocument/2006/relationships/tags" Target="../tags/tag212.xml"/><Relationship Id="rId80" Type="http://schemas.openxmlformats.org/officeDocument/2006/relationships/tags" Target="../tags/tag223.xml"/><Relationship Id="rId85" Type="http://schemas.openxmlformats.org/officeDocument/2006/relationships/tags" Target="../tags/tag228.xml"/><Relationship Id="rId3" Type="http://schemas.openxmlformats.org/officeDocument/2006/relationships/tags" Target="../tags/tag146.xml"/><Relationship Id="rId12" Type="http://schemas.openxmlformats.org/officeDocument/2006/relationships/tags" Target="../tags/tag155.xml"/><Relationship Id="rId17" Type="http://schemas.openxmlformats.org/officeDocument/2006/relationships/tags" Target="../tags/tag160.xml"/><Relationship Id="rId25" Type="http://schemas.openxmlformats.org/officeDocument/2006/relationships/tags" Target="../tags/tag168.xml"/><Relationship Id="rId33" Type="http://schemas.openxmlformats.org/officeDocument/2006/relationships/tags" Target="../tags/tag176.xml"/><Relationship Id="rId38" Type="http://schemas.openxmlformats.org/officeDocument/2006/relationships/tags" Target="../tags/tag181.xml"/><Relationship Id="rId46" Type="http://schemas.openxmlformats.org/officeDocument/2006/relationships/tags" Target="../tags/tag189.xml"/><Relationship Id="rId59" Type="http://schemas.openxmlformats.org/officeDocument/2006/relationships/tags" Target="../tags/tag202.xml"/><Relationship Id="rId67" Type="http://schemas.openxmlformats.org/officeDocument/2006/relationships/tags" Target="../tags/tag210.xml"/><Relationship Id="rId20" Type="http://schemas.openxmlformats.org/officeDocument/2006/relationships/tags" Target="../tags/tag163.xml"/><Relationship Id="rId41" Type="http://schemas.openxmlformats.org/officeDocument/2006/relationships/tags" Target="../tags/tag184.xml"/><Relationship Id="rId54" Type="http://schemas.openxmlformats.org/officeDocument/2006/relationships/tags" Target="../tags/tag197.xml"/><Relationship Id="rId62" Type="http://schemas.openxmlformats.org/officeDocument/2006/relationships/tags" Target="../tags/tag205.xml"/><Relationship Id="rId70" Type="http://schemas.openxmlformats.org/officeDocument/2006/relationships/tags" Target="../tags/tag213.xml"/><Relationship Id="rId75" Type="http://schemas.openxmlformats.org/officeDocument/2006/relationships/tags" Target="../tags/tag218.xml"/><Relationship Id="rId83" Type="http://schemas.openxmlformats.org/officeDocument/2006/relationships/tags" Target="../tags/tag226.xml"/><Relationship Id="rId88" Type="http://schemas.openxmlformats.org/officeDocument/2006/relationships/tags" Target="../tags/tag231.xml"/><Relationship Id="rId91" Type="http://schemas.openxmlformats.org/officeDocument/2006/relationships/tags" Target="../tags/tag234.xml"/><Relationship Id="rId96" Type="http://schemas.openxmlformats.org/officeDocument/2006/relationships/image" Target="../media/image4.emf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15" Type="http://schemas.openxmlformats.org/officeDocument/2006/relationships/tags" Target="../tags/tag158.xml"/><Relationship Id="rId23" Type="http://schemas.openxmlformats.org/officeDocument/2006/relationships/tags" Target="../tags/tag166.xml"/><Relationship Id="rId28" Type="http://schemas.openxmlformats.org/officeDocument/2006/relationships/tags" Target="../tags/tag171.xml"/><Relationship Id="rId36" Type="http://schemas.openxmlformats.org/officeDocument/2006/relationships/tags" Target="../tags/tag179.xml"/><Relationship Id="rId49" Type="http://schemas.openxmlformats.org/officeDocument/2006/relationships/tags" Target="../tags/tag192.xml"/><Relationship Id="rId57" Type="http://schemas.openxmlformats.org/officeDocument/2006/relationships/tags" Target="../tags/tag200.xml"/><Relationship Id="rId10" Type="http://schemas.openxmlformats.org/officeDocument/2006/relationships/tags" Target="../tags/tag153.xml"/><Relationship Id="rId31" Type="http://schemas.openxmlformats.org/officeDocument/2006/relationships/tags" Target="../tags/tag174.xml"/><Relationship Id="rId44" Type="http://schemas.openxmlformats.org/officeDocument/2006/relationships/tags" Target="../tags/tag187.xml"/><Relationship Id="rId52" Type="http://schemas.openxmlformats.org/officeDocument/2006/relationships/tags" Target="../tags/tag195.xml"/><Relationship Id="rId60" Type="http://schemas.openxmlformats.org/officeDocument/2006/relationships/tags" Target="../tags/tag203.xml"/><Relationship Id="rId65" Type="http://schemas.openxmlformats.org/officeDocument/2006/relationships/tags" Target="../tags/tag208.xml"/><Relationship Id="rId73" Type="http://schemas.openxmlformats.org/officeDocument/2006/relationships/tags" Target="../tags/tag216.xml"/><Relationship Id="rId78" Type="http://schemas.openxmlformats.org/officeDocument/2006/relationships/tags" Target="../tags/tag221.xml"/><Relationship Id="rId81" Type="http://schemas.openxmlformats.org/officeDocument/2006/relationships/tags" Target="../tags/tag224.xml"/><Relationship Id="rId86" Type="http://schemas.openxmlformats.org/officeDocument/2006/relationships/tags" Target="../tags/tag229.xml"/><Relationship Id="rId94" Type="http://schemas.openxmlformats.org/officeDocument/2006/relationships/slideLayout" Target="../slideLayouts/slideLayout3.xml"/><Relationship Id="rId4" Type="http://schemas.openxmlformats.org/officeDocument/2006/relationships/tags" Target="../tags/tag147.xml"/><Relationship Id="rId9" Type="http://schemas.openxmlformats.org/officeDocument/2006/relationships/tags" Target="../tags/tag152.xml"/><Relationship Id="rId13" Type="http://schemas.openxmlformats.org/officeDocument/2006/relationships/tags" Target="../tags/tag156.xml"/><Relationship Id="rId18" Type="http://schemas.openxmlformats.org/officeDocument/2006/relationships/tags" Target="../tags/tag161.xml"/><Relationship Id="rId39" Type="http://schemas.openxmlformats.org/officeDocument/2006/relationships/tags" Target="../tags/tag182.xml"/><Relationship Id="rId34" Type="http://schemas.openxmlformats.org/officeDocument/2006/relationships/tags" Target="../tags/tag177.xml"/><Relationship Id="rId50" Type="http://schemas.openxmlformats.org/officeDocument/2006/relationships/tags" Target="../tags/tag193.xml"/><Relationship Id="rId55" Type="http://schemas.openxmlformats.org/officeDocument/2006/relationships/tags" Target="../tags/tag198.xml"/><Relationship Id="rId76" Type="http://schemas.openxmlformats.org/officeDocument/2006/relationships/tags" Target="../tags/tag219.xml"/><Relationship Id="rId97" Type="http://schemas.openxmlformats.org/officeDocument/2006/relationships/chart" Target="../charts/chart13.xml"/><Relationship Id="rId7" Type="http://schemas.openxmlformats.org/officeDocument/2006/relationships/tags" Target="../tags/tag150.xml"/><Relationship Id="rId71" Type="http://schemas.openxmlformats.org/officeDocument/2006/relationships/tags" Target="../tags/tag214.xml"/><Relationship Id="rId92" Type="http://schemas.openxmlformats.org/officeDocument/2006/relationships/tags" Target="../tags/tag235.xml"/><Relationship Id="rId2" Type="http://schemas.openxmlformats.org/officeDocument/2006/relationships/tags" Target="../tags/tag145.xml"/><Relationship Id="rId29" Type="http://schemas.openxmlformats.org/officeDocument/2006/relationships/tags" Target="../tags/tag172.xml"/><Relationship Id="rId24" Type="http://schemas.openxmlformats.org/officeDocument/2006/relationships/tags" Target="../tags/tag167.xml"/><Relationship Id="rId40" Type="http://schemas.openxmlformats.org/officeDocument/2006/relationships/tags" Target="../tags/tag183.xml"/><Relationship Id="rId45" Type="http://schemas.openxmlformats.org/officeDocument/2006/relationships/tags" Target="../tags/tag188.xml"/><Relationship Id="rId66" Type="http://schemas.openxmlformats.org/officeDocument/2006/relationships/tags" Target="../tags/tag209.xml"/><Relationship Id="rId87" Type="http://schemas.openxmlformats.org/officeDocument/2006/relationships/tags" Target="../tags/tag230.xml"/><Relationship Id="rId61" Type="http://schemas.openxmlformats.org/officeDocument/2006/relationships/tags" Target="../tags/tag204.xml"/><Relationship Id="rId82" Type="http://schemas.openxmlformats.org/officeDocument/2006/relationships/tags" Target="../tags/tag225.xml"/><Relationship Id="rId19" Type="http://schemas.openxmlformats.org/officeDocument/2006/relationships/tags" Target="../tags/tag162.xml"/><Relationship Id="rId14" Type="http://schemas.openxmlformats.org/officeDocument/2006/relationships/tags" Target="../tags/tag157.xml"/><Relationship Id="rId30" Type="http://schemas.openxmlformats.org/officeDocument/2006/relationships/tags" Target="../tags/tag173.xml"/><Relationship Id="rId35" Type="http://schemas.openxmlformats.org/officeDocument/2006/relationships/tags" Target="../tags/tag178.xml"/><Relationship Id="rId56" Type="http://schemas.openxmlformats.org/officeDocument/2006/relationships/tags" Target="../tags/tag199.xml"/><Relationship Id="rId77" Type="http://schemas.openxmlformats.org/officeDocument/2006/relationships/tags" Target="../tags/tag220.xml"/><Relationship Id="rId8" Type="http://schemas.openxmlformats.org/officeDocument/2006/relationships/tags" Target="../tags/tag151.xml"/><Relationship Id="rId51" Type="http://schemas.openxmlformats.org/officeDocument/2006/relationships/tags" Target="../tags/tag194.xml"/><Relationship Id="rId72" Type="http://schemas.openxmlformats.org/officeDocument/2006/relationships/tags" Target="../tags/tag215.xml"/><Relationship Id="rId93" Type="http://schemas.openxmlformats.org/officeDocument/2006/relationships/tags" Target="../tags/tag236.xml"/><Relationship Id="rId98" Type="http://schemas.openxmlformats.org/officeDocument/2006/relationships/chart" Target="../charts/chart14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244.xml"/><Relationship Id="rId13" Type="http://schemas.openxmlformats.org/officeDocument/2006/relationships/tags" Target="../tags/tag249.xml"/><Relationship Id="rId18" Type="http://schemas.openxmlformats.org/officeDocument/2006/relationships/tags" Target="../tags/tag254.xml"/><Relationship Id="rId3" Type="http://schemas.openxmlformats.org/officeDocument/2006/relationships/tags" Target="../tags/tag239.xml"/><Relationship Id="rId21" Type="http://schemas.openxmlformats.org/officeDocument/2006/relationships/image" Target="../media/image4.emf"/><Relationship Id="rId7" Type="http://schemas.openxmlformats.org/officeDocument/2006/relationships/tags" Target="../tags/tag243.xml"/><Relationship Id="rId12" Type="http://schemas.openxmlformats.org/officeDocument/2006/relationships/tags" Target="../tags/tag248.xml"/><Relationship Id="rId17" Type="http://schemas.openxmlformats.org/officeDocument/2006/relationships/tags" Target="../tags/tag253.xml"/><Relationship Id="rId2" Type="http://schemas.openxmlformats.org/officeDocument/2006/relationships/tags" Target="../tags/tag238.xml"/><Relationship Id="rId16" Type="http://schemas.openxmlformats.org/officeDocument/2006/relationships/tags" Target="../tags/tag252.xml"/><Relationship Id="rId20" Type="http://schemas.openxmlformats.org/officeDocument/2006/relationships/oleObject" Target="../embeddings/oleObject15.bin"/><Relationship Id="rId1" Type="http://schemas.openxmlformats.org/officeDocument/2006/relationships/tags" Target="../tags/tag237.xml"/><Relationship Id="rId6" Type="http://schemas.openxmlformats.org/officeDocument/2006/relationships/tags" Target="../tags/tag242.xml"/><Relationship Id="rId11" Type="http://schemas.openxmlformats.org/officeDocument/2006/relationships/tags" Target="../tags/tag247.xml"/><Relationship Id="rId5" Type="http://schemas.openxmlformats.org/officeDocument/2006/relationships/tags" Target="../tags/tag241.xml"/><Relationship Id="rId15" Type="http://schemas.openxmlformats.org/officeDocument/2006/relationships/tags" Target="../tags/tag251.xml"/><Relationship Id="rId10" Type="http://schemas.openxmlformats.org/officeDocument/2006/relationships/tags" Target="../tags/tag246.xml"/><Relationship Id="rId19" Type="http://schemas.openxmlformats.org/officeDocument/2006/relationships/slideLayout" Target="../slideLayouts/slideLayout3.xml"/><Relationship Id="rId4" Type="http://schemas.openxmlformats.org/officeDocument/2006/relationships/tags" Target="../tags/tag240.xml"/><Relationship Id="rId9" Type="http://schemas.openxmlformats.org/officeDocument/2006/relationships/tags" Target="../tags/tag245.xml"/><Relationship Id="rId14" Type="http://schemas.openxmlformats.org/officeDocument/2006/relationships/tags" Target="../tags/tag250.xml"/><Relationship Id="rId22" Type="http://schemas.openxmlformats.org/officeDocument/2006/relationships/chart" Target="../charts/chart15.xml"/></Relationships>
</file>

<file path=ppt/slides/_rels/slide51.xml.rels><?xml version="1.0" encoding="UTF-8" standalone="yes"?>
<Relationships xmlns="http://schemas.openxmlformats.org/package/2006/relationships"><Relationship Id="rId26" Type="http://schemas.openxmlformats.org/officeDocument/2006/relationships/tags" Target="../tags/tag280.xml"/><Relationship Id="rId21" Type="http://schemas.openxmlformats.org/officeDocument/2006/relationships/tags" Target="../tags/tag275.xml"/><Relationship Id="rId42" Type="http://schemas.openxmlformats.org/officeDocument/2006/relationships/tags" Target="../tags/tag296.xml"/><Relationship Id="rId47" Type="http://schemas.openxmlformats.org/officeDocument/2006/relationships/tags" Target="../tags/tag301.xml"/><Relationship Id="rId63" Type="http://schemas.openxmlformats.org/officeDocument/2006/relationships/tags" Target="../tags/tag317.xml"/><Relationship Id="rId68" Type="http://schemas.openxmlformats.org/officeDocument/2006/relationships/slideLayout" Target="../slideLayouts/slideLayout3.xml"/><Relationship Id="rId2" Type="http://schemas.openxmlformats.org/officeDocument/2006/relationships/tags" Target="../tags/tag256.xml"/><Relationship Id="rId16" Type="http://schemas.openxmlformats.org/officeDocument/2006/relationships/tags" Target="../tags/tag270.xml"/><Relationship Id="rId29" Type="http://schemas.openxmlformats.org/officeDocument/2006/relationships/tags" Target="../tags/tag283.xml"/><Relationship Id="rId11" Type="http://schemas.openxmlformats.org/officeDocument/2006/relationships/tags" Target="../tags/tag265.xml"/><Relationship Id="rId24" Type="http://schemas.openxmlformats.org/officeDocument/2006/relationships/tags" Target="../tags/tag278.xml"/><Relationship Id="rId32" Type="http://schemas.openxmlformats.org/officeDocument/2006/relationships/tags" Target="../tags/tag286.xml"/><Relationship Id="rId37" Type="http://schemas.openxmlformats.org/officeDocument/2006/relationships/tags" Target="../tags/tag291.xml"/><Relationship Id="rId40" Type="http://schemas.openxmlformats.org/officeDocument/2006/relationships/tags" Target="../tags/tag294.xml"/><Relationship Id="rId45" Type="http://schemas.openxmlformats.org/officeDocument/2006/relationships/tags" Target="../tags/tag299.xml"/><Relationship Id="rId53" Type="http://schemas.openxmlformats.org/officeDocument/2006/relationships/tags" Target="../tags/tag307.xml"/><Relationship Id="rId58" Type="http://schemas.openxmlformats.org/officeDocument/2006/relationships/tags" Target="../tags/tag312.xml"/><Relationship Id="rId66" Type="http://schemas.openxmlformats.org/officeDocument/2006/relationships/tags" Target="../tags/tag320.xml"/><Relationship Id="rId5" Type="http://schemas.openxmlformats.org/officeDocument/2006/relationships/tags" Target="../tags/tag259.xml"/><Relationship Id="rId61" Type="http://schemas.openxmlformats.org/officeDocument/2006/relationships/tags" Target="../tags/tag315.xml"/><Relationship Id="rId19" Type="http://schemas.openxmlformats.org/officeDocument/2006/relationships/tags" Target="../tags/tag273.xml"/><Relationship Id="rId14" Type="http://schemas.openxmlformats.org/officeDocument/2006/relationships/tags" Target="../tags/tag268.xml"/><Relationship Id="rId22" Type="http://schemas.openxmlformats.org/officeDocument/2006/relationships/tags" Target="../tags/tag276.xml"/><Relationship Id="rId27" Type="http://schemas.openxmlformats.org/officeDocument/2006/relationships/tags" Target="../tags/tag281.xml"/><Relationship Id="rId30" Type="http://schemas.openxmlformats.org/officeDocument/2006/relationships/tags" Target="../tags/tag284.xml"/><Relationship Id="rId35" Type="http://schemas.openxmlformats.org/officeDocument/2006/relationships/tags" Target="../tags/tag289.xml"/><Relationship Id="rId43" Type="http://schemas.openxmlformats.org/officeDocument/2006/relationships/tags" Target="../tags/tag297.xml"/><Relationship Id="rId48" Type="http://schemas.openxmlformats.org/officeDocument/2006/relationships/tags" Target="../tags/tag302.xml"/><Relationship Id="rId56" Type="http://schemas.openxmlformats.org/officeDocument/2006/relationships/tags" Target="../tags/tag310.xml"/><Relationship Id="rId64" Type="http://schemas.openxmlformats.org/officeDocument/2006/relationships/tags" Target="../tags/tag318.xml"/><Relationship Id="rId69" Type="http://schemas.openxmlformats.org/officeDocument/2006/relationships/notesSlide" Target="../notesSlides/notesSlide12.xml"/><Relationship Id="rId8" Type="http://schemas.openxmlformats.org/officeDocument/2006/relationships/tags" Target="../tags/tag262.xml"/><Relationship Id="rId51" Type="http://schemas.openxmlformats.org/officeDocument/2006/relationships/tags" Target="../tags/tag305.xml"/><Relationship Id="rId72" Type="http://schemas.openxmlformats.org/officeDocument/2006/relationships/chart" Target="../charts/chart16.xml"/><Relationship Id="rId3" Type="http://schemas.openxmlformats.org/officeDocument/2006/relationships/tags" Target="../tags/tag257.xml"/><Relationship Id="rId12" Type="http://schemas.openxmlformats.org/officeDocument/2006/relationships/tags" Target="../tags/tag266.xml"/><Relationship Id="rId17" Type="http://schemas.openxmlformats.org/officeDocument/2006/relationships/tags" Target="../tags/tag271.xml"/><Relationship Id="rId25" Type="http://schemas.openxmlformats.org/officeDocument/2006/relationships/tags" Target="../tags/tag279.xml"/><Relationship Id="rId33" Type="http://schemas.openxmlformats.org/officeDocument/2006/relationships/tags" Target="../tags/tag287.xml"/><Relationship Id="rId38" Type="http://schemas.openxmlformats.org/officeDocument/2006/relationships/tags" Target="../tags/tag292.xml"/><Relationship Id="rId46" Type="http://schemas.openxmlformats.org/officeDocument/2006/relationships/tags" Target="../tags/tag300.xml"/><Relationship Id="rId59" Type="http://schemas.openxmlformats.org/officeDocument/2006/relationships/tags" Target="../tags/tag313.xml"/><Relationship Id="rId67" Type="http://schemas.openxmlformats.org/officeDocument/2006/relationships/tags" Target="../tags/tag321.xml"/><Relationship Id="rId20" Type="http://schemas.openxmlformats.org/officeDocument/2006/relationships/tags" Target="../tags/tag274.xml"/><Relationship Id="rId41" Type="http://schemas.openxmlformats.org/officeDocument/2006/relationships/tags" Target="../tags/tag295.xml"/><Relationship Id="rId54" Type="http://schemas.openxmlformats.org/officeDocument/2006/relationships/tags" Target="../tags/tag308.xml"/><Relationship Id="rId62" Type="http://schemas.openxmlformats.org/officeDocument/2006/relationships/tags" Target="../tags/tag316.xml"/><Relationship Id="rId70" Type="http://schemas.openxmlformats.org/officeDocument/2006/relationships/oleObject" Target="../embeddings/oleObject16.bin"/><Relationship Id="rId1" Type="http://schemas.openxmlformats.org/officeDocument/2006/relationships/tags" Target="../tags/tag255.xml"/><Relationship Id="rId6" Type="http://schemas.openxmlformats.org/officeDocument/2006/relationships/tags" Target="../tags/tag260.xml"/><Relationship Id="rId15" Type="http://schemas.openxmlformats.org/officeDocument/2006/relationships/tags" Target="../tags/tag269.xml"/><Relationship Id="rId23" Type="http://schemas.openxmlformats.org/officeDocument/2006/relationships/tags" Target="../tags/tag277.xml"/><Relationship Id="rId28" Type="http://schemas.openxmlformats.org/officeDocument/2006/relationships/tags" Target="../tags/tag282.xml"/><Relationship Id="rId36" Type="http://schemas.openxmlformats.org/officeDocument/2006/relationships/tags" Target="../tags/tag290.xml"/><Relationship Id="rId49" Type="http://schemas.openxmlformats.org/officeDocument/2006/relationships/tags" Target="../tags/tag303.xml"/><Relationship Id="rId57" Type="http://schemas.openxmlformats.org/officeDocument/2006/relationships/tags" Target="../tags/tag311.xml"/><Relationship Id="rId10" Type="http://schemas.openxmlformats.org/officeDocument/2006/relationships/tags" Target="../tags/tag264.xml"/><Relationship Id="rId31" Type="http://schemas.openxmlformats.org/officeDocument/2006/relationships/tags" Target="../tags/tag285.xml"/><Relationship Id="rId44" Type="http://schemas.openxmlformats.org/officeDocument/2006/relationships/tags" Target="../tags/tag298.xml"/><Relationship Id="rId52" Type="http://schemas.openxmlformats.org/officeDocument/2006/relationships/tags" Target="../tags/tag306.xml"/><Relationship Id="rId60" Type="http://schemas.openxmlformats.org/officeDocument/2006/relationships/tags" Target="../tags/tag314.xml"/><Relationship Id="rId65" Type="http://schemas.openxmlformats.org/officeDocument/2006/relationships/tags" Target="../tags/tag319.xml"/><Relationship Id="rId73" Type="http://schemas.openxmlformats.org/officeDocument/2006/relationships/chart" Target="../charts/chart17.xml"/><Relationship Id="rId4" Type="http://schemas.openxmlformats.org/officeDocument/2006/relationships/tags" Target="../tags/tag258.xml"/><Relationship Id="rId9" Type="http://schemas.openxmlformats.org/officeDocument/2006/relationships/tags" Target="../tags/tag263.xml"/><Relationship Id="rId13" Type="http://schemas.openxmlformats.org/officeDocument/2006/relationships/tags" Target="../tags/tag267.xml"/><Relationship Id="rId18" Type="http://schemas.openxmlformats.org/officeDocument/2006/relationships/tags" Target="../tags/tag272.xml"/><Relationship Id="rId39" Type="http://schemas.openxmlformats.org/officeDocument/2006/relationships/tags" Target="../tags/tag293.xml"/><Relationship Id="rId34" Type="http://schemas.openxmlformats.org/officeDocument/2006/relationships/tags" Target="../tags/tag288.xml"/><Relationship Id="rId50" Type="http://schemas.openxmlformats.org/officeDocument/2006/relationships/tags" Target="../tags/tag304.xml"/><Relationship Id="rId55" Type="http://schemas.openxmlformats.org/officeDocument/2006/relationships/tags" Target="../tags/tag309.xml"/><Relationship Id="rId7" Type="http://schemas.openxmlformats.org/officeDocument/2006/relationships/tags" Target="../tags/tag261.xml"/><Relationship Id="rId71" Type="http://schemas.openxmlformats.org/officeDocument/2006/relationships/image" Target="../media/image4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Магнит </a:t>
            </a:r>
            <a:r>
              <a:rPr lang="en-US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AdTech</a:t>
            </a:r>
            <a:endParaRPr lang="ru-RU" kumimoji="0" sz="5000" b="1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Arial"/>
            </a:endParaRPr>
          </a:p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QBR </a:t>
            </a:r>
            <a:r>
              <a:rPr lang="ru-RU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и 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Людмила Марлье</a:t>
            </a:r>
          </a:p>
        </p:txBody>
      </p:sp>
    </p:spTree>
    <p:extLst>
      <p:ext uri="{BB962C8B-B14F-4D97-AF65-F5344CB8AC3E}">
        <p14:creationId xmlns:p14="http://schemas.microsoft.com/office/powerpoint/2010/main" val="382512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DA7F0-BF63-4B83-0DBE-C99C20616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2DBB26F-E006-4AF2-FDFF-57878A7F8E3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103BE124-5F0F-D3B8-CD52-CBF547F1FB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7E20780A-A346-6B8D-41C8-69A459F7C43D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Arial"/>
              </a:rPr>
              <a:t>QBR</a:t>
            </a:r>
            <a:br>
              <a:rPr lang="en-US" sz="5000" b="1" dirty="0">
                <a:solidFill>
                  <a:srgbClr val="FFFFFF"/>
                </a:solidFill>
                <a:latin typeface="Arial"/>
              </a:rPr>
            </a:br>
            <a:r>
              <a:rPr lang="ru-RU" sz="5000" b="1">
                <a:solidFill>
                  <a:srgbClr val="FFFFFF"/>
                </a:solidFill>
                <a:latin typeface="Arial"/>
              </a:rPr>
              <a:t>Результаты сентября 2026</a:t>
            </a:r>
            <a:br>
              <a:rPr lang="en-US" sz="5000" b="1" dirty="0">
                <a:solidFill>
                  <a:srgbClr val="FFFFFF"/>
                </a:solidFill>
                <a:latin typeface="Arial"/>
              </a:rPr>
            </a:br>
            <a:endParaRPr lang="ru-RU" sz="50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1F1415-A9F6-0899-FAE8-81897139A2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162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185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D65656BD-BDC7-4AB7-9502-886BF31BBD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Статус выполнения КПЭ: </a:t>
            </a:r>
            <a:r>
              <a:rPr lang="ru-RU">
                <a:solidFill>
                  <a:schemeClr val="dk1"/>
                </a:solidFill>
                <a:latin typeface="+mn-lt"/>
                <a:sym typeface="Montserrat"/>
              </a:rPr>
              <a:t>т</a:t>
            </a:r>
            <a:r>
              <a:rPr lang="ru-RU" sz="2400" b="1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  <a:t>риггеры КПЭ выполняются </a:t>
            </a:r>
            <a:br>
              <a:rPr lang="ru-RU" sz="2400" b="1" dirty="0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</a:br>
            <a:r>
              <a:rPr lang="ru-RU" sz="2400" b="1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  <a:t>в полном объеме</a:t>
            </a:r>
            <a:endParaRPr lang="ru-RU"/>
          </a:p>
          <a:p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39FE8D2-E681-4AB4-8331-4BF473CEC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485019"/>
              </p:ext>
            </p:extLst>
          </p:nvPr>
        </p:nvGraphicFramePr>
        <p:xfrm>
          <a:off x="364174" y="939157"/>
          <a:ext cx="11463642" cy="2759440"/>
        </p:xfrm>
        <a:graphic>
          <a:graphicData uri="http://schemas.openxmlformats.org/drawingml/2006/table">
            <a:tbl>
              <a:tblPr/>
              <a:tblGrid>
                <a:gridCol w="1506959">
                  <a:extLst>
                    <a:ext uri="{9D8B030D-6E8A-4147-A177-3AD203B41FA5}">
                      <a16:colId xmlns:a16="http://schemas.microsoft.com/office/drawing/2014/main" val="266420583"/>
                    </a:ext>
                  </a:extLst>
                </a:gridCol>
                <a:gridCol w="2003337">
                  <a:extLst>
                    <a:ext uri="{9D8B030D-6E8A-4147-A177-3AD203B41FA5}">
                      <a16:colId xmlns:a16="http://schemas.microsoft.com/office/drawing/2014/main" val="1371208351"/>
                    </a:ext>
                  </a:extLst>
                </a:gridCol>
                <a:gridCol w="474006">
                  <a:extLst>
                    <a:ext uri="{9D8B030D-6E8A-4147-A177-3AD203B41FA5}">
                      <a16:colId xmlns:a16="http://schemas.microsoft.com/office/drawing/2014/main" val="2790943951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1583470004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743709276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3662016787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1493236834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644740059"/>
                    </a:ext>
                  </a:extLst>
                </a:gridCol>
                <a:gridCol w="587233">
                  <a:extLst>
                    <a:ext uri="{9D8B030D-6E8A-4147-A177-3AD203B41FA5}">
                      <a16:colId xmlns:a16="http://schemas.microsoft.com/office/drawing/2014/main" val="2101338174"/>
                    </a:ext>
                  </a:extLst>
                </a:gridCol>
                <a:gridCol w="931333">
                  <a:extLst>
                    <a:ext uri="{9D8B030D-6E8A-4147-A177-3AD203B41FA5}">
                      <a16:colId xmlns:a16="http://schemas.microsoft.com/office/drawing/2014/main" val="1045963864"/>
                    </a:ext>
                  </a:extLst>
                </a:gridCol>
                <a:gridCol w="93133">
                  <a:extLst>
                    <a:ext uri="{9D8B030D-6E8A-4147-A177-3AD203B41FA5}">
                      <a16:colId xmlns:a16="http://schemas.microsoft.com/office/drawing/2014/main" val="1009357481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047428590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840101419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2904748871"/>
                    </a:ext>
                  </a:extLst>
                </a:gridCol>
                <a:gridCol w="118534">
                  <a:extLst>
                    <a:ext uri="{9D8B030D-6E8A-4147-A177-3AD203B41FA5}">
                      <a16:colId xmlns:a16="http://schemas.microsoft.com/office/drawing/2014/main" val="3323509817"/>
                    </a:ext>
                  </a:extLst>
                </a:gridCol>
                <a:gridCol w="643465">
                  <a:extLst>
                    <a:ext uri="{9D8B030D-6E8A-4147-A177-3AD203B41FA5}">
                      <a16:colId xmlns:a16="http://schemas.microsoft.com/office/drawing/2014/main" val="1780177134"/>
                    </a:ext>
                  </a:extLst>
                </a:gridCol>
                <a:gridCol w="1015885">
                  <a:extLst>
                    <a:ext uri="{9D8B030D-6E8A-4147-A177-3AD203B41FA5}">
                      <a16:colId xmlns:a16="http://schemas.microsoft.com/office/drawing/2014/main" val="444242803"/>
                    </a:ext>
                  </a:extLst>
                </a:gridCol>
              </a:tblGrid>
              <a:tr h="356546"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3000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 9м 2026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2026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511758"/>
                  </a:ext>
                </a:extLst>
              </a:tr>
              <a:tr h="35654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КПЭ</a:t>
                      </a: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Показатель</a:t>
                      </a:r>
                      <a:endParaRPr lang="ru-RU" sz="1100" b="1" i="0" u="none" strike="noStrike" baseline="3000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Вес</a:t>
                      </a: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Выполнение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выполнения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43003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AdTech EBITDA</a:t>
                      </a:r>
                      <a:endParaRPr lang="en-US" sz="1100" b="1" i="0" u="none" strike="noStrike" baseline="30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Значение, млрд руб.</a:t>
                      </a:r>
                      <a:endParaRPr lang="ru-RU" sz="1100" b="1" i="0" u="none" strike="noStrike" baseline="30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49%</a:t>
                      </a: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90947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выполнения бюджета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196,04%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140,25%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371140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Оценка (Выплата премии)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057018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marR="0" lvl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Инкрементальная выручка от некоммерческих поставщиков</a:t>
                      </a: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Значение, млрд руб.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21%</a:t>
                      </a: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81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i="0" u="none" strike="noStrike" kern="1200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выполнения бюджета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118,64%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120,16%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7504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i="0" u="none" strike="noStrike" kern="1200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Оценка (Выплата премии)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146,6%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606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54CBD42-8B3D-4B5C-8D9E-FA37F778EAED}"/>
              </a:ext>
            </a:extLst>
          </p:cNvPr>
          <p:cNvSpPr txBox="1"/>
          <p:nvPr/>
        </p:nvSpPr>
        <p:spPr>
          <a:xfrm>
            <a:off x="326464" y="3847656"/>
            <a:ext cx="10260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Расчет EBITDA, применимый к КПЭ выполняется без учета базовой выручки </a:t>
            </a:r>
            <a:r>
              <a:rPr lang="en-US" kumimoji="0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</a:t>
            </a:r>
            <a:r>
              <a:rPr lang="ru-RU" kumimoji="0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b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lang="ru-RU" kumimoji="0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Расшифровка:</a:t>
            </a:r>
          </a:p>
        </p:txBody>
      </p:sp>
      <p:graphicFrame>
        <p:nvGraphicFramePr>
          <p:cNvPr id="11" name="Google Shape;315;p47">
            <a:extLst>
              <a:ext uri="{FF2B5EF4-FFF2-40B4-BE49-F238E27FC236}">
                <a16:creationId xmlns:a16="http://schemas.microsoft.com/office/drawing/2014/main" id="{424E3A06-3193-4916-98C3-B1A49BE3BD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2365435"/>
              </p:ext>
            </p:extLst>
          </p:nvPr>
        </p:nvGraphicFramePr>
        <p:xfrm>
          <a:off x="364174" y="4259720"/>
          <a:ext cx="2867833" cy="191560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ontserrat"/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AdTech EBITDA, </a:t>
                      </a:r>
                      <a:r>
                        <a:rPr lang="ru-RU" sz="1100" b="1" u="none" strike="noStrike" cap="none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1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ACT</a:t>
                      </a:r>
                      <a:endParaRPr lang="en-US" sz="1100" b="1" i="0" u="none" strike="noStrike" cap="none">
                        <a:solidFill>
                          <a:schemeClr val="tx1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4 607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1 409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1 499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(1 557)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3 050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A39E7C9-4688-44BB-819A-7672B8A8DC45}"/>
              </a:ext>
            </a:extLst>
          </p:cNvPr>
          <p:cNvSpPr/>
          <p:nvPr/>
        </p:nvSpPr>
        <p:spPr>
          <a:xfrm rot="16200000">
            <a:off x="43676" y="4790599"/>
            <a:ext cx="385576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7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E46B5DC-FF39-41BA-9F91-CE8DE528923E}"/>
              </a:ext>
            </a:extLst>
          </p:cNvPr>
          <p:cNvSpPr/>
          <p:nvPr/>
        </p:nvSpPr>
        <p:spPr>
          <a:xfrm rot="16200000">
            <a:off x="-48515" y="5334907"/>
            <a:ext cx="56996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7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3289171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lang="ru-RU" kumimoji="0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en-US"/>
              <a:t>9M 2026 MAGNIT ADS YTD BU vs YTD ACT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+2 210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(1 940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(-8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(278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+1 181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поставщикам (301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(126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(754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ФОТ +20 млн руб.: рекласс ФОТ в CAPEX в сентябре, индексация (+22 млн руб.); перерасход по премиям и STI (-66 млн руб.), отпускным (-47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закупке трафика для перепродажи (+254 млн руб.), по вознаграждениям РА (+91 млн руб.), маркетинг ВГО (-22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ноутбуках и облачном хранении данных (+31 млн руб.), сдвиг по рекламному сбору (+25 млн руб.), подбор, обучение, HR-бренд (+13 млн руб.), резерв отпусков (-28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Эффект увеличения продаж рекламы новым контрагентам и доступности </a:t>
            </a:r>
            <a:r>
              <a:rPr lang="en-US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instore</a:t>
            </a: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инвентаря, а также подхода по совместному признанию выручки с FT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ФОТ, частично компенсирован реклассом ФОТ в CAPEX в сентябре (-180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закупке оборудования +281 млн руб. Экономия за счет снижения тендерной цены закупки +102 млн руб.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61411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51174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620677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3224118588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ACT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2 048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3 198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3 392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2 210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187%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1 973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3 154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1 181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3 156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6 546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3 391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1 940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1 940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946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514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1 108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1 409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745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(1 955)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(1 557)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398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(791)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(771)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(1 047)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(713)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(61)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4 989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3 789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(1 070)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4 394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4 264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1 641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1 548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1 664%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00931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lang="ru-RU" kumimoji="0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/>
              <a:t>Сентябрь 2026 Magnit ADS financial review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80488153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766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395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106%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102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500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338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208%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511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3%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660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1 011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351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53%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199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199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150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163%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60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(11)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-16%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289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(243)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-84%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137%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(577)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(75)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-87%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(99)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45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143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-145%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-121%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(468)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-77%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(1)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937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854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1 029%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(243)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(423)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(180)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74%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(216)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(180)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494%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(160)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514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674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691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897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CE9DCB-4453-443B-B7EC-B94BB7C247F5}"/>
              </a:ext>
            </a:extLst>
          </p:cNvPr>
          <p:cNvSpPr txBox="1"/>
          <p:nvPr/>
        </p:nvSpPr>
        <p:spPr>
          <a:xfrm>
            <a:off x="6784848" y="643938"/>
            <a:ext cx="5042977" cy="557075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+338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(199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(-11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(150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+13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(-243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(244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 ФОТ в CAPEX (+166 млн руб.); доначисление резерва STI (-16 млн руб.), отпускные (-7 млн руб.).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закупке трафика для перепродажи (+325 млн руб.), по вознаграждениям РА (+31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(-2 млн руб.), резерв отпусков (-5 млн руб.), аренда (+2 млн руб.), IT (+1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 выручки (+351 млн руб.) и экономия OPEX (+503 млн руб.): рекласс ФОТ в CAPEX и закупка трафика ниже бюджета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 ФОТ в CAPEX (-180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бюджету: целевая система управления медиаконтентом (206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28" name="Овал 8">
            <a:extLst>
              <a:ext uri="{FF2B5EF4-FFF2-40B4-BE49-F238E27FC236}">
                <a16:creationId xmlns:a16="http://schemas.microsoft.com/office/drawing/2014/main" id="{6DD61664-2957-4AE6-956B-768D34D413C8}"/>
              </a:ext>
            </a:extLst>
          </p:cNvPr>
          <p:cNvSpPr/>
          <p:nvPr/>
        </p:nvSpPr>
        <p:spPr>
          <a:xfrm>
            <a:off x="6763736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BB0E809-DE6D-433D-B29F-A88526481BA8}"/>
              </a:ext>
            </a:extLst>
          </p:cNvPr>
          <p:cNvSpPr/>
          <p:nvPr/>
        </p:nvSpPr>
        <p:spPr>
          <a:xfrm>
            <a:off x="6763736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0" name="Овал 8">
            <a:extLst>
              <a:ext uri="{FF2B5EF4-FFF2-40B4-BE49-F238E27FC236}">
                <a16:creationId xmlns:a16="http://schemas.microsoft.com/office/drawing/2014/main" id="{5457E264-C436-47F0-8CD9-C364A845370E}"/>
              </a:ext>
            </a:extLst>
          </p:cNvPr>
          <p:cNvSpPr/>
          <p:nvPr/>
        </p:nvSpPr>
        <p:spPr>
          <a:xfrm>
            <a:off x="6763736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1" name="Овал 8">
            <a:extLst>
              <a:ext uri="{FF2B5EF4-FFF2-40B4-BE49-F238E27FC236}">
                <a16:creationId xmlns:a16="http://schemas.microsoft.com/office/drawing/2014/main" id="{24569A11-7FD3-4A55-BE8D-493888BBBB63}"/>
              </a:ext>
            </a:extLst>
          </p:cNvPr>
          <p:cNvSpPr/>
          <p:nvPr/>
        </p:nvSpPr>
        <p:spPr>
          <a:xfrm>
            <a:off x="6763736" y="3104274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32" name="Овал 8">
            <a:extLst>
              <a:ext uri="{FF2B5EF4-FFF2-40B4-BE49-F238E27FC236}">
                <a16:creationId xmlns:a16="http://schemas.microsoft.com/office/drawing/2014/main" id="{918442A0-B014-4841-B4A2-2735753C9202}"/>
              </a:ext>
            </a:extLst>
          </p:cNvPr>
          <p:cNvSpPr/>
          <p:nvPr/>
        </p:nvSpPr>
        <p:spPr>
          <a:xfrm>
            <a:off x="6763736" y="360756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33" name="Овал 8">
            <a:extLst>
              <a:ext uri="{FF2B5EF4-FFF2-40B4-BE49-F238E27FC236}">
                <a16:creationId xmlns:a16="http://schemas.microsoft.com/office/drawing/2014/main" id="{BBC10EF4-BCBD-42B4-9FF1-974B17A60F1E}"/>
              </a:ext>
            </a:extLst>
          </p:cNvPr>
          <p:cNvSpPr/>
          <p:nvPr/>
        </p:nvSpPr>
        <p:spPr>
          <a:xfrm>
            <a:off x="6763736" y="4110838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34" name="Овал 8">
            <a:extLst>
              <a:ext uri="{FF2B5EF4-FFF2-40B4-BE49-F238E27FC236}">
                <a16:creationId xmlns:a16="http://schemas.microsoft.com/office/drawing/2014/main" id="{D28840EB-76EB-4C10-A67D-23E9A5CED7EC}"/>
              </a:ext>
            </a:extLst>
          </p:cNvPr>
          <p:cNvSpPr/>
          <p:nvPr/>
        </p:nvSpPr>
        <p:spPr>
          <a:xfrm>
            <a:off x="6763736" y="461411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35" name="Овал 8">
            <a:extLst>
              <a:ext uri="{FF2B5EF4-FFF2-40B4-BE49-F238E27FC236}">
                <a16:creationId xmlns:a16="http://schemas.microsoft.com/office/drawing/2014/main" id="{B3EA53C5-2A57-48DB-A16F-12780C0A4892}"/>
              </a:ext>
            </a:extLst>
          </p:cNvPr>
          <p:cNvSpPr/>
          <p:nvPr/>
        </p:nvSpPr>
        <p:spPr>
          <a:xfrm>
            <a:off x="6763736" y="494963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612925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lang="ru-RU" kumimoji="0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/>
              <a:t>9+3 FC 2026 MAGNIT ADS: BU vs FC (год)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+4 441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(3 430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(932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(80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+344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(-783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(1 005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(122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Премии и резерв STI (-96 млн руб.), отпускные (-71 млн руб.), налоги (-17 млн руб.); оплата труда +118 млн руб. (рекласс ФОТ в CAPEX), индексация не закладывается (+49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для перепродажи (+305 млн руб.), вознаграждения РА (+91 млн руб.), маркетинг ВГО (-36 млн руб.), PR/GR (+14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(+38 млн руб.), IT: ноутбуки и облачное хранение (+42 млн руб.), резерв отпусков (-22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выручки с FT и рост продаж E-com, экономия OPEX (+425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 за 9 мес. (+93 млн руб.), Q4 — по бюджету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Целевая система управления медиаконтентом (+227 млн руб.), фасадные экраны ТТ (+93 млн руб.), интеграция с КСО (+67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4463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94963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2851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2026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9+3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3 515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5 653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2 138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6 175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4 441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4 113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4 457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344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5 847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10 632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4 785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1 916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2 333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(783)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2 535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(2 789)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(2 364)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(1 106)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(1 519)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(1 151)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(16)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3 058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8 268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5 210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(1 180)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(704)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1 878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7 564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725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3 288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2 563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353%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lang="ru-RU" kumimoji="0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en-US"/>
              <a:t>Q4 2026 (YTG) MAGNIT ADS: BU vs FC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+2 231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(1 490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(654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(88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-837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(-1 084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(251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(-4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Премии и резерв STI (-30 млн руб.), отпускные (-24 млн руб.), налоги (-11 млн руб.); индексация не закладывается (+28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MIP (+51 млн руб.), маркетинг ВГО (-14 млн руб.), вознаграждения блогерам (-3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(+13 млн руб.), IT (+11 млн руб.), резерв отпусков (+6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 E-com (+2 231 млн руб.) перекрывает Non-E-com ниже бюджета: Instore (-414 млн руб.), MIP, Magnit Market, DMP (-423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бюджету: капитализация ФОТ ~36 млн руб. в месяц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 (в Q4 закупок не запланировано)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27204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77531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27860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78188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1174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Q4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Q4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1 466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2 454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449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551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2 783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2 231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2 140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1 303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(837)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2 692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4 086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1 394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969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654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141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-88%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1 036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(834)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(807)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(297)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(472)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3 279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1 421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1 748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3 170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1 421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632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1 647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1 015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think-cell data - do not delete" hidden="1">
            <a:extLst>
              <a:ext uri="{FF2B5EF4-FFF2-40B4-BE49-F238E27FC236}">
                <a16:creationId xmlns:a16="http://schemas.microsoft.com/office/drawing/2014/main" id="{143C22B8-F547-4826-81BC-55F958EEDE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1086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6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3C22B8-F547-4826-81BC-55F958EEDE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6B3273D9-68C1-40FC-80A5-CB5F19D430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F025F59-A55B-4047-B72D-C8F4BA727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lang="ru-RU" kumimoji="0" sz="9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37F061-B44F-4053-964C-EB1C5E55D8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Обзор основных метрик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B0163E-06FD-45F7-9923-854A23C30E26}"/>
              </a:ext>
            </a:extLst>
          </p:cNvPr>
          <p:cNvSpPr txBox="1"/>
          <p:nvPr/>
        </p:nvSpPr>
        <p:spPr>
          <a:xfrm>
            <a:off x="6393164" y="643938"/>
            <a:ext cx="5434661" cy="16312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6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12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Revenue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Перевыполнение бюджетного таргета в 2026 г. на 4 785 млн руб. (факт 9М + прогноз), за счет: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Совместного с FT признания E-com выручки (3 430 млн руб.)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Роста E-com выручки сверх бюджета без учета FT (1 012 млн руб.)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Роста продаж non-Ecom инвентаря (344 млн руб.)</a:t>
            </a:r>
          </a:p>
        </p:txBody>
      </p:sp>
      <p:graphicFrame>
        <p:nvGraphicFramePr>
          <p:cNvPr id="71" name="Диаграмма 70">
            <a:extLst>
              <a:ext uri="{FF2B5EF4-FFF2-40B4-BE49-F238E27FC236}">
                <a16:creationId xmlns:a16="http://schemas.microsoft.com/office/drawing/2014/main" id="{F76425C9-AAFC-4031-9659-0CDEE5871F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5505577"/>
              </p:ext>
            </p:extLst>
          </p:nvPr>
        </p:nvGraphicFramePr>
        <p:xfrm>
          <a:off x="364175" y="999459"/>
          <a:ext cx="5808025" cy="5138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6871B758-2E97-49FC-878B-F21BEA0E16A7}"/>
              </a:ext>
            </a:extLst>
          </p:cNvPr>
          <p:cNvSpPr txBox="1"/>
          <p:nvPr/>
        </p:nvSpPr>
        <p:spPr>
          <a:xfrm>
            <a:off x="364175" y="643938"/>
            <a:ext cx="3601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16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AdTech Revenue, </a:t>
            </a: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млн руб.</a:t>
            </a:r>
          </a:p>
        </p:txBody>
      </p:sp>
      <p:sp>
        <p:nvSpPr>
          <p:cNvPr id="5" name="Bridge title">
            <a:extLst>
              <a:ext uri="{FF2B5EF4-FFF2-40B4-BE49-F238E27FC236}">
                <a16:creationId xmlns:a16="http://schemas.microsoft.com/office/drawing/2014/main" id="{6871B758-2E97-49FC-878B-F21BEA0E16A7}"/>
              </a:ext>
            </a:extLst>
          </p:cNvPr>
          <p:cNvSpPr txBox="1"/>
          <p:nvPr/>
        </p:nvSpPr>
        <p:spPr>
          <a:xfrm>
            <a:off x="6300000" y="2431837"/>
            <a:ext cx="5434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Мост EBITDA: бюджет → прогноз 9+3, млн руб.</a:t>
            </a:r>
          </a:p>
        </p:txBody>
      </p:sp>
      <p:graphicFrame>
        <p:nvGraphicFramePr>
          <p:cNvPr id="73" name="EBITDA bridg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819361"/>
              </p:ext>
            </p:extLst>
          </p:nvPr>
        </p:nvGraphicFramePr>
        <p:xfrm>
          <a:off x="6393164" y="2801837"/>
          <a:ext cx="5434661" cy="323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339212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B811-6CAB-1796-7591-8FB56BE4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FE5AF49-C2DC-D2F0-B28F-15171F32E3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3F88BAFC-2016-0044-B346-1E19381426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D2A085D4-0E9A-52FA-8634-E11653FB0E6F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2568DA0E-E9F4-B4CA-ADDD-8733FF38F4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336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Корпоративные триггеры по Магнит </a:t>
            </a:r>
            <a:r>
              <a:rPr lang="en-US"/>
              <a:t>AdTech</a:t>
            </a:r>
            <a:r>
              <a:rPr lang="ru-RU"/>
              <a:t> на 2027 год</a:t>
            </a:r>
          </a:p>
          <a:p>
            <a:endParaRPr lang="ru-RU"/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C6283BF6-BC72-4EB9-B57D-2572F7725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825887"/>
              </p:ext>
            </p:extLst>
          </p:nvPr>
        </p:nvGraphicFramePr>
        <p:xfrm>
          <a:off x="182880" y="885825"/>
          <a:ext cx="11841480" cy="426424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9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latin typeface="Arial" charset="0"/>
                          <a:ea typeface="Arial" charset="0"/>
                          <a:cs typeface="Arial" charset="0"/>
                        </a:rPr>
                        <a:t>2027</a:t>
                      </a: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КПЭ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Вес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Макс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Выручка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FCF</a:t>
                      </a:r>
                      <a:endParaRPr lang="en-US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9,7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Деньги новых инициатив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Прирост инвентаря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C2BAA3-32B1-71C0-5F37-99B2C6E2F7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260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1. Ads Market Calc (внутренняя оценка рынка Magnit ADS). Все финансовые показатели — млн руб. без НДС, сравнение с FC 2026 и стратегией 2027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Executive Summary: бюджет Magnit </a:t>
            </a:r>
            <a:r>
              <a:rPr lang="en-US"/>
              <a:t>ADS</a:t>
            </a:r>
            <a:r>
              <a:rPr lang="ru-RU"/>
              <a:t> 2027</a:t>
            </a:r>
          </a:p>
        </p:txBody>
      </p:sp>
      <p:sp>
        <p:nvSpPr>
          <p:cNvPr id="100" name="Shape 100"/>
          <p:cNvSpPr/>
          <p:nvPr/>
        </p:nvSpPr>
        <p:spPr>
          <a:xfrm>
            <a:off x="3683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14 566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Выручка,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+41% к FC 2026  ·  +12% к стратегии</a:t>
            </a:r>
          </a:p>
        </p:txBody>
      </p:sp>
      <p:sp>
        <p:nvSpPr>
          <p:cNvPr id="101" name="Shape 101"/>
          <p:cNvSpPr/>
          <p:nvPr/>
        </p:nvSpPr>
        <p:spPr>
          <a:xfrm>
            <a:off x="32702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10 823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EBITDA,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+34% к FC 2026</a:t>
            </a:r>
          </a:p>
        </p:txBody>
      </p:sp>
      <p:sp>
        <p:nvSpPr>
          <p:cNvPr id="102" name="Shape 102"/>
          <p:cNvSpPr/>
          <p:nvPr/>
        </p:nvSpPr>
        <p:spPr>
          <a:xfrm>
            <a:off x="61722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1 151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CAPEX,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−2% к FC 2026  ·  −7% к стратегии</a:t>
            </a:r>
          </a:p>
        </p:txBody>
      </p:sp>
      <p:sp>
        <p:nvSpPr>
          <p:cNvPr id="103" name="Shape 103"/>
          <p:cNvSpPr/>
          <p:nvPr/>
        </p:nvSpPr>
        <p:spPr>
          <a:xfrm>
            <a:off x="90741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9 673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FCF,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+40% к FC 2026  ·  +11% к стратегии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Стратегия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6" name="Shape 106"/>
          <p:cNvSpPr txBox="1"/>
          <p:nvPr/>
        </p:nvSpPr>
        <p:spPr>
          <a:xfrm>
            <a:off x="368300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Рынок Retail Media вырастет до </a:t>
            </a:r>
            <a:r>
              <a:rPr lang="ru-RU" sz="1400" b="1">
                <a:solidFill>
                  <a:srgbClr val="000000"/>
                </a:solidFill>
              </a:rPr>
              <a:t>1,2 трлн руб.</a:t>
            </a:r>
            <a:r>
              <a:rPr lang="ru-RU" sz="1400">
                <a:solidFill>
                  <a:srgbClr val="000000"/>
                </a:solidFill>
              </a:rPr>
              <a:t> в 2027 г. (+35%), это 42% рекламного рынка</a:t>
            </a:r>
            <a:r>
              <a:rPr lang="ru-RU" sz="1400" baseline="30000">
                <a:solidFill>
                  <a:srgbClr val="000000"/>
                </a:solidFill>
              </a:rPr>
              <a:t>1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AdTech</a:t>
            </a:r>
            <a:r>
              <a:rPr lang="ru-RU" sz="1400" b="1">
                <a:solidFill>
                  <a:srgbClr val="000000"/>
                </a:solidFill>
              </a:rPr>
              <a:t> растёт быстрее рынка: </a:t>
            </a:r>
            <a:r>
              <a:rPr lang="ru-RU" sz="1400">
                <a:solidFill>
                  <a:srgbClr val="000000"/>
                </a:solidFill>
              </a:rPr>
              <a:t>+41% против +35% у Retail Media, доля в сегменте около 1,2%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Три драйвера роста: </a:t>
            </a:r>
            <a:r>
              <a:rPr lang="ru-RU" sz="1400">
                <a:solidFill>
                  <a:srgbClr val="000000"/>
                </a:solidFill>
              </a:rPr>
              <a:t>аудитория приложения (+18%), полный год нового прайса и новые направления — RMN и Content </a:t>
            </a:r>
            <a:r>
              <a:rPr lang="en-US" sz="1400">
                <a:solidFill>
                  <a:srgbClr val="000000"/>
                </a:solidFill>
              </a:rPr>
              <a:t>factory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107" name="Shape 107"/>
          <p:cNvSpPr txBox="1"/>
          <p:nvPr/>
        </p:nvSpPr>
        <p:spPr>
          <a:xfrm>
            <a:off x="4271433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Бюджет 2027</a:t>
            </a:r>
          </a:p>
        </p:txBody>
      </p:sp>
      <p:sp>
        <p:nvSpPr>
          <p:cNvPr id="108" name="Shape 108"/>
          <p:cNvSpPr/>
          <p:nvPr/>
        </p:nvSpPr>
        <p:spPr>
          <a:xfrm>
            <a:off x="4271433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9" name="Shape 109"/>
          <p:cNvSpPr txBox="1"/>
          <p:nvPr/>
        </p:nvSpPr>
        <p:spPr>
          <a:xfrm>
            <a:off x="4271433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Выручка на 1 618 млн руб. выше стратегии: </a:t>
            </a:r>
            <a:r>
              <a:rPr lang="ru-RU" sz="1400">
                <a:solidFill>
                  <a:srgbClr val="000000"/>
                </a:solidFill>
              </a:rPr>
              <a:t>основной вклад — RMN (+850, не закладывался в стратегию) и DMP+Online (+537)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42% годовой выручки приходится на Q4: </a:t>
            </a:r>
            <a:r>
              <a:rPr lang="ru-RU" sz="1400">
                <a:solidFill>
                  <a:srgbClr val="000000"/>
                </a:solidFill>
              </a:rPr>
              <a:t>сезонность цен и рост аудитории к концу года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OPEX с учётом COGS растёт на 1 504 млн руб. (+67%): </a:t>
            </a:r>
            <a:r>
              <a:rPr lang="ru-RU" sz="1400">
                <a:solidFill>
                  <a:srgbClr val="000000"/>
                </a:solidFill>
              </a:rPr>
              <a:t>73% прироста — переменные расходы, которые масштабируются вместе с выручкой (трафик DMP, агентства, креаторы)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8174567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 и FCF</a:t>
            </a:r>
          </a:p>
        </p:txBody>
      </p:sp>
      <p:sp>
        <p:nvSpPr>
          <p:cNvPr id="111" name="Shape 111"/>
          <p:cNvSpPr/>
          <p:nvPr/>
        </p:nvSpPr>
        <p:spPr>
          <a:xfrm>
            <a:off x="8174567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174567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AT Platform: 541 млн руб. (+94), </a:t>
            </a:r>
            <a:r>
              <a:rPr lang="ru-RU" sz="1400">
                <a:solidFill>
                  <a:srgbClr val="000000"/>
                </a:solidFill>
              </a:rPr>
              <a:t>основная часть — капитализация ФОТ разработки (510)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In-store: 610 млн руб. (−123), </a:t>
            </a:r>
            <a:r>
              <a:rPr lang="ru-RU" sz="1400">
                <a:solidFill>
                  <a:srgbClr val="000000"/>
                </a:solidFill>
              </a:rPr>
              <a:t>в т.ч. система управления медиаконтентом (438)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FCF 9 673 млн руб., </a:t>
            </a:r>
            <a:r>
              <a:rPr lang="ru-RU" sz="1400">
                <a:solidFill>
                  <a:srgbClr val="000000"/>
                </a:solidFill>
              </a:rPr>
              <a:t>на 962 млн руб. выше стратегии: рост EBITDA при CAPEX на уровне 2026 г.</a:t>
            </a:r>
          </a:p>
        </p:txBody>
      </p:sp>
    </p:spTree>
    <p:extLst>
      <p:ext uri="{BB962C8B-B14F-4D97-AF65-F5344CB8AC3E}">
        <p14:creationId xmlns:p14="http://schemas.microsoft.com/office/powerpoint/2010/main" val="1282774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Бюджет 2027 на уровне top-down: EBITDA 500 млн руб., форматам — 2,3 млрд руб. прироста Net Revenue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Бюджет 2027 vs стратегия и top-down,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Прирост Net Revenue для форматов 2 272 млн руб.: </a:t>
            </a:r>
            <a:r>
              <a:rPr lang="ru-RU" sz="1200">
                <a:solidFill>
                  <a:srgbClr val="000000"/>
                </a:solidFill>
              </a:rPr>
              <a:t>прирост выручки 4 243 за вычетом COGS 2027 (1 971)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Превышение таргета 2 000 на 272 млн руб.: </a:t>
            </a:r>
            <a:r>
              <a:rPr lang="ru-RU" sz="1200">
                <a:solidFill>
                  <a:srgbClr val="000000"/>
                </a:solidFill>
              </a:rPr>
              <a:t>запуск Content factory и финальные корректировки выручки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OPEX 1 772 млн руб.: </a:t>
            </a:r>
            <a:r>
              <a:rPr lang="ru-RU" sz="1200">
                <a:solidFill>
                  <a:srgbClr val="000000"/>
                </a:solidFill>
              </a:rPr>
              <a:t>на 272 выше top-down, что компенсируется превышением по выручке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EBITDA 500 млн руб.: </a:t>
            </a:r>
            <a:r>
              <a:rPr lang="ru-RU" sz="1200">
                <a:solidFill>
                  <a:srgbClr val="000000"/>
                </a:solidFill>
              </a:rPr>
              <a:t>на уровне top-down, на 15 выше стратегии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CAPEX 1 151 млн руб.: </a:t>
            </a:r>
            <a:r>
              <a:rPr lang="ru-RU" sz="1200">
                <a:solidFill>
                  <a:srgbClr val="000000"/>
                </a:solidFill>
              </a:rPr>
              <a:t>на 92 ниже стратегии и на 149 ниже таргета, с учётом 50 общего стрейча на ОМНИ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Консолидированный FCF −651 млн руб.: </a:t>
            </a:r>
            <a:r>
              <a:rPr lang="ru-RU" sz="1200">
                <a:solidFill>
                  <a:srgbClr val="000000"/>
                </a:solidFill>
              </a:rPr>
              <a:t>на 149 лучше top-down за счёт CAPEX, на 107 лучше стратегии</a:t>
            </a:r>
          </a:p>
        </p:txBody>
      </p:sp>
      <p:graphicFrame>
        <p:nvGraphicFramePr>
          <p:cNvPr id="113" name="Table topdow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376828"/>
              </p:ext>
            </p:extLst>
          </p:nvPr>
        </p:nvGraphicFramePr>
        <p:xfrm>
          <a:off x="368300" y="1676400"/>
          <a:ext cx="7810000" cy="4260000"/>
        </p:xfrm>
        <a:graphic>
          <a:graphicData uri="http://schemas.openxmlformats.org/drawingml/2006/table">
            <a:tbl>
              <a:tblPr firstRow="1"/>
              <a:tblGrid>
                <a:gridCol w="2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Δ к 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Прирост 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(1 515)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(1 500)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(272)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(1 300)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FCF консолидированный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(757)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(800)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(651)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372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Net Revenue +3,2 млрд руб.: форматам передаём 2,3 млрд руб. прироста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Net</a:t>
            </a:r>
            <a:r>
              <a:rPr lang="ru-RU" sz="1600" b="1">
                <a:solidFill>
                  <a:srgbClr val="000000"/>
                </a:solidFill>
              </a:rPr>
              <a:t> </a:t>
            </a:r>
            <a:r>
              <a:rPr lang="en-US" sz="1600" b="1">
                <a:solidFill>
                  <a:srgbClr val="000000"/>
                </a:solidFill>
              </a:rPr>
              <a:t>Revenue</a:t>
            </a:r>
            <a:r>
              <a:rPr lang="ru-RU" sz="1600" b="1">
                <a:solidFill>
                  <a:srgbClr val="000000"/>
                </a:solidFill>
              </a:rPr>
              <a:t>: прогноз 2026 → BU 2027,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Net </a:t>
            </a:r>
            <a:r>
              <a:rPr lang="en-US" sz="1200" b="1">
                <a:solidFill>
                  <a:srgbClr val="000000"/>
                </a:solidFill>
              </a:rPr>
              <a:t>Revenue</a:t>
            </a:r>
            <a:r>
              <a:rPr lang="ru-RU" sz="1200" b="1">
                <a:solidFill>
                  <a:srgbClr val="000000"/>
                </a:solidFill>
              </a:rPr>
              <a:t> +3 152 млн руб. (+33%) </a:t>
            </a:r>
            <a:r>
              <a:rPr lang="ru-RU" sz="1200">
                <a:solidFill>
                  <a:srgbClr val="000000"/>
                </a:solidFill>
              </a:rPr>
              <a:t>при росте выручки на 4 243 млн руб.; COGS (+1 091) растёт пропорционально выручке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72% прироста дают APP и In-</a:t>
            </a:r>
            <a:r>
              <a:rPr lang="en-US" sz="1200" b="1">
                <a:solidFill>
                  <a:srgbClr val="000000"/>
                </a:solidFill>
              </a:rPr>
              <a:t>store</a:t>
            </a:r>
            <a:r>
              <a:rPr lang="ru-RU" sz="1200" b="1">
                <a:solidFill>
                  <a:srgbClr val="000000"/>
                </a:solidFill>
              </a:rPr>
              <a:t>: </a:t>
            </a:r>
            <a:r>
              <a:rPr lang="ru-RU" sz="1200">
                <a:solidFill>
                  <a:srgbClr val="000000"/>
                </a:solidFill>
              </a:rPr>
              <a:t>полный год нового прайса и оборудования, введённого в 2026 г., рост DAC на 18%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Растёт общая утилизация </a:t>
            </a:r>
            <a:r>
              <a:rPr lang="ru-RU" sz="1200">
                <a:solidFill>
                  <a:srgbClr val="000000"/>
                </a:solidFill>
              </a:rPr>
              <a:t>рекламного инвентаря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Внешние деньги вне КУ +471 млн руб.: </a:t>
            </a:r>
            <a:r>
              <a:rPr lang="ru-RU" sz="1200">
                <a:solidFill>
                  <a:srgbClr val="000000"/>
                </a:solidFill>
              </a:rPr>
              <a:t>бренд-бюджеты поставщиков через RMN и внешние рекламодатели Content </a:t>
            </a:r>
            <a:r>
              <a:rPr lang="en-US" sz="1200">
                <a:solidFill>
                  <a:srgbClr val="000000"/>
                </a:solidFill>
              </a:rPr>
              <a:t>factory</a:t>
            </a:r>
            <a:endParaRPr lang="ru-RU" sz="1200">
              <a:solidFill>
                <a:srgbClr val="000000"/>
              </a:solidFill>
            </a:endParaRP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EBITDA 500 млн руб. </a:t>
            </a:r>
            <a:r>
              <a:rPr lang="ru-RU" sz="1200">
                <a:solidFill>
                  <a:srgbClr val="000000"/>
                </a:solidFill>
              </a:rPr>
              <a:t>(2 272 − OPEX 1 772) — на уровне </a:t>
            </a:r>
            <a:r>
              <a:rPr lang="en-US" sz="1200">
                <a:solidFill>
                  <a:srgbClr val="000000"/>
                </a:solidFill>
              </a:rPr>
              <a:t>top-down</a:t>
            </a:r>
            <a:endParaRPr lang="ru-RU" sz="1200">
              <a:solidFill>
                <a:srgbClr val="000000"/>
              </a:solidFill>
            </a:endParaRP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2 272 млн руб. —</a:t>
            </a:r>
            <a:r>
              <a:rPr lang="ru-RU" sz="1200" b="1">
                <a:solidFill>
                  <a:srgbClr val="000000"/>
                </a:solidFill>
              </a:rPr>
              <a:t> </a:t>
            </a:r>
            <a:r>
              <a:rPr lang="ru-RU" sz="1200">
                <a:solidFill>
                  <a:srgbClr val="000000"/>
                </a:solidFill>
              </a:rPr>
              <a:t>может быть достигнуто только в случае, если форматы не утилизируют весь рекламный инвентарь </a:t>
            </a:r>
            <a:r>
              <a:rPr lang="en-US" sz="1200">
                <a:solidFill>
                  <a:srgbClr val="000000"/>
                </a:solidFill>
              </a:rPr>
              <a:t>AdTech</a:t>
            </a:r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129" name="Card 0 bg"/>
          <p:cNvSpPr/>
          <p:nvPr/>
        </p:nvSpPr>
        <p:spPr>
          <a:xfrm>
            <a:off x="364175" y="5007250"/>
            <a:ext cx="4046093" cy="4308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0" name="Card 0 label"/>
          <p:cNvSpPr txBox="1"/>
          <p:nvPr/>
        </p:nvSpPr>
        <p:spPr>
          <a:xfrm>
            <a:off x="441433" y="5007250"/>
            <a:ext cx="2911367" cy="430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00" b="1">
                <a:solidFill>
                  <a:srgbClr val="000000"/>
                </a:solidFill>
                <a:latin typeface="Arial"/>
              </a:rPr>
              <a:t>Весь COGS 2027 г.</a:t>
            </a:r>
          </a:p>
        </p:txBody>
      </p:sp>
      <p:sp>
        <p:nvSpPr>
          <p:cNvPr id="131" name="Card 0 value"/>
          <p:cNvSpPr txBox="1"/>
          <p:nvPr/>
        </p:nvSpPr>
        <p:spPr>
          <a:xfrm>
            <a:off x="3057171" y="5007250"/>
            <a:ext cx="1303336" cy="43088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ru-RU" sz="2200" b="1">
                <a:solidFill>
                  <a:srgbClr val="595959"/>
                </a:solidFill>
                <a:latin typeface="Arial"/>
              </a:rPr>
              <a:t> -1 971</a:t>
            </a:r>
          </a:p>
        </p:txBody>
      </p:sp>
      <p:sp>
        <p:nvSpPr>
          <p:cNvPr id="132" name="Card 1 bg"/>
          <p:cNvSpPr/>
          <p:nvPr/>
        </p:nvSpPr>
        <p:spPr>
          <a:xfrm>
            <a:off x="364175" y="5603709"/>
            <a:ext cx="4046093" cy="430887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3" name="Card 1 label"/>
          <p:cNvSpPr txBox="1"/>
          <p:nvPr/>
        </p:nvSpPr>
        <p:spPr>
          <a:xfrm>
            <a:off x="441433" y="5603709"/>
            <a:ext cx="2911367" cy="430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00" b="1">
                <a:solidFill>
                  <a:srgbClr val="000000"/>
                </a:solidFill>
                <a:latin typeface="Arial"/>
              </a:rPr>
              <a:t>Прирост Net </a:t>
            </a:r>
            <a:r>
              <a:rPr lang="en-US" sz="1200" b="1">
                <a:solidFill>
                  <a:srgbClr val="000000"/>
                </a:solidFill>
                <a:latin typeface="Arial"/>
              </a:rPr>
              <a:t>Revenue</a:t>
            </a:r>
            <a:r>
              <a:rPr lang="ru-RU" sz="1200" b="1">
                <a:solidFill>
                  <a:srgbClr val="000000"/>
                </a:solidFill>
                <a:latin typeface="Arial"/>
              </a:rPr>
              <a:t> для форматов</a:t>
            </a:r>
          </a:p>
        </p:txBody>
      </p:sp>
      <p:sp>
        <p:nvSpPr>
          <p:cNvPr id="134" name="Card 1 value"/>
          <p:cNvSpPr txBox="1"/>
          <p:nvPr/>
        </p:nvSpPr>
        <p:spPr>
          <a:xfrm>
            <a:off x="3057171" y="5603709"/>
            <a:ext cx="1303336" cy="43088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ru-RU" sz="2200" b="1">
                <a:solidFill>
                  <a:srgbClr val="FF452C"/>
                </a:solidFill>
                <a:latin typeface="Arial"/>
              </a:rPr>
              <a:t>2 272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EB96ED1-09EA-5A54-74D0-616C13060700}"/>
              </a:ext>
            </a:extLst>
          </p:cNvPr>
          <p:cNvCxnSpPr/>
          <p:nvPr>
            <p:custDataLst>
              <p:tags r:id="rId1"/>
            </p:custDataLst>
          </p:nvPr>
        </p:nvCxnSpPr>
        <p:spPr bwMode="auto">
          <a:xfrm>
            <a:off x="1038225" y="2441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E4D7D0-D17F-0F71-0D5B-4C1E0F67A370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906588" y="224472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EA933D-C01B-D37C-E525-E2267FC1D36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774950" y="20478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3CF9E5-A794-AEBF-0CEC-6F094DAC2876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643313" y="1966913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6FD1A4-FB9E-6E58-A27D-F97E01682FDC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511675" y="1933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0BC6E3-2E77-61CD-E17F-9C3DC62BBAC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5380038" y="190500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E56FCA-5903-413A-1FAA-B9D727C407DD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6248400" y="1893888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A219F8-778D-81EC-03D2-F641F22E7468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7116763" y="202565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DDE96BB-50B6-FD8F-4918-9BD16189352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765800" y="1893888"/>
            <a:ext cx="482600" cy="11112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35D475C-46BD-F790-5E8D-659B15C2CD0F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280988" y="1587500"/>
          <a:ext cx="7980362" cy="2406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AFCD86-EF54-2F0C-822C-736690B8A7D2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 flipV="1">
            <a:off x="796925" y="1617663"/>
            <a:ext cx="0" cy="5683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B216F2-8CBF-E828-FA0E-33A60ED3AAED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796924" y="1617663"/>
            <a:ext cx="69469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D32BC4-E0FF-B15C-3C70-D160FA853D67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7743825" y="1617663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CAC51BF-7A28-2E20-5365-C5F0170813D0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4222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C47496E-3E83-4248-9064-3F7C75DB6BE7}" type="datetime'N''''e''t ''R''''eve''n''ue'''' ''2''0''''''26'''''''''''''''">
              <a:rPr lang="en-US" sz="1000" smtClean="0">
                <a:solidFill>
                  <a:schemeClr val="tx1"/>
                </a:solidFill>
              </a:rPr>
              <a:pPr/>
              <a:t>Net Revenue 2026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36B346-A8C3-A396-86C1-47F132A6FB2B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1533526" y="3730625"/>
            <a:ext cx="2651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56D2482-0A10-484A-A5F9-2D1F3344E3A4}" type="datetime'''''A''''''''''P''''P'''">
              <a:rPr lang="en-US" sz="1000" smtClean="0">
                <a:solidFill>
                  <a:schemeClr val="tx1"/>
                </a:solidFill>
              </a:rPr>
              <a:pPr/>
              <a:t>APP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7F9C95-D4E2-C9A2-2040-8DB2050FDADB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130425" y="3730625"/>
            <a:ext cx="80645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F25B5F5-4240-4170-AD1A-D17F999FCB93}" type="datetime'''''''''''''In-''s''''''''tore d''i''''''g''i''''t''''''al'''">
              <a:rPr lang="en-US" sz="1000" smtClean="0">
                <a:solidFill>
                  <a:schemeClr val="tx1"/>
                </a:solidFill>
              </a:rPr>
              <a:pPr/>
              <a:t>In-store digital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9AB4AA-EE3D-5776-BEF6-4542265F430D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3228975" y="191135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35FC9F9-7067-43A7-93EE-45EBF20F93C6}" type="datetime'''''''''''''''''''''''''''''6''''''''13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613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43B70F-3D0D-5E98-0E96-CC510CB611C1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000375" y="3730625"/>
            <a:ext cx="80486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2274E93-69C3-4FF8-9873-4F0F8F3F024A}" type="datetime'D''''M''P'''' ''''''''''+ ''''''O''n''''''''lin''e'''''">
              <a:rPr lang="en-US" sz="1000" smtClean="0">
                <a:solidFill>
                  <a:schemeClr val="tx1"/>
                </a:solidFill>
              </a:rPr>
              <a:pPr/>
              <a:t>DMP + Online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B4502E-7380-02E0-E095-DAE4E3B381EF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4097338" y="185420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F2A22BB-8A48-4437-B4B7-21D62FF45338}" type="datetime'''''2''5''8''''''''''''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258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B7F5A5-95A5-9BD7-7C80-AC3FC35A8E98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879850" y="3730625"/>
            <a:ext cx="7810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0C1CD01-397B-4881-A9F8-9EEEFADD7C00}" type="datetime'''''''''''RMN'' ''''(брен''''''''д''-бюдже''ты'''''''''''''')'">
              <a:rPr lang="ru-RU" sz="1000" smtClean="0">
                <a:solidFill>
                  <a:schemeClr val="tx1"/>
                </a:solidFill>
              </a:rPr>
              <a:pPr/>
              <a:t>RMN (бренд-бюджеты)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D4A1AB-3F33-BACB-1A95-6C465A6CB765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965700" y="1824038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8D8C69B-3EDD-410D-8F6E-2E2A5DC8CAB4}" type="datetime'''''''''''''''''''''''''''2''''1''''''''''''''''''''''''''3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213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65A76C-8505-EDC9-C1B8-1E259F798AD1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911725" y="3730625"/>
            <a:ext cx="454025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78AD9D9-7DAE-48B6-BA76-9B9FCA6055F4}" type="datetime'Con''ten''t'' ''fac''''''''''''''to''ry'', в''''н''''е''шн.'''">
              <a:rPr lang="ru-RU" sz="1000" smtClean="0">
                <a:solidFill>
                  <a:schemeClr val="tx1"/>
                </a:solidFill>
              </a:rPr>
              <a:pPr/>
              <a:t>Content factory, внешн.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81E924-E3A3-A509-75FE-D7D2F734F4F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5883275" y="1803400"/>
            <a:ext cx="247650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CA5B5EA-1ED8-4216-B3AA-021B03483B41}" type="datetime'8''''''''''''''''''''''5''''''''''''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85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84F22E-C4AF-1B63-BBE9-4A9632585EAD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5748338" y="3730625"/>
            <a:ext cx="5191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81ED58F-2C72-4486-8572-0DE97BD7EB0F}" type="datetime'DMP'' ''+'''''' A''''''n''al''''''''y''''''''ti''''''''c''''s'">
              <a:rPr lang="en-US" sz="1000" smtClean="0">
                <a:solidFill>
                  <a:schemeClr val="tx1"/>
                </a:solidFill>
              </a:rPr>
              <a:pPr/>
              <a:t>DMP + Analytics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2C6CEA-ED6D-418A-9452-7204E4D92B41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629400" y="1863725"/>
            <a:ext cx="493713" cy="19208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B7EB216-4C58-4085-A38E-5AE46D92D574}" type="datetime'''''''''''''1'''' ''''''0''''''''0''''''''''''''''''2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1 002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617787-BF40-8786-26A5-93D88BD0171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6480175" y="3730625"/>
            <a:ext cx="7921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23747DC-FF56-4FA3-BF3B-32D85803AB95}" type="datetime'C''''OG''S (''по''ку''''''''пка ''тра''фи''ка'''''', СК)'''">
              <a:rPr lang="ru-RU" sz="1000" smtClean="0">
                <a:solidFill>
                  <a:schemeClr val="tx1"/>
                </a:solidFill>
              </a:rPr>
              <a:pPr/>
              <a:t>COGS (покупка трафика, СК)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F7D78D-C564-F52F-0641-2A7285CE722E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73691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C2B4F58-FDDE-4BF0-9BD3-B6FD35059D4C}" type="datetime'N''''e''''t'''' ''Re''''v''enu''e'''''' 202''''''''''''7'''''">
              <a:rPr lang="en-US" sz="1000" smtClean="0">
                <a:solidFill>
                  <a:schemeClr val="tx1"/>
                </a:solidFill>
              </a:rPr>
              <a:pPr/>
              <a:t>Net Revenue 2027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D1DB7DD-8663-8FAF-83FA-96A4F9CC1971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884614" y="1466850"/>
            <a:ext cx="773113" cy="301625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950565F-5C16-460E-A4A0-BC22C8BA9C65}" type="datetime'+''''''''''''''''''''''''''''''3'' ''1''''''''''''5''3'''">
              <a:rPr lang="ru-RU" sz="1400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+3 153</a:t>
            </a:fld>
            <a:endParaRPr lang="ru-RU" sz="1400" b="1">
              <a:solidFill>
                <a:schemeClr val="tx1"/>
              </a:solidFill>
            </a:endParaRPr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1EE37413-5A59-E639-7382-D66E48FA6F25}"/>
              </a:ext>
            </a:extLst>
          </p:cNvPr>
          <p:cNvSpPr/>
          <p:nvPr/>
        </p:nvSpPr>
        <p:spPr>
          <a:xfrm rot="5400000">
            <a:off x="3773279" y="1749822"/>
            <a:ext cx="242515" cy="4977605"/>
          </a:xfrm>
          <a:prstGeom prst="rightBrace">
            <a:avLst>
              <a:gd name="adj1" fmla="val 4124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FDFA06-3F77-C77F-1131-E1950B5BB4FD}"/>
              </a:ext>
            </a:extLst>
          </p:cNvPr>
          <p:cNvSpPr txBox="1"/>
          <p:nvPr/>
        </p:nvSpPr>
        <p:spPr>
          <a:xfrm>
            <a:off x="3551744" y="4374653"/>
            <a:ext cx="1995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200" b="1"/>
              <a:t>4 243 </a:t>
            </a:r>
            <a:r>
              <a:rPr lang="ru-RU" sz="1400" b="1"/>
              <a:t>млн руб. </a:t>
            </a:r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542827B6-A9C7-D807-FBFB-453E47D65951}"/>
              </a:ext>
            </a:extLst>
          </p:cNvPr>
          <p:cNvGraphicFramePr/>
          <p:nvPr>
            <p:custDataLst>
              <p:tags r:id="rId29"/>
            </p:custDataLst>
          </p:nvPr>
        </p:nvGraphicFramePr>
        <p:xfrm>
          <a:off x="5470525" y="4499153"/>
          <a:ext cx="2790825" cy="2251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77BDF668-1CCF-4571-1948-1A887068EB6C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4704556" y="6043843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76E2A48D-1BC0-44E2-8D30-D565FC4DF763}" type="datetime'''''Внешни''''''е'' де''н''ь''г''и'''''''' вн''е'''''''' КУ'">
              <a:rPr lang="ru-RU" sz="1200" smtClean="0">
                <a:solidFill>
                  <a:schemeClr val="tx1"/>
                </a:solidFill>
              </a:rPr>
              <a:pPr/>
              <a:t>Внешние деньги вне КУ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82D2FE-58C8-F049-E4A0-FD9876416067}"/>
              </a:ext>
            </a:extLst>
          </p:cNvPr>
          <p:cNvSpPr/>
          <p:nvPr>
            <p:custDataLst>
              <p:tags r:id="rId31"/>
            </p:custDataLst>
          </p:nvPr>
        </p:nvSpPr>
        <p:spPr bwMode="gray">
          <a:xfrm>
            <a:off x="6812657" y="4500740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2B09B6D-4ED8-4149-87C3-3A0943EB01A3}" type="datetime'1''''''''2'''''''''''''''' ''5''''''''''''''''''''9''6'''''''">
              <a:rPr lang="ru-RU" sz="14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12 596</a:t>
            </a:fld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058B1B-BADC-98B8-0337-EA36CA337DC4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812657" y="6330950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1400" b="1">
                <a:solidFill>
                  <a:schemeClr val="tx1"/>
                </a:solidFill>
                <a:effectLst/>
              </a:rPr>
              <a:t>2027</a:t>
            </a:r>
            <a:endParaRPr lang="ru-RU" sz="1400" b="1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31D02A8-0970-2C00-3D47-34A8683DA4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595079" y="5246580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ru-RU" sz="1200">
                <a:solidFill>
                  <a:schemeClr val="tx1"/>
                </a:solidFill>
              </a:rPr>
              <a:t>КУ</a:t>
            </a:r>
          </a:p>
        </p:txBody>
      </p:sp>
    </p:spTree>
    <p:extLst>
      <p:ext uri="{BB962C8B-B14F-4D97-AF65-F5344CB8AC3E}">
        <p14:creationId xmlns:p14="http://schemas.microsoft.com/office/powerpoint/2010/main" val="3309196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FC 2026 — факт 8 мес. + прогноз 4 мес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УО 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i="1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APP +1 501: </a:t>
            </a:r>
            <a:r>
              <a:rPr lang="ru-RU" sz="1100">
                <a:solidFill>
                  <a:srgbClr val="000000"/>
                </a:solidFill>
              </a:rPr>
              <a:t>~60% (+873) — полный год нового прайса, ~40% (+628) — рост DAC на 18%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In-store +1 573: </a:t>
            </a:r>
            <a:r>
              <a:rPr lang="ru-RU" sz="1100">
                <a:solidFill>
                  <a:srgbClr val="000000"/>
                </a:solidFill>
              </a:rPr>
              <a:t>полный год работы оборудования, введённого в 2026 г. (+2 462); доход на устройство заложен консервативно (−1 264, в основном КСО)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DMP + Online +613: </a:t>
            </a:r>
            <a:r>
              <a:rPr lang="ru-RU" sz="1100">
                <a:solidFill>
                  <a:srgbClr val="000000"/>
                </a:solidFill>
              </a:rPr>
              <a:t>две трети прироста — новые площадки (SmartTV, Авито, маркетплейсы, 420);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Новые направления: </a:t>
            </a:r>
            <a:r>
              <a:rPr lang="ru-RU" sz="1100">
                <a:solidFill>
                  <a:srgbClr val="000000"/>
                </a:solidFill>
              </a:rPr>
              <a:t>RMN 850 (+258) и Content factory 213 — бренд-бюджеты поставщиков и внешние рекламодатели вне КУ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COGS 1 971: </a:t>
            </a:r>
            <a:r>
              <a:rPr lang="ru-RU" sz="1100">
                <a:solidFill>
                  <a:srgbClr val="000000"/>
                </a:solidFill>
              </a:rPr>
              <a:t>закупка трафика DMP (1 000), агентские вознаграждения (795), креаторы (176); Net Revenue — 86% Gross Revenue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PEX 1 436 (+28%): </a:t>
            </a:r>
            <a:r>
              <a:rPr lang="ru-RU" sz="1100">
                <a:solidFill>
                  <a:srgbClr val="000000"/>
                </a:solidFill>
              </a:rPr>
              <a:t>полный год работы штата, набранного в 2026 г., и +42 FTE (до 354); 27% ФОТ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4221070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01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Стратегия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Рынок, тренды, конкуренты, драйверы роста и роль </a:t>
            </a:r>
            <a:r>
              <a:rPr lang="en-US"/>
              <a:t>Magnit ADS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978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think-cell data - do not delete" hidden="1">
            <a:extLst>
              <a:ext uri="{FF2B5EF4-FFF2-40B4-BE49-F238E27FC236}">
                <a16:creationId xmlns:a16="http://schemas.microsoft.com/office/drawing/2014/main" id="{F8FF028A-1381-5A7F-B2CA-5D03642832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7772400" imgH="10058400" progId="TCLayout.ActiveDocument.1">
                  <p:embed/>
                </p:oleObj>
              </mc:Choice>
              <mc:Fallback>
                <p:oleObj name="think-cell Slide" r:id="rId53" imgW="7772400" imgH="10058400" progId="TCLayout.ActiveDocument.1">
                  <p:embed/>
                  <p:pic>
                    <p:nvPicPr>
                      <p:cNvPr id="15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FF028A-1381-5A7F-B2CA-5D0364283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17FBD44-1456-A977-6CF8-CB4EB919A6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Источник: анализ </a:t>
            </a:r>
            <a:r>
              <a:rPr lang="en-US">
                <a:solidFill>
                  <a:srgbClr val="6E6E6E"/>
                </a:solidFill>
              </a:rPr>
              <a:t>Magnit ADS</a:t>
            </a:r>
            <a:endParaRPr lang="ru-RU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C19635D-8E1C-0B52-900F-0C1F16862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4B63B9-8C5B-1357-2088-05DBFD13F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tabLst>
                <a:tab pos="7554913" algn="l"/>
              </a:tabLst>
            </a:pPr>
            <a:r>
              <a:rPr lang="ru-RU"/>
              <a:t>Рынок ритейл медиа опережает темпы роста </a:t>
            </a:r>
            <a:br>
              <a:rPr lang="en-US" dirty="0"/>
            </a:br>
            <a:r>
              <a:rPr lang="ru-RU"/>
              <a:t>традиционного </a:t>
            </a:r>
            <a:r>
              <a:rPr lang="en-US"/>
              <a:t>digital +35% vs. +15% YoY</a:t>
            </a:r>
            <a:endParaRPr lang="ru-RU"/>
          </a:p>
        </p:txBody>
      </p:sp>
      <p:sp>
        <p:nvSpPr>
          <p:cNvPr id="81" name="Скругленный прямоугольник 80">
            <a:extLst>
              <a:ext uri="{FF2B5EF4-FFF2-40B4-BE49-F238E27FC236}">
                <a16:creationId xmlns:a16="http://schemas.microsoft.com/office/drawing/2014/main" id="{3FE6C233-CDF2-C619-78E9-FCF0BD9F590D}"/>
              </a:ext>
            </a:extLst>
          </p:cNvPr>
          <p:cNvSpPr/>
          <p:nvPr/>
        </p:nvSpPr>
        <p:spPr>
          <a:xfrm>
            <a:off x="3144838" y="1922463"/>
            <a:ext cx="5356978" cy="4132472"/>
          </a:xfrm>
          <a:prstGeom prst="roundRect">
            <a:avLst>
              <a:gd name="adj" fmla="val 3785"/>
            </a:avLst>
          </a:prstGeom>
          <a:pattFill prst="pct5">
            <a:fgClr>
              <a:schemeClr val="accent2"/>
            </a:fgClr>
            <a:bgClr>
              <a:schemeClr val="bg1"/>
            </a:bgClr>
          </a:patt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89805283-56FC-2FDC-FB28-F0F724A75FF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95275" y="2001838"/>
          <a:ext cx="8269288" cy="3978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  <p:cxnSp>
        <p:nvCxnSpPr>
          <p:cNvPr id="86" name="Прямая соединительная линия 85">
            <a:extLst>
              <a:ext uri="{FF2B5EF4-FFF2-40B4-BE49-F238E27FC236}">
                <a16:creationId xmlns:a16="http://schemas.microsoft.com/office/drawing/2014/main" id="{2FA4329D-252B-2951-C982-13B48FACC73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962025" y="508317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>
            <a:extLst>
              <a:ext uri="{FF2B5EF4-FFF2-40B4-BE49-F238E27FC236}">
                <a16:creationId xmlns:a16="http://schemas.microsoft.com/office/drawing/2014/main" id="{055F50E7-D79B-C8F4-9D10-8236FC68C10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H="1">
            <a:off x="2763838" y="48228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48F74465-AEAD-D05F-97BB-FECD2280C613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H="1">
            <a:off x="962025" y="52705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id="{A1164671-863E-D82D-88C9-EEB4423B504A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1862138" y="48006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id="{A2A4C693-B523-065D-1A1A-489C19CC29AE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 flipH="1">
            <a:off x="1862138" y="50387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>
            <a:extLst>
              <a:ext uri="{FF2B5EF4-FFF2-40B4-BE49-F238E27FC236}">
                <a16:creationId xmlns:a16="http://schemas.microsoft.com/office/drawing/2014/main" id="{44142CF4-B431-86DE-C756-46E0D49EA1A9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H="1">
            <a:off x="3663950" y="4525963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789419B5-90A7-7B49-374C-52A659B6855F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679450" y="5256213"/>
            <a:ext cx="296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6BD3966-E773-4F1B-9C26-C0DF250422BC}" type="datetime'''''''''''''''''''''''''''''''''''''''1''''8''''5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AC08CAAF-C412-2790-D1B8-DD4A357E0B92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019800" y="4168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F2DB5B5-629C-4E6F-AA63-2E59BA6B7C2C}" type="datetime'''1''''.''''''''''''''''''''''''''9''''''''6''''''''7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1.967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A189098B-C67C-37C4-C40D-502331A883B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24542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6F17BB1-725B-4AB1-8BDE-9C719FC362B7}" type="datetime'''''''''''''''2''''''''''''''''''0''25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E3749B98-0EB1-40BD-7FF2-4EDE99B0DF52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15525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8DD0D6D-99A6-4C8E-9F94-CA67EC9A751E}" type="datetime'''''2''''''''''''''''''''''''''''''''''''0''''2''''''''''''4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2024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10F8E654-1CB9-F127-D245-2700E03EEE2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335438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1E25AE9-94C6-423C-B843-CB5A0BD8FFD9}" type="datetime'''''''''''''''''''''2''0''''''''''''''''''''''''''2''''6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2026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EFDBA62-534F-1768-3AAF-6A3DD149DD04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322763" y="4148138"/>
            <a:ext cx="212725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1F90E4-F2C5-494F-8A98-F9E5E1A5544C}" type="datetime'''9''''''''''''''''''''3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93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843603AB-4FFB-E057-AB25-F7E1DAAD2018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4217988" y="4581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2CE3581-4895-47F2-B6B1-B66A6C23D730}" type="datetime'''''''''1''''''''.2''''''''''''''''''''''''''''''00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1.200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B57FBE82-5B07-F580-6C82-0BBE443B6BB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254500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1EA796C-98BB-4198-8852-684A3CBC30CB}" type="datetime'''''''''''''''''''''''''''''''''''''''''''''''2''''''027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2027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22FEEC8-00EF-6D60-0B4A-99A1319DAA44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5186363" y="3811588"/>
            <a:ext cx="285750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86FDB48-789B-40A2-91AF-8329A43D4132}" type="datetime'''''''''''''''1''''''1''''''''''6''''''''''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116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0B380E6A-C981-83A6-F38C-DAD29817B015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5118100" y="4375150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E1C3567-C4AB-4513-8D2A-F1266E5196F0}" type="datetime'''''''1''''.''''''''5''''''''''''''6''5''''''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1.565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8E5CAA84-9A45-B6AE-A8A1-D9CF35AE2EF3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5118100" y="526573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B12687-88CD-4F15-9043-2C78B3CDB411}" type="datetime'''1''''.''''''''0''''''''''''''''''9''''''0''''''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1.090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F3E25EB1-779C-F3CA-17BC-C36D8E7AF4B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51546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04747FA-DE9D-45A5-953A-2AEFD6268936}" type="datetime'''''''''''2''''''''''0''''''2''''''''''''''8''''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2028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DA03590A-3DFA-B4E9-EEFA-03D9794B5303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6083300" y="346075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F0BBA2-737D-4909-999B-D1E77F0A001D}" type="datetime'''''1''''''''4''''''''''''''''''''''''''''''''''''5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37A0F702-F529-2786-4832-33216D79DA1A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65246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52FA7EF-9394-490C-A75C-06F2501ACBFB}" type="datetime'''''2''''''''''''''''''0''''''''2''''''''''''3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2023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686B165A-29A7-1BA6-BA59-3983337A1AE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6019800" y="5229225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DFF384B-6465-4053-8A74-D01917CE9C42}" type="datetime'''''''''''1''''''''''.''''''''1''''''''''''''''''''9''9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1.199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D70AA019-30F2-CBCA-1EBA-60966CF7D805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60563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6F8F263-9D2E-47A7-8484-8ADFBF516155}" type="datetime'''''''2''''0''''''''''''''''''''''''2''''''9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D12DD7B7-4EFA-CC2F-764A-EA914B7775C7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983413" y="308610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B626F2F-D19B-46DF-ADB0-497547E72B0F}" type="datetime'''''1''''''''''''''''''''''''''8''''''''''''''1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34FDC6EE-4B96-1E71-FFD5-A04ADDC7125D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6919913" y="3946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F207945-82E0-4028-BFC5-064A380A7C4F}" type="datetime'2''''''''''''''''''''''''''''''''.3''''''''8''''''''''9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2.389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C078F7D8-3AD0-FFC9-55A8-7881008D76C9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6919913" y="5187950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1B89EA2-3064-4B5D-8A9E-EAF63BC3BCA4}" type="datetime'''''''''''''1.''''''''''''''''''''''''''3''''1''''''''''9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1.319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A74B0002-E528-8D1D-A91E-03ED16747C02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695642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2CF1971-B2B1-4835-A593-87C564B54C07}" type="datetime'''''2''''''''''''''0''3''''''''''''''''''0''''''''''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DCEEFDB2-9977-3ECC-E2F3-30E2D59A8579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820025" y="3787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E188162-E3C8-4F0B-B76B-DC1ADA999185}" type="datetime'''''2''''''.''''''6''''''''''''''''''0''''1''''''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2.601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93D1405F-AF7F-7EBB-BBD6-55D372323F43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7820025" y="514508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D79810-81F6-4FA4-BBFC-29395BA405A3}" type="datetime'''''''''''''''''1''''''''''''.4''5''''''''''''''''''''''1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1.451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5F588EE3-6110-E1DA-AF72-D5E8C1E4479C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785653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E5153A0-D1AD-4B20-A840-54D6A05ECE4A}" type="datetime'''''''''2''''''''''''0''''3''''''''''''1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B45FA084-58CB-1C16-1A9E-F90B4012E6F6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79450" y="4859338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3E38530A-A097-4C59-84D8-BCE574108824}" type="datetime'''''''9''''''''''''9''''''''''''''''''''''''''1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991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B03325F5-CFB4-E9EB-C059-68FE65946F33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1516063" y="4564063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1B6B2A2-80E8-41AF-9294-3D9780020353}" type="datetime'''1''''''''''''''''''''''.4''''''''''''''''''''32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1.432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42B9F10C-F061-1741-0B94-5CE291FBA06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17763" y="4294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7493CC3-4EFB-46CE-9207-33FB037D843B}" type="datetime'''''''''''''1''''''.8''''''''''''33''''''''''''''''''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1.833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B506D63F-1A2E-8F77-3CA0-95F141AB3544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317875" y="39512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D72B16F-3706-4979-B07F-5A31356F2F4B}" type="datetime'''''''''2''''.34''6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2.346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CD08CD25-9894-9330-8913-AC930F5D2CBE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4217988" y="36083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4EB1E10-03EA-44C5-8223-06A178B48676}" type="datetime'''''''''''''''''''''''''''''''''''''''''''''2.8''57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2.857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8DF5A422-F584-7BF4-8896-4D6D1E454CD8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5118100" y="3225800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F234250C-68B1-4A90-A37A-9D09B0FE0F55}" type="datetime'''''''''''''''''''''''3''.''''''4''''''''''''''''2''8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3.428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61C359B3-3830-D4D8-36AB-790982E22B02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6019800" y="2822575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C6235F97-AB89-4ECE-A1AD-FC4760EFE21D}" type="datetime'''4''''''''.''0''''''3''''''0''''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4.030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08DC9B03-86BD-683C-46A0-53C82FBC1013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6919913" y="2389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2FD1A78B-907A-48CC-82B6-3047BFD06CD9}" type="datetime'''''''''''''''''''4''''''''''''''''.''''''''''''677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4.677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4546A23-0E05-0A4A-0F19-4D90415CB852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7820025" y="207803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CA062F8-1C21-43AC-A8F7-0A6AB0EAC780}" type="datetime'5''''''.''''''''''''''1''''4''''''''''''''''''''2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5.142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3A9B3E1D-88AC-D6F1-D8C1-10E2C0F29D7D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2481263" y="4460875"/>
            <a:ext cx="296863" cy="165100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D399564-6B85-4091-A9AA-378A364500E0}" type="datetime'''''''''1''''''''''''''7''''4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174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3647EDFC-DEE4-781D-5CA2-8013518A5388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363538" y="1508125"/>
            <a:ext cx="214313" cy="160338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5FC1E172-FD12-CAEA-69F7-F88AA396875B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2711450" y="1508125"/>
            <a:ext cx="214313" cy="160338"/>
          </a:xfrm>
          <a:prstGeom prst="rect">
            <a:avLst/>
          </a:prstGeom>
          <a:solidFill>
            <a:srgbClr val="9DB1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FF88AA73-836A-6C1B-4CFE-59037E80A3FC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3273425" y="1508125"/>
            <a:ext cx="214313" cy="1603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69B194C7-79F6-88B3-1C84-4536828BA883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4256088" y="1508125"/>
            <a:ext cx="214313" cy="1603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3E5C9A0A-F4A6-5924-F811-50A5B61711F9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5465763" y="1508125"/>
            <a:ext cx="214313" cy="160338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7" name="Прямоугольник 126">
            <a:extLst>
              <a:ext uri="{FF2B5EF4-FFF2-40B4-BE49-F238E27FC236}">
                <a16:creationId xmlns:a16="http://schemas.microsoft.com/office/drawing/2014/main" id="{AA218D48-B8E7-8FA6-0267-050377CF6F37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628650" y="1503363"/>
            <a:ext cx="1981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9A698E8-021B-4086-AF75-CB8BD31FC29D}" type="datetime'''''Et''c. (''''i''''nc''l'' ''OO''H, Rad''''io,'' Pr''''ess)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Etc. (incl OOH, Radio, Press)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8" name="Прямоугольник 127">
            <a:extLst>
              <a:ext uri="{FF2B5EF4-FFF2-40B4-BE49-F238E27FC236}">
                <a16:creationId xmlns:a16="http://schemas.microsoft.com/office/drawing/2014/main" id="{76A7C27D-9D7D-620A-E3C7-E7349D65FE4A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2976563" y="1503363"/>
            <a:ext cx="195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738614D-788F-475E-906A-74DB5AB58DC2}" type="datetime'''''''''T''''''''''''''''''''V''''''''''''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TV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9" name="Прямоугольник 128">
            <a:extLst>
              <a:ext uri="{FF2B5EF4-FFF2-40B4-BE49-F238E27FC236}">
                <a16:creationId xmlns:a16="http://schemas.microsoft.com/office/drawing/2014/main" id="{DB658F56-02EB-A232-4970-C86C9B615312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3538538" y="1503363"/>
            <a:ext cx="6159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BC019E4-7EB5-4708-93C1-FE271D75AB64}" type="datetime'''''I''nf''''l''u''''''''en''''''''c''''''''''''''e''''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Influence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3671BBB8-A578-5411-8519-CE7F2F47C25E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4521200" y="1503363"/>
            <a:ext cx="8429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0D941EAB-DBA2-44C4-8F90-B2AE9369BB38}" type="datetime'R''e''''''t''''''''''''''''''''''''ai''l'''' ''''Med''''ia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Retail Media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D4296DA3-F9B2-D511-4A8F-A16C8EF9DFB8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730875" y="1503363"/>
            <a:ext cx="11398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2333284-4378-4CF7-AB90-7EE2849552CC}" type="datetime'''T''r''ad''i''t''i''o''na''l'' ''d''i''gi''''t''''''''a''''l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Traditional digital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2" name="Прямоугольник: скругленные углы 462">
            <a:extLst>
              <a:ext uri="{FF2B5EF4-FFF2-40B4-BE49-F238E27FC236}">
                <a16:creationId xmlns:a16="http://schemas.microsoft.com/office/drawing/2014/main" id="{EB9F1138-819B-669A-733A-30E903FE7C18}"/>
              </a:ext>
            </a:extLst>
          </p:cNvPr>
          <p:cNvSpPr/>
          <p:nvPr/>
        </p:nvSpPr>
        <p:spPr>
          <a:xfrm>
            <a:off x="363538" y="1001900"/>
            <a:ext cx="8138477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Выручка основных сегментов рекламного рынка в РФ, </a:t>
            </a:r>
            <a:r>
              <a:rPr lang="ru-RU" kumimoji="0" sz="1600" b="0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млрд руб.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B96C9BD-EBAD-EC32-2044-E88BC73DB15A}"/>
              </a:ext>
            </a:extLst>
          </p:cNvPr>
          <p:cNvSpPr txBox="1"/>
          <p:nvPr/>
        </p:nvSpPr>
        <p:spPr>
          <a:xfrm>
            <a:off x="3292475" y="2032000"/>
            <a:ext cx="2293937" cy="226591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000" b="0" i="1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Индикативный прогноз</a:t>
            </a:r>
          </a:p>
        </p:txBody>
      </p:sp>
      <p:sp>
        <p:nvSpPr>
          <p:cNvPr id="134" name="Овал 133">
            <a:extLst>
              <a:ext uri="{FF2B5EF4-FFF2-40B4-BE49-F238E27FC236}">
                <a16:creationId xmlns:a16="http://schemas.microsoft.com/office/drawing/2014/main" id="{9BB0A294-90D7-3A6F-467C-967B714E5DBA}"/>
              </a:ext>
            </a:extLst>
          </p:cNvPr>
          <p:cNvSpPr/>
          <p:nvPr/>
        </p:nvSpPr>
        <p:spPr>
          <a:xfrm>
            <a:off x="563563" y="322738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+34%</a:t>
            </a:r>
          </a:p>
        </p:txBody>
      </p:sp>
      <p:sp>
        <p:nvSpPr>
          <p:cNvPr id="135" name="Овал 134">
            <a:extLst>
              <a:ext uri="{FF2B5EF4-FFF2-40B4-BE49-F238E27FC236}">
                <a16:creationId xmlns:a16="http://schemas.microsoft.com/office/drawing/2014/main" id="{B5A2ACB7-DFCA-B167-2185-35EDB96C5D93}"/>
              </a:ext>
            </a:extLst>
          </p:cNvPr>
          <p:cNvSpPr/>
          <p:nvPr/>
        </p:nvSpPr>
        <p:spPr>
          <a:xfrm>
            <a:off x="7083425" y="1483326"/>
            <a:ext cx="542650" cy="2063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10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+X%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AE5ABBA-2DBF-2962-E8BE-42D5BCE7D1BD}"/>
              </a:ext>
            </a:extLst>
          </p:cNvPr>
          <p:cNvSpPr txBox="1"/>
          <p:nvPr/>
        </p:nvSpPr>
        <p:spPr>
          <a:xfrm>
            <a:off x="7721600" y="1457829"/>
            <a:ext cx="760412" cy="257369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 CAGR</a:t>
            </a:r>
          </a:p>
        </p:txBody>
      </p:sp>
      <p:sp>
        <p:nvSpPr>
          <p:cNvPr id="137" name="Овал 136">
            <a:extLst>
              <a:ext uri="{FF2B5EF4-FFF2-40B4-BE49-F238E27FC236}">
                <a16:creationId xmlns:a16="http://schemas.microsoft.com/office/drawing/2014/main" id="{5176293A-74E7-4673-8EFC-C4B0BFD1EA5E}"/>
              </a:ext>
            </a:extLst>
          </p:cNvPr>
          <p:cNvSpPr/>
          <p:nvPr/>
        </p:nvSpPr>
        <p:spPr>
          <a:xfrm>
            <a:off x="1471613" y="2932113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+35%</a:t>
            </a:r>
          </a:p>
        </p:txBody>
      </p:sp>
      <p:sp>
        <p:nvSpPr>
          <p:cNvPr id="138" name="Овал 137">
            <a:extLst>
              <a:ext uri="{FF2B5EF4-FFF2-40B4-BE49-F238E27FC236}">
                <a16:creationId xmlns:a16="http://schemas.microsoft.com/office/drawing/2014/main" id="{FF969D4B-CF07-1EE7-41C1-BBF66086D484}"/>
              </a:ext>
            </a:extLst>
          </p:cNvPr>
          <p:cNvSpPr/>
          <p:nvPr/>
        </p:nvSpPr>
        <p:spPr>
          <a:xfrm>
            <a:off x="2379663" y="263683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+25%</a:t>
            </a:r>
          </a:p>
        </p:txBody>
      </p:sp>
      <p:sp>
        <p:nvSpPr>
          <p:cNvPr id="139" name="Овал 138">
            <a:extLst>
              <a:ext uri="{FF2B5EF4-FFF2-40B4-BE49-F238E27FC236}">
                <a16:creationId xmlns:a16="http://schemas.microsoft.com/office/drawing/2014/main" id="{3C9768BD-18F9-1FA0-AB6D-38E3A1DE3758}"/>
              </a:ext>
            </a:extLst>
          </p:cNvPr>
          <p:cNvSpPr/>
          <p:nvPr/>
        </p:nvSpPr>
        <p:spPr>
          <a:xfrm>
            <a:off x="563563" y="355600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</a:p>
        </p:txBody>
      </p:sp>
      <p:sp>
        <p:nvSpPr>
          <p:cNvPr id="140" name="Овал 139">
            <a:extLst>
              <a:ext uri="{FF2B5EF4-FFF2-40B4-BE49-F238E27FC236}">
                <a16:creationId xmlns:a16="http://schemas.microsoft.com/office/drawing/2014/main" id="{0D290120-31A4-AF6F-E7EB-5602C4D69D5F}"/>
              </a:ext>
            </a:extLst>
          </p:cNvPr>
          <p:cNvSpPr/>
          <p:nvPr/>
        </p:nvSpPr>
        <p:spPr>
          <a:xfrm>
            <a:off x="1471613" y="32607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</a:p>
        </p:txBody>
      </p:sp>
      <p:sp>
        <p:nvSpPr>
          <p:cNvPr id="141" name="Овал 140">
            <a:extLst>
              <a:ext uri="{FF2B5EF4-FFF2-40B4-BE49-F238E27FC236}">
                <a16:creationId xmlns:a16="http://schemas.microsoft.com/office/drawing/2014/main" id="{9A5AE820-5EF5-E2F5-C855-9D378D4E32E2}"/>
              </a:ext>
            </a:extLst>
          </p:cNvPr>
          <p:cNvSpPr/>
          <p:nvPr/>
        </p:nvSpPr>
        <p:spPr>
          <a:xfrm>
            <a:off x="2379663" y="29654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+15%</a:t>
            </a:r>
          </a:p>
        </p:txBody>
      </p:sp>
      <p:sp>
        <p:nvSpPr>
          <p:cNvPr id="142" name="Овал 141">
            <a:extLst>
              <a:ext uri="{FF2B5EF4-FFF2-40B4-BE49-F238E27FC236}">
                <a16:creationId xmlns:a16="http://schemas.microsoft.com/office/drawing/2014/main" id="{AB7DFC92-B68F-59AB-21AC-2721C510E987}"/>
              </a:ext>
            </a:extLst>
          </p:cNvPr>
          <p:cNvSpPr/>
          <p:nvPr/>
        </p:nvSpPr>
        <p:spPr>
          <a:xfrm>
            <a:off x="563563" y="389096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+100%</a:t>
            </a:r>
          </a:p>
        </p:txBody>
      </p:sp>
      <p:sp>
        <p:nvSpPr>
          <p:cNvPr id="143" name="Овал 142">
            <a:extLst>
              <a:ext uri="{FF2B5EF4-FFF2-40B4-BE49-F238E27FC236}">
                <a16:creationId xmlns:a16="http://schemas.microsoft.com/office/drawing/2014/main" id="{8DF1B26E-E10C-A705-A530-235A5CF0EBF6}"/>
              </a:ext>
            </a:extLst>
          </p:cNvPr>
          <p:cNvSpPr/>
          <p:nvPr/>
        </p:nvSpPr>
        <p:spPr>
          <a:xfrm>
            <a:off x="1471613" y="3595688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+150%</a:t>
            </a:r>
          </a:p>
        </p:txBody>
      </p:sp>
      <p:sp>
        <p:nvSpPr>
          <p:cNvPr id="144" name="Овал 143">
            <a:extLst>
              <a:ext uri="{FF2B5EF4-FFF2-40B4-BE49-F238E27FC236}">
                <a16:creationId xmlns:a16="http://schemas.microsoft.com/office/drawing/2014/main" id="{D281B35C-86CA-2D49-E951-872DB96EB18F}"/>
              </a:ext>
            </a:extLst>
          </p:cNvPr>
          <p:cNvSpPr/>
          <p:nvPr/>
        </p:nvSpPr>
        <p:spPr>
          <a:xfrm>
            <a:off x="2379663" y="330041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</a:t>
            </a:r>
            <a:r>
              <a:rPr lang="ru-RU" sz="900" b="1" kern="0">
                <a:solidFill>
                  <a:srgbClr val="FFFFFF"/>
                </a:solidFill>
                <a:latin typeface="Arial"/>
                <a:sym typeface="Arial"/>
              </a:rPr>
              <a:t>30</a:t>
            </a: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%</a:t>
            </a:r>
          </a:p>
        </p:txBody>
      </p:sp>
      <p:sp>
        <p:nvSpPr>
          <p:cNvPr id="145" name="Овал 144">
            <a:extLst>
              <a:ext uri="{FF2B5EF4-FFF2-40B4-BE49-F238E27FC236}">
                <a16:creationId xmlns:a16="http://schemas.microsoft.com/office/drawing/2014/main" id="{680DE674-D71B-DB96-C4E4-5132C719524E}"/>
              </a:ext>
            </a:extLst>
          </p:cNvPr>
          <p:cNvSpPr/>
          <p:nvPr/>
        </p:nvSpPr>
        <p:spPr>
          <a:xfrm>
            <a:off x="563563" y="423386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+270%</a:t>
            </a:r>
          </a:p>
        </p:txBody>
      </p:sp>
      <p:sp>
        <p:nvSpPr>
          <p:cNvPr id="146" name="Овал 145">
            <a:extLst>
              <a:ext uri="{FF2B5EF4-FFF2-40B4-BE49-F238E27FC236}">
                <a16:creationId xmlns:a16="http://schemas.microsoft.com/office/drawing/2014/main" id="{CCC283A4-4E2E-253B-D2AD-0F433B44EB7E}"/>
              </a:ext>
            </a:extLst>
          </p:cNvPr>
          <p:cNvSpPr/>
          <p:nvPr/>
        </p:nvSpPr>
        <p:spPr>
          <a:xfrm>
            <a:off x="1471613" y="3938588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+110%</a:t>
            </a:r>
          </a:p>
        </p:txBody>
      </p:sp>
      <p:sp>
        <p:nvSpPr>
          <p:cNvPr id="147" name="Овал 146">
            <a:extLst>
              <a:ext uri="{FF2B5EF4-FFF2-40B4-BE49-F238E27FC236}">
                <a16:creationId xmlns:a16="http://schemas.microsoft.com/office/drawing/2014/main" id="{8803AED3-4384-512A-7C57-873F7CB7F42E}"/>
              </a:ext>
            </a:extLst>
          </p:cNvPr>
          <p:cNvSpPr/>
          <p:nvPr/>
        </p:nvSpPr>
        <p:spPr>
          <a:xfrm>
            <a:off x="2379663" y="364331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+50%</a:t>
            </a:r>
          </a:p>
        </p:txBody>
      </p:sp>
      <p:sp>
        <p:nvSpPr>
          <p:cNvPr id="148" name="Овал 147">
            <a:extLst>
              <a:ext uri="{FF2B5EF4-FFF2-40B4-BE49-F238E27FC236}">
                <a16:creationId xmlns:a16="http://schemas.microsoft.com/office/drawing/2014/main" id="{8387556B-8702-8BA0-4284-27664B72A334}"/>
              </a:ext>
            </a:extLst>
          </p:cNvPr>
          <p:cNvSpPr/>
          <p:nvPr/>
        </p:nvSpPr>
        <p:spPr>
          <a:xfrm>
            <a:off x="563563" y="45688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+19%</a:t>
            </a:r>
          </a:p>
        </p:txBody>
      </p:sp>
      <p:sp>
        <p:nvSpPr>
          <p:cNvPr id="149" name="Овал 148">
            <a:extLst>
              <a:ext uri="{FF2B5EF4-FFF2-40B4-BE49-F238E27FC236}">
                <a16:creationId xmlns:a16="http://schemas.microsoft.com/office/drawing/2014/main" id="{C8266C2A-4FE5-937C-8C7E-155BB01EA5BE}"/>
              </a:ext>
            </a:extLst>
          </p:cNvPr>
          <p:cNvSpPr/>
          <p:nvPr/>
        </p:nvSpPr>
        <p:spPr>
          <a:xfrm>
            <a:off x="1471613" y="42735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+28%</a:t>
            </a:r>
          </a:p>
        </p:txBody>
      </p:sp>
      <p:sp>
        <p:nvSpPr>
          <p:cNvPr id="150" name="Овал 149">
            <a:extLst>
              <a:ext uri="{FF2B5EF4-FFF2-40B4-BE49-F238E27FC236}">
                <a16:creationId xmlns:a16="http://schemas.microsoft.com/office/drawing/2014/main" id="{3E43B528-3EC0-35E9-3A4B-8DD866D4308F}"/>
              </a:ext>
            </a:extLst>
          </p:cNvPr>
          <p:cNvSpPr/>
          <p:nvPr/>
        </p:nvSpPr>
        <p:spPr>
          <a:xfrm>
            <a:off x="2379663" y="397827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+21%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4774214-B187-CD67-E0FA-280DC69C67F5}"/>
              </a:ext>
            </a:extLst>
          </p:cNvPr>
          <p:cNvSpPr txBox="1"/>
          <p:nvPr/>
        </p:nvSpPr>
        <p:spPr>
          <a:xfrm>
            <a:off x="146050" y="2427288"/>
            <a:ext cx="1289594" cy="688256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000" b="0" i="0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Быстрорастущие сегменты, замещающие </a:t>
            </a:r>
            <a:r>
              <a:rPr lang="en-US" kumimoji="0" sz="1000" b="0" i="0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traditional digital</a:t>
            </a:r>
            <a:endParaRPr lang="ru-RU" kumimoji="0" sz="1000" b="0" i="0" u="none" strike="noStrike" kern="0" cap="none" spc="0" normalizeH="0" baseline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Левая фигурная скобка 451">
            <a:extLst>
              <a:ext uri="{FF2B5EF4-FFF2-40B4-BE49-F238E27FC236}">
                <a16:creationId xmlns:a16="http://schemas.microsoft.com/office/drawing/2014/main" id="{47B408AC-EF5B-EAD6-E5E0-0F1CACD09953}"/>
              </a:ext>
            </a:extLst>
          </p:cNvPr>
          <p:cNvSpPr/>
          <p:nvPr/>
        </p:nvSpPr>
        <p:spPr>
          <a:xfrm>
            <a:off x="331788" y="3925888"/>
            <a:ext cx="149547" cy="590659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53" name="Соединитель: уступ 41">
            <a:extLst>
              <a:ext uri="{FF2B5EF4-FFF2-40B4-BE49-F238E27FC236}">
                <a16:creationId xmlns:a16="http://schemas.microsoft.com/office/drawing/2014/main" id="{6008DFB5-F10B-BB98-7543-E46C96ECB806}"/>
              </a:ext>
            </a:extLst>
          </p:cNvPr>
          <p:cNvCxnSpPr>
            <a:cxnSpLocks/>
            <a:endCxn id="152" idx="1"/>
          </p:cNvCxnSpPr>
          <p:nvPr/>
        </p:nvCxnSpPr>
        <p:spPr>
          <a:xfrm rot="16200000" flipH="1">
            <a:off x="-277431" y="3611999"/>
            <a:ext cx="1095192" cy="123246"/>
          </a:xfrm>
          <a:prstGeom prst="bentConnector2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Прямоугольник: скругленные углы 462">
            <a:extLst>
              <a:ext uri="{FF2B5EF4-FFF2-40B4-BE49-F238E27FC236}">
                <a16:creationId xmlns:a16="http://schemas.microsoft.com/office/drawing/2014/main" id="{DCB1416A-1512-6232-F56E-342927FE1AF8}"/>
              </a:ext>
            </a:extLst>
          </p:cNvPr>
          <p:cNvSpPr/>
          <p:nvPr/>
        </p:nvSpPr>
        <p:spPr>
          <a:xfrm>
            <a:off x="8680992" y="1001900"/>
            <a:ext cx="3146833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kern="0">
                <a:solidFill>
                  <a:sysClr val="windowText" lastClr="000000"/>
                </a:solidFill>
                <a:latin typeface="Arial"/>
                <a:sym typeface="Arial"/>
              </a:rPr>
              <a:t>Комментарии</a:t>
            </a:r>
            <a:endParaRPr lang="ru-RU" kumimoji="0" sz="16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596DD25-5FFC-7149-B150-9F36CA0AD1AE}"/>
              </a:ext>
            </a:extLst>
          </p:cNvPr>
          <p:cNvSpPr txBox="1"/>
          <p:nvPr/>
        </p:nvSpPr>
        <p:spPr>
          <a:xfrm>
            <a:off x="8682038" y="1432714"/>
            <a:ext cx="3145787" cy="3704467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Ключевым драйвером рынка является 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Retail Media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с высокой долей 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Ozon &amp; WB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90%+)</a:t>
            </a:r>
            <a:endParaRPr lang="ru-RU"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sz="1400">
                <a:solidFill>
                  <a:srgbClr val="000000"/>
                </a:solidFill>
              </a:rPr>
              <a:t>Позиция Magnit </a:t>
            </a:r>
            <a:r>
              <a:rPr lang="en-US" sz="1400">
                <a:solidFill>
                  <a:srgbClr val="000000"/>
                </a:solidFill>
              </a:rPr>
              <a:t>AdTech</a:t>
            </a:r>
            <a:r>
              <a:rPr lang="ru-RU" sz="1400">
                <a:solidFill>
                  <a:srgbClr val="000000"/>
                </a:solidFill>
              </a:rPr>
              <a:t> в 2027 г.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</a:t>
            </a:r>
            <a:r>
              <a:rPr lang="ru-RU" sz="1400" b="1">
                <a:solidFill>
                  <a:srgbClr val="000000"/>
                </a:solidFill>
              </a:rPr>
              <a:t>14,6 млрд руб.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Доля во всем рекламном рынке: 0,5% (0,4% в 2026 г.)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kumimoji="0" sz="140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Вторым крупным рекламным рынком по темпам роста является </a:t>
            </a:r>
            <a:r>
              <a:rPr lang="en-US" kumimoji="0" sz="1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Influence</a:t>
            </a:r>
            <a:r>
              <a:rPr lang="ru-RU" kumimoji="0" sz="1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-маркетинг, который растет +30% </a:t>
            </a:r>
            <a:r>
              <a:rPr lang="en-US" sz="1400" b="1" kern="0">
                <a:solidFill>
                  <a:schemeClr val="tx2"/>
                </a:solidFill>
                <a:latin typeface="Arial"/>
                <a:cs typeface="Arial"/>
                <a:sym typeface="Arial"/>
              </a:rPr>
              <a:t>YoY</a:t>
            </a:r>
            <a:r>
              <a:rPr lang="ru-RU" sz="1400" b="1" kern="0">
                <a:solidFill>
                  <a:schemeClr val="tx2"/>
                </a:solidFill>
                <a:latin typeface="Arial"/>
                <a:cs typeface="Arial"/>
                <a:sym typeface="Arial"/>
              </a:rPr>
              <a:t>, </a:t>
            </a:r>
            <a:r>
              <a:rPr lang="ru-RU" sz="1400" kern="0">
                <a:latin typeface="Arial"/>
                <a:cs typeface="Arial"/>
                <a:sym typeface="Arial"/>
              </a:rPr>
              <a:t>опережая по темпам роста традиционный </a:t>
            </a:r>
            <a:r>
              <a:rPr lang="en-US" sz="1400" kern="0">
                <a:latin typeface="Arial"/>
                <a:cs typeface="Arial"/>
                <a:sym typeface="Arial"/>
              </a:rPr>
              <a:t>digital (+15% YoY)</a:t>
            </a:r>
            <a:endParaRPr lang="ru-RU" kumimoji="0" sz="1400" i="0" u="none" strike="noStrike" kern="0" cap="none" spc="0" normalizeH="0" baseline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6855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9251" y="6212037"/>
            <a:ext cx="9277350" cy="498376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1. Оценка </a:t>
            </a:r>
            <a:r>
              <a:rPr lang="en-US">
                <a:solidFill>
                  <a:srgbClr val="6E6E6E"/>
                </a:solidFill>
              </a:rPr>
              <a:t>Magnit ADS, </a:t>
            </a:r>
            <a:r>
              <a:rPr lang="ru-RU">
                <a:solidFill>
                  <a:srgbClr val="6E6E6E"/>
                </a:solidFill>
              </a:rPr>
              <a:t>исходя из аналитических данных по «белым» инвестициям в инфлюенс-маркетинг и приблизительной оценки «серых» инвестиций без маркировки</a:t>
            </a:r>
          </a:p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2. АКАР, «Постмаркетинг» </a:t>
            </a:r>
          </a:p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Источники: Ads Market Calc (внутренняя оценка рынка), отчетность X5, Data Insight, стратегия Magnit </a:t>
            </a:r>
            <a:r>
              <a:rPr lang="en-US">
                <a:solidFill>
                  <a:srgbClr val="6E6E6E"/>
                </a:solidFill>
              </a:rPr>
              <a:t>AdTech</a:t>
            </a:r>
            <a:r>
              <a:rPr lang="ru-RU">
                <a:solidFill>
                  <a:srgbClr val="6E6E6E"/>
                </a:solidFill>
              </a:rPr>
              <a:t> 2026-2031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Retail Media — 42% рекламного рынка 2027 г.: Magnit ADS растёт на внутреннем и внешнем инвентаре</a:t>
            </a:r>
          </a:p>
        </p:txBody>
      </p:sp>
      <p:sp>
        <p:nvSpPr>
          <p:cNvPr id="1001" name="ES market card"/>
          <p:cNvSpPr/>
          <p:nvPr/>
        </p:nvSpPr>
        <p:spPr>
          <a:xfrm>
            <a:off x="368300" y="911225"/>
            <a:ext cx="3600000" cy="508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2" name="ADS 1002"/>
          <p:cNvSpPr txBox="1"/>
          <p:nvPr/>
        </p:nvSpPr>
        <p:spPr>
          <a:xfrm>
            <a:off x="528300" y="1041225"/>
            <a:ext cx="32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Рынок и конкуренты</a:t>
            </a:r>
            <a:endParaRPr lang="ru-RU" sz="1200"/>
          </a:p>
        </p:txBody>
      </p:sp>
      <p:sp>
        <p:nvSpPr>
          <p:cNvPr id="1003" name="ADS 1003"/>
          <p:cNvSpPr/>
          <p:nvPr/>
        </p:nvSpPr>
        <p:spPr>
          <a:xfrm>
            <a:off x="528300" y="138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4" name="ADS 1004"/>
          <p:cNvSpPr/>
          <p:nvPr/>
        </p:nvSpPr>
        <p:spPr>
          <a:xfrm>
            <a:off x="5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5" name="ADS 1005"/>
          <p:cNvSpPr txBox="1"/>
          <p:nvPr/>
        </p:nvSpPr>
        <p:spPr>
          <a:xfrm>
            <a:off x="6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2,9 трлн руб.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7F7F7F"/>
                </a:solidFill>
                <a:latin typeface="Arial"/>
                <a:cs typeface="Arial"/>
              </a:rPr>
              <a:t>Прогноз </a:t>
            </a: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рекламного рынка в РФ 2027 г.</a:t>
            </a:r>
            <a:endParaRPr lang="ru-RU" sz="1200"/>
          </a:p>
        </p:txBody>
      </p:sp>
      <p:sp>
        <p:nvSpPr>
          <p:cNvPr id="1006" name="ADS 1006"/>
          <p:cNvSpPr/>
          <p:nvPr/>
        </p:nvSpPr>
        <p:spPr>
          <a:xfrm>
            <a:off x="22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7" name="ADS 1007"/>
          <p:cNvSpPr txBox="1"/>
          <p:nvPr/>
        </p:nvSpPr>
        <p:spPr>
          <a:xfrm>
            <a:off x="23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1,2 трлн руб.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Retail Media 2027 — 42% рынка</a:t>
            </a:r>
            <a:endParaRPr lang="ru-RU" sz="1200"/>
          </a:p>
        </p:txBody>
      </p:sp>
      <p:sp>
        <p:nvSpPr>
          <p:cNvPr id="1008" name="ADS 1008"/>
          <p:cNvSpPr txBox="1"/>
          <p:nvPr/>
        </p:nvSpPr>
        <p:spPr>
          <a:xfrm>
            <a:off x="528300" y="2471225"/>
            <a:ext cx="328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Рост сегментов в 2027 г., YoY</a:t>
            </a:r>
            <a:endParaRPr lang="ru-RU" sz="1200"/>
          </a:p>
        </p:txBody>
      </p:sp>
      <p:sp>
        <p:nvSpPr>
          <p:cNvPr id="1009" name="ADS 1009"/>
          <p:cNvSpPr txBox="1"/>
          <p:nvPr/>
        </p:nvSpPr>
        <p:spPr>
          <a:xfrm>
            <a:off x="528300" y="275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Arial"/>
                <a:cs typeface="Arial"/>
              </a:rPr>
              <a:t>Retail Media</a:t>
            </a:r>
            <a:endParaRPr lang="en-US" sz="1200"/>
          </a:p>
        </p:txBody>
      </p:sp>
      <p:sp>
        <p:nvSpPr>
          <p:cNvPr id="1010" name="ADS 1010"/>
          <p:cNvSpPr/>
          <p:nvPr/>
        </p:nvSpPr>
        <p:spPr>
          <a:xfrm>
            <a:off x="1778300" y="2791225"/>
            <a:ext cx="1117600" cy="18000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1" name="ADS 1011"/>
          <p:cNvSpPr txBox="1"/>
          <p:nvPr/>
        </p:nvSpPr>
        <p:spPr>
          <a:xfrm>
            <a:off x="2959100" y="275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+35%</a:t>
            </a:r>
            <a:endParaRPr lang="ru-RU" sz="1200"/>
          </a:p>
        </p:txBody>
      </p:sp>
      <p:sp>
        <p:nvSpPr>
          <p:cNvPr id="1012" name="ADS 1012"/>
          <p:cNvSpPr txBox="1"/>
          <p:nvPr/>
        </p:nvSpPr>
        <p:spPr>
          <a:xfrm>
            <a:off x="528300" y="308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000000"/>
                </a:solidFill>
                <a:latin typeface="Arial"/>
                <a:cs typeface="Arial"/>
              </a:rPr>
              <a:t>Influence</a:t>
            </a:r>
            <a:endParaRPr lang="en-US" sz="1200"/>
          </a:p>
        </p:txBody>
      </p:sp>
      <p:sp>
        <p:nvSpPr>
          <p:cNvPr id="1013" name="ADS 1013"/>
          <p:cNvSpPr/>
          <p:nvPr/>
        </p:nvSpPr>
        <p:spPr>
          <a:xfrm>
            <a:off x="1778299" y="3121225"/>
            <a:ext cx="955069" cy="180000"/>
          </a:xfrm>
          <a:prstGeom prst="rect">
            <a:avLst/>
          </a:prstGeom>
          <a:solidFill>
            <a:srgbClr val="FEA29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4" name="ADS 1014"/>
          <p:cNvSpPr txBox="1"/>
          <p:nvPr/>
        </p:nvSpPr>
        <p:spPr>
          <a:xfrm>
            <a:off x="2800100" y="308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+30%</a:t>
            </a:r>
            <a:r>
              <a:rPr lang="ru-RU" sz="1000" b="1" baseline="3000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/>
          </a:p>
        </p:txBody>
      </p:sp>
      <p:sp>
        <p:nvSpPr>
          <p:cNvPr id="1015" name="ADS 1015"/>
          <p:cNvSpPr txBox="1"/>
          <p:nvPr/>
        </p:nvSpPr>
        <p:spPr>
          <a:xfrm>
            <a:off x="528300" y="341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000000"/>
                </a:solidFill>
                <a:latin typeface="Arial"/>
                <a:cs typeface="Arial"/>
              </a:rPr>
              <a:t>Traditional digital</a:t>
            </a:r>
            <a:endParaRPr lang="en-US" sz="1200"/>
          </a:p>
        </p:txBody>
      </p:sp>
      <p:sp>
        <p:nvSpPr>
          <p:cNvPr id="1016" name="ADS 1016"/>
          <p:cNvSpPr/>
          <p:nvPr/>
        </p:nvSpPr>
        <p:spPr>
          <a:xfrm>
            <a:off x="1778300" y="3451225"/>
            <a:ext cx="453000" cy="18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7" name="ADS 1017"/>
          <p:cNvSpPr txBox="1"/>
          <p:nvPr/>
        </p:nvSpPr>
        <p:spPr>
          <a:xfrm>
            <a:off x="2291300" y="341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+15%</a:t>
            </a:r>
            <a:endParaRPr lang="ru-RU" sz="1200"/>
          </a:p>
        </p:txBody>
      </p:sp>
      <p:sp>
        <p:nvSpPr>
          <p:cNvPr id="1018" name="ADS 1018"/>
          <p:cNvSpPr/>
          <p:nvPr/>
        </p:nvSpPr>
        <p:spPr>
          <a:xfrm>
            <a:off x="528300" y="381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9" name="ADS 1019"/>
          <p:cNvSpPr txBox="1"/>
          <p:nvPr/>
        </p:nvSpPr>
        <p:spPr>
          <a:xfrm>
            <a:off x="528300" y="3901225"/>
            <a:ext cx="32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Рынок традиционного </a:t>
            </a:r>
            <a:r>
              <a:rPr lang="en-US" sz="1100" b="0">
                <a:solidFill>
                  <a:srgbClr val="000000"/>
                </a:solidFill>
                <a:latin typeface="Arial"/>
                <a:cs typeface="Arial"/>
              </a:rPr>
              <a:t>digital</a:t>
            </a: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 растет темпами медиаинфляции (+15% </a:t>
            </a:r>
            <a:r>
              <a:rPr lang="en-US" sz="1100" b="0">
                <a:solidFill>
                  <a:srgbClr val="000000"/>
                </a:solidFill>
                <a:latin typeface="Arial"/>
                <a:cs typeface="Arial"/>
              </a:rPr>
              <a:t>YoY)</a:t>
            </a:r>
            <a:endParaRPr lang="ru-RU" sz="1100" b="0">
              <a:solidFill>
                <a:srgbClr val="000000"/>
              </a:solidFill>
              <a:latin typeface="Arial"/>
              <a:cs typeface="Arial"/>
            </a:endParaRPr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Топ-150 рекламодателей сократили расходы на 11% — бюджеты уходят в каналы с доказуемым эффектом</a:t>
            </a:r>
            <a:r>
              <a:rPr lang="ru-RU" sz="1100" b="0" baseline="3000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/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X5, Яндекс и маркетплейсы фокусируются на Retail Media; маркетплейсы уже заняли 90%+ рынка Retail Media</a:t>
            </a:r>
            <a:endParaRPr lang="ru-RU" sz="1200"/>
          </a:p>
        </p:txBody>
      </p:sp>
      <p:sp>
        <p:nvSpPr>
          <p:cNvPr id="1020" name="ES initiatives card"/>
          <p:cNvSpPr/>
          <p:nvPr/>
        </p:nvSpPr>
        <p:spPr>
          <a:xfrm>
            <a:off x="4218300" y="911225"/>
            <a:ext cx="76054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1" name="ADS 1021"/>
          <p:cNvSpPr txBox="1"/>
          <p:nvPr/>
        </p:nvSpPr>
        <p:spPr>
          <a:xfrm>
            <a:off x="4378300" y="1041225"/>
            <a:ext cx="7285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Ключевые драйверы рекламной выручки Magnit ADS в 2027 г.</a:t>
            </a:r>
            <a:endParaRPr lang="ru-RU" sz="1200"/>
          </a:p>
        </p:txBody>
      </p:sp>
      <p:sp>
        <p:nvSpPr>
          <p:cNvPr id="1022" name="ADS 1022"/>
          <p:cNvSpPr/>
          <p:nvPr/>
        </p:nvSpPr>
        <p:spPr>
          <a:xfrm>
            <a:off x="4378300" y="1381225"/>
            <a:ext cx="72854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3" name="ADS 1023"/>
          <p:cNvSpPr txBox="1"/>
          <p:nvPr/>
        </p:nvSpPr>
        <p:spPr>
          <a:xfrm>
            <a:off x="4378300" y="1451225"/>
            <a:ext cx="20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 типам инвентаря </a:t>
            </a:r>
            <a:endParaRPr lang="ru-RU" sz="1200"/>
          </a:p>
        </p:txBody>
      </p:sp>
      <p:sp>
        <p:nvSpPr>
          <p:cNvPr id="1024" name="ADS 1024"/>
          <p:cNvSpPr/>
          <p:nvPr/>
        </p:nvSpPr>
        <p:spPr>
          <a:xfrm>
            <a:off x="43783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Внутренний</a:t>
            </a:r>
            <a:endParaRPr lang="ru-RU" sz="1200"/>
          </a:p>
        </p:txBody>
      </p:sp>
      <p:sp>
        <p:nvSpPr>
          <p:cNvPr id="1025" name="ADS 1025"/>
          <p:cNvSpPr/>
          <p:nvPr/>
        </p:nvSpPr>
        <p:spPr>
          <a:xfrm>
            <a:off x="43783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6" name="ADS 1026"/>
          <p:cNvSpPr txBox="1"/>
          <p:nvPr/>
        </p:nvSpPr>
        <p:spPr>
          <a:xfrm>
            <a:off x="44583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Медиа</a:t>
            </a:r>
            <a:endParaRPr lang="ru-RU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4 864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+22%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Наибольший объем, маржа 100%</a:t>
            </a:r>
            <a:endParaRPr lang="ru-RU" sz="1200"/>
          </a:p>
        </p:txBody>
      </p:sp>
      <p:sp>
        <p:nvSpPr>
          <p:cNvPr id="1027" name="ADS 1027"/>
          <p:cNvSpPr/>
          <p:nvPr/>
        </p:nvSpPr>
        <p:spPr>
          <a:xfrm>
            <a:off x="55892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8" name="ADS 1028"/>
          <p:cNvSpPr txBox="1"/>
          <p:nvPr/>
        </p:nvSpPr>
        <p:spPr>
          <a:xfrm>
            <a:off x="56692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Перформанс</a:t>
            </a:r>
            <a:endParaRPr lang="ru-RU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2 832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+29%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Ключевая ставка 2027: аукцион в поиске и рекомендациях</a:t>
            </a:r>
            <a:endParaRPr lang="ru-RU" sz="1200"/>
          </a:p>
        </p:txBody>
      </p:sp>
      <p:sp>
        <p:nvSpPr>
          <p:cNvPr id="1029" name="ADS 1029"/>
          <p:cNvSpPr/>
          <p:nvPr/>
        </p:nvSpPr>
        <p:spPr>
          <a:xfrm>
            <a:off x="68001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0" name="ADS 1030"/>
          <p:cNvSpPr txBox="1"/>
          <p:nvPr/>
        </p:nvSpPr>
        <p:spPr>
          <a:xfrm>
            <a:off x="68801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In-store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4 019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Масштабируем самый перспективный инвентарь</a:t>
            </a:r>
            <a:endParaRPr lang="ru-RU" sz="1200"/>
          </a:p>
        </p:txBody>
      </p:sp>
      <p:sp>
        <p:nvSpPr>
          <p:cNvPr id="1031" name="ADS 1031"/>
          <p:cNvSpPr/>
          <p:nvPr/>
        </p:nvSpPr>
        <p:spPr>
          <a:xfrm>
            <a:off x="81210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Внешний</a:t>
            </a:r>
            <a:endParaRPr lang="ru-RU" sz="1200"/>
          </a:p>
        </p:txBody>
      </p:sp>
      <p:sp>
        <p:nvSpPr>
          <p:cNvPr id="1032" name="ADS 1032"/>
          <p:cNvSpPr/>
          <p:nvPr/>
        </p:nvSpPr>
        <p:spPr>
          <a:xfrm>
            <a:off x="93319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3" name="ADS 1033"/>
          <p:cNvSpPr txBox="1"/>
          <p:nvPr/>
        </p:nvSpPr>
        <p:spPr>
          <a:xfrm>
            <a:off x="94119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RMN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850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+43%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Бренд-бюджеты через внешнее ЮЛ с Дикси и Азбукой Вкуса</a:t>
            </a:r>
            <a:endParaRPr lang="ru-RU" sz="1200"/>
          </a:p>
        </p:txBody>
      </p:sp>
      <p:sp>
        <p:nvSpPr>
          <p:cNvPr id="1034" name="ADS 1034"/>
          <p:cNvSpPr/>
          <p:nvPr/>
        </p:nvSpPr>
        <p:spPr>
          <a:xfrm>
            <a:off x="105428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5" name="ADS 1035"/>
          <p:cNvSpPr txBox="1"/>
          <p:nvPr/>
        </p:nvSpPr>
        <p:spPr>
          <a:xfrm>
            <a:off x="106228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CF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213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новое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Content factory: social commerce и контент-завод</a:t>
            </a:r>
            <a:endParaRPr lang="ru-RU" sz="1200"/>
          </a:p>
        </p:txBody>
      </p:sp>
      <p:sp>
        <p:nvSpPr>
          <p:cNvPr id="1036" name="ADS 1036"/>
          <p:cNvSpPr/>
          <p:nvPr/>
        </p:nvSpPr>
        <p:spPr>
          <a:xfrm>
            <a:off x="81210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7" name="ADS 1037"/>
          <p:cNvSpPr txBox="1"/>
          <p:nvPr/>
        </p:nvSpPr>
        <p:spPr>
          <a:xfrm>
            <a:off x="82010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DMP + Online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1 787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Данные Магнита </a:t>
            </a:r>
            <a:b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на внешних площадках</a:t>
            </a:r>
            <a:endParaRPr lang="ru-RU" sz="1200"/>
          </a:p>
        </p:txBody>
      </p:sp>
      <p:sp>
        <p:nvSpPr>
          <p:cNvPr id="1038" name="ADS 1038"/>
          <p:cNvSpPr txBox="1"/>
          <p:nvPr/>
        </p:nvSpPr>
        <p:spPr>
          <a:xfrm>
            <a:off x="4378300" y="4155825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 типам бюджета</a:t>
            </a:r>
            <a:endParaRPr lang="ru-RU" sz="1200"/>
          </a:p>
        </p:txBody>
      </p:sp>
      <p:sp>
        <p:nvSpPr>
          <p:cNvPr id="1040" name="ADS 1040"/>
          <p:cNvSpPr/>
          <p:nvPr/>
        </p:nvSpPr>
        <p:spPr>
          <a:xfrm>
            <a:off x="4378300" y="4441225"/>
            <a:ext cx="48636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1" name="ADS 1041"/>
          <p:cNvSpPr txBox="1"/>
          <p:nvPr/>
        </p:nvSpPr>
        <p:spPr>
          <a:xfrm>
            <a:off x="4498300" y="4531225"/>
            <a:ext cx="4635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13 502 млн руб. 2027</a:t>
            </a:r>
            <a:endParaRPr lang="ru-RU" sz="120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Продаем через Коммерцию форматов; AdTech — сервисная функция: создает инвентарь, повышает его результативность, ведет кампании и отчетность</a:t>
            </a:r>
            <a:endParaRPr lang="ru-RU" sz="1200"/>
          </a:p>
        </p:txBody>
      </p:sp>
      <p:sp>
        <p:nvSpPr>
          <p:cNvPr id="1043" name="ADS 1043"/>
          <p:cNvSpPr/>
          <p:nvPr/>
        </p:nvSpPr>
        <p:spPr>
          <a:xfrm>
            <a:off x="9331900" y="4441225"/>
            <a:ext cx="23318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4" name="ADS 1044"/>
          <p:cNvSpPr txBox="1"/>
          <p:nvPr/>
        </p:nvSpPr>
        <p:spPr>
          <a:xfrm>
            <a:off x="9446200" y="4531225"/>
            <a:ext cx="21032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1 064 млн руб. 2027</a:t>
            </a:r>
            <a:endParaRPr lang="ru-RU" sz="120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Через внешнее ЮЛ Магнит Маркета: охваты как альтернатива ТВ, OOH и digital</a:t>
            </a:r>
            <a:endParaRPr lang="ru-RU" sz="1200"/>
          </a:p>
        </p:txBody>
      </p:sp>
      <p:sp>
        <p:nvSpPr>
          <p:cNvPr id="5" name="Открывающая фигурная скобка 4">
            <a:extLst>
              <a:ext uri="{FF2B5EF4-FFF2-40B4-BE49-F238E27FC236}">
                <a16:creationId xmlns:a16="http://schemas.microsoft.com/office/drawing/2014/main" id="{58000670-BDE9-3BE9-B0FB-3C9E24723090}"/>
              </a:ext>
            </a:extLst>
          </p:cNvPr>
          <p:cNvSpPr/>
          <p:nvPr/>
        </p:nvSpPr>
        <p:spPr>
          <a:xfrm rot="16200000">
            <a:off x="6685101" y="1675161"/>
            <a:ext cx="249999" cy="48636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ткрывающая фигурная скобка 7">
            <a:extLst>
              <a:ext uri="{FF2B5EF4-FFF2-40B4-BE49-F238E27FC236}">
                <a16:creationId xmlns:a16="http://schemas.microsoft.com/office/drawing/2014/main" id="{74A3962A-9E63-C9E3-9261-3F329B6E46B6}"/>
              </a:ext>
            </a:extLst>
          </p:cNvPr>
          <p:cNvSpPr/>
          <p:nvPr/>
        </p:nvSpPr>
        <p:spPr>
          <a:xfrm rot="16200000">
            <a:off x="10372801" y="2941061"/>
            <a:ext cx="249999" cy="23318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717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E97DD0-DD89-B103-A00E-EEABC3FD28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E — прогноз. Доля AdTech = выручка AdTech / объём Retail Media. Источник: Ads Market Calc (внутренняя оценка рынка Magnit ADS), отчётность X5, Data Insight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0AF99F-E03A-625D-D459-F6FC0D9D8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962FE-4B9D-C536-072E-BEB6A9B93F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Retail Media в 2027 г. вырастет на 35%, до 1,2 трлн руб.;</a:t>
            </a:r>
            <a:br>
              <a:rPr lang="ru-RU" dirty="0"/>
            </a:br>
            <a:r>
              <a:rPr lang="ru-RU"/>
              <a:t>AdTech растёт быстрее рынка — на 41%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079500"/>
          <a:ext cx="5969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0" name="Shape 200"/>
          <p:cNvSpPr txBox="1"/>
          <p:nvPr/>
        </p:nvSpPr>
        <p:spPr>
          <a:xfrm>
            <a:off x="368300" y="10033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r>
              <a:rPr lang="ru-RU" sz="1600" b="1">
                <a:solidFill>
                  <a:srgbClr val="000000"/>
                </a:solidFill>
              </a:rPr>
              <a:t>Объём рынка Retail Media в России, млрд руб.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6604000" y="1016000"/>
            <a:ext cx="5219700" cy="5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Рынок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Рекламный рынок РФ: </a:t>
            </a:r>
            <a:r>
              <a:rPr lang="ru-RU" sz="1400" b="1">
                <a:solidFill>
                  <a:srgbClr val="000000"/>
                </a:solidFill>
              </a:rPr>
              <a:t>2,9 трлн руб.</a:t>
            </a:r>
            <a:r>
              <a:rPr lang="ru-RU" sz="1400">
                <a:solidFill>
                  <a:srgbClr val="000000"/>
                </a:solidFill>
              </a:rPr>
              <a:t> в 2027 г. (+22%)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Retail Media растёт вдвое быстрее traditional digital </a:t>
            </a:r>
            <a:r>
              <a:rPr lang="ru-RU" sz="1400">
                <a:solidFill>
                  <a:srgbClr val="000000"/>
                </a:solidFill>
              </a:rPr>
              <a:t>(+35% против +15%) и перераспределяет бюджеты в свою пользу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Более 90% Retail Media приходится на маркетплейсы; </a:t>
            </a:r>
            <a:r>
              <a:rPr lang="ru-RU" sz="1400">
                <a:solidFill>
                  <a:srgbClr val="000000"/>
                </a:solidFill>
              </a:rPr>
              <a:t>офлайн-ритейл (X5, Яндекс) усиливает фокус на сегменте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Позиция Magnit AdTech в 2027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</a:t>
            </a:r>
            <a:r>
              <a:rPr lang="ru-RU" sz="1400" b="1">
                <a:solidFill>
                  <a:srgbClr val="000000"/>
                </a:solidFill>
              </a:rPr>
              <a:t>14,6 млрд руб.</a:t>
            </a:r>
            <a:r>
              <a:rPr lang="ru-RU" sz="1400">
                <a:solidFill>
                  <a:srgbClr val="000000"/>
                </a:solidFill>
              </a:rPr>
              <a:t> (+41%) — около 1,2% Retail Media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Доля во всём рекламном рынке: </a:t>
            </a:r>
            <a:r>
              <a:rPr lang="ru-RU" sz="1400" b="1">
                <a:solidFill>
                  <a:srgbClr val="000000"/>
                </a:solidFill>
              </a:rPr>
              <a:t>0,5%</a:t>
            </a:r>
            <a:r>
              <a:rPr lang="ru-RU" sz="1400">
                <a:solidFill>
                  <a:srgbClr val="000000"/>
                </a:solidFill>
              </a:rPr>
              <a:t> (0,4% в 2026 г.)</a:t>
            </a:r>
          </a:p>
        </p:txBody>
      </p:sp>
      <p:grpSp>
        <p:nvGrpSpPr>
          <p:cNvPr id="202" name="GrowthArrow f5 0"/>
          <p:cNvGrpSpPr/>
          <p:nvPr/>
        </p:nvGrpSpPr>
        <p:grpSpPr>
          <a:xfrm>
            <a:off x="1522720" y="2790994"/>
            <a:ext cx="1750080" cy="1041911"/>
            <a:chOff x="1522720" y="2790994"/>
            <a:chExt cx="1750080" cy="1041911"/>
          </a:xfrm>
        </p:grpSpPr>
        <p:cxnSp>
          <p:nvCxnSpPr>
            <p:cNvPr id="203" name="GrowthArrow f5 0 rise"/>
            <p:cNvCxnSpPr/>
            <p:nvPr/>
          </p:nvCxnSpPr>
          <p:spPr>
            <a:xfrm flipV="1">
              <a:off x="1522720" y="2915994"/>
              <a:ext cx="1" cy="91691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4" name="GrowthArrow f5 0 line"/>
            <p:cNvCxnSpPr/>
            <p:nvPr/>
          </p:nvCxnSpPr>
          <p:spPr>
            <a:xfrm>
              <a:off x="1522720" y="2915994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5" name="GrowthArrow f5 0 drop"/>
            <p:cNvCxnSpPr/>
            <p:nvPr/>
          </p:nvCxnSpPr>
          <p:spPr>
            <a:xfrm>
              <a:off x="3272800" y="2915994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06" name="GrowthArrow f5 0 label"/>
            <p:cNvSpPr txBox="1"/>
            <p:nvPr/>
          </p:nvSpPr>
          <p:spPr>
            <a:xfrm>
              <a:off x="2104560" y="2790994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ru-RU" sz="1600" b="1">
                  <a:solidFill>
                    <a:srgbClr val="000000"/>
                  </a:solidFill>
                  <a:latin typeface="Arial"/>
                </a:rPr>
                <a:t>+53%</a:t>
              </a:r>
            </a:p>
          </p:txBody>
        </p:sp>
      </p:grpSp>
      <p:grpSp>
        <p:nvGrpSpPr>
          <p:cNvPr id="207" name="GrowthArrow f5 1"/>
          <p:cNvGrpSpPr/>
          <p:nvPr/>
        </p:nvGrpSpPr>
        <p:grpSpPr>
          <a:xfrm>
            <a:off x="3432800" y="2074460"/>
            <a:ext cx="1750080" cy="1046534"/>
            <a:chOff x="3432800" y="2074460"/>
            <a:chExt cx="1750080" cy="1046534"/>
          </a:xfrm>
        </p:grpSpPr>
        <p:cxnSp>
          <p:nvCxnSpPr>
            <p:cNvPr id="208" name="GrowthArrow f5 1 rise"/>
            <p:cNvCxnSpPr/>
            <p:nvPr/>
          </p:nvCxnSpPr>
          <p:spPr>
            <a:xfrm flipV="1">
              <a:off x="3432800" y="2199460"/>
              <a:ext cx="1" cy="921534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9" name="GrowthArrow f5 1 line"/>
            <p:cNvCxnSpPr/>
            <p:nvPr/>
          </p:nvCxnSpPr>
          <p:spPr>
            <a:xfrm>
              <a:off x="3432800" y="2199460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10" name="GrowthArrow f5 1 drop"/>
            <p:cNvCxnSpPr/>
            <p:nvPr/>
          </p:nvCxnSpPr>
          <p:spPr>
            <a:xfrm>
              <a:off x="5182880" y="2199460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11" name="GrowthArrow f5 1 label"/>
            <p:cNvSpPr txBox="1"/>
            <p:nvPr/>
          </p:nvSpPr>
          <p:spPr>
            <a:xfrm>
              <a:off x="4014640" y="2074460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ru-RU" sz="1600" b="1">
                  <a:solidFill>
                    <a:srgbClr val="000000"/>
                  </a:solidFill>
                  <a:latin typeface="Arial"/>
                </a:rPr>
                <a:t>+35%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8436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think-cell data - do not delete" hidden="1">
            <a:extLst>
              <a:ext uri="{FF2B5EF4-FFF2-40B4-BE49-F238E27FC236}">
                <a16:creationId xmlns:a16="http://schemas.microsoft.com/office/drawing/2014/main" id="{4910A7A2-3A49-6B6B-FA02-CFB97075C82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7772400" imgH="10058400" progId="TCLayout.ActiveDocument.1">
                  <p:embed/>
                </p:oleObj>
              </mc:Choice>
              <mc:Fallback>
                <p:oleObj name="think-cell Slide" r:id="rId42" imgW="7772400" imgH="10058400" progId="TCLayout.ActiveDocument.1">
                  <p:embed/>
                  <p:pic>
                    <p:nvPicPr>
                      <p:cNvPr id="8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10A7A2-3A49-6B6B-FA02-CFB97075C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1. Доля в коммерческом инвентаре</a:t>
            </a:r>
            <a:r>
              <a:rPr lang="en-US">
                <a:solidFill>
                  <a:srgbClr val="6E6E6E"/>
                </a:solidFill>
              </a:rPr>
              <a:t> AdTech </a:t>
            </a:r>
            <a:r>
              <a:rPr lang="ru-RU">
                <a:solidFill>
                  <a:srgbClr val="6E6E6E"/>
                </a:solidFill>
              </a:rPr>
              <a:t>с учетом эффекта платформы. 2026-2027 гг. — бюджет рекламной выручки трейд-бюджетов</a:t>
            </a:r>
            <a:r>
              <a:rPr lang="en-US">
                <a:solidFill>
                  <a:srgbClr val="6E6E6E"/>
                </a:solidFill>
              </a:rPr>
              <a:t> (APP </a:t>
            </a:r>
            <a:r>
              <a:rPr lang="ru-RU">
                <a:solidFill>
                  <a:srgbClr val="6E6E6E"/>
                </a:solidFill>
              </a:rPr>
              <a:t>и</a:t>
            </a:r>
            <a:r>
              <a:rPr lang="en-US">
                <a:solidFill>
                  <a:srgbClr val="6E6E6E"/>
                </a:solidFill>
              </a:rPr>
              <a:t> in-store), 2028-2030 </a:t>
            </a:r>
            <a:r>
              <a:rPr lang="ru-RU">
                <a:solidFill>
                  <a:srgbClr val="6E6E6E"/>
                </a:solidFill>
              </a:rPr>
              <a:t>гг. — модель; без</a:t>
            </a:r>
            <a:r>
              <a:rPr lang="en-US">
                <a:solidFill>
                  <a:srgbClr val="6E6E6E"/>
                </a:solidFill>
              </a:rPr>
              <a:t> RMN, UGC </a:t>
            </a:r>
            <a:r>
              <a:rPr lang="ru-RU">
                <a:solidFill>
                  <a:srgbClr val="6E6E6E"/>
                </a:solidFill>
              </a:rPr>
              <a:t>и</a:t>
            </a:r>
            <a:r>
              <a:rPr lang="en-US">
                <a:solidFill>
                  <a:srgbClr val="6E6E6E"/>
                </a:solidFill>
              </a:rPr>
              <a:t> DMP + Online. </a:t>
            </a:r>
            <a:r>
              <a:rPr lang="ru-RU">
                <a:solidFill>
                  <a:srgbClr val="6E6E6E"/>
                </a:solidFill>
              </a:rPr>
              <a:t>Капасити — денежная емкость инвентаря: коммерческая часть</a:t>
            </a:r>
            <a:r>
              <a:rPr lang="en-US">
                <a:solidFill>
                  <a:srgbClr val="6E6E6E"/>
                </a:solidFill>
              </a:rPr>
              <a:t> AdTech + </a:t>
            </a:r>
            <a:r>
              <a:rPr lang="ru-RU">
                <a:solidFill>
                  <a:srgbClr val="6E6E6E"/>
                </a:solidFill>
              </a:rPr>
              <a:t>квота 50% внутренних заказчиков.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Капасити инвентаря вырастет в 3,5 раза до ~61 млрд руб. к 2030 г. </a:t>
            </a:r>
            <a:br>
              <a:rPr lang="en-US" dirty="0"/>
            </a:br>
            <a:r>
              <a:rPr lang="ru-RU"/>
              <a:t>на росте</a:t>
            </a:r>
            <a:r>
              <a:rPr lang="en-US"/>
              <a:t> online GMV, DAC </a:t>
            </a:r>
            <a:r>
              <a:rPr lang="ru-RU"/>
              <a:t>и эффективности платформы</a:t>
            </a:r>
          </a:p>
        </p:txBody>
      </p:sp>
      <p:sp>
        <p:nvSpPr>
          <p:cNvPr id="5" name="ADS bar 5"/>
          <p:cNvSpPr/>
          <p:nvPr/>
        </p:nvSpPr>
        <p:spPr>
          <a:xfrm>
            <a:off x="365760" y="1005840"/>
            <a:ext cx="8138160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Капасити рекламного инвентаря Магнита, млрд руб.</a:t>
            </a:r>
          </a:p>
        </p:txBody>
      </p:sp>
      <p:sp>
        <p:nvSpPr>
          <p:cNvPr id="6" name="ADS bar 6"/>
          <p:cNvSpPr/>
          <p:nvPr/>
        </p:nvSpPr>
        <p:spPr>
          <a:xfrm>
            <a:off x="8677656" y="1005840"/>
            <a:ext cx="3145536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Комментарии</a:t>
            </a:r>
          </a:p>
        </p:txBody>
      </p:sp>
      <p:sp>
        <p:nvSpPr>
          <p:cNvPr id="10" name="ADS label 10"/>
          <p:cNvSpPr txBox="1"/>
          <p:nvPr/>
        </p:nvSpPr>
        <p:spPr>
          <a:xfrm>
            <a:off x="1955352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2026</a:t>
            </a:r>
            <a:endParaRPr lang="ru-RU" sz="1200"/>
          </a:p>
        </p:txBody>
      </p:sp>
      <p:sp>
        <p:nvSpPr>
          <p:cNvPr id="11" name="ADS label 11"/>
          <p:cNvSpPr txBox="1"/>
          <p:nvPr/>
        </p:nvSpPr>
        <p:spPr>
          <a:xfrm>
            <a:off x="1955352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бюджет</a:t>
            </a:r>
            <a:endParaRPr lang="ru-RU" sz="1200"/>
          </a:p>
        </p:txBody>
      </p:sp>
      <p:sp>
        <p:nvSpPr>
          <p:cNvPr id="15" name="ADS label 15"/>
          <p:cNvSpPr txBox="1"/>
          <p:nvPr/>
        </p:nvSpPr>
        <p:spPr>
          <a:xfrm>
            <a:off x="3263676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2027</a:t>
            </a:r>
            <a:endParaRPr lang="ru-RU" sz="1200"/>
          </a:p>
        </p:txBody>
      </p:sp>
      <p:sp>
        <p:nvSpPr>
          <p:cNvPr id="16" name="ADS label 16"/>
          <p:cNvSpPr txBox="1"/>
          <p:nvPr/>
        </p:nvSpPr>
        <p:spPr>
          <a:xfrm>
            <a:off x="3263676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572000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2028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4572000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5880323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2029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5880323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34" name="ADS label 34"/>
          <p:cNvSpPr txBox="1"/>
          <p:nvPr/>
        </p:nvSpPr>
        <p:spPr>
          <a:xfrm>
            <a:off x="7188647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2030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7188647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47" name="ADS line 47"/>
          <p:cNvSpPr/>
          <p:nvPr/>
        </p:nvSpPr>
        <p:spPr>
          <a:xfrm>
            <a:off x="365760" y="4992166"/>
            <a:ext cx="813816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8" name="ADS label 48"/>
          <p:cNvSpPr txBox="1"/>
          <p:nvPr/>
        </p:nvSpPr>
        <p:spPr>
          <a:xfrm>
            <a:off x="365760" y="504703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Online GMV, млрд руб.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1955352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250</a:t>
            </a:r>
            <a:endParaRPr lang="ru-RU" sz="1200"/>
          </a:p>
        </p:txBody>
      </p:sp>
      <p:sp>
        <p:nvSpPr>
          <p:cNvPr id="50" name="ADS label 50"/>
          <p:cNvSpPr txBox="1"/>
          <p:nvPr/>
        </p:nvSpPr>
        <p:spPr>
          <a:xfrm>
            <a:off x="3263676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354</a:t>
            </a:r>
            <a:endParaRPr lang="ru-RU" sz="1200"/>
          </a:p>
        </p:txBody>
      </p:sp>
      <p:sp>
        <p:nvSpPr>
          <p:cNvPr id="51" name="ADS label 51"/>
          <p:cNvSpPr txBox="1"/>
          <p:nvPr/>
        </p:nvSpPr>
        <p:spPr>
          <a:xfrm>
            <a:off x="4572000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500</a:t>
            </a:r>
            <a:endParaRPr lang="ru-RU" sz="1200"/>
          </a:p>
        </p:txBody>
      </p:sp>
      <p:sp>
        <p:nvSpPr>
          <p:cNvPr id="52" name="ADS label 52"/>
          <p:cNvSpPr txBox="1"/>
          <p:nvPr/>
        </p:nvSpPr>
        <p:spPr>
          <a:xfrm>
            <a:off x="5880323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707</a:t>
            </a:r>
            <a:endParaRPr lang="ru-RU" sz="1200"/>
          </a:p>
        </p:txBody>
      </p:sp>
      <p:sp>
        <p:nvSpPr>
          <p:cNvPr id="53" name="ADS label 53"/>
          <p:cNvSpPr txBox="1"/>
          <p:nvPr/>
        </p:nvSpPr>
        <p:spPr>
          <a:xfrm>
            <a:off x="7188647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1 000</a:t>
            </a:r>
            <a:endParaRPr lang="ru-RU" sz="1200"/>
          </a:p>
        </p:txBody>
      </p:sp>
      <p:sp>
        <p:nvSpPr>
          <p:cNvPr id="54" name="ADS label 54"/>
          <p:cNvSpPr txBox="1"/>
          <p:nvPr/>
        </p:nvSpPr>
        <p:spPr>
          <a:xfrm>
            <a:off x="365760" y="526648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DAC, млн</a:t>
            </a:r>
            <a:endParaRPr lang="ru-RU" sz="1200"/>
          </a:p>
        </p:txBody>
      </p:sp>
      <p:sp>
        <p:nvSpPr>
          <p:cNvPr id="55" name="ADS label 55"/>
          <p:cNvSpPr txBox="1"/>
          <p:nvPr/>
        </p:nvSpPr>
        <p:spPr>
          <a:xfrm>
            <a:off x="1955352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25</a:t>
            </a:r>
            <a:endParaRPr lang="ru-RU" sz="1200"/>
          </a:p>
        </p:txBody>
      </p:sp>
      <p:sp>
        <p:nvSpPr>
          <p:cNvPr id="56" name="ADS label 56"/>
          <p:cNvSpPr txBox="1"/>
          <p:nvPr/>
        </p:nvSpPr>
        <p:spPr>
          <a:xfrm>
            <a:off x="3263676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30</a:t>
            </a:r>
            <a:endParaRPr lang="ru-RU" sz="1200"/>
          </a:p>
        </p:txBody>
      </p:sp>
      <p:sp>
        <p:nvSpPr>
          <p:cNvPr id="57" name="ADS label 57"/>
          <p:cNvSpPr txBox="1"/>
          <p:nvPr/>
        </p:nvSpPr>
        <p:spPr>
          <a:xfrm>
            <a:off x="4572000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36</a:t>
            </a:r>
            <a:endParaRPr lang="ru-RU" sz="1200"/>
          </a:p>
        </p:txBody>
      </p:sp>
      <p:sp>
        <p:nvSpPr>
          <p:cNvPr id="58" name="ADS label 58"/>
          <p:cNvSpPr txBox="1"/>
          <p:nvPr/>
        </p:nvSpPr>
        <p:spPr>
          <a:xfrm>
            <a:off x="5880323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42</a:t>
            </a:r>
            <a:endParaRPr lang="ru-RU" sz="1200"/>
          </a:p>
        </p:txBody>
      </p:sp>
      <p:sp>
        <p:nvSpPr>
          <p:cNvPr id="59" name="ADS label 59"/>
          <p:cNvSpPr txBox="1"/>
          <p:nvPr/>
        </p:nvSpPr>
        <p:spPr>
          <a:xfrm>
            <a:off x="7188647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50</a:t>
            </a:r>
            <a:endParaRPr lang="ru-RU" sz="1200"/>
          </a:p>
        </p:txBody>
      </p:sp>
      <p:sp>
        <p:nvSpPr>
          <p:cNvPr id="60" name="ADS label 60"/>
          <p:cNvSpPr txBox="1"/>
          <p:nvPr/>
        </p:nvSpPr>
        <p:spPr>
          <a:xfrm>
            <a:off x="365760" y="548594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Индекс эффективности</a:t>
            </a:r>
            <a:endParaRPr lang="ru-RU" sz="1200"/>
          </a:p>
        </p:txBody>
      </p:sp>
      <p:sp>
        <p:nvSpPr>
          <p:cNvPr id="61" name="ADS label 61"/>
          <p:cNvSpPr txBox="1"/>
          <p:nvPr/>
        </p:nvSpPr>
        <p:spPr>
          <a:xfrm>
            <a:off x="1955352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/>
          </a:p>
        </p:txBody>
      </p:sp>
      <p:sp>
        <p:nvSpPr>
          <p:cNvPr id="62" name="ADS label 62"/>
          <p:cNvSpPr txBox="1"/>
          <p:nvPr/>
        </p:nvSpPr>
        <p:spPr>
          <a:xfrm>
            <a:off x="3263676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/>
          </a:p>
        </p:txBody>
      </p:sp>
      <p:sp>
        <p:nvSpPr>
          <p:cNvPr id="63" name="ADS label 63"/>
          <p:cNvSpPr txBox="1"/>
          <p:nvPr/>
        </p:nvSpPr>
        <p:spPr>
          <a:xfrm>
            <a:off x="4572000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1,15</a:t>
            </a:r>
            <a:endParaRPr lang="ru-RU" sz="1200"/>
          </a:p>
        </p:txBody>
      </p:sp>
      <p:sp>
        <p:nvSpPr>
          <p:cNvPr id="64" name="ADS label 64"/>
          <p:cNvSpPr txBox="1"/>
          <p:nvPr/>
        </p:nvSpPr>
        <p:spPr>
          <a:xfrm>
            <a:off x="5880323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1,32</a:t>
            </a:r>
            <a:endParaRPr lang="ru-RU" sz="1200"/>
          </a:p>
        </p:txBody>
      </p:sp>
      <p:sp>
        <p:nvSpPr>
          <p:cNvPr id="65" name="ADS label 65"/>
          <p:cNvSpPr txBox="1"/>
          <p:nvPr/>
        </p:nvSpPr>
        <p:spPr>
          <a:xfrm>
            <a:off x="7188647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1,52</a:t>
            </a:r>
            <a:endParaRPr lang="ru-RU" sz="1200"/>
          </a:p>
        </p:txBody>
      </p:sp>
      <p:sp>
        <p:nvSpPr>
          <p:cNvPr id="66" name="ADS label 66"/>
          <p:cNvSpPr txBox="1"/>
          <p:nvPr/>
        </p:nvSpPr>
        <p:spPr>
          <a:xfrm>
            <a:off x="365760" y="570539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Доля перформанса¹</a:t>
            </a:r>
            <a:endParaRPr lang="ru-RU" sz="1200"/>
          </a:p>
        </p:txBody>
      </p:sp>
      <p:sp>
        <p:nvSpPr>
          <p:cNvPr id="67" name="ADS label 67"/>
          <p:cNvSpPr txBox="1"/>
          <p:nvPr/>
        </p:nvSpPr>
        <p:spPr>
          <a:xfrm>
            <a:off x="1955352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25%</a:t>
            </a:r>
            <a:endParaRPr lang="ru-RU" sz="1200"/>
          </a:p>
        </p:txBody>
      </p:sp>
      <p:sp>
        <p:nvSpPr>
          <p:cNvPr id="68" name="ADS label 68"/>
          <p:cNvSpPr txBox="1"/>
          <p:nvPr/>
        </p:nvSpPr>
        <p:spPr>
          <a:xfrm>
            <a:off x="3263676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24%</a:t>
            </a:r>
            <a:endParaRPr lang="ru-RU" sz="1200"/>
          </a:p>
        </p:txBody>
      </p:sp>
      <p:sp>
        <p:nvSpPr>
          <p:cNvPr id="69" name="ADS label 69"/>
          <p:cNvSpPr txBox="1"/>
          <p:nvPr/>
        </p:nvSpPr>
        <p:spPr>
          <a:xfrm>
            <a:off x="4572000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29%</a:t>
            </a:r>
            <a:endParaRPr lang="ru-RU" sz="1200"/>
          </a:p>
        </p:txBody>
      </p:sp>
      <p:sp>
        <p:nvSpPr>
          <p:cNvPr id="70" name="ADS label 70"/>
          <p:cNvSpPr txBox="1"/>
          <p:nvPr/>
        </p:nvSpPr>
        <p:spPr>
          <a:xfrm>
            <a:off x="5880323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34%</a:t>
            </a:r>
            <a:endParaRPr lang="ru-RU" sz="1200"/>
          </a:p>
        </p:txBody>
      </p:sp>
      <p:sp>
        <p:nvSpPr>
          <p:cNvPr id="71" name="ADS label 71"/>
          <p:cNvSpPr txBox="1"/>
          <p:nvPr/>
        </p:nvSpPr>
        <p:spPr>
          <a:xfrm>
            <a:off x="7188647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40%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8677656" y="1481328"/>
            <a:ext cx="3145536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Капасити x3,5: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с 17,3 до ~61 млрд руб. к 2030 г., половина — квота марком под задачи Магнита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Перформанс — главный драйвер: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online GMV растет с ~250 млрд до 1 трлн руб. (CAGR ~41%), доля перформанса в коммерческом инвентаре — с 25% до 40%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Медиа растет вместе с DAC: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25 млн сейчас, 30 млн в 2027 г. и 50 млн к 2030 г.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+10-20% эффективности в год: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аукцион, пропускная способность трафика, ниже порог входа и весь инвентарь на одной платформе. Диапазон капасити 2030 г. — 53-69 млрд руб.</a:t>
            </a:r>
            <a:endParaRPr lang="ru-RU" sz="1200"/>
          </a:p>
        </p:txBody>
      </p:sp>
      <p:graphicFrame>
        <p:nvGraphicFramePr>
          <p:cNvPr id="233" name="Chart 3">
            <a:extLst>
              <a:ext uri="{FF2B5EF4-FFF2-40B4-BE49-F238E27FC236}">
                <a16:creationId xmlns:a16="http://schemas.microsoft.com/office/drawing/2014/main" id="{9953BAF5-CE52-3E78-AC90-30C36389EA24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752600" y="1684338"/>
          <a:ext cx="6769100" cy="2824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9840F08-B37A-D886-007D-9CDEAF2FD293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6329363" y="284321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FECD2DD-9403-45E2-AC5E-59DFDB47071C}" type="datetime'6'',''''''''''''''''8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B4A8A989-42C2-330C-2E92-14848CC0D2C1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2235200" y="363855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1FA5-0663-4183-9A8B-86FE8D653DC6}" type="datetime'''''''2,''''''''''2'''''''''''''''''''''''''''''''''">
              <a:rPr lang="ru-RU" sz="12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2,2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CADAD01D-766B-AFFF-FAF1-C00AFCE4218D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2366963" y="4154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24419B9-9340-4052-96FD-24DFC35ACB92}" type="datetime'''''''8'',''''''''''''''''''''6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2B09566D-F1E0-F85F-7825-050C7276B42C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3687763" y="339090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44ECA5F-BE1F-4E6F-8376-D85B84C3A409}" type="datetime'''''''''''''''''''''''''''''''''''''2'''',''''''''8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2,8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37670F74-2BF8-8BFE-708B-BC6041AFF717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3687763" y="35575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11B083-6E98-4AA5-8DC4-B69A69E18E2F}" type="datetime'''''''''''''4,9''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A48E7BE2-7B78-5F80-1F31-8D628ABC6AFA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3687763" y="37496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ED98D99-B4A8-4F86-A355-BD9C94FAC476}" type="datetime'''''''''3'',''''''''9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46B54562-FC34-6AB7-54A4-A4D9EBAF11B2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3651250" y="4089400"/>
            <a:ext cx="3286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4D13661-57F0-4247-969D-4A9AE9392AF9}" type="datetime'''''''''''''''1''''1'''''',''''''''6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11,6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A5C0E79D-1D4C-04E0-F2BD-C9F002E5B0C9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5008563" y="30559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72D7F4C-3E81-409A-AAB3-2E8FAA6B6A49}" type="datetime'''''''''''''4,''''''''''''''0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939D6CE9-F3C1-06CC-45AA-816DDE2C07D2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5008563" y="32686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098872D-0232-4FF0-A67E-701FD0E36CD4}" type="datetime'5'''''''''''''''''''''''''''''''''''',''''''''''''8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066815E2-F41B-7AF6-1DF5-9B8BDB3E2739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5141913" y="347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D76CF59-E36E-48A3-BC7E-E33A27E607AF}" type="datetime'''''''''''3'''''''''''''''',''''''9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1AD9CD2D-C49A-C344-3F92-572D39E64ABD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876800" y="3611563"/>
            <a:ext cx="255588" cy="165100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68A904F-5BED-49A9-96AD-4205CDB0B445}" type="datetime'''''''''''''''''2'''''''''''''''''',''''1'''''''''''''''''''''">
              <a:rPr lang="ru-RU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645A5430-8DF3-CB1E-D90B-B152D7313FC7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965700" y="399891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0E44043-646A-4F9E-8362-08CDD1A9C838}" type="datetime'1''''''5'''''''''''''''''''''''''''''''',''8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EE2292E0-47E4-A371-5C86-61C9E79E371B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6329363" y="2570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79F6B63-B563-43CC-A975-B274F374D8CE}" type="datetime'5'''''''''''',''''''''''''''7''''''''''''''''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5,7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D1C5B7A1-AABA-2706-F1AE-819ADC23AF81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2500313" y="3773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6BD03B9-9134-43F5-94FB-0339891A262F}" type="datetime'''4,0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2A37ED83-0562-CFFA-B2A1-33C2D17CD816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6329363" y="3078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BA996C4-BEBC-4E7C-87E4-80002E45CE1F}" type="datetime'''''''''3'''''''''''''''',''''9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D03D5CB3-C4DA-1B86-7FF5-3FF22593DEF7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6329363" y="32797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FB7EF19-8629-43F3-82B9-A2EDD520A0DE}" type="datetime'''''5'''''''''',3''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5,3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05CD601C-DFA1-5989-FB5E-CE7173588610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6286500" y="38687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7D49689-D805-46B0-9B3F-FFA5518CB83C}" type="datetime'''''''''''2''''''''''''''1'''',''''''''''''''''''8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C40FD1C6-4F86-25C6-3E2B-5221DE9556F0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7650163" y="18589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B7F64AC-566C-43CD-90C9-064389E0B80F}" type="datetime'8'''''''''''''''''''''''''''''''''''',''''''''''''''''''0''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A7C422E4-E795-EB25-CCBB-0D7306F793AD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7650163" y="220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7288BFC-4A32-45D8-8A18-4324AFDDAA15}" type="datetime'''''''''''8'''''''''''''''''''''',''''''''1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437F097B-314E-F274-F69B-ACD59A38F81E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7650163" y="24717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4B1A89E-E898-4040-8C86-25CF69E63B62}" type="datetime'''''''''''''''''''''''''''''3'''''''',9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DDA19E67-C52D-5AF6-E6AD-05776E2BC5B3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7607300" y="278606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43B683E-EF24-4C31-BFE6-D6E7D20E5961}" type="datetime'''''''''''''''''1''''''''''0'''''',''''''''''''5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1F079E78-A4F4-E859-6C01-8A51AE7A86CF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7607300" y="36782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F187030-9A14-480E-B677-5D60EE76C806}" type="datetime'''''''''3''''''''''''''''''0'''',''''''''''''5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5D80E6BA-F74B-8DC6-FC93-266F7539FBE0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2324100" y="3473450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B312-B8B3-495B-9DC1-0D51B14D0403}" type="datetime'''''''''''''''''1''''''7'''''''',''3''''''''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17,3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9774F003-A8F7-30E8-DCC7-6FF1DB509686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3644900" y="32210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27C4BF-7C88-4DC0-8E9D-2092A97321F2}" type="datetime'''''''''''''''''23,''''3''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23,3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301CAE5D-539B-179C-04CA-1135E61C498B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4965700" y="28606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5FA89C5-E9E3-4EE8-A435-6B879000AA60}" type="datetime'''''''''''''''3''''''1'''''''''''''',''''''''6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31,6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8AD940B-3D0F-7F61-4D93-C9C70D5AB69C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6286500" y="23399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A3166AA-8725-48B0-A71B-B8A970E4821B}" type="datetime'''''''''''''''''''43'''',''''''''''''5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43,5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7A670A87-C218-1521-EABE-D057C909CE00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607300" y="157638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96B2E34-DDF8-4EF1-9824-19002BE197CA}" type="datetime'''''''''''''''''''6''''''''''''1'',''0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61,0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E2F64644-8C8C-DB30-6532-D46C2E9ADA98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2235200" y="3913188"/>
            <a:ext cx="255588" cy="1651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6DC2988-567E-4ACE-8AD6-8675A76AD7FB}" type="datetime'''''''''''''''''''''2'',''''''''''''''''''''5'''''''''''''''">
              <a:rPr lang="ru-RU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215" name="Прямоугольник 214">
            <a:extLst>
              <a:ext uri="{FF2B5EF4-FFF2-40B4-BE49-F238E27FC236}">
                <a16:creationId xmlns:a16="http://schemas.microsoft.com/office/drawing/2014/main" id="{7E96CAE1-F0CE-8871-B5B4-577F1D73ECB6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425450" y="1549400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6" name="Прямоугольник 215">
            <a:extLst>
              <a:ext uri="{FF2B5EF4-FFF2-40B4-BE49-F238E27FC236}">
                <a16:creationId xmlns:a16="http://schemas.microsoft.com/office/drawing/2014/main" id="{6D6BDB5B-DEFF-3162-9E83-F386AA82E682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425450" y="1782763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7" name="Прямоугольник 216">
            <a:extLst>
              <a:ext uri="{FF2B5EF4-FFF2-40B4-BE49-F238E27FC236}">
                <a16:creationId xmlns:a16="http://schemas.microsoft.com/office/drawing/2014/main" id="{6B5AC6D9-3D69-ED82-FB1B-310FA60335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25450" y="2016125"/>
            <a:ext cx="214313" cy="160338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8" name="Прямоугольник 217">
            <a:extLst>
              <a:ext uri="{FF2B5EF4-FFF2-40B4-BE49-F238E27FC236}">
                <a16:creationId xmlns:a16="http://schemas.microsoft.com/office/drawing/2014/main" id="{C6F6F94E-7BB8-36DD-39EE-3C9FE1BEE39E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425450" y="2249488"/>
            <a:ext cx="214313" cy="160338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Прямоугольник 218">
            <a:extLst>
              <a:ext uri="{FF2B5EF4-FFF2-40B4-BE49-F238E27FC236}">
                <a16:creationId xmlns:a16="http://schemas.microsoft.com/office/drawing/2014/main" id="{4BECD3BA-B8AB-3779-3BD8-63FF494BC0F5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425450" y="2482850"/>
            <a:ext cx="214313" cy="160338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4DDE5D5-F312-EDF3-631B-D357B0D21CB9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90563" y="2478088"/>
            <a:ext cx="27416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C533AACF-591A-4C4E-A8AA-EBBA888ACD06}" type="datetime'Квота'''' в''''н''''утренних зака''зчиков (марко''м'''''''')'">
              <a:rPr lang="ru-RU" sz="1200" smtClean="0">
                <a:solidFill>
                  <a:schemeClr val="tx1"/>
                </a:solidFill>
              </a:rPr>
              <a:pPr/>
              <a:t>Квота внутренних заказчиков (марком)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6DB81C1F-DF1B-AE09-6D06-4B4BF9198BD6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690563" y="2244725"/>
            <a:ext cx="30559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47CE905-D730-492D-A851-454BBABBD888}" type="datetime'Эфф''''ект ''роста эффе''ктивно''сти платфор''м''''ы'''">
              <a:rPr lang="ru-RU" sz="1200" smtClean="0">
                <a:solidFill>
                  <a:schemeClr val="tx1"/>
                </a:solidFill>
              </a:rPr>
              <a:pPr/>
              <a:t>Эффект роста эффективности платформы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A5D9B71-4077-46E6-C9EC-7AF4EF13A08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690563" y="2011363"/>
            <a:ext cx="24606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E6733FF-CC56-401F-9B4E-71ABF7507AEE}" type="datetime'''''In-''store - база ''(''от ''па''рка ''устр''ойств)'''''''">
              <a:rPr lang="ru-RU" sz="1200" smtClean="0">
                <a:solidFill>
                  <a:schemeClr val="tx1"/>
                </a:solidFill>
              </a:rPr>
              <a:pPr/>
              <a:t>In-store - база (от парка устройств)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427C304C-DB1E-0BAC-1700-E5C8D3605D96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690563" y="1778000"/>
            <a:ext cx="1584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1F11B19B-EF2B-4CFF-9F62-C42C81467A52}" type="datetime'М''''''''''ед''''''''и''а'' - ''ба''за ''''(от'' ''D''''AC)'">
              <a:rPr lang="ru-RU" sz="1200" smtClean="0">
                <a:solidFill>
                  <a:schemeClr val="tx1"/>
                </a:solidFill>
              </a:rPr>
              <a:pPr/>
              <a:t>Медиа - база (от DAC)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100D17F-939D-1B39-B1FC-F97AB4BA4575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90563" y="1544638"/>
            <a:ext cx="25098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DCF8F2A-87D5-4B2F-89AD-28D1043E5521}" type="datetime'Пе''''''рформ''а''''''нс ''-'' база (от on''l''''in''e ''GMV)'">
              <a:rPr lang="ru-RU" sz="1200" smtClean="0">
                <a:solidFill>
                  <a:schemeClr val="tx1"/>
                </a:solidFill>
              </a:rPr>
              <a:pPr/>
              <a:t>Перформанс - база (от online GMV)</a:t>
            </a:fld>
            <a:endParaRPr lang="ru-RU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690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Источники</a:t>
            </a:r>
            <a:r>
              <a:rPr lang="en-US">
                <a:solidFill>
                  <a:srgbClr val="6E6E6E"/>
                </a:solidFill>
              </a:rPr>
              <a:t>: Ads Market Calc (</a:t>
            </a:r>
            <a:r>
              <a:rPr lang="ru-RU">
                <a:solidFill>
                  <a:srgbClr val="6E6E6E"/>
                </a:solidFill>
              </a:rPr>
              <a:t>внутренняя оценка рынка</a:t>
            </a:r>
            <a:r>
              <a:rPr lang="en-US">
                <a:solidFill>
                  <a:srgbClr val="6E6E6E"/>
                </a:solidFill>
              </a:rPr>
              <a:t>), WPP Media </a:t>
            </a:r>
            <a:r>
              <a:rPr lang="ru-RU">
                <a:solidFill>
                  <a:srgbClr val="6E6E6E"/>
                </a:solidFill>
              </a:rPr>
              <a:t>через </a:t>
            </a:r>
            <a:r>
              <a:rPr lang="en-US">
                <a:solidFill>
                  <a:srgbClr val="6E6E6E"/>
                </a:solidFill>
              </a:rPr>
              <a:t>Sostav</a:t>
            </a:r>
            <a:r>
              <a:rPr lang="ru-RU">
                <a:solidFill>
                  <a:srgbClr val="6E6E6E"/>
                </a:solidFill>
              </a:rPr>
              <a:t> (2025), Авито Реклама и</a:t>
            </a:r>
            <a:r>
              <a:rPr lang="en-US">
                <a:solidFill>
                  <a:srgbClr val="6E6E6E"/>
                </a:solidFill>
              </a:rPr>
              <a:t> Soloway (</a:t>
            </a:r>
            <a:r>
              <a:rPr lang="ru-RU">
                <a:solidFill>
                  <a:srgbClr val="6E6E6E"/>
                </a:solidFill>
              </a:rPr>
              <a:t>сентябрь 2026), НРА, внутреннее исследование</a:t>
            </a:r>
            <a:r>
              <a:rPr lang="en-US">
                <a:solidFill>
                  <a:srgbClr val="6E6E6E"/>
                </a:solidFill>
              </a:rPr>
              <a:t> Magnit ADS. </a:t>
            </a:r>
            <a:r>
              <a:rPr lang="ru-RU">
                <a:solidFill>
                  <a:srgbClr val="6E6E6E"/>
                </a:solidFill>
              </a:rPr>
              <a:t>Гипотезы — экспертная оценка</a:t>
            </a:r>
            <a:r>
              <a:rPr lang="en-US">
                <a:solidFill>
                  <a:srgbClr val="6E6E6E"/>
                </a:solidFill>
              </a:rPr>
              <a:t> Magnit ADS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FMCG-</a:t>
            </a:r>
            <a:r>
              <a:rPr lang="ru-RU"/>
              <a:t>бюджеты смещаются к транзакции: у места покупки растет роль перформанса, в начале пути — охватных медиа</a:t>
            </a:r>
          </a:p>
        </p:txBody>
      </p:sp>
      <p:sp>
        <p:nvSpPr>
          <p:cNvPr id="5" name="ADS label 5"/>
          <p:cNvSpPr txBox="1"/>
          <p:nvPr/>
        </p:nvSpPr>
        <p:spPr>
          <a:xfrm>
            <a:off x="365760" y="1024128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Путь покупателя и инструменты FMCG-маркетинга</a:t>
            </a:r>
            <a:endParaRPr lang="ru-RU" sz="1200"/>
          </a:p>
        </p:txBody>
      </p:sp>
      <p:sp>
        <p:nvSpPr>
          <p:cNvPr id="6" name="ADS chip 6"/>
          <p:cNvSpPr/>
          <p:nvPr/>
        </p:nvSpPr>
        <p:spPr>
          <a:xfrm>
            <a:off x="36576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" name="ADS chiptxt 7"/>
          <p:cNvSpPr txBox="1"/>
          <p:nvPr/>
        </p:nvSpPr>
        <p:spPr>
          <a:xfrm>
            <a:off x="45720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Знание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ТВ, OOH и DOOH, OLV, инфлюенсеры</a:t>
            </a:r>
            <a:endParaRPr lang="ru-RU" sz="1200"/>
          </a:p>
        </p:txBody>
      </p:sp>
      <p:sp>
        <p:nvSpPr>
          <p:cNvPr id="8" name="ADS chip 8"/>
          <p:cNvSpPr/>
          <p:nvPr/>
        </p:nvSpPr>
        <p:spPr>
          <a:xfrm>
            <a:off x="325755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" name="ADS chiptxt 9"/>
          <p:cNvSpPr txBox="1"/>
          <p:nvPr/>
        </p:nvSpPr>
        <p:spPr>
          <a:xfrm>
            <a:off x="334899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Интерес и рассмотрение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соцсети и UGC, персонализированные медиа в приложении</a:t>
            </a:r>
            <a:endParaRPr lang="ru-RU" sz="1200"/>
          </a:p>
        </p:txBody>
      </p:sp>
      <p:sp>
        <p:nvSpPr>
          <p:cNvPr id="10" name="ADS chip 10"/>
          <p:cNvSpPr/>
          <p:nvPr/>
        </p:nvSpPr>
        <p:spPr>
          <a:xfrm>
            <a:off x="614934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chiptxt 11"/>
          <p:cNvSpPr txBox="1"/>
          <p:nvPr/>
        </p:nvSpPr>
        <p:spPr>
          <a:xfrm>
            <a:off x="624078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Решение о покупке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in-store у полки, ИИ-рекомендации, медиа в приложении ритейлера</a:t>
            </a:r>
            <a:endParaRPr lang="ru-RU" sz="1200"/>
          </a:p>
        </p:txBody>
      </p:sp>
      <p:sp>
        <p:nvSpPr>
          <p:cNvPr id="12" name="ADS chip 12"/>
          <p:cNvSpPr/>
          <p:nvPr/>
        </p:nvSpPr>
        <p:spPr>
          <a:xfrm>
            <a:off x="904113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chiptxt 13"/>
          <p:cNvSpPr txBox="1"/>
          <p:nvPr/>
        </p:nvSpPr>
        <p:spPr>
          <a:xfrm>
            <a:off x="913257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Покупка и повтор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/>
          </a:p>
        </p:txBody>
      </p:sp>
      <p:sp>
        <p:nvSpPr>
          <p:cNvPr id="14" name="Freeform 13"/>
          <p:cNvSpPr/>
          <p:nvPr/>
        </p:nvSpPr>
        <p:spPr>
          <a:xfrm>
            <a:off x="365760" y="2121408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0"/>
                </a:moveTo>
                <a:lnTo>
                  <a:pt x="11457432" y="0"/>
                </a:lnTo>
                <a:lnTo>
                  <a:pt x="11457432" y="73152"/>
                </a:lnTo>
                <a:lnTo>
                  <a:pt x="0" y="4572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Freeform 14"/>
          <p:cNvSpPr/>
          <p:nvPr/>
        </p:nvSpPr>
        <p:spPr>
          <a:xfrm>
            <a:off x="365760" y="2615184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384048"/>
                </a:moveTo>
                <a:lnTo>
                  <a:pt x="11457432" y="0"/>
                </a:lnTo>
                <a:lnTo>
                  <a:pt x="1145743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ADS label 16"/>
          <p:cNvSpPr txBox="1"/>
          <p:nvPr/>
        </p:nvSpPr>
        <p:spPr>
          <a:xfrm>
            <a:off x="457200" y="215798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Охватные медиа: знание и интерес</a:t>
            </a:r>
            <a:endParaRPr lang="ru-RU" sz="1200"/>
          </a:p>
        </p:txBody>
      </p:sp>
      <p:sp>
        <p:nvSpPr>
          <p:cNvPr id="17" name="ADS label 17"/>
          <p:cNvSpPr txBox="1"/>
          <p:nvPr/>
        </p:nvSpPr>
        <p:spPr>
          <a:xfrm>
            <a:off x="6309360" y="2798064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FFFF"/>
                </a:solidFill>
                <a:latin typeface="Arial"/>
                <a:cs typeface="Arial"/>
              </a:rPr>
              <a:t>Перформанс: конверсия у полки и в приложении</a:t>
            </a:r>
            <a:endParaRPr lang="ru-RU" sz="1200"/>
          </a:p>
        </p:txBody>
      </p:sp>
      <p:sp>
        <p:nvSpPr>
          <p:cNvPr id="18" name="ADS chip 18"/>
          <p:cNvSpPr/>
          <p:nvPr/>
        </p:nvSpPr>
        <p:spPr>
          <a:xfrm>
            <a:off x="36576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chiptxt 19"/>
          <p:cNvSpPr txBox="1"/>
          <p:nvPr/>
        </p:nvSpPr>
        <p:spPr>
          <a:xfrm>
            <a:off x="45720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Бренд-бюджеты ~60-80 млрд руб. в год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ТВ, OOH, digital — выходим через RMN и ЮЛ Магнит Маркета</a:t>
            </a:r>
            <a:endParaRPr lang="ru-RU" sz="1200"/>
          </a:p>
        </p:txBody>
      </p:sp>
      <p:sp>
        <p:nvSpPr>
          <p:cNvPr id="20" name="ADS pink 20"/>
          <p:cNvSpPr/>
          <p:nvPr/>
        </p:nvSpPr>
        <p:spPr>
          <a:xfrm>
            <a:off x="614934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1" name="ADS pinktxt 21"/>
          <p:cNvSpPr txBox="1"/>
          <p:nvPr/>
        </p:nvSpPr>
        <p:spPr>
          <a:xfrm>
            <a:off x="624078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Трейд-бюджеты ~120-140 млрд руб. в год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 рамках коммерческих условий — у транзакции, через Коммерцию форматов</a:t>
            </a:r>
            <a:endParaRPr lang="ru-RU" sz="1200"/>
          </a:p>
        </p:txBody>
      </p:sp>
      <p:sp>
        <p:nvSpPr>
          <p:cNvPr id="22" name="ADS line 22"/>
          <p:cNvSpPr/>
          <p:nvPr/>
        </p:nvSpPr>
        <p:spPr>
          <a:xfrm>
            <a:off x="365760" y="3904487"/>
            <a:ext cx="114574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label 23"/>
          <p:cNvSpPr txBox="1"/>
          <p:nvPr/>
        </p:nvSpPr>
        <p:spPr>
          <a:xfrm>
            <a:off x="365760" y="3977639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Гипотезы и что их подтверждает</a:t>
            </a:r>
            <a:endParaRPr lang="ru-RU" sz="1200"/>
          </a:p>
        </p:txBody>
      </p:sp>
      <p:sp>
        <p:nvSpPr>
          <p:cNvPr id="24" name="ADS card 24"/>
          <p:cNvSpPr/>
          <p:nvPr/>
        </p:nvSpPr>
        <p:spPr>
          <a:xfrm>
            <a:off x="36576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5" name="ADS head 25"/>
          <p:cNvSpPr txBox="1"/>
          <p:nvPr/>
        </p:nvSpPr>
        <p:spPr>
          <a:xfrm>
            <a:off x="53035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1</a:t>
            </a:r>
            <a:endParaRPr lang="ru-RU" sz="1200"/>
          </a:p>
        </p:txBody>
      </p:sp>
      <p:sp>
        <p:nvSpPr>
          <p:cNvPr id="26" name="ADS thesis 26"/>
          <p:cNvSpPr txBox="1"/>
          <p:nvPr/>
        </p:nvSpPr>
        <p:spPr>
          <a:xfrm>
            <a:off x="53035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Бюджеты идут туда, где виден эффект в продажах</a:t>
            </a:r>
            <a:endParaRPr lang="ru-RU" sz="1200"/>
          </a:p>
        </p:txBody>
      </p:sp>
      <p:sp>
        <p:nvSpPr>
          <p:cNvPr id="27" name="ADS line 27"/>
          <p:cNvSpPr/>
          <p:nvPr/>
        </p:nvSpPr>
        <p:spPr>
          <a:xfrm>
            <a:off x="53035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8" name="ADS label 28"/>
          <p:cNvSpPr txBox="1"/>
          <p:nvPr/>
        </p:nvSpPr>
        <p:spPr>
          <a:xfrm>
            <a:off x="53035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Доля retail media в рекламном рынке РФ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19%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2023 г. и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42%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2027 г.; в мире commerce media обогнала ТВ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15,6%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рынка в 2025 г.</a:t>
            </a:r>
            <a:endParaRPr lang="ru-RU" sz="1200"/>
          </a:p>
        </p:txBody>
      </p:sp>
      <p:sp>
        <p:nvSpPr>
          <p:cNvPr id="29" name="ADS card 29"/>
          <p:cNvSpPr/>
          <p:nvPr/>
        </p:nvSpPr>
        <p:spPr>
          <a:xfrm>
            <a:off x="325755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0" name="ADS head 30"/>
          <p:cNvSpPr txBox="1"/>
          <p:nvPr/>
        </p:nvSpPr>
        <p:spPr>
          <a:xfrm>
            <a:off x="342214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2</a:t>
            </a:r>
            <a:endParaRPr lang="ru-RU" sz="1200"/>
          </a:p>
        </p:txBody>
      </p:sp>
      <p:sp>
        <p:nvSpPr>
          <p:cNvPr id="31" name="ADS thesis 31"/>
          <p:cNvSpPr txBox="1"/>
          <p:nvPr/>
        </p:nvSpPr>
        <p:spPr>
          <a:xfrm>
            <a:off x="342214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Решение о покупке все чаще принимается в точке продаж</a:t>
            </a:r>
            <a:endParaRPr lang="ru-RU" sz="1200"/>
          </a:p>
        </p:txBody>
      </p:sp>
      <p:sp>
        <p:nvSpPr>
          <p:cNvPr id="32" name="ADS line 32"/>
          <p:cNvSpPr/>
          <p:nvPr/>
        </p:nvSpPr>
        <p:spPr>
          <a:xfrm>
            <a:off x="342214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3" name="ADS label 33"/>
          <p:cNvSpPr txBox="1"/>
          <p:nvPr/>
        </p:nvSpPr>
        <p:spPr>
          <a:xfrm>
            <a:off x="342214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Каждый четвертый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покупатель узнает о новинке FMCG уже в магазине,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13%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впервые видят ее на полке</a:t>
            </a:r>
            <a:endParaRPr lang="ru-RU" sz="1200"/>
          </a:p>
        </p:txBody>
      </p:sp>
      <p:sp>
        <p:nvSpPr>
          <p:cNvPr id="34" name="ADS card 34"/>
          <p:cNvSpPr/>
          <p:nvPr/>
        </p:nvSpPr>
        <p:spPr>
          <a:xfrm>
            <a:off x="614934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5" name="ADS head 35"/>
          <p:cNvSpPr txBox="1"/>
          <p:nvPr/>
        </p:nvSpPr>
        <p:spPr>
          <a:xfrm>
            <a:off x="631393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3</a:t>
            </a:r>
            <a:endParaRPr lang="ru-RU" sz="1200"/>
          </a:p>
        </p:txBody>
      </p:sp>
      <p:sp>
        <p:nvSpPr>
          <p:cNvPr id="36" name="ADS thesis 36"/>
          <p:cNvSpPr txBox="1"/>
          <p:nvPr/>
        </p:nvSpPr>
        <p:spPr>
          <a:xfrm>
            <a:off x="631393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Медиаинфляция удорожает охват и требует доказательств</a:t>
            </a:r>
            <a:endParaRPr lang="ru-RU" sz="1200"/>
          </a:p>
        </p:txBody>
      </p:sp>
      <p:sp>
        <p:nvSpPr>
          <p:cNvPr id="37" name="ADS line 37"/>
          <p:cNvSpPr/>
          <p:nvPr/>
        </p:nvSpPr>
        <p:spPr>
          <a:xfrm>
            <a:off x="631393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8" name="ADS label 38"/>
          <p:cNvSpPr txBox="1"/>
          <p:nvPr/>
        </p:nvSpPr>
        <p:spPr>
          <a:xfrm>
            <a:off x="631393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ТВ дорожает в среднем на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28%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2026 г., медиаинфляция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20%+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: охватным бюджетам нужна измеримая альтернатива</a:t>
            </a:r>
            <a:endParaRPr lang="ru-RU" sz="1200"/>
          </a:p>
        </p:txBody>
      </p:sp>
      <p:sp>
        <p:nvSpPr>
          <p:cNvPr id="39" name="ADS card 39"/>
          <p:cNvSpPr/>
          <p:nvPr/>
        </p:nvSpPr>
        <p:spPr>
          <a:xfrm>
            <a:off x="904113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0" name="ADS head 40"/>
          <p:cNvSpPr txBox="1"/>
          <p:nvPr/>
        </p:nvSpPr>
        <p:spPr>
          <a:xfrm>
            <a:off x="920572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4</a:t>
            </a:r>
            <a:endParaRPr lang="ru-RU" sz="1200"/>
          </a:p>
        </p:txBody>
      </p:sp>
      <p:sp>
        <p:nvSpPr>
          <p:cNvPr id="41" name="ADS thesis 41"/>
          <p:cNvSpPr txBox="1"/>
          <p:nvPr/>
        </p:nvSpPr>
        <p:spPr>
          <a:xfrm>
            <a:off x="920572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Трейд — якорь, бренд — точка роста ритейл-медиа</a:t>
            </a:r>
            <a:endParaRPr lang="ru-RU" sz="1200"/>
          </a:p>
        </p:txBody>
      </p:sp>
      <p:sp>
        <p:nvSpPr>
          <p:cNvPr id="42" name="ADS line 42"/>
          <p:cNvSpPr/>
          <p:nvPr/>
        </p:nvSpPr>
        <p:spPr>
          <a:xfrm>
            <a:off x="920572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3" name="ADS label 43"/>
          <p:cNvSpPr txBox="1"/>
          <p:nvPr/>
        </p:nvSpPr>
        <p:spPr>
          <a:xfrm>
            <a:off x="920572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60-65%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маркетинговых бюджетов FMCG (~200 млрд руб.) — трейд у транзакции; бренд-бюджеты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60-80 млрд руб.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— зона RMN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1989524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Источник: анализ</a:t>
            </a:r>
            <a:r>
              <a:rPr lang="en-US">
                <a:solidFill>
                  <a:srgbClr val="6E6E6E"/>
                </a:solidFill>
              </a:rPr>
              <a:t> Magnit ADS; KPI — </a:t>
            </a:r>
            <a:r>
              <a:rPr lang="ru-RU">
                <a:solidFill>
                  <a:srgbClr val="6E6E6E"/>
                </a:solidFill>
              </a:rPr>
              <a:t>ключевые метрики, по которым рекламодатель оценивает канал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Матрица каналов по воронке</a:t>
            </a:r>
            <a:r>
              <a:rPr lang="en-US"/>
              <a:t>: Magnit ADS </a:t>
            </a:r>
            <a:r>
              <a:rPr lang="ru-RU"/>
              <a:t>закрывает путь </a:t>
            </a:r>
            <a:br>
              <a:rPr lang="en-US" dirty="0"/>
            </a:br>
            <a:r>
              <a:rPr lang="ru-RU"/>
              <a:t>покупателя от охвата до транзакции на 360°</a:t>
            </a:r>
            <a:endParaRPr lang="ru-RU" baseline="30000"/>
          </a:p>
        </p:txBody>
      </p:sp>
      <p:sp>
        <p:nvSpPr>
          <p:cNvPr id="5" name="ADS label 5"/>
          <p:cNvSpPr txBox="1"/>
          <p:nvPr/>
        </p:nvSpPr>
        <p:spPr>
          <a:xfrm>
            <a:off x="365760" y="105156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Канал</a:t>
            </a:r>
            <a:endParaRPr lang="ru-RU" sz="1200"/>
          </a:p>
        </p:txBody>
      </p:sp>
      <p:sp>
        <p:nvSpPr>
          <p:cNvPr id="6" name="ADS label 6"/>
          <p:cNvSpPr txBox="1"/>
          <p:nvPr/>
        </p:nvSpPr>
        <p:spPr>
          <a:xfrm>
            <a:off x="4709160" y="10515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Задача в воронке</a:t>
            </a:r>
            <a:endParaRPr lang="ru-RU" sz="1200"/>
          </a:p>
        </p:txBody>
      </p:sp>
      <p:sp>
        <p:nvSpPr>
          <p:cNvPr id="7" name="ADS label 7"/>
          <p:cNvSpPr txBox="1"/>
          <p:nvPr/>
        </p:nvSpPr>
        <p:spPr>
          <a:xfrm>
            <a:off x="6675120" y="1051560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Инвентарь Magnit ADS</a:t>
            </a:r>
            <a:endParaRPr lang="ru-RU" sz="1200"/>
          </a:p>
        </p:txBody>
      </p:sp>
      <p:sp>
        <p:nvSpPr>
          <p:cNvPr id="8" name="ADS label 8"/>
          <p:cNvSpPr txBox="1"/>
          <p:nvPr/>
        </p:nvSpPr>
        <p:spPr>
          <a:xfrm>
            <a:off x="9601200" y="105156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Модель оплаты и KPI</a:t>
            </a:r>
            <a:endParaRPr lang="ru-RU" sz="1200"/>
          </a:p>
        </p:txBody>
      </p:sp>
      <p:sp>
        <p:nvSpPr>
          <p:cNvPr id="9" name="ADS label 9"/>
          <p:cNvSpPr txBox="1"/>
          <p:nvPr/>
        </p:nvSpPr>
        <p:spPr>
          <a:xfrm>
            <a:off x="11155680" y="1051560"/>
            <a:ext cx="6675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Бюджет</a:t>
            </a:r>
            <a:endParaRPr lang="ru-RU" sz="1200"/>
          </a:p>
        </p:txBody>
      </p:sp>
      <p:sp>
        <p:nvSpPr>
          <p:cNvPr id="10" name="ADS line 10"/>
          <p:cNvSpPr/>
          <p:nvPr/>
        </p:nvSpPr>
        <p:spPr>
          <a:xfrm>
            <a:off x="4709160" y="12984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Freeform 10"/>
          <p:cNvSpPr/>
          <p:nvPr/>
        </p:nvSpPr>
        <p:spPr>
          <a:xfrm>
            <a:off x="365759" y="1371600"/>
            <a:ext cx="4114801" cy="676655"/>
          </a:xfrm>
          <a:custGeom>
            <a:avLst/>
            <a:gdLst/>
            <a:ahLst/>
            <a:cxnLst/>
            <a:rect l="l" t="t" r="r" b="b"/>
            <a:pathLst>
              <a:path w="4114801" h="676655">
                <a:moveTo>
                  <a:pt x="0" y="0"/>
                </a:moveTo>
                <a:lnTo>
                  <a:pt x="4114801" y="0"/>
                </a:lnTo>
                <a:lnTo>
                  <a:pt x="3901440" y="676655"/>
                </a:lnTo>
                <a:lnTo>
                  <a:pt x="213361" y="676655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ADS chiptxt 12"/>
          <p:cNvSpPr txBox="1"/>
          <p:nvPr/>
        </p:nvSpPr>
        <p:spPr>
          <a:xfrm>
            <a:off x="624840" y="1408176"/>
            <a:ext cx="35966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000000"/>
                </a:solidFill>
                <a:latin typeface="Arial"/>
                <a:cs typeface="Arial"/>
              </a:rPr>
              <a:t>OOH / TV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охват и знание</a:t>
            </a:r>
            <a:endParaRPr lang="ru-RU" sz="1200"/>
          </a:p>
        </p:txBody>
      </p:sp>
      <p:sp>
        <p:nvSpPr>
          <p:cNvPr id="13" name="ADS label 13"/>
          <p:cNvSpPr txBox="1"/>
          <p:nvPr/>
        </p:nvSpPr>
        <p:spPr>
          <a:xfrm>
            <a:off x="4709160" y="13716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Знание бренда и широкий охват</a:t>
            </a:r>
            <a:endParaRPr lang="ru-RU" sz="1200"/>
          </a:p>
        </p:txBody>
      </p:sp>
      <p:sp>
        <p:nvSpPr>
          <p:cNvPr id="14" name="ADS label 14"/>
          <p:cNvSpPr txBox="1"/>
          <p:nvPr/>
        </p:nvSpPr>
        <p:spPr>
          <a:xfrm>
            <a:off x="6675120" y="13716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RMN: DOOH и внешние охватные площадки через ЮЛ Магнит Маркета, фасадные экраны</a:t>
            </a:r>
            <a:endParaRPr lang="ru-RU" sz="1200"/>
          </a:p>
        </p:txBody>
      </p:sp>
      <p:sp>
        <p:nvSpPr>
          <p:cNvPr id="15" name="ADS label 15"/>
          <p:cNvSpPr txBox="1"/>
          <p:nvPr/>
        </p:nvSpPr>
        <p:spPr>
          <a:xfrm>
            <a:off x="9601200" y="13716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CPM; охват, brand lift</a:t>
            </a:r>
            <a:endParaRPr lang="ru-RU" sz="1200"/>
          </a:p>
        </p:txBody>
      </p:sp>
      <p:sp>
        <p:nvSpPr>
          <p:cNvPr id="16" name="ADS label 16"/>
          <p:cNvSpPr txBox="1"/>
          <p:nvPr/>
        </p:nvSpPr>
        <p:spPr>
          <a:xfrm>
            <a:off x="11155680" y="13716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Бренд</a:t>
            </a:r>
            <a:endParaRPr lang="ru-RU" sz="1200"/>
          </a:p>
        </p:txBody>
      </p:sp>
      <p:sp>
        <p:nvSpPr>
          <p:cNvPr id="17" name="ADS line 17"/>
          <p:cNvSpPr/>
          <p:nvPr/>
        </p:nvSpPr>
        <p:spPr>
          <a:xfrm>
            <a:off x="4709160" y="20756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8" name="Freeform 17"/>
          <p:cNvSpPr/>
          <p:nvPr/>
        </p:nvSpPr>
        <p:spPr>
          <a:xfrm>
            <a:off x="579120" y="2103120"/>
            <a:ext cx="3688079" cy="676655"/>
          </a:xfrm>
          <a:custGeom>
            <a:avLst/>
            <a:gdLst/>
            <a:ahLst/>
            <a:cxnLst/>
            <a:rect l="l" t="t" r="r" b="b"/>
            <a:pathLst>
              <a:path w="3688079" h="676655">
                <a:moveTo>
                  <a:pt x="0" y="0"/>
                </a:moveTo>
                <a:lnTo>
                  <a:pt x="3688079" y="0"/>
                </a:lnTo>
                <a:lnTo>
                  <a:pt x="3474720" y="676655"/>
                </a:lnTo>
                <a:lnTo>
                  <a:pt x="213359" y="676655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ADS chiptxt 19"/>
          <p:cNvSpPr txBox="1"/>
          <p:nvPr/>
        </p:nvSpPr>
        <p:spPr>
          <a:xfrm>
            <a:off x="838199" y="2139696"/>
            <a:ext cx="3169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In-store классический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экраны, радио, КСО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709160" y="210312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Напоминание в магазине, охват офлайн-трафика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6675120" y="210312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ТВ-панели, радио, КСО, дисплеи покупателя — 81 тыс. устройств в 2027 г.</a:t>
            </a:r>
            <a:endParaRPr lang="ru-RU" sz="1200"/>
          </a:p>
        </p:txBody>
      </p:sp>
      <p:sp>
        <p:nvSpPr>
          <p:cNvPr id="22" name="ADS label 22"/>
          <p:cNvSpPr txBox="1"/>
          <p:nvPr/>
        </p:nvSpPr>
        <p:spPr>
          <a:xfrm>
            <a:off x="9601200" y="210312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CPM, пакеты; OTS</a:t>
            </a:r>
            <a:endParaRPr lang="ru-RU" sz="1200"/>
          </a:p>
        </p:txBody>
      </p:sp>
      <p:sp>
        <p:nvSpPr>
          <p:cNvPr id="23" name="ADS label 23"/>
          <p:cNvSpPr txBox="1"/>
          <p:nvPr/>
        </p:nvSpPr>
        <p:spPr>
          <a:xfrm>
            <a:off x="11155680" y="210312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Трейд, бренд</a:t>
            </a:r>
            <a:endParaRPr lang="ru-RU" sz="1200"/>
          </a:p>
        </p:txBody>
      </p:sp>
      <p:sp>
        <p:nvSpPr>
          <p:cNvPr id="24" name="ADS line 24"/>
          <p:cNvSpPr/>
          <p:nvPr/>
        </p:nvSpPr>
        <p:spPr>
          <a:xfrm>
            <a:off x="4709160" y="280720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5" name="Freeform 24"/>
          <p:cNvSpPr/>
          <p:nvPr/>
        </p:nvSpPr>
        <p:spPr>
          <a:xfrm>
            <a:off x="792479" y="2834640"/>
            <a:ext cx="3261361" cy="676656"/>
          </a:xfrm>
          <a:custGeom>
            <a:avLst/>
            <a:gdLst/>
            <a:ahLst/>
            <a:cxnLst/>
            <a:rect l="l" t="t" r="r" b="b"/>
            <a:pathLst>
              <a:path w="3261361" h="676656">
                <a:moveTo>
                  <a:pt x="0" y="0"/>
                </a:moveTo>
                <a:lnTo>
                  <a:pt x="3261361" y="0"/>
                </a:lnTo>
                <a:lnTo>
                  <a:pt x="304800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ADS chiptxt 26"/>
          <p:cNvSpPr txBox="1"/>
          <p:nvPr/>
        </p:nvSpPr>
        <p:spPr>
          <a:xfrm>
            <a:off x="1051559" y="2871216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In-store у полки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шелф-баннеры, РИМ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4709160" y="283464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Переключение в момент выбора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6675120" y="283464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Шелф-баннеры, прайсчекеры, РИМ; аукцион за место на полке</a:t>
            </a:r>
            <a:endParaRPr lang="ru-RU" sz="1200"/>
          </a:p>
        </p:txBody>
      </p:sp>
      <p:sp>
        <p:nvSpPr>
          <p:cNvPr id="29" name="ADS label 29"/>
          <p:cNvSpPr txBox="1"/>
          <p:nvPr/>
        </p:nvSpPr>
        <p:spPr>
          <a:xfrm>
            <a:off x="9601200" y="283464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Пакеты, CPM; sales lift</a:t>
            </a:r>
            <a:endParaRPr lang="ru-RU" sz="1200"/>
          </a:p>
        </p:txBody>
      </p:sp>
      <p:sp>
        <p:nvSpPr>
          <p:cNvPr id="30" name="ADS label 30"/>
          <p:cNvSpPr txBox="1"/>
          <p:nvPr/>
        </p:nvSpPr>
        <p:spPr>
          <a:xfrm>
            <a:off x="11155680" y="283464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31" name="ADS line 31"/>
          <p:cNvSpPr/>
          <p:nvPr/>
        </p:nvSpPr>
        <p:spPr>
          <a:xfrm>
            <a:off x="4709160" y="353872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2" name="Freeform 31"/>
          <p:cNvSpPr/>
          <p:nvPr/>
        </p:nvSpPr>
        <p:spPr>
          <a:xfrm>
            <a:off x="1005839" y="3566160"/>
            <a:ext cx="2834641" cy="676656"/>
          </a:xfrm>
          <a:custGeom>
            <a:avLst/>
            <a:gdLst/>
            <a:ahLst/>
            <a:cxnLst/>
            <a:rect l="l" t="t" r="r" b="b"/>
            <a:pathLst>
              <a:path w="2834641" h="676656">
                <a:moveTo>
                  <a:pt x="0" y="0"/>
                </a:moveTo>
                <a:lnTo>
                  <a:pt x="2834641" y="0"/>
                </a:lnTo>
                <a:lnTo>
                  <a:pt x="262128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ADS chiptxt 33"/>
          <p:cNvSpPr txBox="1"/>
          <p:nvPr/>
        </p:nvSpPr>
        <p:spPr>
          <a:xfrm>
            <a:off x="1264919" y="3602736"/>
            <a:ext cx="23164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Персонализированные медиа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соцсети и медиа в приложении</a:t>
            </a:r>
            <a:endParaRPr lang="ru-RU" sz="1200"/>
          </a:p>
        </p:txBody>
      </p:sp>
      <p:sp>
        <p:nvSpPr>
          <p:cNvPr id="34" name="ADS label 34"/>
          <p:cNvSpPr txBox="1"/>
          <p:nvPr/>
        </p:nvSpPr>
        <p:spPr>
          <a:xfrm>
            <a:off x="4709160" y="356616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Интерес и рассмотрение по сегментам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6675120" y="356616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Content factory и соцсети, баннеры и сторис в приложении, сегменты DMP</a:t>
            </a:r>
            <a:endParaRPr lang="ru-RU" sz="1200"/>
          </a:p>
        </p:txBody>
      </p:sp>
      <p:sp>
        <p:nvSpPr>
          <p:cNvPr id="36" name="ADS label 36"/>
          <p:cNvSpPr txBox="1"/>
          <p:nvPr/>
        </p:nvSpPr>
        <p:spPr>
          <a:xfrm>
            <a:off x="9601200" y="356616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CPM, CPV; CTR, охват сегмента</a:t>
            </a:r>
            <a:endParaRPr lang="ru-RU" sz="1200"/>
          </a:p>
        </p:txBody>
      </p:sp>
      <p:sp>
        <p:nvSpPr>
          <p:cNvPr id="37" name="ADS label 37"/>
          <p:cNvSpPr txBox="1"/>
          <p:nvPr/>
        </p:nvSpPr>
        <p:spPr>
          <a:xfrm>
            <a:off x="11155680" y="356616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Бренд, трейд</a:t>
            </a:r>
            <a:endParaRPr lang="ru-RU" sz="1200"/>
          </a:p>
        </p:txBody>
      </p:sp>
      <p:sp>
        <p:nvSpPr>
          <p:cNvPr id="38" name="ADS line 38"/>
          <p:cNvSpPr/>
          <p:nvPr/>
        </p:nvSpPr>
        <p:spPr>
          <a:xfrm>
            <a:off x="4709160" y="42702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9" name="Freeform 38"/>
          <p:cNvSpPr/>
          <p:nvPr/>
        </p:nvSpPr>
        <p:spPr>
          <a:xfrm>
            <a:off x="1219199" y="4297680"/>
            <a:ext cx="2407921" cy="676656"/>
          </a:xfrm>
          <a:custGeom>
            <a:avLst/>
            <a:gdLst/>
            <a:ahLst/>
            <a:cxnLst/>
            <a:rect l="l" t="t" r="r" b="b"/>
            <a:pathLst>
              <a:path w="2407921" h="676656">
                <a:moveTo>
                  <a:pt x="0" y="0"/>
                </a:moveTo>
                <a:lnTo>
                  <a:pt x="2407921" y="0"/>
                </a:lnTo>
                <a:lnTo>
                  <a:pt x="2194561" y="676656"/>
                </a:lnTo>
                <a:lnTo>
                  <a:pt x="213361" y="676656"/>
                </a:lnTo>
                <a:close/>
              </a:path>
            </a:pathLst>
          </a:custGeom>
          <a:solidFill>
            <a:srgbClr val="FF7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ADS chiptxt 40"/>
          <p:cNvSpPr txBox="1"/>
          <p:nvPr/>
        </p:nvSpPr>
        <p:spPr>
          <a:xfrm>
            <a:off x="1478280" y="4334256"/>
            <a:ext cx="1889759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FFFF"/>
                </a:solidFill>
                <a:latin typeface="Arial"/>
                <a:cs typeface="Arial"/>
              </a:rPr>
              <a:t>ИИ-рекомендации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FFFFFF"/>
                </a:solidFill>
                <a:latin typeface="Arial"/>
                <a:cs typeface="Arial"/>
              </a:rPr>
              <a:t>подбор под контекст покупателя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4709160" y="429768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Подбор товара под задачу покупателя</a:t>
            </a:r>
            <a:endParaRPr lang="ru-RU" sz="1200"/>
          </a:p>
        </p:txBody>
      </p:sp>
      <p:sp>
        <p:nvSpPr>
          <p:cNvPr id="42" name="ADS label 42"/>
          <p:cNvSpPr txBox="1"/>
          <p:nvPr/>
        </p:nvSpPr>
        <p:spPr>
          <a:xfrm>
            <a:off x="6675120" y="429768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Рекомендательные блоки, ИИ-ассистент, триггеры и контекст покупки</a:t>
            </a:r>
            <a:endParaRPr lang="ru-RU" sz="1200"/>
          </a:p>
        </p:txBody>
      </p:sp>
      <p:sp>
        <p:nvSpPr>
          <p:cNvPr id="43" name="ADS label 43"/>
          <p:cNvSpPr txBox="1"/>
          <p:nvPr/>
        </p:nvSpPr>
        <p:spPr>
          <a:xfrm>
            <a:off x="9601200" y="429768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CPC, CPA; конверсия</a:t>
            </a:r>
            <a:endParaRPr lang="ru-RU" sz="1200"/>
          </a:p>
        </p:txBody>
      </p:sp>
      <p:sp>
        <p:nvSpPr>
          <p:cNvPr id="44" name="ADS label 44"/>
          <p:cNvSpPr txBox="1"/>
          <p:nvPr/>
        </p:nvSpPr>
        <p:spPr>
          <a:xfrm>
            <a:off x="11155680" y="429768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45" name="ADS line 45"/>
          <p:cNvSpPr/>
          <p:nvPr/>
        </p:nvSpPr>
        <p:spPr>
          <a:xfrm>
            <a:off x="4709160" y="500176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6" name="Freeform 45"/>
          <p:cNvSpPr/>
          <p:nvPr/>
        </p:nvSpPr>
        <p:spPr>
          <a:xfrm>
            <a:off x="1432560" y="5029200"/>
            <a:ext cx="1981200" cy="676656"/>
          </a:xfrm>
          <a:custGeom>
            <a:avLst/>
            <a:gdLst/>
            <a:ahLst/>
            <a:cxnLst/>
            <a:rect l="l" t="t" r="r" b="b"/>
            <a:pathLst>
              <a:path w="1981200" h="676656">
                <a:moveTo>
                  <a:pt x="0" y="0"/>
                </a:moveTo>
                <a:lnTo>
                  <a:pt x="1981200" y="0"/>
                </a:lnTo>
                <a:lnTo>
                  <a:pt x="1767840" y="676656"/>
                </a:lnTo>
                <a:lnTo>
                  <a:pt x="213359" y="676656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ADS chiptxt 47"/>
          <p:cNvSpPr txBox="1"/>
          <p:nvPr/>
        </p:nvSpPr>
        <p:spPr>
          <a:xfrm>
            <a:off x="1691639" y="5065776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FFFFFF"/>
                </a:solidFill>
                <a:latin typeface="Arial"/>
                <a:cs typeface="Arial"/>
              </a:rPr>
              <a:t>поиск и рекомендации</a:t>
            </a:r>
            <a:endParaRPr lang="ru-RU" sz="1200"/>
          </a:p>
        </p:txBody>
      </p:sp>
      <p:sp>
        <p:nvSpPr>
          <p:cNvPr id="48" name="ADS label 48"/>
          <p:cNvSpPr txBox="1"/>
          <p:nvPr/>
        </p:nvSpPr>
        <p:spPr>
          <a:xfrm>
            <a:off x="4709160" y="50292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Покупка здесь и сейчас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6675120" y="50292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/>
          </a:p>
        </p:txBody>
      </p:sp>
      <p:sp>
        <p:nvSpPr>
          <p:cNvPr id="50" name="ADS label 50"/>
          <p:cNvSpPr txBox="1"/>
          <p:nvPr/>
        </p:nvSpPr>
        <p:spPr>
          <a:xfrm>
            <a:off x="9601200" y="50292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>
                <a:solidFill>
                  <a:srgbClr val="000000"/>
                </a:solidFill>
                <a:latin typeface="Arial"/>
                <a:cs typeface="Arial"/>
              </a:rPr>
              <a:t>CPC, CPA, CPO; ROAS</a:t>
            </a:r>
            <a:endParaRPr lang="en-US" sz="1200"/>
          </a:p>
        </p:txBody>
      </p:sp>
      <p:sp>
        <p:nvSpPr>
          <p:cNvPr id="51" name="ADS label 51"/>
          <p:cNvSpPr txBox="1"/>
          <p:nvPr/>
        </p:nvSpPr>
        <p:spPr>
          <a:xfrm>
            <a:off x="11155680" y="50292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52" name="ADS line 52"/>
          <p:cNvSpPr/>
          <p:nvPr/>
        </p:nvSpPr>
        <p:spPr>
          <a:xfrm>
            <a:off x="4709160" y="57332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3720605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Источник: стратегия </a:t>
            </a:r>
            <a:r>
              <a:rPr lang="en-US">
                <a:solidFill>
                  <a:srgbClr val="6E6E6E"/>
                </a:solidFill>
              </a:rPr>
              <a:t>Magnit AdTech 2026-2031 (</a:t>
            </a:r>
            <a:r>
              <a:rPr lang="ru-RU">
                <a:solidFill>
                  <a:srgbClr val="6E6E6E"/>
                </a:solidFill>
              </a:rPr>
              <a:t>потенциал инвентаря М+ и </a:t>
            </a:r>
            <a:r>
              <a:rPr lang="en-US">
                <a:solidFill>
                  <a:srgbClr val="6E6E6E"/>
                </a:solidFill>
              </a:rPr>
              <a:t>DAC </a:t>
            </a:r>
            <a:r>
              <a:rPr lang="ru-RU">
                <a:solidFill>
                  <a:srgbClr val="6E6E6E"/>
                </a:solidFill>
              </a:rPr>
              <a:t>программы лояльности — оценка июня 2026 г.)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/>
              <a:t>М+ как перформанс-инструмент: кэшбэк баллами – </a:t>
            </a:r>
            <a:br>
              <a:rPr lang="en-US" dirty="0"/>
            </a:br>
            <a:r>
              <a:rPr lang="ru-RU"/>
              <a:t>оплата за покупку, а не за показ</a:t>
            </a:r>
          </a:p>
        </p:txBody>
      </p:sp>
      <p:sp>
        <p:nvSpPr>
          <p:cNvPr id="5" name="ADS card 5"/>
          <p:cNvSpPr/>
          <p:nvPr/>
        </p:nvSpPr>
        <p:spPr>
          <a:xfrm>
            <a:off x="365760" y="1024128"/>
            <a:ext cx="73152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" name="ADS head 6"/>
          <p:cNvSpPr txBox="1"/>
          <p:nvPr/>
        </p:nvSpPr>
        <p:spPr>
          <a:xfrm>
            <a:off x="548640" y="1152144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Как работает механика</a:t>
            </a:r>
            <a:endParaRPr lang="ru-RU" sz="1200"/>
          </a:p>
        </p:txBody>
      </p:sp>
      <p:sp>
        <p:nvSpPr>
          <p:cNvPr id="7" name="ADS thesis 7"/>
          <p:cNvSpPr txBox="1"/>
          <p:nvPr/>
        </p:nvSpPr>
        <p:spPr>
          <a:xfrm>
            <a:off x="548640" y="1499616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Поставщик платит за покупку своего товара, а не за показ — это модель перформанса</a:t>
            </a:r>
            <a:endParaRPr lang="ru-RU" sz="1200"/>
          </a:p>
        </p:txBody>
      </p:sp>
      <p:sp>
        <p:nvSpPr>
          <p:cNvPr id="8" name="ADS line 8"/>
          <p:cNvSpPr/>
          <p:nvPr/>
        </p:nvSpPr>
        <p:spPr>
          <a:xfrm>
            <a:off x="548640" y="2011680"/>
            <a:ext cx="69494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" name="ADS label 9"/>
          <p:cNvSpPr txBox="1"/>
          <p:nvPr/>
        </p:nvSpPr>
        <p:spPr>
          <a:xfrm>
            <a:off x="548640" y="208483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Путь от бюджета поставщика до повторной покупки</a:t>
            </a:r>
            <a:endParaRPr lang="ru-RU" sz="1200"/>
          </a:p>
        </p:txBody>
      </p:sp>
      <p:sp>
        <p:nvSpPr>
          <p:cNvPr id="10" name="ADS chip 10"/>
          <p:cNvSpPr/>
          <p:nvPr/>
        </p:nvSpPr>
        <p:spPr>
          <a:xfrm>
            <a:off x="548640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chiptxt 11"/>
          <p:cNvSpPr txBox="1"/>
          <p:nvPr/>
        </p:nvSpPr>
        <p:spPr>
          <a:xfrm>
            <a:off x="640080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Бюджет поставщика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повышенный кэшбэк баллами на SKU</a:t>
            </a:r>
            <a:endParaRPr lang="ru-RU" sz="1200"/>
          </a:p>
        </p:txBody>
      </p:sp>
      <p:sp>
        <p:nvSpPr>
          <p:cNvPr id="12" name="ADS arrow 12"/>
          <p:cNvSpPr/>
          <p:nvPr/>
        </p:nvSpPr>
        <p:spPr>
          <a:xfrm rot="5400000">
            <a:off x="1772107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chip 13"/>
          <p:cNvSpPr/>
          <p:nvPr/>
        </p:nvSpPr>
        <p:spPr>
          <a:xfrm>
            <a:off x="1982419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4" name="ADS chiptxt 14"/>
          <p:cNvSpPr txBox="1"/>
          <p:nvPr/>
        </p:nvSpPr>
        <p:spPr>
          <a:xfrm>
            <a:off x="2073859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Таргетинг М+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оффер по истории покупок в приложении и чеке</a:t>
            </a:r>
            <a:endParaRPr lang="ru-RU" sz="1200"/>
          </a:p>
        </p:txBody>
      </p:sp>
      <p:sp>
        <p:nvSpPr>
          <p:cNvPr id="15" name="ADS arrow 15"/>
          <p:cNvSpPr/>
          <p:nvPr/>
        </p:nvSpPr>
        <p:spPr>
          <a:xfrm rot="5400000">
            <a:off x="3205886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chip 16"/>
          <p:cNvSpPr/>
          <p:nvPr/>
        </p:nvSpPr>
        <p:spPr>
          <a:xfrm>
            <a:off x="3416198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7" name="ADS chiptxt 17"/>
          <p:cNvSpPr txBox="1"/>
          <p:nvPr/>
        </p:nvSpPr>
        <p:spPr>
          <a:xfrm>
            <a:off x="3507638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Покупка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онлайн или в магазине по карте М+</a:t>
            </a:r>
            <a:endParaRPr lang="ru-RU" sz="1200"/>
          </a:p>
        </p:txBody>
      </p:sp>
      <p:sp>
        <p:nvSpPr>
          <p:cNvPr id="18" name="ADS arrow 18"/>
          <p:cNvSpPr/>
          <p:nvPr/>
        </p:nvSpPr>
        <p:spPr>
          <a:xfrm rot="5400000">
            <a:off x="4639665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pink 19"/>
          <p:cNvSpPr/>
          <p:nvPr/>
        </p:nvSpPr>
        <p:spPr>
          <a:xfrm>
            <a:off x="4849977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0" name="ADS pinktxt 20"/>
          <p:cNvSpPr txBox="1"/>
          <p:nvPr/>
        </p:nvSpPr>
        <p:spPr>
          <a:xfrm>
            <a:off x="4941417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Начисление баллов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только после покупки — оплата за результат</a:t>
            </a:r>
            <a:endParaRPr lang="ru-RU" sz="1200"/>
          </a:p>
        </p:txBody>
      </p:sp>
      <p:sp>
        <p:nvSpPr>
          <p:cNvPr id="21" name="ADS arrow 21"/>
          <p:cNvSpPr/>
          <p:nvPr/>
        </p:nvSpPr>
        <p:spPr>
          <a:xfrm rot="5400000">
            <a:off x="6073444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2" name="ADS chip 22"/>
          <p:cNvSpPr/>
          <p:nvPr/>
        </p:nvSpPr>
        <p:spPr>
          <a:xfrm>
            <a:off x="6283756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chiptxt 23"/>
          <p:cNvSpPr txBox="1"/>
          <p:nvPr/>
        </p:nvSpPr>
        <p:spPr>
          <a:xfrm>
            <a:off x="6375196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Списание баллов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покупатель возвращается в Магнит</a:t>
            </a:r>
            <a:endParaRPr lang="ru-RU" sz="1200"/>
          </a:p>
        </p:txBody>
      </p:sp>
      <p:sp>
        <p:nvSpPr>
          <p:cNvPr id="24" name="ADS label 24"/>
          <p:cNvSpPr txBox="1"/>
          <p:nvPr/>
        </p:nvSpPr>
        <p:spPr>
          <a:xfrm>
            <a:off x="548640" y="351129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Почему это перформанс-инструмент</a:t>
            </a:r>
            <a:endParaRPr lang="ru-RU" sz="1200"/>
          </a:p>
        </p:txBody>
      </p:sp>
      <p:sp>
        <p:nvSpPr>
          <p:cNvPr id="25" name="ADS chip 25"/>
          <p:cNvSpPr/>
          <p:nvPr/>
        </p:nvSpPr>
        <p:spPr>
          <a:xfrm>
            <a:off x="548640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6" name="ADS chiptxt 26"/>
          <p:cNvSpPr txBox="1"/>
          <p:nvPr/>
        </p:nvSpPr>
        <p:spPr>
          <a:xfrm>
            <a:off x="658368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Оплата за результат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бюджет расходуется только на фактические покупки SKU — аналог CPA и CPO</a:t>
            </a:r>
            <a:endParaRPr lang="ru-RU" sz="1200"/>
          </a:p>
        </p:txBody>
      </p:sp>
      <p:sp>
        <p:nvSpPr>
          <p:cNvPr id="27" name="ADS chip 27"/>
          <p:cNvSpPr/>
          <p:nvPr/>
        </p:nvSpPr>
        <p:spPr>
          <a:xfrm>
            <a:off x="2901696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8" name="ADS chiptxt 28"/>
          <p:cNvSpPr txBox="1"/>
          <p:nvPr/>
        </p:nvSpPr>
        <p:spPr>
          <a:xfrm>
            <a:off x="3011424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Замкнутая аналитика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покупка привязана к ID лояльности: видим инкремент продаж и повтор онлайн и офлайн</a:t>
            </a:r>
            <a:endParaRPr lang="ru-RU" sz="1200"/>
          </a:p>
        </p:txBody>
      </p:sp>
      <p:sp>
        <p:nvSpPr>
          <p:cNvPr id="29" name="ADS chip 29"/>
          <p:cNvSpPr/>
          <p:nvPr/>
        </p:nvSpPr>
        <p:spPr>
          <a:xfrm>
            <a:off x="5254751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0" name="ADS chiptxt 30"/>
          <p:cNvSpPr txBox="1"/>
          <p:nvPr/>
        </p:nvSpPr>
        <p:spPr>
          <a:xfrm>
            <a:off x="5364480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Точный таргетинг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сегменты по чекам М+: новые покупатели, отток, кросс-категории</a:t>
            </a:r>
            <a:endParaRPr lang="ru-RU" sz="1200"/>
          </a:p>
        </p:txBody>
      </p:sp>
      <p:sp>
        <p:nvSpPr>
          <p:cNvPr id="31" name="ADS pink 31"/>
          <p:cNvSpPr/>
          <p:nvPr/>
        </p:nvSpPr>
        <p:spPr>
          <a:xfrm>
            <a:off x="548640" y="4901183"/>
            <a:ext cx="6949440" cy="621792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2" name="ADS pinktxt 32"/>
          <p:cNvSpPr txBox="1"/>
          <p:nvPr/>
        </p:nvSpPr>
        <p:spPr>
          <a:xfrm>
            <a:off x="640080" y="4946903"/>
            <a:ext cx="6766559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Эффект для поставщика — измеримый прирост продаж и новых покупателей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для Магнита — рост трафика и частоты покупок без отдельного рекламного бюджета</a:t>
            </a:r>
            <a:endParaRPr lang="ru-RU" sz="1200"/>
          </a:p>
        </p:txBody>
      </p:sp>
      <p:sp>
        <p:nvSpPr>
          <p:cNvPr id="33" name="ADS card 33"/>
          <p:cNvSpPr/>
          <p:nvPr/>
        </p:nvSpPr>
        <p:spPr>
          <a:xfrm>
            <a:off x="7863840" y="1024128"/>
            <a:ext cx="395935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4" name="ADS head 34"/>
          <p:cNvSpPr txBox="1"/>
          <p:nvPr/>
        </p:nvSpPr>
        <p:spPr>
          <a:xfrm>
            <a:off x="8046719" y="1152144"/>
            <a:ext cx="35935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М+ в контуре AdTech</a:t>
            </a:r>
            <a:endParaRPr lang="ru-RU" sz="1200"/>
          </a:p>
        </p:txBody>
      </p:sp>
      <p:sp>
        <p:nvSpPr>
          <p:cNvPr id="35" name="ADS thesis 35"/>
          <p:cNvSpPr txBox="1"/>
          <p:nvPr/>
        </p:nvSpPr>
        <p:spPr>
          <a:xfrm>
            <a:off x="8046719" y="1499616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Монетизацию М+ ведет общий sales force AdTech</a:t>
            </a:r>
            <a:endParaRPr lang="ru-RU" sz="1200"/>
          </a:p>
        </p:txBody>
      </p:sp>
      <p:sp>
        <p:nvSpPr>
          <p:cNvPr id="36" name="ADS line 36"/>
          <p:cNvSpPr/>
          <p:nvPr/>
        </p:nvSpPr>
        <p:spPr>
          <a:xfrm>
            <a:off x="8046719" y="2011680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7" name="ADS label 37"/>
          <p:cNvSpPr txBox="1"/>
          <p:nvPr/>
        </p:nvSpPr>
        <p:spPr>
          <a:xfrm>
            <a:off x="8046719" y="20848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Масштаб</a:t>
            </a:r>
            <a:endParaRPr lang="ru-RU" sz="1200"/>
          </a:p>
        </p:txBody>
      </p:sp>
      <p:sp>
        <p:nvSpPr>
          <p:cNvPr id="38" name="ADS label 38"/>
          <p:cNvSpPr txBox="1"/>
          <p:nvPr/>
        </p:nvSpPr>
        <p:spPr>
          <a:xfrm>
            <a:off x="8046720" y="234086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rgbClr val="FF452C"/>
                </a:solidFill>
                <a:latin typeface="Arial"/>
                <a:cs typeface="Arial"/>
              </a:rPr>
              <a:t>~5,4 млрд руб.</a:t>
            </a:r>
            <a:endParaRPr lang="ru-RU" sz="1200"/>
          </a:p>
        </p:txBody>
      </p:sp>
      <p:sp>
        <p:nvSpPr>
          <p:cNvPr id="39" name="ADS label 39"/>
          <p:cNvSpPr txBox="1"/>
          <p:nvPr/>
        </p:nvSpPr>
        <p:spPr>
          <a:xfrm>
            <a:off x="8046720" y="272491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потенциал инвентаря М+ (CRM / CVM) в 2027 г.</a:t>
            </a:r>
            <a:endParaRPr lang="ru-RU" sz="1200"/>
          </a:p>
        </p:txBody>
      </p:sp>
      <p:sp>
        <p:nvSpPr>
          <p:cNvPr id="40" name="ADS label 40"/>
          <p:cNvSpPr txBox="1"/>
          <p:nvPr/>
        </p:nvSpPr>
        <p:spPr>
          <a:xfrm>
            <a:off x="8046720" y="311810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rgbClr val="FF452C"/>
                </a:solidFill>
                <a:latin typeface="Arial"/>
                <a:cs typeface="Arial"/>
              </a:rPr>
              <a:t>20-25 млн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8046720" y="350215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DAC, которые пользуются программой лояльности</a:t>
            </a:r>
            <a:endParaRPr lang="ru-RU" sz="1200"/>
          </a:p>
        </p:txBody>
      </p:sp>
      <p:sp>
        <p:nvSpPr>
          <p:cNvPr id="42" name="ADS line 42"/>
          <p:cNvSpPr/>
          <p:nvPr/>
        </p:nvSpPr>
        <p:spPr>
          <a:xfrm>
            <a:off x="8046720" y="3968496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3" name="ADS label 43"/>
          <p:cNvSpPr txBox="1"/>
          <p:nvPr/>
        </p:nvSpPr>
        <p:spPr>
          <a:xfrm>
            <a:off x="8046720" y="404164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Что делаем в 2027 г.</a:t>
            </a:r>
            <a:endParaRPr lang="ru-RU" sz="1200"/>
          </a:p>
        </p:txBody>
      </p:sp>
      <p:sp>
        <p:nvSpPr>
          <p:cNvPr id="44" name="ADS label 44"/>
          <p:cNvSpPr txBox="1"/>
          <p:nvPr/>
        </p:nvSpPr>
        <p:spPr>
          <a:xfrm>
            <a:off x="8046720" y="4315968"/>
            <a:ext cx="359359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Реализуем условные бонусы на инвентаре М+ (кроме игр)</a:t>
            </a:r>
            <a:endParaRPr lang="ru-RU" sz="120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Включаем кэшбэк баллами в перформанс-пакеты вместе с поиском и in-store у полки</a:t>
            </a:r>
            <a:endParaRPr lang="ru-RU" sz="120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Продаем М+ единым оффером с другим инвентарем — кратный рост выручки г/г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1095949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Источники: отчетность X5 (AdIndex, Oborot.ru), дайджест E-Retail Media АРИР за I кв. 2026, Sostav, Коммерсантъ, CNews, Data Insight, «Постмаркетинг»;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ysClr val="windowText" lastClr="000000"/>
                </a:solidFill>
              </a:rPr>
              <a:t>Retail Media </a:t>
            </a:r>
            <a:r>
              <a:rPr lang="ru-RU">
                <a:solidFill>
                  <a:sysClr val="windowText" lastClr="000000"/>
                </a:solidFill>
              </a:rPr>
              <a:t>находится в фокусе внимания ключевых </a:t>
            </a:r>
            <a:br>
              <a:rPr lang="ru-RU" dirty="0">
                <a:solidFill>
                  <a:sysClr val="windowText" lastClr="000000"/>
                </a:solidFill>
              </a:rPr>
            </a:br>
            <a:r>
              <a:rPr lang="en-US">
                <a:solidFill>
                  <a:sysClr val="windowText" lastClr="000000"/>
                </a:solidFill>
              </a:rPr>
              <a:t>AdTech</a:t>
            </a:r>
            <a:r>
              <a:rPr lang="ru-RU">
                <a:solidFill>
                  <a:sysClr val="windowText" lastClr="000000"/>
                </a:solidFill>
              </a:rPr>
              <a:t>-игроков на рынке РФ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819928"/>
              </p:ext>
            </p:extLst>
          </p:nvPr>
        </p:nvGraphicFramePr>
        <p:xfrm>
          <a:off x="368299" y="1037230"/>
          <a:ext cx="11459526" cy="5012976"/>
        </p:xfrm>
        <a:graphic>
          <a:graphicData uri="http://schemas.openxmlformats.org/drawingml/2006/table">
            <a:tbl>
              <a:tblPr firstRow="1"/>
              <a:tblGrid>
                <a:gridCol w="1310376">
                  <a:extLst>
                    <a:ext uri="{9D8B030D-6E8A-4147-A177-3AD203B41FA5}">
                      <a16:colId xmlns:a16="http://schemas.microsoft.com/office/drawing/2014/main" val="3053660834"/>
                    </a:ext>
                  </a:extLst>
                </a:gridCol>
                <a:gridCol w="188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641">
                  <a:extLst>
                    <a:ext uri="{9D8B030D-6E8A-4147-A177-3AD203B41FA5}">
                      <a16:colId xmlns:a16="http://schemas.microsoft.com/office/drawing/2014/main" val="633549615"/>
                    </a:ext>
                  </a:extLst>
                </a:gridCol>
                <a:gridCol w="608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375">
                <a:tc gridSpan="2"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>
                          <a:solidFill>
                            <a:schemeClr val="tx2"/>
                          </a:solidFill>
                          <a:latin typeface="+mn-lt"/>
                        </a:rPr>
                        <a:t>Отрасль конкурента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ru-RU" sz="1600" b="1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Конкуренты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Оценка деятельности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519"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Ритейл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ysClr val="windowText" lastClr="000000"/>
                          </a:solidFill>
                        </a:rPr>
                        <a:t>Retail Media Brick &amp; Mortar / e-grocery</a:t>
                      </a:r>
                      <a:endParaRPr lang="en-US" sz="12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X5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Сбер (Сбер Маркет, Купер, Самокат)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ysClr val="windowText" lastClr="000000"/>
                          </a:solidFill>
                        </a:rPr>
                        <a:t>Медленно наращивают потенциал </a:t>
                      </a:r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retail media </a:t>
                      </a:r>
                      <a:br>
                        <a:rPr lang="ru-RU" sz="1200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ru-RU" sz="1200">
                          <a:solidFill>
                            <a:sysClr val="windowText" lastClr="000000"/>
                          </a:solidFill>
                        </a:rPr>
                        <a:t>и развиваются параллельно с </a:t>
                      </a:r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Magnit ADS</a:t>
                      </a:r>
                      <a:endParaRPr lang="ru-RU" sz="1200" kern="120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Прочие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Лента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ВкусВилл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Метро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Ашан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Имеют потенциал внедрения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white-label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решения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рекламной платформы от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519">
                <a:tc rowSpan="3"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 E-com &amp;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Маркетплейсы</a:t>
                      </a:r>
                      <a:endParaRPr lang="ru-RU" sz="12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Ozon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RWB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Реализовали потенциал рекламной платформы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: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Ozon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тестирует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-механики с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WB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развивает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Wibes</a:t>
                      </a:r>
                      <a:endParaRPr lang="ru-RU" sz="12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Традиционный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digital</a:t>
                      </a:r>
                      <a:endParaRPr lang="ru-RU" sz="12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 Яндекс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Сфокусированы на развитии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retail media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посредством подключения 30+ небольших ритейлеров (2025-2026 гг.)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- VK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-механики (в том числе с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Magnit ADS)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но имеют проблемы с качеством трафика и их низкой платежеспособностью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260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Источники: 1. АКАР (I кв. 2026), «Постмаркетинг» (1П 2026), консенсус-прогноз ADPASS, Easy Commerce, Data Insight, АРИР, разъяснения ФАС от 10.03 и 25.03.2026, Sostav, AdIndex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Magnit ADS</a:t>
            </a:r>
            <a:r>
              <a:rPr lang="ru-RU"/>
              <a:t> внедряет в операционную практику ключевые тренды рекламного рынка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7284" y="959020"/>
          <a:ext cx="11457432" cy="5121132"/>
        </p:xfrm>
        <a:graphic>
          <a:graphicData uri="http://schemas.openxmlformats.org/drawingml/2006/table">
            <a:tbl>
              <a:tblPr first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583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Тренды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Изменения на рынке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Инициативы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092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Оптимизация бюджетов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Топ-150 рекламодателей сократили расходы на 11% в 1П 2026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Новые бюджеты не выделяют, текущие переводят в каналы с доказуемым эффектом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baseline="0">
                          <a:solidFill>
                            <a:srgbClr val="000000"/>
                          </a:solidFill>
                          <a:latin typeface="Arial"/>
                        </a:rPr>
                        <a:t>В рамках бренд-маркетинга все больше требуется демонстрация эффективности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Внедряем: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Кост-эффективные рекламные инструменты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Пост-кампейн аналитику для рекламодателя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Прозрачность рекламных инструментов и их верификация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Демонстрация рынку эффекта от инвестиций в ритейл медиа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Retail Media Network</a:t>
                      </a:r>
                      <a:endParaRPr lang="ru-RU" sz="11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Рост проникновения </a:t>
                      </a:r>
                    </a:p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ИИ в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Ключевые игроки внедряют ИИ: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 личные рекламные кабинеты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На этапе прогнозирования эффектов от рекламных кампаний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При принятии решений о новых запусках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Запускаем: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ИИ-ассистента в личном кабинете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Авто-стратегии с помощью ИИ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AI-таргетинг аудиторий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Генерацию креативов на платформе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413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Продолжается фундаментальный сдвиг внимания в пользу коротких видео, где также растет привычка покупать из соц. сетей (пример коллаборации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VK &amp; Ozon)</a:t>
                      </a:r>
                      <a:endParaRPr lang="ru-RU" sz="11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Бренды и платформы строят инициативы для развития механик социальной коммерции в социальных сетях: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контент-заводы от брендов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инструменты отечественных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Фокусируемся на развитии инструментов вокруг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UGC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-продвижения, как во внешних соц. сетях, так и в приложении Магнит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Тестируем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механики с внешними платформами и развиваем привычку покупать из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Рост роли омниканальной коммуникации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Помимо маркетплейсов появляются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ugc</a:t>
                      </a: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-игроки, банковский шоппинг, развиваются независимые ритейлеры, которые стремятся предлагать новые рекламные инструменты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Стремимся аккумулировать инвентарь разных игроков с целью предложения омниканальных решений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126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293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Три драйвера роста 2027: аудитория, новый прайс, новые направления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Аудитория приложения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+18%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рост DAC: 24,8 → 29,3 млн в месяц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Показы AdTech: </a:t>
            </a:r>
            <a:r>
              <a:rPr lang="ru-RU" sz="1400" b="1">
                <a:solidFill>
                  <a:srgbClr val="000000"/>
                </a:solidFill>
              </a:rPr>
              <a:t>6,0 → 6,5 млрд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Перформанс-кампаний в месяц: </a:t>
            </a:r>
            <a:r>
              <a:rPr lang="ru-RU" sz="1400" b="1">
                <a:solidFill>
                  <a:srgbClr val="000000"/>
                </a:solidFill>
              </a:rPr>
              <a:t>2 033 → 2 270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Кампаний в сторис в месяц: </a:t>
            </a:r>
            <a:r>
              <a:rPr lang="ru-RU" sz="1400" b="1">
                <a:solidFill>
                  <a:srgbClr val="000000"/>
                </a:solidFill>
              </a:rPr>
              <a:t>264 → 313</a:t>
            </a:r>
          </a:p>
        </p:txBody>
      </p:sp>
      <p:sp>
        <p:nvSpPr>
          <p:cNvPr id="206" name="Shape 206"/>
          <p:cNvSpPr/>
          <p:nvPr/>
        </p:nvSpPr>
        <p:spPr>
          <a:xfrm>
            <a:off x="4258733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4411133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Новый прайс с 09.2026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4411133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+17%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4411133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средневзвешенный CPM: 499 → 582 руб.</a:t>
            </a:r>
          </a:p>
        </p:txBody>
      </p:sp>
      <p:sp>
        <p:nvSpPr>
          <p:cNvPr id="210" name="Shape 210"/>
          <p:cNvSpPr/>
          <p:nvPr/>
        </p:nvSpPr>
        <p:spPr>
          <a:xfrm>
            <a:off x="4563533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4436533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Модальное окно: </a:t>
            </a:r>
            <a:r>
              <a:rPr lang="ru-RU" sz="1400" b="1">
                <a:solidFill>
                  <a:srgbClr val="000000"/>
                </a:solidFill>
              </a:rPr>
              <a:t>600 → 1 000 руб.</a:t>
            </a:r>
            <a:r>
              <a:rPr lang="ru-RU" sz="1400">
                <a:solidFill>
                  <a:srgbClr val="000000"/>
                </a:solidFill>
              </a:rPr>
              <a:t> CPM, QR-карта: 450 → 600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Чек перформанс-кампании: </a:t>
            </a:r>
            <a:r>
              <a:rPr lang="ru-RU" sz="1400" b="1">
                <a:solidFill>
                  <a:srgbClr val="000000"/>
                </a:solidFill>
              </a:rPr>
              <a:t>68 → 86 тыс. руб.</a:t>
            </a:r>
            <a:r>
              <a:rPr lang="ru-RU" sz="1400">
                <a:solidFill>
                  <a:srgbClr val="000000"/>
                </a:solidFill>
              </a:rPr>
              <a:t> (+26%)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Сторис: </a:t>
            </a:r>
            <a:r>
              <a:rPr lang="ru-RU" sz="1400" b="1">
                <a:solidFill>
                  <a:srgbClr val="000000"/>
                </a:solidFill>
              </a:rPr>
              <a:t>70 → 100 тыс. руб.</a:t>
            </a:r>
            <a:r>
              <a:rPr lang="ru-RU" sz="1400">
                <a:solidFill>
                  <a:srgbClr val="000000"/>
                </a:solidFill>
              </a:rPr>
              <a:t> за день</a:t>
            </a:r>
          </a:p>
        </p:txBody>
      </p:sp>
      <p:sp>
        <p:nvSpPr>
          <p:cNvPr id="218" name="Shape 218"/>
          <p:cNvSpPr/>
          <p:nvPr/>
        </p:nvSpPr>
        <p:spPr>
          <a:xfrm>
            <a:off x="8149166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8301566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Новые направления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8301566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1 484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8301566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млн руб.: RMN, Content factory, расширение DMP</a:t>
            </a:r>
          </a:p>
        </p:txBody>
      </p:sp>
      <p:sp>
        <p:nvSpPr>
          <p:cNvPr id="222" name="Shape 222"/>
          <p:cNvSpPr/>
          <p:nvPr/>
        </p:nvSpPr>
        <p:spPr>
          <a:xfrm>
            <a:off x="8453966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8326966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RMN: </a:t>
            </a:r>
            <a:r>
              <a:rPr lang="ru-RU" sz="1400" b="1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Content factory: </a:t>
            </a:r>
            <a:r>
              <a:rPr lang="ru-RU" sz="1400" b="1">
                <a:solidFill>
                  <a:srgbClr val="000000"/>
                </a:solidFill>
              </a:rPr>
              <a:t>213 млн руб.</a:t>
            </a:r>
            <a:r>
              <a:rPr lang="ru-RU" sz="1400">
                <a:solidFill>
                  <a:srgbClr val="000000"/>
                </a:solidFill>
              </a:rPr>
              <a:t>, 150 креаторов, 569 млн просмотров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DMP: </a:t>
            </a:r>
            <a:r>
              <a:rPr lang="ru-RU" sz="1400" b="1">
                <a:solidFill>
                  <a:srgbClr val="000000"/>
                </a:solidFill>
              </a:rPr>
              <a:t>420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3893070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4EDF462-AABE-F9F0-5274-88E2E9AEA2D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EDF462-AABE-F9F0-5274-88E2E9AEA2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hape 210">
            <a:extLst>
              <a:ext uri="{FF2B5EF4-FFF2-40B4-BE49-F238E27FC236}">
                <a16:creationId xmlns:a16="http://schemas.microsoft.com/office/drawing/2014/main" id="{97F971B1-EA94-F5C4-5525-808B0B0C6D57}"/>
              </a:ext>
            </a:extLst>
          </p:cNvPr>
          <p:cNvSpPr/>
          <p:nvPr/>
        </p:nvSpPr>
        <p:spPr>
          <a:xfrm>
            <a:off x="61934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8" name="Shape 205">
            <a:extLst>
              <a:ext uri="{FF2B5EF4-FFF2-40B4-BE49-F238E27FC236}">
                <a16:creationId xmlns:a16="http://schemas.microsoft.com/office/drawing/2014/main" id="{C612035D-FF8B-A088-5B28-F10A02F6CB10}"/>
              </a:ext>
            </a:extLst>
          </p:cNvPr>
          <p:cNvSpPr/>
          <p:nvPr/>
        </p:nvSpPr>
        <p:spPr>
          <a:xfrm>
            <a:off x="61976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Инициативы Magnit ADS: максимизируем внутренний инвентарь Магнит, развиваем внешний и стремимся к росту маржинальности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Внутренний: медиа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4 864 млн руб. 2027  ·  +22%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/>
              <a:t>В 2027 г. в рамках медиа-инвентаря будет задействован максимальный потенциал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32829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28295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ru-RU" sz="1600" b="1">
                <a:solidFill>
                  <a:srgbClr val="FF452C"/>
                </a:solidFill>
              </a:rPr>
              <a:t>перформанс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2 832 млн руб. 2027  ·  +29%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/>
              <a:t>Среднесрочный рост рекламной выручки </a:t>
            </a:r>
            <a:r>
              <a:rPr lang="ru-RU" sz="1400"/>
              <a:t>за счет развития аукционных механик в поиске и рекомендациях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3641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19760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en-US" sz="1600" b="1">
                <a:solidFill>
                  <a:srgbClr val="FF452C"/>
                </a:solidFill>
              </a:rPr>
              <a:t>digital In-store</a:t>
            </a:r>
            <a:endParaRPr lang="ru-RU" sz="1600" b="1">
              <a:solidFill>
                <a:srgbClr val="FF452C"/>
              </a:solidFill>
            </a:endParaRPr>
          </a:p>
        </p:txBody>
      </p:sp>
      <p:sp>
        <p:nvSpPr>
          <p:cNvPr id="212" name="Shape 212"/>
          <p:cNvSpPr txBox="1"/>
          <p:nvPr/>
        </p:nvSpPr>
        <p:spPr>
          <a:xfrm>
            <a:off x="63500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4 019 млн руб. 2027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>
                <a:solidFill>
                  <a:sysClr val="windowText" lastClr="000000"/>
                </a:solidFill>
              </a:rPr>
              <a:t>Ищем эффективную конфигурацию оборудования </a:t>
            </a:r>
            <a:r>
              <a:rPr lang="ru-RU" sz="1400">
                <a:solidFill>
                  <a:sysClr val="windowText" lastClr="000000"/>
                </a:solidFill>
              </a:rPr>
              <a:t>с целью удержания высокой утилизации и рыночной стоимости инвентаря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/>
          <p:nvPr/>
        </p:nvSpPr>
        <p:spPr>
          <a:xfrm>
            <a:off x="91122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Внешний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2 851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RMN:</a:t>
            </a:r>
            <a:r>
              <a:rPr lang="ru-RU" sz="1400">
                <a:solidFill>
                  <a:srgbClr val="000000"/>
                </a:solidFill>
              </a:rPr>
              <a:t> бренд-бюджеты поставщиков через внешнее ЮЛ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Social commerce:</a:t>
            </a:r>
            <a:r>
              <a:rPr lang="ru-RU" sz="1400">
                <a:solidFill>
                  <a:srgbClr val="000000"/>
                </a:solidFill>
              </a:rPr>
              <a:t> </a:t>
            </a:r>
            <a:br>
              <a:rPr lang="en-US" sz="1400" dirty="0">
                <a:solidFill>
                  <a:srgbClr val="000000"/>
                </a:solidFill>
              </a:rPr>
            </a:br>
            <a:r>
              <a:rPr lang="en-US" sz="1400">
                <a:solidFill>
                  <a:srgbClr val="000000"/>
                </a:solidFill>
              </a:rPr>
              <a:t>Content factory (</a:t>
            </a:r>
            <a:r>
              <a:rPr lang="ru-RU" sz="1400">
                <a:solidFill>
                  <a:srgbClr val="000000"/>
                </a:solidFill>
              </a:rPr>
              <a:t>развиваем инвентарь во внешних соц. сетях)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DMP + Online:</a:t>
            </a:r>
            <a:r>
              <a:rPr lang="ru-RU" sz="1400">
                <a:solidFill>
                  <a:srgbClr val="000000"/>
                </a:solidFill>
              </a:rPr>
              <a:t> данные Магнита на внешних площадках</a:t>
            </a:r>
          </a:p>
        </p:txBody>
      </p:sp>
      <p:sp>
        <p:nvSpPr>
          <p:cNvPr id="10" name="Shape 206">
            <a:extLst>
              <a:ext uri="{FF2B5EF4-FFF2-40B4-BE49-F238E27FC236}">
                <a16:creationId xmlns:a16="http://schemas.microsoft.com/office/drawing/2014/main" id="{3061C705-AABB-0B0F-02FC-B4B84DDC17C8}"/>
              </a:ext>
            </a:extLst>
          </p:cNvPr>
          <p:cNvSpPr txBox="1"/>
          <p:nvPr/>
        </p:nvSpPr>
        <p:spPr>
          <a:xfrm>
            <a:off x="6984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ИТ-Инфраструктура</a:t>
            </a:r>
          </a:p>
        </p:txBody>
      </p:sp>
      <p:sp>
        <p:nvSpPr>
          <p:cNvPr id="11" name="Shape 209">
            <a:extLst>
              <a:ext uri="{FF2B5EF4-FFF2-40B4-BE49-F238E27FC236}">
                <a16:creationId xmlns:a16="http://schemas.microsoft.com/office/drawing/2014/main" id="{76B62D15-F1ED-56A2-0AB3-5154FC49F9A6}"/>
              </a:ext>
            </a:extLst>
          </p:cNvPr>
          <p:cNvSpPr txBox="1"/>
          <p:nvPr/>
        </p:nvSpPr>
        <p:spPr>
          <a:xfrm>
            <a:off x="546100" y="5401374"/>
            <a:ext cx="4257912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Аукционные механики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Улучшение личного кабинета рекламодателя</a:t>
            </a:r>
          </a:p>
        </p:txBody>
      </p:sp>
      <p:sp>
        <p:nvSpPr>
          <p:cNvPr id="16" name="Shape 206">
            <a:extLst>
              <a:ext uri="{FF2B5EF4-FFF2-40B4-BE49-F238E27FC236}">
                <a16:creationId xmlns:a16="http://schemas.microsoft.com/office/drawing/2014/main" id="{DE871A07-EC9A-2E73-597B-2DD41793E660}"/>
              </a:ext>
            </a:extLst>
          </p:cNvPr>
          <p:cNvSpPr txBox="1"/>
          <p:nvPr/>
        </p:nvSpPr>
        <p:spPr>
          <a:xfrm>
            <a:off x="65277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Коммерческие процессы</a:t>
            </a:r>
          </a:p>
        </p:txBody>
      </p:sp>
      <p:sp>
        <p:nvSpPr>
          <p:cNvPr id="17" name="Shape 209">
            <a:extLst>
              <a:ext uri="{FF2B5EF4-FFF2-40B4-BE49-F238E27FC236}">
                <a16:creationId xmlns:a16="http://schemas.microsoft.com/office/drawing/2014/main" id="{49945798-9E96-F56A-BB1C-69A2B9CCAE9D}"/>
              </a:ext>
            </a:extLst>
          </p:cNvPr>
          <p:cNvSpPr txBox="1"/>
          <p:nvPr/>
        </p:nvSpPr>
        <p:spPr>
          <a:xfrm>
            <a:off x="6375400" y="5401374"/>
            <a:ext cx="5295900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Внедрение в процессы внешнего юр. лица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Развитие поддержки и операционной деятельности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Улучшение коммерческих процессов</a:t>
            </a:r>
          </a:p>
        </p:txBody>
      </p:sp>
      <p:sp>
        <p:nvSpPr>
          <p:cNvPr id="2" name="Открывающая квадратная скобка 1">
            <a:extLst>
              <a:ext uri="{FF2B5EF4-FFF2-40B4-BE49-F238E27FC236}">
                <a16:creationId xmlns:a16="http://schemas.microsoft.com/office/drawing/2014/main" id="{2F6F0D75-37D5-2A0F-08FB-9761457DF828}"/>
              </a:ext>
            </a:extLst>
          </p:cNvPr>
          <p:cNvSpPr/>
          <p:nvPr/>
        </p:nvSpPr>
        <p:spPr>
          <a:xfrm rot="5400000">
            <a:off x="4555710" y="-3069317"/>
            <a:ext cx="161803" cy="8544873"/>
          </a:xfrm>
          <a:prstGeom prst="leftBracket">
            <a:avLst>
              <a:gd name="adj" fmla="val 753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832BA71B-DACB-F3D0-372B-25B4135F244F}"/>
              </a:ext>
            </a:extLst>
          </p:cNvPr>
          <p:cNvSpPr/>
          <p:nvPr/>
        </p:nvSpPr>
        <p:spPr>
          <a:xfrm>
            <a:off x="3282950" y="928029"/>
            <a:ext cx="2711450" cy="3854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/>
              <a:t>90%+ </a:t>
            </a:r>
            <a:r>
              <a:rPr lang="ru-RU" sz="1200"/>
              <a:t>маржинальность инвентаря</a:t>
            </a:r>
          </a:p>
          <a:p>
            <a:pPr algn="ctr"/>
            <a:r>
              <a:rPr lang="ru-RU" sz="800" i="1"/>
              <a:t>Необходим фокус Коммерции на </a:t>
            </a:r>
            <a:r>
              <a:rPr lang="en-US" sz="800" i="1"/>
              <a:t>AdTech</a:t>
            </a:r>
            <a:endParaRPr lang="ru-RU" sz="800" i="1"/>
          </a:p>
        </p:txBody>
      </p:sp>
    </p:spTree>
    <p:extLst>
      <p:ext uri="{BB962C8B-B14F-4D97-AF65-F5344CB8AC3E}">
        <p14:creationId xmlns:p14="http://schemas.microsoft.com/office/powerpoint/2010/main" val="171977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B667F642-A6DC-FB4B-0CF2-C06CB38BC4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67F642-A6DC-FB4B-0CF2-C06CB38BC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58E3ACAA-D0DB-85FC-1715-5DF10349E2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КУ — коммерческие условия с поставщиками. Источник: инициативы руководителей направлений Магнит на 2027+ гг.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11134C-94AC-F253-DD37-FB977A432E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Объединяем управление маркетинговым инвентарем Магнита в AdTech и забираем весь остаточный рекламный инструментарий</a:t>
            </a:r>
          </a:p>
        </p:txBody>
      </p:sp>
      <p:sp>
        <p:nvSpPr>
          <p:cNvPr id="66" name="ADS card 66"/>
          <p:cNvSpPr/>
          <p:nvPr/>
        </p:nvSpPr>
        <p:spPr>
          <a:xfrm>
            <a:off x="365760" y="1024128"/>
            <a:ext cx="54864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7" name="ADS head 67"/>
          <p:cNvSpPr txBox="1"/>
          <p:nvPr/>
        </p:nvSpPr>
        <p:spPr>
          <a:xfrm>
            <a:off x="548640" y="115214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Маркетинговый инвентарь Магнит</a:t>
            </a:r>
            <a:endParaRPr lang="ru-RU" sz="1200"/>
          </a:p>
        </p:txBody>
      </p:sp>
      <p:sp>
        <p:nvSpPr>
          <p:cNvPr id="68" name="ADS thesis 68"/>
          <p:cNvSpPr txBox="1"/>
          <p:nvPr/>
        </p:nvSpPr>
        <p:spPr>
          <a:xfrm>
            <a:off x="548640" y="1499616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Сегодня инвентарь распределен по бизнесам — собираем его в одном контуре AdTech</a:t>
            </a:r>
            <a:endParaRPr lang="ru-RU" sz="1200"/>
          </a:p>
        </p:txBody>
      </p:sp>
      <p:sp>
        <p:nvSpPr>
          <p:cNvPr id="69" name="ADS line 69"/>
          <p:cNvSpPr/>
          <p:nvPr/>
        </p:nvSpPr>
        <p:spPr>
          <a:xfrm>
            <a:off x="548640" y="1965960"/>
            <a:ext cx="51206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0" name="ADS chip 70"/>
          <p:cNvSpPr/>
          <p:nvPr/>
        </p:nvSpPr>
        <p:spPr>
          <a:xfrm>
            <a:off x="548640" y="207568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1" name="ADS chiptxt 71"/>
          <p:cNvSpPr txBox="1"/>
          <p:nvPr/>
        </p:nvSpPr>
        <p:spPr>
          <a:xfrm>
            <a:off x="640080" y="212140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Приложение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2350008" y="207568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Медиа, поиск и рекомендации</a:t>
            </a:r>
            <a:endParaRPr lang="ru-RU" sz="1200"/>
          </a:p>
        </p:txBody>
      </p:sp>
      <p:sp>
        <p:nvSpPr>
          <p:cNvPr id="73" name="ADS chip 73"/>
          <p:cNvSpPr/>
          <p:nvPr/>
        </p:nvSpPr>
        <p:spPr>
          <a:xfrm>
            <a:off x="4709160" y="216712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4" name="ADS label 74"/>
          <p:cNvSpPr txBox="1"/>
          <p:nvPr/>
        </p:nvSpPr>
        <p:spPr>
          <a:xfrm>
            <a:off x="4709160" y="216712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/>
          </a:p>
        </p:txBody>
      </p:sp>
      <p:sp>
        <p:nvSpPr>
          <p:cNvPr id="75" name="ADS chip 75"/>
          <p:cNvSpPr/>
          <p:nvPr/>
        </p:nvSpPr>
        <p:spPr>
          <a:xfrm>
            <a:off x="548640" y="256032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6" name="ADS chiptxt 76"/>
          <p:cNvSpPr txBox="1"/>
          <p:nvPr/>
        </p:nvSpPr>
        <p:spPr>
          <a:xfrm>
            <a:off x="640080" y="260604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Arial"/>
                <a:cs typeface="Arial"/>
              </a:rPr>
              <a:t>Digital in-store</a:t>
            </a:r>
            <a:endParaRPr lang="en-US" sz="1200"/>
          </a:p>
        </p:txBody>
      </p:sp>
      <p:sp>
        <p:nvSpPr>
          <p:cNvPr id="77" name="ADS label 77"/>
          <p:cNvSpPr txBox="1"/>
          <p:nvPr/>
        </p:nvSpPr>
        <p:spPr>
          <a:xfrm>
            <a:off x="2350008" y="256032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81 тыс. устройств, Online + DMP, DMP</a:t>
            </a:r>
            <a:endParaRPr lang="ru-RU" sz="1200"/>
          </a:p>
        </p:txBody>
      </p:sp>
      <p:sp>
        <p:nvSpPr>
          <p:cNvPr id="78" name="ADS chip 78"/>
          <p:cNvSpPr/>
          <p:nvPr/>
        </p:nvSpPr>
        <p:spPr>
          <a:xfrm>
            <a:off x="4709160" y="265176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9" name="ADS label 79"/>
          <p:cNvSpPr txBox="1"/>
          <p:nvPr/>
        </p:nvSpPr>
        <p:spPr>
          <a:xfrm>
            <a:off x="4709160" y="26517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/>
          </a:p>
        </p:txBody>
      </p:sp>
      <p:sp>
        <p:nvSpPr>
          <p:cNvPr id="80" name="ADS chip 80"/>
          <p:cNvSpPr/>
          <p:nvPr/>
        </p:nvSpPr>
        <p:spPr>
          <a:xfrm>
            <a:off x="548640" y="304495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1" name="ADS chiptxt 81"/>
          <p:cNvSpPr txBox="1"/>
          <p:nvPr/>
        </p:nvSpPr>
        <p:spPr>
          <a:xfrm>
            <a:off x="640080" y="30906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М+</a:t>
            </a:r>
            <a:endParaRPr lang="ru-RU" sz="1200"/>
          </a:p>
        </p:txBody>
      </p:sp>
      <p:sp>
        <p:nvSpPr>
          <p:cNvPr id="82" name="ADS label 82"/>
          <p:cNvSpPr txBox="1"/>
          <p:nvPr/>
        </p:nvSpPr>
        <p:spPr>
          <a:xfrm>
            <a:off x="2350008" y="304495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Инвентарь лояльности, кроме игр</a:t>
            </a:r>
            <a:endParaRPr lang="ru-RU" sz="1200"/>
          </a:p>
        </p:txBody>
      </p:sp>
      <p:sp>
        <p:nvSpPr>
          <p:cNvPr id="83" name="ADS chip 83"/>
          <p:cNvSpPr/>
          <p:nvPr/>
        </p:nvSpPr>
        <p:spPr>
          <a:xfrm>
            <a:off x="4709160" y="313639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4" name="ADS label 84"/>
          <p:cNvSpPr txBox="1"/>
          <p:nvPr/>
        </p:nvSpPr>
        <p:spPr>
          <a:xfrm>
            <a:off x="4709160" y="313639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С 2026 г.</a:t>
            </a:r>
            <a:endParaRPr lang="ru-RU" sz="1200"/>
          </a:p>
        </p:txBody>
      </p:sp>
      <p:sp>
        <p:nvSpPr>
          <p:cNvPr id="85" name="ADS chip 85"/>
          <p:cNvSpPr/>
          <p:nvPr/>
        </p:nvSpPr>
        <p:spPr>
          <a:xfrm>
            <a:off x="548640" y="3529584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6" name="ADS chiptxt 86"/>
          <p:cNvSpPr txBox="1"/>
          <p:nvPr/>
        </p:nvSpPr>
        <p:spPr>
          <a:xfrm>
            <a:off x="640080" y="3575304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UGC и соцсети</a:t>
            </a:r>
            <a:endParaRPr lang="ru-RU" sz="1200"/>
          </a:p>
        </p:txBody>
      </p:sp>
      <p:sp>
        <p:nvSpPr>
          <p:cNvPr id="87" name="ADS label 87"/>
          <p:cNvSpPr txBox="1"/>
          <p:nvPr/>
        </p:nvSpPr>
        <p:spPr>
          <a:xfrm>
            <a:off x="2350008" y="3529584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Content factory: 12,3 млн → 500+ млн просмотров</a:t>
            </a:r>
            <a:endParaRPr lang="ru-RU" sz="1200"/>
          </a:p>
        </p:txBody>
      </p:sp>
      <p:sp>
        <p:nvSpPr>
          <p:cNvPr id="88" name="ADS chip 88"/>
          <p:cNvSpPr/>
          <p:nvPr/>
        </p:nvSpPr>
        <p:spPr>
          <a:xfrm>
            <a:off x="4709160" y="3621024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9" name="ADS label 89"/>
          <p:cNvSpPr txBox="1"/>
          <p:nvPr/>
        </p:nvSpPr>
        <p:spPr>
          <a:xfrm>
            <a:off x="4709160" y="3621024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Пилот</a:t>
            </a:r>
            <a:endParaRPr lang="ru-RU" sz="1200"/>
          </a:p>
        </p:txBody>
      </p:sp>
      <p:sp>
        <p:nvSpPr>
          <p:cNvPr id="90" name="ADS chip 90"/>
          <p:cNvSpPr/>
          <p:nvPr/>
        </p:nvSpPr>
        <p:spPr>
          <a:xfrm>
            <a:off x="548640" y="4014216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1" name="ADS chiptxt 91"/>
          <p:cNvSpPr txBox="1"/>
          <p:nvPr/>
        </p:nvSpPr>
        <p:spPr>
          <a:xfrm>
            <a:off x="640080" y="405993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Финтех</a:t>
            </a:r>
            <a:endParaRPr lang="ru-RU" sz="1200"/>
          </a:p>
        </p:txBody>
      </p:sp>
      <p:sp>
        <p:nvSpPr>
          <p:cNvPr id="92" name="ADS label 92"/>
          <p:cNvSpPr txBox="1"/>
          <p:nvPr/>
        </p:nvSpPr>
        <p:spPr>
          <a:xfrm>
            <a:off x="2350008" y="4014216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Витрина финансовых продуктов</a:t>
            </a:r>
            <a:endParaRPr lang="ru-RU" sz="1200"/>
          </a:p>
        </p:txBody>
      </p:sp>
      <p:sp>
        <p:nvSpPr>
          <p:cNvPr id="93" name="ADS chip 93"/>
          <p:cNvSpPr/>
          <p:nvPr/>
        </p:nvSpPr>
        <p:spPr>
          <a:xfrm>
            <a:off x="4709160" y="4105656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4" name="ADS label 94"/>
          <p:cNvSpPr txBox="1"/>
          <p:nvPr/>
        </p:nvSpPr>
        <p:spPr>
          <a:xfrm>
            <a:off x="4709160" y="410565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Магнит</a:t>
            </a:r>
            <a:endParaRPr lang="ru-RU" sz="1200"/>
          </a:p>
        </p:txBody>
      </p:sp>
      <p:sp>
        <p:nvSpPr>
          <p:cNvPr id="95" name="ADS chip 95"/>
          <p:cNvSpPr/>
          <p:nvPr/>
        </p:nvSpPr>
        <p:spPr>
          <a:xfrm>
            <a:off x="548640" y="449884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6" name="ADS chiptxt 96"/>
          <p:cNvSpPr txBox="1"/>
          <p:nvPr/>
        </p:nvSpPr>
        <p:spPr>
          <a:xfrm>
            <a:off x="640080" y="454456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РИМ и полка</a:t>
            </a:r>
            <a:endParaRPr lang="ru-RU" sz="1200"/>
          </a:p>
        </p:txBody>
      </p:sp>
      <p:sp>
        <p:nvSpPr>
          <p:cNvPr id="97" name="ADS label 97"/>
          <p:cNvSpPr txBox="1"/>
          <p:nvPr/>
        </p:nvSpPr>
        <p:spPr>
          <a:xfrm>
            <a:off x="2350008" y="449884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Бронирование, фиксация, аукцион за полку</a:t>
            </a:r>
            <a:endParaRPr lang="ru-RU" sz="1200"/>
          </a:p>
        </p:txBody>
      </p:sp>
      <p:sp>
        <p:nvSpPr>
          <p:cNvPr id="98" name="ADS chip 98"/>
          <p:cNvSpPr/>
          <p:nvPr/>
        </p:nvSpPr>
        <p:spPr>
          <a:xfrm>
            <a:off x="4709160" y="459028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9" name="ADS label 99"/>
          <p:cNvSpPr txBox="1"/>
          <p:nvPr/>
        </p:nvSpPr>
        <p:spPr>
          <a:xfrm>
            <a:off x="4709160" y="459028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Переводим</a:t>
            </a:r>
            <a:endParaRPr lang="ru-RU" sz="1200"/>
          </a:p>
        </p:txBody>
      </p:sp>
      <p:sp>
        <p:nvSpPr>
          <p:cNvPr id="100" name="ADS chip 100"/>
          <p:cNvSpPr/>
          <p:nvPr/>
        </p:nvSpPr>
        <p:spPr>
          <a:xfrm>
            <a:off x="548640" y="498348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" name="ADS chiptxt 101"/>
          <p:cNvSpPr txBox="1"/>
          <p:nvPr/>
        </p:nvSpPr>
        <p:spPr>
          <a:xfrm>
            <a:off x="640080" y="502920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Внутренние коммуникации</a:t>
            </a:r>
            <a:endParaRPr lang="ru-RU" sz="1200"/>
          </a:p>
        </p:txBody>
      </p:sp>
      <p:sp>
        <p:nvSpPr>
          <p:cNvPr id="102" name="ADS label 102"/>
          <p:cNvSpPr txBox="1"/>
          <p:nvPr/>
        </p:nvSpPr>
        <p:spPr>
          <a:xfrm>
            <a:off x="2350008" y="498348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Промо, лояльность, A/B-виджеты — квота 50%</a:t>
            </a:r>
            <a:endParaRPr lang="ru-RU" sz="1200"/>
          </a:p>
        </p:txBody>
      </p:sp>
      <p:sp>
        <p:nvSpPr>
          <p:cNvPr id="103" name="ADS chip 103"/>
          <p:cNvSpPr/>
          <p:nvPr/>
        </p:nvSpPr>
        <p:spPr>
          <a:xfrm>
            <a:off x="4709160" y="507492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" name="ADS label 104"/>
          <p:cNvSpPr txBox="1"/>
          <p:nvPr/>
        </p:nvSpPr>
        <p:spPr>
          <a:xfrm>
            <a:off x="4709160" y="507492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FF452C"/>
                </a:solidFill>
                <a:latin typeface="Arial"/>
                <a:cs typeface="Arial"/>
              </a:rPr>
              <a:t>Delivery</a:t>
            </a:r>
            <a:endParaRPr lang="en-US" sz="1200"/>
          </a:p>
        </p:txBody>
      </p:sp>
      <p:sp>
        <p:nvSpPr>
          <p:cNvPr id="105" name="ADS chip 105"/>
          <p:cNvSpPr/>
          <p:nvPr/>
        </p:nvSpPr>
        <p:spPr>
          <a:xfrm>
            <a:off x="548640" y="546811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6" name="ADS chiptxt 106"/>
          <p:cNvSpPr txBox="1"/>
          <p:nvPr/>
        </p:nvSpPr>
        <p:spPr>
          <a:xfrm>
            <a:off x="640080" y="551383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Бренд-бюджеты вне КУ</a:t>
            </a:r>
            <a:endParaRPr lang="ru-RU" sz="1200"/>
          </a:p>
        </p:txBody>
      </p:sp>
      <p:sp>
        <p:nvSpPr>
          <p:cNvPr id="107" name="ADS label 107"/>
          <p:cNvSpPr txBox="1"/>
          <p:nvPr/>
        </p:nvSpPr>
        <p:spPr>
          <a:xfrm>
            <a:off x="2350008" y="546811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Весь инвентарь через ЮЛ Магнит Маркета</a:t>
            </a:r>
            <a:endParaRPr lang="ru-RU" sz="1200"/>
          </a:p>
        </p:txBody>
      </p:sp>
      <p:sp>
        <p:nvSpPr>
          <p:cNvPr id="108" name="ADS chip 108"/>
          <p:cNvSpPr/>
          <p:nvPr/>
        </p:nvSpPr>
        <p:spPr>
          <a:xfrm>
            <a:off x="4709160" y="555955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" name="ADS label 109"/>
          <p:cNvSpPr txBox="1"/>
          <p:nvPr/>
        </p:nvSpPr>
        <p:spPr>
          <a:xfrm>
            <a:off x="4709160" y="555955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595959"/>
                </a:solidFill>
                <a:latin typeface="Arial"/>
                <a:cs typeface="Arial"/>
              </a:rPr>
              <a:t>Q4 2027</a:t>
            </a:r>
            <a:endParaRPr lang="en-US" sz="1200"/>
          </a:p>
        </p:txBody>
      </p:sp>
      <p:sp>
        <p:nvSpPr>
          <p:cNvPr id="110" name="ADS arrow 110"/>
          <p:cNvSpPr/>
          <p:nvPr/>
        </p:nvSpPr>
        <p:spPr>
          <a:xfrm rot="5400000">
            <a:off x="5865876" y="3506724"/>
            <a:ext cx="310896" cy="155448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1" name="ADS card 111"/>
          <p:cNvSpPr/>
          <p:nvPr/>
        </p:nvSpPr>
        <p:spPr>
          <a:xfrm>
            <a:off x="6355080" y="1024128"/>
            <a:ext cx="54681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2" name="ADS head 112"/>
          <p:cNvSpPr txBox="1"/>
          <p:nvPr/>
        </p:nvSpPr>
        <p:spPr>
          <a:xfrm>
            <a:off x="6537960" y="1152144"/>
            <a:ext cx="51023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AdTech — единый оператор инвентаря</a:t>
            </a:r>
            <a:endParaRPr lang="ru-RU" sz="1200"/>
          </a:p>
        </p:txBody>
      </p:sp>
      <p:sp>
        <p:nvSpPr>
          <p:cNvPr id="113" name="ADS thesis 113"/>
          <p:cNvSpPr txBox="1"/>
          <p:nvPr/>
        </p:nvSpPr>
        <p:spPr>
          <a:xfrm>
            <a:off x="6537960" y="1499616"/>
            <a:ext cx="51023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Весь инвентарь — через одну платформу, одну команду продаж и один процесс</a:t>
            </a:r>
            <a:endParaRPr lang="ru-RU" sz="1200"/>
          </a:p>
        </p:txBody>
      </p:sp>
      <p:sp>
        <p:nvSpPr>
          <p:cNvPr id="114" name="ADS line 114"/>
          <p:cNvSpPr/>
          <p:nvPr/>
        </p:nvSpPr>
        <p:spPr>
          <a:xfrm>
            <a:off x="6537960" y="1965960"/>
            <a:ext cx="510235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5" name="ADS label 115"/>
          <p:cNvSpPr txBox="1"/>
          <p:nvPr/>
        </p:nvSpPr>
        <p:spPr>
          <a:xfrm>
            <a:off x="6537960" y="203911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работает</a:t>
            </a:r>
            <a:endParaRPr lang="ru-RU" sz="1200"/>
          </a:p>
        </p:txBody>
      </p:sp>
      <p:sp>
        <p:nvSpPr>
          <p:cNvPr id="116" name="ADS chip 116"/>
          <p:cNvSpPr/>
          <p:nvPr/>
        </p:nvSpPr>
        <p:spPr>
          <a:xfrm>
            <a:off x="6537960" y="2295144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7" name="ADS chiptxt 117"/>
          <p:cNvSpPr txBox="1"/>
          <p:nvPr/>
        </p:nvSpPr>
        <p:spPr>
          <a:xfrm>
            <a:off x="6675120" y="2340864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Единая delivery-платформа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выбирает показ между рекламой поставщиков и НЕ поставщиков, промо, лояльностью и экспериментами по единой политике</a:t>
            </a:r>
            <a:endParaRPr lang="ru-RU" sz="1200"/>
          </a:p>
        </p:txBody>
      </p:sp>
      <p:sp>
        <p:nvSpPr>
          <p:cNvPr id="118" name="ADS chip 118"/>
          <p:cNvSpPr/>
          <p:nvPr/>
        </p:nvSpPr>
        <p:spPr>
          <a:xfrm>
            <a:off x="6537960" y="3008376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9" name="ADS chiptxt 119"/>
          <p:cNvSpPr txBox="1"/>
          <p:nvPr/>
        </p:nvSpPr>
        <p:spPr>
          <a:xfrm>
            <a:off x="6675120" y="3054096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Единый sales force и оффер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поставщики, НЕ поставщики и бренд-бюджеты получают один пакет на весь инвентарь группы</a:t>
            </a:r>
            <a:endParaRPr lang="ru-RU" sz="1200"/>
          </a:p>
        </p:txBody>
      </p:sp>
      <p:sp>
        <p:nvSpPr>
          <p:cNvPr id="120" name="ADS chip 120"/>
          <p:cNvSpPr/>
          <p:nvPr/>
        </p:nvSpPr>
        <p:spPr>
          <a:xfrm>
            <a:off x="6537960" y="3721608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1" name="ADS chiptxt 121"/>
          <p:cNvSpPr txBox="1"/>
          <p:nvPr/>
        </p:nvSpPr>
        <p:spPr>
          <a:xfrm>
            <a:off x="6675120" y="3767328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Единый процесс размещения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бронирование, расчет емкости, фиксация, подсчет результатов и закрывающие документы — в платформе</a:t>
            </a:r>
            <a:endParaRPr lang="ru-RU" sz="1200"/>
          </a:p>
        </p:txBody>
      </p:sp>
      <p:sp>
        <p:nvSpPr>
          <p:cNvPr id="122" name="ADS label 122"/>
          <p:cNvSpPr txBox="1"/>
          <p:nvPr/>
        </p:nvSpPr>
        <p:spPr>
          <a:xfrm>
            <a:off x="6537960" y="450799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Эффект для Магнита</a:t>
            </a:r>
            <a:endParaRPr lang="ru-RU" sz="1200"/>
          </a:p>
        </p:txBody>
      </p:sp>
      <p:sp>
        <p:nvSpPr>
          <p:cNvPr id="123" name="ADS pink 123"/>
          <p:cNvSpPr/>
          <p:nvPr/>
        </p:nvSpPr>
        <p:spPr>
          <a:xfrm>
            <a:off x="6537960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4" name="ADS pinktxt 124"/>
          <p:cNvSpPr txBox="1"/>
          <p:nvPr/>
        </p:nvSpPr>
        <p:spPr>
          <a:xfrm>
            <a:off x="6629400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Одна точка входа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для поставщика на весь инвентарь</a:t>
            </a:r>
            <a:endParaRPr lang="ru-RU" sz="1200"/>
          </a:p>
        </p:txBody>
      </p:sp>
      <p:sp>
        <p:nvSpPr>
          <p:cNvPr id="125" name="ADS pink 125"/>
          <p:cNvSpPr/>
          <p:nvPr/>
        </p:nvSpPr>
        <p:spPr>
          <a:xfrm>
            <a:off x="8269224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6" name="ADS pinktxt 126"/>
          <p:cNvSpPr txBox="1"/>
          <p:nvPr/>
        </p:nvSpPr>
        <p:spPr>
          <a:xfrm>
            <a:off x="8360663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Омниканальные пакеты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приложение, in-store, соцсети и внешние площадки</a:t>
            </a:r>
            <a:endParaRPr lang="ru-RU" sz="1200"/>
          </a:p>
        </p:txBody>
      </p:sp>
      <p:sp>
        <p:nvSpPr>
          <p:cNvPr id="127" name="ADS pink 127"/>
          <p:cNvSpPr/>
          <p:nvPr/>
        </p:nvSpPr>
        <p:spPr>
          <a:xfrm>
            <a:off x="10000488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8" name="ADS pinktxt 128"/>
          <p:cNvSpPr txBox="1"/>
          <p:nvPr/>
        </p:nvSpPr>
        <p:spPr>
          <a:xfrm>
            <a:off x="10091928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Остаточный инвентарь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монетизируем без ущерба задачам марком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743607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92809F8-88FA-BA41-DCAE-2F45FB22CD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4789985-C1E5-928D-6C24-D23FEF66E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28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442B76-F572-6CD1-713D-47281235C2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Обновление роли </a:t>
            </a:r>
            <a:r>
              <a:rPr lang="en-US"/>
              <a:t>AdTech </a:t>
            </a:r>
            <a:r>
              <a:rPr lang="ru-RU"/>
              <a:t>для максимизации </a:t>
            </a:r>
            <a:br>
              <a:rPr lang="ru-RU" dirty="0"/>
            </a:br>
            <a:r>
              <a:rPr lang="ru-RU"/>
              <a:t>рекламной выручки в условиях модели ритейлера</a:t>
            </a:r>
          </a:p>
        </p:txBody>
      </p:sp>
      <p:sp>
        <p:nvSpPr>
          <p:cNvPr id="7" name="Role card 1">
            <a:extLst>
              <a:ext uri="{FF2B5EF4-FFF2-40B4-BE49-F238E27FC236}">
                <a16:creationId xmlns:a16="http://schemas.microsoft.com/office/drawing/2014/main" id="{52F61E5C-8CE7-55C9-A00A-68A8C1C0435C}"/>
              </a:ext>
            </a:extLst>
          </p:cNvPr>
          <p:cNvSpPr/>
          <p:nvPr/>
        </p:nvSpPr>
        <p:spPr>
          <a:xfrm>
            <a:off x="3683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" name="ADS 1046">
            <a:extLst>
              <a:ext uri="{FF2B5EF4-FFF2-40B4-BE49-F238E27FC236}">
                <a16:creationId xmlns:a16="http://schemas.microsoft.com/office/drawing/2014/main" id="{3014A97D-D77A-F459-5950-3BEC72A4ECEA}"/>
              </a:ext>
            </a:extLst>
          </p:cNvPr>
          <p:cNvSpPr txBox="1"/>
          <p:nvPr/>
        </p:nvSpPr>
        <p:spPr>
          <a:xfrm>
            <a:off x="5483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/>
          </a:p>
        </p:txBody>
      </p:sp>
      <p:sp>
        <p:nvSpPr>
          <p:cNvPr id="9" name="ADS 1047">
            <a:extLst>
              <a:ext uri="{FF2B5EF4-FFF2-40B4-BE49-F238E27FC236}">
                <a16:creationId xmlns:a16="http://schemas.microsoft.com/office/drawing/2014/main" id="{987CF5DB-3F55-8C40-AACE-2E4CFC975476}"/>
              </a:ext>
            </a:extLst>
          </p:cNvPr>
          <p:cNvSpPr txBox="1"/>
          <p:nvPr/>
        </p:nvSpPr>
        <p:spPr>
          <a:xfrm>
            <a:off x="5483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Как сервисная функция, активно работаем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 коммерцией форматов</a:t>
            </a:r>
            <a:endParaRPr lang="ru-RU" sz="1200"/>
          </a:p>
        </p:txBody>
      </p:sp>
      <p:sp>
        <p:nvSpPr>
          <p:cNvPr id="10" name="ADS 1048">
            <a:extLst>
              <a:ext uri="{FF2B5EF4-FFF2-40B4-BE49-F238E27FC236}">
                <a16:creationId xmlns:a16="http://schemas.microsoft.com/office/drawing/2014/main" id="{C39AB452-15EB-7441-E8E1-93D4B539C075}"/>
              </a:ext>
            </a:extLst>
          </p:cNvPr>
          <p:cNvSpPr/>
          <p:nvPr/>
        </p:nvSpPr>
        <p:spPr>
          <a:xfrm>
            <a:off x="5483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1049">
            <a:extLst>
              <a:ext uri="{FF2B5EF4-FFF2-40B4-BE49-F238E27FC236}">
                <a16:creationId xmlns:a16="http://schemas.microsoft.com/office/drawing/2014/main" id="{7460418B-5798-95B6-720F-57E1507AE22A}"/>
              </a:ext>
            </a:extLst>
          </p:cNvPr>
          <p:cNvSpPr txBox="1"/>
          <p:nvPr/>
        </p:nvSpPr>
        <p:spPr>
          <a:xfrm>
            <a:off x="5483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/>
          </a:p>
        </p:txBody>
      </p:sp>
      <p:sp>
        <p:nvSpPr>
          <p:cNvPr id="12" name="ADS 1050">
            <a:extLst>
              <a:ext uri="{FF2B5EF4-FFF2-40B4-BE49-F238E27FC236}">
                <a16:creationId xmlns:a16="http://schemas.microsoft.com/office/drawing/2014/main" id="{35BB8657-E443-532C-88BC-D853845ACC3C}"/>
              </a:ext>
            </a:extLst>
          </p:cNvPr>
          <p:cNvSpPr/>
          <p:nvPr/>
        </p:nvSpPr>
        <p:spPr>
          <a:xfrm>
            <a:off x="5483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1051">
            <a:extLst>
              <a:ext uri="{FF2B5EF4-FFF2-40B4-BE49-F238E27FC236}">
                <a16:creationId xmlns:a16="http://schemas.microsoft.com/office/drawing/2014/main" id="{52F1153B-F5D6-D9CD-D238-FD7C11763178}"/>
              </a:ext>
            </a:extLst>
          </p:cNvPr>
          <p:cNvSpPr txBox="1"/>
          <p:nvPr/>
        </p:nvSpPr>
        <p:spPr>
          <a:xfrm>
            <a:off x="6183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Поставщик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трейд-инвестиции в рамках коммерческих условий</a:t>
            </a:r>
            <a:endParaRPr lang="ru-RU" sz="1200"/>
          </a:p>
        </p:txBody>
      </p:sp>
      <p:sp>
        <p:nvSpPr>
          <p:cNvPr id="14" name="ADS 1052">
            <a:extLst>
              <a:ext uri="{FF2B5EF4-FFF2-40B4-BE49-F238E27FC236}">
                <a16:creationId xmlns:a16="http://schemas.microsoft.com/office/drawing/2014/main" id="{002CEA90-6643-D8A6-0A3B-F9D8D62AC6A1}"/>
              </a:ext>
            </a:extLst>
          </p:cNvPr>
          <p:cNvSpPr/>
          <p:nvPr/>
        </p:nvSpPr>
        <p:spPr>
          <a:xfrm>
            <a:off x="21458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5" name="ADS 1053">
            <a:extLst>
              <a:ext uri="{FF2B5EF4-FFF2-40B4-BE49-F238E27FC236}">
                <a16:creationId xmlns:a16="http://schemas.microsoft.com/office/drawing/2014/main" id="{E2427C04-2548-EF9A-9D57-86402AA63938}"/>
              </a:ext>
            </a:extLst>
          </p:cNvPr>
          <p:cNvSpPr/>
          <p:nvPr/>
        </p:nvSpPr>
        <p:spPr>
          <a:xfrm>
            <a:off x="23958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1054">
            <a:extLst>
              <a:ext uri="{FF2B5EF4-FFF2-40B4-BE49-F238E27FC236}">
                <a16:creationId xmlns:a16="http://schemas.microsoft.com/office/drawing/2014/main" id="{EE584239-7A3A-2CE8-4358-421B944898AB}"/>
              </a:ext>
            </a:extLst>
          </p:cNvPr>
          <p:cNvSpPr txBox="1"/>
          <p:nvPr/>
        </p:nvSpPr>
        <p:spPr>
          <a:xfrm>
            <a:off x="24658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Коммерция форматов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ведет переговоры и наращивает выручку</a:t>
            </a:r>
            <a:endParaRPr lang="ru-RU" sz="1200"/>
          </a:p>
        </p:txBody>
      </p:sp>
      <p:sp>
        <p:nvSpPr>
          <p:cNvPr id="17" name="ADS 1055">
            <a:extLst>
              <a:ext uri="{FF2B5EF4-FFF2-40B4-BE49-F238E27FC236}">
                <a16:creationId xmlns:a16="http://schemas.microsoft.com/office/drawing/2014/main" id="{224F4386-B450-06C4-F955-003AA2D7E198}"/>
              </a:ext>
            </a:extLst>
          </p:cNvPr>
          <p:cNvSpPr/>
          <p:nvPr/>
        </p:nvSpPr>
        <p:spPr>
          <a:xfrm>
            <a:off x="39934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8" name="ADS 1056">
            <a:extLst>
              <a:ext uri="{FF2B5EF4-FFF2-40B4-BE49-F238E27FC236}">
                <a16:creationId xmlns:a16="http://schemas.microsoft.com/office/drawing/2014/main" id="{49B016DD-0563-A408-689F-2021FF5DEB0F}"/>
              </a:ext>
            </a:extLst>
          </p:cNvPr>
          <p:cNvSpPr/>
          <p:nvPr/>
        </p:nvSpPr>
        <p:spPr>
          <a:xfrm>
            <a:off x="42434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1057">
            <a:extLst>
              <a:ext uri="{FF2B5EF4-FFF2-40B4-BE49-F238E27FC236}">
                <a16:creationId xmlns:a16="http://schemas.microsoft.com/office/drawing/2014/main" id="{5441B506-A5A1-0CE0-3A97-AB64BA068C3C}"/>
              </a:ext>
            </a:extLst>
          </p:cNvPr>
          <p:cNvSpPr txBox="1"/>
          <p:nvPr/>
        </p:nvSpPr>
        <p:spPr>
          <a:xfrm>
            <a:off x="43134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создает инвентарь, ведет кампании и отчетность</a:t>
            </a:r>
            <a:endParaRPr lang="ru-RU" sz="1200"/>
          </a:p>
        </p:txBody>
      </p:sp>
      <p:sp>
        <p:nvSpPr>
          <p:cNvPr id="25" name="Role card 2">
            <a:extLst>
              <a:ext uri="{FF2B5EF4-FFF2-40B4-BE49-F238E27FC236}">
                <a16:creationId xmlns:a16="http://schemas.microsoft.com/office/drawing/2014/main" id="{5626C9BC-7A0F-EC50-49B1-BBEA570B92B6}"/>
              </a:ext>
            </a:extLst>
          </p:cNvPr>
          <p:cNvSpPr/>
          <p:nvPr/>
        </p:nvSpPr>
        <p:spPr>
          <a:xfrm>
            <a:off x="62210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6" name="ADS 1064">
            <a:extLst>
              <a:ext uri="{FF2B5EF4-FFF2-40B4-BE49-F238E27FC236}">
                <a16:creationId xmlns:a16="http://schemas.microsoft.com/office/drawing/2014/main" id="{6E3E5825-927A-5360-D634-5FDC71D6419B}"/>
              </a:ext>
            </a:extLst>
          </p:cNvPr>
          <p:cNvSpPr txBox="1"/>
          <p:nvPr/>
        </p:nvSpPr>
        <p:spPr>
          <a:xfrm>
            <a:off x="64010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/>
          </a:p>
        </p:txBody>
      </p:sp>
      <p:sp>
        <p:nvSpPr>
          <p:cNvPr id="27" name="ADS 1065">
            <a:extLst>
              <a:ext uri="{FF2B5EF4-FFF2-40B4-BE49-F238E27FC236}">
                <a16:creationId xmlns:a16="http://schemas.microsoft.com/office/drawing/2014/main" id="{F98A22A2-9BD7-9F4D-D527-75A6E040B101}"/>
              </a:ext>
            </a:extLst>
          </p:cNvPr>
          <p:cNvSpPr txBox="1"/>
          <p:nvPr/>
        </p:nvSpPr>
        <p:spPr>
          <a:xfrm>
            <a:off x="64010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Стремимся выйти на бренд-бюджеты — развиваемся через внешнее ЮЛ Магнит Маркета</a:t>
            </a:r>
            <a:endParaRPr lang="ru-RU" sz="1200"/>
          </a:p>
        </p:txBody>
      </p:sp>
      <p:sp>
        <p:nvSpPr>
          <p:cNvPr id="28" name="ADS 1066">
            <a:extLst>
              <a:ext uri="{FF2B5EF4-FFF2-40B4-BE49-F238E27FC236}">
                <a16:creationId xmlns:a16="http://schemas.microsoft.com/office/drawing/2014/main" id="{74171890-49F2-B5FA-4D24-98EA08B26614}"/>
              </a:ext>
            </a:extLst>
          </p:cNvPr>
          <p:cNvSpPr/>
          <p:nvPr/>
        </p:nvSpPr>
        <p:spPr>
          <a:xfrm>
            <a:off x="64010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9" name="ADS 1067">
            <a:extLst>
              <a:ext uri="{FF2B5EF4-FFF2-40B4-BE49-F238E27FC236}">
                <a16:creationId xmlns:a16="http://schemas.microsoft.com/office/drawing/2014/main" id="{320B44EA-7054-564B-FB55-4BC5B99DCC99}"/>
              </a:ext>
            </a:extLst>
          </p:cNvPr>
          <p:cNvSpPr txBox="1"/>
          <p:nvPr/>
        </p:nvSpPr>
        <p:spPr>
          <a:xfrm>
            <a:off x="64010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/>
          </a:p>
        </p:txBody>
      </p:sp>
      <p:sp>
        <p:nvSpPr>
          <p:cNvPr id="30" name="ADS 1068">
            <a:extLst>
              <a:ext uri="{FF2B5EF4-FFF2-40B4-BE49-F238E27FC236}">
                <a16:creationId xmlns:a16="http://schemas.microsoft.com/office/drawing/2014/main" id="{6E938C0B-D0AA-EB41-D824-24D3D130E74E}"/>
              </a:ext>
            </a:extLst>
          </p:cNvPr>
          <p:cNvSpPr/>
          <p:nvPr/>
        </p:nvSpPr>
        <p:spPr>
          <a:xfrm>
            <a:off x="64010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1" name="ADS 1069">
            <a:extLst>
              <a:ext uri="{FF2B5EF4-FFF2-40B4-BE49-F238E27FC236}">
                <a16:creationId xmlns:a16="http://schemas.microsoft.com/office/drawing/2014/main" id="{FC2F763A-96A8-AB62-AAE1-D71C86DFE373}"/>
              </a:ext>
            </a:extLst>
          </p:cNvPr>
          <p:cNvSpPr txBox="1"/>
          <p:nvPr/>
        </p:nvSpPr>
        <p:spPr>
          <a:xfrm>
            <a:off x="64710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Бренд-команда поставщика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бюджет на охватную рекламу: ТВ, OOH, digital</a:t>
            </a:r>
            <a:endParaRPr lang="ru-RU" sz="1200"/>
          </a:p>
        </p:txBody>
      </p:sp>
      <p:sp>
        <p:nvSpPr>
          <p:cNvPr id="32" name="ADS 1070">
            <a:extLst>
              <a:ext uri="{FF2B5EF4-FFF2-40B4-BE49-F238E27FC236}">
                <a16:creationId xmlns:a16="http://schemas.microsoft.com/office/drawing/2014/main" id="{86CE7601-55CB-2AA8-3ACD-6D4D34FFF3B2}"/>
              </a:ext>
            </a:extLst>
          </p:cNvPr>
          <p:cNvSpPr/>
          <p:nvPr/>
        </p:nvSpPr>
        <p:spPr>
          <a:xfrm>
            <a:off x="79985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3" name="ADS 1071">
            <a:extLst>
              <a:ext uri="{FF2B5EF4-FFF2-40B4-BE49-F238E27FC236}">
                <a16:creationId xmlns:a16="http://schemas.microsoft.com/office/drawing/2014/main" id="{7C4DCCDD-B76A-893D-A1EE-B818DA123690}"/>
              </a:ext>
            </a:extLst>
          </p:cNvPr>
          <p:cNvSpPr/>
          <p:nvPr/>
        </p:nvSpPr>
        <p:spPr>
          <a:xfrm>
            <a:off x="82485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4" name="ADS 1072">
            <a:extLst>
              <a:ext uri="{FF2B5EF4-FFF2-40B4-BE49-F238E27FC236}">
                <a16:creationId xmlns:a16="http://schemas.microsoft.com/office/drawing/2014/main" id="{0CC4A8D1-37B6-DAB5-F1D2-E0C9CCD14469}"/>
              </a:ext>
            </a:extLst>
          </p:cNvPr>
          <p:cNvSpPr txBox="1"/>
          <p:nvPr/>
        </p:nvSpPr>
        <p:spPr>
          <a:xfrm>
            <a:off x="83185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Внешнее ЮЛ Магнит Маркета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RMN в связке с Дикси и Азбукой Вкуса</a:t>
            </a:r>
            <a:endParaRPr lang="ru-RU" sz="1200"/>
          </a:p>
        </p:txBody>
      </p:sp>
      <p:sp>
        <p:nvSpPr>
          <p:cNvPr id="35" name="ADS 1073">
            <a:extLst>
              <a:ext uri="{FF2B5EF4-FFF2-40B4-BE49-F238E27FC236}">
                <a16:creationId xmlns:a16="http://schemas.microsoft.com/office/drawing/2014/main" id="{80853A94-6C0A-D93E-F031-C80373C393AF}"/>
              </a:ext>
            </a:extLst>
          </p:cNvPr>
          <p:cNvSpPr/>
          <p:nvPr/>
        </p:nvSpPr>
        <p:spPr>
          <a:xfrm>
            <a:off x="98461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6" name="ADS 1074">
            <a:extLst>
              <a:ext uri="{FF2B5EF4-FFF2-40B4-BE49-F238E27FC236}">
                <a16:creationId xmlns:a16="http://schemas.microsoft.com/office/drawing/2014/main" id="{08D0A1F6-FAC9-404B-CEAE-36FB2FA5575B}"/>
              </a:ext>
            </a:extLst>
          </p:cNvPr>
          <p:cNvSpPr/>
          <p:nvPr/>
        </p:nvSpPr>
        <p:spPr>
          <a:xfrm>
            <a:off x="100961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7" name="ADS 1075">
            <a:extLst>
              <a:ext uri="{FF2B5EF4-FFF2-40B4-BE49-F238E27FC236}">
                <a16:creationId xmlns:a16="http://schemas.microsoft.com/office/drawing/2014/main" id="{38F46111-3199-7DB1-4E60-55A3BF096B22}"/>
              </a:ext>
            </a:extLst>
          </p:cNvPr>
          <p:cNvSpPr txBox="1"/>
          <p:nvPr/>
        </p:nvSpPr>
        <p:spPr>
          <a:xfrm>
            <a:off x="101661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продает напрямую и через агентства</a:t>
            </a:r>
            <a:endParaRPr lang="ru-RU" sz="1200"/>
          </a:p>
        </p:txBody>
      </p:sp>
      <p:sp>
        <p:nvSpPr>
          <p:cNvPr id="38" name="ADS line 38"/>
          <p:cNvSpPr/>
          <p:nvPr/>
        </p:nvSpPr>
        <p:spPr>
          <a:xfrm>
            <a:off x="54864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9" name="ADS label 39"/>
          <p:cNvSpPr txBox="1"/>
          <p:nvPr/>
        </p:nvSpPr>
        <p:spPr>
          <a:xfrm>
            <a:off x="54864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/>
          </a:p>
        </p:txBody>
      </p:sp>
      <p:sp>
        <p:nvSpPr>
          <p:cNvPr id="40" name="ADS label 40"/>
          <p:cNvSpPr txBox="1"/>
          <p:nvPr/>
        </p:nvSpPr>
        <p:spPr>
          <a:xfrm>
            <a:off x="54864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Трейд-бюджеты драйвит Коммерция Магнита.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Задача AdTech — освоить эти бюджеты и создать максимальную добавочную ценность рекламы, чтобы поставщик был готов инвестировать в инструментарий дальше</a:t>
            </a:r>
            <a:endParaRPr lang="ru-RU" sz="1200"/>
          </a:p>
        </p:txBody>
      </p:sp>
      <p:sp>
        <p:nvSpPr>
          <p:cNvPr id="41" name="ADS pink 41"/>
          <p:cNvSpPr/>
          <p:nvPr/>
        </p:nvSpPr>
        <p:spPr>
          <a:xfrm>
            <a:off x="54864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2" name="ADS pinktxt 42"/>
          <p:cNvSpPr txBox="1"/>
          <p:nvPr/>
        </p:nvSpPr>
        <p:spPr>
          <a:xfrm>
            <a:off x="64008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освоение бюджетов, sales lift и ROAS кампаний, рост повторных инвестиций поставщиков</a:t>
            </a:r>
            <a:endParaRPr lang="ru-RU" sz="1200"/>
          </a:p>
        </p:txBody>
      </p:sp>
      <p:sp>
        <p:nvSpPr>
          <p:cNvPr id="43" name="ADS line 43"/>
          <p:cNvSpPr/>
          <p:nvPr/>
        </p:nvSpPr>
        <p:spPr>
          <a:xfrm>
            <a:off x="640080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4" name="ADS label 44"/>
          <p:cNvSpPr txBox="1"/>
          <p:nvPr/>
        </p:nvSpPr>
        <p:spPr>
          <a:xfrm>
            <a:off x="640080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/>
          </a:p>
        </p:txBody>
      </p:sp>
      <p:sp>
        <p:nvSpPr>
          <p:cNvPr id="45" name="ADS label 45"/>
          <p:cNvSpPr txBox="1"/>
          <p:nvPr/>
        </p:nvSpPr>
        <p:spPr>
          <a:xfrm>
            <a:off x="640080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Бренд-бюджеты — выход в новые охватные сегменты.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Конкурируем со всем рынком рекламы и доказываем брендам, что ритейл-медиа эффективнее внешних охватных инструментов: традиционного digital (РСЯ, VK) и DOOH (Russ Outdoor)</a:t>
            </a:r>
            <a:endParaRPr lang="ru-RU" sz="1200"/>
          </a:p>
        </p:txBody>
      </p:sp>
      <p:sp>
        <p:nvSpPr>
          <p:cNvPr id="46" name="ADS pink 46"/>
          <p:cNvSpPr/>
          <p:nvPr/>
        </p:nvSpPr>
        <p:spPr>
          <a:xfrm>
            <a:off x="640080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7" name="ADS pinktxt 47"/>
          <p:cNvSpPr txBox="1"/>
          <p:nvPr/>
        </p:nvSpPr>
        <p:spPr>
          <a:xfrm>
            <a:off x="649224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инкрементальная выручка RMN, доля в бренд-бюджетах, brand lift и sales lift против внешних охватов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4449355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1. Объем бюджетов — внутреннее исследование Magnit ADS: около 200 млрд руб. среднегодовой маркетинговый бюджет FMCG-компаний. </a:t>
            </a:r>
          </a:p>
          <a:p>
            <a:r>
              <a:rPr lang="ru-RU" sz="900">
                <a:solidFill>
                  <a:srgbClr val="6E6E6E"/>
                </a:solidFill>
              </a:rPr>
              <a:t>План 2027 — BU 2027, 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Два типа бюджетов поставщика: трейд через Коммерцию форматов, бренд через внешнее ЮЛ AdTech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Как Magnit ADS работает с трейд- и бренд-бюджетами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069094"/>
              </p:ext>
            </p:extLst>
          </p:nvPr>
        </p:nvGraphicFramePr>
        <p:xfrm>
          <a:off x="368300" y="1396999"/>
          <a:ext cx="11457432" cy="4445001"/>
        </p:xfrm>
        <a:graphic>
          <a:graphicData uri="http://schemas.openxmlformats.org/drawingml/2006/table">
            <a:tbl>
              <a:tblPr firstRow="1"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631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Трейд-бюджеты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Описание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Инвестиции поставщика в продвижение в сети в рамках коммерческих условий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Бюджеты бренд-маркетинга поставщика на охватную рекламу: </a:t>
                      </a:r>
                      <a:b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ТВ, OOH,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Объем у FMCG-компаний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120-140 млрд руб. в год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60-80 млрд руб. в год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Кто продает со стороны Магнит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Коммерция форматов в переговорах с поставщиком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AdTech самостоятельно или через рекламные агентства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Роль 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Создает новый и инновационный инвентарь, ведет кампании и отчетность; Коммерция наращивает на нем рекламную выручку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Выходит на бренд-команды поставщиков и получает бюджеты через внешнее ЮЛ Магнит Маркета (Retail Media Network в связке с Дикси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 Азбукой Вкуса)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Инвентарь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 (медиа и перформанс), in-store digital, DMP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Охваты RMN: digital и in-store, контакт в момент выбора товара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13 502 млн руб.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(APP 7 696; in-store 4 019; DMP+Online+Analytics 1 787)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1 064 млн руб.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+mn-lt"/>
                        </a:rPr>
                        <a:t>(RMN — 850; Content factory — 213)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7660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02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P&amp;L, ключевые допущения, сезонность и сверка со стратегией</a:t>
            </a:r>
          </a:p>
        </p:txBody>
      </p:sp>
    </p:spTree>
    <p:extLst>
      <p:ext uri="{BB962C8B-B14F-4D97-AF65-F5344CB8AC3E}">
        <p14:creationId xmlns:p14="http://schemas.microsoft.com/office/powerpoint/2010/main" val="3623023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FC 2026 — факт 8 мес. + прогноз 4 мес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i="1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APP +1 501: </a:t>
            </a:r>
            <a:r>
              <a:rPr lang="ru-RU" sz="1100">
                <a:solidFill>
                  <a:srgbClr val="000000"/>
                </a:solidFill>
              </a:rPr>
              <a:t>~60% (+873) — полный год нового прайса, ~40% (+628) — рост DAC на 18%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In-store +1 573: </a:t>
            </a:r>
            <a:r>
              <a:rPr lang="ru-RU" sz="1100">
                <a:solidFill>
                  <a:srgbClr val="000000"/>
                </a:solidFill>
              </a:rPr>
              <a:t>полный год работы оборудования, введённого в 2026 г. (+2 462); доход на устройство заложен консервативно (−1 264, в основном КСО)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DMP + Online +613: </a:t>
            </a:r>
            <a:r>
              <a:rPr lang="ru-RU" sz="1100">
                <a:solidFill>
                  <a:srgbClr val="000000"/>
                </a:solidFill>
              </a:rPr>
              <a:t>две трети прироста — новые площадки (SmartTV, Авито, маркетплейсы, 420);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Новые направления: </a:t>
            </a:r>
            <a:r>
              <a:rPr lang="ru-RU" sz="1100">
                <a:solidFill>
                  <a:srgbClr val="000000"/>
                </a:solidFill>
              </a:rPr>
              <a:t>RMN 850 (+258) и Content factory 213 — бренд-бюджеты поставщиков и внешние рекламодатели вне КУ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COGS 1 971: </a:t>
            </a:r>
            <a:r>
              <a:rPr lang="ru-RU" sz="1100">
                <a:solidFill>
                  <a:srgbClr val="000000"/>
                </a:solidFill>
              </a:rPr>
              <a:t>закупка трафика DMP (1 000), агентские вознаграждения (795), креаторы (176); Net Revenue — 86% Gross Revenue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PEX 1 436 (+28%): </a:t>
            </a:r>
            <a:r>
              <a:rPr lang="ru-RU" sz="1100">
                <a:solidFill>
                  <a:srgbClr val="000000"/>
                </a:solidFill>
              </a:rPr>
              <a:t>полный год работы штата, набранного в 2026 г., и +42 FTE (до 354); 27% ФОТ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14697242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B195EE-AB28-7BF5-C59F-08686C969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BA190-0DA4-8110-CB82-CAC8AD064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E4971-9518-1AE3-CEF7-A78B6EB476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42% выручки 2027 приходится на Q4: сезонность цен и рост аудитории к концу года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08100"/>
          <a:ext cx="7747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620000" cy="3048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Gross Revenue по месяцам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8255000" y="1016000"/>
            <a:ext cx="3568700" cy="5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Выручка по кварталам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Q1: </a:t>
            </a:r>
            <a:r>
              <a:rPr lang="en-US" sz="1200" b="1">
                <a:solidFill>
                  <a:srgbClr val="000000"/>
                </a:solidFill>
              </a:rPr>
              <a:t>2 039</a:t>
            </a:r>
            <a:r>
              <a:rPr lang="en-US" sz="1200">
                <a:solidFill>
                  <a:srgbClr val="000000"/>
                </a:solidFill>
              </a:rPr>
              <a:t> (14%)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Q2: </a:t>
            </a:r>
            <a:r>
              <a:rPr lang="en-US" sz="1200" b="1">
                <a:solidFill>
                  <a:srgbClr val="000000"/>
                </a:solidFill>
              </a:rPr>
              <a:t>3 059</a:t>
            </a:r>
            <a:r>
              <a:rPr lang="en-US" sz="1200">
                <a:solidFill>
                  <a:srgbClr val="000000"/>
                </a:solidFill>
              </a:rPr>
              <a:t> (21%)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Q3: </a:t>
            </a:r>
            <a:r>
              <a:rPr lang="en-US" sz="1200" b="1">
                <a:solidFill>
                  <a:srgbClr val="000000"/>
                </a:solidFill>
              </a:rPr>
              <a:t>3 350</a:t>
            </a:r>
            <a:r>
              <a:rPr lang="en-US" sz="1200">
                <a:solidFill>
                  <a:srgbClr val="000000"/>
                </a:solidFill>
              </a:rPr>
              <a:t> (23%)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Q4: </a:t>
            </a:r>
            <a:r>
              <a:rPr lang="en-US" sz="1200" b="1"/>
              <a:t>6 118</a:t>
            </a:r>
            <a:r>
              <a:rPr lang="en-US" sz="1200"/>
              <a:t> </a:t>
            </a:r>
            <a:r>
              <a:rPr lang="en-US" sz="1200">
                <a:solidFill>
                  <a:srgbClr val="000000"/>
                </a:solidFill>
              </a:rPr>
              <a:t>(42%)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Профиль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000000"/>
                </a:solidFill>
              </a:rPr>
              <a:t>Январь — 2% годового плана, декабрь — 17%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Q4 — 42% годовой выручки: </a:t>
            </a:r>
            <a:r>
              <a:rPr lang="ru-RU" sz="1200">
                <a:solidFill>
                  <a:srgbClr val="000000"/>
                </a:solidFill>
              </a:rPr>
              <a:t>сезонный пик рекламных бюджетов и рост аудитории к концу года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При равномерном PEX </a:t>
            </a:r>
            <a:r>
              <a:rPr lang="ru-RU" sz="1200">
                <a:solidFill>
                  <a:srgbClr val="000000"/>
                </a:solidFill>
              </a:rPr>
              <a:t>маржа EBITDA растёт с 25% в январе до 83% в декабре</a:t>
            </a:r>
          </a:p>
        </p:txBody>
      </p:sp>
    </p:spTree>
    <p:extLst>
      <p:ext uri="{BB962C8B-B14F-4D97-AF65-F5344CB8AC3E}">
        <p14:creationId xmlns:p14="http://schemas.microsoft.com/office/powerpoint/2010/main" val="39679946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4AF7E3-8FC3-07B1-051D-8A6A96430C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BDF6F5-4FFD-62B6-A50A-324A68739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1EDC9-92BA-2F91-2FFB-E391FF536F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Бюджет выше стратегии: выручка +1 618 млн руб. (+12%), EBITDA +870 млн руб. (+9%)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Gross Revenue: стратегия 2027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Сверка ключевых строк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1484"/>
              </p:ext>
            </p:extLst>
          </p:nvPr>
        </p:nvGraphicFramePr>
        <p:xfrm>
          <a:off x="7696200" y="1397000"/>
          <a:ext cx="4127500" cy="1600200"/>
        </p:xfrm>
        <a:graphic>
          <a:graphicData uri="http://schemas.openxmlformats.org/drawingml/2006/table">
            <a:tbl>
              <a:tblPr firstRow="1"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Δ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OPEX вкл. COGS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(2 995)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(3 743)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(748)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3175000"/>
            <a:ext cx="4127500" cy="292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RMN (+850) — более половины превышения: </a:t>
            </a:r>
            <a:r>
              <a:rPr lang="ru-RU" sz="1200">
                <a:solidFill>
                  <a:srgbClr val="000000"/>
                </a:solidFill>
              </a:rPr>
              <a:t>направление не закладывалось в стратегию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DMP + Online +537 к стратегии: </a:t>
            </a:r>
            <a:r>
              <a:rPr lang="ru-RU" sz="1200">
                <a:solidFill>
                  <a:srgbClr val="000000"/>
                </a:solidFill>
              </a:rPr>
              <a:t>в основном новые площадки — </a:t>
            </a:r>
            <a:r>
              <a:rPr lang="en-US" sz="1200">
                <a:solidFill>
                  <a:srgbClr val="000000"/>
                </a:solidFill>
              </a:rPr>
              <a:t>SmartTV</a:t>
            </a:r>
            <a:r>
              <a:rPr lang="ru-RU" sz="1200">
                <a:solidFill>
                  <a:srgbClr val="000000"/>
                </a:solidFill>
              </a:rPr>
              <a:t>, </a:t>
            </a:r>
            <a:r>
              <a:rPr lang="ru-RU" sz="1200">
                <a:solidFill>
                  <a:srgbClr val="000000"/>
                </a:solidFill>
              </a:rPr>
              <a:t>Авито</a:t>
            </a:r>
            <a:r>
              <a:rPr lang="ru-RU" sz="1200">
                <a:solidFill>
                  <a:srgbClr val="000000"/>
                </a:solidFill>
              </a:rPr>
              <a:t>, маркетплейсы (420)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In-</a:t>
            </a:r>
            <a:r>
              <a:rPr lang="en-US" sz="1200" b="1">
                <a:solidFill>
                  <a:srgbClr val="000000"/>
                </a:solidFill>
              </a:rPr>
              <a:t>store</a:t>
            </a:r>
            <a:r>
              <a:rPr lang="ru-RU" sz="1200" b="1">
                <a:solidFill>
                  <a:srgbClr val="000000"/>
                </a:solidFill>
              </a:rPr>
              <a:t> на 490 ниже стратегии: </a:t>
            </a:r>
            <a:r>
              <a:rPr lang="ru-RU" sz="1200">
                <a:solidFill>
                  <a:srgbClr val="000000"/>
                </a:solidFill>
              </a:rPr>
              <a:t>консервативная оценка дохода на устройство после расширения парка, в первую очередь по КСО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OPEX с COGS выше стратегии на 748: </a:t>
            </a:r>
            <a:r>
              <a:rPr lang="ru-RU" sz="1200">
                <a:solidFill>
                  <a:srgbClr val="000000"/>
                </a:solidFill>
              </a:rPr>
              <a:t>в основном Marketing (+742) — закупка трафика DMP и агентские вознаграждения, которые напрямую связаны с ростом выручки</a:t>
            </a:r>
          </a:p>
        </p:txBody>
      </p:sp>
    </p:spTree>
    <p:extLst>
      <p:ext uri="{BB962C8B-B14F-4D97-AF65-F5344CB8AC3E}">
        <p14:creationId xmlns:p14="http://schemas.microsoft.com/office/powerpoint/2010/main" val="14767635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Планы направлений 2027: APP и In-store дают 80% выручки, RMN и Content factory — 1,1 млрд руб.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APP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7 696 млн руб.  ·  +24%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Монетизация роста аудитории: DAC </a:t>
            </a:r>
            <a:r>
              <a:rPr lang="ru-RU" sz="1400" b="1">
                <a:solidFill>
                  <a:srgbClr val="000000"/>
                </a:solidFill>
              </a:rPr>
              <a:t>+18%</a:t>
            </a:r>
            <a:r>
              <a:rPr lang="ru-RU" sz="1400">
                <a:solidFill>
                  <a:srgbClr val="000000"/>
                </a:solidFill>
              </a:rPr>
              <a:t>, показы AdTech 6,5 млрд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Полный год нового прайса: модальное окно и Косметик — </a:t>
            </a:r>
            <a:r>
              <a:rPr lang="ru-RU" sz="1400" b="1">
                <a:solidFill>
                  <a:srgbClr val="000000"/>
                </a:solidFill>
              </a:rPr>
              <a:t>1 000 руб.</a:t>
            </a:r>
            <a:r>
              <a:rPr lang="en-US" sz="1400">
                <a:solidFill>
                  <a:srgbClr val="000000"/>
                </a:solidFill>
              </a:rPr>
              <a:t> CPM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Перформанс: </a:t>
            </a:r>
            <a:r>
              <a:rPr lang="ru-RU" sz="1400" b="1">
                <a:solidFill>
                  <a:srgbClr val="000000"/>
                </a:solidFill>
              </a:rPr>
              <a:t>2,3 тыс.</a:t>
            </a:r>
            <a:r>
              <a:rPr lang="ru-RU" sz="1400">
                <a:solidFill>
                  <a:srgbClr val="000000"/>
                </a:solidFill>
              </a:rPr>
              <a:t> кампаний в месяц, чек 86 тыс.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Сторис: </a:t>
            </a:r>
            <a:r>
              <a:rPr lang="ru-RU" sz="1400" b="1">
                <a:solidFill>
                  <a:srgbClr val="000000"/>
                </a:solidFill>
              </a:rPr>
              <a:t>313</a:t>
            </a:r>
            <a:r>
              <a:rPr lang="ru-RU" sz="1400">
                <a:solidFill>
                  <a:srgbClr val="000000"/>
                </a:solidFill>
              </a:rPr>
              <a:t> кампаний в месяц по 100 тыс. руб. за день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In-store digital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4 019 млн руб.  ·  +64%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Ввод </a:t>
            </a:r>
            <a:r>
              <a:rPr lang="ru-RU" sz="1400" b="1">
                <a:solidFill>
                  <a:srgbClr val="000000"/>
                </a:solidFill>
              </a:rPr>
              <a:t>3 250</a:t>
            </a:r>
            <a:r>
              <a:rPr lang="ru-RU" sz="1400">
                <a:solidFill>
                  <a:srgbClr val="000000"/>
                </a:solidFill>
              </a:rPr>
              <a:t> шелф-баннеров, 428 фасадных экранов и 20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Запуск целевой системы управления медиаконтентом (CAPEX 438 млн руб.)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DMP и данные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1 787 млн руб. 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Баннеры и OLV: </a:t>
            </a:r>
            <a:r>
              <a:rPr lang="ru-RU" sz="1400" b="1">
                <a:solidFill>
                  <a:srgbClr val="000000"/>
                </a:solidFill>
              </a:rPr>
              <a:t>788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и Онлайн+ТВ: </a:t>
            </a:r>
            <a:r>
              <a:rPr lang="ru-RU" sz="1400" b="1">
                <a:solidFill>
                  <a:srgbClr val="000000"/>
                </a:solidFill>
              </a:rPr>
              <a:t>393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площадки — SmartTV, Авито, маркетплейсы: </a:t>
            </a:r>
            <a:r>
              <a:rPr lang="ru-RU" sz="1400" b="1">
                <a:solidFill>
                  <a:srgbClr val="000000"/>
                </a:solidFill>
              </a:rPr>
              <a:t>420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Аналитика: DMP 54 и ad hoc 133 млн руб.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RMN и Content factory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1 064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RMN: </a:t>
            </a:r>
            <a:r>
              <a:rPr lang="ru-RU" sz="1400" b="1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6 ячеек по 25 креаторов к марту 2027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569 млн просмотров, половина — внешним рекламодателям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Результат с ВГО 113 млн руб., рентабельность 32%</a:t>
            </a:r>
          </a:p>
        </p:txBody>
      </p:sp>
    </p:spTree>
    <p:extLst>
      <p:ext uri="{BB962C8B-B14F-4D97-AF65-F5344CB8AC3E}">
        <p14:creationId xmlns:p14="http://schemas.microsoft.com/office/powerpoint/2010/main" val="17223906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DAC — пользователи, совершившие хотя бы одно действие в приложении. Источник: прогноз М+, стратегия Magnit AdTech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Пять пререквизитов достижения целей 2027: аудитория, квота, in-store, отдельное ЮЛ и KPI Коммерции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Пререквизиты и зависимые направления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389077"/>
              </p:ext>
            </p:extLst>
          </p:nvPr>
        </p:nvGraphicFramePr>
        <p:xfrm>
          <a:off x="368300" y="1397000"/>
          <a:ext cx="7114032" cy="4394200"/>
        </p:xfrm>
        <a:graphic>
          <a:graphicData uri="http://schemas.openxmlformats.org/drawingml/2006/table">
            <a:tbl>
              <a:tblPr first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Пререквизит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требуется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Влияет 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План М+ по аудитории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DAC 29,3 млн в месяц (+18%)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APP: показы и число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Квота AdTech в показах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Квота внутренних заказчиков — не более 50% инвентаря; доля AdTech в показах на уровне 2026 г., переход к аукциону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 Медиа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Ввод in-store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3 250 шелф-баннеров, 428 фасадных экранов и 20 медиафасадов по графику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Отдельное ЮЛ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Юрлицо для сделок с бренд-бюджетами и внешними рекламодателями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RMN, Content factory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KPI Коммерции форматов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Цель на прирост трейд-бюджетов пропорционально росту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Трейд-бюджеты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Что это значит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Зависимость от экосистемы: </a:t>
            </a:r>
            <a:r>
              <a:rPr lang="en-US" sz="1200">
                <a:solidFill>
                  <a:srgbClr val="000000"/>
                </a:solidFill>
              </a:rPr>
              <a:t>AdTech</a:t>
            </a:r>
            <a:r>
              <a:rPr lang="ru-RU" sz="1200">
                <a:solidFill>
                  <a:srgbClr val="000000"/>
                </a:solidFill>
              </a:rPr>
              <a:t> — горизонталь, результат зависит от DAC (М+) и </a:t>
            </a:r>
            <a:r>
              <a:rPr lang="en-US" sz="1200">
                <a:solidFill>
                  <a:srgbClr val="000000"/>
                </a:solidFill>
              </a:rPr>
              <a:t>online</a:t>
            </a:r>
            <a:r>
              <a:rPr lang="en-US" sz="1200">
                <a:solidFill>
                  <a:srgbClr val="000000"/>
                </a:solidFill>
              </a:rPr>
              <a:t> GMV (</a:t>
            </a:r>
            <a:r>
              <a:rPr lang="en-US" sz="1200">
                <a:solidFill>
                  <a:srgbClr val="000000"/>
                </a:solidFill>
              </a:rPr>
              <a:t>FoodTech</a:t>
            </a:r>
            <a:r>
              <a:rPr lang="ru-RU" sz="1200">
                <a:solidFill>
                  <a:srgbClr val="000000"/>
                </a:solidFill>
              </a:rPr>
              <a:t>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Квота 50%: </a:t>
            </a:r>
            <a:r>
              <a:rPr lang="ru-RU" sz="1200">
                <a:solidFill>
                  <a:srgbClr val="000000"/>
                </a:solidFill>
              </a:rPr>
              <a:t>половина инвентаря приложения и </a:t>
            </a:r>
            <a:r>
              <a:rPr lang="en-US" sz="1200">
                <a:solidFill>
                  <a:srgbClr val="000000"/>
                </a:solidFill>
              </a:rPr>
              <a:t>in-store</a:t>
            </a:r>
            <a:r>
              <a:rPr lang="ru-RU" sz="1200">
                <a:solidFill>
                  <a:srgbClr val="000000"/>
                </a:solidFill>
              </a:rPr>
              <a:t> закреплена за задачами команд Магнита; бюджет 2027 рассчитан на фактической доле </a:t>
            </a:r>
            <a:r>
              <a:rPr lang="en-US" sz="1200">
                <a:solidFill>
                  <a:srgbClr val="000000"/>
                </a:solidFill>
              </a:rPr>
              <a:t>AdTech</a:t>
            </a:r>
            <a:r>
              <a:rPr lang="ru-RU" sz="1200">
                <a:solidFill>
                  <a:srgbClr val="000000"/>
                </a:solidFill>
              </a:rPr>
              <a:t> в показах 2026 г.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Верификация </a:t>
            </a:r>
            <a:r>
              <a:rPr lang="en-US" sz="1200" b="1">
                <a:solidFill>
                  <a:srgbClr val="000000"/>
                </a:solidFill>
              </a:rPr>
              <a:t>in-store</a:t>
            </a:r>
            <a:r>
              <a:rPr lang="ru-RU" sz="1200" b="1">
                <a:solidFill>
                  <a:srgbClr val="000000"/>
                </a:solidFill>
              </a:rPr>
              <a:t>: </a:t>
            </a:r>
            <a:r>
              <a:rPr lang="ru-RU" sz="1200">
                <a:solidFill>
                  <a:srgbClr val="000000"/>
                </a:solidFill>
              </a:rPr>
              <a:t>для продажи нового инвентаря нужны система контроля показов и фотофиксация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При отклонении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Пересмотр целей: </a:t>
            </a:r>
            <a:r>
              <a:rPr lang="ru-RU" sz="1200">
                <a:solidFill>
                  <a:srgbClr val="000000"/>
                </a:solidFill>
              </a:rPr>
              <a:t>при невыполнении плана по аудитории, изменении квоты или сдвиге ввода оборудования цели APP и </a:t>
            </a:r>
            <a:r>
              <a:rPr lang="en-US" sz="1200">
                <a:solidFill>
                  <a:srgbClr val="000000"/>
                </a:solidFill>
              </a:rPr>
              <a:t>in-store</a:t>
            </a:r>
            <a:r>
              <a:rPr lang="ru-RU" sz="1200">
                <a:solidFill>
                  <a:srgbClr val="000000"/>
                </a:solidFill>
              </a:rPr>
              <a:t> пересматриваются пропорционально</a:t>
            </a:r>
          </a:p>
        </p:txBody>
      </p:sp>
    </p:spTree>
    <p:extLst>
      <p:ext uri="{BB962C8B-B14F-4D97-AF65-F5344CB8AC3E}">
        <p14:creationId xmlns:p14="http://schemas.microsoft.com/office/powerpoint/2010/main" val="15465734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03</a:t>
            </a:r>
          </a:p>
          <a:p>
            <a:pPr>
              <a:lnSpc>
                <a:spcPct val="90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Arial"/>
              </a:rPr>
              <a:t>P&amp;L Deep Dive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Логика расчёта строк, бриджи выручки, EBITDA и CAPEX</a:t>
            </a:r>
          </a:p>
        </p:txBody>
      </p:sp>
    </p:spTree>
    <p:extLst>
      <p:ext uri="{BB962C8B-B14F-4D97-AF65-F5344CB8AC3E}">
        <p14:creationId xmlns:p14="http://schemas.microsoft.com/office/powerpoint/2010/main" val="40334069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FDCD95-2C49-FCBA-9D46-D3D1F7AC1D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CPM 2026 — по прайсу до 09.2026, взвешен по структуре показов; выручка 2026 за сен.–дек. — по новому прайсу. Выручка по прайсу — до применения сезонных коэффициентов. Источник: листы «APP Медиа», «APP Перформанс»,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DDC2-A8EC-137E-AD13-84B93FA46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4BFE2-22C4-A10E-17DE-60161C323E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APP +1 501 млн руб. (+24%): ~60% роста — полный год нового прайса, ~40% — рост аудитории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6604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выручки APP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6604000" cy="440436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Показатель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Δ,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Медиа: CPM-плейсменты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Показы AdTech, млрд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Средневзвешенный CPM,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3 172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3 782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Медиа: сторис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Цена за день,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+48%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Медиа с сезонностью,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3 999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4 864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Перформанс: закрепы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2 033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2 270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Средний чек кампании,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+26%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Выручка перформанса,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2 196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2 832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APP итого,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366000" y="1016000"/>
            <a:ext cx="44577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Объём, +628 (~40%)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DAC растёт с 24,8 до 29,3 млн (+18%), поэтому показов и кампаний становится больше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Показываем только целевые коммуникации, и вовлечённость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Подмешиваем рекламные карточки в топ выдачи и в корзину, ближе к покупке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Цена, +873 (~60%)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Клиенты видят эффект в продажах, поэтому растёт спрос на CPM и CPD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С 09.2026 действует новый прайс: средневзвешенный CPM +17%, сторис 70 → 100 тыс. руб. за день, чек перформанса +26%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Утилизация 95%+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Инвентарь почти полностью продан, поэтому рост идёт через цену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Рост цены создаёт буфер под экстра-кампании</a:t>
            </a:r>
          </a:p>
        </p:txBody>
      </p:sp>
    </p:spTree>
    <p:extLst>
      <p:ext uri="{BB962C8B-B14F-4D97-AF65-F5344CB8AC3E}">
        <p14:creationId xmlns:p14="http://schemas.microsoft.com/office/powerpoint/2010/main" val="5080133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Устройства — на начало года; на конец 2027 г. — 81 419 (ввод 3 250 шелф-баннеров, 428 фасадных экранов, 20 медиафасадов). Источник: листы «In-store»,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38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In-store +1 573 млн руб. (+64%): основной рост — полный год оборудования, введённого в 2026 г.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Выручка In-store по типам оборудования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221407"/>
              </p:ext>
            </p:extLst>
          </p:nvPr>
        </p:nvGraphicFramePr>
        <p:xfrm>
          <a:off x="368300" y="1397000"/>
          <a:ext cx="7112000" cy="4318000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Тип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 начало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 начало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Доход на устр. в мес., руб. 2026 →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 2026,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 2027,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КСО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16 500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4 809 → 2 885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1 421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1 895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Шелф-баннеры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28 800 → 30 240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1 147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Фасадные экраны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30 214 → 24 171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TFT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14 350 → 11 480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Дисплеи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1 784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Радио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506 → 2 024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Прайсчекеры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1 112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Медиафасады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200 000 → 240 000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7 136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33 664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77 721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Почему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Полный год ввода 2026 г., +2 462: </a:t>
            </a:r>
            <a:r>
              <a:rPr lang="ru-RU" sz="1100">
                <a:solidFill>
                  <a:srgbClr val="000000"/>
                </a:solidFill>
              </a:rPr>
              <a:t>за 2026 г. парк вырос в 2,3 раза (33,7 → 77,7 тыс. устройств): 40,5 тыс. КСО, 2 725 шелф-баннеров и 831 фасадный экран работали 3–4 мес., в 2027 г. — 12 мес.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Ввод 2027 г., +228: </a:t>
            </a:r>
            <a:r>
              <a:rPr lang="ru-RU" sz="1100">
                <a:solidFill>
                  <a:srgbClr val="000000"/>
                </a:solidFill>
              </a:rPr>
              <a:t>3 250 шелф-баннеров, 428 фасадных экранов, 20 медиафасадов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Реализация инвентаря, +147: </a:t>
            </a:r>
            <a:r>
              <a:rPr lang="ru-RU" sz="1100">
                <a:solidFill>
                  <a:srgbClr val="000000"/>
                </a:solidFill>
              </a:rPr>
              <a:t>92,5% → 100%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Доход на устройство, −1 264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Почему снижается: </a:t>
            </a:r>
            <a:r>
              <a:rPr lang="ru-RU" sz="1100">
                <a:solidFill>
                  <a:srgbClr val="000000"/>
                </a:solidFill>
              </a:rPr>
              <a:t>в 2026 г. парк рос опережающими темпами, а в 2027 г. всё новое оборудование работает полный год. Рекламный спрос распределяется на кратно большее число экранов, поэтому закладываем снижение среднего дохода на устройство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КСО −40% (4 809 → 2 885 руб.), −1 217: </a:t>
            </a:r>
            <a:r>
              <a:rPr lang="ru-RU" sz="1100">
                <a:solidFill>
                  <a:srgbClr val="000000"/>
                </a:solidFill>
              </a:rPr>
              <a:t>парк вырос в 3,5 раза (16,5 → 57 тыс.)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Фасадные экраны −20%, −92: </a:t>
            </a:r>
            <a:r>
              <a:rPr lang="ru-RU" sz="1100">
                <a:solidFill>
                  <a:srgbClr val="000000"/>
                </a:solidFill>
              </a:rPr>
              <a:t>парк вырос втрое (0,4 → 1,2 тыс.); TFT −20%, −74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Радио ×4 (506 → 2 024 руб.), +64; шелф-баннеры +5%, +53: </a:t>
            </a:r>
            <a:r>
              <a:rPr lang="ru-RU" sz="1100">
                <a:solidFill>
                  <a:srgbClr val="000000"/>
                </a:solidFill>
              </a:rPr>
              <a:t>регулирование спроса</a:t>
            </a:r>
            <a:endParaRPr lang="ru-RU" sz="1100">
              <a:solidFill>
                <a:srgbClr val="FF45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027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Концепция 5 касаний: от теста спроса в 2026 к масштабированию в 2027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Этап I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Q3 2025  ·  альфа-тест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типы инвентаря в </a:t>
            </a:r>
            <a:r>
              <a:rPr lang="ru-RU" sz="1400" b="1">
                <a:solidFill>
                  <a:srgbClr val="000000"/>
                </a:solidFill>
              </a:rPr>
              <a:t>5 + 5</a:t>
            </a:r>
            <a:r>
              <a:rPr lang="ru-RU" sz="1400">
                <a:solidFill>
                  <a:srgbClr val="000000"/>
                </a:solidFill>
              </a:rPr>
              <a:t> магазинах Москвы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5 касаний за визит: фасадный экран на входе, три шелф-баннера у полок, экран над кассой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Этап II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Q4 2025 – 2026  ·  бета-тест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Проверка спроса на новый инвентарь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Введено </a:t>
            </a:r>
            <a:r>
              <a:rPr lang="ru-RU" sz="1400" b="1">
                <a:solidFill>
                  <a:srgbClr val="000000"/>
                </a:solidFill>
              </a:rPr>
              <a:t>2 725</a:t>
            </a:r>
            <a:r>
              <a:rPr lang="ru-RU" sz="1400">
                <a:solidFill>
                  <a:srgbClr val="000000"/>
                </a:solidFill>
              </a:rPr>
              <a:t> шелф-баннеров и </a:t>
            </a:r>
            <a:r>
              <a:rPr lang="ru-RU" sz="1400" b="1">
                <a:solidFill>
                  <a:srgbClr val="000000"/>
                </a:solidFill>
              </a:rPr>
              <a:t>831</a:t>
            </a:r>
            <a:r>
              <a:rPr lang="ru-RU" sz="1400">
                <a:solidFill>
                  <a:srgbClr val="000000"/>
                </a:solidFill>
              </a:rPr>
              <a:t> фасадный экран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Критерий успеха: контракты, окупающие оборудование за 1–1,5 года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Этап III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2027  ·  масштабирование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Еще </a:t>
            </a:r>
            <a:r>
              <a:rPr lang="ru-RU" sz="1400" b="1">
                <a:solidFill>
                  <a:srgbClr val="000000"/>
                </a:solidFill>
              </a:rPr>
              <a:t>3 250</a:t>
            </a:r>
            <a:r>
              <a:rPr lang="ru-RU" sz="1400">
                <a:solidFill>
                  <a:srgbClr val="000000"/>
                </a:solidFill>
              </a:rPr>
              <a:t> шелф-баннеров, </a:t>
            </a:r>
            <a:r>
              <a:rPr lang="ru-RU" sz="1400" b="1">
                <a:solidFill>
                  <a:srgbClr val="000000"/>
                </a:solidFill>
              </a:rPr>
              <a:t>428</a:t>
            </a:r>
            <a:r>
              <a:rPr lang="ru-RU" sz="1400">
                <a:solidFill>
                  <a:srgbClr val="000000"/>
                </a:solidFill>
              </a:rPr>
              <a:t> фасадных экранов, </a:t>
            </a:r>
            <a:r>
              <a:rPr lang="ru-RU" sz="1400" b="1">
                <a:solidFill>
                  <a:srgbClr val="000000"/>
                </a:solidFill>
              </a:rPr>
              <a:t>20</a:t>
            </a:r>
            <a:r>
              <a:rPr lang="ru-RU" sz="1400">
                <a:solidFill>
                  <a:srgbClr val="000000"/>
                </a:solidFill>
              </a:rPr>
              <a:t>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Количество экранов — по трафику конкретного магазина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Таргетинг и фотофиксация indoor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Этап IV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2027+  ·  другие форматы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Раскатка адаптированного подхода на другие форматы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Франшизная модель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Performance-инвентарь в in-store</a:t>
            </a:r>
          </a:p>
        </p:txBody>
      </p:sp>
    </p:spTree>
    <p:extLst>
      <p:ext uri="{BB962C8B-B14F-4D97-AF65-F5344CB8AC3E}">
        <p14:creationId xmlns:p14="http://schemas.microsoft.com/office/powerpoint/2010/main" val="17133533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Источник: листы «DMP», «Content factory», «RMN»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DMP, Content factory и RMN: 2 851 млн руб. выручки (+69%) — от плана команд и юнит-экономики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DMP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1 787 млн руб.  ·  +64% к FC 2026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3" name="Shape 303"/>
          <p:cNvSpPr txBox="1"/>
          <p:nvPr/>
        </p:nvSpPr>
        <p:spPr>
          <a:xfrm>
            <a:off x="4271433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Content factory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4271433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213 млн руб.  ·  результат с ВГО 113 млн руб.</a:t>
            </a:r>
          </a:p>
        </p:txBody>
      </p:sp>
      <p:sp>
        <p:nvSpPr>
          <p:cNvPr id="305" name="Shape 305"/>
          <p:cNvSpPr txBox="1"/>
          <p:nvPr/>
        </p:nvSpPr>
        <p:spPr>
          <a:xfrm>
            <a:off x="4271433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174567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RMN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8174567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850 млн руб.  ·  +43% к FC 2026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8174567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09" name="Table 309"/>
          <p:cNvGraphicFramePr>
            <a:graphicFrameLocks noGrp="1"/>
          </p:cNvGraphicFramePr>
          <p:nvPr/>
        </p:nvGraphicFramePr>
        <p:xfrm>
          <a:off x="368300" y="1676400"/>
          <a:ext cx="3733800" cy="19253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Направление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Маржа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Пакеты и Онлайн+ТВ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Баннеры и OLV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Новые площадки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Закупка трафика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(1 000)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0" name="Shape 310"/>
          <p:cNvSpPr txBox="1"/>
          <p:nvPr/>
        </p:nvSpPr>
        <p:spPr>
          <a:xfrm>
            <a:off x="368300" y="3683000"/>
            <a:ext cx="3649133" cy="241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Выручка — </a:t>
            </a:r>
            <a:r>
              <a:rPr lang="ru-RU" sz="1200">
                <a:solidFill>
                  <a:srgbClr val="000000"/>
                </a:solidFill>
              </a:rPr>
              <a:t>план команды DMP и интеграции брендов через Центральный маркетинг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Маржинальность 37,5%: </a:t>
            </a:r>
            <a:r>
              <a:rPr lang="ru-RU" sz="1200">
                <a:solidFill>
                  <a:srgbClr val="000000"/>
                </a:solidFill>
              </a:rPr>
              <a:t>закупка трафика — 1 000 из 1 600 млн руб. выручки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Analytics: </a:t>
            </a:r>
            <a:r>
              <a:rPr lang="ru-RU" sz="1200">
                <a:solidFill>
                  <a:srgbClr val="000000"/>
                </a:solidFill>
              </a:rPr>
              <a:t>DMP 54 и ad hoc 133 млн руб.</a:t>
            </a:r>
          </a:p>
        </p:txBody>
      </p:sp>
      <p:graphicFrame>
        <p:nvGraphicFramePr>
          <p:cNvPr id="311" name="Table 311"/>
          <p:cNvGraphicFramePr>
            <a:graphicFrameLocks noGrp="1"/>
          </p:cNvGraphicFramePr>
          <p:nvPr/>
        </p:nvGraphicFramePr>
        <p:xfrm>
          <a:off x="4271433" y="1676400"/>
          <a:ext cx="3733800" cy="21336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Воронка,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Ячеек × креаторов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× 25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Публикаций, тыс.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Просмотров, млн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Внешние: 284 млн × 0,75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ВГО, справочно: 284 млн × 0,5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Креаторы (176) и команда (66)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(242)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Результат CF (с ВГО)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2" name="Shape 312"/>
          <p:cNvSpPr txBox="1"/>
          <p:nvPr/>
        </p:nvSpPr>
        <p:spPr>
          <a:xfrm>
            <a:off x="4271433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Объём контента: </a:t>
            </a:r>
            <a:r>
              <a:rPr lang="ru-RU" sz="1200">
                <a:solidFill>
                  <a:srgbClr val="000000"/>
                </a:solidFill>
              </a:rPr>
              <a:t>60–70 роликов в месяц на креатора, каждый публикуется в 4 соцсетях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Себестоимость просмотра </a:t>
            </a:r>
            <a:r>
              <a:rPr lang="ru-RU" sz="1200">
                <a:solidFill>
                  <a:srgbClr val="000000"/>
                </a:solidFill>
              </a:rPr>
              <a:t>0,46 руб.; ставка креатора 105 тыс. руб. в месяц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Рентабельность 32% (с ВГО)</a:t>
            </a:r>
          </a:p>
        </p:txBody>
      </p:sp>
      <p:graphicFrame>
        <p:nvGraphicFramePr>
          <p:cNvPr id="313" name="Table 313"/>
          <p:cNvGraphicFramePr>
            <a:graphicFrameLocks noGrp="1"/>
          </p:cNvGraphicFramePr>
          <p:nvPr/>
        </p:nvGraphicFramePr>
        <p:xfrm>
          <a:off x="8174567" y="1676400"/>
          <a:ext cx="3733800" cy="8001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RMN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569"/>
                  </a:ext>
                </a:extLst>
              </a:tr>
            </a:tbl>
          </a:graphicData>
        </a:graphic>
      </p:graphicFrame>
      <p:sp>
        <p:nvSpPr>
          <p:cNvPr id="314" name="Shape 314"/>
          <p:cNvSpPr txBox="1"/>
          <p:nvPr/>
        </p:nvSpPr>
        <p:spPr>
          <a:xfrm>
            <a:off x="8174567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Отдельное ЮЛ </a:t>
            </a:r>
            <a:r>
              <a:rPr lang="ru-RU" sz="1200">
                <a:solidFill>
                  <a:srgbClr val="000000"/>
                </a:solidFill>
              </a:rPr>
              <a:t>для сделок по направлению</a:t>
            </a:r>
          </a:p>
        </p:txBody>
      </p:sp>
    </p:spTree>
    <p:extLst>
      <p:ext uri="{BB962C8B-B14F-4D97-AF65-F5344CB8AC3E}">
        <p14:creationId xmlns:p14="http://schemas.microsoft.com/office/powerpoint/2010/main" val="31769717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ВГО — продажа просмотров внутренним заказчикам по 0,5 руб., в P&amp;L AdTech не отражается. 1. Nielsen. 2. «Родная Речь», «Изменение медиаландшафта», январь–май 2026 г., россияне 12+. Источники: лист «Content factory», Ads Market Calc, медиаплан контент-завода на Q4 2026 г., открытые данные брендов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Content factory</a:t>
            </a:r>
            <a:r>
              <a:rPr lang="ru-RU"/>
              <a:t>: охват в соцсетях потоком UGC-контента; внешняя выручка 213 млн руб., с ВГО результат 113 млн руб.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8105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P&amp;L Content factory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78105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200">
                <a:solidFill>
                  <a:srgbClr val="595959"/>
                </a:solidFill>
              </a:rPr>
              <a:t>P&amp;L 2027, млн руб.  ·  6 ячеек × 25 креаторов, 569 млн просмотров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78105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432800" y="1016000"/>
            <a:ext cx="33909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Предпосылки реализации </a:t>
            </a:r>
            <a:r>
              <a:rPr lang="en-US" sz="1600" b="1">
                <a:solidFill>
                  <a:srgbClr val="000000"/>
                </a:solidFill>
              </a:rPr>
              <a:t>Content factory</a:t>
            </a:r>
            <a:endParaRPr lang="ru-RU" sz="1600" b="1">
              <a:solidFill>
                <a:srgbClr val="000000"/>
              </a:solidFill>
            </a:endParaRPr>
          </a:p>
        </p:txBody>
      </p:sp>
      <p:sp>
        <p:nvSpPr>
          <p:cNvPr id="308" name="Shape 308"/>
          <p:cNvSpPr txBox="1"/>
          <p:nvPr/>
        </p:nvSpPr>
        <p:spPr>
          <a:xfrm>
            <a:off x="8432800" y="1549400"/>
            <a:ext cx="33909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11" name="Table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387940"/>
              </p:ext>
            </p:extLst>
          </p:nvPr>
        </p:nvGraphicFramePr>
        <p:xfrm>
          <a:off x="368300" y="1676400"/>
          <a:ext cx="7810500" cy="2667000"/>
        </p:xfrm>
        <a:graphic>
          <a:graphicData uri="http://schemas.openxmlformats.org/drawingml/2006/table">
            <a:tbl>
              <a:tblPr firstRow="1"/>
              <a:tblGrid>
                <a:gridCol w="6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Выручка — внешние рекламодатели (284 млн просмотров × 0,75 руб.)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213,3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Выручка ВГО — внутренние заказчики (284 млн просмотров × 0,5 руб.), справочно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142,2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Выручка всего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355,5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Оплата креаторам (OPEX ячеек, Marketing)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(176,1)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ФОТ команды Content factory (PEX)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(66,4)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Расходы всего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(242,5)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0" i="1" kern="1200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Справочно: </a:t>
                      </a:r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Результат Content </a:t>
                      </a:r>
                      <a:r>
                        <a:rPr lang="en-US" sz="1200" b="0" i="1">
                          <a:solidFill>
                            <a:srgbClr val="595959"/>
                          </a:solidFill>
                          <a:latin typeface="Arial"/>
                        </a:rPr>
                        <a:t>factory</a:t>
                      </a:r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113,0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Рентабельность с ВГО, 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algn="l" defTabSz="914354" rtl="0" eaLnBrk="1" latinLnBrk="0" hangingPunct="1"/>
                      <a:r>
                        <a:rPr lang="ru-RU" sz="1200" b="1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Результат без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354" rtl="0" eaLnBrk="1" latinLnBrk="0" hangingPunct="1"/>
                      <a:r>
                        <a:rPr lang="ru-RU" sz="1200" b="1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(29,2)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9"/>
                  </a:ext>
                </a:extLst>
              </a:tr>
            </a:tbl>
          </a:graphicData>
        </a:graphic>
      </p:graphicFrame>
      <p:sp>
        <p:nvSpPr>
          <p:cNvPr id="312" name="CF narrative"/>
          <p:cNvSpPr/>
          <p:nvPr/>
        </p:nvSpPr>
        <p:spPr>
          <a:xfrm>
            <a:off x="8432800" y="1676400"/>
            <a:ext cx="3390900" cy="4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200" b="1">
                <a:solidFill>
                  <a:srgbClr val="FF452C"/>
                </a:solidFill>
                <a:latin typeface="Arial"/>
              </a:rPr>
              <a:t>1. Рынок растёт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74 → 93 млрд руб.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— рынок инфлюенс-маркетинга в РФ в 2026–2027 гг. (~30% г/г)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88%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покупателей доверяют рекомендациям креаторов больше, чем рекламе бренда¹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4 ч 18 мин.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в день россияне проводят в интернете против ~3,5 ч у телевизора²</a:t>
            </a:r>
          </a:p>
          <a:p>
            <a:pPr algn="l">
              <a:spcBef>
                <a:spcPts val="900"/>
              </a:spcBef>
            </a:pPr>
            <a:r>
              <a:rPr lang="ru-RU" sz="1200" b="1">
                <a:solidFill>
                  <a:srgbClr val="FF452C"/>
                </a:solidFill>
                <a:latin typeface="Arial"/>
              </a:rPr>
              <a:t>2. Аудитория разбросана</a:t>
            </a:r>
          </a:p>
          <a:p>
            <a:pPr algn="l">
              <a:spcBef>
                <a:spcPts val="300"/>
              </a:spcBef>
            </a:pPr>
            <a:r>
              <a:rPr lang="en-US" sz="1050" b="1">
                <a:solidFill>
                  <a:srgbClr val="000000"/>
                </a:solidFill>
                <a:latin typeface="Arial"/>
              </a:rPr>
              <a:t>Likee, TikTok, YouTube, VK: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каждую сеть нужно закупать отдельно; у топ-блогеров дорогой контакт и разовый эффект, есть регуляторные риски</a:t>
            </a:r>
          </a:p>
          <a:p>
            <a:pPr algn="l">
              <a:spcBef>
                <a:spcPts val="900"/>
              </a:spcBef>
            </a:pPr>
            <a:r>
              <a:rPr lang="ru-RU" sz="1200" b="1">
                <a:solidFill>
                  <a:srgbClr val="FF452C"/>
                </a:solidFill>
                <a:latin typeface="Arial"/>
              </a:rPr>
              <a:t>3. Решение: </a:t>
            </a:r>
            <a:r>
              <a:rPr lang="en-US" sz="1200" b="1">
                <a:solidFill>
                  <a:srgbClr val="FF452C"/>
                </a:solidFill>
                <a:latin typeface="Arial"/>
              </a:rPr>
              <a:t>Content factory</a:t>
            </a:r>
            <a:endParaRPr lang="ru-RU" sz="1200" b="1">
              <a:solidFill>
                <a:srgbClr val="FF452C"/>
              </a:solidFill>
              <a:latin typeface="Arial"/>
            </a:endParaRP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Сеть нано-креаторов: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группы с продюсером, тренд-аналитиком и PM; 60–70 роликов в месяц на креатора, каждый — в 4 соцсетях, лучшие дублируем в ленту приложения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~1 500 просмотров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на публикацию (подтверждено экспериментами)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Под ключ для бренда: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бриф, сценарии, публикации, отчёт; CPV 0,75 руб. в соцсетях, 1,5 руб. </a:t>
            </a:r>
            <a:r>
              <a:rPr lang="en-US" sz="1050">
                <a:solidFill>
                  <a:srgbClr val="000000"/>
                </a:solidFill>
                <a:latin typeface="Arial"/>
              </a:rPr>
              <a:t>in-app</a:t>
            </a:r>
            <a:endParaRPr lang="ru-RU" sz="105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CF plan label"/>
          <p:cNvSpPr/>
          <p:nvPr/>
        </p:nvSpPr>
        <p:spPr>
          <a:xfrm>
            <a:off x="368300" y="4520000"/>
            <a:ext cx="78105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ru-RU" sz="1100" b="1">
                <a:solidFill>
                  <a:srgbClr val="7F7F7F"/>
                </a:solidFill>
                <a:latin typeface="Arial"/>
              </a:rPr>
              <a:t>План и бенчмарки</a:t>
            </a:r>
          </a:p>
        </p:txBody>
      </p:sp>
      <p:sp>
        <p:nvSpPr>
          <p:cNvPr id="314" name="CF card 1"/>
          <p:cNvSpPr/>
          <p:nvPr/>
        </p:nvSpPr>
        <p:spPr>
          <a:xfrm>
            <a:off x="368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2026 г. — пилот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12,3 млн просмотров; клиенты — Магнит Косметик и 43 Brands</a:t>
            </a:r>
          </a:p>
        </p:txBody>
      </p:sp>
      <p:sp>
        <p:nvSpPr>
          <p:cNvPr id="315" name="CF card 2"/>
          <p:cNvSpPr/>
          <p:nvPr/>
        </p:nvSpPr>
        <p:spPr>
          <a:xfrm>
            <a:off x="23118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2027 г. — выход на поставщиков Магнита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569 млн просмотров, 150 креаторов в штате</a:t>
            </a:r>
          </a:p>
        </p:txBody>
      </p:sp>
      <p:sp>
        <p:nvSpPr>
          <p:cNvPr id="316" name="CF card 3"/>
          <p:cNvSpPr/>
          <p:nvPr/>
        </p:nvSpPr>
        <p:spPr>
          <a:xfrm>
            <a:off x="4255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Выручка 2027 г.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355,5 млн руб. с ВГО, из них 213 — внешние рекламодатели</a:t>
            </a:r>
          </a:p>
        </p:txBody>
      </p:sp>
      <p:sp>
        <p:nvSpPr>
          <p:cNvPr id="317" name="CF card 4"/>
          <p:cNvSpPr/>
          <p:nvPr/>
        </p:nvSpPr>
        <p:spPr>
          <a:xfrm>
            <a:off x="6198800" y="4830000"/>
            <a:ext cx="1880000" cy="12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000000"/>
                </a:solidFill>
                <a:latin typeface="Arial"/>
              </a:rPr>
              <a:t>Бенчмарки рынка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VOIS — 1 700 креаторов за 2 года, MIXIT — 500 UGC-креаторов</a:t>
            </a:r>
          </a:p>
        </p:txBody>
      </p:sp>
    </p:spTree>
    <p:extLst>
      <p:ext uri="{BB962C8B-B14F-4D97-AF65-F5344CB8AC3E}">
        <p14:creationId xmlns:p14="http://schemas.microsoft.com/office/powerpoint/2010/main" val="27182818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42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Внешний инвентарь: Retail Media Network, social commerce и данные Магнита на внешних площадках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Retail Media Network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850 млн руб.  ·  +43%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Внешнее ЮЛ для бренд-бюджетов поставщиков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Охваты как альтернатива ТВ, OOH и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с инвентарем других ритейл-медиа игроков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Social commerce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213 млн руб.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Content factory: </a:t>
            </a:r>
            <a:r>
              <a:rPr lang="ru-RU" sz="1400" b="1">
                <a:solidFill>
                  <a:srgbClr val="000000"/>
                </a:solidFill>
              </a:rPr>
              <a:t>6 ячеек</a:t>
            </a:r>
            <a:r>
              <a:rPr lang="ru-RU" sz="1400">
                <a:solidFill>
                  <a:srgbClr val="000000"/>
                </a:solidFill>
              </a:rPr>
              <a:t> по 25 креаторов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569 млн</a:t>
            </a:r>
            <a:r>
              <a:rPr lang="ru-RU" sz="140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Блогерская платформа MIP и </a:t>
            </a:r>
            <a:r>
              <a:rPr lang="en-US" sz="1400">
                <a:solidFill>
                  <a:srgbClr val="000000"/>
                </a:solidFill>
              </a:rPr>
              <a:t>shoppable</a:t>
            </a:r>
            <a:r>
              <a:rPr lang="ru-RU" sz="1400">
                <a:solidFill>
                  <a:srgbClr val="000000"/>
                </a:solidFill>
              </a:rPr>
              <a:t>-партнерства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DMP + Online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1 600 млн руб.  ·  +62%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Баннеры и OLV на внешних площадках по данным Магнита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и Онлайн+ТВ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площадки: </a:t>
            </a:r>
            <a:r>
              <a:rPr lang="ru-RU" sz="1400" b="1">
                <a:solidFill>
                  <a:srgbClr val="000000"/>
                </a:solidFill>
              </a:rPr>
              <a:t>SmartTV, Авито,</a:t>
            </a:r>
            <a:r>
              <a:rPr lang="ru-RU" sz="1400">
                <a:solidFill>
                  <a:srgbClr val="000000"/>
                </a:solidFill>
              </a:rPr>
              <a:t> маркетплейсы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Внешний инвентарь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Следующий шаг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Подключение Дикси и Азбуки Вкуса к платформе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OOH и DOOH, внешние рекламные сети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Технологии и данные — для внешнего трафика</a:t>
            </a:r>
          </a:p>
        </p:txBody>
      </p:sp>
    </p:spTree>
    <p:extLst>
      <p:ext uri="{BB962C8B-B14F-4D97-AF65-F5344CB8AC3E}">
        <p14:creationId xmlns:p14="http://schemas.microsoft.com/office/powerpoint/2010/main" val="12091438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B1FA00-966B-D804-0FFD-15FCFF347B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Красным — расходы, которые масштабируются с выручкой. Источник: листы «Расходы», «Потребности», «PEX»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C60FB5-2F57-2A40-8B8F-6189F97D9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6C368-B69A-4DC3-8713-5D58E7BC4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OPEX с COGS +1 504 млн руб. (+67%): 73% прироста — переменные расходы, которые масштабируются вместе с выручкой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698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6858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Прирост OPEX 2027 к FC 2026 по статьям,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20000" y="1016000"/>
            <a:ext cx="42037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OPEX в % от выручки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20000" y="1397000"/>
          <a:ext cx="4203700" cy="1333500"/>
        </p:xfrm>
        <a:graphic>
          <a:graphicData uri="http://schemas.openxmlformats.org/drawingml/2006/table">
            <a:tbl>
              <a:tblPr firstRow="1"/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Δ, п.п.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+5,2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−1,0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IT и прочие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−0,2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+4,0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20000" y="2921000"/>
            <a:ext cx="4203700" cy="3175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Закупка трафика DMP 1 000 млн руб. </a:t>
            </a:r>
            <a:r>
              <a:rPr lang="ru-RU" sz="1200">
                <a:solidFill>
                  <a:srgbClr val="000000"/>
                </a:solidFill>
              </a:rPr>
              <a:t>— 62,5% выручки DMP + Online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Агентские вознаграждения 795 млн руб. </a:t>
            </a:r>
            <a:r>
              <a:rPr lang="ru-RU" sz="1200">
                <a:solidFill>
                  <a:srgbClr val="000000"/>
                </a:solidFill>
              </a:rPr>
              <a:t>— 30% выручки, привлечённой через агентства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Креаторы 176 млн руб. </a:t>
            </a:r>
            <a:r>
              <a:rPr lang="ru-RU" sz="1200">
                <a:solidFill>
                  <a:srgbClr val="000000"/>
                </a:solidFill>
              </a:rPr>
              <a:t>— оплата ячеек Content factory при внешней выручке 213 млн руб.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PEX +28% — медленнее выручки, </a:t>
            </a:r>
            <a:r>
              <a:rPr lang="ru-RU" sz="1200">
                <a:solidFill>
                  <a:srgbClr val="000000"/>
                </a:solidFill>
              </a:rPr>
              <a:t>доля в выручке снижается: +250 — полный год штата 2026 г. и +42 FTE, +66 — команда Content factory</a:t>
            </a:r>
          </a:p>
        </p:txBody>
      </p:sp>
    </p:spTree>
    <p:extLst>
      <p:ext uri="{BB962C8B-B14F-4D97-AF65-F5344CB8AC3E}">
        <p14:creationId xmlns:p14="http://schemas.microsoft.com/office/powerpoint/2010/main" val="4283941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32A12-DBF8-B635-A4EF-BC200353AF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«Прочие» — Other PEX и Other OPEX. Источник: лист «P&amp;L 2027»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9A00D5-F5F7-4269-9282-3782D2317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F8EA2-D748-7415-AF7B-A35DE0C7B2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EBITDA +2 739 млн руб. (+34%): 65% прироста выручки доходит до EBITDA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EBITDA: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Выручка +4 243: </a:t>
            </a:r>
            <a:r>
              <a:rPr lang="ru-RU" sz="1200">
                <a:solidFill>
                  <a:srgbClr val="000000"/>
                </a:solidFill>
              </a:rPr>
              <a:t>72% прироста дают APP и In-store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Marketing −1 136 — в основном переменные расходы: </a:t>
            </a:r>
            <a:r>
              <a:rPr lang="ru-RU" sz="1200">
                <a:solidFill>
                  <a:srgbClr val="000000"/>
                </a:solidFill>
              </a:rPr>
              <a:t>трафик DMP (−489), агентские (−441), креаторы (−160)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PEX −316: </a:t>
            </a:r>
            <a:r>
              <a:rPr lang="ru-RU" sz="1200">
                <a:solidFill>
                  <a:srgbClr val="000000"/>
                </a:solidFill>
              </a:rPr>
              <a:t>полный год работы штата 2026 г. (−250) и команда Content factory (−66)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IT −34: </a:t>
            </a:r>
            <a:r>
              <a:rPr lang="ru-RU" sz="1200">
                <a:solidFill>
                  <a:srgbClr val="000000"/>
                </a:solidFill>
              </a:rPr>
              <a:t>поддержка и сопровождение ПО, всего 92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9694367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A91855-A4E0-FABA-3EBF-ADB659F334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Источник: листы «Расходы», «Потребности», «PEX», «Summary»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BBA5D7-7FA0-A89F-F576-81B46FDAB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78B28-0AD1-DD08-24A2-52FA2A0D0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CAPEX 1 151 млн руб. (−2%): рост капитализации разработки компенсирован сокращением in-store проектов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 по проектам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183640"/>
        </p:xfrm>
        <a:graphic>
          <a:graphicData uri="http://schemas.openxmlformats.org/drawingml/2006/table">
            <a:tbl>
              <a:tblPr firstRow="1"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AT Platform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1 180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1 151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1 242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2819400"/>
            <a:ext cx="4127500" cy="327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ФОТ разработки 510: </a:t>
            </a:r>
            <a:r>
              <a:rPr lang="ru-RU" sz="1200">
                <a:solidFill>
                  <a:srgbClr val="000000"/>
                </a:solidFill>
              </a:rPr>
              <a:t>капитализируется 27% ФОТ IT, Product, Analytics и BizDev IT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ИТ-закупки 31: </a:t>
            </a:r>
            <a:r>
              <a:rPr lang="ru-RU" sz="1200">
                <a:solidFill>
                  <a:srgbClr val="000000"/>
                </a:solidFill>
              </a:rPr>
              <a:t>техника под найм 30 человек (14), AI-инструменты (11), Optimacros (5)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In-store 610, </a:t>
            </a:r>
            <a:r>
              <a:rPr lang="ru-RU" sz="1200">
                <a:solidFill>
                  <a:srgbClr val="000000"/>
                </a:solidFill>
              </a:rPr>
              <a:t>в т.ч. система управления медиаконтентом 438; интеграция медиа с КСО в бюджет не закладывается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Собственная разработка </a:t>
            </a:r>
            <a:r>
              <a:rPr lang="ru-RU" sz="1200">
                <a:solidFill>
                  <a:srgbClr val="000000"/>
                </a:solidFill>
              </a:rPr>
              <a:t>(Cubic, InAppStory) экономит ГК 22 млн руб. в год</a:t>
            </a:r>
          </a:p>
        </p:txBody>
      </p:sp>
    </p:spTree>
    <p:extLst>
      <p:ext uri="{BB962C8B-B14F-4D97-AF65-F5344CB8AC3E}">
        <p14:creationId xmlns:p14="http://schemas.microsoft.com/office/powerpoint/2010/main" val="26659662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04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Приложение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Персонал и ФОТ, драйверы и пререквизиты, планы направлений, платформа и данные, дорожные карты, зоны ответственности</a:t>
            </a:r>
          </a:p>
        </p:txBody>
      </p:sp>
    </p:spTree>
    <p:extLst>
      <p:ext uri="{BB962C8B-B14F-4D97-AF65-F5344CB8AC3E}">
        <p14:creationId xmlns:p14="http://schemas.microsoft.com/office/powerpoint/2010/main" val="5980843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r>
              <a:rPr lang="ru-RU">
                <a:solidFill>
                  <a:srgbClr val="6E6E6E"/>
                </a:solidFill>
              </a:rPr>
              <a:t>Источник: анализ Magnit ADS (AdTech)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47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/>
              <a:t>Рост сегментов, где находится выручка </a:t>
            </a:r>
            <a:r>
              <a:rPr lang="en-US"/>
              <a:t>AdTech</a:t>
            </a:r>
            <a:r>
              <a:rPr lang="ru-RU"/>
              <a:t>, сигнализирует </a:t>
            </a:r>
            <a:br>
              <a:rPr lang="ru-RU" dirty="0"/>
            </a:br>
            <a:r>
              <a:rPr lang="ru-RU"/>
              <a:t>о росте спроса со стороны поставщиков на рекламные инструменты</a:t>
            </a:r>
          </a:p>
        </p:txBody>
      </p:sp>
      <p:sp>
        <p:nvSpPr>
          <p:cNvPr id="5" name="ADS label 5"/>
          <p:cNvSpPr txBox="1"/>
          <p:nvPr/>
        </p:nvSpPr>
        <p:spPr>
          <a:xfrm>
            <a:off x="365760" y="1261625"/>
            <a:ext cx="2240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Сегмент</a:t>
            </a:r>
            <a:endParaRPr lang="ru-RU"/>
          </a:p>
        </p:txBody>
      </p:sp>
      <p:sp>
        <p:nvSpPr>
          <p:cNvPr id="6" name="ADS label 6"/>
          <p:cNvSpPr txBox="1"/>
          <p:nvPr/>
        </p:nvSpPr>
        <p:spPr>
          <a:xfrm>
            <a:off x="3453681" y="1261625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9м 2026</a:t>
            </a:r>
            <a:endParaRPr lang="ru-RU"/>
          </a:p>
        </p:txBody>
      </p:sp>
      <p:sp>
        <p:nvSpPr>
          <p:cNvPr id="7" name="ADS label 7"/>
          <p:cNvSpPr txBox="1"/>
          <p:nvPr/>
        </p:nvSpPr>
        <p:spPr>
          <a:xfrm>
            <a:off x="4952302" y="1261625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Изм. 9м г/г (25-26 гг.)</a:t>
            </a:r>
            <a:endParaRPr lang="ru-RU"/>
          </a:p>
        </p:txBody>
      </p:sp>
      <p:sp>
        <p:nvSpPr>
          <p:cNvPr id="12" name="ADS label 12"/>
          <p:cNvSpPr txBox="1"/>
          <p:nvPr/>
        </p:nvSpPr>
        <p:spPr>
          <a:xfrm>
            <a:off x="365760" y="1636529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FF452C"/>
                </a:solidFill>
                <a:latin typeface="Arial"/>
                <a:cs typeface="Arial"/>
              </a:rPr>
              <a:t>Сегменты, где находится рекламная выручка AdTech</a:t>
            </a:r>
            <a:endParaRPr lang="ru-RU" sz="1200"/>
          </a:p>
        </p:txBody>
      </p:sp>
      <p:sp>
        <p:nvSpPr>
          <p:cNvPr id="13" name="ADS label 13"/>
          <p:cNvSpPr txBox="1"/>
          <p:nvPr/>
        </p:nvSpPr>
        <p:spPr>
          <a:xfrm>
            <a:off x="438912" y="184684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Маркетинг</a:t>
            </a:r>
            <a:endParaRPr lang="ru-RU" sz="1200"/>
          </a:p>
        </p:txBody>
      </p:sp>
      <p:sp>
        <p:nvSpPr>
          <p:cNvPr id="14" name="ADS label 14"/>
          <p:cNvSpPr txBox="1"/>
          <p:nvPr/>
        </p:nvSpPr>
        <p:spPr>
          <a:xfrm>
            <a:off x="3453681" y="184684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21 934</a:t>
            </a:r>
            <a:endParaRPr lang="ru-RU" sz="1200"/>
          </a:p>
        </p:txBody>
      </p:sp>
      <p:sp>
        <p:nvSpPr>
          <p:cNvPr id="15" name="ADS chip 15"/>
          <p:cNvSpPr/>
          <p:nvPr/>
        </p:nvSpPr>
        <p:spPr>
          <a:xfrm>
            <a:off x="4962441" y="1947425"/>
            <a:ext cx="1270086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label 16"/>
          <p:cNvSpPr txBox="1"/>
          <p:nvPr/>
        </p:nvSpPr>
        <p:spPr>
          <a:xfrm>
            <a:off x="6287391" y="184684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+86%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38912" y="221260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Прочие бонусы от поставщиков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3453681" y="221260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24 593</a:t>
            </a:r>
            <a:endParaRPr lang="ru-RU" sz="1200"/>
          </a:p>
        </p:txBody>
      </p:sp>
      <p:sp>
        <p:nvSpPr>
          <p:cNvPr id="22" name="ADS chip 22"/>
          <p:cNvSpPr/>
          <p:nvPr/>
        </p:nvSpPr>
        <p:spPr>
          <a:xfrm>
            <a:off x="4962441" y="2313185"/>
            <a:ext cx="282404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label 23"/>
          <p:cNvSpPr txBox="1"/>
          <p:nvPr/>
        </p:nvSpPr>
        <p:spPr>
          <a:xfrm>
            <a:off x="5299709" y="221260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+19%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365760" y="2669801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Сегменты без AdTech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438912" y="288011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Премии</a:t>
            </a:r>
            <a:endParaRPr lang="ru-RU" sz="1200"/>
          </a:p>
        </p:txBody>
      </p:sp>
      <p:sp>
        <p:nvSpPr>
          <p:cNvPr id="29" name="ADS label 29"/>
          <p:cNvSpPr txBox="1"/>
          <p:nvPr/>
        </p:nvSpPr>
        <p:spPr>
          <a:xfrm>
            <a:off x="3453681" y="288011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110 694</a:t>
            </a:r>
            <a:endParaRPr lang="ru-RU" sz="1200"/>
          </a:p>
        </p:txBody>
      </p:sp>
      <p:sp>
        <p:nvSpPr>
          <p:cNvPr id="30" name="ADS chip 30"/>
          <p:cNvSpPr/>
          <p:nvPr/>
        </p:nvSpPr>
        <p:spPr>
          <a:xfrm>
            <a:off x="4962441" y="2980697"/>
            <a:ext cx="46910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1" name="ADS label 31"/>
          <p:cNvSpPr txBox="1"/>
          <p:nvPr/>
        </p:nvSpPr>
        <p:spPr>
          <a:xfrm>
            <a:off x="5064215" y="288011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+3%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438912" y="324587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Промо</a:t>
            </a:r>
            <a:endParaRPr lang="ru-RU" sz="1200"/>
          </a:p>
        </p:txBody>
      </p:sp>
      <p:sp>
        <p:nvSpPr>
          <p:cNvPr id="36" name="ADS label 36"/>
          <p:cNvSpPr txBox="1"/>
          <p:nvPr/>
        </p:nvSpPr>
        <p:spPr>
          <a:xfrm>
            <a:off x="3453681" y="324587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47 279</a:t>
            </a:r>
            <a:endParaRPr lang="ru-RU" sz="1200"/>
          </a:p>
        </p:txBody>
      </p:sp>
      <p:sp>
        <p:nvSpPr>
          <p:cNvPr id="37" name="ADS label 37"/>
          <p:cNvSpPr txBox="1"/>
          <p:nvPr/>
        </p:nvSpPr>
        <p:spPr>
          <a:xfrm>
            <a:off x="5017304" y="324587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0%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438912" y="361163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Разовые условия</a:t>
            </a:r>
            <a:endParaRPr lang="ru-RU" sz="1200"/>
          </a:p>
        </p:txBody>
      </p:sp>
      <p:sp>
        <p:nvSpPr>
          <p:cNvPr id="42" name="ADS label 42"/>
          <p:cNvSpPr txBox="1"/>
          <p:nvPr/>
        </p:nvSpPr>
        <p:spPr>
          <a:xfrm>
            <a:off x="3453681" y="361163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13 061</a:t>
            </a:r>
            <a:endParaRPr lang="ru-RU" sz="1200"/>
          </a:p>
        </p:txBody>
      </p:sp>
      <p:sp>
        <p:nvSpPr>
          <p:cNvPr id="43" name="ADS chip 43"/>
          <p:cNvSpPr/>
          <p:nvPr/>
        </p:nvSpPr>
        <p:spPr>
          <a:xfrm>
            <a:off x="4860106" y="3712216"/>
            <a:ext cx="102334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4" name="ADS label 44"/>
          <p:cNvSpPr txBox="1"/>
          <p:nvPr/>
        </p:nvSpPr>
        <p:spPr>
          <a:xfrm>
            <a:off x="5017304" y="361163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−7%</a:t>
            </a:r>
            <a:endParaRPr lang="ru-RU" sz="1200"/>
          </a:p>
        </p:txBody>
      </p:sp>
      <p:sp>
        <p:nvSpPr>
          <p:cNvPr id="48" name="ADS label 48"/>
          <p:cNvSpPr txBox="1"/>
          <p:nvPr/>
        </p:nvSpPr>
        <p:spPr>
          <a:xfrm>
            <a:off x="438912" y="397739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Скидки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3453681" y="397739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427</a:t>
            </a:r>
            <a:endParaRPr lang="ru-RU" sz="1200"/>
          </a:p>
        </p:txBody>
      </p:sp>
      <p:sp>
        <p:nvSpPr>
          <p:cNvPr id="50" name="ADS chip 50"/>
          <p:cNvSpPr/>
          <p:nvPr/>
        </p:nvSpPr>
        <p:spPr>
          <a:xfrm>
            <a:off x="4962441" y="4077977"/>
            <a:ext cx="410202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51" name="ADS label 51"/>
          <p:cNvSpPr txBox="1"/>
          <p:nvPr/>
        </p:nvSpPr>
        <p:spPr>
          <a:xfrm>
            <a:off x="5427507" y="397739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+28%</a:t>
            </a:r>
            <a:endParaRPr lang="ru-RU" sz="1200"/>
          </a:p>
        </p:txBody>
      </p:sp>
      <p:sp>
        <p:nvSpPr>
          <p:cNvPr id="55" name="ADS label 55"/>
          <p:cNvSpPr txBox="1"/>
          <p:nvPr/>
        </p:nvSpPr>
        <p:spPr>
          <a:xfrm>
            <a:off x="438912" y="434315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Бонусы от НЕ поставщиков</a:t>
            </a:r>
            <a:endParaRPr lang="ru-RU" sz="1200"/>
          </a:p>
        </p:txBody>
      </p:sp>
      <p:sp>
        <p:nvSpPr>
          <p:cNvPr id="56" name="ADS label 56"/>
          <p:cNvSpPr txBox="1"/>
          <p:nvPr/>
        </p:nvSpPr>
        <p:spPr>
          <a:xfrm>
            <a:off x="3453681" y="434315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218</a:t>
            </a:r>
            <a:endParaRPr lang="ru-RU" sz="1200"/>
          </a:p>
        </p:txBody>
      </p:sp>
      <p:sp>
        <p:nvSpPr>
          <p:cNvPr id="57" name="ADS chip 57"/>
          <p:cNvSpPr/>
          <p:nvPr/>
        </p:nvSpPr>
        <p:spPr>
          <a:xfrm>
            <a:off x="4420132" y="4443737"/>
            <a:ext cx="542308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58" name="ADS label 58"/>
          <p:cNvSpPr txBox="1"/>
          <p:nvPr/>
        </p:nvSpPr>
        <p:spPr>
          <a:xfrm>
            <a:off x="5017304" y="434315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−37%</a:t>
            </a:r>
            <a:endParaRPr lang="ru-RU" sz="1200"/>
          </a:p>
        </p:txBody>
      </p:sp>
      <p:sp>
        <p:nvSpPr>
          <p:cNvPr id="62" name="ADS chip 62"/>
          <p:cNvSpPr/>
          <p:nvPr/>
        </p:nvSpPr>
        <p:spPr>
          <a:xfrm>
            <a:off x="4957869" y="1846841"/>
            <a:ext cx="9144" cy="2862072"/>
          </a:xfrm>
          <a:prstGeom prst="roundRect">
            <a:avLst>
              <a:gd name="adj" fmla="val 10000"/>
            </a:avLst>
          </a:prstGeom>
          <a:solidFill>
            <a:srgbClr val="7F7F7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4" name="ADS chip 64"/>
          <p:cNvSpPr/>
          <p:nvPr/>
        </p:nvSpPr>
        <p:spPr>
          <a:xfrm>
            <a:off x="365759" y="4800353"/>
            <a:ext cx="6632151" cy="32918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5" name="ADS label 65"/>
          <p:cNvSpPr txBox="1"/>
          <p:nvPr/>
        </p:nvSpPr>
        <p:spPr>
          <a:xfrm>
            <a:off x="438912" y="478206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Итого маркетинговые доходы</a:t>
            </a:r>
            <a:endParaRPr lang="ru-RU" sz="1200"/>
          </a:p>
        </p:txBody>
      </p:sp>
      <p:sp>
        <p:nvSpPr>
          <p:cNvPr id="66" name="ADS label 66"/>
          <p:cNvSpPr txBox="1"/>
          <p:nvPr/>
        </p:nvSpPr>
        <p:spPr>
          <a:xfrm>
            <a:off x="3453681" y="478206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218 206</a:t>
            </a:r>
            <a:endParaRPr lang="ru-RU" sz="1200"/>
          </a:p>
        </p:txBody>
      </p:sp>
      <p:sp>
        <p:nvSpPr>
          <p:cNvPr id="67" name="ADS chip 67"/>
          <p:cNvSpPr/>
          <p:nvPr/>
        </p:nvSpPr>
        <p:spPr>
          <a:xfrm>
            <a:off x="4962441" y="4882649"/>
            <a:ext cx="120566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8" name="ADS label 68"/>
          <p:cNvSpPr txBox="1"/>
          <p:nvPr/>
        </p:nvSpPr>
        <p:spPr>
          <a:xfrm>
            <a:off x="5137871" y="478206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+8%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438912" y="514782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Доходы AdTech</a:t>
            </a:r>
            <a:endParaRPr lang="ru-RU" sz="1200"/>
          </a:p>
        </p:txBody>
      </p:sp>
      <p:sp>
        <p:nvSpPr>
          <p:cNvPr id="73" name="ADS label 73"/>
          <p:cNvSpPr txBox="1"/>
          <p:nvPr/>
        </p:nvSpPr>
        <p:spPr>
          <a:xfrm>
            <a:off x="3453681" y="514782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6 399</a:t>
            </a:r>
            <a:endParaRPr lang="ru-RU" sz="1200"/>
          </a:p>
        </p:txBody>
      </p:sp>
      <p:sp>
        <p:nvSpPr>
          <p:cNvPr id="74" name="ADS chip 74"/>
          <p:cNvSpPr/>
          <p:nvPr/>
        </p:nvSpPr>
        <p:spPr>
          <a:xfrm>
            <a:off x="4962441" y="5248409"/>
            <a:ext cx="1325880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5" name="ADS label 75"/>
          <p:cNvSpPr txBox="1"/>
          <p:nvPr/>
        </p:nvSpPr>
        <p:spPr>
          <a:xfrm>
            <a:off x="6343185" y="514782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×11,8</a:t>
            </a:r>
            <a:endParaRPr lang="ru-RU" sz="1200"/>
          </a:p>
        </p:txBody>
      </p:sp>
      <p:sp>
        <p:nvSpPr>
          <p:cNvPr id="80" name="ADS card 80"/>
          <p:cNvSpPr/>
          <p:nvPr/>
        </p:nvSpPr>
        <p:spPr>
          <a:xfrm>
            <a:off x="7478668" y="1261625"/>
            <a:ext cx="4345032" cy="2981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1" name="ADS head 81"/>
          <p:cNvSpPr txBox="1"/>
          <p:nvPr/>
        </p:nvSpPr>
        <p:spPr>
          <a:xfrm>
            <a:off x="7661547" y="1362209"/>
            <a:ext cx="398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Комментарий</a:t>
            </a:r>
            <a:endParaRPr lang="ru-RU" sz="1200"/>
          </a:p>
        </p:txBody>
      </p:sp>
      <p:sp>
        <p:nvSpPr>
          <p:cNvPr id="82" name="ADS thesis 82"/>
          <p:cNvSpPr txBox="1"/>
          <p:nvPr/>
        </p:nvSpPr>
        <p:spPr>
          <a:xfrm>
            <a:off x="7661547" y="1709681"/>
            <a:ext cx="3980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Рост дают только инструменты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 измеримым эффектом</a:t>
            </a:r>
            <a:endParaRPr lang="ru-RU" sz="1200"/>
          </a:p>
        </p:txBody>
      </p:sp>
      <p:sp>
        <p:nvSpPr>
          <p:cNvPr id="83" name="ADS line 83"/>
          <p:cNvSpPr/>
          <p:nvPr/>
        </p:nvSpPr>
        <p:spPr>
          <a:xfrm>
            <a:off x="7661547" y="2176025"/>
            <a:ext cx="398000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4" name="ADS label 84"/>
          <p:cNvSpPr txBox="1"/>
          <p:nvPr/>
        </p:nvSpPr>
        <p:spPr>
          <a:xfrm>
            <a:off x="7661547" y="2249177"/>
            <a:ext cx="398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Динамика 2026 г.</a:t>
            </a:r>
            <a:endParaRPr lang="ru-RU" sz="1200"/>
          </a:p>
        </p:txBody>
      </p:sp>
      <p:sp>
        <p:nvSpPr>
          <p:cNvPr id="85" name="ADS label 85"/>
          <p:cNvSpPr txBox="1"/>
          <p:nvPr/>
        </p:nvSpPr>
        <p:spPr>
          <a:xfrm>
            <a:off x="7661547" y="2505209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rgbClr val="FF452C"/>
                </a:solidFill>
                <a:latin typeface="Arial"/>
                <a:cs typeface="Arial"/>
              </a:rPr>
              <a:t>85%</a:t>
            </a:r>
            <a:endParaRPr lang="ru-RU" sz="1200"/>
          </a:p>
        </p:txBody>
      </p:sp>
      <p:sp>
        <p:nvSpPr>
          <p:cNvPr id="86" name="ADS label 86"/>
          <p:cNvSpPr txBox="1"/>
          <p:nvPr/>
        </p:nvSpPr>
        <p:spPr>
          <a:xfrm>
            <a:off x="7661547" y="2861825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595959"/>
                </a:solidFill>
                <a:latin typeface="Arial"/>
                <a:cs typeface="Arial"/>
              </a:rPr>
              <a:t>прироста маркетинговых доходов за 9м дают маркетинг, где размещается выручка </a:t>
            </a:r>
            <a:r>
              <a:rPr lang="en-US" sz="900" b="0">
                <a:solidFill>
                  <a:srgbClr val="595959"/>
                </a:solidFill>
                <a:latin typeface="Arial"/>
                <a:cs typeface="Arial"/>
              </a:rPr>
              <a:t>AdTech</a:t>
            </a:r>
            <a:endParaRPr lang="ru-RU" sz="1200"/>
          </a:p>
        </p:txBody>
      </p:sp>
      <p:sp>
        <p:nvSpPr>
          <p:cNvPr id="89" name="ADS label 89"/>
          <p:cNvSpPr txBox="1"/>
          <p:nvPr/>
        </p:nvSpPr>
        <p:spPr>
          <a:xfrm>
            <a:off x="7661547" y="3309881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rgbClr val="FF452C"/>
                </a:solidFill>
                <a:latin typeface="Arial"/>
                <a:cs typeface="Arial"/>
              </a:rPr>
              <a:t>−7…+3%</a:t>
            </a:r>
            <a:endParaRPr lang="ru-RU" sz="1200"/>
          </a:p>
        </p:txBody>
      </p:sp>
      <p:sp>
        <p:nvSpPr>
          <p:cNvPr id="90" name="ADS label 90"/>
          <p:cNvSpPr txBox="1"/>
          <p:nvPr/>
        </p:nvSpPr>
        <p:spPr>
          <a:xfrm>
            <a:off x="7661547" y="3666497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595959"/>
                </a:solidFill>
                <a:latin typeface="Arial"/>
                <a:cs typeface="Arial"/>
              </a:rPr>
              <a:t>динамика сегментов без AdTech за 9м: премии +3%, промо 0%, разовые условия −7%</a:t>
            </a:r>
            <a:endParaRPr lang="ru-RU" sz="1200"/>
          </a:p>
        </p:txBody>
      </p:sp>
      <p:cxnSp>
        <p:nvCxnSpPr>
          <p:cNvPr id="99" name="Прямая соединительная линия 98">
            <a:extLst>
              <a:ext uri="{FF2B5EF4-FFF2-40B4-BE49-F238E27FC236}">
                <a16:creationId xmlns:a16="http://schemas.microsoft.com/office/drawing/2014/main" id="{B84FACF7-0DCB-8F57-FD8C-75DD4C4DFDD5}"/>
              </a:ext>
            </a:extLst>
          </p:cNvPr>
          <p:cNvCxnSpPr>
            <a:cxnSpLocks/>
          </p:cNvCxnSpPr>
          <p:nvPr/>
        </p:nvCxnSpPr>
        <p:spPr>
          <a:xfrm>
            <a:off x="365760" y="1526801"/>
            <a:ext cx="67802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76464562-93C9-46F2-BCFD-62F0C810A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D1E39AE-6C75-4FDA-AD5B-E8CD145491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Динамика численности и ФОТ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115025-E8F5-4941-B7CE-B777ED01DB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25600" y="6311900"/>
            <a:ext cx="8890000" cy="342900"/>
          </a:xfrm>
        </p:spPr>
        <p:txBody>
          <a:bodyPr lIns="0" tIns="0"/>
          <a:lstStyle/>
          <a:p>
            <a:pPr>
              <a:spcBef>
                <a:spcPts val="1000"/>
              </a:spcBef>
            </a:pPr>
            <a:r>
              <a:rPr lang="ru-RU" sz="900">
                <a:solidFill>
                  <a:srgbClr val="6E6E6E"/>
                </a:solidFill>
                <a:latin typeface="+mn-lt"/>
              </a:rPr>
              <a:t>1 – </a:t>
            </a:r>
            <a:r>
              <a:rPr lang="en-US" sz="900">
                <a:solidFill>
                  <a:srgbClr val="6E6E6E"/>
                </a:solidFill>
                <a:latin typeface="+mn-lt"/>
              </a:rPr>
              <a:t>CC</a:t>
            </a:r>
            <a:r>
              <a:rPr lang="ru-RU" sz="900">
                <a:solidFill>
                  <a:srgbClr val="6E6E6E"/>
                </a:solidFill>
                <a:latin typeface="+mn-lt"/>
              </a:rPr>
              <a:t>Ч, включает % текучести кадров     2 - Базовый доход E-ком, учтенный в бюджете ФТ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86A7F3-D771-4253-81CC-F6D2A10E6516}"/>
              </a:ext>
            </a:extLst>
          </p:cNvPr>
          <p:cNvSpPr txBox="1"/>
          <p:nvPr/>
        </p:nvSpPr>
        <p:spPr>
          <a:xfrm>
            <a:off x="389028" y="4875730"/>
            <a:ext cx="113975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Core PEX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бюджет 2027 ниже стратегии на 38 млн руб. за счет более корректного бюджетирования ставок под потребности бизнеса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Project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«Платформа монетизации данных» перенесен из центрального маркетинга в контур </a:t>
            </a: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AdTech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 2027 г. (</a:t>
            </a: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PEX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бюджет 48 млн руб., </a:t>
            </a: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FTE 10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чел.). Требуется дополнительное согласование переноса таргета (сейчас указан в ЦМ)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Рост производительности персонала с </a:t>
            </a: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34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млн руб./чел. до </a:t>
            </a: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39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млн руб./чел.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DECF24CD-963F-426C-892C-EAB8D0CED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169151"/>
              </p:ext>
            </p:extLst>
          </p:nvPr>
        </p:nvGraphicFramePr>
        <p:xfrm>
          <a:off x="697281" y="889000"/>
          <a:ext cx="10117464" cy="3886204"/>
        </p:xfrm>
        <a:graphic>
          <a:graphicData uri="http://schemas.openxmlformats.org/drawingml/2006/table">
            <a:tbl>
              <a:tblPr/>
              <a:tblGrid>
                <a:gridCol w="1002278">
                  <a:extLst>
                    <a:ext uri="{9D8B030D-6E8A-4147-A177-3AD203B41FA5}">
                      <a16:colId xmlns:a16="http://schemas.microsoft.com/office/drawing/2014/main" val="4219734060"/>
                    </a:ext>
                  </a:extLst>
                </a:gridCol>
                <a:gridCol w="1002278">
                  <a:extLst>
                    <a:ext uri="{9D8B030D-6E8A-4147-A177-3AD203B41FA5}">
                      <a16:colId xmlns:a16="http://schemas.microsoft.com/office/drawing/2014/main" val="2161084247"/>
                    </a:ext>
                  </a:extLst>
                </a:gridCol>
                <a:gridCol w="678963">
                  <a:extLst>
                    <a:ext uri="{9D8B030D-6E8A-4147-A177-3AD203B41FA5}">
                      <a16:colId xmlns:a16="http://schemas.microsoft.com/office/drawing/2014/main" val="3409259298"/>
                    </a:ext>
                  </a:extLst>
                </a:gridCol>
                <a:gridCol w="111571">
                  <a:extLst>
                    <a:ext uri="{9D8B030D-6E8A-4147-A177-3AD203B41FA5}">
                      <a16:colId xmlns:a16="http://schemas.microsoft.com/office/drawing/2014/main" val="2314202485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075667101"/>
                    </a:ext>
                  </a:extLst>
                </a:gridCol>
                <a:gridCol w="112617">
                  <a:extLst>
                    <a:ext uri="{9D8B030D-6E8A-4147-A177-3AD203B41FA5}">
                      <a16:colId xmlns:a16="http://schemas.microsoft.com/office/drawing/2014/main" val="3957536072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4257973937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102963320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516853602"/>
                    </a:ext>
                  </a:extLst>
                </a:gridCol>
                <a:gridCol w="112696">
                  <a:extLst>
                    <a:ext uri="{9D8B030D-6E8A-4147-A177-3AD203B41FA5}">
                      <a16:colId xmlns:a16="http://schemas.microsoft.com/office/drawing/2014/main" val="1905267272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87710683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732715567"/>
                    </a:ext>
                  </a:extLst>
                </a:gridCol>
                <a:gridCol w="113437">
                  <a:extLst>
                    <a:ext uri="{9D8B030D-6E8A-4147-A177-3AD203B41FA5}">
                      <a16:colId xmlns:a16="http://schemas.microsoft.com/office/drawing/2014/main" val="1980540990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930230657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1034041584"/>
                    </a:ext>
                  </a:extLst>
                </a:gridCol>
              </a:tblGrid>
              <a:tr h="42552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Блок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Метрика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Ед. изм.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</a:t>
                      </a: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2026 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сен’26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 (9+3)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RR 2027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 2027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Δ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BU’27 vs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 (9+3)’26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Стратегия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’27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Δ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BU’27 vs 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стратегия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068052"/>
                  </a:ext>
                </a:extLst>
              </a:tr>
              <a:tr h="36401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1 488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1 348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1 658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599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0000500000000000000" pitchFamily="2" charset="-52"/>
                        </a:rPr>
                        <a:t>-38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2812905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365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4618145"/>
                  </a:ext>
                </a:extLst>
              </a:tr>
              <a:tr h="36401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6940217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1554354"/>
                  </a:ext>
                </a:extLst>
              </a:tr>
              <a:tr h="364018">
                <a:tc rowSpan="5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1 488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1 348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1 658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1 995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647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70946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  <a:r>
                        <a:rPr lang="en-US" sz="105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375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63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69883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AdTech </a:t>
                      </a: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выручка</a:t>
                      </a:r>
                      <a:r>
                        <a:rPr lang="ru-RU" sz="105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1 721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9 837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10 543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14 566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38%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584560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Доля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PEX </a:t>
                      </a:r>
                      <a:b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 выручке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13%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14%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+1 п.п.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759599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Произв-ть, выручка/FTE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/>
                        <a:t>млн руб./чел.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>
                          <a:solidFill>
                            <a:srgbClr val="00B050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+5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600345"/>
                  </a:ext>
                </a:extLst>
              </a:tr>
            </a:tbl>
          </a:graphicData>
        </a:graphic>
      </p:graphicFrame>
      <p:sp>
        <p:nvSpPr>
          <p:cNvPr id="14" name="Прямоугольник: скругленные верхние углы 13">
            <a:extLst>
              <a:ext uri="{FF2B5EF4-FFF2-40B4-BE49-F238E27FC236}">
                <a16:creationId xmlns:a16="http://schemas.microsoft.com/office/drawing/2014/main" id="{D47FE19D-9885-4346-8347-64565053480D}"/>
              </a:ext>
            </a:extLst>
          </p:cNvPr>
          <p:cNvSpPr/>
          <p:nvPr/>
        </p:nvSpPr>
        <p:spPr>
          <a:xfrm rot="16200000">
            <a:off x="-146904" y="1902285"/>
            <a:ext cx="1341583" cy="288000"/>
          </a:xfrm>
          <a:prstGeom prst="round2SameRect">
            <a:avLst>
              <a:gd name="adj1" fmla="val 35366"/>
              <a:gd name="adj2" fmla="val 0"/>
            </a:avLst>
          </a:prstGeom>
          <a:solidFill>
            <a:srgbClr val="E4E4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none" lIns="90000" tIns="36000" bIns="5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Admin</a:t>
            </a:r>
          </a:p>
        </p:txBody>
      </p:sp>
    </p:spTree>
    <p:extLst>
      <p:ext uri="{BB962C8B-B14F-4D97-AF65-F5344CB8AC3E}">
        <p14:creationId xmlns:p14="http://schemas.microsoft.com/office/powerpoint/2010/main" val="3110449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56F8146A-6763-42E6-B3FA-9C73505CA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5" imgW="395" imgH="394" progId="TCLayout.ActiveDocument.1">
                  <p:embed/>
                </p:oleObj>
              </mc:Choice>
              <mc:Fallback>
                <p:oleObj name="think-cell Slide" r:id="rId95" imgW="395" imgH="39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F8146A-6763-42E6-B3FA-9C73505CA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50FC7100-1C1C-4402-A482-09BDCAB9D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F4348E34-2A95-4E43-8EEE-56EDC9E48D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Факторный анализ: </a:t>
            </a:r>
            <a:r>
              <a:rPr lang="en-US" sz="2400" b="1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>
              <a:solidFill>
                <a:srgbClr val="000000"/>
              </a:solidFill>
              <a:latin typeface="+mj-lt"/>
            </a:endParaRPr>
          </a:p>
        </p:txBody>
      </p:sp>
      <p:cxnSp>
        <p:nvCxnSpPr>
          <p:cNvPr id="517" name="Прямая соединительная линия 516">
            <a:extLst>
              <a:ext uri="{FF2B5EF4-FFF2-40B4-BE49-F238E27FC236}">
                <a16:creationId xmlns:a16="http://schemas.microsoft.com/office/drawing/2014/main" id="{E2066E8D-164F-421E-8D6D-CFE3924F7377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2770188" y="261982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8" name="Прямая соединительная линия 517">
            <a:extLst>
              <a:ext uri="{FF2B5EF4-FFF2-40B4-BE49-F238E27FC236}">
                <a16:creationId xmlns:a16="http://schemas.microsoft.com/office/drawing/2014/main" id="{616BD943-5773-43AC-999F-585ED7C082B3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3629025" y="26737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9" name="Прямая соединительная линия 518">
            <a:extLst>
              <a:ext uri="{FF2B5EF4-FFF2-40B4-BE49-F238E27FC236}">
                <a16:creationId xmlns:a16="http://schemas.microsoft.com/office/drawing/2014/main" id="{75EE782E-AE06-44F7-9661-2999DAD1D95E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>
            <a:off x="4487863" y="259442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0" name="Прямая соединительная линия 519">
            <a:extLst>
              <a:ext uri="{FF2B5EF4-FFF2-40B4-BE49-F238E27FC236}">
                <a16:creationId xmlns:a16="http://schemas.microsoft.com/office/drawing/2014/main" id="{4894E697-8A66-477B-A996-AB7D47F02441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V="1">
            <a:off x="5346700" y="1843536"/>
            <a:ext cx="381000" cy="7508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9" name="Прямая соединительная линия 528">
            <a:extLst>
              <a:ext uri="{FF2B5EF4-FFF2-40B4-BE49-F238E27FC236}">
                <a16:creationId xmlns:a16="http://schemas.microsoft.com/office/drawing/2014/main" id="{61BA1634-35B4-403B-BB1D-9B5F4F8B9EE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203950" y="1843536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3" name="Прямая соединительная линия 532">
            <a:extLst>
              <a:ext uri="{FF2B5EF4-FFF2-40B4-BE49-F238E27FC236}">
                <a16:creationId xmlns:a16="http://schemas.microsoft.com/office/drawing/2014/main" id="{97EDCD65-AC87-47BF-8E93-7316F3C07564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7062788" y="1360936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Прямая соединительная линия 181">
            <a:extLst>
              <a:ext uri="{FF2B5EF4-FFF2-40B4-BE49-F238E27FC236}">
                <a16:creationId xmlns:a16="http://schemas.microsoft.com/office/drawing/2014/main" id="{57A9CBC5-1D65-464B-9CDC-9862D12E273C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 bwMode="auto">
          <a:xfrm>
            <a:off x="9637713" y="1025974"/>
            <a:ext cx="381000" cy="238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>
            <a:extLst>
              <a:ext uri="{FF2B5EF4-FFF2-40B4-BE49-F238E27FC236}">
                <a16:creationId xmlns:a16="http://schemas.microsoft.com/office/drawing/2014/main" id="{967127C6-1854-4F87-9468-CBA24AD3E868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7921625" y="11878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4" name="Прямая соединительная линия 533">
            <a:extLst>
              <a:ext uri="{FF2B5EF4-FFF2-40B4-BE49-F238E27FC236}">
                <a16:creationId xmlns:a16="http://schemas.microsoft.com/office/drawing/2014/main" id="{AE4B5719-5CE6-446B-8798-B4AEF931FABA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8780463" y="102597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5" name="Прямая соединительная линия 514">
            <a:extLst>
              <a:ext uri="{FF2B5EF4-FFF2-40B4-BE49-F238E27FC236}">
                <a16:creationId xmlns:a16="http://schemas.microsoft.com/office/drawing/2014/main" id="{B40D68F9-C9B0-4BA8-A9EA-BD1B5BE1C5E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1054100" y="2246761"/>
            <a:ext cx="381000" cy="79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6" name="Прямая соединительная линия 515">
            <a:extLst>
              <a:ext uri="{FF2B5EF4-FFF2-40B4-BE49-F238E27FC236}">
                <a16:creationId xmlns:a16="http://schemas.microsoft.com/office/drawing/2014/main" id="{74FF4F6B-7987-4D5D-B362-18244B81DE82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 bwMode="auto">
          <a:xfrm>
            <a:off x="1912938" y="22546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8" name="Chart 137">
            <a:extLst>
              <a:ext uri="{FF2B5EF4-FFF2-40B4-BE49-F238E27FC236}">
                <a16:creationId xmlns:a16="http://schemas.microsoft.com/office/drawing/2014/main" id="{3E5F1F7C-F97C-415E-9204-1D41D86AF726}"/>
              </a:ext>
            </a:extLst>
          </p:cNvPr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506948596"/>
              </p:ext>
            </p:extLst>
          </p:nvPr>
        </p:nvGraphicFramePr>
        <p:xfrm>
          <a:off x="303213" y="800548"/>
          <a:ext cx="10466387" cy="235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7"/>
          </a:graphicData>
        </a:graphic>
      </p:graphicFrame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907AC657-FE82-4F5A-98D1-BFE03DDC9F0F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98061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EFA114FA-386F-4A45-B909-DD01631DD904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123363" y="2699198"/>
            <a:ext cx="552451" cy="206376"/>
          </a:xfrm>
          <a:custGeom>
            <a:avLst/>
            <a:gdLst/>
            <a:ahLst/>
            <a:cxnLst/>
            <a:rect l="0" t="0" r="0" b="0"/>
            <a:pathLst>
              <a:path w="552451" h="206376">
                <a:moveTo>
                  <a:pt x="0" y="149225"/>
                </a:moveTo>
                <a:lnTo>
                  <a:pt x="552450" y="0"/>
                </a:lnTo>
                <a:lnTo>
                  <a:pt x="552450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9EC308CE-88AE-41A8-A475-9154AFC260F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5689600" y="2699198"/>
            <a:ext cx="552451" cy="206376"/>
          </a:xfrm>
          <a:custGeom>
            <a:avLst/>
            <a:gdLst/>
            <a:ahLst/>
            <a:cxnLst/>
            <a:rect l="0" t="0" r="0" b="0"/>
            <a:pathLst>
              <a:path w="552451" h="206376">
                <a:moveTo>
                  <a:pt x="0" y="149225"/>
                </a:moveTo>
                <a:lnTo>
                  <a:pt x="552450" y="0"/>
                </a:lnTo>
                <a:lnTo>
                  <a:pt x="552450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0F2DC10A-EC99-4F95-A4B4-1DE3DB54A921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483076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48615165-C98C-4D09-A566-686EC8EA73AD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397000" y="2699198"/>
            <a:ext cx="554039" cy="206376"/>
          </a:xfrm>
          <a:custGeom>
            <a:avLst/>
            <a:gdLst/>
            <a:ahLst/>
            <a:cxnLst/>
            <a:rect l="0" t="0" r="0" b="0"/>
            <a:pathLst>
              <a:path w="554039" h="206376">
                <a:moveTo>
                  <a:pt x="0" y="149225"/>
                </a:moveTo>
                <a:lnTo>
                  <a:pt x="554038" y="0"/>
                </a:lnTo>
                <a:lnTo>
                  <a:pt x="554038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" name="Freeform: Shape 4">
            <a:extLst>
              <a:ext uri="{FF2B5EF4-FFF2-40B4-BE49-F238E27FC236}">
                <a16:creationId xmlns:a16="http://schemas.microsoft.com/office/drawing/2014/main" id="{68BDA687-A858-477E-838B-F8E81A46D424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53816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7FB707B-2384-4225-BA79-3B23D6007A41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1397000" y="2756348"/>
            <a:ext cx="554039" cy="149226"/>
          </a:xfrm>
          <a:custGeom>
            <a:avLst/>
            <a:gdLst/>
            <a:ahLst/>
            <a:cxnLst/>
            <a:rect l="0" t="0" r="0" b="0"/>
            <a:pathLst>
              <a:path w="554039" h="149226">
                <a:moveTo>
                  <a:pt x="0" y="149225"/>
                </a:moveTo>
                <a:lnTo>
                  <a:pt x="554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3C2E206-7B2A-452C-8CB1-35DBD966F1B9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483076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6333203-66F9-4B6B-9F0A-CB1B749F50EF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5689600" y="269919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D3A3EE2-B247-49D6-BAC4-91A489417465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5689600" y="275634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3DF1CD7-BA5E-49C5-86DF-EA1A78F8E832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9123363" y="275634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286CD78-2652-408B-9050-9CE9D5BD72E4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998061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6E87D30-2744-4F14-998B-F87E00040F61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998061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76E1B26-E7DD-4649-96FC-000E60B6A258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9123363" y="269919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B3BC383-1601-493A-8C1F-CCC86150877D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483076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48BD0BA-87F4-4F15-995B-0360BFCD0C0B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53816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E338E25-1F3B-4787-9DFE-549526F3FA00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53816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181965B-9423-4822-AF14-A189BE50C5C9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1397000" y="2699198"/>
            <a:ext cx="554039" cy="149226"/>
          </a:xfrm>
          <a:custGeom>
            <a:avLst/>
            <a:gdLst/>
            <a:ahLst/>
            <a:cxnLst/>
            <a:rect l="0" t="0" r="0" b="0"/>
            <a:pathLst>
              <a:path w="554039" h="149226">
                <a:moveTo>
                  <a:pt x="0" y="149225"/>
                </a:moveTo>
                <a:lnTo>
                  <a:pt x="554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584B79B-7ADF-43A5-959F-F342F62F2E31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541338" y="2973836"/>
            <a:ext cx="546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6E7DC3-0130-406D-86EF-0764BF263F00}" type="datetime'''''''''''''''''''B''''U'''' 2''''''''''''02''''6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4E57E0D-9525-4A6C-9B3A-636432ED68D5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1404938" y="2973836"/>
            <a:ext cx="5365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175762-5704-40DE-99B3-FB22ABFC3F6D}" type="datetime'''BU'' с''е''''нт'''''''''' 2''''0''''''2''''''6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сент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9AD51AFB-CCAC-4D67-B75B-79CDC7F6D7E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08238" y="2368998"/>
            <a:ext cx="2476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EF4BB0-243F-4CB5-9863-8A786ADA9D6D}" type="datetime'''-1''''''''''''''''''''''''''''''''''''''''''''''5''''1''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-151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C212D03-FD48-4D7E-B13B-F486446058F2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2219325" y="2973836"/>
            <a:ext cx="62706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38EF60-809E-47F1-BB8D-F940553444D0}" type="datetime'К''''''''''''але''''''''''нд''''''а''''''''-р''из''ац''и''я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Календа-ризация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0D952144-5AFE-4228-B7B3-46CE299764D2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3276600" y="2578548"/>
            <a:ext cx="227013" cy="1365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16F32C-754E-405B-985B-F8C8CC2C5293}" type="datetime'''-''''2''2''''''''''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-22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DBA3D0-80C4-4C85-BED2-6F5B8E73F6AE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2959100" y="2973836"/>
            <a:ext cx="86042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20B19A-7A0D-41DF-8FF0-CDD6705CDCA4}" type="datetime'''''''П''''е''р''''е''''''с''м''о''''т''ры ''20''2''''''''6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Пересмотры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A3EA186-2BDF-4A55-9802-C998599F2B9B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3924300" y="2973836"/>
            <a:ext cx="6492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9A4863-16A8-4248-8921-916433D9FE47}" type="datetime'''''''''Рез''е''рвы'' на'' ''''''''''о''т''пу''с''''''''к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Резервы на отпуск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0" name="Прямоугольник 429">
            <a:extLst>
              <a:ext uri="{FF2B5EF4-FFF2-40B4-BE49-F238E27FC236}">
                <a16:creationId xmlns:a16="http://schemas.microsoft.com/office/drawing/2014/main" id="{DEBFF532-F1A9-4E70-967B-81706E55A280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4845050" y="2973836"/>
            <a:ext cx="5238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3AE19-2297-4CB6-8ED3-D86FFB8A8EAD}" type="datetime'''''''F''C'''' ''(''9+3)'' 202''''''''6''''''''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FC (9+3)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5" name="Прямоугольник 294">
            <a:extLst>
              <a:ext uri="{FF2B5EF4-FFF2-40B4-BE49-F238E27FC236}">
                <a16:creationId xmlns:a16="http://schemas.microsoft.com/office/drawing/2014/main" id="{E1C6C1CC-446E-49CC-8E89-5AF5D07BDB1C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5786438" y="1681611"/>
            <a:ext cx="3587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05A8B-463A-4C1C-8065-2B46D80E9A46}" type="datetime'''''1''''''''''''''''''''''.6''5''''''''''8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1.658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77B5523-B2AE-4DBC-BE28-D859028E4AB5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9128125" y="2973836"/>
            <a:ext cx="542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CA1C73-B7D0-44F8-8886-86FD85F3D4A1}" type="datetime'''BU ''''''''''''''''''''''''2''0''''2''7''''''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58FDCFA-D59F-43CC-9409-5C2BD3E281FE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9228138" y="1968948"/>
            <a:ext cx="34448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C3A527-AC14-43E7-BA78-4B00342733D4}" type="datetime'''''1''.''''9''''4''''''''''7''''''''''''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1.947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A0A9FE8F-9978-4E81-80EF-030E16236E20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6705600" y="1199011"/>
            <a:ext cx="2365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241D52-56BF-443C-9757-76F3C6E7EEB2}" type="datetime'''''''''''1''''''9''''''''''''''''''''''''''''''9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199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9122EED-8DB0-44A5-8FE6-05B2769E8800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8150224" y="2973836"/>
            <a:ext cx="781050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16B5FD-E205-4046-B101-E14ADDA79832}" type="datetime'Р''''ост'' ''числ-ти ''&quot;Ко''нтен''''''т ''''за''''в''од&quot;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числ-ти "Контент завод"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DB693632-7D7E-49FD-8FB9-16EAD86CAE60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9221788" y="864048"/>
            <a:ext cx="35560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A25A6A-8544-4A60-B089-A74F4967D33D}" type="datetime'''1''.''''''9''''''''''9''''''''''''''''''''''''''''''5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1.995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0" name="Прямоугольник 359">
            <a:extLst>
              <a:ext uri="{FF2B5EF4-FFF2-40B4-BE49-F238E27FC236}">
                <a16:creationId xmlns:a16="http://schemas.microsoft.com/office/drawing/2014/main" id="{9ACF061A-C833-4CB7-9D07-D93DF2F240C2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10077450" y="887861"/>
            <a:ext cx="3587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DB30A8-2B53-49A4-B8B1-454042B7E310}" type="datetime'1''''''''''''''''''''.9''''8''5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1.985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10CC1DF-016E-497E-8804-AE2FCAC5758F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7264400" y="2973836"/>
            <a:ext cx="8366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290D20-8DF8-4ABA-BCC8-CAF7B874BB0C}" type="datetime'''''''''''Рост ''''''&#10;в''''''''''оз''''нагр''''''''а''''жд''.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
вознагражд.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59FC9CC2-CDDB-409F-82F0-475AFBBF1D7F}"/>
              </a:ext>
            </a:extLst>
          </p:cNvPr>
          <p:cNvSpPr/>
          <p:nvPr>
            <p:custDataLst>
              <p:tags r:id="rId48"/>
            </p:custDataLst>
          </p:nvPr>
        </p:nvSpPr>
        <p:spPr bwMode="gray">
          <a:xfrm>
            <a:off x="4159250" y="2565848"/>
            <a:ext cx="177800" cy="136525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59288-CBAD-4067-A7A7-B9F1AF94D51E}" type="datetime'''''''''''''''''''''''''''''''''''3''3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1ACE87E5-31DE-44B0-B8E0-569257D3BA2F}"/>
              </a:ext>
            </a:extLst>
          </p:cNvPr>
          <p:cNvSpPr/>
          <p:nvPr>
            <p:custDataLst>
              <p:tags r:id="rId49"/>
            </p:custDataLst>
          </p:nvPr>
        </p:nvSpPr>
        <p:spPr bwMode="gray">
          <a:xfrm>
            <a:off x="647700" y="2084836"/>
            <a:ext cx="3349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A8506-F9C8-4123-8000-A19E7B6A5A0E}" type="datetime'''''''''''''''''''''1''.''''4''''''''''''''''''9''''1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1.491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9CE1DDC-5D0A-43CB-8FF3-F27045EF8B0A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6561138" y="2973836"/>
            <a:ext cx="52546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CCA236-34CD-4620-A4AA-B3365A9A7B54}" type="datetime'''''Ро''с''''''''т'' ч''''ис''''''л''''''''''''-''''''ти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числ-ти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9" name="Прямоугольник 288">
            <a:extLst>
              <a:ext uri="{FF2B5EF4-FFF2-40B4-BE49-F238E27FC236}">
                <a16:creationId xmlns:a16="http://schemas.microsoft.com/office/drawing/2014/main" id="{9EA864AA-04E8-4B46-B245-B69A6754F466}"/>
              </a:ext>
            </a:extLst>
          </p:cNvPr>
          <p:cNvSpPr/>
          <p:nvPr>
            <p:custDataLst>
              <p:tags r:id="rId51"/>
            </p:custDataLst>
          </p:nvPr>
        </p:nvSpPr>
        <p:spPr bwMode="gray">
          <a:xfrm>
            <a:off x="1487488" y="2092773"/>
            <a:ext cx="3730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A8660-BC9C-4CBF-B765-D02F348C2C13}" type="datetime'1.4''''''''''''''''''''''''''''8''''''''''8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1.488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3" name="Прямоугольник 332">
            <a:extLst>
              <a:ext uri="{FF2B5EF4-FFF2-40B4-BE49-F238E27FC236}">
                <a16:creationId xmlns:a16="http://schemas.microsoft.com/office/drawing/2014/main" id="{74F4EF98-0A1C-4A84-9341-B2B323647FDC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9913938" y="2973836"/>
            <a:ext cx="6873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D6834-F602-4EDC-8571-CB3BBA1D4E31}" type="datetime'''Стр''ате''г''ия'''''''''''' ''2''''''''''0''2''''''''''''7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Стратегия 2027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BF3F16A-3EE9-4095-A29B-8A92212E3764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5700713" y="2973836"/>
            <a:ext cx="5318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718E79-A6C7-4B35-9550-BD66BC436066}" type="datetime'''R''''R'''''''''''''''''' ''''''20''2''''''''''''''''''''''7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RR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0" name="Прямоугольник 449">
            <a:extLst>
              <a:ext uri="{FF2B5EF4-FFF2-40B4-BE49-F238E27FC236}">
                <a16:creationId xmlns:a16="http://schemas.microsoft.com/office/drawing/2014/main" id="{CD4E89CF-F0AC-44E1-B72F-15EDAB45255F}"/>
              </a:ext>
            </a:extLst>
          </p:cNvPr>
          <p:cNvSpPr/>
          <p:nvPr>
            <p:custDataLst>
              <p:tags r:id="rId54"/>
            </p:custDataLst>
          </p:nvPr>
        </p:nvSpPr>
        <p:spPr bwMode="gray">
          <a:xfrm>
            <a:off x="4926013" y="2432498"/>
            <a:ext cx="3635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CF9C5CA-C50F-4E08-9465-2DCC256DB0ED}" type="datetime'''''''''1.''''3''''''4''8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1.348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05BA2723-6A99-4A79-A8BF-58DEABFE04BA}"/>
              </a:ext>
            </a:extLst>
          </p:cNvPr>
          <p:cNvSpPr txBox="1"/>
          <p:nvPr/>
        </p:nvSpPr>
        <p:spPr>
          <a:xfrm>
            <a:off x="7632700" y="4131399"/>
            <a:ext cx="4191000" cy="1354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Юнит не участвовал в оптимизации по зеленому сценарию, был защищен отдельно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Согласованный доп. найм для контент-завода, окупаемость в пределах года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Нанимаем на 5 ставок больше, чем в стратегии при том же бюджете </a:t>
            </a:r>
          </a:p>
        </p:txBody>
      </p:sp>
      <p:sp>
        <p:nvSpPr>
          <p:cNvPr id="369" name="Овал 368">
            <a:extLst>
              <a:ext uri="{FF2B5EF4-FFF2-40B4-BE49-F238E27FC236}">
                <a16:creationId xmlns:a16="http://schemas.microsoft.com/office/drawing/2014/main" id="{06F14DA0-5589-4632-8C81-9E416F953B73}"/>
              </a:ext>
            </a:extLst>
          </p:cNvPr>
          <p:cNvSpPr/>
          <p:nvPr/>
        </p:nvSpPr>
        <p:spPr>
          <a:xfrm>
            <a:off x="7655412" y="4648924"/>
            <a:ext cx="180000" cy="1793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grpSp>
        <p:nvGrpSpPr>
          <p:cNvPr id="945" name="Группа 944">
            <a:extLst>
              <a:ext uri="{FF2B5EF4-FFF2-40B4-BE49-F238E27FC236}">
                <a16:creationId xmlns:a16="http://schemas.microsoft.com/office/drawing/2014/main" id="{714C5B96-E683-4F47-90EF-B1CC8DD53BF4}"/>
              </a:ext>
            </a:extLst>
          </p:cNvPr>
          <p:cNvGrpSpPr/>
          <p:nvPr/>
        </p:nvGrpSpPr>
        <p:grpSpPr>
          <a:xfrm>
            <a:off x="369887" y="1128394"/>
            <a:ext cx="3269805" cy="542328"/>
            <a:chOff x="197295" y="-41198"/>
            <a:chExt cx="3269805" cy="542328"/>
          </a:xfrm>
        </p:grpSpPr>
        <p:grpSp>
          <p:nvGrpSpPr>
            <p:cNvPr id="943" name="Группа 942">
              <a:extLst>
                <a:ext uri="{FF2B5EF4-FFF2-40B4-BE49-F238E27FC236}">
                  <a16:creationId xmlns:a16="http://schemas.microsoft.com/office/drawing/2014/main" id="{B6DB4C97-F943-4E73-8279-7D9F01FA441C}"/>
                </a:ext>
              </a:extLst>
            </p:cNvPr>
            <p:cNvGrpSpPr/>
            <p:nvPr/>
          </p:nvGrpSpPr>
          <p:grpSpPr>
            <a:xfrm>
              <a:off x="197295" y="224131"/>
              <a:ext cx="1900002" cy="276999"/>
              <a:chOff x="197295" y="224131"/>
              <a:chExt cx="1900002" cy="276999"/>
            </a:xfrm>
          </p:grpSpPr>
          <p:sp>
            <p:nvSpPr>
              <p:cNvPr id="382" name="Прямоугольник 381">
                <a:extLst>
                  <a:ext uri="{FF2B5EF4-FFF2-40B4-BE49-F238E27FC236}">
                    <a16:creationId xmlns:a16="http://schemas.microsoft.com/office/drawing/2014/main" id="{282CFADE-8F4F-4A0F-AD9A-E7C54BEAD2CA}"/>
                  </a:ext>
                </a:extLst>
              </p:cNvPr>
              <p:cNvSpPr/>
              <p:nvPr/>
            </p:nvSpPr>
            <p:spPr>
              <a:xfrm>
                <a:off x="197295" y="290365"/>
                <a:ext cx="273738" cy="144531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800" b="0" i="0" u="none" strike="noStrike" kern="120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83" name="TextBox 382">
                <a:extLst>
                  <a:ext uri="{FF2B5EF4-FFF2-40B4-BE49-F238E27FC236}">
                    <a16:creationId xmlns:a16="http://schemas.microsoft.com/office/drawing/2014/main" id="{886D6D2F-E144-4746-B109-88F2D27B6B21}"/>
                  </a:ext>
                </a:extLst>
              </p:cNvPr>
              <p:cNvSpPr txBox="1"/>
              <p:nvPr/>
            </p:nvSpPr>
            <p:spPr>
              <a:xfrm>
                <a:off x="543681" y="224131"/>
                <a:ext cx="1553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Project</a:t>
                </a:r>
              </a:p>
            </p:txBody>
          </p:sp>
        </p:grpSp>
        <p:grpSp>
          <p:nvGrpSpPr>
            <p:cNvPr id="944" name="Группа 943">
              <a:extLst>
                <a:ext uri="{FF2B5EF4-FFF2-40B4-BE49-F238E27FC236}">
                  <a16:creationId xmlns:a16="http://schemas.microsoft.com/office/drawing/2014/main" id="{3B8339F3-1D38-41BC-997A-B94B5084ACD0}"/>
                </a:ext>
              </a:extLst>
            </p:cNvPr>
            <p:cNvGrpSpPr/>
            <p:nvPr/>
          </p:nvGrpSpPr>
          <p:grpSpPr>
            <a:xfrm>
              <a:off x="197295" y="-41198"/>
              <a:ext cx="3269805" cy="276999"/>
              <a:chOff x="197295" y="-41198"/>
              <a:chExt cx="3269805" cy="276999"/>
            </a:xfrm>
          </p:grpSpPr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69D80D5E-3B2E-46CE-8A06-7990B599C851}"/>
                  </a:ext>
                </a:extLst>
              </p:cNvPr>
              <p:cNvSpPr txBox="1"/>
              <p:nvPr/>
            </p:nvSpPr>
            <p:spPr>
              <a:xfrm>
                <a:off x="543681" y="-41198"/>
                <a:ext cx="292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Ненормируемые подразделения</a:t>
                </a:r>
              </a:p>
            </p:txBody>
          </p:sp>
          <p:sp>
            <p:nvSpPr>
              <p:cNvPr id="397" name="Прямоугольник 396">
                <a:extLst>
                  <a:ext uri="{FF2B5EF4-FFF2-40B4-BE49-F238E27FC236}">
                    <a16:creationId xmlns:a16="http://schemas.microsoft.com/office/drawing/2014/main" id="{F62D4C00-A014-4B11-906E-766633043731}"/>
                  </a:ext>
                </a:extLst>
              </p:cNvPr>
              <p:cNvSpPr/>
              <p:nvPr/>
            </p:nvSpPr>
            <p:spPr>
              <a:xfrm>
                <a:off x="197295" y="25301"/>
                <a:ext cx="273600" cy="144000"/>
              </a:xfrm>
              <a:prstGeom prst="rect">
                <a:avLst/>
              </a:prstGeom>
              <a:gradFill flip="none" rotWithShape="1">
                <a:gsLst>
                  <a:gs pos="51000">
                    <a:srgbClr val="999999"/>
                  </a:gs>
                  <a:gs pos="55000">
                    <a:srgbClr val="FF452C"/>
                  </a:gs>
                </a:gsLst>
                <a:lin ang="135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05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00" name="TextBox 399">
            <a:extLst>
              <a:ext uri="{FF2B5EF4-FFF2-40B4-BE49-F238E27FC236}">
                <a16:creationId xmlns:a16="http://schemas.microsoft.com/office/drawing/2014/main" id="{FE1DF5B1-F3CF-471A-B037-4C1C98ED89CC}"/>
              </a:ext>
            </a:extLst>
          </p:cNvPr>
          <p:cNvSpPr txBox="1"/>
          <p:nvPr/>
        </p:nvSpPr>
        <p:spPr>
          <a:xfrm>
            <a:off x="371985" y="811588"/>
            <a:ext cx="3534229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PEX,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млн руб. 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32F16D4D-E98E-440C-A889-770D07EB5CD3}"/>
              </a:ext>
            </a:extLst>
          </p:cNvPr>
          <p:cNvSpPr txBox="1"/>
          <p:nvPr/>
        </p:nvSpPr>
        <p:spPr>
          <a:xfrm>
            <a:off x="371985" y="3421511"/>
            <a:ext cx="3534229" cy="30797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ССЧ,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чел. </a:t>
            </a:r>
          </a:p>
        </p:txBody>
      </p:sp>
      <p:cxnSp>
        <p:nvCxnSpPr>
          <p:cNvPr id="811" name="Прямая соединительная линия 810">
            <a:extLst>
              <a:ext uri="{FF2B5EF4-FFF2-40B4-BE49-F238E27FC236}">
                <a16:creationId xmlns:a16="http://schemas.microsoft.com/office/drawing/2014/main" id="{65D37AB0-E748-4902-89FE-2E68118CC751}"/>
              </a:ext>
            </a:extLst>
          </p:cNvPr>
          <p:cNvCxnSpPr/>
          <p:nvPr>
            <p:custDataLst>
              <p:tags r:id="rId55"/>
            </p:custDataLst>
          </p:nvPr>
        </p:nvCxnSpPr>
        <p:spPr bwMode="auto">
          <a:xfrm>
            <a:off x="4784724" y="3966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3" name="Прямая соединительная линия 812">
            <a:extLst>
              <a:ext uri="{FF2B5EF4-FFF2-40B4-BE49-F238E27FC236}">
                <a16:creationId xmlns:a16="http://schemas.microsoft.com/office/drawing/2014/main" id="{6F89D128-726F-4A62-AF81-813A06A8F4A7}"/>
              </a:ext>
            </a:extLst>
          </p:cNvPr>
          <p:cNvCxnSpPr/>
          <p:nvPr>
            <p:custDataLst>
              <p:tags r:id="rId56"/>
            </p:custDataLst>
          </p:nvPr>
        </p:nvCxnSpPr>
        <p:spPr bwMode="auto">
          <a:xfrm>
            <a:off x="5546724" y="3966023"/>
            <a:ext cx="336550" cy="7604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2" name="Прямая соединительная линия 841">
            <a:extLst>
              <a:ext uri="{FF2B5EF4-FFF2-40B4-BE49-F238E27FC236}">
                <a16:creationId xmlns:a16="http://schemas.microsoft.com/office/drawing/2014/main" id="{6A5AFC30-6F6B-4655-8C76-446FD466235D}"/>
              </a:ext>
            </a:extLst>
          </p:cNvPr>
          <p:cNvCxnSpPr>
            <a:cxnSpLocks/>
          </p:cNvCxnSpPr>
          <p:nvPr>
            <p:custDataLst>
              <p:tags r:id="rId57"/>
            </p:custDataLst>
          </p:nvPr>
        </p:nvCxnSpPr>
        <p:spPr bwMode="auto">
          <a:xfrm flipV="1">
            <a:off x="977899" y="5340798"/>
            <a:ext cx="338138" cy="889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3" name="Прямая соединительная линия 842">
            <a:extLst>
              <a:ext uri="{FF2B5EF4-FFF2-40B4-BE49-F238E27FC236}">
                <a16:creationId xmlns:a16="http://schemas.microsoft.com/office/drawing/2014/main" id="{7BD931B6-BD1E-4ED6-8CAB-74DCFD1B3FFB}"/>
              </a:ext>
            </a:extLst>
          </p:cNvPr>
          <p:cNvCxnSpPr/>
          <p:nvPr>
            <p:custDataLst>
              <p:tags r:id="rId58"/>
            </p:custDataLst>
          </p:nvPr>
        </p:nvCxnSpPr>
        <p:spPr bwMode="auto">
          <a:xfrm>
            <a:off x="1739899" y="5340798"/>
            <a:ext cx="33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4" name="Прямая соединительная линия 843">
            <a:extLst>
              <a:ext uri="{FF2B5EF4-FFF2-40B4-BE49-F238E27FC236}">
                <a16:creationId xmlns:a16="http://schemas.microsoft.com/office/drawing/2014/main" id="{A458EDBC-2068-4E01-BD11-82E88A586AB5}"/>
              </a:ext>
            </a:extLst>
          </p:cNvPr>
          <p:cNvCxnSpPr/>
          <p:nvPr>
            <p:custDataLst>
              <p:tags r:id="rId59"/>
            </p:custDataLst>
          </p:nvPr>
        </p:nvCxnSpPr>
        <p:spPr bwMode="auto">
          <a:xfrm>
            <a:off x="2500312" y="5363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5" name="Прямая соединительная линия 844">
            <a:extLst>
              <a:ext uri="{FF2B5EF4-FFF2-40B4-BE49-F238E27FC236}">
                <a16:creationId xmlns:a16="http://schemas.microsoft.com/office/drawing/2014/main" id="{10CD846E-11C3-4B58-A965-7A35345BDD85}"/>
              </a:ext>
            </a:extLst>
          </p:cNvPr>
          <p:cNvCxnSpPr/>
          <p:nvPr>
            <p:custDataLst>
              <p:tags r:id="rId60"/>
            </p:custDataLst>
          </p:nvPr>
        </p:nvCxnSpPr>
        <p:spPr bwMode="auto">
          <a:xfrm>
            <a:off x="3262312" y="5363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0" name="Прямая соединительная линия 809">
            <a:extLst>
              <a:ext uri="{FF2B5EF4-FFF2-40B4-BE49-F238E27FC236}">
                <a16:creationId xmlns:a16="http://schemas.microsoft.com/office/drawing/2014/main" id="{EC55AECC-0771-4B19-A06B-736C8BC6C2E2}"/>
              </a:ext>
            </a:extLst>
          </p:cNvPr>
          <p:cNvCxnSpPr/>
          <p:nvPr>
            <p:custDataLst>
              <p:tags r:id="rId61"/>
            </p:custDataLst>
          </p:nvPr>
        </p:nvCxnSpPr>
        <p:spPr bwMode="auto">
          <a:xfrm>
            <a:off x="4024312" y="4356548"/>
            <a:ext cx="33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7" name="Chart 156">
            <a:extLst>
              <a:ext uri="{FF2B5EF4-FFF2-40B4-BE49-F238E27FC236}">
                <a16:creationId xmlns:a16="http://schemas.microsoft.com/office/drawing/2014/main" id="{92666AAB-C2D7-414C-A8D5-698171721015}"/>
              </a:ext>
            </a:extLst>
          </p:cNvPr>
          <p:cNvGraphicFramePr/>
          <p:nvPr>
            <p:custDataLst>
              <p:tags r:id="rId62"/>
            </p:custDataLst>
            <p:extLst>
              <p:ext uri="{D42A27DB-BD31-4B8C-83A1-F6EECF244321}">
                <p14:modId xmlns:p14="http://schemas.microsoft.com/office/powerpoint/2010/main" val="3338219554"/>
              </p:ext>
            </p:extLst>
          </p:nvPr>
        </p:nvGraphicFramePr>
        <p:xfrm>
          <a:off x="303213" y="3740598"/>
          <a:ext cx="6256337" cy="2157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8"/>
          </a:graphicData>
        </a:graphic>
      </p:graphicFrame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9D3FC29A-03F0-4BA1-B3FE-D933512A006D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515938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39" name="Freeform: Shape 38">
            <a:extLst>
              <a:ext uri="{FF2B5EF4-FFF2-40B4-BE49-F238E27FC236}">
                <a16:creationId xmlns:a16="http://schemas.microsoft.com/office/drawing/2014/main" id="{118A0AC9-29ED-46B9-A6BE-9C4CE08B56DB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1277938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DE4484FC-E69F-43A4-9DC2-15C9999AB433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2800350" y="5455098"/>
            <a:ext cx="500064" cy="192088"/>
          </a:xfrm>
          <a:custGeom>
            <a:avLst/>
            <a:gdLst/>
            <a:ahLst/>
            <a:cxnLst/>
            <a:rect l="0" t="0" r="0" b="0"/>
            <a:pathLst>
              <a:path w="500064" h="192089">
                <a:moveTo>
                  <a:pt x="0" y="134938"/>
                </a:moveTo>
                <a:lnTo>
                  <a:pt x="500063" y="0"/>
                </a:lnTo>
                <a:lnTo>
                  <a:pt x="500063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48" name="Freeform: Shape 47">
            <a:extLst>
              <a:ext uri="{FF2B5EF4-FFF2-40B4-BE49-F238E27FC236}">
                <a16:creationId xmlns:a16="http://schemas.microsoft.com/office/drawing/2014/main" id="{B922B032-4B6A-40F8-8398-1EC6365C99A7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5084763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6ACE4B7C-66BD-4D3B-AF0C-335B0F349F38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5845175" y="5455098"/>
            <a:ext cx="500064" cy="192088"/>
          </a:xfrm>
          <a:custGeom>
            <a:avLst/>
            <a:gdLst/>
            <a:ahLst/>
            <a:cxnLst/>
            <a:rect l="0" t="0" r="0" b="0"/>
            <a:pathLst>
              <a:path w="500064" h="192089">
                <a:moveTo>
                  <a:pt x="0" y="134938"/>
                </a:moveTo>
                <a:lnTo>
                  <a:pt x="500063" y="0"/>
                </a:lnTo>
                <a:lnTo>
                  <a:pt x="500063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50E9D71-DDA0-4867-BED3-2843BF39E84C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515938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893DF8D4-4877-466D-9EB7-AD089407B6FA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515938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D58D4DC-8E7D-48DA-96B1-970B89F2B2FC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1277938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B7C2974-30C8-4BA3-A012-2BBF68F32C7F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1277938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6CA1F14-85D1-405E-88FC-CE3DF23ECB5D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2800350" y="545509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5642E4A1-3729-4D4C-BDE1-88473AD7882E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2800350" y="551224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D996FD9-47DE-46CC-994B-267663F4239C}"/>
              </a:ext>
            </a:extLst>
          </p:cNvPr>
          <p:cNvSpPr/>
          <p:nvPr>
            <p:custDataLst>
              <p:tags r:id="rId74"/>
            </p:custDataLst>
          </p:nvPr>
        </p:nvSpPr>
        <p:spPr bwMode="auto">
          <a:xfrm>
            <a:off x="5084763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4DACB82-27F9-496B-BBC0-5A5A85C83F0A}"/>
              </a:ext>
            </a:extLst>
          </p:cNvPr>
          <p:cNvSpPr/>
          <p:nvPr>
            <p:custDataLst>
              <p:tags r:id="rId75"/>
            </p:custDataLst>
          </p:nvPr>
        </p:nvSpPr>
        <p:spPr bwMode="auto">
          <a:xfrm>
            <a:off x="5084763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59B65F6-A57C-4FDB-82C2-42C22D343485}"/>
              </a:ext>
            </a:extLst>
          </p:cNvPr>
          <p:cNvSpPr/>
          <p:nvPr>
            <p:custDataLst>
              <p:tags r:id="rId76"/>
            </p:custDataLst>
          </p:nvPr>
        </p:nvSpPr>
        <p:spPr bwMode="auto">
          <a:xfrm>
            <a:off x="5845175" y="545509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9AA491B5-5093-4F63-87DE-056D512B743F}"/>
              </a:ext>
            </a:extLst>
          </p:cNvPr>
          <p:cNvSpPr/>
          <p:nvPr>
            <p:custDataLst>
              <p:tags r:id="rId77"/>
            </p:custDataLst>
          </p:nvPr>
        </p:nvSpPr>
        <p:spPr bwMode="auto">
          <a:xfrm>
            <a:off x="5845175" y="551224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5" name="Прямоугольник 784">
            <a:extLst>
              <a:ext uri="{FF2B5EF4-FFF2-40B4-BE49-F238E27FC236}">
                <a16:creationId xmlns:a16="http://schemas.microsoft.com/office/drawing/2014/main" id="{EBB79448-432B-46D5-BB37-44D62BBA98A6}"/>
              </a:ext>
            </a:extLst>
          </p:cNvPr>
          <p:cNvSpPr/>
          <p:nvPr>
            <p:custDataLst>
              <p:tags r:id="rId78"/>
            </p:custDataLst>
          </p:nvPr>
        </p:nvSpPr>
        <p:spPr bwMode="auto">
          <a:xfrm>
            <a:off x="1258888" y="5715448"/>
            <a:ext cx="5365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3E321D-5BBA-46A8-BCBB-A2F207592B2E}" type="datetime'BU'' ''с''''''''е''''''н''''''т'''' 2''026''''''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сент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5" name="Прямоугольник 824">
            <a:extLst>
              <a:ext uri="{FF2B5EF4-FFF2-40B4-BE49-F238E27FC236}">
                <a16:creationId xmlns:a16="http://schemas.microsoft.com/office/drawing/2014/main" id="{5B492200-7AF0-4863-B3E2-904710C3F7B4}"/>
              </a:ext>
            </a:extLst>
          </p:cNvPr>
          <p:cNvSpPr/>
          <p:nvPr>
            <p:custDataLst>
              <p:tags r:id="rId79"/>
            </p:custDataLst>
          </p:nvPr>
        </p:nvSpPr>
        <p:spPr bwMode="gray">
          <a:xfrm>
            <a:off x="2222500" y="5283648"/>
            <a:ext cx="130175" cy="1365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C36751-0410-486D-9FC2-3BEBD3FF8CC1}" type="datetime'''''-''''''''''''''''''''''''''''''''''''1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-1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6" name="Прямоугольник 785">
            <a:extLst>
              <a:ext uri="{FF2B5EF4-FFF2-40B4-BE49-F238E27FC236}">
                <a16:creationId xmlns:a16="http://schemas.microsoft.com/office/drawing/2014/main" id="{6EA51B5B-8957-40C8-BC1E-D659D8A82FC1}"/>
              </a:ext>
            </a:extLst>
          </p:cNvPr>
          <p:cNvSpPr/>
          <p:nvPr>
            <p:custDataLst>
              <p:tags r:id="rId80"/>
            </p:custDataLst>
          </p:nvPr>
        </p:nvSpPr>
        <p:spPr bwMode="auto">
          <a:xfrm>
            <a:off x="1974850" y="5715448"/>
            <a:ext cx="6270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BAA0EF-9006-4CD7-87BA-2FD3F99DD090}" type="datetime'''''К''''ален''д''а-''р''и''за''ция'' ''''''н''''''ай''ма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Календа-ризация найма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4" name="Прямоугольник 143">
            <a:extLst>
              <a:ext uri="{FF2B5EF4-FFF2-40B4-BE49-F238E27FC236}">
                <a16:creationId xmlns:a16="http://schemas.microsoft.com/office/drawing/2014/main" id="{039EB1EC-6D65-438E-96C3-88FCA7415CE4}"/>
              </a:ext>
            </a:extLst>
          </p:cNvPr>
          <p:cNvSpPr/>
          <p:nvPr>
            <p:custDataLst>
              <p:tags r:id="rId81"/>
            </p:custDataLst>
          </p:nvPr>
        </p:nvSpPr>
        <p:spPr bwMode="auto">
          <a:xfrm>
            <a:off x="2787650" y="5715448"/>
            <a:ext cx="5238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0EA3E-C0C4-4883-B9B2-8D7B9F89600C}" type="datetime'F''''''''''''C (''''''''''''''9+''3'') ''''''''20''2''6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FC (9+3)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8" name="Прямоугольник 787">
            <a:extLst>
              <a:ext uri="{FF2B5EF4-FFF2-40B4-BE49-F238E27FC236}">
                <a16:creationId xmlns:a16="http://schemas.microsoft.com/office/drawing/2014/main" id="{71E6E75A-5472-4550-90D7-647930EEF135}"/>
              </a:ext>
            </a:extLst>
          </p:cNvPr>
          <p:cNvSpPr/>
          <p:nvPr>
            <p:custDataLst>
              <p:tags r:id="rId82"/>
            </p:custDataLst>
          </p:nvPr>
        </p:nvSpPr>
        <p:spPr bwMode="auto">
          <a:xfrm>
            <a:off x="3484563" y="5715448"/>
            <a:ext cx="6556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B63179-E887-47D7-9350-D14E2C76D8AE}" type="datetime'''''''''Доп''''''''''.''''''''''''''''''''''н''''ай''м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Доп.найм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9" name="Прямоугольник 788">
            <a:extLst>
              <a:ext uri="{FF2B5EF4-FFF2-40B4-BE49-F238E27FC236}">
                <a16:creationId xmlns:a16="http://schemas.microsoft.com/office/drawing/2014/main" id="{EC1A8879-44AD-44DF-840B-62CA8525067F}"/>
              </a:ext>
            </a:extLst>
          </p:cNvPr>
          <p:cNvSpPr/>
          <p:nvPr>
            <p:custDataLst>
              <p:tags r:id="rId83"/>
            </p:custDataLst>
          </p:nvPr>
        </p:nvSpPr>
        <p:spPr bwMode="auto">
          <a:xfrm>
            <a:off x="4295775" y="5715448"/>
            <a:ext cx="5524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3FF510-F166-4C67-AB4E-8C9A2872ACBC}" type="datetime'Ко''''н''''''т''е''''''нт'''' з''''ав''''''''о''''''д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Контент завод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8" name="Прямоугольник 827">
            <a:extLst>
              <a:ext uri="{FF2B5EF4-FFF2-40B4-BE49-F238E27FC236}">
                <a16:creationId xmlns:a16="http://schemas.microsoft.com/office/drawing/2014/main" id="{CF6AE9F8-5443-48FD-A679-75453434862B}"/>
              </a:ext>
            </a:extLst>
          </p:cNvPr>
          <p:cNvSpPr/>
          <p:nvPr>
            <p:custDataLst>
              <p:tags r:id="rId84"/>
            </p:custDataLst>
          </p:nvPr>
        </p:nvSpPr>
        <p:spPr bwMode="gray">
          <a:xfrm>
            <a:off x="5207000" y="4861373"/>
            <a:ext cx="25558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67EF3D-14FA-452B-9043-1857F798A9E4}" type="datetime'''''''''''''''''''''''''''3''''''''6''''''''''''''''''5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365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0" name="Прямоугольник 789">
            <a:extLst>
              <a:ext uri="{FF2B5EF4-FFF2-40B4-BE49-F238E27FC236}">
                <a16:creationId xmlns:a16="http://schemas.microsoft.com/office/drawing/2014/main" id="{B5EA32DD-2EE3-4B40-9024-B0377BEC3403}"/>
              </a:ext>
            </a:extLst>
          </p:cNvPr>
          <p:cNvSpPr/>
          <p:nvPr>
            <p:custDataLst>
              <p:tags r:id="rId85"/>
            </p:custDataLst>
          </p:nvPr>
        </p:nvSpPr>
        <p:spPr bwMode="auto">
          <a:xfrm>
            <a:off x="5062538" y="5715448"/>
            <a:ext cx="542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B7F5A4-D517-40B8-B52E-48AFB291FBBD}" type="datetime'''''B''''''''''''U'''''' ''''''''''2''''''''02''''''''''''''7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5" name="Прямоугольник 794">
            <a:extLst>
              <a:ext uri="{FF2B5EF4-FFF2-40B4-BE49-F238E27FC236}">
                <a16:creationId xmlns:a16="http://schemas.microsoft.com/office/drawing/2014/main" id="{1FBB58F5-1F0C-4315-B98E-477CEBAEAD32}"/>
              </a:ext>
            </a:extLst>
          </p:cNvPr>
          <p:cNvSpPr/>
          <p:nvPr>
            <p:custDataLst>
              <p:tags r:id="rId86"/>
            </p:custDataLst>
          </p:nvPr>
        </p:nvSpPr>
        <p:spPr bwMode="auto">
          <a:xfrm>
            <a:off x="5751513" y="5715448"/>
            <a:ext cx="6873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08D2AB-2A72-4E08-88C9-059A2988166C}" type="datetime'''''С''''т''''р''''а''''тегия'''''''' ''''2''''0''2''''7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Стратегия 2027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9" name="Прямоугольник 888">
            <a:extLst>
              <a:ext uri="{FF2B5EF4-FFF2-40B4-BE49-F238E27FC236}">
                <a16:creationId xmlns:a16="http://schemas.microsoft.com/office/drawing/2014/main" id="{5F4BFD6B-DA0E-4C79-8C1B-332678479231}"/>
              </a:ext>
            </a:extLst>
          </p:cNvPr>
          <p:cNvSpPr/>
          <p:nvPr>
            <p:custDataLst>
              <p:tags r:id="rId87"/>
            </p:custDataLst>
          </p:nvPr>
        </p:nvSpPr>
        <p:spPr bwMode="gray">
          <a:xfrm>
            <a:off x="627063" y="5267773"/>
            <a:ext cx="27622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008D65-3FF8-4DCB-9226-A6086F5DD0A9}" type="datetime'''''3''''''''''''''''''0''''''9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309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1" name="Прямоугольник 890">
            <a:extLst>
              <a:ext uri="{FF2B5EF4-FFF2-40B4-BE49-F238E27FC236}">
                <a16:creationId xmlns:a16="http://schemas.microsoft.com/office/drawing/2014/main" id="{80AC280B-407F-43A6-B1B7-1FAC96E48F21}"/>
              </a:ext>
            </a:extLst>
          </p:cNvPr>
          <p:cNvSpPr/>
          <p:nvPr>
            <p:custDataLst>
              <p:tags r:id="rId88"/>
            </p:custDataLst>
          </p:nvPr>
        </p:nvSpPr>
        <p:spPr bwMode="gray">
          <a:xfrm>
            <a:off x="1411288" y="5178873"/>
            <a:ext cx="2333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1F77D3-A876-4722-9E8A-BB42C6A09C40}" type="datetime'3''''''''''''''1''''''''''''3''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313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3" name="Прямоугольник 782">
            <a:extLst>
              <a:ext uri="{FF2B5EF4-FFF2-40B4-BE49-F238E27FC236}">
                <a16:creationId xmlns:a16="http://schemas.microsoft.com/office/drawing/2014/main" id="{16D34D85-8E75-4CBF-8A88-DC062B5AB7F8}"/>
              </a:ext>
            </a:extLst>
          </p:cNvPr>
          <p:cNvSpPr/>
          <p:nvPr>
            <p:custDataLst>
              <p:tags r:id="rId89"/>
            </p:custDataLst>
          </p:nvPr>
        </p:nvSpPr>
        <p:spPr bwMode="auto">
          <a:xfrm>
            <a:off x="492125" y="5715448"/>
            <a:ext cx="546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2CABFB-2CE6-4B96-A2C4-CD4FFE7EE838}" type="datetime'''''''B''''''''''''''''U 2''''''''''0''2''''''''''''6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6" name="Прямоугольник 835">
            <a:extLst>
              <a:ext uri="{FF2B5EF4-FFF2-40B4-BE49-F238E27FC236}">
                <a16:creationId xmlns:a16="http://schemas.microsoft.com/office/drawing/2014/main" id="{04CB08CC-5D93-4ACD-8BE7-202EA7781671}"/>
              </a:ext>
            </a:extLst>
          </p:cNvPr>
          <p:cNvSpPr/>
          <p:nvPr>
            <p:custDataLst>
              <p:tags r:id="rId90"/>
            </p:custDataLst>
          </p:nvPr>
        </p:nvSpPr>
        <p:spPr bwMode="gray">
          <a:xfrm>
            <a:off x="3716338" y="4194623"/>
            <a:ext cx="19050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8CFFFB-6897-4828-B238-C9431BAB4AAD}" type="datetime'''''''''''''''''''''''''''4''''''''''''''''5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8" name="Прямоугольник 837">
            <a:extLst>
              <a:ext uri="{FF2B5EF4-FFF2-40B4-BE49-F238E27FC236}">
                <a16:creationId xmlns:a16="http://schemas.microsoft.com/office/drawing/2014/main" id="{568D7A1A-9C8A-4E57-A766-A510C3556298}"/>
              </a:ext>
            </a:extLst>
          </p:cNvPr>
          <p:cNvSpPr/>
          <p:nvPr>
            <p:custDataLst>
              <p:tags r:id="rId91"/>
            </p:custDataLst>
          </p:nvPr>
        </p:nvSpPr>
        <p:spPr bwMode="gray">
          <a:xfrm>
            <a:off x="5202238" y="3804098"/>
            <a:ext cx="26511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483745-9248-4E8D-A074-6E0BF2C3106B}" type="datetime'''''''''''''''''''3''''''''''''''''7''''5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3" name="Прямоугольник 892">
            <a:extLst>
              <a:ext uri="{FF2B5EF4-FFF2-40B4-BE49-F238E27FC236}">
                <a16:creationId xmlns:a16="http://schemas.microsoft.com/office/drawing/2014/main" id="{06425A92-4A0D-450A-8DBE-9AFA36035D6B}"/>
              </a:ext>
            </a:extLst>
          </p:cNvPr>
          <p:cNvSpPr/>
          <p:nvPr>
            <p:custDataLst>
              <p:tags r:id="rId92"/>
            </p:custDataLst>
          </p:nvPr>
        </p:nvSpPr>
        <p:spPr bwMode="gray">
          <a:xfrm>
            <a:off x="5972175" y="4564511"/>
            <a:ext cx="2460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37D1C2-AEAE-4C7E-854A-C67AE2C3CE79}" type="datetime'''''''3''''''''''''''''''''''''''''''''''''4''1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341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F3D7B7E1-0269-4068-A7A5-9C10B8D66492}"/>
              </a:ext>
            </a:extLst>
          </p:cNvPr>
          <p:cNvSpPr/>
          <p:nvPr>
            <p:custDataLst>
              <p:tags r:id="rId93"/>
            </p:custDataLst>
          </p:nvPr>
        </p:nvSpPr>
        <p:spPr bwMode="gray">
          <a:xfrm>
            <a:off x="2933700" y="5201098"/>
            <a:ext cx="2333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EA5E56-43B9-4244-8238-9FB9416649E5}" type="datetime'''''''3''''''''''''''''''''''''''''''''''''''''12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312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46" name="Группа 945">
            <a:extLst>
              <a:ext uri="{FF2B5EF4-FFF2-40B4-BE49-F238E27FC236}">
                <a16:creationId xmlns:a16="http://schemas.microsoft.com/office/drawing/2014/main" id="{405353C2-7B5C-4E44-9BA4-08709F2F5497}"/>
              </a:ext>
            </a:extLst>
          </p:cNvPr>
          <p:cNvGrpSpPr/>
          <p:nvPr/>
        </p:nvGrpSpPr>
        <p:grpSpPr>
          <a:xfrm>
            <a:off x="369887" y="3685036"/>
            <a:ext cx="3269805" cy="542925"/>
            <a:chOff x="197295" y="-41198"/>
            <a:chExt cx="3269805" cy="542328"/>
          </a:xfrm>
        </p:grpSpPr>
        <p:grpSp>
          <p:nvGrpSpPr>
            <p:cNvPr id="947" name="Группа 946">
              <a:extLst>
                <a:ext uri="{FF2B5EF4-FFF2-40B4-BE49-F238E27FC236}">
                  <a16:creationId xmlns:a16="http://schemas.microsoft.com/office/drawing/2014/main" id="{4E5AC93B-139B-48AF-A9F4-F25F0F58B590}"/>
                </a:ext>
              </a:extLst>
            </p:cNvPr>
            <p:cNvGrpSpPr/>
            <p:nvPr/>
          </p:nvGrpSpPr>
          <p:grpSpPr>
            <a:xfrm>
              <a:off x="197295" y="224131"/>
              <a:ext cx="1900002" cy="276999"/>
              <a:chOff x="197295" y="224131"/>
              <a:chExt cx="1900002" cy="276999"/>
            </a:xfrm>
          </p:grpSpPr>
          <p:sp>
            <p:nvSpPr>
              <p:cNvPr id="951" name="Прямоугольник 950">
                <a:extLst>
                  <a:ext uri="{FF2B5EF4-FFF2-40B4-BE49-F238E27FC236}">
                    <a16:creationId xmlns:a16="http://schemas.microsoft.com/office/drawing/2014/main" id="{822DDD24-5295-4F1A-A121-C0E5D6DFA502}"/>
                  </a:ext>
                </a:extLst>
              </p:cNvPr>
              <p:cNvSpPr/>
              <p:nvPr/>
            </p:nvSpPr>
            <p:spPr>
              <a:xfrm>
                <a:off x="197295" y="290365"/>
                <a:ext cx="273738" cy="144531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800" b="0" i="0" u="none" strike="noStrike" kern="120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52" name="TextBox 951">
                <a:extLst>
                  <a:ext uri="{FF2B5EF4-FFF2-40B4-BE49-F238E27FC236}">
                    <a16:creationId xmlns:a16="http://schemas.microsoft.com/office/drawing/2014/main" id="{3ECD9826-543C-404E-AB19-DD4CB39AE71E}"/>
                  </a:ext>
                </a:extLst>
              </p:cNvPr>
              <p:cNvSpPr txBox="1"/>
              <p:nvPr/>
            </p:nvSpPr>
            <p:spPr>
              <a:xfrm>
                <a:off x="543681" y="224131"/>
                <a:ext cx="1553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Project</a:t>
                </a:r>
              </a:p>
            </p:txBody>
          </p:sp>
        </p:grpSp>
        <p:grpSp>
          <p:nvGrpSpPr>
            <p:cNvPr id="948" name="Группа 947">
              <a:extLst>
                <a:ext uri="{FF2B5EF4-FFF2-40B4-BE49-F238E27FC236}">
                  <a16:creationId xmlns:a16="http://schemas.microsoft.com/office/drawing/2014/main" id="{4F6487C5-E373-4B98-932C-8D366613EB1B}"/>
                </a:ext>
              </a:extLst>
            </p:cNvPr>
            <p:cNvGrpSpPr/>
            <p:nvPr/>
          </p:nvGrpSpPr>
          <p:grpSpPr>
            <a:xfrm>
              <a:off x="197295" y="-41198"/>
              <a:ext cx="3269805" cy="276999"/>
              <a:chOff x="197295" y="-41198"/>
              <a:chExt cx="3269805" cy="276999"/>
            </a:xfrm>
          </p:grpSpPr>
          <p:sp>
            <p:nvSpPr>
              <p:cNvPr id="949" name="TextBox 948">
                <a:extLst>
                  <a:ext uri="{FF2B5EF4-FFF2-40B4-BE49-F238E27FC236}">
                    <a16:creationId xmlns:a16="http://schemas.microsoft.com/office/drawing/2014/main" id="{40434D6E-4DB5-4FCA-AB54-F76F096117E4}"/>
                  </a:ext>
                </a:extLst>
              </p:cNvPr>
              <p:cNvSpPr txBox="1"/>
              <p:nvPr/>
            </p:nvSpPr>
            <p:spPr>
              <a:xfrm>
                <a:off x="543681" y="-41198"/>
                <a:ext cx="292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Ненормируемые подразделения</a:t>
                </a:r>
              </a:p>
            </p:txBody>
          </p:sp>
          <p:sp>
            <p:nvSpPr>
              <p:cNvPr id="950" name="Прямоугольник 949">
                <a:extLst>
                  <a:ext uri="{FF2B5EF4-FFF2-40B4-BE49-F238E27FC236}">
                    <a16:creationId xmlns:a16="http://schemas.microsoft.com/office/drawing/2014/main" id="{E6CE7880-F06C-4716-9CA4-A9553AE70827}"/>
                  </a:ext>
                </a:extLst>
              </p:cNvPr>
              <p:cNvSpPr/>
              <p:nvPr/>
            </p:nvSpPr>
            <p:spPr>
              <a:xfrm>
                <a:off x="197295" y="25301"/>
                <a:ext cx="273600" cy="144000"/>
              </a:xfrm>
              <a:prstGeom prst="rect">
                <a:avLst/>
              </a:prstGeom>
              <a:gradFill flip="none" rotWithShape="1">
                <a:gsLst>
                  <a:gs pos="51000">
                    <a:srgbClr val="999999"/>
                  </a:gs>
                  <a:gs pos="55000">
                    <a:srgbClr val="FF452C"/>
                  </a:gs>
                </a:gsLst>
                <a:lin ang="135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05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53" name="Овал 952">
            <a:extLst>
              <a:ext uri="{FF2B5EF4-FFF2-40B4-BE49-F238E27FC236}">
                <a16:creationId xmlns:a16="http://schemas.microsoft.com/office/drawing/2014/main" id="{6AC04BB3-BC38-400B-B590-D8E956691AA0}"/>
              </a:ext>
            </a:extLst>
          </p:cNvPr>
          <p:cNvSpPr/>
          <p:nvPr/>
        </p:nvSpPr>
        <p:spPr>
          <a:xfrm>
            <a:off x="4490119" y="4431161"/>
            <a:ext cx="180000" cy="1793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992" name="Овал 991">
            <a:extLst>
              <a:ext uri="{FF2B5EF4-FFF2-40B4-BE49-F238E27FC236}">
                <a16:creationId xmlns:a16="http://schemas.microsoft.com/office/drawing/2014/main" id="{20CF2DF0-B7D6-4F21-B670-500D7EAFB2DA}"/>
              </a:ext>
            </a:extLst>
          </p:cNvPr>
          <p:cNvSpPr/>
          <p:nvPr/>
        </p:nvSpPr>
        <p:spPr>
          <a:xfrm>
            <a:off x="7655412" y="5102949"/>
            <a:ext cx="180000" cy="1809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993" name="Овал 992">
            <a:extLst>
              <a:ext uri="{FF2B5EF4-FFF2-40B4-BE49-F238E27FC236}">
                <a16:creationId xmlns:a16="http://schemas.microsoft.com/office/drawing/2014/main" id="{A118E490-5D4F-414C-BDF9-DD84920B11E1}"/>
              </a:ext>
            </a:extLst>
          </p:cNvPr>
          <p:cNvSpPr/>
          <p:nvPr/>
        </p:nvSpPr>
        <p:spPr>
          <a:xfrm>
            <a:off x="3726214" y="5397948"/>
            <a:ext cx="180000" cy="1809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400468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4142CEA1-99F4-4574-A5E9-425A86727A0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95" imgH="394" progId="TCLayout.ActiveDocument.1">
                  <p:embed/>
                </p:oleObj>
              </mc:Choice>
              <mc:Fallback>
                <p:oleObj name="think-cell Slide" r:id="rId20" imgW="395" imgH="39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42CEA1-99F4-4574-A5E9-425A86727A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8342B784-DAF1-4F67-8060-CB1D1E7243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Динамика стоимости ШР контура </a:t>
            </a:r>
            <a:r>
              <a:rPr lang="en-US" sz="2400" b="1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>
              <a:solidFill>
                <a:srgbClr val="000000"/>
              </a:solidFill>
              <a:latin typeface="+mj-lt"/>
            </a:endParaRPr>
          </a:p>
        </p:txBody>
      </p:sp>
      <p:graphicFrame>
        <p:nvGraphicFramePr>
          <p:cNvPr id="61" name="Chart 3">
            <a:extLst>
              <a:ext uri="{FF2B5EF4-FFF2-40B4-BE49-F238E27FC236}">
                <a16:creationId xmlns:a16="http://schemas.microsoft.com/office/drawing/2014/main" id="{C9275DC2-F268-42B7-9C30-5E8AEEE510C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48983117"/>
              </p:ext>
            </p:extLst>
          </p:nvPr>
        </p:nvGraphicFramePr>
        <p:xfrm>
          <a:off x="303213" y="2685594"/>
          <a:ext cx="7040562" cy="3325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179" name="Прямоугольник 178">
            <a:extLst>
              <a:ext uri="{FF2B5EF4-FFF2-40B4-BE49-F238E27FC236}">
                <a16:creationId xmlns:a16="http://schemas.microsoft.com/office/drawing/2014/main" id="{5F820AB2-4CA9-420D-9C9B-A67D5973101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455613" y="5795507"/>
            <a:ext cx="15779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94EB7-FC41-4B33-83E1-0B3C57330C6A}" type="datetime'''''''''С''''''тои''''''м''''о''''ст''ь ШР ''20''''2''6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Стоимость ШР 2026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5893CC0A-DE5A-4838-BF45-C2E542B61F95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2266950" y="5795507"/>
            <a:ext cx="13954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BAE9C1-20B8-4AC3-B77D-5095CE87BAB2}" type="datetime'B''''''U'''' ''''''20''''26'','''' ''б''е''''''з'''' ''ОСВ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2026, без ОСВ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1" name="Прямоугольник 180">
            <a:extLst>
              <a:ext uri="{FF2B5EF4-FFF2-40B4-BE49-F238E27FC236}">
                <a16:creationId xmlns:a16="http://schemas.microsoft.com/office/drawing/2014/main" id="{D6F18824-F041-4FF9-8295-B8976CA4FC9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895724" y="5795507"/>
            <a:ext cx="15763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5C91A91-EEB6-451D-93C7-8D920EF8656B}" type="datetime'''''С''т''''о''''''''имост''ь'' Ш''Р'' 2''0''''2''''''''7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Стоимость ШР 2027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2" name="Прямоугольник 181">
            <a:extLst>
              <a:ext uri="{FF2B5EF4-FFF2-40B4-BE49-F238E27FC236}">
                <a16:creationId xmlns:a16="http://schemas.microsoft.com/office/drawing/2014/main" id="{DAC92FBD-B69A-47D6-B5E1-94D242333600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5703888" y="5795507"/>
            <a:ext cx="13938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EA334D-F4A6-4851-8C81-C9158EB0E35B}" type="datetime'''BU ''''''''''202''7,'' б''''ез'''''''''' ''''''О''''''С''В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2027, без ОСВ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8415760-995E-4EFA-8DE1-88F7697CAB3F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1173163" y="3441244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2ECCCC-3A30-4405-80E2-704F8BB9B062}" type="datetime'''''''''''''''''''''''''''''''''''''''''''''''''''4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B65A1E1-4516-448A-8477-314665144E46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2892425" y="3507919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1541C1-D7B8-4DFE-891E-585E9326F2A2}" type="datetime'''''''''''''''''''''''''''''''''''''''4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CCF475B-EEBF-432A-AAC4-EF0B843E1AA6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4611688" y="2903082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E53B12-C351-4E91-A476-277EC289F42B}" type="datetime'''4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B1D2EEB-7A1B-417B-B735-D389F93E4524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329363" y="2960232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9E5824-DB05-4BF1-AF6B-7CC1E5ECF789}" type="datetime'''''''''''''''''''''''''''''''''''''''''''''''4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FA7D83D-B158-4D7B-B7BF-2381D5ED1750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1101725" y="3276144"/>
            <a:ext cx="2857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BBB44F-E510-4444-8DAE-DC5EFCDB3028}" type="datetime'''''''''''1''''2''''''''''''''''''''''''3'''''">
              <a:rPr lang="ru-RU" kumimoji="0" sz="12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123</a:t>
            </a:fld>
            <a:endParaRPr lang="ru-RU" kumimoji="0" sz="12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39A10F5-CD27-44B3-8DFD-70F7EBBA7B8C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2833688" y="3342819"/>
            <a:ext cx="2619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5A6B40-6135-4FFD-BE67-9CEAF3829074}" type="datetime'''''''''''''''''11''''''''''''''''''''''''''9'''''">
              <a:rPr lang="ru-RU" kumimoji="0" sz="12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lang="ru-RU" kumimoji="0" sz="12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F3FA55A-E5B7-4BE8-A746-E3C863924F62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540250" y="2737982"/>
            <a:ext cx="2857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0B395F-C4F5-47D5-8DCE-CD6DC9D6B4E2}" type="datetime'''''''''''''''''''''''''''''''''1''''''''''''5''2'''''''''''''">
              <a:rPr lang="ru-RU" kumimoji="0" sz="12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152</a:t>
            </a:fld>
            <a:endParaRPr lang="ru-RU" kumimoji="0" sz="12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5B43D90-E470-44B4-A235-1F3326C7F4DC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6248400" y="2795132"/>
            <a:ext cx="3063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A4A661-07F0-4B6B-B47D-4158FDB075EF}" type="datetime'''''''''''''''''''''''''''''''''''''''''1''''''4''9'''''''">
              <a:rPr lang="ru-RU" kumimoji="0" sz="12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149</a:t>
            </a:fld>
            <a:endParaRPr lang="ru-RU" kumimoji="0" sz="12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77E55974-64E7-4F6C-B8CD-A4894380DD67}"/>
              </a:ext>
            </a:extLst>
          </p:cNvPr>
          <p:cNvSpPr txBox="1"/>
          <p:nvPr/>
        </p:nvSpPr>
        <p:spPr>
          <a:xfrm>
            <a:off x="8302171" y="1615939"/>
            <a:ext cx="3484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0000500000000000000" pitchFamily="2" charset="-52"/>
                <a:ea typeface="+mn-ea"/>
                <a:cs typeface="+mn-cs"/>
              </a:rPr>
              <a:t>В 2027 г. комплектность увеличилась с 97% до 98%, из-за низкого процента текучести по 2026 г.</a:t>
            </a:r>
          </a:p>
        </p:txBody>
      </p:sp>
      <p:sp>
        <p:nvSpPr>
          <p:cNvPr id="29" name="Номер слайда 3">
            <a:extLst>
              <a:ext uri="{FF2B5EF4-FFF2-40B4-BE49-F238E27FC236}">
                <a16:creationId xmlns:a16="http://schemas.microsoft.com/office/drawing/2014/main" id="{5DBFE8FF-868E-4667-8484-575FEA7AE144}"/>
              </a:ext>
            </a:extLst>
          </p:cNvPr>
          <p:cNvSpPr txBox="1">
            <a:spLocks/>
          </p:cNvSpPr>
          <p:nvPr/>
        </p:nvSpPr>
        <p:spPr>
          <a:xfrm>
            <a:off x="11374252" y="6429889"/>
            <a:ext cx="625661" cy="199509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ctr" defTabSz="914400" rtl="0" eaLnBrk="1" latinLnBrk="0" hangingPunct="1">
              <a:defRPr sz="1000" b="0" kern="1200">
                <a:solidFill>
                  <a:srgbClr val="FF452C"/>
                </a:solidFill>
                <a:latin typeface="Arial" pitchFamily="2" charset="-5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B62F8B-6287-4A1D-B049-850DFDC2CB43}"/>
              </a:ext>
            </a:extLst>
          </p:cNvPr>
          <p:cNvSpPr txBox="1"/>
          <p:nvPr/>
        </p:nvSpPr>
        <p:spPr>
          <a:xfrm>
            <a:off x="371984" y="1108234"/>
            <a:ext cx="7140575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Стоимость ШР контура </a:t>
            </a:r>
            <a:r>
              <a:rPr lang="en-US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Admin PEX</a:t>
            </a:r>
            <a:r>
              <a:rPr lang="ru-RU" kumimoji="0" sz="1400" b="1" i="0" u="none" strike="noStrike" kern="1200" cap="none" spc="0" normalizeH="0" baseline="3000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млн руб.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EC1006-850E-46A6-8D92-7BD71F7CA6B4}"/>
              </a:ext>
            </a:extLst>
          </p:cNvPr>
          <p:cNvSpPr txBox="1"/>
          <p:nvPr/>
        </p:nvSpPr>
        <p:spPr>
          <a:xfrm>
            <a:off x="547036" y="2500941"/>
            <a:ext cx="1477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УКП</a:t>
            </a:r>
            <a:r>
              <a:rPr lang="en-US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FTE</a:t>
            </a:r>
            <a:b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97%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95%</a:t>
            </a:r>
          </a:p>
        </p:txBody>
      </p:sp>
      <p:sp>
        <p:nvSpPr>
          <p:cNvPr id="101" name="Текст 5">
            <a:extLst>
              <a:ext uri="{FF2B5EF4-FFF2-40B4-BE49-F238E27FC236}">
                <a16:creationId xmlns:a16="http://schemas.microsoft.com/office/drawing/2014/main" id="{C2CD0DFB-EDAA-4B50-889E-9230B11C7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27466" y="6315178"/>
            <a:ext cx="8890000" cy="339337"/>
          </a:xfrm>
        </p:spPr>
        <p:txBody>
          <a:bodyPr lIns="0" tIns="0"/>
          <a:lstStyle/>
          <a:p>
            <a:pPr>
              <a:spcBef>
                <a:spcPts val="1000"/>
              </a:spcBef>
            </a:pPr>
            <a:r>
              <a:rPr lang="ru-RU" sz="900">
                <a:solidFill>
                  <a:srgbClr val="6E6E6E"/>
                </a:solidFill>
                <a:latin typeface="+mn-lt"/>
              </a:rPr>
              <a:t>1 – На декабрь соответствующего года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3C629C24-1F93-4E93-BC2A-AA6E5C188D70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388938" y="1523544"/>
            <a:ext cx="214313" cy="160338"/>
          </a:xfrm>
          <a:prstGeom prst="rect">
            <a:avLst/>
          </a:prstGeom>
          <a:solidFill>
            <a:srgbClr val="D6D7D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E811B90C-5B01-4A6F-8ACF-56F2DAD06353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3417888" y="1523544"/>
            <a:ext cx="214313" cy="160338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AF46032B-2B65-423F-8992-09F12F3A8541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54050" y="1518782"/>
            <a:ext cx="26622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735F91-C67D-4BEB-990A-55233DD31875}" type="datetime'Нен''орм''иру''''е''''мы''''''е ''''''п''одраз''де''лен''ия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Ненормируемые подразделения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2A452EA-9496-49AE-B989-7A3CFC2BA4AD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683000" y="1518782"/>
            <a:ext cx="5461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84A1A1-9BF8-4626-8831-6E80F4C6AF9A}" type="datetime'''''P''''''''''''r''''''oj''''''''''''e''''c''''''''''t'''''">
              <a:rPr lang="en-US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Project</a:t>
            </a:fld>
            <a:endParaRPr lang="en-US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988A16-4075-446A-BDAE-FE4BE6BE36C9}"/>
              </a:ext>
            </a:extLst>
          </p:cNvPr>
          <p:cNvSpPr txBox="1"/>
          <p:nvPr/>
        </p:nvSpPr>
        <p:spPr>
          <a:xfrm>
            <a:off x="3957714" y="1988251"/>
            <a:ext cx="1477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УКП</a:t>
            </a:r>
            <a:r>
              <a:rPr lang="en-US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FTE</a:t>
            </a:r>
            <a:b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98%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95%</a:t>
            </a:r>
          </a:p>
        </p:txBody>
      </p:sp>
    </p:spTree>
    <p:extLst>
      <p:ext uri="{BB962C8B-B14F-4D97-AF65-F5344CB8AC3E}">
        <p14:creationId xmlns:p14="http://schemas.microsoft.com/office/powerpoint/2010/main" val="7576090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45198CCB-CAC7-4E96-94CF-E81AAA7978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0" imgW="395" imgH="394" progId="TCLayout.ActiveDocument.1">
                  <p:embed/>
                </p:oleObj>
              </mc:Choice>
              <mc:Fallback>
                <p:oleObj name="think-cell Slide" r:id="rId70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198CCB-CAC7-4E96-94CF-E81AAA7978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B32245ED-C725-40BD-9C91-DEDDB00039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Динамика резервов на отпуска </a:t>
            </a:r>
            <a:r>
              <a:rPr lang="en-US" sz="2400" b="1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44D9FD44-C1E4-4B11-AC52-35AE0C460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4252" y="6429889"/>
            <a:ext cx="625661" cy="199509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DAD5B0-D4EC-4753-A91F-D726B6688734}"/>
              </a:ext>
            </a:extLst>
          </p:cNvPr>
          <p:cNvSpPr txBox="1"/>
          <p:nvPr/>
        </p:nvSpPr>
        <p:spPr>
          <a:xfrm>
            <a:off x="371985" y="1037200"/>
            <a:ext cx="7140575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Динамика резервов на отпуска 2026 </a:t>
            </a:r>
            <a:r>
              <a:rPr lang="en-US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vs </a:t>
            </a: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2027,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дни</a:t>
            </a:r>
          </a:p>
        </p:txBody>
      </p:sp>
      <p:graphicFrame>
        <p:nvGraphicFramePr>
          <p:cNvPr id="204" name="Chart 3">
            <a:extLst>
              <a:ext uri="{FF2B5EF4-FFF2-40B4-BE49-F238E27FC236}">
                <a16:creationId xmlns:a16="http://schemas.microsoft.com/office/drawing/2014/main" id="{69160662-EC69-4545-A528-91C8D383DE58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507556" y="1820863"/>
          <a:ext cx="8649398" cy="193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2"/>
          </a:graphicData>
        </a:graphic>
      </p:graphicFrame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F29826C4-F0E0-451D-BADC-430DA822152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7127621" y="2994025"/>
            <a:ext cx="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E3460F8-D0DA-4C59-BCEA-40415488EDFF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 flipV="1">
            <a:off x="7127621" y="3219450"/>
            <a:ext cx="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FFE79DC7-8472-4C55-BDFC-6B624B70B8B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 flipH="1">
            <a:off x="8505380" y="2722563"/>
            <a:ext cx="20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663B8480-C344-4033-93BD-341244E16593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9160510" y="2722563"/>
            <a:ext cx="20637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7726BD7B-136C-430C-8D74-EA1F15D4B937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926782" y="3719513"/>
            <a:ext cx="5984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93675F-BA0B-409A-A873-3EAEA7DED6A0}" type="datetime'''''Я''''''''''''''''н''в''''''''''''''''а''''''''''рь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Январь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0" name="Прямоугольник 169">
            <a:extLst>
              <a:ext uri="{FF2B5EF4-FFF2-40B4-BE49-F238E27FC236}">
                <a16:creationId xmlns:a16="http://schemas.microsoft.com/office/drawing/2014/main" id="{59877593-E021-4743-B552-AECB2F47C0B8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1662684" y="3379788"/>
            <a:ext cx="4381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BE4265-4276-4BB7-B6D2-A406D374A178}" type="datetime'''2''''''''''.52''''''0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2.520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9DD11E1F-7C6E-4841-B58E-F26F60E9C4D0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1656334" y="2025650"/>
            <a:ext cx="4508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54CD2-2E6B-46D2-BD27-C9403A36AA05}" type="datetime'''''4''''''''''.''''9''''8''''''''''''''''''5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4.985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4CEC7A33-D398-4E84-8CA8-91ACC673C935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524572" y="3719513"/>
            <a:ext cx="7143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A066B0-3589-4719-B9E3-4B7A61333553}" type="datetime'''''''''''''''''Ф''''''е''''''''''''''в''''р''''а''л''''''''ь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Февраль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7" name="Прямоугольник 166">
            <a:extLst>
              <a:ext uri="{FF2B5EF4-FFF2-40B4-BE49-F238E27FC236}">
                <a16:creationId xmlns:a16="http://schemas.microsoft.com/office/drawing/2014/main" id="{5D40BF5A-7C2E-4324-8E24-6BD80F868138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2332102" y="3303588"/>
            <a:ext cx="4095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50FDD0-8935-4A71-86B6-B6B304E7B080}" type="datetime'''''''''''''2''''''.''''''''''''''''''''''''714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2.714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41D788EE-66A8-49C6-B81A-CBD8B74E8892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2333498" y="1951038"/>
            <a:ext cx="4079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62645A-43CF-4183-99CA-DC7F3EEB6580}" type="datetime'5''''''.''''''17''''''''''''4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5.174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E1B5120F-9FFB-4ACB-A6D8-F2F9D2F71C9A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2325560" y="3719513"/>
            <a:ext cx="42386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A675AA-A970-45FE-840E-16EA783A9709}" type="datetime'''''''''''''''''''''''''''''''''''Ма''''р''т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Март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id="{FC4046D0-CF35-4A54-A53B-779C8C7581CF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2972371" y="3238500"/>
            <a:ext cx="4429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FA7B23-6F6C-437A-ACF0-6CD8A75357B3}" type="datetime'''''''''''''''''''''''''''''''''''''''''''''''2.8''''''79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2.879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C8321F44-74DF-4777-8F81-A0101DF17302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2996184" y="1893888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34EC14-3BCA-42E4-BD1F-BBBFD5EB48BC}" type="datetime'''''5''''''''''''''''''.''''''3''''1''''''''''''''9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5.319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EF55518-A08C-4AC1-9CDB-112B23601A14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888425" y="3719513"/>
            <a:ext cx="609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E5843C-21D2-43AC-A57A-86E8D4B7BE26}" type="datetime'''Апр''''''''''''''''''е''''''''''л''ь''''''''''''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Апрель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9" name="Прямоугольник 168">
            <a:extLst>
              <a:ext uri="{FF2B5EF4-FFF2-40B4-BE49-F238E27FC236}">
                <a16:creationId xmlns:a16="http://schemas.microsoft.com/office/drawing/2014/main" id="{EB8E6F3A-97EC-431A-84CE-67FB6840A36C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3622738" y="3155950"/>
            <a:ext cx="4524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3379BD-933C-49A1-8CD0-882668246F79}" type="datetime'''''''''''''''''''3.''08''''''''''''''9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3.089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19D36DCC-9CCF-44BD-A25F-8C68DCE50202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3638613" y="1811338"/>
            <a:ext cx="4206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3213D1A-51AE-4AB2-ABA7-CB661A333EC3}" type="datetime'5''''''''''''''''''''.''''''''''''5''3''''''''''2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5.532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8DD0257F-A5E8-41CD-BD20-361624450885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3672142" y="3719513"/>
            <a:ext cx="3524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0BD22C-D20A-4109-BCE6-C02D77A77CE2}" type="datetime'М''''''''''''''''''''''''''''''''ай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Май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2" name="Прямоугольник 171">
            <a:extLst>
              <a:ext uri="{FF2B5EF4-FFF2-40B4-BE49-F238E27FC236}">
                <a16:creationId xmlns:a16="http://schemas.microsoft.com/office/drawing/2014/main" id="{71A01645-1293-4FF5-8A69-90D5BCEFA9D1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4287013" y="3178175"/>
            <a:ext cx="43656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E09685-6705-4769-A5D3-F4470A856FF1}" type="datetime'''''''''''''''''''''''''''''3''''''.''''''''''''''''032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3.032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2C6EB692-CD30-401D-8C12-81EE6A63ED7E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282249" y="182086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FC8EAC-5997-44DE-B9DF-6CCE62B30F11}" type="datetime'''''''''''''''''5''.''''''''''''''5''''''0''''''''''8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5.508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D513218-5FDC-4B5A-B367-2F642B1BD6C0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275899" y="3719513"/>
            <a:ext cx="4587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15660A-3AEE-4826-9F8A-C4CA4A99846D}" type="datetime'''''Ию''''''''''''''''''''''''''''''''''''''''н''''''ь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Июнь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8AD674DA-B018-45B4-A525-050DD921E04F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4942333" y="3178175"/>
            <a:ext cx="4349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B2089BB-BFB4-43F0-9DDE-A3132DF523CB}" type="datetime'3''''''''.''''''''''''03''''''5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3.035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4" name="Прямоугольник 153">
            <a:extLst>
              <a:ext uri="{FF2B5EF4-FFF2-40B4-BE49-F238E27FC236}">
                <a16:creationId xmlns:a16="http://schemas.microsoft.com/office/drawing/2014/main" id="{F96255E0-EBB9-4904-99D5-D41A55BB8AD4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4937379" y="2035175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73D3FB-723B-4DF9-A174-335BB3D28A94}" type="datetime'''4.''''''''''''''''''9''''''''59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4.959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E6BEAA3E-2954-4B1C-9603-3156CCFB2E0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4934204" y="3719513"/>
            <a:ext cx="4524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D1412C-EFDE-4CB4-A56B-FF13D33A1CCB}" type="datetime'''''''''''''''''''''И''ю''''''''''л''''''''''ь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Июль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5" name="Прямоугольник 164">
            <a:extLst>
              <a:ext uri="{FF2B5EF4-FFF2-40B4-BE49-F238E27FC236}">
                <a16:creationId xmlns:a16="http://schemas.microsoft.com/office/drawing/2014/main" id="{FDE9E720-F5A4-4A32-86FA-2B953EF17859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5598669" y="3260725"/>
            <a:ext cx="4349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50CAC3-056B-4693-BD8F-3DE25CCD3592}" type="datetime'2''''''''''''''''''''''''''''''''''''.8''2''2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2.822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B4B20133-8D77-4106-9547-E0528F693B76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5619115" y="2749550"/>
            <a:ext cx="395288" cy="16510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BBF051-494F-47CA-A615-8AAE57DB518C}" type="datetime'''3''''''.13''''''''9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3.139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ECC013C8-C010-4CAA-91E7-B4EAE5757F6A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5549456" y="3719513"/>
            <a:ext cx="5334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3C7D70-B858-4289-A31A-0E439FE34975}" type="datetime'А''''в''''''''''г''''''''у''''''''с''''''''''''''''т''''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Август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4" name="Прямоугольник 173">
            <a:extLst>
              <a:ext uri="{FF2B5EF4-FFF2-40B4-BE49-F238E27FC236}">
                <a16:creationId xmlns:a16="http://schemas.microsoft.com/office/drawing/2014/main" id="{ED7F6AEE-C56B-413B-9245-B8A96C1C0B94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6248844" y="289401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D889EB-BD38-4AD5-B2E6-CDA178480799}" type="datetime'''''''2''''.''''''''''''''''''7''''''''''''''''70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2.770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14447913-FDD3-452E-8A7C-E2638CC9F73D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6247257" y="3324225"/>
            <a:ext cx="44926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0F8D95-6A99-42C0-AF27-41E0CD031A0E}" type="datetime'2''.''''''''6''''''''''''''''60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2.660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3F5F4875-4A8E-454C-B890-DF6DD4BC9CAE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6085332" y="3719513"/>
            <a:ext cx="7731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F12790-3916-4EAF-AAC0-4FFAAA0126B1}" type="datetime'''''''''''''''С''''''''''ен''тя''''''''''''б''''''р''ь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Сентябрь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id="{C70CDA3B-3E06-46FA-ADBC-D65D9C320DE2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914705" y="2828925"/>
            <a:ext cx="4270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7344FC-DDE2-4690-97BA-1DF4743FE0C9}" type="datetime'''''''''''2''''.''''9''''''''''''35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2.935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6" name="Прямоугольник 165">
            <a:extLst>
              <a:ext uri="{FF2B5EF4-FFF2-40B4-BE49-F238E27FC236}">
                <a16:creationId xmlns:a16="http://schemas.microsoft.com/office/drawing/2014/main" id="{01C3DDA2-4DEF-4594-8C91-0BA477284B59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359092" y="3509963"/>
            <a:ext cx="4429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03C317-DC32-422C-84B2-8A1AF8306066}" type="datetime'''''''''''''2''''.''06''''''''''''5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2.065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602E54FF-02FB-4754-A240-9432FB22292A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6902196" y="3240088"/>
            <a:ext cx="4508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46075D-2057-4DA3-9628-9EFE52F23324}" type="datetime'''''''''''''2''''''''''''''''''''''.''''''87''4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2.874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F04101FE-CD12-4092-B863-1F1E0FDD00A2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70776" y="246221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7A6BC9-7D42-4E25-9A1E-F508E020A0D0}" type="datetime'3''''.''''8''03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A7CC30C3-8EDE-492A-98F7-E4E4A0140B40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784721" y="3719513"/>
            <a:ext cx="6858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EC6C8B-490D-40B8-8998-B8D01EAEFE24}" type="datetime'''О''к''т''''''''''''''''''''''''''''я''б''р''''''''''''ь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Октябрь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6" name="Прямоугольник 175">
            <a:extLst>
              <a:ext uri="{FF2B5EF4-FFF2-40B4-BE49-F238E27FC236}">
                <a16:creationId xmlns:a16="http://schemas.microsoft.com/office/drawing/2014/main" id="{F69D31B7-B93F-4408-85E0-0030B8FE965D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7582726" y="2727325"/>
            <a:ext cx="400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8D1032-B7A9-4E3B-AB95-7B05357A8872}" type="datetime'''3''.''''''''''''''''''''1''''''''''97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3.197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72477DF7-18BC-4AFF-AEAF-660F38A66D1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78797" y="3719513"/>
            <a:ext cx="584200" cy="5476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8C7BD1-5F94-4DA7-BDF3-63F575E1E916}" type="datetime'''''''''Ост''ат''ок на на''ч''а''л''''''''о'''' ''''''''года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Остаток на начало года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CE168C9B-9191-4241-BE45-4C675A71EB57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7474585" y="3719513"/>
            <a:ext cx="6175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B7D175-12A4-441A-BC7A-33D376268122}" type="datetime'''Н''''''''''''''о''''яб''''''р''''''''''''''''''''''''ь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Ноябрь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7" name="Прямоугольник 176">
            <a:extLst>
              <a:ext uri="{FF2B5EF4-FFF2-40B4-BE49-F238E27FC236}">
                <a16:creationId xmlns:a16="http://schemas.microsoft.com/office/drawing/2014/main" id="{BF039152-F9FF-407C-896A-AB195408BBCB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8216646" y="2876550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C1E9D8-2D41-44B0-8700-93D88D6B914A}" type="datetime'''3''''''''''.''''''''''''''''''803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59" name="Прямоугольник 158">
            <a:extLst>
              <a:ext uri="{FF2B5EF4-FFF2-40B4-BE49-F238E27FC236}">
                <a16:creationId xmlns:a16="http://schemas.microsoft.com/office/drawing/2014/main" id="{9CBAFD68-F482-4ADD-83EC-7E35EEBC17B6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8476107" y="2525713"/>
            <a:ext cx="395288" cy="16510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41210A2-B542-4CA1-AFE8-3A68082B6AD3}" type="datetime'''''3.''''''''''''''''''''''''9''''''13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3.913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9C76CA0B-D88A-43BE-A70E-18FDF9FA713A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1006157" y="3497263"/>
            <a:ext cx="4397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A6FC22-4DA4-41B8-8421-7D610D178FD6}" type="datetime'2''.''22''''''''''''''''''''''''''''''0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2.220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8" name="Прямоугольник 157">
            <a:extLst>
              <a:ext uri="{FF2B5EF4-FFF2-40B4-BE49-F238E27FC236}">
                <a16:creationId xmlns:a16="http://schemas.microsoft.com/office/drawing/2014/main" id="{4B79C3A0-C9BF-4330-A0E1-F1966720A221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7585710" y="3114675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A46D3C-DADA-448D-9D1F-5215198D9168}" type="datetime'''''''3''''''.''''''''''''''''''''''1''''''9''''''''''''5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3.195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8" name="Прямоугольник 177">
            <a:extLst>
              <a:ext uri="{FF2B5EF4-FFF2-40B4-BE49-F238E27FC236}">
                <a16:creationId xmlns:a16="http://schemas.microsoft.com/office/drawing/2014/main" id="{F13FFABF-8D9D-498A-9EFA-1F80C95AEA3B}"/>
              </a:ext>
            </a:extLst>
          </p:cNvPr>
          <p:cNvSpPr/>
          <p:nvPr>
            <p:custDataLst>
              <p:tags r:id="rId44"/>
            </p:custDataLst>
          </p:nvPr>
        </p:nvSpPr>
        <p:spPr bwMode="gray">
          <a:xfrm>
            <a:off x="8871775" y="2876550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ABCEAB-58D6-4D46-8FC9-B4FBB2AE9CA4}" type="datetime'''''''''''3''''''''''''''''.''8''''''0''''''''''''''''''3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66F408D1-1911-4122-B947-DE54A9248CFF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9131236" y="2525713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A27193-225E-4A5B-BB02-FD2107FC82ED}" type="datetime'''3''''''''''''''''''''''.9''''''''''''1''''''''''3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3.913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8" name="Прямоугольник 147">
            <a:extLst>
              <a:ext uri="{FF2B5EF4-FFF2-40B4-BE49-F238E27FC236}">
                <a16:creationId xmlns:a16="http://schemas.microsoft.com/office/drawing/2014/main" id="{4BAE2088-3A7A-4A66-A26A-4048FDA345E1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993457" y="2220913"/>
            <a:ext cx="4651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3AF32D-43C6-4482-B230-C3D13C513DA3}" type="datetime'''''4''''''''''''''''''''''''.''''''''''''''''4''''''''8''6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4.486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340DAF8D-6E43-4292-ACB1-0796E9A1B764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8802719" y="3719513"/>
            <a:ext cx="584200" cy="5476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139AAD-13E9-4445-B60D-175B00CE57B2}" type="datetime'О''''с''т''ато''''к'''''' ''на'' ''''кон''''е''ц'' г''о''да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Остаток на конец года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B1BF5C66-ADA3-41FB-8A3A-B97F033CF015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8091424" y="3719513"/>
            <a:ext cx="695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99DFAC-71FD-48ED-8772-8F1B676890E9}" type="datetime'''''Дек''''''''''а''''''''''б''''''''''р''''''''''''ь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Декабрь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98" name="Прямая соединительная линия 197">
            <a:extLst>
              <a:ext uri="{FF2B5EF4-FFF2-40B4-BE49-F238E27FC236}">
                <a16:creationId xmlns:a16="http://schemas.microsoft.com/office/drawing/2014/main" id="{058442B3-D21C-4199-8E5B-7C6CFB0801A6}"/>
              </a:ext>
            </a:extLst>
          </p:cNvPr>
          <p:cNvCxnSpPr/>
          <p:nvPr>
            <p:custDataLst>
              <p:tags r:id="rId49"/>
            </p:custDataLst>
          </p:nvPr>
        </p:nvCxnSpPr>
        <p:spPr bwMode="gray">
          <a:xfrm>
            <a:off x="460375" y="1489075"/>
            <a:ext cx="296863" cy="0"/>
          </a:xfrm>
          <a:prstGeom prst="line">
            <a:avLst/>
          </a:prstGeom>
          <a:ln w="28575" cap="rnd" cmpd="sng" algn="ctr">
            <a:solidFill>
              <a:srgbClr val="C0C0C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Прямая соединительная линия 198">
            <a:extLst>
              <a:ext uri="{FF2B5EF4-FFF2-40B4-BE49-F238E27FC236}">
                <a16:creationId xmlns:a16="http://schemas.microsoft.com/office/drawing/2014/main" id="{436D1145-95AD-4BAF-B153-A00F97FAE4C0}"/>
              </a:ext>
            </a:extLst>
          </p:cNvPr>
          <p:cNvCxnSpPr/>
          <p:nvPr>
            <p:custDataLst>
              <p:tags r:id="rId50"/>
            </p:custDataLst>
          </p:nvPr>
        </p:nvCxnSpPr>
        <p:spPr bwMode="gray">
          <a:xfrm>
            <a:off x="1306512" y="1489075"/>
            <a:ext cx="296863" cy="0"/>
          </a:xfrm>
          <a:prstGeom prst="line">
            <a:avLst/>
          </a:prstGeom>
          <a:ln w="28575" cap="rnd" cmpd="sng" algn="ctr">
            <a:solidFill>
              <a:srgbClr val="FF452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2" name="Ромб 201">
            <a:extLst>
              <a:ext uri="{FF2B5EF4-FFF2-40B4-BE49-F238E27FC236}">
                <a16:creationId xmlns:a16="http://schemas.microsoft.com/office/drawing/2014/main" id="{70036F63-13AC-4206-B8A6-9416619F49CB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57212" y="1438275"/>
            <a:ext cx="101600" cy="101600"/>
          </a:xfrm>
          <a:prstGeom prst="diamond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3" name="Ромб 202">
            <a:extLst>
              <a:ext uri="{FF2B5EF4-FFF2-40B4-BE49-F238E27FC236}">
                <a16:creationId xmlns:a16="http://schemas.microsoft.com/office/drawing/2014/main" id="{1B4E199A-F282-4B38-9D53-756AB2CDF354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1403350" y="1438275"/>
            <a:ext cx="101600" cy="101600"/>
          </a:xfrm>
          <a:prstGeom prst="diamond">
            <a:avLst/>
          </a:prstGeom>
          <a:solidFill>
            <a:srgbClr val="FF452C"/>
          </a:solidFill>
          <a:ln w="9525" cap="flat" cmpd="sng" algn="ctr">
            <a:solidFill>
              <a:srgbClr val="FF452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DA9CE187-493D-4E37-BDCA-845701A9A6D0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822325" y="1404938"/>
            <a:ext cx="3683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BB035-4285-48E8-B255-F21162CEBB7F}" type="datetime'''''''''''''''''''''''2''0''''''''''''''''''''2''''''''''6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C191B661-0ED5-4F78-8C25-024423F7B5CA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1668463" y="1404938"/>
            <a:ext cx="3667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F1083E-BE73-4471-8105-F67EB6BD88DF}" type="datetime'20''2''''''''''''''''''7''''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2027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215" name="Таблица 214">
            <a:extLst>
              <a:ext uri="{FF2B5EF4-FFF2-40B4-BE49-F238E27FC236}">
                <a16:creationId xmlns:a16="http://schemas.microsoft.com/office/drawing/2014/main" id="{57A8F848-5A79-4256-9E11-93CFA5A33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449728"/>
              </p:ext>
            </p:extLst>
          </p:nvPr>
        </p:nvGraphicFramePr>
        <p:xfrm>
          <a:off x="9626600" y="1066800"/>
          <a:ext cx="2184400" cy="2393950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273598262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97454657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89077302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Год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2026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2027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6137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январь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5,6%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5565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февраль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4,7%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5,2%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5827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март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4,3%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1,9%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85228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апрель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-0,8%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0244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май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32750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июнь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-0,2%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9793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июль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-3,2%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-5,1%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2046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август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0,6%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-17,0%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56119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сентябрь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-4,5%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6151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октябрь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3234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ноябрь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2,9%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3439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декабрь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3,6%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6,7%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331541"/>
                  </a:ext>
                </a:extLst>
              </a:tr>
            </a:tbl>
          </a:graphicData>
        </a:graphic>
      </p:graphicFrame>
      <p:sp>
        <p:nvSpPr>
          <p:cNvPr id="225" name="TextBox 224">
            <a:extLst>
              <a:ext uri="{FF2B5EF4-FFF2-40B4-BE49-F238E27FC236}">
                <a16:creationId xmlns:a16="http://schemas.microsoft.com/office/drawing/2014/main" id="{807CB5F2-0937-4F65-9F03-CB1E80A3E015}"/>
              </a:ext>
            </a:extLst>
          </p:cNvPr>
          <p:cNvSpPr txBox="1"/>
          <p:nvPr/>
        </p:nvSpPr>
        <p:spPr>
          <a:xfrm>
            <a:off x="6116184" y="4377722"/>
            <a:ext cx="55880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В течение 2026 года ожидается рост резервов на отпуск, что связано, в первую очередь, с наймом новых сотрудников, которые еще не приобрели право на отпуск в 2026 году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2027 год запланирован без прироста среднего количества дней на человека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3FFD84D9-84D7-4CC8-B1A8-7AE830D408C1}"/>
              </a:ext>
            </a:extLst>
          </p:cNvPr>
          <p:cNvSpPr txBox="1"/>
          <p:nvPr/>
        </p:nvSpPr>
        <p:spPr>
          <a:xfrm>
            <a:off x="369887" y="4265277"/>
            <a:ext cx="5671771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Распределение сотрудников с неиспользованными отпусками на конец года</a:t>
            </a:r>
          </a:p>
        </p:txBody>
      </p:sp>
      <p:graphicFrame>
        <p:nvGraphicFramePr>
          <p:cNvPr id="207" name="Chart 3">
            <a:extLst>
              <a:ext uri="{FF2B5EF4-FFF2-40B4-BE49-F238E27FC236}">
                <a16:creationId xmlns:a16="http://schemas.microsoft.com/office/drawing/2014/main" id="{1E11D37A-D88D-42BA-AE3E-68C3FE669B32}"/>
              </a:ext>
            </a:extLst>
          </p:cNvPr>
          <p:cNvGraphicFramePr/>
          <p:nvPr>
            <p:custDataLst>
              <p:tags r:id="rId55"/>
            </p:custDataLst>
            <p:extLst>
              <p:ext uri="{D42A27DB-BD31-4B8C-83A1-F6EECF244321}">
                <p14:modId xmlns:p14="http://schemas.microsoft.com/office/powerpoint/2010/main" val="2151241400"/>
              </p:ext>
            </p:extLst>
          </p:nvPr>
        </p:nvGraphicFramePr>
        <p:xfrm>
          <a:off x="303213" y="5153002"/>
          <a:ext cx="5830887" cy="927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3"/>
          </a:graphicData>
        </a:graphic>
      </p:graphicFrame>
      <p:sp>
        <p:nvSpPr>
          <p:cNvPr id="251" name="Прямоугольник 250">
            <a:extLst>
              <a:ext uri="{FF2B5EF4-FFF2-40B4-BE49-F238E27FC236}">
                <a16:creationId xmlns:a16="http://schemas.microsoft.com/office/drawing/2014/main" id="{8367E371-C7CE-4C03-810A-C3A7FE360F3D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900112" y="5908929"/>
            <a:ext cx="8604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41CA6B-1FEA-43EF-941B-8ABFB75E33C2}" type="datetime'''41''-''''''''''''''''''''''6''''''0'' ''д''''н''ей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41-60 дней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" name="Прямоугольник 252">
            <a:extLst>
              <a:ext uri="{FF2B5EF4-FFF2-40B4-BE49-F238E27FC236}">
                <a16:creationId xmlns:a16="http://schemas.microsoft.com/office/drawing/2014/main" id="{9BFE9603-6BD7-46F7-9046-0AA7863E38BA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2759075" y="5908929"/>
            <a:ext cx="9175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3C843F-B3DE-4EDD-9084-F127865DC498}" type="datetime'''61''''''''''''''-10''0'''' ''''''''''д''''н''''''''''ей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61-100 дней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" name="Прямоугольник 253">
            <a:extLst>
              <a:ext uri="{FF2B5EF4-FFF2-40B4-BE49-F238E27FC236}">
                <a16:creationId xmlns:a16="http://schemas.microsoft.com/office/drawing/2014/main" id="{FD22412F-27FA-4A05-A949-049EF00F80D4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4730750" y="5908929"/>
            <a:ext cx="7524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734856-C337-4F2E-BB41-48C7380BB8E1}" type="datetime'1''''''0''''''1''''''''''+'''' дн''''''''е''''й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101+ дней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11E9CCD6-697A-40CB-875B-22DD8F62E3DA}"/>
              </a:ext>
            </a:extLst>
          </p:cNvPr>
          <p:cNvSpPr/>
          <p:nvPr>
            <p:custDataLst>
              <p:tags r:id="rId59"/>
            </p:custDataLst>
          </p:nvPr>
        </p:nvSpPr>
        <p:spPr bwMode="gray">
          <a:xfrm>
            <a:off x="1593850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09ABC3-1D43-4B74-9ACA-245484E15F38}" type="datetime'''0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6EB6F67F-4B40-407C-916A-C618D59F5E39}"/>
              </a:ext>
            </a:extLst>
          </p:cNvPr>
          <p:cNvSpPr/>
          <p:nvPr>
            <p:custDataLst>
              <p:tags r:id="rId60"/>
            </p:custDataLst>
          </p:nvPr>
        </p:nvSpPr>
        <p:spPr bwMode="gray">
          <a:xfrm>
            <a:off x="2806700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7B8A52-B795-4844-9484-B8BDB551B28B}" type="datetime'''''''''''0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DB810767-2BC7-4EEC-8F89-6298C62921CD}"/>
              </a:ext>
            </a:extLst>
          </p:cNvPr>
          <p:cNvSpPr/>
          <p:nvPr>
            <p:custDataLst>
              <p:tags r:id="rId61"/>
            </p:custDataLst>
          </p:nvPr>
        </p:nvSpPr>
        <p:spPr bwMode="gray">
          <a:xfrm>
            <a:off x="3481388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30205A-170F-44DB-8DE6-6CF859D90B28}" type="datetime'''''''''''''''''''''''''''''''''0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DF0911E4-82DC-411E-BE3E-25F58BE9A9B8}"/>
              </a:ext>
            </a:extLst>
          </p:cNvPr>
          <p:cNvSpPr/>
          <p:nvPr>
            <p:custDataLst>
              <p:tags r:id="rId62"/>
            </p:custDataLst>
          </p:nvPr>
        </p:nvSpPr>
        <p:spPr bwMode="gray">
          <a:xfrm>
            <a:off x="4695825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090257-22D5-455A-85B5-3D16F481BC2E}" type="datetime'''''''''''''''''''''''''''''''''''''''''0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77438B5D-2BD3-48F3-8490-E57B5AEE6FFD}"/>
              </a:ext>
            </a:extLst>
          </p:cNvPr>
          <p:cNvSpPr/>
          <p:nvPr>
            <p:custDataLst>
              <p:tags r:id="rId63"/>
            </p:custDataLst>
          </p:nvPr>
        </p:nvSpPr>
        <p:spPr bwMode="gray">
          <a:xfrm>
            <a:off x="5370513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7DD57A-8464-4783-BB04-4BE375AA2DD6}" type="datetime'''''''''''''''''''0''''''''''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7" name="Прямоугольник 276">
            <a:extLst>
              <a:ext uri="{FF2B5EF4-FFF2-40B4-BE49-F238E27FC236}">
                <a16:creationId xmlns:a16="http://schemas.microsoft.com/office/drawing/2014/main" id="{6081C616-5ABC-441E-A1E5-379217062E38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446087" y="4854552"/>
            <a:ext cx="214313" cy="160338"/>
          </a:xfrm>
          <a:prstGeom prst="rect">
            <a:avLst/>
          </a:prstGeom>
          <a:solidFill>
            <a:srgbClr val="D6D7D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8" name="Прямоугольник 277">
            <a:extLst>
              <a:ext uri="{FF2B5EF4-FFF2-40B4-BE49-F238E27FC236}">
                <a16:creationId xmlns:a16="http://schemas.microsoft.com/office/drawing/2014/main" id="{B9868070-0F19-4D56-A1BF-31E510C74943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1181100" y="4854552"/>
            <a:ext cx="214313" cy="160338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7" name="Прямоугольник 256">
            <a:extLst>
              <a:ext uri="{FF2B5EF4-FFF2-40B4-BE49-F238E27FC236}">
                <a16:creationId xmlns:a16="http://schemas.microsoft.com/office/drawing/2014/main" id="{B2FB4F8D-4875-4B09-BFE1-39BD81E68D61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711200" y="4849789"/>
            <a:ext cx="3683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4331EA-40A0-444A-BD37-C5E520AA3017}" type="datetime'''''''''2''''0''''''''''2''''''''6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6" name="Прямоугольник 255">
            <a:extLst>
              <a:ext uri="{FF2B5EF4-FFF2-40B4-BE49-F238E27FC236}">
                <a16:creationId xmlns:a16="http://schemas.microsoft.com/office/drawing/2014/main" id="{EF0DEA67-02E8-4F81-9389-E229C66F0829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1446212" y="4849789"/>
            <a:ext cx="3667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663475-1665-4B53-866A-67665FDAFA7A}" type="datetime'''''''''''''''2''''''''''0''''''''''2''''''''''7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2027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7959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7A2D0A2-E774-33F4-016C-254DDE8DAC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r>
              <a:rPr lang="ru-RU">
                <a:solidFill>
                  <a:srgbClr val="6E6E6E"/>
                </a:solidFill>
              </a:rPr>
              <a:t>Источники: Sostav (11.04.2025), click.ru (10.2024), ppc.world (11.02.2026), Т-Ж (16.04.2025)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930E18-D2B0-F1A6-ED72-55B5F838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52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F93D32-6B1F-C6F7-D714-53E5BFFD9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Конкуренты развивают self-service кабинеты </a:t>
            </a:r>
            <a:br>
              <a:rPr lang="ru-RU" dirty="0"/>
            </a:br>
            <a:r>
              <a:rPr lang="ru-RU"/>
              <a:t>и покупки из коротких видео</a:t>
            </a:r>
          </a:p>
        </p:txBody>
      </p:sp>
      <p:sp>
        <p:nvSpPr>
          <p:cNvPr id="1081" name="Competitor card 1"/>
          <p:cNvSpPr/>
          <p:nvPr/>
        </p:nvSpPr>
        <p:spPr>
          <a:xfrm>
            <a:off x="3683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2" name="ADS 1082"/>
          <p:cNvSpPr txBox="1"/>
          <p:nvPr/>
        </p:nvSpPr>
        <p:spPr>
          <a:xfrm>
            <a:off x="5183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X5 Media: рекламный кабинет</a:t>
            </a:r>
            <a:endParaRPr lang="ru-RU" sz="1200"/>
          </a:p>
        </p:txBody>
      </p:sp>
      <p:sp>
        <p:nvSpPr>
          <p:cNvPr id="1083" name="ADS 1083"/>
          <p:cNvSpPr txBox="1"/>
          <p:nvPr/>
        </p:nvSpPr>
        <p:spPr>
          <a:xfrm>
            <a:off x="5183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Бета для агентств с апреля 2025</a:t>
            </a:r>
            <a:endParaRPr lang="ru-RU" sz="1200"/>
          </a:p>
        </p:txBody>
      </p:sp>
      <p:sp>
        <p:nvSpPr>
          <p:cNvPr id="1085" name="ADS 1085"/>
          <p:cNvSpPr txBox="1"/>
          <p:nvPr/>
        </p:nvSpPr>
        <p:spPr>
          <a:xfrm>
            <a:off x="5183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Самостоятельное планирование digital in-store кампаний: сети, география, тип инвентаря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Расчет OTS, охвата и частоты до запуска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~50 тыс. экранов и КСО, радио в 25,5 тыс. магазинов Пятерочки, Перекрестка и Чижика</a:t>
            </a:r>
            <a:endParaRPr lang="ru-RU" sz="1200"/>
          </a:p>
        </p:txBody>
      </p:sp>
      <p:sp>
        <p:nvSpPr>
          <p:cNvPr id="1086" name="ADS 1086"/>
          <p:cNvSpPr/>
          <p:nvPr/>
        </p:nvSpPr>
        <p:spPr>
          <a:xfrm>
            <a:off x="5183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7" name="ADS 1087"/>
          <p:cNvSpPr txBox="1"/>
          <p:nvPr/>
        </p:nvSpPr>
        <p:spPr>
          <a:xfrm>
            <a:off x="6183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Self-service кабинет для МСБ и агентств, таргетинг и фотофиксация indoor</a:t>
            </a:r>
            <a:endParaRPr lang="ru-RU" sz="1200"/>
          </a:p>
        </p:txBody>
      </p:sp>
      <p:sp>
        <p:nvSpPr>
          <p:cNvPr id="1088" name="Competitor card 2"/>
          <p:cNvSpPr/>
          <p:nvPr/>
        </p:nvSpPr>
        <p:spPr>
          <a:xfrm>
            <a:off x="42701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9" name="ADS 1089"/>
          <p:cNvSpPr txBox="1"/>
          <p:nvPr/>
        </p:nvSpPr>
        <p:spPr>
          <a:xfrm>
            <a:off x="44201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Ozon × VK: покупки в соцсети</a:t>
            </a:r>
            <a:endParaRPr lang="ru-RU" sz="1200"/>
          </a:p>
        </p:txBody>
      </p:sp>
      <p:sp>
        <p:nvSpPr>
          <p:cNvPr id="1090" name="ADS 1090"/>
          <p:cNvSpPr txBox="1"/>
          <p:nvPr/>
        </p:nvSpPr>
        <p:spPr>
          <a:xfrm>
            <a:off x="44201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Интеграция с октября 2024</a:t>
            </a:r>
            <a:endParaRPr lang="ru-RU" sz="1200"/>
          </a:p>
        </p:txBody>
      </p:sp>
      <p:sp>
        <p:nvSpPr>
          <p:cNvPr id="1091" name="ADS 1091"/>
          <p:cNvSpPr/>
          <p:nvPr/>
        </p:nvSpPr>
        <p:spPr>
          <a:xfrm>
            <a:off x="44201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/>
          </a:p>
        </p:txBody>
      </p:sp>
      <p:sp>
        <p:nvSpPr>
          <p:cNvPr id="1092" name="ADS 1092"/>
          <p:cNvSpPr txBox="1"/>
          <p:nvPr/>
        </p:nvSpPr>
        <p:spPr>
          <a:xfrm>
            <a:off x="44201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Товары продавцов Ozon в ленте, сообществах, поиске и VK Маркете; заказ и оплата внутри VK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С февраля 2026 ИИ распознает товары в клипах и ставит ссылку на карточку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Конверсия из просмотра в карточку товара за полгода пилота выросла втрое</a:t>
            </a:r>
            <a:endParaRPr lang="ru-RU" sz="1200"/>
          </a:p>
        </p:txBody>
      </p:sp>
      <p:sp>
        <p:nvSpPr>
          <p:cNvPr id="1093" name="ADS 1093"/>
          <p:cNvSpPr/>
          <p:nvPr/>
        </p:nvSpPr>
        <p:spPr>
          <a:xfrm>
            <a:off x="44201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4" name="ADS 1094"/>
          <p:cNvSpPr txBox="1"/>
          <p:nvPr/>
        </p:nvSpPr>
        <p:spPr>
          <a:xfrm>
            <a:off x="45201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Тестируем shoppable-механики с внешними платформами</a:t>
            </a:r>
            <a:endParaRPr lang="ru-RU" sz="1200"/>
          </a:p>
        </p:txBody>
      </p:sp>
      <p:sp>
        <p:nvSpPr>
          <p:cNvPr id="1095" name="Competitor card 3"/>
          <p:cNvSpPr/>
          <p:nvPr/>
        </p:nvSpPr>
        <p:spPr>
          <a:xfrm>
            <a:off x="81719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6" name="ADS 1096"/>
          <p:cNvSpPr txBox="1"/>
          <p:nvPr/>
        </p:nvSpPr>
        <p:spPr>
          <a:xfrm>
            <a:off x="83219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452C"/>
                </a:solidFill>
                <a:latin typeface="Arial"/>
                <a:cs typeface="Arial"/>
              </a:rPr>
              <a:t>Wildberries: Wibes</a:t>
            </a:r>
            <a:endParaRPr lang="en-US" sz="1200"/>
          </a:p>
        </p:txBody>
      </p:sp>
      <p:sp>
        <p:nvSpPr>
          <p:cNvPr id="1097" name="ADS 1097"/>
          <p:cNvSpPr txBox="1"/>
          <p:nvPr/>
        </p:nvSpPr>
        <p:spPr>
          <a:xfrm>
            <a:off x="83219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Видеоплатформа с марта 2025</a:t>
            </a:r>
            <a:endParaRPr lang="ru-RU" sz="1200"/>
          </a:p>
        </p:txBody>
      </p:sp>
      <p:sp>
        <p:nvSpPr>
          <p:cNvPr id="1098" name="ADS 1098"/>
          <p:cNvSpPr/>
          <p:nvPr/>
        </p:nvSpPr>
        <p:spPr>
          <a:xfrm>
            <a:off x="83219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/>
          </a:p>
        </p:txBody>
      </p:sp>
      <p:sp>
        <p:nvSpPr>
          <p:cNvPr id="1099" name="ADS 1099"/>
          <p:cNvSpPr txBox="1"/>
          <p:nvPr/>
        </p:nvSpPr>
        <p:spPr>
          <a:xfrm>
            <a:off x="83219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Короткие вертикальные видео до 90 секунд от селлеров и блогеров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Товар добавляется в корзину Wildberries прямо из ролика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Контент и покупка замкнуты внутри экосистемы маркетплейса</a:t>
            </a:r>
            <a:endParaRPr lang="ru-RU" sz="1200"/>
          </a:p>
        </p:txBody>
      </p:sp>
      <p:sp>
        <p:nvSpPr>
          <p:cNvPr id="1100" name="ADS 1100"/>
          <p:cNvSpPr/>
          <p:nvPr/>
        </p:nvSpPr>
        <p:spPr>
          <a:xfrm>
            <a:off x="83219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01" name="ADS 1101"/>
          <p:cNvSpPr txBox="1"/>
          <p:nvPr/>
        </p:nvSpPr>
        <p:spPr>
          <a:xfrm>
            <a:off x="84219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Контент-завод: UGC в приложении Магнит и внешних соцсетях</a:t>
            </a:r>
            <a:endParaRPr lang="ru-RU" sz="1200"/>
          </a:p>
        </p:txBody>
      </p:sp>
      <p:pic>
        <p:nvPicPr>
          <p:cNvPr id="5" name="Picture 2" descr="Х5 Media открыл рекламный кабинет в формате Friends &amp; Family | Маркетинг |  Новости | AdIndex.ru">
            <a:extLst>
              <a:ext uri="{FF2B5EF4-FFF2-40B4-BE49-F238E27FC236}">
                <a16:creationId xmlns:a16="http://schemas.microsoft.com/office/drawing/2014/main" id="{87911579-97BE-BD38-2127-42374DBE3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31"/>
          <a:stretch>
            <a:fillRect/>
          </a:stretch>
        </p:blipFill>
        <p:spPr bwMode="auto">
          <a:xfrm>
            <a:off x="518301" y="1640000"/>
            <a:ext cx="3351799" cy="1830000"/>
          </a:xfrm>
          <a:prstGeom prst="roundRect">
            <a:avLst>
              <a:gd name="adj" fmla="val 294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ВКонтакте (ВК) связала товары из видео в ленте с карточками товаров на  маркетплейсах">
            <a:extLst>
              <a:ext uri="{FF2B5EF4-FFF2-40B4-BE49-F238E27FC236}">
                <a16:creationId xmlns:a16="http://schemas.microsoft.com/office/drawing/2014/main" id="{F7628572-F29B-AE88-1F00-8483713BC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15" y="1629063"/>
            <a:ext cx="2726370" cy="185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ibes: как работает видеоплатформа от Wildberries">
            <a:extLst>
              <a:ext uri="{FF2B5EF4-FFF2-40B4-BE49-F238E27FC236}">
                <a16:creationId xmlns:a16="http://schemas.microsoft.com/office/drawing/2014/main" id="{AE6DE4AA-EE00-2E43-2DB6-694075E1F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" b="2817"/>
          <a:stretch>
            <a:fillRect/>
          </a:stretch>
        </p:blipFill>
        <p:spPr bwMode="auto">
          <a:xfrm>
            <a:off x="9009177" y="1677087"/>
            <a:ext cx="1977245" cy="1755825"/>
          </a:xfrm>
          <a:prstGeom prst="roundRect">
            <a:avLst>
              <a:gd name="adj" fmla="val 509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0152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Единая рекламная платформа: весь инвентарь экосистемы в одном технологическом контуре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Инвентарь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Все типы в одной платформе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APP и web:</a:t>
            </a:r>
            <a:r>
              <a:rPr lang="ru-RU" sz="1400">
                <a:solidFill>
                  <a:srgbClr val="000000"/>
                </a:solidFill>
              </a:rPr>
              <a:t> баннеры, сторис, полки, карточки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In-store:</a:t>
            </a:r>
            <a:r>
              <a:rPr lang="ru-RU" sz="1400">
                <a:solidFill>
                  <a:srgbClr val="000000"/>
                </a:solidFill>
              </a:rPr>
              <a:t> КСО, шелф-баннеры, фасадные и ТВ-экраны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Внешний:</a:t>
            </a:r>
            <a:r>
              <a:rPr lang="ru-RU" sz="1400">
                <a:solidFill>
                  <a:srgbClr val="000000"/>
                </a:solidFill>
              </a:rPr>
              <a:t> площадки Рунета, indoor и outdoor, блогеры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типы инвентаря подключаются быстро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DMP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Данные о покупателе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Data-интерфейс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1st–3rd party данные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предикторы конверсии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таргетинг аудиторий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Ad server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Показ и аукцион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Хранение креативов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Ads exchange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Биддинг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создание креативов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Analytics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Измерение эффекта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Матчинг пользователей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Логирование показов и кликов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Модуль sales lift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инсайты по данным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Полноценная рекламная платформа менее чем за год: от первой команды до коммерческого запуска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Продуктовый запуск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6 мес.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от первой команды до основных модулей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01.09.2025</a:t>
            </a:r>
            <a:r>
              <a:rPr lang="ru-RU" sz="1400">
                <a:solidFill>
                  <a:srgbClr val="000000"/>
                </a:solidFill>
              </a:rPr>
              <a:t> — укомплектована первая команда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13.10.2025</a:t>
            </a:r>
            <a:r>
              <a:rPr lang="ru-RU" sz="1400">
                <a:solidFill>
                  <a:srgbClr val="000000"/>
                </a:solidFill>
              </a:rPr>
              <a:t> — готовы требования, начался первый спринт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01.03.2026</a:t>
            </a:r>
            <a:r>
              <a:rPr lang="ru-RU" sz="1400">
                <a:solidFill>
                  <a:srgbClr val="000000"/>
                </a:solidFill>
              </a:rPr>
              <a:t> — готовы основные модули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Коммерческий запуск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8 мес.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до массового перехода на новую платформу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27.03.2026</a:t>
            </a:r>
            <a:r>
              <a:rPr lang="ru-RU" sz="1400">
                <a:solidFill>
                  <a:srgbClr val="000000"/>
                </a:solidFill>
              </a:rPr>
              <a:t> — первый продуктивный показ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20.04.2026</a:t>
            </a:r>
            <a:r>
              <a:rPr lang="ru-RU" sz="1400">
                <a:solidFill>
                  <a:srgbClr val="000000"/>
                </a:solidFill>
              </a:rPr>
              <a:t> — массовый переход трафик-менеджеров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Впереди — настройка платформы и обучение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Ближайший конкурент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4 года</a:t>
            </a:r>
            <a:endParaRPr lang="ru-RU" sz="1600" b="1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строит собственную рекламную платформу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Magnit ADS прошел путь до коммерческого запуска в шесть раз быстрее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Яндекс и другие игроки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10+ лет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формировались рекламные платформы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Все инструменты Magnit ADS сразу объединены в общий технологический и коммерческий контур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Конкурентное преимущество Magnit ADS — данные о покупателе в аукционе и ранжировании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Аудитория и сегменты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Кто покупатель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Сегменты покупателей экосистемы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1st–3rd party данные в DMP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AI-таргетинг аудиторий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Поведение и интересы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Что ему интересно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Поведение и интересы покупателя в экосистеме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Триггеры и акции — </a:t>
            </a:r>
            <a:r>
              <a:rPr lang="en-US" sz="1400" b="1">
                <a:solidFill>
                  <a:srgbClr val="000000"/>
                </a:solidFill>
              </a:rPr>
              <a:t>Q1 2027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Контекст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Где и когда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Время, локация, погода, ситуация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Супергео и остатки — </a:t>
            </a:r>
            <a:r>
              <a:rPr lang="en-US" sz="1400" b="1">
                <a:solidFill>
                  <a:srgbClr val="000000"/>
                </a:solidFill>
              </a:rPr>
              <a:t>Q4 2026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Внешние данные — </a:t>
            </a:r>
            <a:r>
              <a:rPr lang="en-US" sz="1400" b="1">
                <a:solidFill>
                  <a:srgbClr val="000000"/>
                </a:solidFill>
              </a:rPr>
              <a:t>Q2 2027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Цели и ставки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Что нужно рекламодателю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Цели рекламодателя и ставки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ML-модель и бизнес-правила определяют показ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Аукцион — </a:t>
            </a:r>
            <a:r>
              <a:rPr lang="en-US" sz="1400" b="1">
                <a:solidFill>
                  <a:srgbClr val="000000"/>
                </a:solidFill>
              </a:rPr>
              <a:t>Q4 2026</a:t>
            </a:r>
            <a:r>
              <a:rPr lang="ru-RU" sz="1400">
                <a:solidFill>
                  <a:srgbClr val="000000"/>
                </a:solidFill>
              </a:rPr>
              <a:t>, автостратегии — </a:t>
            </a:r>
            <a:r>
              <a:rPr lang="en-US" sz="1400" b="1">
                <a:solidFill>
                  <a:srgbClr val="000000"/>
                </a:solidFill>
              </a:rPr>
              <a:t>Q1 2027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Сроки — презентация </a:t>
            </a:r>
            <a:r>
              <a:rPr lang="en-US" sz="900">
                <a:solidFill>
                  <a:srgbClr val="6E6E6E"/>
                </a:solidFill>
              </a:rPr>
              <a:t>AdT</a:t>
            </a:r>
            <a:r>
              <a:rPr lang="en-US">
                <a:solidFill>
                  <a:srgbClr val="6E6E6E"/>
                </a:solidFill>
              </a:rPr>
              <a:t>ech</a:t>
            </a:r>
            <a:r>
              <a:rPr lang="ru-RU" sz="900">
                <a:solidFill>
                  <a:srgbClr val="6E6E6E"/>
                </a:solidFill>
              </a:rPr>
              <a:t>, октябрь 2026. Описание изменений </a:t>
            </a:r>
            <a:r>
              <a:rPr lang="ru-RU">
                <a:solidFill>
                  <a:srgbClr val="6E6E6E"/>
                </a:solidFill>
              </a:rPr>
              <a:t>на </a:t>
            </a:r>
            <a:r>
              <a:rPr lang="ru-RU" sz="900">
                <a:solidFill>
                  <a:srgbClr val="6E6E6E"/>
                </a:solidFill>
              </a:rPr>
              <a:t>основании стратегии Magnit </a:t>
            </a:r>
            <a:r>
              <a:rPr lang="en-US" sz="900">
                <a:solidFill>
                  <a:srgbClr val="6E6E6E"/>
                </a:solidFill>
              </a:rPr>
              <a:t>AdTech</a:t>
            </a:r>
            <a:r>
              <a:rPr lang="ru-RU" sz="900">
                <a:solidFill>
                  <a:srgbClr val="6E6E6E"/>
                </a:solidFill>
              </a:rPr>
              <a:t>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56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Данные платформы: шесть новых источников сигналов для таргетинга и аукциона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Дорожная карта: данные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Супергео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Таргетинг с точностью до магазина и зоны доставки вместо города или региона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Локальные кампании под конкретные торговые точки и радиус вокруг них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Остатки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Аукцион учитывает наличие товара в магазине и в зоне доставки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Реклама не показывается, когда товара нет: рекламный бюджет не расходуется впустую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Триггеры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 по событию в реальном времени: поиск, просмотр категории, добавление в корзину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Контакт в момент готовности к покупке; без триггера работают модели исторического спроса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Контекст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 ранжирование добавляются время, локация, погода и ситуация покупки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Сообщение подбирается под момент: погода, время суток, формат магазина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Акции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Платформа получает данные о промо и ценах поставщика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Реклама синхронизируется с промо и усиливает его эффект на продажи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Внешние данные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Обмен сегментами DMP с внешними площадками и SSP, подключение 2nd и 3rd party данных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Более широкие сегменты и запуск кампаний на внешнем трафике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>
                <a:solidFill>
                  <a:srgbClr val="6E6E6E"/>
                </a:solidFill>
              </a:rPr>
              <a:t>Сроки — презентация </a:t>
            </a:r>
            <a:r>
              <a:rPr lang="en-US">
                <a:solidFill>
                  <a:srgbClr val="6E6E6E"/>
                </a:solidFill>
              </a:rPr>
              <a:t>AdTech</a:t>
            </a:r>
            <a:r>
              <a:rPr lang="ru-RU">
                <a:solidFill>
                  <a:srgbClr val="6E6E6E"/>
                </a:solidFill>
              </a:rPr>
              <a:t>, октябрь 2026. Описание изменений на основании стратегии Magnit </a:t>
            </a:r>
            <a:r>
              <a:rPr lang="en-US">
                <a:solidFill>
                  <a:srgbClr val="6E6E6E"/>
                </a:solidFill>
              </a:rPr>
              <a:t>AdTech</a:t>
            </a:r>
            <a:r>
              <a:rPr lang="ru-RU">
                <a:solidFill>
                  <a:srgbClr val="6E6E6E"/>
                </a:solidFill>
              </a:rPr>
              <a:t>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Функции платформы: аукцион, автоматизация кампаний и управляемый in-store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Дорожная карта: функции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Аукцион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Переход от ручного квотирования к аукциону по всем медийным и перформанс-размещениям; модели CPM, CPC, CPA, CPO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Прозрачная конкуренция за показ с учетом ставки, релевантности и маржи бренда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Агентские аккаунты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Кабинет агентства: несколько рекламодателей в одном аккаунте, единый прайс, быстрый запуск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Агентства сами ведут кампании клиентов; растут продажи не поставщикам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ИИ-ассистент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Помощник в кабинете: подбор оффера и аудитории, генерация креативов, сводка результатов кампании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Быстрее запуск кампаний и меньше ручной работы менеджеров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Автостратегии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Автоматическое управление ставками под цель рекламодателя: охват, клики или заказы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Рекламодатель задает цель и бюджет, платформа сама оптимизирует ставки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Таргетинг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 на экранах в магазине по аудитории, времени и локации; QR-коды и персональные офферы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In-store становится управляемым каналом и основой для performance-инвентаря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Фотофиксация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Система контроля показов на экранах и фотоотчет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Подтверждение размещения — условие продажи нового in-store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58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AdTech — горизонтальный партнер Коммерции форматов: зоны разделены по типам бюджетов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Трейд-бюджеты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Коммерция форматов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Объем инвестиций определяется в переговорах по коммерческим условиям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AdTech обеспечивает инвентарь, execution и трекинг продаж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KPI Коммерции — </a:t>
            </a:r>
            <a:r>
              <a:rPr lang="ru-RU" sz="1400" b="1">
                <a:solidFill>
                  <a:srgbClr val="000000"/>
                </a:solidFill>
              </a:rPr>
              <a:t>абсолютный прирост</a:t>
            </a:r>
            <a:r>
              <a:rPr lang="ru-RU" sz="1400">
                <a:solidFill>
                  <a:srgbClr val="000000"/>
                </a:solidFill>
              </a:rPr>
              <a:t> трейд-бюджетов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Бренд-бюджеты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AdTech через RMN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Retail Media Network — </a:t>
            </a:r>
            <a:r>
              <a:rPr lang="ru-RU" sz="1400" b="1">
                <a:solidFill>
                  <a:srgbClr val="000000"/>
                </a:solidFill>
              </a:rPr>
              <a:t>отдельное ЮЛ</a:t>
            </a:r>
            <a:r>
              <a:rPr lang="ru-RU" sz="1400">
                <a:solidFill>
                  <a:srgbClr val="000000"/>
                </a:solidFill>
              </a:rPr>
              <a:t>, не связанное с трейд-маркетингом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Альтернатива охватной рекламе: TV, OOH,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Контакт с покупателем в момент выбора: digital и in-store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Не поставщики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AdTech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Прямые продажи внешним рекламодателям и агентствам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Кабинет с единым ценообразованием и быстрым запуском кампаний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распределяется по форматам по принадлежности инвентаря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SMB и интерком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AdTech обеспечивает инвентарь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Self-service</a:t>
            </a:r>
            <a:r>
              <a:rPr lang="ru-RU" sz="1400">
                <a:solidFill>
                  <a:srgbClr val="000000"/>
                </a:solidFill>
              </a:rPr>
              <a:t> кабинет открывает доступ к малым поставщикам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Операционный инвентарь для интеркома и маркетинга форматов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Вся рекламная выручка аллоцируется на форматы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R — исполнитель, A — ответственный за результат, C — консультант, I — наблюдатель. Источник: «Роль Магнит AdTech в 2027+», июль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Зона ответственности: AdTech отвечает за инвентарь, эффективность и execution, категории — за трейд-бюджеты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RACI по рекламной выручке и инвентарю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2643000"/>
        </p:xfrm>
        <a:graphic>
          <a:graphicData uri="http://schemas.openxmlformats.org/drawingml/2006/table">
            <a:tbl>
              <a:tblPr firstRow="1"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Зона ответственности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R и 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C и I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Рекламная выручка от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от не поставщиков и 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Расширение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Эффективность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Execution рекламных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Финансы, FoodTech, М+, FinTech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За что отвечает AdTech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Инвентарь:</a:t>
            </a:r>
            <a:r>
              <a:rPr lang="ru-RU" sz="1200">
                <a:solidFill>
                  <a:srgbClr val="000000"/>
                </a:solidFill>
              </a:rPr>
              <a:t> новые рекламные места и инструменты — медиа, перформанс, social commerce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Эффективность:</a:t>
            </a:r>
            <a:r>
              <a:rPr lang="ru-RU" sz="1200">
                <a:solidFill>
                  <a:srgbClr val="000000"/>
                </a:solidFill>
              </a:rPr>
              <a:t> рост результативности рекламы за счет данных и аналитики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Execution:</a:t>
            </a:r>
            <a:r>
              <a:rPr lang="ru-RU" sz="1200">
                <a:solidFill>
                  <a:srgbClr val="000000"/>
                </a:solidFill>
              </a:rPr>
              <a:t> все кампании от медиаплана до отчетности и ОРД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Продажи:</a:t>
            </a:r>
            <a:r>
              <a:rPr lang="ru-RU" sz="1200">
                <a:solidFill>
                  <a:srgbClr val="000000"/>
                </a:solidFill>
              </a:rPr>
              <a:t> медиакит и прайсинг, внешние рекламодатели, агентства, партнерства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За что не отвечает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Объем трейд-бюджетов:</a:t>
            </a:r>
            <a:r>
              <a:rPr lang="ru-RU" sz="1200">
                <a:solidFill>
                  <a:srgbClr val="000000"/>
                </a:solidFill>
              </a:rPr>
              <a:t> инвестиции поставщиков в рамках коммерческих условий — зона Коммерции форматов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Единый КПЭ:</a:t>
            </a:r>
            <a:r>
              <a:rPr lang="ru-RU" sz="1200">
                <a:solidFill>
                  <a:srgbClr val="000000"/>
                </a:solidFill>
              </a:rPr>
              <a:t> у AdTech и категорий общая цель на рост рекламной выручки и инвентаря</a:t>
            </a:r>
          </a:p>
        </p:txBody>
      </p:sp>
    </p:spTree>
    <p:extLst>
      <p:ext uri="{BB962C8B-B14F-4D97-AF65-F5344CB8AC3E}">
        <p14:creationId xmlns:p14="http://schemas.microsoft.com/office/powerpoint/2010/main" val="23118017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Устройства — на конец года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In-store: парк вырастет до 81,4 тыс. устройств за счет шелф-баннеров и фасадных экранов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Парк In-store по типам оборудования, ед.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4191000"/>
        </p:xfrm>
        <a:graphic>
          <a:graphicData uri="http://schemas.openxmlformats.org/drawingml/2006/table">
            <a:tbl>
              <a:tblPr firstRow="1"/>
              <a:tblGrid>
                <a:gridCol w="2999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Тип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КСО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57 000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57 000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Шелф-баннеры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2 750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6 000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+3 250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Фасадные экраны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1 659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+428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TFT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2 310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2 310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Дисплеи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6 121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6 121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Радио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3 821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3 821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Прайсчекеры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Медиафасады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+20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77 721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81 419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+3 698</a:t>
                      </a:r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Ключевые изменения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КСО:</a:t>
            </a:r>
            <a:r>
              <a:rPr lang="ru-RU" sz="1200">
                <a:solidFill>
                  <a:srgbClr val="000000"/>
                </a:solidFill>
              </a:rPr>
              <a:t> 40,5 тыс. устройств, введенных в Q4 2026, работают весь год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Шелф-баннеры:</a:t>
            </a:r>
            <a:r>
              <a:rPr lang="ru-RU" sz="1200">
                <a:solidFill>
                  <a:srgbClr val="000000"/>
                </a:solidFill>
              </a:rPr>
              <a:t> парк вырастет в 2,2 раза, до 6,0 тыс.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Фасадные экраны:</a:t>
            </a:r>
            <a:r>
              <a:rPr lang="ru-RU" sz="1200">
                <a:solidFill>
                  <a:srgbClr val="000000"/>
                </a:solidFill>
              </a:rPr>
              <a:t> +428, до 1,7 тыс.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Что нужно для монетизации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Платформа:</a:t>
            </a:r>
            <a:r>
              <a:rPr lang="ru-RU" sz="1200">
                <a:solidFill>
                  <a:srgbClr val="000000"/>
                </a:solidFill>
              </a:rPr>
              <a:t> весь in-store инвентарь подключен к единой рекламной платформе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Медиаконтент:</a:t>
            </a:r>
            <a:r>
              <a:rPr lang="ru-RU" sz="1200">
                <a:solidFill>
                  <a:srgbClr val="000000"/>
                </a:solidFill>
              </a:rPr>
              <a:t> запуск целевой системы управления медиаконтентом в 2027 г.</a:t>
            </a:r>
          </a:p>
        </p:txBody>
      </p:sp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Эффективная монетизация = рекламные технологии + рост трафика и покрытия сценариев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Расширение инвентаря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40+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новых рекламных digital-форматов за 2025 г.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рекламные места и инструменты внутри и за пределами экосистемы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Рекламные показы растут </a:t>
            </a:r>
            <a:r>
              <a:rPr lang="ru-RU" sz="1400" b="1">
                <a:solidFill>
                  <a:srgbClr val="000000"/>
                </a:solidFill>
              </a:rPr>
              <a:t>в 1,5 раза</a:t>
            </a:r>
            <a:r>
              <a:rPr lang="ru-RU" sz="1400">
                <a:solidFill>
                  <a:srgbClr val="000000"/>
                </a:solidFill>
              </a:rPr>
              <a:t> год к году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Подключение Дикси, Азбуки Вкуса и внешних площадок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Эффективность рекламы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30+ млрд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рекламных показов в год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Аукцион и ML-ранжирование вместо ручного квотирования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Данные о покупателе: аудитории, поведение, контекст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Оценка влияния рекламы на РТО: sales lift, ROI и ROAS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Сервис и продажи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ТОП-1</a:t>
            </a:r>
            <a:endParaRPr lang="ru-RU" sz="1600" b="1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в ритейле в рейтинге AdIndex 2026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Full-service</a:t>
            </a:r>
            <a:r>
              <a:rPr lang="ru-RU" sz="1400">
                <a:solidFill>
                  <a:srgbClr val="000000"/>
                </a:solidFill>
              </a:rPr>
              <a:t> для топ-поставщиков с соблюдением SLA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Self-service</a:t>
            </a:r>
            <a:r>
              <a:rPr lang="ru-RU" sz="1400">
                <a:solidFill>
                  <a:srgbClr val="000000"/>
                </a:solidFill>
              </a:rPr>
              <a:t> кабинет для SMB и агентств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Единый медиакит, прайсинг и отчетность по всем кампаниям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Ценность для группы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~50%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инвентаря работает на внутренний маркетинг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AdTech раскрывает рекламный потенциал форматов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Результат зависит от роста аудитории экосистемы и покрытия пользовательских сценариев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Retail Media Network: выход за пределы собственного трафика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Что дальше: потенциал 30+ млрд руб. внутреннего инвентаря и выход на внешний рынок рекламы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Внутренний инвентарь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Потенциал 30+ млрд руб.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AdTech раскрывает рекламный потенциал форматов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Потенциал растет вместе с аудиторией экосистемы и покрытием сценариев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Внешний рынок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Потенциал не ограничен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Не только монетизация собственного трафика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Борьба за бюджеты на внешних площадках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Технологии и данные о покупателях масштабируются для подключения внешнего трафика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Performance в in-store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Новое направление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Performance-инвентарь в магазинах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Таргетинг indoor — </a:t>
            </a:r>
            <a:r>
              <a:rPr lang="en-US" sz="1400" b="1">
                <a:solidFill>
                  <a:srgbClr val="000000"/>
                </a:solidFill>
              </a:rPr>
              <a:t>Q1 2027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Фотофиксация indoor — </a:t>
            </a:r>
            <a:r>
              <a:rPr lang="en-US" sz="1400" b="1">
                <a:solidFill>
                  <a:srgbClr val="000000"/>
                </a:solidFill>
              </a:rPr>
              <a:t>Q2 2027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UGC и RMN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Новые направления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UGC-продвижение в соцсетях и ленте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Retail Media Network: бренд-бюджеты поставщиков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7WblZmppi9_LvZ5K2BVX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ZZBsvzTUWv0NfFkSnIZ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ouS.uCHamgDlgun46tb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xzK.zPZ1Vodv1bJxVTt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yfK8wSXJseip1tG1RPE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p.gvf4yCnxpzv.jYnGy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so15TXm5ycDOzDHUuoH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WYagZT95K6sKkt3.6O6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aD1cZSf6Bal0PLbITXmV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TDoiBYXxsSMYzgVZtokd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uOd.2PK30xJbWjoukqcz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Ve12zTpUHrKqnqfE3KH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BcF8VnmjYJh5ngmXvDD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t0ed5CfKncGTFtJOEAw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vVgkIxdBQYJTAkftoBu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hjPZp4e6UBt7QbeXuh_Y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SfoDBbEaALWYuItqSaX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..Evd_28hFwbfemLJ2VF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WdtQ56p60OYMlFH_iFBD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US7HYKWGLgVJbTMdZ0r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vWRj3u3iSTrkY5TCFTi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3_FPBjb32dK0nkXbBN1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3oxKLg6EOU12C9B2umu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xoJv66beMf68AZOLTt.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qsiGz66Iip8PPJJO42X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K8Vzk88MMFnUxb_trar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IX3L1mXDyarEH1_7olzl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029pkKVmzXLzpMnP_wl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a3UHfhn1pAsh6QBFs5UI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ZTV8eULbt7VG2VsnhL6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r7oWst2r6HESSQlqK3K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pNtV6plIGmhMD0lqp1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LMbzgyooDVuESNMqXbh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hHhRUfd.EyaXFhRTxKI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woZSJGcdwQXrvmnYs6h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a803zSypTgeXK_ZO3_iQ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Qj1hyP0kIqFkyHi73pP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cgp27EmOcptahNdBbaS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mW_ZlMuPnItWT4w29m3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iCsB21IViBk0X0pKqFn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lM6cSJdvhrFj268TIeS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j2fjdxQUmkIn_fQ_N7M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.9T4wFTTOfhEqZtpG11I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T.O8WYus4wrJpw2Jcd8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FnZ7iwEquVKljgOXvXi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TyGu6jF43sjMyU.c.TD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1HXxbZMkYPYm.cJYrDB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PC_h1.Y82YV6sl5K6CN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prxKuLqXXISPio1iUh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UYQbZU1a22wlqjEL0GHf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c8dvgVOK2aqHBvsduo9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puwd9HQ6svUbC2vkfxU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yJlpaMR_UApzHka.giQ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vyL3PuwCijBQDu57PBY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_y7S1cuJ0o_fUu_R37FU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12l8Uvk1C9V6xo_kDp.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xy.glcdTgg.6rN.HbW_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v5Siv6P2qkVuDkFlGi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U0jH9IHYzOk3EcycC1r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QwIxEQ0DmEvCNNNnUZ4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TtRRIDy.E_8ES49IlLp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Bz9xZtYdbwYi1rd57d_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W5Ckk9IIya3eUOXNw.R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QWbWfLavtgk2DAlFNdA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I_pyn_25DkfVeRnNuH7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.gwHrjKO5yQqai8n5UoZ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NYE_lb4cyWhvXk0PC3X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ul88uh9SY3YI5i2zgnc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4nm.UWOJWCaSrha5kdg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3Gu4FKbpgJvtxx4n3bJ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VSZpIFihVlKPUswbckk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XHYkLK79loizqc5Jj2R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PWx_VRCtrcrubJ3s5b8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z9bTGNbQ2Q8YaWxXD.Op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.nO.nCM8fKPbiPC9uC28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maLCwjdrSENiUBRcp89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ty7mdTO3LWWBVsemF3g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jC3UMNQN7JNQ99vZPOv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O74yTO8Uay_BO5VN.wN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D65n4_3AKo_kd2W7q02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Chs_XHtoIKQSk3DEZTg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xndNDiQkOC2Dw732pXs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Hip06KFGQ8t.JYFV.0Y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td0lF3fVdUzwCD2w7qC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AklxPwvv.hbifrNwwrX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8vXDZc0daG3T8C._cS4L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B58Jwmp2kz0ufzNjI.I4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tyNQWBt.tV3u7ISl6Ya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JEAhlID8bFTf7DyiYxO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Tm.5S5S5.KuDzlyShD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HdHEflJCOSn4KtZY1oR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LUYz3wq7.4gd8dE3btH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d8KVsNoIj.LAb0FAPmz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4HCmqO8W7n5wwNnhacjN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_INeQz_4BC1X8DPHCVa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wnyFuutbPWpA2Q.1piF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qVxZKhqZJ5jp8x.FXzu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ZUpFPbw1mjmrGHaxJ9K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6u1spz0Dpg43Sysp45c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Kavfu9w8O.6smfyo6RXA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ueT4VoSmn5jhfhMUeGC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Pe54zukJl5fA4kYR3cA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auqT87YaQZS2.pVPI4ZaQ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6aFhD3MxA3fS5L_ljZO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zNv4WwbX1igzybM9o.3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ECwPjEXoM6VPgRiEzXr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PavhpQ5ztiampnUwhA2w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uLTRsYlHM4O9crRJ.VU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t_J6vzglxSIqZXQrUSJ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TNugafa.Ew02arbUnk3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hGnc4YthrGngoQoknkX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xmz2OgDMcuVAnkC3t2Bw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d1z39SDwVgS3mYXLlOc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FRJKaIYDSu0ePNBu_Dq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__RAXuM6S7EAnU_onar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iZ3TtJS3ARdo_s6ro_Z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CwRjSoqOorC.v9z3kxl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vQn1wZpwZH5Up4Gj0wnSw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5Ug5ocG5EL1rAWUaJBEA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T3phR2iZkStbtC8Q0X.VA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ROvB62jk.0vlSvJe3D1O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Qh2Hl_ECqiwAtXzmELCl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xLKWYWqHx61Ew37B8j1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6GNYMUrTVALET2OQQb6Q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fximrvojriy2MgH0aGc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b8s4uZdcm.c4vhTS8CVg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nJg2.Mw8xAW_FR5SS1a8A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obG.s8ahIbWZbTJ.x73Y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QDeomNKO6CCFRc1Z5e5w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1G4xzDr2LSafCIvVQ46tQ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ZF9Ab3PYUwWB3rttKyuiQ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0WGQtWMZvgFhGELpZlWVA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Y3fo970CJMT1Op4OKXs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o8T50f8HyicQhq7pvOe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lrQP3Wf3vNltQLzaErH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8Z3bsJYwmhAiPxvZeLC5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QLrXdpqCtgmO8wE1Sis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8TLaTM13eREwmfhmHk9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XKympIk6yDAaoYoI8Tl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8G8Vr89t2lhbeNI0PmUhQ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4A8WPnFXf1M0u83ly6uq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D1C3XYoq_QsHhcSxkp3Q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nI1r9Bb21XPxspZEFTgg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5YNbeODudoOCqceBwbUg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MpelXBSLn4r0QWIAib3UA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2X.HRySW0ySn7ItBipZoA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YgUOsf.7RqOq3kTeHtZ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ZEn5hddEoy29BNoVdtx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nIvKdmCuth9eDHThMhRQ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03ygoxHrSocjsh5lVD2.w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.3X8vub86_Z.plkJzN0q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e7d8StBohQ5fxi.U6xaQ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XtwCDgnakfx_a.QKKbCQ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jsxLGF4Ostl_P30.EFhA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t6iB6ilt9DD.HQYoCnV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p6yeSbjSKcqIwlP9BqZg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Bk583GWCeYq8dx23cfPw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0v5fxQ.BkMW0SDz4LHTOA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rb9Rmv_KgkGIlDTYcAsQ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rfcEQ3GYGcBsQkU7UPzQ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KWYTWr_OXxDariu2vqbQ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QDcFuMRLJBDAkCFfmOuog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ItIjYajqGJ37iWPTbZsA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pxn5f24ZPTm0t6A.OZvA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T5WHfM75Uw66FT6op_O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5d5OZCIfnl3Rw.5t3V0uQ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GbvcaLMpeXyjRv_KxE5g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4VYGOOKv.gHxWs5kgP8SQ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M4xoRqjjBIowxAFk9tBnw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lDHATUaSm2WYBPks38vg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pPIW.UXwoTezHqqVHfUuw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xdCZqtnWsYzYj7ipZHZtw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2omLHzR6P2VlYQFC1z_.g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D.5F.cOYZBeD3RclD96w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tKMx_CImG8xJTRN6Jc6Q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Y2vA9DpeJCSb5tyaezhg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8h1qFGk.xugVKCPqS.Kw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JgOdmAg1HdSzB86bKFgA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vooJsXcpAquCoM1Rr51w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ex6bKufFcJe1L6egJuAA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lXqZZWQ3HVadeNLA5TmSA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LIYVpCk6JdhRkHBhUeGtw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vjckcodPx5THpluwItZQ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ROvqoDUH_KG_0rPsagjQ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_muDNuFj7nGpXW.sLjHg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oBrdY19Y0Of5zT5cUx1Q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a7WAGduOmeQ_pkGCmoPAw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uhfh.feB8OcphZsLrUIw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H9hmhRqFWpdLwn5etSrw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6zJP5t4U5E8YvEUI5WZA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4ShQd8MwOkrAkq8HZMcw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vysgk5pglkaT9op4Y.Cg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rRVDr13.TfmUOnD7TexQg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5zZzMcWZ3M.190QibkEdQ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BYfTnyAQY.DUA0sGdL3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LLEOvZJJbWymfobG81XNg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Fo3mNoQ7eu_tfPkpqfqeg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CGVer.ovdTXZ3dkYgU3g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D6Maya3wcpU0tWZ_B1Yg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EB74kMV5jQWAi1_MoIlA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AQb.KCJOCjJT7D8yXhYQ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_KoxNXrIQlgGskZ0tKTOg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GhScWSq0ITTXCj.iVNFnA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_9SMMIlWJKqxhJewmKqA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_CayAPhKo56prI5dgM.A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mi7KpgFDmgHJMD_ioDWw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AKaBXf4CKNzMtcIb2bQg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iWUyIRCJoIY3_l_VTArdg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.P2U_f.0XbPW4N5YqJyrw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3oyTH6ygzwe7.FrILIyQ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fHw9APP6ABOlMi.ZPWqg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Qo5Kv70NidHADFNoMXgA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VAo7h0GIhqe_nHpYyOaQ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QU180O8wNCp5IDz3U9dw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iK7AT08W2ea.9FBSh4SjA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hyy9uATyVWXz0j1vd34HQ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1G1MlYpSwu.hEgmWH3Q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Jt8AZw4jythQmu0bbq7A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xdlfHpD0bOpp1NXZ4PUfg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3jazTBfHpkni9YIsFNwA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2K9JBRa0i7tYdO8gtXm5g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65cFe6N7NWCJGZsPV_OxQ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S74qig36EQpHm0HglIjjQ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0wdi2yVfWvklazBBSLjg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OAFoCGkqwAjlPrDa5cGsA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Kj2jC6mvwYbSM0aQ9XmQ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XUV7hVykWMgjcd.4Zr.fw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QUmGJOlhU.btC2ZlStrA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RH8T4IjosfEKQP9EGDSQ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L.5uMW4y4e1qe.NNDzWQ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bkCan5AXb92JFa.ckx5PQ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717g3P.8n7h5ZBqylhEg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aSV9xU104DyaRtYT8Xktg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gOuWHVGQqwEGvrN97WSg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0m6E7M08bST.FU9gFf77A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9TakoA602z3Awhuzz87XQ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CAub09J4QmchXgolvJVA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BFTPUWdhcaddiZ.8tnTg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3ISrcOcNhyYGaJCMpm2w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Ao6L.M5_0xHDmGbUQZyw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VFh9OPkZGifqMxpoXwew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fv2SWJ7anhJ_SRNBOqlQ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wKK0fBYHy0hg4wWhR4xg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nozPmW2X1N37uSt3HAvw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ls9MBB4ZNpml6OBV4MnA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bgMJRh1g45udQuQ06uRTQ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hhWhapbfW7WL.PtSAU2ug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99B4n6QLZdhiKx4cs.yAw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FKB3KgO1T5yXaNd7lpwQ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lvTuLezUSMk0Pir7NLjrw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8NSfG3EZLACnBmOjg6EGA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PlwSDHAJM5hPdRFAUwcA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N_w3.RvIOI6cHCFv1uP0Q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.ZVuRdm_GXQynASbFu6A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YIx41fNxi2bZ._tWIFfLQ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cnaUlQjeHsUb.w1HPzDtA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SI5kKY27DMeaIqSHxarcQ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BRixDObrkpC9Aht9iJxg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XERSv53YZO2lbApuLcEQ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fj.qElN2RJFlV.yLP8R4A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zk6PaQDhQKq7yPQBc.8g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EszuTUhcDFsf3Ri.oyR5A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g1twlpEoL5SKUCuS8W3g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9jl1uJqJN7XUIw9AmjW7g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fLb.HjhzgHPBmmzH22bg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vtugPe1eaVejlOOLmO7g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zihGTha6CtidFt1hGI9Q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Fk1nrbdJKWAbD17qSRVg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B5qLVrCS0l0Wa5IzOEEw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M6NwGuQjtaEm7v.wI6HkA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WboLU3omcXZ8Xf02G5g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n9w8QJOp9FS7quszxQZvQ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4rP4pELBvafEJ2uZe9Vtw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hGmw76my.eX2T44yDkdNA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7QnsJ5mGURUyiSRKV7pug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m7jn8R.iL67j1k_w_pbkA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bBbq86Vk1azQbrXa24aw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dbvuMcgKcjFIN_2w8mAw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v1J.oSAhKNfjDT0xRQEKw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DBdHdZwDSJ_rSddn54Fw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n7kCU14LQNCj3ZI805_oA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tJVgQ7t8Xp07RGOAAlxg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vpiq1i76COMP20MMP4Scw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ELrrLUVk6eMmk2DrxldQ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OagMklw2ze3Y4l1_yyByA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vIOYQLYNde8WvPJvWz8gA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raoeQAz5btpi7L3a8xFQ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iVQQ1tNsMRFG3VA5SeDfg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8yCbGiDE_4ZCYbs2jS_g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93r_GZEvgxQH8Lv8K9fdw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vm9FjHb4Ms5sq8IB4r_g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PDnQ36h1EiCZ1lWtwI4g"/>
</p:tagLst>
</file>

<file path=ppt/theme/theme1.xml><?xml version="1.0" encoding="utf-8"?>
<a:theme xmlns:a="http://schemas.openxmlformats.org/drawingml/2006/main" name="7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813DC4-6E6A-334C-8A92-F7C8F4D7664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e2f2751-92b3-472b-badd-636cf7a347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1984</TotalTime>
  <Words>12665</Words>
  <Application>Microsoft Macintosh PowerPoint</Application>
  <PresentationFormat>Widescreen</PresentationFormat>
  <Paragraphs>2885</Paragraphs>
  <Slides>59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Arha Magnit</vt:lpstr>
      <vt:lpstr>Arial</vt:lpstr>
      <vt:lpstr>Calibri</vt:lpstr>
      <vt:lpstr>Montserrat</vt:lpstr>
      <vt:lpstr>Montserrat Medium</vt:lpstr>
      <vt:lpstr>7_Тема Office</vt:lpstr>
      <vt:lpstr>think-cell Slide</vt:lpstr>
      <vt:lpstr>Слайд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Бабкин Денис Владимирович</dc:creator>
  <cp:keywords/>
  <dc:description/>
  <cp:lastModifiedBy>Бабкин Денис Владимирович</cp:lastModifiedBy>
  <cp:revision>39</cp:revision>
  <dcterms:created xsi:type="dcterms:W3CDTF">2026-10-05T11:53:56Z</dcterms:created>
  <dcterms:modified xsi:type="dcterms:W3CDTF">2026-10-17T09:43:59Z</dcterms:modified>
  <cp:category/>
</cp:coreProperties>
</file>