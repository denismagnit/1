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6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6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345" r:id="rId2"/>
    <p:sldId id="476" r:id="rId3"/>
    <p:sldId id="464" r:id="rId4"/>
    <p:sldId id="441" r:id="rId5"/>
    <p:sldId id="473" r:id="rId6"/>
    <p:sldId id="488" r:id="rId7"/>
    <p:sldId id="460" r:id="rId8"/>
    <p:sldId id="437" r:id="rId9"/>
    <p:sldId id="474" r:id="rId10"/>
    <p:sldId id="471" r:id="rId11"/>
    <p:sldId id="495" r:id="rId12"/>
    <p:sldId id="496" r:id="rId13"/>
    <p:sldId id="478" r:id="rId14"/>
    <p:sldId id="479" r:id="rId15"/>
    <p:sldId id="365" r:id="rId16"/>
    <p:sldId id="480" r:id="rId17"/>
    <p:sldId id="412" r:id="rId18"/>
    <p:sldId id="469" r:id="rId19"/>
    <p:sldId id="415" r:id="rId20"/>
    <p:sldId id="433" r:id="rId21"/>
    <p:sldId id="366" r:id="rId22"/>
    <p:sldId id="487" r:id="rId23"/>
    <p:sldId id="404" r:id="rId24"/>
    <p:sldId id="483" r:id="rId25"/>
    <p:sldId id="432" r:id="rId26"/>
    <p:sldId id="475" r:id="rId27"/>
    <p:sldId id="489" r:id="rId28"/>
    <p:sldId id="481" r:id="rId29"/>
    <p:sldId id="484" r:id="rId30"/>
    <p:sldId id="405" r:id="rId31"/>
    <p:sldId id="468" r:id="rId32"/>
    <p:sldId id="430" r:id="rId33"/>
    <p:sldId id="411" r:id="rId34"/>
    <p:sldId id="408" r:id="rId35"/>
    <p:sldId id="427" r:id="rId36"/>
    <p:sldId id="421" r:id="rId37"/>
    <p:sldId id="422" r:id="rId38"/>
    <p:sldId id="424" r:id="rId39"/>
    <p:sldId id="425" r:id="rId4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4" d="100"/>
          <a:sy n="154" d="100"/>
        </p:scale>
        <p:origin x="-208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81.2</c:v>
              </c:pt>
              <c:pt idx="1">
                <c:v>202.9</c:v>
              </c:pt>
              <c:pt idx="2">
                <c:v>284.10000000000002</c:v>
              </c:pt>
              <c:pt idx="3">
                <c:v>284.10000000000002</c:v>
              </c:pt>
              <c:pt idx="4">
                <c:v>284.10000000000002</c:v>
              </c:pt>
              <c:pt idx="5">
                <c:v>284.10000000000002</c:v>
              </c:pt>
              <c:pt idx="6">
                <c:v>284.10000000000002</c:v>
              </c:pt>
              <c:pt idx="7">
                <c:v>324.60000000000002</c:v>
              </c:pt>
              <c:pt idx="8">
                <c:v>324.60000000000002</c:v>
              </c:pt>
              <c:pt idx="9">
                <c:v>446.4</c:v>
              </c:pt>
              <c:pt idx="10">
                <c:v>568.20000000000005</c:v>
              </c:pt>
              <c:pt idx="11">
                <c:v>689.9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59.9</c:v>
              </c:pt>
              <c:pt idx="1">
                <c:v>149.6</c:v>
              </c:pt>
              <c:pt idx="2">
                <c:v>209.5</c:v>
              </c:pt>
              <c:pt idx="3">
                <c:v>209.5</c:v>
              </c:pt>
              <c:pt idx="4">
                <c:v>209.5</c:v>
              </c:pt>
              <c:pt idx="5">
                <c:v>209.5</c:v>
              </c:pt>
              <c:pt idx="6">
                <c:v>209.5</c:v>
              </c:pt>
              <c:pt idx="7">
                <c:v>239.4</c:v>
              </c:pt>
              <c:pt idx="8">
                <c:v>239.4</c:v>
              </c:pt>
              <c:pt idx="9">
                <c:v>329.2</c:v>
              </c:pt>
              <c:pt idx="10">
                <c:v>419</c:v>
              </c:pt>
              <c:pt idx="11">
                <c:v>508.8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294.89999999999998</c:v>
              </c:pt>
              <c:pt idx="1">
                <c:v>737.4</c:v>
              </c:pt>
              <c:pt idx="2">
                <c:v>1032.3</c:v>
              </c:pt>
              <c:pt idx="3">
                <c:v>1032.3</c:v>
              </c:pt>
              <c:pt idx="4">
                <c:v>1032.3</c:v>
              </c:pt>
              <c:pt idx="5">
                <c:v>1032.3</c:v>
              </c:pt>
              <c:pt idx="6">
                <c:v>1032.3</c:v>
              </c:pt>
              <c:pt idx="7">
                <c:v>1179.8</c:v>
              </c:pt>
              <c:pt idx="8">
                <c:v>1179.8</c:v>
              </c:pt>
              <c:pt idx="9">
                <c:v>1622.2</c:v>
              </c:pt>
              <c:pt idx="10">
                <c:v>2064.6</c:v>
              </c:pt>
              <c:pt idx="11">
                <c:v>2507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CF ВГО</c:v>
              </c:pt>
              <c:pt idx="7">
                <c:v>In-store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13210.1</c:v>
              </c:pt>
              <c:pt idx="2">
                <c:v>14060.310000000001</c:v>
              </c:pt>
              <c:pt idx="3">
                <c:v>14596.87</c:v>
              </c:pt>
              <c:pt idx="4">
                <c:v>15042.300000000001</c:v>
              </c:pt>
              <c:pt idx="5">
                <c:v>15255.6</c:v>
              </c:pt>
              <c:pt idx="6">
                <c:v>15198.12</c:v>
              </c:pt>
              <c:pt idx="7">
                <c:v>14747.11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CF ВГО</c:v>
              </c:pt>
              <c:pt idx="7">
                <c:v>In-store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CF ВГО</c:v>
              </c:pt>
              <c:pt idx="7">
                <c:v>In-store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6">
                <c:v>119.8</c:v>
              </c:pt>
              <c:pt idx="7">
                <c:v>451.01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CF ВГО</c:v>
              </c:pt>
              <c:pt idx="7">
                <c:v>In-store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13210.1</c:v>
              </c:pt>
              <c:pt idx="8">
                <c:v>14747.11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13 210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8E2-624C-8CB8-F1DBAF9DF3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8E2-624C-8CB8-F1DBAF9DF3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8E2-624C-8CB8-F1DBAF9DF3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8E2-624C-8CB8-F1DBAF9DF3C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8E2-624C-8CB8-F1DBAF9DF3C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8E2-624C-8CB8-F1DBAF9DF3C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8E2-624C-8CB8-F1DBAF9DF3C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8E2-624C-8CB8-F1DBAF9DF3C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14 747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8E2-624C-8CB8-F1DBAF9DF3C4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CF ВГО</c:v>
              </c:pt>
              <c:pt idx="7">
                <c:v>In-store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  <c:pt idx="8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CF ВГО</c:v>
              </c:pt>
              <c:pt idx="7">
                <c:v>DMP Analyt.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10334.9</c:v>
              </c:pt>
              <c:pt idx="2">
                <c:v>11835.73</c:v>
              </c:pt>
              <c:pt idx="3">
                <c:v>13447.8</c:v>
              </c:pt>
              <c:pt idx="4">
                <c:v>14060.8</c:v>
              </c:pt>
              <c:pt idx="5">
                <c:v>14318.45</c:v>
              </c:pt>
              <c:pt idx="6">
                <c:v>14531.75</c:v>
              </c:pt>
              <c:pt idx="7">
                <c:v>14662.5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CF ВГО</c:v>
              </c:pt>
              <c:pt idx="7">
                <c:v>DMP Analyt.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1612.07</c:v>
              </c:pt>
              <c:pt idx="3">
                <c:v>613</c:v>
              </c:pt>
              <c:pt idx="4">
                <c:v>257.64999999999998</c:v>
              </c:pt>
              <c:pt idx="5">
                <c:v>213.3</c:v>
              </c:pt>
              <c:pt idx="6">
                <c:v>130.75</c:v>
              </c:pt>
              <c:pt idx="7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CF ВГО</c:v>
              </c:pt>
              <c:pt idx="7">
                <c:v>DMP Analyt.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CF ВГО</c:v>
              </c:pt>
              <c:pt idx="7">
                <c:v>DMP Analyt.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10334.9</c:v>
              </c:pt>
              <c:pt idx="8">
                <c:v>14747.1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10 335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5FB-C74E-AF9C-EE151BC377A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+1 501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FB-C74E-AF9C-EE151BC377A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+1 612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5FB-C74E-AF9C-EE151BC377A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5FB-C74E-AF9C-EE151BC377A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5FB-C74E-AF9C-EE151BC377A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5FB-C74E-AF9C-EE151BC377A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+131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5FB-C74E-AF9C-EE151BC377A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5FB-C74E-AF9C-EE151BC377A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14 747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5FB-C74E-AF9C-EE151BC377A8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CF ВГО</c:v>
              </c:pt>
              <c:pt idx="7">
                <c:v>DMP Analyt.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  <c:pt idx="8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199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8096.14</c:v>
              </c:pt>
              <c:pt idx="2">
                <c:v>9596.9700000000012</c:v>
              </c:pt>
              <c:pt idx="3">
                <c:v>11209.04</c:v>
              </c:pt>
              <c:pt idx="4">
                <c:v>11334.02</c:v>
              </c:pt>
              <c:pt idx="5">
                <c:v>11017.73</c:v>
              </c:pt>
              <c:pt idx="6">
                <c:v>10984.23</c:v>
              </c:pt>
              <c:pt idx="7">
                <c:v>10965.650000000001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1612.07</c:v>
              </c:pt>
              <c:pt idx="3">
                <c:v>1299.31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1174.33</c:v>
              </c:pt>
              <c:pt idx="5">
                <c:v>316.29000000000002</c:v>
              </c:pt>
              <c:pt idx="6">
                <c:v>33.5</c:v>
              </c:pt>
              <c:pt idx="7">
                <c:v>18.57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8096.14</c:v>
              </c:pt>
              <c:pt idx="8">
                <c:v>10965.650000000001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8 096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B36-7B4C-8030-856FD52DD8D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+1 501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B36-7B4C-8030-856FD52DD8D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+1 612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B36-7B4C-8030-856FD52DD8D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+1 299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B36-7B4C-8030-856FD52DD8D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−1 174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B36-7B4C-8030-856FD52DD8D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B36-7B4C-8030-856FD52DD8D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B36-7B4C-8030-856FD52DD8D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B36-7B4C-8030-856FD52DD8D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10 966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CB36-7B4C-8030-856FD52DD8D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1150.4999999999998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14.10.2026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chart" Target="../charts/chart1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oleObject" Target="../embeddings/oleObject5.bin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image" Target="../media/image7.emf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AdTech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14 747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+43%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10 966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+35%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9 815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+42% к FC 2026  ·  +9%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+43%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1 537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растёт на </a:t>
            </a:r>
            <a:r>
              <a:rPr lang="ru-RU" sz="1400" b="1" dirty="0">
                <a:solidFill>
                  <a:srgbClr val="000000"/>
                </a:solidFill>
              </a:rPr>
              <a:t>1 543 млн руб.</a:t>
            </a:r>
            <a:r>
              <a:rPr lang="ru-RU" sz="1400" dirty="0">
                <a:solidFill>
                  <a:srgbClr val="000000"/>
                </a:solidFill>
              </a:rPr>
              <a:t> (+69%); 73%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9 815 млн руб.</a:t>
            </a:r>
            <a:r>
              <a:rPr lang="ru-RU" sz="1400" dirty="0">
                <a:solidFill>
                  <a:srgbClr val="000000"/>
                </a:solidFill>
              </a:rPr>
              <a:t> — на 842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213371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900" noProof="1">
                <a:solidFill>
                  <a:srgbClr val="6E6E6E"/>
                </a:solidFill>
              </a:rPr>
              <a:t>Revenue </a:t>
            </a:r>
            <a:r>
              <a:rPr lang="ru-RU" sz="900" noProof="1">
                <a:solidFill>
                  <a:srgbClr val="6E6E6E"/>
                </a:solidFill>
              </a:rPr>
              <a:t>(</a:t>
            </a:r>
            <a:r>
              <a:rPr lang="en-US" sz="900" noProof="1">
                <a:solidFill>
                  <a:srgbClr val="6E6E6E"/>
                </a:solidFill>
              </a:rPr>
              <a:t>incr</a:t>
            </a:r>
            <a:r>
              <a:rPr lang="en-US" noProof="1">
                <a:solidFill>
                  <a:srgbClr val="6E6E6E"/>
                </a:solidFill>
              </a:rPr>
              <a:t>ease)</a:t>
            </a:r>
            <a:r>
              <a:rPr lang="en-US" sz="900" noProof="1">
                <a:solidFill>
                  <a:srgbClr val="6E6E6E"/>
                </a:solidFill>
              </a:rPr>
              <a:t> </a:t>
            </a:r>
            <a:r>
              <a:rPr lang="ru-RU" sz="900" dirty="0">
                <a:solidFill>
                  <a:srgbClr val="6E6E6E"/>
                </a:solidFill>
              </a:rPr>
              <a:t>— </a:t>
            </a:r>
            <a:r>
              <a:rPr lang="ru-RU" dirty="0">
                <a:solidFill>
                  <a:srgbClr val="6E6E6E"/>
                </a:solidFill>
              </a:rPr>
              <a:t>дополнительная выручка </a:t>
            </a:r>
            <a:r>
              <a:rPr lang="en-US" dirty="0">
                <a:solidFill>
                  <a:srgbClr val="6E6E6E"/>
                </a:solidFill>
              </a:rPr>
              <a:t>vs 2026FC8+4. </a:t>
            </a:r>
            <a:r>
              <a:rPr lang="ru-RU" sz="900" dirty="0">
                <a:solidFill>
                  <a:srgbClr val="6E6E6E"/>
                </a:solidFill>
              </a:rPr>
              <a:t>Млн руб. без НДС.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top-down targets</a:t>
            </a:r>
            <a:endParaRPr lang="ru-RU" dirty="0"/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таргеты,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Выручка: </a:t>
            </a:r>
            <a:r>
              <a:rPr lang="ru-RU" sz="1400" dirty="0">
                <a:solidFill>
                  <a:srgbClr val="000000"/>
                </a:solidFill>
              </a:rPr>
              <a:t>инкрементальная выручка </a:t>
            </a:r>
            <a:r>
              <a:rPr lang="ru-RU" sz="1400" b="1" dirty="0">
                <a:solidFill>
                  <a:srgbClr val="000000"/>
                </a:solidFill>
              </a:rPr>
              <a:t>4 281 млн руб.</a:t>
            </a:r>
            <a:r>
              <a:rPr lang="ru-RU" sz="1400" dirty="0">
                <a:solidFill>
                  <a:srgbClr val="000000"/>
                </a:solidFill>
              </a:rPr>
              <a:t> — на 802 млн руб. (+23%) выше стратегии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EBITDA: 500 млн руб.</a:t>
            </a:r>
            <a:r>
              <a:rPr lang="ru-RU" sz="1400" dirty="0">
                <a:solidFill>
                  <a:srgbClr val="000000"/>
                </a:solidFill>
              </a:rPr>
              <a:t> — на уровне стратегии (+15) и на 2 000 млн руб. выше таргета (−1 500)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CAPEX: 1 151 млн руб.</a:t>
            </a:r>
            <a:r>
              <a:rPr lang="ru-RU" sz="1400" dirty="0">
                <a:solidFill>
                  <a:srgbClr val="000000"/>
                </a:solidFill>
              </a:rPr>
              <a:t> — ниже стратегии на 92 (−7%) и таргета на 151 (−12%)</a:t>
            </a:r>
          </a:p>
        </p:txBody>
      </p:sp>
      <p:graphicFrame>
        <p:nvGraphicFramePr>
          <p:cNvPr id="200" name="BU vs Targ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34902"/>
              </p:ext>
            </p:extLst>
          </p:nvPr>
        </p:nvGraphicFramePr>
        <p:xfrm>
          <a:off x="368299" y="1574800"/>
          <a:ext cx="7810502" cy="3708400"/>
        </p:xfrm>
        <a:graphic>
          <a:graphicData uri="http://schemas.openxmlformats.org/drawingml/2006/table">
            <a:tbl>
              <a:tblPr firstRow="1"/>
              <a:tblGrid>
                <a:gridCol w="134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09">
                  <a:extLst>
                    <a:ext uri="{9D8B030D-6E8A-4147-A177-3AD203B41FA5}">
                      <a16:colId xmlns:a16="http://schemas.microsoft.com/office/drawing/2014/main" val="1974067606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Показатель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Стратегия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Таргеты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Бюджет 2027 (</a:t>
                      </a:r>
                      <a:r>
                        <a:rPr lang="en-US" sz="1100" b="1" dirty="0">
                          <a:solidFill>
                            <a:srgbClr val="6E6E6E"/>
                          </a:solidFill>
                        </a:rPr>
                        <a:t>AdTech)</a:t>
                      </a:r>
                      <a:endParaRPr lang="ru-RU" sz="1100" b="1" dirty="0">
                        <a:solidFill>
                          <a:srgbClr val="6E6E6E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Стрейч форматов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стратегии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таргетам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 err="1">
                          <a:solidFill>
                            <a:srgbClr val="000000"/>
                          </a:solidFill>
                        </a:rPr>
                        <a:t>Revenue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(increase)</a:t>
                      </a:r>
                      <a:endParaRPr lang="ru-RU" sz="12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3 479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4 281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+802 (+23%)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EBITDA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485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−1 500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-2 000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+15 (+3%)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1 242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1 302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1 151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−92 (−7%)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−151 (−12%)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53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AdTech</a:t>
            </a:r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 err="1">
                <a:solidFill>
                  <a:srgbClr val="6E6E6E"/>
                </a:solidFill>
              </a:rPr>
              <a:t>Magnit</a:t>
            </a:r>
            <a:r>
              <a:rPr lang="en-US" dirty="0">
                <a:solidFill>
                  <a:srgbClr val="6E6E6E"/>
                </a:solidFill>
              </a:rPr>
              <a:t>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</a:t>
            </a:r>
            <a:r>
              <a:rPr lang="ru-RU" dirty="0"/>
              <a:t>50% </a:t>
            </a:r>
            <a:r>
              <a:rPr lang="en-US" dirty="0"/>
              <a:t>vs. +15%</a:t>
            </a:r>
            <a:r>
              <a:rPr lang="ru-RU" dirty="0"/>
              <a:t> </a:t>
            </a:r>
            <a:r>
              <a:rPr lang="en-US" dirty="0"/>
              <a:t>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</a:t>
            </a:r>
            <a:r>
              <a:rPr lang="ru-RU" sz="1400" dirty="0" err="1">
                <a:solidFill>
                  <a:srgbClr val="000000"/>
                </a:solidFill>
              </a:rPr>
              <a:t>Magnit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14,7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90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AdTech,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sz="900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AdTech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2027 - 42%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5100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33483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+50%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-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</a:t>
            </a:r>
            <a:r>
              <a:rPr lang="ru-RU" sz="1400" b="1" dirty="0" err="1">
                <a:solidFill>
                  <a:srgbClr val="FF452C"/>
                </a:solidFill>
                <a:latin typeface="Arial"/>
                <a:cs typeface="Arial"/>
              </a:rPr>
              <a:t>Magnit</a:t>
            </a: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4 058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+66%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356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13 541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-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1 206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0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43%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14,7 млрд руб.</a:t>
            </a:r>
            <a:r>
              <a:rPr lang="ru-RU" sz="1400" dirty="0">
                <a:solidFill>
                  <a:srgbClr val="000000"/>
                </a:solidFill>
              </a:rPr>
              <a:t> (+43%)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6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20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Х5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Magnit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Магнит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ADS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20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Magnit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7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Магнит </a:t>
            </a:r>
            <a:r>
              <a:rPr lang="en-US" dirty="0"/>
              <a:t>ADS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25618"/>
              </p:ext>
            </p:extLst>
          </p:nvPr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</a:t>
                      </a:r>
                      <a:r>
                        <a:rPr lang="ru-RU" sz="1600" b="1" dirty="0" err="1">
                          <a:solidFill>
                            <a:schemeClr val="tx2"/>
                          </a:solidFill>
                          <a:latin typeface="Arial"/>
                        </a:rPr>
                        <a:t>Magnit</a:t>
                      </a: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5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1 625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356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4 058 млн руб. 2027 ·  +66%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2 993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UGC-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en-US" sz="1400" dirty="0">
                <a:solidFill>
                  <a:srgbClr val="000000"/>
                </a:solidFill>
              </a:rPr>
              <a:t>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936484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dirty="0">
                <a:solidFill>
                  <a:srgbClr val="6E6E6E"/>
                </a:solidFill>
              </a:rPr>
              <a:t>КМ - </a:t>
            </a:r>
            <a:r>
              <a:rPr dirty="0" err="1">
                <a:solidFill>
                  <a:srgbClr val="6E6E6E"/>
                </a:solidFill>
              </a:rPr>
              <a:t>категорийный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менеджер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Magnit AdTech - рекламная платформа для всего Магнита</a:t>
            </a:r>
          </a:p>
        </p:txBody>
      </p:sp>
      <p:sp>
        <p:nvSpPr>
          <p:cNvPr id="5" name="Platform card 6"/>
          <p:cNvSpPr/>
          <p:nvPr/>
        </p:nvSpPr>
        <p:spPr>
          <a:xfrm>
            <a:off x="365760" y="1024128"/>
            <a:ext cx="3383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Platform head 7"/>
          <p:cNvSpPr txBox="1"/>
          <p:nvPr/>
        </p:nvSpPr>
        <p:spPr>
          <a:xfrm>
            <a:off x="548640" y="115214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1. Delivery-платформа</a:t>
            </a:r>
            <a:endParaRPr lang="ru-RU" sz="1200" dirty="0"/>
          </a:p>
        </p:txBody>
      </p:sp>
      <p:sp>
        <p:nvSpPr>
          <p:cNvPr id="7" name="Platform thesis 8"/>
          <p:cNvSpPr txBox="1"/>
          <p:nvPr/>
        </p:nvSpPr>
        <p:spPr>
          <a:xfrm>
            <a:off x="548640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Арбитраж за внимание пользователя, а не только доставка контента</a:t>
            </a:r>
            <a:endParaRPr lang="ru-RU" sz="1200" dirty="0"/>
          </a:p>
        </p:txBody>
      </p:sp>
      <p:sp>
        <p:nvSpPr>
          <p:cNvPr id="8" name="Platform line 9"/>
          <p:cNvSpPr/>
          <p:nvPr/>
        </p:nvSpPr>
        <p:spPr>
          <a:xfrm>
            <a:off x="548640" y="2011680"/>
            <a:ext cx="3017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Platform label 10"/>
          <p:cNvSpPr txBox="1"/>
          <p:nvPr/>
        </p:nvSpPr>
        <p:spPr>
          <a:xfrm>
            <a:off x="548640" y="20848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За плейсмент на главном экране конкурируют</a:t>
            </a:r>
            <a:endParaRPr lang="ru-RU" sz="1200" dirty="0"/>
          </a:p>
        </p:txBody>
      </p:sp>
      <p:sp>
        <p:nvSpPr>
          <p:cNvPr id="10" name="Platform chip 11"/>
          <p:cNvSpPr/>
          <p:nvPr/>
        </p:nvSpPr>
        <p:spPr>
          <a:xfrm>
            <a:off x="548640" y="2345196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Platform chiptxt 12"/>
          <p:cNvSpPr txBox="1"/>
          <p:nvPr/>
        </p:nvSpPr>
        <p:spPr>
          <a:xfrm>
            <a:off x="548640" y="239091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Реклама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Рекламная выручка </a:t>
            </a:r>
            <a:b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</a:b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и Рост РТО</a:t>
            </a:r>
            <a:endParaRPr lang="ru-RU" sz="1200" dirty="0"/>
          </a:p>
        </p:txBody>
      </p:sp>
      <p:sp>
        <p:nvSpPr>
          <p:cNvPr id="12" name="Platform chip 13"/>
          <p:cNvSpPr/>
          <p:nvPr/>
        </p:nvSpPr>
        <p:spPr>
          <a:xfrm>
            <a:off x="2103120" y="2345196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Platform chiptxt 14"/>
          <p:cNvSpPr txBox="1"/>
          <p:nvPr/>
        </p:nvSpPr>
        <p:spPr>
          <a:xfrm>
            <a:off x="2194560" y="2390916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Акция Магнита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рост GMV</a:t>
            </a:r>
            <a:endParaRPr lang="ru-RU" sz="1200" dirty="0"/>
          </a:p>
        </p:txBody>
      </p:sp>
      <p:sp>
        <p:nvSpPr>
          <p:cNvPr id="14" name="Platform chip 15"/>
          <p:cNvSpPr/>
          <p:nvPr/>
        </p:nvSpPr>
        <p:spPr>
          <a:xfrm>
            <a:off x="548640" y="3094675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Platform chiptxt 16"/>
          <p:cNvSpPr txBox="1"/>
          <p:nvPr/>
        </p:nvSpPr>
        <p:spPr>
          <a:xfrm>
            <a:off x="640080" y="3140395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Оффер лояльности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рост retention</a:t>
            </a:r>
            <a:endParaRPr lang="ru-RU" sz="1200" dirty="0"/>
          </a:p>
        </p:txBody>
      </p:sp>
      <p:sp>
        <p:nvSpPr>
          <p:cNvPr id="16" name="Platform chip 17"/>
          <p:cNvSpPr/>
          <p:nvPr/>
        </p:nvSpPr>
        <p:spPr>
          <a:xfrm>
            <a:off x="2103120" y="3094675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Platform chiptxt 18"/>
          <p:cNvSpPr txBox="1"/>
          <p:nvPr/>
        </p:nvSpPr>
        <p:spPr>
          <a:xfrm>
            <a:off x="2194560" y="3140395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Виджет команды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A/B-эксперимент</a:t>
            </a:r>
            <a:endParaRPr lang="ru-RU" sz="1200" dirty="0"/>
          </a:p>
        </p:txBody>
      </p:sp>
      <p:sp>
        <p:nvSpPr>
          <p:cNvPr id="18" name="Platform arrow 19"/>
          <p:cNvSpPr/>
          <p:nvPr/>
        </p:nvSpPr>
        <p:spPr>
          <a:xfrm rot="10800000">
            <a:off x="1965960" y="4498848"/>
            <a:ext cx="182880" cy="91226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Platform pink 20"/>
          <p:cNvSpPr/>
          <p:nvPr/>
        </p:nvSpPr>
        <p:spPr>
          <a:xfrm>
            <a:off x="548640" y="4720316"/>
            <a:ext cx="3017520" cy="677136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Platform pinktxt 21"/>
          <p:cNvSpPr txBox="1"/>
          <p:nvPr/>
        </p:nvSpPr>
        <p:spPr>
          <a:xfrm>
            <a:off x="640080" y="4743176"/>
            <a:ext cx="2834640" cy="631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Единая политика выбора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учитывает бизнес-правила, коммерческую ценность, контекст пользователя и ограничения UX</a:t>
            </a:r>
            <a:endParaRPr lang="ru-RU" sz="1200" dirty="0"/>
          </a:p>
        </p:txBody>
      </p:sp>
      <p:sp>
        <p:nvSpPr>
          <p:cNvPr id="22" name="Platform card 23"/>
          <p:cNvSpPr/>
          <p:nvPr/>
        </p:nvSpPr>
        <p:spPr>
          <a:xfrm>
            <a:off x="3931920" y="1024128"/>
            <a:ext cx="4325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Platform head 24"/>
          <p:cNvSpPr txBox="1"/>
          <p:nvPr/>
        </p:nvSpPr>
        <p:spPr>
          <a:xfrm>
            <a:off x="4114800" y="1152144"/>
            <a:ext cx="3959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2. Оркестрация монетизации группы</a:t>
            </a:r>
            <a:endParaRPr lang="ru-RU" sz="1200" dirty="0"/>
          </a:p>
        </p:txBody>
      </p:sp>
      <p:sp>
        <p:nvSpPr>
          <p:cNvPr id="24" name="Platform thesis 25"/>
          <p:cNvSpPr txBox="1"/>
          <p:nvPr/>
        </p:nvSpPr>
        <p:spPr>
          <a:xfrm>
            <a:off x="4114800" y="1499616"/>
            <a:ext cx="39593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2026 г. AdTech - единая функция монетизации OMNI и оркестратор внутренних коммуникаций</a:t>
            </a:r>
            <a:endParaRPr lang="ru-RU" sz="1200" dirty="0"/>
          </a:p>
        </p:txBody>
      </p:sp>
      <p:sp>
        <p:nvSpPr>
          <p:cNvPr id="25" name="Platform line 26"/>
          <p:cNvSpPr/>
          <p:nvPr/>
        </p:nvSpPr>
        <p:spPr>
          <a:xfrm>
            <a:off x="4114800" y="2011680"/>
            <a:ext cx="3959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Platform label 27"/>
          <p:cNvSpPr txBox="1"/>
          <p:nvPr/>
        </p:nvSpPr>
        <p:spPr>
          <a:xfrm>
            <a:off x="4114800" y="2084832"/>
            <a:ext cx="3959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Зона ответственности AdTech по бизнесам группы</a:t>
            </a:r>
            <a:endParaRPr lang="ru-RU" sz="1200" dirty="0"/>
          </a:p>
        </p:txBody>
      </p:sp>
      <p:sp>
        <p:nvSpPr>
          <p:cNvPr id="27" name="Platform chip 28"/>
          <p:cNvSpPr/>
          <p:nvPr/>
        </p:nvSpPr>
        <p:spPr>
          <a:xfrm>
            <a:off x="4114800" y="2267712"/>
            <a:ext cx="1933956" cy="89611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Platform chiptxt 29"/>
          <p:cNvSpPr txBox="1"/>
          <p:nvPr/>
        </p:nvSpPr>
        <p:spPr>
          <a:xfrm>
            <a:off x="4206240" y="2313432"/>
            <a:ext cx="1751076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FoodTech (приложение)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Разрабатываем инвентарь, реализуем условные бонусы поставщиков, привлекаем внешних рекламодателей</a:t>
            </a:r>
            <a:endParaRPr lang="ru-RU" sz="1200" dirty="0"/>
          </a:p>
        </p:txBody>
      </p:sp>
      <p:sp>
        <p:nvSpPr>
          <p:cNvPr id="29" name="Platform chip 30"/>
          <p:cNvSpPr/>
          <p:nvPr/>
        </p:nvSpPr>
        <p:spPr>
          <a:xfrm>
            <a:off x="6140196" y="2267712"/>
            <a:ext cx="1933956" cy="89611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Platform chiptxt 31"/>
          <p:cNvSpPr txBox="1"/>
          <p:nvPr/>
        </p:nvSpPr>
        <p:spPr>
          <a:xfrm>
            <a:off x="6231636" y="2313432"/>
            <a:ext cx="1751076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lang="ru-RU" sz="900" b="0" dirty="0" err="1">
                <a:solidFill>
                  <a:srgbClr val="7F7F7F"/>
                </a:solidFill>
                <a:latin typeface="Arial"/>
                <a:cs typeface="Arial"/>
              </a:rPr>
              <a:t>ales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ru-RU" sz="900" b="0" dirty="0" err="1">
                <a:solidFill>
                  <a:srgbClr val="7F7F7F"/>
                </a:solidFill>
                <a:latin typeface="Arial"/>
                <a:cs typeface="Arial"/>
              </a:rPr>
              <a:t>force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ru-RU" sz="900" dirty="0">
                <a:solidFill>
                  <a:srgbClr val="7F7F7F"/>
                </a:solidFill>
                <a:latin typeface="Arial"/>
                <a:cs typeface="Arial"/>
              </a:rPr>
              <a:t>на стороне </a:t>
            </a:r>
            <a:r>
              <a:rPr lang="ru-RU" sz="900" b="0" dirty="0" err="1">
                <a:solidFill>
                  <a:srgbClr val="7F7F7F"/>
                </a:solidFill>
                <a:latin typeface="Arial"/>
                <a:cs typeface="Arial"/>
              </a:rPr>
              <a:t>AdTech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: бонусы по инвентарю М+ (кроме игр), кратный рост выручки г/г</a:t>
            </a:r>
            <a:endParaRPr lang="ru-RU" sz="1200" dirty="0"/>
          </a:p>
        </p:txBody>
      </p:sp>
      <p:sp>
        <p:nvSpPr>
          <p:cNvPr id="31" name="Platform chip 32"/>
          <p:cNvSpPr/>
          <p:nvPr/>
        </p:nvSpPr>
        <p:spPr>
          <a:xfrm>
            <a:off x="4114800" y="3255264"/>
            <a:ext cx="1933956" cy="89611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Platform chiptxt 33"/>
          <p:cNvSpPr txBox="1"/>
          <p:nvPr/>
        </p:nvSpPr>
        <p:spPr>
          <a:xfrm>
            <a:off x="4206240" y="3300984"/>
            <a:ext cx="1751076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Офлайн-форматы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Бонусы на digital in-store, Online + DMP и DMP; разработка инвентаря, внешние рекламодатели</a:t>
            </a:r>
            <a:endParaRPr lang="ru-RU" sz="1200" dirty="0"/>
          </a:p>
        </p:txBody>
      </p:sp>
      <p:sp>
        <p:nvSpPr>
          <p:cNvPr id="33" name="Platform chip 34"/>
          <p:cNvSpPr/>
          <p:nvPr/>
        </p:nvSpPr>
        <p:spPr>
          <a:xfrm>
            <a:off x="6140196" y="3255264"/>
            <a:ext cx="1933956" cy="89611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Platform chiptxt 35"/>
          <p:cNvSpPr txBox="1"/>
          <p:nvPr/>
        </p:nvSpPr>
        <p:spPr>
          <a:xfrm>
            <a:off x="6231636" y="3300984"/>
            <a:ext cx="1751076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Финализируем условия передачи монетизации витрины; идет MVP взаимодействия</a:t>
            </a:r>
            <a:endParaRPr lang="ru-RU" sz="1200" dirty="0"/>
          </a:p>
        </p:txBody>
      </p:sp>
      <p:sp>
        <p:nvSpPr>
          <p:cNvPr id="35" name="Platform chip 36"/>
          <p:cNvSpPr/>
          <p:nvPr/>
        </p:nvSpPr>
        <p:spPr>
          <a:xfrm>
            <a:off x="4114800" y="4242816"/>
            <a:ext cx="1933956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Platform chiptxt 37"/>
          <p:cNvSpPr txBox="1"/>
          <p:nvPr/>
        </p:nvSpPr>
        <p:spPr>
          <a:xfrm>
            <a:off x="4206240" y="4288536"/>
            <a:ext cx="1751076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UGC-factory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2026 г. - пилот: план </a:t>
            </a: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12,3 млн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 просмотров для 2 клиентов. 2027 г. - цель </a:t>
            </a: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500+ млн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 просмотров, рост до </a:t>
            </a: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150</a:t>
            </a: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 инфлюенсеров в штате</a:t>
            </a:r>
            <a:endParaRPr lang="ru-RU" sz="1200" dirty="0"/>
          </a:p>
        </p:txBody>
      </p:sp>
      <p:sp>
        <p:nvSpPr>
          <p:cNvPr id="37" name="Platform chip 38"/>
          <p:cNvSpPr/>
          <p:nvPr/>
        </p:nvSpPr>
        <p:spPr>
          <a:xfrm>
            <a:off x="6140196" y="4242816"/>
            <a:ext cx="1933956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Platform chiptxt 39"/>
          <p:cNvSpPr txBox="1"/>
          <p:nvPr/>
        </p:nvSpPr>
        <p:spPr>
          <a:xfrm>
            <a:off x="6231636" y="4288536"/>
            <a:ext cx="1751076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Внутренние заказчики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Квота 50% инвентаря приложения и digital in-store - под задачи команд Магнита</a:t>
            </a:r>
            <a:endParaRPr lang="ru-RU" sz="1200" dirty="0"/>
          </a:p>
        </p:txBody>
      </p:sp>
      <p:sp>
        <p:nvSpPr>
          <p:cNvPr id="39" name="Platform pink 40"/>
          <p:cNvSpPr/>
          <p:nvPr/>
        </p:nvSpPr>
        <p:spPr>
          <a:xfrm>
            <a:off x="4114800" y="5413248"/>
            <a:ext cx="3959352" cy="585216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Platform pinktxt 41"/>
          <p:cNvSpPr txBox="1"/>
          <p:nvPr/>
        </p:nvSpPr>
        <p:spPr>
          <a:xfrm>
            <a:off x="4206240" y="5458968"/>
            <a:ext cx="3776472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Q4 2027 - MVP бренд-бюджетов поставщиков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вне коммерческих условий, на весь доступный инвентарь, через ЮЛ Магнит Маркета</a:t>
            </a:r>
            <a:endParaRPr lang="ru-RU" sz="1200" dirty="0"/>
          </a:p>
        </p:txBody>
      </p:sp>
      <p:sp>
        <p:nvSpPr>
          <p:cNvPr id="41" name="Platform card 42"/>
          <p:cNvSpPr/>
          <p:nvPr/>
        </p:nvSpPr>
        <p:spPr>
          <a:xfrm>
            <a:off x="8439912" y="1024128"/>
            <a:ext cx="3383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Platform head 43"/>
          <p:cNvSpPr txBox="1"/>
          <p:nvPr/>
        </p:nvSpPr>
        <p:spPr>
          <a:xfrm>
            <a:off x="8622792" y="115214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3. РИМ на платформе</a:t>
            </a:r>
            <a:endParaRPr lang="ru-RU" sz="1200" dirty="0"/>
          </a:p>
        </p:txBody>
      </p:sp>
      <p:sp>
        <p:nvSpPr>
          <p:cNvPr id="43" name="Platform thesis 44"/>
          <p:cNvSpPr txBox="1"/>
          <p:nvPr/>
        </p:nvSpPr>
        <p:spPr>
          <a:xfrm>
            <a:off x="8622792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Переводим процессы РИМ в рекламную платформу</a:t>
            </a:r>
            <a:endParaRPr lang="ru-RU" sz="1200" dirty="0"/>
          </a:p>
        </p:txBody>
      </p:sp>
      <p:sp>
        <p:nvSpPr>
          <p:cNvPr id="44" name="Platform line 45"/>
          <p:cNvSpPr/>
          <p:nvPr/>
        </p:nvSpPr>
        <p:spPr>
          <a:xfrm>
            <a:off x="8622792" y="2011680"/>
            <a:ext cx="3017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5" name="Platform label 46"/>
          <p:cNvSpPr txBox="1"/>
          <p:nvPr/>
        </p:nvSpPr>
        <p:spPr>
          <a:xfrm>
            <a:off x="8622792" y="20848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Флоу: бренд → КМ → AdTech → магазин</a:t>
            </a:r>
            <a:endParaRPr lang="ru-RU" sz="1200" dirty="0"/>
          </a:p>
        </p:txBody>
      </p:sp>
      <p:sp>
        <p:nvSpPr>
          <p:cNvPr id="46" name="Platform chip 47"/>
          <p:cNvSpPr/>
          <p:nvPr/>
        </p:nvSpPr>
        <p:spPr>
          <a:xfrm>
            <a:off x="8622792" y="2267712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Platform chiptxt 48"/>
          <p:cNvSpPr txBox="1"/>
          <p:nvPr/>
        </p:nvSpPr>
        <p:spPr>
          <a:xfrm>
            <a:off x="8714232" y="2313432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Бронирование и расчет емкости</a:t>
            </a:r>
            <a:endParaRPr lang="ru-RU" sz="1200" dirty="0"/>
          </a:p>
        </p:txBody>
      </p:sp>
      <p:sp>
        <p:nvSpPr>
          <p:cNvPr id="48" name="Platform arrow 49"/>
          <p:cNvSpPr/>
          <p:nvPr/>
        </p:nvSpPr>
        <p:spPr>
          <a:xfrm rot="10800000">
            <a:off x="10058400" y="2750601"/>
            <a:ext cx="146304" cy="7298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9" name="Platform chip 50"/>
          <p:cNvSpPr/>
          <p:nvPr/>
        </p:nvSpPr>
        <p:spPr>
          <a:xfrm>
            <a:off x="8622792" y="2871216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0" name="Platform chiptxt 51"/>
          <p:cNvSpPr txBox="1"/>
          <p:nvPr/>
        </p:nvSpPr>
        <p:spPr>
          <a:xfrm>
            <a:off x="8714232" y="291693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Передача артефактов для размещения</a:t>
            </a:r>
            <a:endParaRPr lang="ru-RU" sz="1200" dirty="0"/>
          </a:p>
        </p:txBody>
      </p:sp>
      <p:sp>
        <p:nvSpPr>
          <p:cNvPr id="51" name="Platform arrow 52"/>
          <p:cNvSpPr/>
          <p:nvPr/>
        </p:nvSpPr>
        <p:spPr>
          <a:xfrm rot="10800000">
            <a:off x="10058400" y="3354105"/>
            <a:ext cx="146304" cy="7298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2" name="Platform chip 53"/>
          <p:cNvSpPr/>
          <p:nvPr/>
        </p:nvSpPr>
        <p:spPr>
          <a:xfrm>
            <a:off x="8622792" y="3474720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3" name="Platform chiptxt 54"/>
          <p:cNvSpPr txBox="1"/>
          <p:nvPr/>
        </p:nvSpPr>
        <p:spPr>
          <a:xfrm>
            <a:off x="8714232" y="3520439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Фиксация размещения</a:t>
            </a:r>
            <a:endParaRPr lang="ru-RU" sz="1200" dirty="0"/>
          </a:p>
        </p:txBody>
      </p:sp>
      <p:sp>
        <p:nvSpPr>
          <p:cNvPr id="54" name="Platform arrow 55"/>
          <p:cNvSpPr/>
          <p:nvPr/>
        </p:nvSpPr>
        <p:spPr>
          <a:xfrm rot="10800000">
            <a:off x="10058400" y="3957608"/>
            <a:ext cx="146304" cy="7298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5" name="Platform chip 56"/>
          <p:cNvSpPr/>
          <p:nvPr/>
        </p:nvSpPr>
        <p:spPr>
          <a:xfrm>
            <a:off x="8622792" y="4078224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6" name="Platform chiptxt 57"/>
          <p:cNvSpPr txBox="1"/>
          <p:nvPr/>
        </p:nvSpPr>
        <p:spPr>
          <a:xfrm>
            <a:off x="8714232" y="4123944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Подсчет результатов</a:t>
            </a:r>
            <a:endParaRPr lang="ru-RU" sz="1200" dirty="0"/>
          </a:p>
        </p:txBody>
      </p:sp>
      <p:sp>
        <p:nvSpPr>
          <p:cNvPr id="57" name="Platform arrow 58"/>
          <p:cNvSpPr/>
          <p:nvPr/>
        </p:nvSpPr>
        <p:spPr>
          <a:xfrm rot="10800000">
            <a:off x="10058400" y="4561113"/>
            <a:ext cx="146304" cy="7298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8" name="Platform chip 59"/>
          <p:cNvSpPr/>
          <p:nvPr/>
        </p:nvSpPr>
        <p:spPr>
          <a:xfrm>
            <a:off x="8622792" y="4681728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9" name="Platform chiptxt 60"/>
          <p:cNvSpPr txBox="1"/>
          <p:nvPr/>
        </p:nvSpPr>
        <p:spPr>
          <a:xfrm>
            <a:off x="8714232" y="472744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Закрывающие документы</a:t>
            </a:r>
            <a:endParaRPr lang="ru-RU" sz="1200" dirty="0"/>
          </a:p>
        </p:txBody>
      </p:sp>
      <p:sp>
        <p:nvSpPr>
          <p:cNvPr id="60" name="Platform pink 61"/>
          <p:cNvSpPr/>
          <p:nvPr/>
        </p:nvSpPr>
        <p:spPr>
          <a:xfrm>
            <a:off x="8622792" y="5358384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1" name="Platform pinktxt 62"/>
          <p:cNvSpPr txBox="1"/>
          <p:nvPr/>
        </p:nvSpPr>
        <p:spPr>
          <a:xfrm>
            <a:off x="8714232" y="5404104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Аукцион за место на полке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разрабатывается вместе с переводом РИМ</a:t>
            </a:r>
            <a:endParaRPr lang="ru-RU" sz="1200" dirty="0"/>
          </a:p>
        </p:txBody>
      </p:sp>
      <p:sp>
        <p:nvSpPr>
          <p:cNvPr id="64" name="Platform chip 15">
            <a:extLst>
              <a:ext uri="{FF2B5EF4-FFF2-40B4-BE49-F238E27FC236}">
                <a16:creationId xmlns:a16="http://schemas.microsoft.com/office/drawing/2014/main" id="{53F6839C-F744-4CEE-10D4-20776A554559}"/>
              </a:ext>
            </a:extLst>
          </p:cNvPr>
          <p:cNvSpPr/>
          <p:nvPr/>
        </p:nvSpPr>
        <p:spPr>
          <a:xfrm>
            <a:off x="548640" y="3840480"/>
            <a:ext cx="3017520" cy="473572"/>
          </a:xfrm>
          <a:prstGeom prst="roundRect">
            <a:avLst>
              <a:gd name="adj" fmla="val 13273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3" name="Platform chiptxt 12">
            <a:extLst>
              <a:ext uri="{FF2B5EF4-FFF2-40B4-BE49-F238E27FC236}">
                <a16:creationId xmlns:a16="http://schemas.microsoft.com/office/drawing/2014/main" id="{444413D6-382A-2915-3D44-3FA6FD1F341B}"/>
              </a:ext>
            </a:extLst>
          </p:cNvPr>
          <p:cNvSpPr txBox="1"/>
          <p:nvPr/>
        </p:nvSpPr>
        <p:spPr>
          <a:xfrm>
            <a:off x="936097" y="3887711"/>
            <a:ext cx="2242605" cy="385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Реклама НЕ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Рекламная выручка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253970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012008"/>
            <a:ext cx="56027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152008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492008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022008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147199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595959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801756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595959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801756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012008"/>
            <a:ext cx="56027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152008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492008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- развиваемся через внешнее ЮЛ Магнит Маркет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022008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147199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595959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801756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595959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801756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501756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551756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100" name="Role add 100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6100" y="3619500"/>
            <a:ext cx="52451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Role add 101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6100" y="3746500"/>
            <a:ext cx="52451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План 2027</a:t>
            </a:r>
            <a:endParaRPr lang="ru-RU" sz="1200" dirty="0"/>
          </a:p>
        </p:txBody>
      </p:sp>
      <p:sp>
        <p:nvSpPr>
          <p:cNvPr id="102" name="Role add 102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6100" y="4000500"/>
            <a:ext cx="52451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tx1"/>
                </a:solidFill>
                <a:latin typeface="Arial"/>
                <a:cs typeface="Arial"/>
              </a:rPr>
              <a:t>13 541 млн руб.</a:t>
            </a:r>
            <a:endParaRPr lang="ru-RU" sz="1200" dirty="0"/>
          </a:p>
        </p:txBody>
      </p:sp>
      <p:sp>
        <p:nvSpPr>
          <p:cNvPr id="103" name="Role add 103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6100" y="4533900"/>
            <a:ext cx="52451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плановая выручка 2027 г. — 92% Gross Revenue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endParaRPr lang="ru-RU" sz="1200" dirty="0"/>
          </a:p>
        </p:txBody>
      </p:sp>
      <p:sp>
        <p:nvSpPr>
          <p:cNvPr id="104" name="Role add 104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6100" y="4927600"/>
            <a:ext cx="52451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APP: 7 696 млн руб. (медиа и перформанс)</a:t>
            </a:r>
            <a:endParaRPr lang="ru-RU" sz="1200" dirty="0"/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In-store digital: 4 058 млн руб.</a:t>
            </a:r>
            <a:endParaRPr lang="ru-RU" sz="1200" dirty="0"/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DMP + Online и Analytics: 1 787 млн руб.</a:t>
            </a:r>
            <a:endParaRPr lang="ru-RU" sz="1200" dirty="0"/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Рост к FC 2026 дают аудитория, новый прайс и парк in-store</a:t>
            </a:r>
            <a:endParaRPr lang="ru-RU" sz="1200" dirty="0"/>
          </a:p>
        </p:txBody>
      </p:sp>
      <p:sp>
        <p:nvSpPr>
          <p:cNvPr id="105" name="Role add 105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0800" y="3619500"/>
            <a:ext cx="52451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Role add 106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0800" y="3746500"/>
            <a:ext cx="52451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План 2027</a:t>
            </a:r>
            <a:endParaRPr lang="ru-RU" sz="1200" dirty="0"/>
          </a:p>
        </p:txBody>
      </p:sp>
      <p:sp>
        <p:nvSpPr>
          <p:cNvPr id="107" name="Role add 107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0800" y="4000500"/>
            <a:ext cx="52451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tx1"/>
                </a:solidFill>
                <a:latin typeface="Arial"/>
                <a:cs typeface="Arial"/>
              </a:rPr>
              <a:t>1 206 млн руб.</a:t>
            </a:r>
            <a:endParaRPr lang="ru-RU" sz="1200" dirty="0"/>
          </a:p>
        </p:txBody>
      </p:sp>
      <p:sp>
        <p:nvSpPr>
          <p:cNvPr id="108" name="Role add 108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0800" y="4533900"/>
            <a:ext cx="52451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плановая выручка 2027 г. — 8% Gross Revenue</a:t>
            </a:r>
            <a:endParaRPr lang="ru-RU" sz="1200" dirty="0"/>
          </a:p>
        </p:txBody>
      </p:sp>
      <p:sp>
        <p:nvSpPr>
          <p:cNvPr id="109" name="Role add 109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0800" y="4927600"/>
            <a:ext cx="52451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RMN: 850 млн руб.</a:t>
            </a:r>
            <a:endParaRPr lang="ru-RU" sz="1200" dirty="0"/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UGC (Content factory): 356 млн руб.</a:t>
            </a:r>
            <a:endParaRPr lang="ru-RU" sz="1200" dirty="0"/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Clr>
                <a:srgbClr val="FF452C"/>
              </a:buClr>
              <a:buFont typeface="Arial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Arial"/>
                <a:cs typeface="Arial"/>
              </a:rPr>
              <a:t>Каналы: внешнее ЮЛ, прямые продажи и агентства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684463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1515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Азбука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13 541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4 058;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1 206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- 850; UGC - 356)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5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14,7 млрд руб. (+43%), EBITDA 11,0 млрд руб. (+35%)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8006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4 058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10 335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14 747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4 412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13 210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(2 009)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(717)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12 738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3 283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11 918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10 966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10 215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6 917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9 815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2 898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8 973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Ключевые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Аудитория: </a:t>
            </a:r>
            <a:r>
              <a:rPr lang="ru-RU" sz="1200" dirty="0">
                <a:solidFill>
                  <a:srgbClr val="000000"/>
                </a:solidFill>
              </a:rPr>
              <a:t>DAC 29,3 млн в месяц (+18%) по прогнозу М+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Прайс APP: </a:t>
            </a:r>
            <a:r>
              <a:rPr lang="ru-RU" sz="1200" dirty="0">
                <a:solidFill>
                  <a:srgbClr val="000000"/>
                </a:solidFill>
              </a:rPr>
              <a:t>новый прайс с 09.2026 действует весь 2027 г.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In-store: </a:t>
            </a:r>
            <a:r>
              <a:rPr lang="ru-RU" sz="1200" dirty="0">
                <a:solidFill>
                  <a:srgbClr val="000000"/>
                </a:solidFill>
              </a:rPr>
              <a:t>парк 81,4 тыс. устройств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маржинальность 37,5%, закупка трафика 1 000 млн руб. в строке COGS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COGS: </a:t>
            </a:r>
            <a:r>
              <a:rPr lang="ru-RU" sz="1200" dirty="0">
                <a:solidFill>
                  <a:srgbClr val="000000"/>
                </a:solidFill>
              </a:rPr>
              <a:t>2 009 млн руб. — маркетинг, связанный с выручкой: закупка трафика DMP 1 000, вознаграждения агентствам 795 (30% от 2,65 млрд руб. выручки через агентства), креаторы CF 214. Net Revenue — 86% Gross Revenue (91% в FC 2026)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и Content factory: </a:t>
            </a:r>
            <a:r>
              <a:rPr lang="ru-RU" sz="1200" dirty="0">
                <a:solidFill>
                  <a:srgbClr val="000000"/>
                </a:solidFill>
              </a:rPr>
              <a:t>расширение направлений, создание полноценной </a:t>
            </a:r>
            <a:r>
              <a:rPr lang="ru-RU" sz="1200" dirty="0" err="1">
                <a:solidFill>
                  <a:srgbClr val="000000"/>
                </a:solidFill>
              </a:rPr>
              <a:t>блогерской</a:t>
            </a:r>
            <a:r>
              <a:rPr lang="ru-RU" sz="1200" dirty="0">
                <a:solidFill>
                  <a:srgbClr val="000000"/>
                </a:solidFill>
              </a:rPr>
              <a:t> платформы 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PEX: </a:t>
            </a:r>
            <a:r>
              <a:rPr lang="ru-RU" sz="1200" dirty="0">
                <a:solidFill>
                  <a:srgbClr val="000000"/>
                </a:solidFill>
              </a:rPr>
              <a:t>1 436 млн руб. = ФОТ AdTech 1 370 + команда Content factory 66; 354 FTE на конец 2027 г. (312 на конец 2026 г.), в 2027 г. штат работает полный год (full year run-rate);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5362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2 065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3 097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3 392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6 194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+1 537 млн руб. (+12%), EBITDA +750 млн руб. (+7%)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13 210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14 747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+1 537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(3 781)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10 215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10 966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8 973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9 815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: снижение выручки относительно стратегии из-за корректировки утилизации ввиду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выше на 787: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+780)</a:t>
            </a:r>
          </a:p>
        </p:txBody>
      </p:sp>
    </p:spTree>
    <p:extLst>
      <p:ext uri="{BB962C8B-B14F-4D97-AF65-F5344CB8AC3E}">
        <p14:creationId xmlns:p14="http://schemas.microsoft.com/office/powerpoint/2010/main" val="358614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1,2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4 058 млн руб.  ·  +66%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1 206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CF: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Результат CF: </a:t>
            </a:r>
            <a:r>
              <a:rPr lang="ru-RU" sz="1400" b="1" dirty="0">
                <a:solidFill>
                  <a:srgbClr val="000000"/>
                </a:solidFill>
              </a:rPr>
              <a:t>113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Сохранение доли AdTech в показах приложения, переход от квот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</a:t>
            </a:r>
            <a:r>
              <a:rPr lang="ru-RU" sz="1200" dirty="0">
                <a:solidFill>
                  <a:srgbClr val="000000"/>
                </a:solidFill>
              </a:rPr>
              <a:t> 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</a:t>
            </a:r>
            <a:r>
              <a:rPr lang="ru-RU" sz="1200" dirty="0">
                <a:solidFill>
                  <a:srgbClr val="000000"/>
                </a:solidFill>
              </a:rPr>
              <a:t> 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</a:t>
            </a:r>
            <a:r>
              <a:rPr lang="ru-RU" sz="1200" dirty="0">
                <a:solidFill>
                  <a:srgbClr val="000000"/>
                </a:solidFill>
              </a:rPr>
              <a:t> при невыполнении плана по аудитории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4 412 млн руб.: 71%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(CPM и сторис) +865, перформанс +636; рост аудитории и полный год нового прайса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+1 612 (+66%): </a:t>
            </a:r>
            <a:r>
              <a:rPr lang="ru-RU" sz="1200" b="0" dirty="0">
                <a:solidFill>
                  <a:srgbClr val="000000"/>
                </a:solidFill>
              </a:rPr>
              <a:t>шелф-баннеры +932, КСО +492, фасадные экраны +159; реализация инвентаря 100% против 92,5%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+344: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креаторов; внешние рекламодатели +213, ВГО +131 (до 142 млн руб.)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70228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APP: рост аудитории на 18% и новый прайс дают +1 501 млн руб. (+24%)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считали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Показы 2027 = </a:t>
            </a:r>
            <a:r>
              <a:rPr lang="ru-RU" sz="1200" dirty="0">
                <a:solidFill>
                  <a:srgbClr val="000000"/>
                </a:solidFill>
              </a:rPr>
              <a:t>тотал показов 8 мес. 2026 × 1,57 (пересчёт в год) × 1,18 (рост DAC) × квота AdTech по плейсменту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CPM = </a:t>
            </a:r>
            <a:r>
              <a:rPr lang="ru-RU" sz="1200" dirty="0">
                <a:solidFill>
                  <a:srgbClr val="000000"/>
                </a:solidFill>
              </a:rPr>
              <a:t>показы × CPM нового прайса по каждому из 20 плейсментов / 1 000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Сторис = </a:t>
            </a:r>
            <a:r>
              <a:rPr lang="ru-RU" sz="1200" dirty="0">
                <a:solidFill>
                  <a:srgbClr val="000000"/>
                </a:solidFill>
              </a:rPr>
              <a:t>кампании × 0,91 дня размещения × цена за день × 12 мес.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Перформанс = </a:t>
            </a:r>
            <a:r>
              <a:rPr lang="ru-RU" sz="1200" dirty="0">
                <a:solidFill>
                  <a:srgbClr val="000000"/>
                </a:solidFill>
              </a:rPr>
              <a:t>кампании 2026 × 1,18 × средний чек; чек откалиброван на факт 2026 и проиндексирован на +26% по новому прайсу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По месяцам: </a:t>
            </a:r>
            <a:r>
              <a:rPr lang="ru-RU" sz="1200" dirty="0">
                <a:solidFill>
                  <a:srgbClr val="000000"/>
                </a:solidFill>
              </a:rPr>
              <a:t>доля месяца в DAC × сезонный коэффициент цены (1,0–1,7), в среднем +18% к выручке по прайсу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конец года.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+1 612 млн руб. (+66%): 58% прироста дают шелф-баннеры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4 809 → 2 885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1 913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2 024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81 419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4 058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считали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= </a:t>
            </a:r>
            <a:r>
              <a:rPr lang="ru-RU" sz="1200" dirty="0">
                <a:solidFill>
                  <a:srgbClr val="000000"/>
                </a:solidFill>
              </a:rPr>
              <a:t>устройства × доход на устройство в месяц × месяцы работы × реализация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Реализация: </a:t>
            </a:r>
            <a:r>
              <a:rPr lang="ru-RU" sz="1200" dirty="0">
                <a:solidFill>
                  <a:srgbClr val="000000"/>
                </a:solidFill>
              </a:rPr>
              <a:t>92,5% в 2026 г. → 100% в 2027 г.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Шелф-баннеры: </a:t>
            </a:r>
            <a:r>
              <a:rPr lang="ru-RU" sz="1200" dirty="0">
                <a:solidFill>
                  <a:srgbClr val="000000"/>
                </a:solidFill>
              </a:rPr>
              <a:t>+932 млн руб. — 6 тыс. устройств на конец года (ввод 3 250), выручка выросла в 5 раз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КСО: </a:t>
            </a:r>
            <a:r>
              <a:rPr lang="ru-RU" sz="1200" dirty="0">
                <a:solidFill>
                  <a:srgbClr val="000000"/>
                </a:solidFill>
              </a:rPr>
              <a:t>+492 млн руб. — 40,5 тыс. устройств, введённых в Q4 2026, работают весь год; доход на КСО снижен на 40%, до 2 885 руб. в месяц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Фасадные экраны: </a:t>
            </a:r>
            <a:r>
              <a:rPr lang="ru-RU" sz="1200" dirty="0">
                <a:solidFill>
                  <a:srgbClr val="000000"/>
                </a:solidFill>
              </a:rPr>
              <a:t>+159 млн руб. — ввод 428 экранов при доходе на экран −20%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TFT: </a:t>
            </a:r>
            <a:r>
              <a:rPr lang="ru-RU" sz="1200" dirty="0">
                <a:solidFill>
                  <a:srgbClr val="000000"/>
                </a:solidFill>
              </a:rPr>
              <a:t>−60 млн руб., доход на экран −20%; радио: +69 млн руб., доход на точку ×4</a:t>
            </a: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«RMN». ВГО — внутригрупповые обороты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2 993 млн руб. выручки (+77%)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356 млн руб.  ·  результат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356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+1 543 млн руб. (+69%): 73%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+3,9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214 млн руб. (ячейки CF 176)</a:t>
            </a:r>
            <a:r>
              <a:rPr lang="ru-RU" sz="1200" dirty="0">
                <a:solidFill>
                  <a:srgbClr val="000000"/>
                </a:solidFill>
              </a:rPr>
              <a:t> при выручке CF 356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09093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+2 870 млн руб. (+35%):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+4 412: APP +1 501, In-store +1 612</a:t>
            </a:r>
            <a:r>
              <a:rPr lang="ru-RU" sz="1200" dirty="0">
                <a:solidFill>
                  <a:srgbClr val="000000"/>
                </a:solidFill>
              </a:rPr>
              <a:t>, DMP, RMN и CF +1 299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−1 174: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(−199)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651424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socialcom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7072</Words>
  <Application>Microsoft Macintosh PowerPoint</Application>
  <PresentationFormat>Widescreen</PresentationFormat>
  <Paragraphs>1278</Paragraphs>
  <Slides>39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16</cp:revision>
  <dcterms:created xsi:type="dcterms:W3CDTF">2026-10-05T11:53:56Z</dcterms:created>
  <dcterms:modified xsi:type="dcterms:W3CDTF">2026-10-14T10:38:55Z</dcterms:modified>
  <cp:category/>
</cp:coreProperties>
</file>