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lsb" ContentType="application/vnd.ms-excel.sheet.binary.macroEnabled.12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heme/theme2.xml" ContentType="application/vnd.openxmlformats-officedocument.theme+xml"/>
  <Override PartName="/ppt/tags/tag4.xml" ContentType="application/vnd.openxmlformats-officedocument.presentationml.tags+xml"/>
  <Override PartName="/ppt/notesSlides/notesSlide1.xml" ContentType="application/vnd.openxmlformats-officedocument.presentationml.notesSlide+xml"/>
  <Override PartName="/ppt/tags/tag5.xml" ContentType="application/vnd.openxmlformats-officedocument.presentationml.tags+xml"/>
  <Override PartName="/ppt/notesSlides/notesSlide2.xml" ContentType="application/vnd.openxmlformats-officedocument.presentationml.notesSlide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notesSlides/notesSlide3.xml" ContentType="application/vnd.openxmlformats-officedocument.presentationml.notes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tags/tag60.xml" ContentType="application/vnd.openxmlformats-officedocument.presentationml.tags+xml"/>
  <Override PartName="/ppt/notesSlides/notesSlide4.xml" ContentType="application/vnd.openxmlformats-officedocument.presentationml.notesSlide+xml"/>
  <Override PartName="/ppt/charts/chart5.xml" ContentType="application/vnd.openxmlformats-officedocument.drawingml.chart+xml"/>
  <Override PartName="/ppt/notesSlides/notesSlide5.xml" ContentType="application/vnd.openxmlformats-officedocument.presentationml.notesSlide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tags/tag61.xml" ContentType="application/vnd.openxmlformats-officedocument.presentationml.tags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41"/>
  </p:notesMasterIdLst>
  <p:sldIdLst>
    <p:sldId id="345" r:id="rId2"/>
    <p:sldId id="476" r:id="rId3"/>
    <p:sldId id="464" r:id="rId4"/>
    <p:sldId id="441" r:id="rId5"/>
    <p:sldId id="473" r:id="rId6"/>
    <p:sldId id="488" r:id="rId7"/>
    <p:sldId id="460" r:id="rId8"/>
    <p:sldId id="437" r:id="rId9"/>
    <p:sldId id="474" r:id="rId10"/>
    <p:sldId id="471" r:id="rId11"/>
    <p:sldId id="495" r:id="rId12"/>
    <p:sldId id="496" r:id="rId13"/>
    <p:sldId id="478" r:id="rId14"/>
    <p:sldId id="479" r:id="rId15"/>
    <p:sldId id="365" r:id="rId16"/>
    <p:sldId id="480" r:id="rId17"/>
    <p:sldId id="412" r:id="rId18"/>
    <p:sldId id="469" r:id="rId19"/>
    <p:sldId id="415" r:id="rId20"/>
    <p:sldId id="433" r:id="rId21"/>
    <p:sldId id="366" r:id="rId22"/>
    <p:sldId id="487" r:id="rId23"/>
    <p:sldId id="404" r:id="rId24"/>
    <p:sldId id="483" r:id="rId25"/>
    <p:sldId id="432" r:id="rId26"/>
    <p:sldId id="475" r:id="rId27"/>
    <p:sldId id="489" r:id="rId28"/>
    <p:sldId id="481" r:id="rId29"/>
    <p:sldId id="484" r:id="rId30"/>
    <p:sldId id="405" r:id="rId31"/>
    <p:sldId id="468" r:id="rId32"/>
    <p:sldId id="430" r:id="rId33"/>
    <p:sldId id="411" r:id="rId34"/>
    <p:sldId id="408" r:id="rId35"/>
    <p:sldId id="427" r:id="rId36"/>
    <p:sldId id="421" r:id="rId37"/>
    <p:sldId id="422" r:id="rId38"/>
    <p:sldId id="424" r:id="rId39"/>
    <p:sldId id="425" r:id="rId40"/>
  </p:sldIdLst>
  <p:sldSz cx="12192000" cy="6858000"/>
  <p:notesSz cx="6858000" cy="9144000"/>
  <p:defaultTextStyle>
    <a:defPPr>
      <a:defRPr lang="en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94"/>
  </p:normalViewPr>
  <p:slideViewPr>
    <p:cSldViewPr snapToGrid="0">
      <p:cViewPr>
        <p:scale>
          <a:sx n="154" d="100"/>
          <a:sy n="154" d="100"/>
        </p:scale>
        <p:origin x="-208" y="-11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notesMaster" Target="notesMasters/notesMaster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Binary_Worksheet.xlsb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9.9827222115569207E-3"/>
          <c:y val="6.7039106145251395E-2"/>
          <c:w val="0.98003455557688612"/>
          <c:h val="0.86592178770949724"/>
        </c:manualLayout>
      </c:layout>
      <c:barChart>
        <c:barDir val="col"/>
        <c:grouping val="stacked"/>
        <c:varyColors val="0"/>
        <c:ser>
          <c:idx val="0"/>
          <c:order val="0"/>
          <c:spPr>
            <a:solidFill>
              <a:srgbClr val="DFE5EF"/>
            </a:solidFill>
            <a:ln>
              <a:noFill/>
            </a:ln>
          </c:spPr>
          <c:invertIfNegative val="0"/>
          <c:dLbls>
            <c:dLbl>
              <c:idx val="0"/>
              <c:layout>
                <c:manualLayout>
                  <c:x val="0"/>
                  <c:y val="-1.5961691939345571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0-53CA-8A46-ACF5-F745320F6151}"/>
                </c:ext>
              </c:extLst>
            </c:dLbl>
            <c:dLbl>
              <c:idx val="1"/>
              <c:layout>
                <c:manualLayout>
                  <c:x val="0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1-53CA-8A46-ACF5-F745320F6151}"/>
                </c:ext>
              </c:extLst>
            </c:dLbl>
            <c:dLbl>
              <c:idx val="2"/>
              <c:layout>
                <c:manualLayout>
                  <c:x val="0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2-53CA-8A46-ACF5-F745320F6151}"/>
                </c:ext>
              </c:extLst>
            </c:dLbl>
            <c:dLbl>
              <c:idx val="3"/>
              <c:layout>
                <c:manualLayout>
                  <c:x val="0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3-53CA-8A46-ACF5-F745320F6151}"/>
                </c:ext>
              </c:extLst>
            </c:dLbl>
            <c:dLbl>
              <c:idx val="4"/>
              <c:layout>
                <c:manualLayout>
                  <c:x val="0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4-53CA-8A46-ACF5-F745320F6151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val>
            <c:numRef>
              <c:f>Sheet1!$A$1:$I$1</c:f>
              <c:numCache>
                <c:formatCode>General</c:formatCode>
                <c:ptCount val="9"/>
                <c:pt idx="0">
                  <c:v>466</c:v>
                </c:pt>
                <c:pt idx="1">
                  <c:v>594.97</c:v>
                </c:pt>
                <c:pt idx="2">
                  <c:v>718.49</c:v>
                </c:pt>
                <c:pt idx="3">
                  <c:v>843.46</c:v>
                </c:pt>
                <c:pt idx="4">
                  <c:v>965.74</c:v>
                </c:pt>
                <c:pt idx="5">
                  <c:v>1090.33</c:v>
                </c:pt>
                <c:pt idx="6">
                  <c:v>1199.3630000000001</c:v>
                </c:pt>
                <c:pt idx="7">
                  <c:v>1319</c:v>
                </c:pt>
                <c:pt idx="8">
                  <c:v>1451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53CA-8A46-ACF5-F745320F6151}"/>
            </c:ext>
          </c:extLst>
        </c:ser>
        <c:ser>
          <c:idx val="1"/>
          <c:order val="1"/>
          <c:spPr>
            <a:solidFill>
              <a:schemeClr val="tx2"/>
            </a:solidFill>
            <a:ln>
              <a:noFill/>
            </a:ln>
          </c:spPr>
          <c:invertIfNegative val="0"/>
          <c:dLbls>
            <c:dLbl>
              <c:idx val="1"/>
              <c:layout>
                <c:manualLayout>
                  <c:x val="0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6-53CA-8A46-ACF5-F745320F6151}"/>
                </c:ext>
              </c:extLst>
            </c:dLbl>
            <c:dLbl>
              <c:idx val="2"/>
              <c:layout>
                <c:manualLayout>
                  <c:x val="0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7-53CA-8A46-ACF5-F745320F6151}"/>
                </c:ext>
              </c:extLst>
            </c:dLbl>
            <c:dLbl>
              <c:idx val="3"/>
              <c:layout>
                <c:manualLayout>
                  <c:x val="0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8-53CA-8A46-ACF5-F745320F6151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val>
            <c:numRef>
              <c:f>Sheet1!$A$2:$I$2</c:f>
              <c:numCache>
                <c:formatCode>General</c:formatCode>
                <c:ptCount val="9"/>
                <c:pt idx="0">
                  <c:v>185</c:v>
                </c:pt>
                <c:pt idx="1">
                  <c:v>388</c:v>
                </c:pt>
                <c:pt idx="2">
                  <c:v>582</c:v>
                </c:pt>
                <c:pt idx="3">
                  <c:v>890</c:v>
                </c:pt>
                <c:pt idx="4">
                  <c:v>1199.9999999999998</c:v>
                </c:pt>
                <c:pt idx="5">
                  <c:v>1565</c:v>
                </c:pt>
                <c:pt idx="6">
                  <c:v>1967.0000000000002</c:v>
                </c:pt>
                <c:pt idx="7">
                  <c:v>2389</c:v>
                </c:pt>
                <c:pt idx="8">
                  <c:v>2601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9-53CA-8A46-ACF5-F745320F6151}"/>
            </c:ext>
          </c:extLst>
        </c:ser>
        <c:ser>
          <c:idx val="2"/>
          <c:order val="2"/>
          <c:spPr>
            <a:solidFill>
              <a:schemeClr val="accent3"/>
            </a:solidFill>
            <a:ln>
              <a:noFill/>
            </a:ln>
          </c:spPr>
          <c:invertIfNegative val="0"/>
          <c:dLbls>
            <c:dLbl>
              <c:idx val="0"/>
              <c:layout>
                <c:manualLayout>
                  <c:x val="3.7051257439047802E-2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A-53CA-8A46-ACF5-F745320F6151}"/>
                </c:ext>
              </c:extLst>
            </c:dLbl>
            <c:dLbl>
              <c:idx val="1"/>
              <c:layout>
                <c:manualLayout>
                  <c:x val="3.7051257439047802E-2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B-53CA-8A46-ACF5-F745320F6151}"/>
                </c:ext>
              </c:extLst>
            </c:dLbl>
            <c:dLbl>
              <c:idx val="2"/>
              <c:layout>
                <c:manualLayout>
                  <c:x val="3.7051257439047802E-2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C-53CA-8A46-ACF5-F745320F6151}"/>
                </c:ext>
              </c:extLst>
            </c:dLbl>
            <c:dLbl>
              <c:idx val="3"/>
              <c:layout>
                <c:manualLayout>
                  <c:x val="3.7051257439047802E-2"/>
                  <c:y val="-1.5961691939345571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D-53CA-8A46-ACF5-F745320F6151}"/>
                </c:ext>
              </c:extLst>
            </c:dLbl>
            <c:dLbl>
              <c:idx val="8"/>
              <c:layout>
                <c:manualLayout>
                  <c:x val="0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E-53CA-8A46-ACF5-F745320F6151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val>
            <c:numRef>
              <c:f>Sheet1!$A$3:$I$3</c:f>
              <c:numCache>
                <c:formatCode>General</c:formatCode>
                <c:ptCount val="9"/>
                <c:pt idx="0">
                  <c:v>18</c:v>
                </c:pt>
                <c:pt idx="1">
                  <c:v>46</c:v>
                </c:pt>
                <c:pt idx="2">
                  <c:v>57</c:v>
                </c:pt>
                <c:pt idx="3">
                  <c:v>74</c:v>
                </c:pt>
                <c:pt idx="4">
                  <c:v>93</c:v>
                </c:pt>
                <c:pt idx="5">
                  <c:v>116</c:v>
                </c:pt>
                <c:pt idx="6">
                  <c:v>145</c:v>
                </c:pt>
                <c:pt idx="7">
                  <c:v>181</c:v>
                </c:pt>
                <c:pt idx="8">
                  <c:v>226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F-53CA-8A46-ACF5-F745320F6151}"/>
            </c:ext>
          </c:extLst>
        </c:ser>
        <c:ser>
          <c:idx val="3"/>
          <c:order val="3"/>
          <c:spPr>
            <a:solidFill>
              <a:srgbClr val="9DB1CF"/>
            </a:solidFill>
            <a:ln>
              <a:noFill/>
            </a:ln>
          </c:spPr>
          <c:invertIfNegative val="0"/>
          <c:dLbls>
            <c:dLbl>
              <c:idx val="0"/>
              <c:layout>
                <c:manualLayout>
                  <c:x val="0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10-53CA-8A46-ACF5-F745320F6151}"/>
                </c:ext>
              </c:extLst>
            </c:dLbl>
            <c:dLbl>
              <c:idx val="1"/>
              <c:layout>
                <c:manualLayout>
                  <c:x val="0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11-53CA-8A46-ACF5-F745320F6151}"/>
                </c:ext>
              </c:extLst>
            </c:dLbl>
            <c:dLbl>
              <c:idx val="2"/>
              <c:layout>
                <c:manualLayout>
                  <c:x val="0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12-53CA-8A46-ACF5-F745320F6151}"/>
                </c:ext>
              </c:extLst>
            </c:dLbl>
            <c:dLbl>
              <c:idx val="3"/>
              <c:layout>
                <c:manualLayout>
                  <c:x val="0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13-53CA-8A46-ACF5-F745320F6151}"/>
                </c:ext>
              </c:extLst>
            </c:dLbl>
            <c:dLbl>
              <c:idx val="4"/>
              <c:layout>
                <c:manualLayout>
                  <c:x val="0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14-53CA-8A46-ACF5-F745320F6151}"/>
                </c:ext>
              </c:extLst>
            </c:dLbl>
            <c:dLbl>
              <c:idx val="5"/>
              <c:layout>
                <c:manualLayout>
                  <c:x val="0"/>
                  <c:y val="-1.5961691939345571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15-53CA-8A46-ACF5-F745320F6151}"/>
                </c:ext>
              </c:extLst>
            </c:dLbl>
            <c:dLbl>
              <c:idx val="6"/>
              <c:layout>
                <c:manualLayout>
                  <c:x val="0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16-53CA-8A46-ACF5-F745320F6151}"/>
                </c:ext>
              </c:extLst>
            </c:dLbl>
            <c:dLbl>
              <c:idx val="7"/>
              <c:layout>
                <c:manualLayout>
                  <c:x val="0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17-53CA-8A46-ACF5-F745320F6151}"/>
                </c:ext>
              </c:extLst>
            </c:dLbl>
            <c:dLbl>
              <c:idx val="8"/>
              <c:layout>
                <c:manualLayout>
                  <c:x val="0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18-53CA-8A46-ACF5-F745320F6151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val>
            <c:numRef>
              <c:f>Sheet1!$A$4:$I$4</c:f>
              <c:numCache>
                <c:formatCode>General</c:formatCode>
                <c:ptCount val="9"/>
                <c:pt idx="0">
                  <c:v>219</c:v>
                </c:pt>
                <c:pt idx="1">
                  <c:v>263</c:v>
                </c:pt>
                <c:pt idx="2">
                  <c:v>302</c:v>
                </c:pt>
                <c:pt idx="3">
                  <c:v>340</c:v>
                </c:pt>
                <c:pt idx="4">
                  <c:v>374</c:v>
                </c:pt>
                <c:pt idx="5">
                  <c:v>411</c:v>
                </c:pt>
                <c:pt idx="6">
                  <c:v>452</c:v>
                </c:pt>
                <c:pt idx="7">
                  <c:v>498</c:v>
                </c:pt>
                <c:pt idx="8">
                  <c:v>547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9-53CA-8A46-ACF5-F745320F6151}"/>
            </c:ext>
          </c:extLst>
        </c:ser>
        <c:ser>
          <c:idx val="4"/>
          <c:order val="4"/>
          <c:spPr>
            <a:solidFill>
              <a:srgbClr val="4C6C9C"/>
            </a:solidFill>
            <a:ln>
              <a:noFill/>
            </a:ln>
          </c:spPr>
          <c:invertIfNegative val="0"/>
          <c:dLbls>
            <c:dLbl>
              <c:idx val="0"/>
              <c:layout>
                <c:manualLayout>
                  <c:x val="4.2042618544826264E-2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1A-53CA-8A46-ACF5-F745320F6151}"/>
                </c:ext>
              </c:extLst>
            </c:dLbl>
            <c:dLbl>
              <c:idx val="1"/>
              <c:layout>
                <c:manualLayout>
                  <c:x val="4.2042618544826264E-2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1B-53CA-8A46-ACF5-F745320F6151}"/>
                </c:ext>
              </c:extLst>
            </c:dLbl>
            <c:dLbl>
              <c:idx val="3"/>
              <c:layout>
                <c:manualLayout>
                  <c:x val="0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1C-53CA-8A46-ACF5-F745320F6151}"/>
                </c:ext>
              </c:extLst>
            </c:dLbl>
            <c:dLbl>
              <c:idx val="4"/>
              <c:layout>
                <c:manualLayout>
                  <c:x val="0"/>
                  <c:y val="-1.5961691939345571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1D-53CA-8A46-ACF5-F745320F6151}"/>
                </c:ext>
              </c:extLst>
            </c:dLbl>
            <c:dLbl>
              <c:idx val="5"/>
              <c:layout>
                <c:manualLayout>
                  <c:x val="0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1E-53CA-8A46-ACF5-F745320F6151}"/>
                </c:ext>
              </c:extLst>
            </c:dLbl>
            <c:dLbl>
              <c:idx val="6"/>
              <c:layout>
                <c:manualLayout>
                  <c:x val="0"/>
                  <c:y val="-1.5961691939345571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1F-53CA-8A46-ACF5-F745320F6151}"/>
                </c:ext>
              </c:extLst>
            </c:dLbl>
            <c:dLbl>
              <c:idx val="7"/>
              <c:layout>
                <c:manualLayout>
                  <c:x val="0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20-53CA-8A46-ACF5-F745320F6151}"/>
                </c:ext>
              </c:extLst>
            </c:dLbl>
            <c:dLbl>
              <c:idx val="8"/>
              <c:layout>
                <c:manualLayout>
                  <c:x val="0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21-53CA-8A46-ACF5-F745320F6151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val>
            <c:numRef>
              <c:f>Sheet1!$A$5:$I$5</c:f>
              <c:numCache>
                <c:formatCode>General</c:formatCode>
                <c:ptCount val="9"/>
                <c:pt idx="0">
                  <c:v>103.39999999999998</c:v>
                </c:pt>
                <c:pt idx="1">
                  <c:v>139.79999999999995</c:v>
                </c:pt>
                <c:pt idx="2">
                  <c:v>173.5</c:v>
                </c:pt>
                <c:pt idx="3">
                  <c:v>198.19999999999982</c:v>
                </c:pt>
                <c:pt idx="4">
                  <c:v>224</c:v>
                </c:pt>
                <c:pt idx="5">
                  <c:v>245.69999999999982</c:v>
                </c:pt>
                <c:pt idx="6">
                  <c:v>266.5</c:v>
                </c:pt>
                <c:pt idx="7">
                  <c:v>290</c:v>
                </c:pt>
                <c:pt idx="8">
                  <c:v>317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22-53CA-8A46-ACF5-F745320F615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1948984816"/>
        <c:axId val="1"/>
      </c:barChart>
      <c:catAx>
        <c:axId val="1948984816"/>
        <c:scaling>
          <c:orientation val="minMax"/>
        </c:scaling>
        <c:delete val="0"/>
        <c:axPos val="b"/>
        <c:majorGridlines>
          <c:spPr>
            <a:ln>
              <a:noFill/>
            </a:ln>
          </c:spPr>
        </c:majorGridlines>
        <c:majorTickMark val="none"/>
        <c:minorTickMark val="none"/>
        <c:tickLblPos val="none"/>
        <c:spPr>
          <a:ln w="9525" cmpd="sng" algn="ctr">
            <a:solidFill>
              <a:schemeClr val="tx1"/>
            </a:solidFill>
            <a:prstDash val="solid"/>
          </a:ln>
        </c:spPr>
        <c:crossAx val="1"/>
        <c:crosses val="min"/>
        <c:auto val="0"/>
        <c:lblAlgn val="ctr"/>
        <c:lblOffset val="100"/>
        <c:noMultiLvlLbl val="0"/>
      </c:catAx>
      <c:valAx>
        <c:axId val="1"/>
        <c:scaling>
          <c:orientation val="minMax"/>
          <c:max val="5142"/>
          <c:min val="0"/>
        </c:scaling>
        <c:delete val="0"/>
        <c:axPos val="l"/>
        <c:majorGridlines>
          <c:spPr>
            <a:ln>
              <a:noFill/>
            </a:ln>
          </c:spPr>
        </c:majorGridlines>
        <c:numFmt formatCode="General" sourceLinked="1"/>
        <c:majorTickMark val="none"/>
        <c:minorTickMark val="none"/>
        <c:tickLblPos val="none"/>
        <c:spPr>
          <a:ln>
            <a:noFill/>
          </a:ln>
        </c:spPr>
        <c:crossAx val="1948984816"/>
        <c:crosses val="min"/>
        <c:crossBetween val="between"/>
      </c:valAx>
    </c:plotArea>
    <c:plotVisOnly val="0"/>
    <c:dispBlanksAs val="gap"/>
    <c:showDLblsOverMax val="1"/>
  </c:chart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GB"/>
  <c:roundedCorners val="1"/>
  <c:style val="2"/>
  <c:chart>
    <c:autoTitleDeleted val="1"/>
    <c:plotArea>
      <c:layout>
        <c:manualLayout>
          <c:layoutTarget val="inner"/>
          <c:xMode val="edge"/>
          <c:yMode val="edge"/>
          <c:x val="0.02"/>
          <c:y val="0.18"/>
          <c:w val="0.96"/>
          <c:h val="0.7"/>
        </c:manualLayout>
      </c:layout>
      <c:barChart>
        <c:barDir val="col"/>
        <c:grouping val="clustered"/>
        <c:varyColors val="0"/>
        <c:ser>
          <c:idx val="0"/>
          <c:order val="0"/>
          <c:tx>
            <c:v>Values</c:v>
          </c:tx>
          <c:spPr>
            <a:solidFill>
              <a:srgbClr val="BFBFBF"/>
            </a:solidFill>
            <a:ln>
              <a:noFill/>
            </a:ln>
          </c:spPr>
          <c:invertIfNegative val="1"/>
          <c:dPt>
            <c:idx val="1"/>
            <c:invertIfNegative val="1"/>
            <c:bubble3D val="0"/>
            <c:spPr>
              <a:pattFill prst="ltUpDiag">
                <a:fgClr>
                  <a:srgbClr val="BFBFBF"/>
                </a:fgClr>
                <a:bgClr>
                  <a:srgbClr val="FFFFFF"/>
                </a:bgClr>
              </a:patt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1-0FB8-ED43-81D5-18174E4D4C0E}"/>
              </c:ext>
            </c:extLst>
          </c:dPt>
          <c:dPt>
            <c:idx val="2"/>
            <c:invertIfNegative val="1"/>
            <c:bubble3D val="0"/>
            <c:spPr>
              <a:solidFill>
                <a:srgbClr val="FF452C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3-0FB8-ED43-81D5-18174E4D4C0E}"/>
              </c:ext>
            </c:extLst>
          </c:dPt>
          <c:dLbls>
            <c:numFmt formatCode="[&gt;=1000]#&quot; &quot;##0;0" sourceLinked="0"/>
            <c:spPr>
              <a:noFill/>
              <a:ln>
                <a:noFill/>
              </a:ln>
              <a:effectLst/>
            </c:spPr>
            <c:txPr>
              <a:bodyPr wrap="none"/>
              <a:lstStyle/>
              <a:p>
                <a:pPr>
                  <a:defRPr sz="1400" b="1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ect">
                    <a:avLst/>
                  </a:prstGeom>
                </c15:spPr>
                <c15:showLeaderLines val="0"/>
              </c:ext>
            </c:extLst>
          </c:dLbls>
          <c:cat>
            <c:strLit>
              <c:ptCount val="3"/>
              <c:pt idx="0">
                <c:v>2025</c:v>
              </c:pt>
              <c:pt idx="1">
                <c:v>2026E</c:v>
              </c:pt>
              <c:pt idx="2">
                <c:v>2027E</c:v>
              </c:pt>
            </c:strLit>
          </c:cat>
          <c:val>
            <c:numLit>
              <c:formatCode>General</c:formatCode>
              <c:ptCount val="3"/>
              <c:pt idx="0">
                <c:v>582</c:v>
              </c:pt>
              <c:pt idx="1">
                <c:v>890</c:v>
              </c:pt>
              <c:pt idx="2">
                <c:v>1200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0FB8-ED43-81D5-18174E4D4C0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axId val="1"/>
        <c:axId val="2"/>
      </c:barChart>
      <c:catAx>
        <c:axId val="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BFBFBF"/>
            </a:solidFill>
          </a:ln>
        </c:spPr>
        <c:txPr>
          <a:bodyPr rot="0" vert="horz"/>
          <a:lstStyle/>
          <a:p>
            <a:pPr>
              <a:defRPr sz="1400" b="0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"/>
        <c:crosses val="autoZero"/>
        <c:auto val="1"/>
        <c:lblAlgn val="ctr"/>
        <c:lblOffset val="100"/>
        <c:noMultiLvlLbl val="1"/>
      </c:catAx>
      <c:valAx>
        <c:axId val="2"/>
        <c:scaling>
          <c:orientation val="minMax"/>
          <c:max val="1500"/>
          <c:min val="0"/>
        </c:scaling>
        <c:delete val="1"/>
        <c:axPos val="l"/>
        <c:numFmt formatCode="General" sourceLinked="1"/>
        <c:majorTickMark val="none"/>
        <c:minorTickMark val="none"/>
        <c:tickLblPos val="none"/>
        <c:crossAx val="1"/>
        <c:crosses val="autoZero"/>
        <c:crossBetween val="between"/>
      </c:valAx>
      <c:spPr>
        <a:noFill/>
        <a:ln>
          <a:noFill/>
        </a:ln>
      </c:spPr>
    </c:plotArea>
    <c:plotVisOnly val="1"/>
    <c:dispBlanksAs val="gap"/>
    <c:showDLblsOverMax val="1"/>
  </c:chart>
  <c:spPr>
    <a:noFill/>
    <a:ln>
      <a:noFill/>
    </a:ln>
  </c:spPr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GB"/>
  <c:roundedCorners val="1"/>
  <c:style val="2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v>APP</c:v>
          </c:tx>
          <c:spPr>
            <a:solidFill>
              <a:srgbClr val="FF452C"/>
            </a:solidFill>
            <a:ln>
              <a:noFill/>
            </a:ln>
          </c:spPr>
          <c:invertIfNegative val="1"/>
          <c:cat>
            <c:strLit>
              <c:ptCount val="12"/>
              <c:pt idx="0">
                <c:v>янв</c:v>
              </c:pt>
              <c:pt idx="1">
                <c:v>фев</c:v>
              </c:pt>
              <c:pt idx="2">
                <c:v>мар</c:v>
              </c:pt>
              <c:pt idx="3">
                <c:v>апр</c:v>
              </c:pt>
              <c:pt idx="4">
                <c:v>май</c:v>
              </c:pt>
              <c:pt idx="5">
                <c:v>июн</c:v>
              </c:pt>
              <c:pt idx="6">
                <c:v>июл</c:v>
              </c:pt>
              <c:pt idx="7">
                <c:v>авг</c:v>
              </c:pt>
              <c:pt idx="8">
                <c:v>сен</c:v>
              </c:pt>
              <c:pt idx="9">
                <c:v>окт</c:v>
              </c:pt>
              <c:pt idx="10">
                <c:v>ноя</c:v>
              </c:pt>
              <c:pt idx="11">
                <c:v>дек</c:v>
              </c:pt>
            </c:strLit>
          </c:cat>
          <c:val>
            <c:numLit>
              <c:formatCode>General</c:formatCode>
              <c:ptCount val="12"/>
              <c:pt idx="0">
                <c:v>153.9</c:v>
              </c:pt>
              <c:pt idx="1">
                <c:v>384.8</c:v>
              </c:pt>
              <c:pt idx="2">
                <c:v>538.70000000000005</c:v>
              </c:pt>
              <c:pt idx="3">
                <c:v>538.70000000000005</c:v>
              </c:pt>
              <c:pt idx="4">
                <c:v>538.70000000000005</c:v>
              </c:pt>
              <c:pt idx="5">
                <c:v>538.70000000000005</c:v>
              </c:pt>
              <c:pt idx="6">
                <c:v>538.70000000000005</c:v>
              </c:pt>
              <c:pt idx="7">
                <c:v>615.70000000000005</c:v>
              </c:pt>
              <c:pt idx="8">
                <c:v>615.70000000000005</c:v>
              </c:pt>
              <c:pt idx="9">
                <c:v>846.6</c:v>
              </c:pt>
              <c:pt idx="10">
                <c:v>1077.5</c:v>
              </c:pt>
              <c:pt idx="11">
                <c:v>1308.4000000000001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B2E3-434A-A5FC-A576C250FEB4}"/>
            </c:ext>
          </c:extLst>
        </c:ser>
        <c:ser>
          <c:idx val="1"/>
          <c:order val="1"/>
          <c:tx>
            <c:v>In-store</c:v>
          </c:tx>
          <c:spPr>
            <a:solidFill>
              <a:srgbClr val="A6A6A6"/>
            </a:solidFill>
            <a:ln>
              <a:noFill/>
            </a:ln>
          </c:spPr>
          <c:invertIfNegative val="1"/>
          <c:cat>
            <c:strLit>
              <c:ptCount val="12"/>
              <c:pt idx="0">
                <c:v>янв</c:v>
              </c:pt>
              <c:pt idx="1">
                <c:v>фев</c:v>
              </c:pt>
              <c:pt idx="2">
                <c:v>мар</c:v>
              </c:pt>
              <c:pt idx="3">
                <c:v>апр</c:v>
              </c:pt>
              <c:pt idx="4">
                <c:v>май</c:v>
              </c:pt>
              <c:pt idx="5">
                <c:v>июн</c:v>
              </c:pt>
              <c:pt idx="6">
                <c:v>июл</c:v>
              </c:pt>
              <c:pt idx="7">
                <c:v>авг</c:v>
              </c:pt>
              <c:pt idx="8">
                <c:v>сен</c:v>
              </c:pt>
              <c:pt idx="9">
                <c:v>окт</c:v>
              </c:pt>
              <c:pt idx="10">
                <c:v>ноя</c:v>
              </c:pt>
              <c:pt idx="11">
                <c:v>дек</c:v>
              </c:pt>
            </c:strLit>
          </c:cat>
          <c:val>
            <c:numLit>
              <c:formatCode>General</c:formatCode>
              <c:ptCount val="12"/>
              <c:pt idx="0">
                <c:v>81.2</c:v>
              </c:pt>
              <c:pt idx="1">
                <c:v>202.9</c:v>
              </c:pt>
              <c:pt idx="2">
                <c:v>284.10000000000002</c:v>
              </c:pt>
              <c:pt idx="3">
                <c:v>284.10000000000002</c:v>
              </c:pt>
              <c:pt idx="4">
                <c:v>284.10000000000002</c:v>
              </c:pt>
              <c:pt idx="5">
                <c:v>284.10000000000002</c:v>
              </c:pt>
              <c:pt idx="6">
                <c:v>284.10000000000002</c:v>
              </c:pt>
              <c:pt idx="7">
                <c:v>324.60000000000002</c:v>
              </c:pt>
              <c:pt idx="8">
                <c:v>324.60000000000002</c:v>
              </c:pt>
              <c:pt idx="9">
                <c:v>446.4</c:v>
              </c:pt>
              <c:pt idx="10">
                <c:v>568.20000000000005</c:v>
              </c:pt>
              <c:pt idx="11">
                <c:v>689.9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B2E3-434A-A5FC-A576C250FEB4}"/>
            </c:ext>
          </c:extLst>
        </c:ser>
        <c:ser>
          <c:idx val="2"/>
          <c:order val="2"/>
          <c:tx>
            <c:v>DMP, RMN, CF</c:v>
          </c:tx>
          <c:spPr>
            <a:solidFill>
              <a:srgbClr val="BFBFBF"/>
            </a:solidFill>
            <a:ln>
              <a:noFill/>
            </a:ln>
          </c:spPr>
          <c:invertIfNegative val="1"/>
          <c:cat>
            <c:strLit>
              <c:ptCount val="12"/>
              <c:pt idx="0">
                <c:v>янв</c:v>
              </c:pt>
              <c:pt idx="1">
                <c:v>фев</c:v>
              </c:pt>
              <c:pt idx="2">
                <c:v>мар</c:v>
              </c:pt>
              <c:pt idx="3">
                <c:v>апр</c:v>
              </c:pt>
              <c:pt idx="4">
                <c:v>май</c:v>
              </c:pt>
              <c:pt idx="5">
                <c:v>июн</c:v>
              </c:pt>
              <c:pt idx="6">
                <c:v>июл</c:v>
              </c:pt>
              <c:pt idx="7">
                <c:v>авг</c:v>
              </c:pt>
              <c:pt idx="8">
                <c:v>сен</c:v>
              </c:pt>
              <c:pt idx="9">
                <c:v>окт</c:v>
              </c:pt>
              <c:pt idx="10">
                <c:v>ноя</c:v>
              </c:pt>
              <c:pt idx="11">
                <c:v>дек</c:v>
              </c:pt>
            </c:strLit>
          </c:cat>
          <c:val>
            <c:numLit>
              <c:formatCode>General</c:formatCode>
              <c:ptCount val="12"/>
              <c:pt idx="0">
                <c:v>59.9</c:v>
              </c:pt>
              <c:pt idx="1">
                <c:v>149.6</c:v>
              </c:pt>
              <c:pt idx="2">
                <c:v>209.5</c:v>
              </c:pt>
              <c:pt idx="3">
                <c:v>209.5</c:v>
              </c:pt>
              <c:pt idx="4">
                <c:v>209.5</c:v>
              </c:pt>
              <c:pt idx="5">
                <c:v>209.5</c:v>
              </c:pt>
              <c:pt idx="6">
                <c:v>209.5</c:v>
              </c:pt>
              <c:pt idx="7">
                <c:v>239.4</c:v>
              </c:pt>
              <c:pt idx="8">
                <c:v>239.4</c:v>
              </c:pt>
              <c:pt idx="9">
                <c:v>329.2</c:v>
              </c:pt>
              <c:pt idx="10">
                <c:v>419</c:v>
              </c:pt>
              <c:pt idx="11">
                <c:v>508.8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B2E3-434A-A5FC-A576C250FEB4}"/>
            </c:ext>
          </c:extLst>
        </c:ser>
        <c:ser>
          <c:idx val="3"/>
          <c:order val="3"/>
          <c:tx>
            <c:v>Totals</c:v>
          </c:tx>
          <c:spPr>
            <a:noFill/>
            <a:ln>
              <a:noFill/>
            </a:ln>
          </c:spPr>
          <c:invertIfNegative val="1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wrap="none"/>
              <a:lstStyle/>
              <a:p>
                <a:pPr>
                  <a:defRPr sz="1400" b="1">
                    <a:solidFill>
                      <a:srgbClr val="595959"/>
                    </a:solidFill>
                    <a:latin typeface="Arial"/>
                  </a:defRPr>
                </a:pPr>
                <a:endParaRPr lang="en-US"/>
              </a:p>
            </c:txPr>
            <c:dLblPos val="inBase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ect">
                    <a:avLst/>
                  </a:prstGeom>
                </c15:spPr>
                <c15:showLeaderLines val="0"/>
              </c:ext>
            </c:extLst>
          </c:dLbls>
          <c:cat>
            <c:strLit>
              <c:ptCount val="12"/>
              <c:pt idx="0">
                <c:v>янв</c:v>
              </c:pt>
              <c:pt idx="1">
                <c:v>фев</c:v>
              </c:pt>
              <c:pt idx="2">
                <c:v>мар</c:v>
              </c:pt>
              <c:pt idx="3">
                <c:v>апр</c:v>
              </c:pt>
              <c:pt idx="4">
                <c:v>май</c:v>
              </c:pt>
              <c:pt idx="5">
                <c:v>июн</c:v>
              </c:pt>
              <c:pt idx="6">
                <c:v>июл</c:v>
              </c:pt>
              <c:pt idx="7">
                <c:v>авг</c:v>
              </c:pt>
              <c:pt idx="8">
                <c:v>сен</c:v>
              </c:pt>
              <c:pt idx="9">
                <c:v>окт</c:v>
              </c:pt>
              <c:pt idx="10">
                <c:v>ноя</c:v>
              </c:pt>
              <c:pt idx="11">
                <c:v>дек</c:v>
              </c:pt>
            </c:strLit>
          </c:cat>
          <c:val>
            <c:numLit>
              <c:formatCode>General</c:formatCode>
              <c:ptCount val="12"/>
              <c:pt idx="0">
                <c:v>294.89999999999998</c:v>
              </c:pt>
              <c:pt idx="1">
                <c:v>737.4</c:v>
              </c:pt>
              <c:pt idx="2">
                <c:v>1032.3</c:v>
              </c:pt>
              <c:pt idx="3">
                <c:v>1032.3</c:v>
              </c:pt>
              <c:pt idx="4">
                <c:v>1032.3</c:v>
              </c:pt>
              <c:pt idx="5">
                <c:v>1032.3</c:v>
              </c:pt>
              <c:pt idx="6">
                <c:v>1032.3</c:v>
              </c:pt>
              <c:pt idx="7">
                <c:v>1179.8</c:v>
              </c:pt>
              <c:pt idx="8">
                <c:v>1179.8</c:v>
              </c:pt>
              <c:pt idx="9">
                <c:v>1622.2</c:v>
              </c:pt>
              <c:pt idx="10">
                <c:v>2064.6</c:v>
              </c:pt>
              <c:pt idx="11">
                <c:v>2507</c:v>
              </c:pt>
            </c:numLit>
          </c:val>
          <c:extLst>
            <c:ext xmlns:c16="http://schemas.microsoft.com/office/drawing/2014/chart" uri="{C3380CC4-5D6E-409C-BE32-E72D297353CC}">
              <c16:uniqueId val="{00000003-B2E3-434A-A5FC-A576C250FEB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overlap val="100"/>
        <c:axId val="1"/>
        <c:axId val="2"/>
      </c:barChart>
      <c:catAx>
        <c:axId val="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BFBFBF"/>
            </a:solidFill>
          </a:ln>
        </c:spPr>
        <c:txPr>
          <a:bodyPr rot="0" vert="horz"/>
          <a:lstStyle/>
          <a:p>
            <a:pPr>
              <a:defRPr sz="1400" b="0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"/>
        <c:crosses val="autoZero"/>
        <c:auto val="1"/>
        <c:lblAlgn val="ctr"/>
        <c:lblOffset val="100"/>
        <c:noMultiLvlLbl val="1"/>
      </c:catAx>
      <c:valAx>
        <c:axId val="2"/>
        <c:scaling>
          <c:orientation val="minMax"/>
          <c:max val="3120"/>
          <c:min val="0"/>
        </c:scaling>
        <c:delete val="1"/>
        <c:axPos val="l"/>
        <c:numFmt formatCode="General" sourceLinked="1"/>
        <c:majorTickMark val="none"/>
        <c:minorTickMark val="none"/>
        <c:tickLblPos val="none"/>
        <c:crossAx val="1"/>
        <c:crosses val="autoZero"/>
        <c:crossBetween val="between"/>
      </c:valAx>
      <c:spPr>
        <a:noFill/>
        <a:ln>
          <a:noFill/>
        </a:ln>
      </c:spPr>
    </c:plotArea>
    <c:legend>
      <c:legendPos val="t"/>
      <c:legendEntry>
        <c:idx val="3"/>
        <c:delete val="1"/>
      </c:legendEntry>
      <c:overlay val="0"/>
      <c:txPr>
        <a:bodyPr rot="0" vert="horz"/>
        <a:lstStyle/>
        <a:p>
          <a:pPr>
            <a:defRPr sz="1200" b="0">
              <a:solidFill>
                <a:srgbClr val="595959"/>
              </a:solidFill>
              <a:latin typeface="Arial"/>
            </a:defRPr>
          </a:pPr>
          <a:endParaRPr lang="en-US"/>
        </a:p>
      </c:txPr>
    </c:legend>
    <c:plotVisOnly val="1"/>
    <c:dispBlanksAs val="gap"/>
    <c:showDLblsOverMax val="1"/>
  </c:chart>
  <c:spPr>
    <a:noFill/>
    <a:ln>
      <a:noFill/>
    </a:ln>
  </c:spPr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GB"/>
  <c:roundedCorners val="1"/>
  <c:style val="2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v>Base</c:v>
          </c:tx>
          <c:spPr>
            <a:noFill/>
            <a:ln>
              <a:noFill/>
            </a:ln>
          </c:spPr>
          <c:invertIfNegative val="1"/>
          <c:cat>
            <c:strLit>
              <c:ptCount val="9"/>
              <c:pt idx="0">
                <c:v>Стратегия</c:v>
              </c:pt>
              <c:pt idx="1">
                <c:v>RMN</c:v>
              </c:pt>
              <c:pt idx="2">
                <c:v>DMP Online</c:v>
              </c:pt>
              <c:pt idx="3">
                <c:v>APP</c:v>
              </c:pt>
              <c:pt idx="4">
                <c:v>CF внешн.</c:v>
              </c:pt>
              <c:pt idx="5">
                <c:v>DMP Analyt.</c:v>
              </c:pt>
              <c:pt idx="6">
                <c:v>CF ВГО</c:v>
              </c:pt>
              <c:pt idx="7">
                <c:v>In-store</c:v>
              </c:pt>
              <c:pt idx="8">
                <c:v>BU 2027</c:v>
              </c:pt>
            </c:strLit>
          </c:cat>
          <c:val>
            <c:numLit>
              <c:formatCode>General</c:formatCode>
              <c:ptCount val="9"/>
              <c:pt idx="0">
                <c:v>0</c:v>
              </c:pt>
              <c:pt idx="1">
                <c:v>13210.1</c:v>
              </c:pt>
              <c:pt idx="2">
                <c:v>14060.310000000001</c:v>
              </c:pt>
              <c:pt idx="3">
                <c:v>14596.87</c:v>
              </c:pt>
              <c:pt idx="4">
                <c:v>15042.300000000001</c:v>
              </c:pt>
              <c:pt idx="5">
                <c:v>15255.6</c:v>
              </c:pt>
              <c:pt idx="6">
                <c:v>15198.12</c:v>
              </c:pt>
              <c:pt idx="7">
                <c:v>14747.11</c:v>
              </c:pt>
              <c:pt idx="8">
                <c:v>0</c:v>
              </c:pt>
            </c:numLit>
          </c:val>
          <c:extLst>
            <c:ext xmlns:c16="http://schemas.microsoft.com/office/drawing/2014/chart" uri="{C3380CC4-5D6E-409C-BE32-E72D297353CC}">
              <c16:uniqueId val="{00000000-28E2-624C-8CB8-F1DBAF9DF3C4}"/>
            </c:ext>
          </c:extLst>
        </c:ser>
        <c:ser>
          <c:idx val="1"/>
          <c:order val="1"/>
          <c:tx>
            <c:v>Increase</c:v>
          </c:tx>
          <c:spPr>
            <a:solidFill>
              <a:srgbClr val="2E9E5B"/>
            </a:solidFill>
            <a:ln>
              <a:noFill/>
            </a:ln>
          </c:spPr>
          <c:invertIfNegative val="1"/>
          <c:cat>
            <c:strLit>
              <c:ptCount val="9"/>
              <c:pt idx="0">
                <c:v>Стратегия</c:v>
              </c:pt>
              <c:pt idx="1">
                <c:v>RMN</c:v>
              </c:pt>
              <c:pt idx="2">
                <c:v>DMP Online</c:v>
              </c:pt>
              <c:pt idx="3">
                <c:v>APP</c:v>
              </c:pt>
              <c:pt idx="4">
                <c:v>CF внешн.</c:v>
              </c:pt>
              <c:pt idx="5">
                <c:v>DMP Analyt.</c:v>
              </c:pt>
              <c:pt idx="6">
                <c:v>CF ВГО</c:v>
              </c:pt>
              <c:pt idx="7">
                <c:v>In-store</c:v>
              </c:pt>
              <c:pt idx="8">
                <c:v>BU 2027</c:v>
              </c:pt>
            </c:strLit>
          </c:cat>
          <c:val>
            <c:numLit>
              <c:formatCode>General</c:formatCode>
              <c:ptCount val="9"/>
              <c:pt idx="1">
                <c:v>850.21</c:v>
              </c:pt>
              <c:pt idx="2">
                <c:v>536.55999999999995</c:v>
              </c:pt>
              <c:pt idx="3">
                <c:v>445.43</c:v>
              </c:pt>
              <c:pt idx="4">
                <c:v>213.3</c:v>
              </c:pt>
              <c:pt idx="5">
                <c:v>62.32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28E2-624C-8CB8-F1DBAF9DF3C4}"/>
            </c:ext>
          </c:extLst>
        </c:ser>
        <c:ser>
          <c:idx val="2"/>
          <c:order val="2"/>
          <c:tx>
            <c:v>Decrease</c:v>
          </c:tx>
          <c:spPr>
            <a:solidFill>
              <a:srgbClr val="595959"/>
            </a:solidFill>
            <a:ln>
              <a:noFill/>
            </a:ln>
          </c:spPr>
          <c:invertIfNegative val="1"/>
          <c:cat>
            <c:strLit>
              <c:ptCount val="9"/>
              <c:pt idx="0">
                <c:v>Стратегия</c:v>
              </c:pt>
              <c:pt idx="1">
                <c:v>RMN</c:v>
              </c:pt>
              <c:pt idx="2">
                <c:v>DMP Online</c:v>
              </c:pt>
              <c:pt idx="3">
                <c:v>APP</c:v>
              </c:pt>
              <c:pt idx="4">
                <c:v>CF внешн.</c:v>
              </c:pt>
              <c:pt idx="5">
                <c:v>DMP Analyt.</c:v>
              </c:pt>
              <c:pt idx="6">
                <c:v>CF ВГО</c:v>
              </c:pt>
              <c:pt idx="7">
                <c:v>In-store</c:v>
              </c:pt>
              <c:pt idx="8">
                <c:v>BU 2027</c:v>
              </c:pt>
            </c:strLit>
          </c:cat>
          <c:val>
            <c:numLit>
              <c:formatCode>General</c:formatCode>
              <c:ptCount val="9"/>
              <c:pt idx="6">
                <c:v>119.8</c:v>
              </c:pt>
              <c:pt idx="7">
                <c:v>451.01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28E2-624C-8CB8-F1DBAF9DF3C4}"/>
            </c:ext>
          </c:extLst>
        </c:ser>
        <c:ser>
          <c:idx val="3"/>
          <c:order val="3"/>
          <c:tx>
            <c:v>Total</c:v>
          </c:tx>
          <c:spPr>
            <a:solidFill>
              <a:srgbClr val="999999"/>
            </a:solidFill>
            <a:ln>
              <a:noFill/>
            </a:ln>
          </c:spPr>
          <c:invertIfNegative val="1"/>
          <c:cat>
            <c:strLit>
              <c:ptCount val="9"/>
              <c:pt idx="0">
                <c:v>Стратегия</c:v>
              </c:pt>
              <c:pt idx="1">
                <c:v>RMN</c:v>
              </c:pt>
              <c:pt idx="2">
                <c:v>DMP Online</c:v>
              </c:pt>
              <c:pt idx="3">
                <c:v>APP</c:v>
              </c:pt>
              <c:pt idx="4">
                <c:v>CF внешн.</c:v>
              </c:pt>
              <c:pt idx="5">
                <c:v>DMP Analyt.</c:v>
              </c:pt>
              <c:pt idx="6">
                <c:v>CF ВГО</c:v>
              </c:pt>
              <c:pt idx="7">
                <c:v>In-store</c:v>
              </c:pt>
              <c:pt idx="8">
                <c:v>BU 2027</c:v>
              </c:pt>
            </c:strLit>
          </c:cat>
          <c:val>
            <c:numLit>
              <c:formatCode>General</c:formatCode>
              <c:ptCount val="9"/>
              <c:pt idx="0">
                <c:v>13210.1</c:v>
              </c:pt>
              <c:pt idx="8">
                <c:v>14747.11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28E2-624C-8CB8-F1DBAF9DF3C4}"/>
            </c:ext>
          </c:extLst>
        </c:ser>
        <c:ser>
          <c:idx val="4"/>
          <c:order val="4"/>
          <c:tx>
            <c:v>Labels</c:v>
          </c:tx>
          <c:spPr>
            <a:noFill/>
            <a:ln>
              <a:noFill/>
            </a:ln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r>
                      <a:rPr lang="en-US" sz="1400" b="1">
                        <a:solidFill>
                          <a:srgbClr val="999999"/>
                        </a:solidFill>
                        <a:latin typeface="Arial"/>
                      </a:rPr>
                      <a:t>13 210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4-28E2-624C-8CB8-F1DBAF9DF3C4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2E9E5B"/>
                        </a:solidFill>
                        <a:latin typeface="Arial"/>
                      </a:rPr>
                      <a:t>+850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5-28E2-624C-8CB8-F1DBAF9DF3C4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2E9E5B"/>
                        </a:solidFill>
                        <a:latin typeface="Arial"/>
                      </a:rPr>
                      <a:t>+537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6-28E2-624C-8CB8-F1DBAF9DF3C4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2E9E5B"/>
                        </a:solidFill>
                        <a:latin typeface="Arial"/>
                      </a:rPr>
                      <a:t>+445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7-28E2-624C-8CB8-F1DBAF9DF3C4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2E9E5B"/>
                        </a:solidFill>
                        <a:latin typeface="Arial"/>
                      </a:rPr>
                      <a:t>+213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8-28E2-624C-8CB8-F1DBAF9DF3C4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2E9E5B"/>
                        </a:solidFill>
                        <a:latin typeface="Arial"/>
                      </a:rPr>
                      <a:t>+62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9-28E2-624C-8CB8-F1DBAF9DF3C4}"/>
                </c:ext>
              </c:extLst>
            </c:dLbl>
            <c:dLbl>
              <c:idx val="6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595959"/>
                        </a:solidFill>
                        <a:latin typeface="Arial"/>
                      </a:rPr>
                      <a:t>−120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A-28E2-624C-8CB8-F1DBAF9DF3C4}"/>
                </c:ext>
              </c:extLst>
            </c:dLbl>
            <c:dLbl>
              <c:idx val="7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595959"/>
                        </a:solidFill>
                        <a:latin typeface="Arial"/>
                      </a:rPr>
                      <a:t>−451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B-28E2-624C-8CB8-F1DBAF9DF3C4}"/>
                </c:ext>
              </c:extLst>
            </c:dLbl>
            <c:dLbl>
              <c:idx val="8"/>
              <c:tx>
                <c:rich>
                  <a:bodyPr/>
                  <a:lstStyle/>
                  <a:p>
                    <a:r>
                      <a:rPr lang="en-US" sz="1400" b="1">
                        <a:solidFill>
                          <a:srgbClr val="999999"/>
                        </a:solidFill>
                        <a:latin typeface="Arial"/>
                      </a:rPr>
                      <a:t>14 747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C-28E2-624C-8CB8-F1DBAF9DF3C4}"/>
                </c:ext>
              </c:extLst>
            </c:dLbl>
            <c:spPr>
              <a:noFill/>
              <a:ln>
                <a:noFill/>
              </a:ln>
              <a:effectLst/>
            </c:spPr>
            <c:dLblPos val="inBase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9"/>
              <c:pt idx="0">
                <c:v>Стратегия</c:v>
              </c:pt>
              <c:pt idx="1">
                <c:v>RMN</c:v>
              </c:pt>
              <c:pt idx="2">
                <c:v>DMP Online</c:v>
              </c:pt>
              <c:pt idx="3">
                <c:v>APP</c:v>
              </c:pt>
              <c:pt idx="4">
                <c:v>CF внешн.</c:v>
              </c:pt>
              <c:pt idx="5">
                <c:v>DMP Analyt.</c:v>
              </c:pt>
              <c:pt idx="6">
                <c:v>CF ВГО</c:v>
              </c:pt>
              <c:pt idx="7">
                <c:v>In-store</c:v>
              </c:pt>
              <c:pt idx="8">
                <c:v>BU 2027</c:v>
              </c:pt>
            </c:strLit>
          </c:cat>
          <c:val>
            <c:numLit>
              <c:formatCode>General</c:formatCode>
              <c:ptCount val="9"/>
              <c:pt idx="0">
                <c:v>153.17920000000001</c:v>
              </c:pt>
              <c:pt idx="1">
                <c:v>153.17920000000001</c:v>
              </c:pt>
              <c:pt idx="2">
                <c:v>153.17920000000001</c:v>
              </c:pt>
              <c:pt idx="3">
                <c:v>153.17920000000001</c:v>
              </c:pt>
              <c:pt idx="4">
                <c:v>153.17920000000001</c:v>
              </c:pt>
              <c:pt idx="5">
                <c:v>153.17920000000001</c:v>
              </c:pt>
              <c:pt idx="6">
                <c:v>153.17920000000001</c:v>
              </c:pt>
              <c:pt idx="7">
                <c:v>153.17920000000001</c:v>
              </c:pt>
              <c:pt idx="8">
                <c:v>153.17920000000001</c:v>
              </c:pt>
            </c:numLit>
          </c:val>
          <c:extLst>
            <c:ext xmlns:c16="http://schemas.microsoft.com/office/drawing/2014/chart" uri="{C3380CC4-5D6E-409C-BE32-E72D297353CC}">
              <c16:uniqueId val="{0000000D-28E2-624C-8CB8-F1DBAF9DF3C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overlap val="100"/>
        <c:axId val="1"/>
        <c:axId val="2"/>
      </c:barChart>
      <c:catAx>
        <c:axId val="1"/>
        <c:scaling>
          <c:orientation val="minMax"/>
        </c:scaling>
        <c:delete val="0"/>
        <c:axPos val="b"/>
        <c:numFmt formatCode="#,##0" sourceLinked="0"/>
        <c:majorTickMark val="none"/>
        <c:minorTickMark val="none"/>
        <c:tickLblPos val="nextTo"/>
        <c:spPr>
          <a:ln w="9525">
            <a:solidFill>
              <a:srgbClr val="BFBFBF"/>
            </a:solidFill>
          </a:ln>
        </c:spPr>
        <c:txPr>
          <a:bodyPr rot="0" vert="horz"/>
          <a:lstStyle/>
          <a:p>
            <a:pPr>
              <a:defRPr sz="1100" b="0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"/>
        <c:crosses val="autoZero"/>
        <c:auto val="1"/>
        <c:lblAlgn val="ctr"/>
        <c:lblOffset val="100"/>
        <c:tickLblSkip val="1"/>
        <c:noMultiLvlLbl val="0"/>
      </c:catAx>
      <c:valAx>
        <c:axId val="2"/>
        <c:scaling>
          <c:orientation val="minMax"/>
          <c:max val="19200"/>
          <c:min val="0"/>
        </c:scaling>
        <c:delete val="1"/>
        <c:axPos val="l"/>
        <c:numFmt formatCode="General" sourceLinked="1"/>
        <c:majorTickMark val="none"/>
        <c:minorTickMark val="none"/>
        <c:tickLblPos val="none"/>
        <c:crossAx val="1"/>
        <c:crosses val="autoZero"/>
        <c:crossBetween val="between"/>
      </c:valAx>
      <c:spPr>
        <a:noFill/>
        <a:ln>
          <a:noFill/>
        </a:ln>
      </c:spPr>
    </c:plotArea>
    <c:plotVisOnly val="1"/>
    <c:dispBlanksAs val="gap"/>
    <c:showDLblsOverMax val="1"/>
  </c:chart>
  <c:spPr>
    <a:noFill/>
    <a:ln>
      <a:noFill/>
    </a:ln>
  </c:spPr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GB"/>
  <c:roundedCorners val="1"/>
  <c:style val="2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v>Base</c:v>
          </c:tx>
          <c:spPr>
            <a:noFill/>
            <a:ln>
              <a:noFill/>
            </a:ln>
          </c:spPr>
          <c:invertIfNegative val="1"/>
          <c:cat>
            <c:strLit>
              <c:ptCount val="9"/>
              <c:pt idx="0">
                <c:v>FC 2026</c:v>
              </c:pt>
              <c:pt idx="1">
                <c:v>APP</c:v>
              </c:pt>
              <c:pt idx="2">
                <c:v>In-store</c:v>
              </c:pt>
              <c:pt idx="3">
                <c:v>DMP Online</c:v>
              </c:pt>
              <c:pt idx="4">
                <c:v>RMN</c:v>
              </c:pt>
              <c:pt idx="5">
                <c:v>CF внешн.</c:v>
              </c:pt>
              <c:pt idx="6">
                <c:v>CF ВГО</c:v>
              </c:pt>
              <c:pt idx="7">
                <c:v>DMP Analyt.</c:v>
              </c:pt>
              <c:pt idx="8">
                <c:v>BU 2027</c:v>
              </c:pt>
            </c:strLit>
          </c:cat>
          <c:val>
            <c:numLit>
              <c:formatCode>General</c:formatCode>
              <c:ptCount val="9"/>
              <c:pt idx="0">
                <c:v>0</c:v>
              </c:pt>
              <c:pt idx="1">
                <c:v>10334.9</c:v>
              </c:pt>
              <c:pt idx="2">
                <c:v>11835.73</c:v>
              </c:pt>
              <c:pt idx="3">
                <c:v>13447.8</c:v>
              </c:pt>
              <c:pt idx="4">
                <c:v>14060.8</c:v>
              </c:pt>
              <c:pt idx="5">
                <c:v>14318.45</c:v>
              </c:pt>
              <c:pt idx="6">
                <c:v>14531.75</c:v>
              </c:pt>
              <c:pt idx="7">
                <c:v>14662.5</c:v>
              </c:pt>
              <c:pt idx="8">
                <c:v>0</c:v>
              </c:pt>
            </c:numLit>
          </c:val>
          <c:extLst>
            <c:ext xmlns:c16="http://schemas.microsoft.com/office/drawing/2014/chart" uri="{C3380CC4-5D6E-409C-BE32-E72D297353CC}">
              <c16:uniqueId val="{00000000-05FB-C74E-AF9C-EE151BC377A8}"/>
            </c:ext>
          </c:extLst>
        </c:ser>
        <c:ser>
          <c:idx val="1"/>
          <c:order val="1"/>
          <c:tx>
            <c:v>Increase</c:v>
          </c:tx>
          <c:spPr>
            <a:solidFill>
              <a:srgbClr val="FF452C"/>
            </a:solidFill>
            <a:ln>
              <a:noFill/>
            </a:ln>
          </c:spPr>
          <c:invertIfNegative val="1"/>
          <c:cat>
            <c:strLit>
              <c:ptCount val="9"/>
              <c:pt idx="0">
                <c:v>FC 2026</c:v>
              </c:pt>
              <c:pt idx="1">
                <c:v>APP</c:v>
              </c:pt>
              <c:pt idx="2">
                <c:v>In-store</c:v>
              </c:pt>
              <c:pt idx="3">
                <c:v>DMP Online</c:v>
              </c:pt>
              <c:pt idx="4">
                <c:v>RMN</c:v>
              </c:pt>
              <c:pt idx="5">
                <c:v>CF внешн.</c:v>
              </c:pt>
              <c:pt idx="6">
                <c:v>CF ВГО</c:v>
              </c:pt>
              <c:pt idx="7">
                <c:v>DMP Analyt.</c:v>
              </c:pt>
              <c:pt idx="8">
                <c:v>BU 2027</c:v>
              </c:pt>
            </c:strLit>
          </c:cat>
          <c:val>
            <c:numLit>
              <c:formatCode>General</c:formatCode>
              <c:ptCount val="9"/>
              <c:pt idx="1">
                <c:v>1500.83</c:v>
              </c:pt>
              <c:pt idx="2">
                <c:v>1612.07</c:v>
              </c:pt>
              <c:pt idx="3">
                <c:v>613</c:v>
              </c:pt>
              <c:pt idx="4">
                <c:v>257.64999999999998</c:v>
              </c:pt>
              <c:pt idx="5">
                <c:v>213.3</c:v>
              </c:pt>
              <c:pt idx="6">
                <c:v>130.75</c:v>
              </c:pt>
              <c:pt idx="7">
                <c:v>84.6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05FB-C74E-AF9C-EE151BC377A8}"/>
            </c:ext>
          </c:extLst>
        </c:ser>
        <c:ser>
          <c:idx val="2"/>
          <c:order val="2"/>
          <c:tx>
            <c:v>Decrease</c:v>
          </c:tx>
          <c:spPr>
            <a:solidFill>
              <a:srgbClr val="595959"/>
            </a:solidFill>
            <a:ln>
              <a:noFill/>
            </a:ln>
          </c:spPr>
          <c:invertIfNegative val="1"/>
          <c:cat>
            <c:strLit>
              <c:ptCount val="9"/>
              <c:pt idx="0">
                <c:v>FC 2026</c:v>
              </c:pt>
              <c:pt idx="1">
                <c:v>APP</c:v>
              </c:pt>
              <c:pt idx="2">
                <c:v>In-store</c:v>
              </c:pt>
              <c:pt idx="3">
                <c:v>DMP Online</c:v>
              </c:pt>
              <c:pt idx="4">
                <c:v>RMN</c:v>
              </c:pt>
              <c:pt idx="5">
                <c:v>CF внешн.</c:v>
              </c:pt>
              <c:pt idx="6">
                <c:v>CF ВГО</c:v>
              </c:pt>
              <c:pt idx="7">
                <c:v>DMP Analyt.</c:v>
              </c:pt>
              <c:pt idx="8">
                <c:v>BU 2027</c:v>
              </c:pt>
            </c:strLit>
          </c:cat>
          <c:val>
            <c:numLit>
              <c:formatCode>General</c:formatCode>
              <c:ptCount val="9"/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05FB-C74E-AF9C-EE151BC377A8}"/>
            </c:ext>
          </c:extLst>
        </c:ser>
        <c:ser>
          <c:idx val="3"/>
          <c:order val="3"/>
          <c:tx>
            <c:v>Total</c:v>
          </c:tx>
          <c:spPr>
            <a:solidFill>
              <a:srgbClr val="999999"/>
            </a:solidFill>
            <a:ln>
              <a:noFill/>
            </a:ln>
          </c:spPr>
          <c:invertIfNegative val="1"/>
          <c:cat>
            <c:strLit>
              <c:ptCount val="9"/>
              <c:pt idx="0">
                <c:v>FC 2026</c:v>
              </c:pt>
              <c:pt idx="1">
                <c:v>APP</c:v>
              </c:pt>
              <c:pt idx="2">
                <c:v>In-store</c:v>
              </c:pt>
              <c:pt idx="3">
                <c:v>DMP Online</c:v>
              </c:pt>
              <c:pt idx="4">
                <c:v>RMN</c:v>
              </c:pt>
              <c:pt idx="5">
                <c:v>CF внешн.</c:v>
              </c:pt>
              <c:pt idx="6">
                <c:v>CF ВГО</c:v>
              </c:pt>
              <c:pt idx="7">
                <c:v>DMP Analyt.</c:v>
              </c:pt>
              <c:pt idx="8">
                <c:v>BU 2027</c:v>
              </c:pt>
            </c:strLit>
          </c:cat>
          <c:val>
            <c:numLit>
              <c:formatCode>General</c:formatCode>
              <c:ptCount val="9"/>
              <c:pt idx="0">
                <c:v>10334.9</c:v>
              </c:pt>
              <c:pt idx="8">
                <c:v>14747.1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05FB-C74E-AF9C-EE151BC377A8}"/>
            </c:ext>
          </c:extLst>
        </c:ser>
        <c:ser>
          <c:idx val="4"/>
          <c:order val="4"/>
          <c:tx>
            <c:v>Labels</c:v>
          </c:tx>
          <c:spPr>
            <a:noFill/>
            <a:ln>
              <a:noFill/>
            </a:ln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r>
                      <a:rPr lang="en-US" sz="1400" b="1">
                        <a:solidFill>
                          <a:srgbClr val="999999"/>
                        </a:solidFill>
                        <a:latin typeface="Arial"/>
                      </a:rPr>
                      <a:t>10 335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4-05FB-C74E-AF9C-EE151BC377A8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FF452C"/>
                        </a:solidFill>
                        <a:latin typeface="Arial"/>
                      </a:rPr>
                      <a:t>+1 501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5-05FB-C74E-AF9C-EE151BC377A8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FF452C"/>
                        </a:solidFill>
                        <a:latin typeface="Arial"/>
                      </a:rPr>
                      <a:t>+1 612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6-05FB-C74E-AF9C-EE151BC377A8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FF452C"/>
                        </a:solidFill>
                        <a:latin typeface="Arial"/>
                      </a:rPr>
                      <a:t>+613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7-05FB-C74E-AF9C-EE151BC377A8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FF452C"/>
                        </a:solidFill>
                        <a:latin typeface="Arial"/>
                      </a:rPr>
                      <a:t>+258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8-05FB-C74E-AF9C-EE151BC377A8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FF452C"/>
                        </a:solidFill>
                        <a:latin typeface="Arial"/>
                      </a:rPr>
                      <a:t>+213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9-05FB-C74E-AF9C-EE151BC377A8}"/>
                </c:ext>
              </c:extLst>
            </c:dLbl>
            <c:dLbl>
              <c:idx val="6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FF452C"/>
                        </a:solidFill>
                        <a:latin typeface="Arial"/>
                      </a:rPr>
                      <a:t>+131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A-05FB-C74E-AF9C-EE151BC377A8}"/>
                </c:ext>
              </c:extLst>
            </c:dLbl>
            <c:dLbl>
              <c:idx val="7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FF452C"/>
                        </a:solidFill>
                        <a:latin typeface="Arial"/>
                      </a:rPr>
                      <a:t>+85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B-05FB-C74E-AF9C-EE151BC377A8}"/>
                </c:ext>
              </c:extLst>
            </c:dLbl>
            <c:dLbl>
              <c:idx val="8"/>
              <c:tx>
                <c:rich>
                  <a:bodyPr/>
                  <a:lstStyle/>
                  <a:p>
                    <a:r>
                      <a:rPr lang="en-US" sz="1400" b="1">
                        <a:solidFill>
                          <a:srgbClr val="999999"/>
                        </a:solidFill>
                        <a:latin typeface="Arial"/>
                      </a:rPr>
                      <a:t>14 747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C-05FB-C74E-AF9C-EE151BC377A8}"/>
                </c:ext>
              </c:extLst>
            </c:dLbl>
            <c:spPr>
              <a:noFill/>
              <a:ln>
                <a:noFill/>
              </a:ln>
              <a:effectLst/>
            </c:spPr>
            <c:dLblPos val="inBase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9"/>
              <c:pt idx="0">
                <c:v>FC 2026</c:v>
              </c:pt>
              <c:pt idx="1">
                <c:v>APP</c:v>
              </c:pt>
              <c:pt idx="2">
                <c:v>In-store</c:v>
              </c:pt>
              <c:pt idx="3">
                <c:v>DMP Online</c:v>
              </c:pt>
              <c:pt idx="4">
                <c:v>RMN</c:v>
              </c:pt>
              <c:pt idx="5">
                <c:v>CF внешн.</c:v>
              </c:pt>
              <c:pt idx="6">
                <c:v>CF ВГО</c:v>
              </c:pt>
              <c:pt idx="7">
                <c:v>DMP Analyt.</c:v>
              </c:pt>
              <c:pt idx="8">
                <c:v>BU 2027</c:v>
              </c:pt>
            </c:strLit>
          </c:cat>
          <c:val>
            <c:numLit>
              <c:formatCode>General</c:formatCode>
              <c:ptCount val="9"/>
              <c:pt idx="0">
                <c:v>147.471</c:v>
              </c:pt>
              <c:pt idx="1">
                <c:v>147.471</c:v>
              </c:pt>
              <c:pt idx="2">
                <c:v>147.471</c:v>
              </c:pt>
              <c:pt idx="3">
                <c:v>147.471</c:v>
              </c:pt>
              <c:pt idx="4">
                <c:v>147.471</c:v>
              </c:pt>
              <c:pt idx="5">
                <c:v>147.471</c:v>
              </c:pt>
              <c:pt idx="6">
                <c:v>147.471</c:v>
              </c:pt>
              <c:pt idx="7">
                <c:v>147.471</c:v>
              </c:pt>
              <c:pt idx="8">
                <c:v>147.471</c:v>
              </c:pt>
            </c:numLit>
          </c:val>
          <c:extLst>
            <c:ext xmlns:c16="http://schemas.microsoft.com/office/drawing/2014/chart" uri="{C3380CC4-5D6E-409C-BE32-E72D297353CC}">
              <c16:uniqueId val="{0000000D-05FB-C74E-AF9C-EE151BC377A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overlap val="100"/>
        <c:axId val="1"/>
        <c:axId val="2"/>
      </c:barChart>
      <c:catAx>
        <c:axId val="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BFBFBF"/>
            </a:solidFill>
          </a:ln>
        </c:spPr>
        <c:txPr>
          <a:bodyPr rot="0" vert="horz"/>
          <a:lstStyle/>
          <a:p>
            <a:pPr>
              <a:defRPr sz="1100" b="0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"/>
        <c:crosses val="autoZero"/>
        <c:auto val="1"/>
        <c:lblAlgn val="ctr"/>
        <c:lblOffset val="100"/>
        <c:tickLblSkip val="1"/>
        <c:noMultiLvlLbl val="1"/>
      </c:catAx>
      <c:valAx>
        <c:axId val="2"/>
        <c:scaling>
          <c:orientation val="minMax"/>
          <c:max val="18300"/>
          <c:min val="0"/>
        </c:scaling>
        <c:delete val="1"/>
        <c:axPos val="l"/>
        <c:numFmt formatCode="General" sourceLinked="1"/>
        <c:majorTickMark val="none"/>
        <c:minorTickMark val="none"/>
        <c:tickLblPos val="none"/>
        <c:crossAx val="1"/>
        <c:crosses val="autoZero"/>
        <c:crossBetween val="between"/>
      </c:valAx>
      <c:spPr>
        <a:noFill/>
        <a:ln>
          <a:noFill/>
        </a:ln>
      </c:spPr>
    </c:plotArea>
    <c:plotVisOnly val="1"/>
    <c:dispBlanksAs val="gap"/>
    <c:showDLblsOverMax val="1"/>
  </c:chart>
  <c:spPr>
    <a:noFill/>
    <a:ln>
      <a:noFill/>
    </a:ln>
  </c:spPr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GB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v>Values</c:v>
          </c:tx>
          <c:spPr>
            <a:solidFill>
              <a:srgbClr val="BFBFBF"/>
            </a:solidFill>
            <a:ln>
              <a:noFill/>
            </a:ln>
          </c:spPr>
          <c:invertIfNegative val="1"/>
          <c:dPt>
            <c:idx val="5"/>
            <c:invertIfNegative val="1"/>
            <c:bubble3D val="0"/>
            <c:spPr>
              <a:solidFill>
                <a:srgbClr val="FF452C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1-B0F8-3448-B015-6E8DF631F16B}"/>
              </c:ext>
            </c:extLst>
          </c:dPt>
          <c:dPt>
            <c:idx val="7"/>
            <c:invertIfNegative val="1"/>
            <c:bubble3D val="0"/>
            <c:spPr>
              <a:solidFill>
                <a:srgbClr val="FF452C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1-B0F8-3448-B015-6E8DF631F16B}"/>
              </c:ext>
            </c:extLst>
          </c:dPt>
          <c:dPt>
            <c:idx val="8"/>
            <c:invertIfNegative val="1"/>
            <c:bubble3D val="0"/>
            <c:spPr>
              <a:solidFill>
                <a:srgbClr val="FF452C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1-B0F8-3448-B015-6E8DF631F16B}"/>
              </c:ext>
            </c:extLst>
          </c:dPt>
          <c:dLbls>
            <c:numFmt formatCode="&quot;+&quot;#,##0" sourceLinked="0"/>
            <c:spPr>
              <a:noFill/>
              <a:ln>
                <a:noFill/>
              </a:ln>
              <a:effectLst/>
            </c:spPr>
            <c:txPr>
              <a:bodyPr wrap="none"/>
              <a:lstStyle/>
              <a:p>
                <a:pPr>
                  <a:defRPr sz="1400" b="1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ect">
                    <a:avLst/>
                  </a:prstGeom>
                </c15:spPr>
                <c15:showLeaderLines val="0"/>
              </c:ext>
            </c:extLst>
          </c:dLbls>
          <c:cat>
            <c:strLit>
              <c:ptCount val="9"/>
              <c:pt idx="0">
                <c:v>Other PEX</c:v>
              </c:pt>
              <c:pt idx="1">
                <c:v>Other OPEX</c:v>
              </c:pt>
              <c:pt idx="2">
                <c:v>PR/GR, исследования</c:v>
              </c:pt>
              <c:pt idx="3">
                <c:v>Маркетинг ВГО</c:v>
              </c:pt>
              <c:pt idx="4">
                <c:v>IT</c:v>
              </c:pt>
              <c:pt idx="5">
                <c:v>Креаторы</c:v>
              </c:pt>
              <c:pt idx="6">
                <c:v>PEX (ФОТ)</c:v>
              </c:pt>
              <c:pt idx="7">
                <c:v>Вознаграждения агентствам</c:v>
              </c:pt>
              <c:pt idx="8">
                <c:v>Закупка трафика DMP</c:v>
              </c:pt>
            </c:strLit>
          </c:cat>
          <c:val>
            <c:numLit>
              <c:formatCode>General</c:formatCode>
              <c:ptCount val="9"/>
              <c:pt idx="0">
                <c:v>8</c:v>
              </c:pt>
              <c:pt idx="1">
                <c:v>11</c:v>
              </c:pt>
              <c:pt idx="2">
                <c:v>16</c:v>
              </c:pt>
              <c:pt idx="3">
                <c:v>30</c:v>
              </c:pt>
              <c:pt idx="4">
                <c:v>34</c:v>
              </c:pt>
              <c:pt idx="5">
                <c:v>199</c:v>
              </c:pt>
              <c:pt idx="6">
                <c:v>316</c:v>
              </c:pt>
              <c:pt idx="7">
                <c:v>441</c:v>
              </c:pt>
              <c:pt idx="8">
                <c:v>489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B0F8-3448-B015-6E8DF631F16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axId val="1"/>
        <c:axId val="2"/>
      </c:barChart>
      <c:catAx>
        <c:axId val="1"/>
        <c:scaling>
          <c:orientation val="minMax"/>
        </c:scaling>
        <c:delete val="0"/>
        <c:axPos val="l"/>
        <c:numFmt formatCode="General" sourceLinked="0"/>
        <c:majorTickMark val="none"/>
        <c:minorTickMark val="none"/>
        <c:tickLblPos val="nextTo"/>
        <c:spPr>
          <a:ln w="9525">
            <a:solidFill>
              <a:srgbClr val="BFBFBF"/>
            </a:solidFill>
          </a:ln>
        </c:spPr>
        <c:txPr>
          <a:bodyPr rot="0" vert="horz"/>
          <a:lstStyle/>
          <a:p>
            <a:pPr>
              <a:defRPr sz="1400" b="0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"/>
        <c:crosses val="autoZero"/>
        <c:auto val="1"/>
        <c:lblAlgn val="ctr"/>
        <c:lblOffset val="100"/>
        <c:noMultiLvlLbl val="1"/>
      </c:catAx>
      <c:valAx>
        <c:axId val="2"/>
        <c:scaling>
          <c:orientation val="minMax"/>
          <c:min val="0"/>
        </c:scaling>
        <c:delete val="1"/>
        <c:axPos val="b"/>
        <c:numFmt formatCode="General" sourceLinked="1"/>
        <c:majorTickMark val="none"/>
        <c:minorTickMark val="none"/>
        <c:tickLblPos val="none"/>
        <c:crossAx val="1"/>
        <c:crosses val="autoZero"/>
        <c:crossBetween val="between"/>
      </c:valAx>
      <c:spPr>
        <a:noFill/>
        <a:ln>
          <a:noFill/>
        </a:ln>
      </c:spPr>
    </c:plotArea>
    <c:plotVisOnly val="1"/>
    <c:dispBlanksAs val="gap"/>
    <c:showDLblsOverMax val="1"/>
  </c:chart>
  <c:spPr>
    <a:noFill/>
    <a:ln>
      <a:noFill/>
    </a:ln>
  </c:spPr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GB"/>
  <c:roundedCorners val="1"/>
  <c:style val="2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v>Base</c:v>
          </c:tx>
          <c:spPr>
            <a:noFill/>
            <a:ln>
              <a:noFill/>
            </a:ln>
          </c:spPr>
          <c:invertIfNegative val="1"/>
          <c:cat>
            <c:strLit>
              <c:ptCount val="9"/>
              <c:pt idx="0">
                <c:v>FC 2026</c:v>
              </c:pt>
              <c:pt idx="1">
                <c:v>APP</c:v>
              </c:pt>
              <c:pt idx="2">
                <c:v>In-store</c:v>
              </c:pt>
              <c:pt idx="3">
                <c:v>DMP, RMN, CF</c:v>
              </c:pt>
              <c:pt idx="4">
                <c:v>Marketing</c:v>
              </c:pt>
              <c:pt idx="5">
                <c:v>PEX</c:v>
              </c:pt>
              <c:pt idx="6">
                <c:v>IT</c:v>
              </c:pt>
              <c:pt idx="7">
                <c:v>Прочие</c:v>
              </c:pt>
              <c:pt idx="8">
                <c:v>BU 2027</c:v>
              </c:pt>
            </c:strLit>
          </c:cat>
          <c:val>
            <c:numLit>
              <c:formatCode>General</c:formatCode>
              <c:ptCount val="9"/>
              <c:pt idx="0">
                <c:v>0</c:v>
              </c:pt>
              <c:pt idx="1">
                <c:v>8096.14</c:v>
              </c:pt>
              <c:pt idx="2">
                <c:v>9596.9700000000012</c:v>
              </c:pt>
              <c:pt idx="3">
                <c:v>11209.04</c:v>
              </c:pt>
              <c:pt idx="4">
                <c:v>11334.02</c:v>
              </c:pt>
              <c:pt idx="5">
                <c:v>11017.73</c:v>
              </c:pt>
              <c:pt idx="6">
                <c:v>10984.23</c:v>
              </c:pt>
              <c:pt idx="7">
                <c:v>10965.650000000001</c:v>
              </c:pt>
              <c:pt idx="8">
                <c:v>0</c:v>
              </c:pt>
            </c:numLit>
          </c:val>
          <c:extLst>
            <c:ext xmlns:c16="http://schemas.microsoft.com/office/drawing/2014/chart" uri="{C3380CC4-5D6E-409C-BE32-E72D297353CC}">
              <c16:uniqueId val="{00000000-CB36-7B4C-8030-856FD52DD8D6}"/>
            </c:ext>
          </c:extLst>
        </c:ser>
        <c:ser>
          <c:idx val="1"/>
          <c:order val="1"/>
          <c:tx>
            <c:v>Increase</c:v>
          </c:tx>
          <c:spPr>
            <a:solidFill>
              <a:srgbClr val="FF452C"/>
            </a:solidFill>
            <a:ln>
              <a:noFill/>
            </a:ln>
          </c:spPr>
          <c:invertIfNegative val="1"/>
          <c:cat>
            <c:strLit>
              <c:ptCount val="9"/>
              <c:pt idx="0">
                <c:v>FC 2026</c:v>
              </c:pt>
              <c:pt idx="1">
                <c:v>APP</c:v>
              </c:pt>
              <c:pt idx="2">
                <c:v>In-store</c:v>
              </c:pt>
              <c:pt idx="3">
                <c:v>DMP, RMN, CF</c:v>
              </c:pt>
              <c:pt idx="4">
                <c:v>Marketing</c:v>
              </c:pt>
              <c:pt idx="5">
                <c:v>PEX</c:v>
              </c:pt>
              <c:pt idx="6">
                <c:v>IT</c:v>
              </c:pt>
              <c:pt idx="7">
                <c:v>Прочие</c:v>
              </c:pt>
              <c:pt idx="8">
                <c:v>BU 2027</c:v>
              </c:pt>
            </c:strLit>
          </c:cat>
          <c:val>
            <c:numLit>
              <c:formatCode>General</c:formatCode>
              <c:ptCount val="9"/>
              <c:pt idx="1">
                <c:v>1500.83</c:v>
              </c:pt>
              <c:pt idx="2">
                <c:v>1612.07</c:v>
              </c:pt>
              <c:pt idx="3">
                <c:v>1299.31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CB36-7B4C-8030-856FD52DD8D6}"/>
            </c:ext>
          </c:extLst>
        </c:ser>
        <c:ser>
          <c:idx val="2"/>
          <c:order val="2"/>
          <c:tx>
            <c:v>Decrease</c:v>
          </c:tx>
          <c:spPr>
            <a:solidFill>
              <a:srgbClr val="595959"/>
            </a:solidFill>
            <a:ln>
              <a:noFill/>
            </a:ln>
          </c:spPr>
          <c:invertIfNegative val="1"/>
          <c:cat>
            <c:strLit>
              <c:ptCount val="9"/>
              <c:pt idx="0">
                <c:v>FC 2026</c:v>
              </c:pt>
              <c:pt idx="1">
                <c:v>APP</c:v>
              </c:pt>
              <c:pt idx="2">
                <c:v>In-store</c:v>
              </c:pt>
              <c:pt idx="3">
                <c:v>DMP, RMN, CF</c:v>
              </c:pt>
              <c:pt idx="4">
                <c:v>Marketing</c:v>
              </c:pt>
              <c:pt idx="5">
                <c:v>PEX</c:v>
              </c:pt>
              <c:pt idx="6">
                <c:v>IT</c:v>
              </c:pt>
              <c:pt idx="7">
                <c:v>Прочие</c:v>
              </c:pt>
              <c:pt idx="8">
                <c:v>BU 2027</c:v>
              </c:pt>
            </c:strLit>
          </c:cat>
          <c:val>
            <c:numLit>
              <c:formatCode>General</c:formatCode>
              <c:ptCount val="9"/>
              <c:pt idx="4">
                <c:v>1174.33</c:v>
              </c:pt>
              <c:pt idx="5">
                <c:v>316.29000000000002</c:v>
              </c:pt>
              <c:pt idx="6">
                <c:v>33.5</c:v>
              </c:pt>
              <c:pt idx="7">
                <c:v>18.57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CB36-7B4C-8030-856FD52DD8D6}"/>
            </c:ext>
          </c:extLst>
        </c:ser>
        <c:ser>
          <c:idx val="3"/>
          <c:order val="3"/>
          <c:tx>
            <c:v>Total</c:v>
          </c:tx>
          <c:spPr>
            <a:solidFill>
              <a:srgbClr val="999999"/>
            </a:solidFill>
            <a:ln>
              <a:noFill/>
            </a:ln>
          </c:spPr>
          <c:invertIfNegative val="1"/>
          <c:cat>
            <c:strLit>
              <c:ptCount val="9"/>
              <c:pt idx="0">
                <c:v>FC 2026</c:v>
              </c:pt>
              <c:pt idx="1">
                <c:v>APP</c:v>
              </c:pt>
              <c:pt idx="2">
                <c:v>In-store</c:v>
              </c:pt>
              <c:pt idx="3">
                <c:v>DMP, RMN, CF</c:v>
              </c:pt>
              <c:pt idx="4">
                <c:v>Marketing</c:v>
              </c:pt>
              <c:pt idx="5">
                <c:v>PEX</c:v>
              </c:pt>
              <c:pt idx="6">
                <c:v>IT</c:v>
              </c:pt>
              <c:pt idx="7">
                <c:v>Прочие</c:v>
              </c:pt>
              <c:pt idx="8">
                <c:v>BU 2027</c:v>
              </c:pt>
            </c:strLit>
          </c:cat>
          <c:val>
            <c:numLit>
              <c:formatCode>General</c:formatCode>
              <c:ptCount val="9"/>
              <c:pt idx="0">
                <c:v>8096.14</c:v>
              </c:pt>
              <c:pt idx="8">
                <c:v>10965.650000000001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CB36-7B4C-8030-856FD52DD8D6}"/>
            </c:ext>
          </c:extLst>
        </c:ser>
        <c:ser>
          <c:idx val="4"/>
          <c:order val="4"/>
          <c:tx>
            <c:v>Labels</c:v>
          </c:tx>
          <c:spPr>
            <a:noFill/>
            <a:ln>
              <a:noFill/>
            </a:ln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r>
                      <a:rPr lang="en-US" sz="1400" b="1">
                        <a:solidFill>
                          <a:srgbClr val="999999"/>
                        </a:solidFill>
                        <a:latin typeface="Arial"/>
                      </a:rPr>
                      <a:t>8 096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4-CB36-7B4C-8030-856FD52DD8D6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FF452C"/>
                        </a:solidFill>
                        <a:latin typeface="Arial"/>
                      </a:rPr>
                      <a:t>+1 501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5-CB36-7B4C-8030-856FD52DD8D6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FF452C"/>
                        </a:solidFill>
                        <a:latin typeface="Arial"/>
                      </a:rPr>
                      <a:t>+1 612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6-CB36-7B4C-8030-856FD52DD8D6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FF452C"/>
                        </a:solidFill>
                        <a:latin typeface="Arial"/>
                      </a:rPr>
                      <a:t>+1 299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7-CB36-7B4C-8030-856FD52DD8D6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595959"/>
                        </a:solidFill>
                        <a:latin typeface="Arial"/>
                      </a:rPr>
                      <a:t>−1 174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8-CB36-7B4C-8030-856FD52DD8D6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595959"/>
                        </a:solidFill>
                        <a:latin typeface="Arial"/>
                      </a:rPr>
                      <a:t>−316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9-CB36-7B4C-8030-856FD52DD8D6}"/>
                </c:ext>
              </c:extLst>
            </c:dLbl>
            <c:dLbl>
              <c:idx val="6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595959"/>
                        </a:solidFill>
                        <a:latin typeface="Arial"/>
                      </a:rPr>
                      <a:t>−34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A-CB36-7B4C-8030-856FD52DD8D6}"/>
                </c:ext>
              </c:extLst>
            </c:dLbl>
            <c:dLbl>
              <c:idx val="7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595959"/>
                        </a:solidFill>
                        <a:latin typeface="Arial"/>
                      </a:rPr>
                      <a:t>−19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B-CB36-7B4C-8030-856FD52DD8D6}"/>
                </c:ext>
              </c:extLst>
            </c:dLbl>
            <c:dLbl>
              <c:idx val="8"/>
              <c:tx>
                <c:rich>
                  <a:bodyPr/>
                  <a:lstStyle/>
                  <a:p>
                    <a:r>
                      <a:rPr lang="en-US" sz="1400" b="1">
                        <a:solidFill>
                          <a:srgbClr val="999999"/>
                        </a:solidFill>
                        <a:latin typeface="Arial"/>
                      </a:rPr>
                      <a:t>10 966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C-CB36-7B4C-8030-856FD52DD8D6}"/>
                </c:ext>
              </c:extLst>
            </c:dLbl>
            <c:spPr>
              <a:noFill/>
              <a:ln>
                <a:noFill/>
              </a:ln>
              <a:effectLst/>
            </c:spPr>
            <c:dLblPos val="inBase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9"/>
              <c:pt idx="0">
                <c:v>FC 2026</c:v>
              </c:pt>
              <c:pt idx="1">
                <c:v>APP</c:v>
              </c:pt>
              <c:pt idx="2">
                <c:v>In-store</c:v>
              </c:pt>
              <c:pt idx="3">
                <c:v>DMP, RMN, CF</c:v>
              </c:pt>
              <c:pt idx="4">
                <c:v>Marketing</c:v>
              </c:pt>
              <c:pt idx="5">
                <c:v>PEX</c:v>
              </c:pt>
              <c:pt idx="6">
                <c:v>IT</c:v>
              </c:pt>
              <c:pt idx="7">
                <c:v>Прочие</c:v>
              </c:pt>
              <c:pt idx="8">
                <c:v>BU 2027</c:v>
              </c:pt>
            </c:strLit>
          </c:cat>
          <c:val>
            <c:numLit>
              <c:formatCode>General</c:formatCode>
              <c:ptCount val="9"/>
              <c:pt idx="0">
                <c:v>123.9726</c:v>
              </c:pt>
              <c:pt idx="1">
                <c:v>123.9726</c:v>
              </c:pt>
              <c:pt idx="2">
                <c:v>123.9726</c:v>
              </c:pt>
              <c:pt idx="3">
                <c:v>123.9726</c:v>
              </c:pt>
              <c:pt idx="4">
                <c:v>123.9726</c:v>
              </c:pt>
              <c:pt idx="5">
                <c:v>123.9726</c:v>
              </c:pt>
              <c:pt idx="6">
                <c:v>123.9726</c:v>
              </c:pt>
              <c:pt idx="7">
                <c:v>123.9726</c:v>
              </c:pt>
              <c:pt idx="8">
                <c:v>123.9726</c:v>
              </c:pt>
            </c:numLit>
          </c:val>
          <c:extLst>
            <c:ext xmlns:c16="http://schemas.microsoft.com/office/drawing/2014/chart" uri="{C3380CC4-5D6E-409C-BE32-E72D297353CC}">
              <c16:uniqueId val="{0000000D-CB36-7B4C-8030-856FD52DD8D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overlap val="100"/>
        <c:axId val="1"/>
        <c:axId val="2"/>
      </c:barChart>
      <c:catAx>
        <c:axId val="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BFBFBF"/>
            </a:solidFill>
          </a:ln>
        </c:spPr>
        <c:txPr>
          <a:bodyPr rot="0" vert="horz"/>
          <a:lstStyle/>
          <a:p>
            <a:pPr>
              <a:defRPr sz="1100" b="0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"/>
        <c:crosses val="autoZero"/>
        <c:auto val="1"/>
        <c:lblAlgn val="ctr"/>
        <c:lblOffset val="100"/>
        <c:tickLblSkip val="1"/>
        <c:noMultiLvlLbl val="1"/>
      </c:catAx>
      <c:valAx>
        <c:axId val="2"/>
        <c:scaling>
          <c:orientation val="minMax"/>
          <c:max val="15500"/>
          <c:min val="0"/>
        </c:scaling>
        <c:delete val="1"/>
        <c:axPos val="l"/>
        <c:numFmt formatCode="General" sourceLinked="1"/>
        <c:majorTickMark val="none"/>
        <c:minorTickMark val="none"/>
        <c:tickLblPos val="none"/>
        <c:crossAx val="1"/>
        <c:crosses val="autoZero"/>
        <c:crossBetween val="between"/>
      </c:valAx>
      <c:spPr>
        <a:noFill/>
        <a:ln>
          <a:noFill/>
        </a:ln>
      </c:spPr>
    </c:plotArea>
    <c:plotVisOnly val="1"/>
    <c:dispBlanksAs val="gap"/>
    <c:showDLblsOverMax val="1"/>
  </c:chart>
  <c:spPr>
    <a:noFill/>
    <a:ln>
      <a:noFill/>
    </a:ln>
  </c:spPr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GB"/>
  <c:roundedCorners val="1"/>
  <c:style val="2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v>Base</c:v>
          </c:tx>
          <c:spPr>
            <a:noFill/>
            <a:ln>
              <a:noFill/>
            </a:ln>
          </c:spPr>
          <c:invertIfNegative val="1"/>
          <c:cat>
            <c:strLit>
              <c:ptCount val="8"/>
              <c:pt idx="0">
                <c:v>FC 2026</c:v>
              </c:pt>
              <c:pt idx="1">
                <c:v>ФОТ разработки</c:v>
              </c:pt>
              <c:pt idx="2">
                <c:v>IT ПО и техника</c:v>
              </c:pt>
              <c:pt idx="3">
                <c:v>Фасады ТТ</c:v>
              </c:pt>
              <c:pt idx="4">
                <c:v>Медиа с КСО</c:v>
              </c:pt>
              <c:pt idx="5">
                <c:v>Фасад БФ</c:v>
              </c:pt>
              <c:pt idx="6">
                <c:v>Система медиа</c:v>
              </c:pt>
              <c:pt idx="7">
                <c:v>BU 2027</c:v>
              </c:pt>
            </c:strLit>
          </c:cat>
          <c:val>
            <c:numLit>
              <c:formatCode>General</c:formatCode>
              <c:ptCount val="8"/>
              <c:pt idx="0">
                <c:v>0</c:v>
              </c:pt>
              <c:pt idx="1">
                <c:v>1179.5999999999999</c:v>
              </c:pt>
              <c:pt idx="2">
                <c:v>1273.3999999999999</c:v>
              </c:pt>
              <c:pt idx="3">
                <c:v>1141.1999999999998</c:v>
              </c:pt>
              <c:pt idx="4">
                <c:v>1074.5999999999999</c:v>
              </c:pt>
              <c:pt idx="5">
                <c:v>1074.5999999999999</c:v>
              </c:pt>
              <c:pt idx="6">
                <c:v>1145.3999999999999</c:v>
              </c:pt>
              <c:pt idx="7">
                <c:v>0</c:v>
              </c:pt>
            </c:numLit>
          </c:val>
          <c:extLst>
            <c:ext xmlns:c16="http://schemas.microsoft.com/office/drawing/2014/chart" uri="{C3380CC4-5D6E-409C-BE32-E72D297353CC}">
              <c16:uniqueId val="{00000000-555E-9B44-A647-D1A58B1277AA}"/>
            </c:ext>
          </c:extLst>
        </c:ser>
        <c:ser>
          <c:idx val="1"/>
          <c:order val="1"/>
          <c:tx>
            <c:v>Increase</c:v>
          </c:tx>
          <c:spPr>
            <a:solidFill>
              <a:srgbClr val="FF452C"/>
            </a:solidFill>
            <a:ln>
              <a:noFill/>
            </a:ln>
          </c:spPr>
          <c:invertIfNegative val="1"/>
          <c:cat>
            <c:strLit>
              <c:ptCount val="8"/>
              <c:pt idx="0">
                <c:v>FC 2026</c:v>
              </c:pt>
              <c:pt idx="1">
                <c:v>ФОТ разработки</c:v>
              </c:pt>
              <c:pt idx="2">
                <c:v>IT ПО и техника</c:v>
              </c:pt>
              <c:pt idx="3">
                <c:v>Фасады ТТ</c:v>
              </c:pt>
              <c:pt idx="4">
                <c:v>Медиа с КСО</c:v>
              </c:pt>
              <c:pt idx="5">
                <c:v>Фасад БФ</c:v>
              </c:pt>
              <c:pt idx="6">
                <c:v>Система медиа</c:v>
              </c:pt>
              <c:pt idx="7">
                <c:v>BU 2027</c:v>
              </c:pt>
            </c:strLit>
          </c:cat>
          <c:val>
            <c:numLit>
              <c:formatCode>General</c:formatCode>
              <c:ptCount val="8"/>
              <c:pt idx="1">
                <c:v>113.3</c:v>
              </c:pt>
              <c:pt idx="5">
                <c:v>70.8</c:v>
              </c:pt>
              <c:pt idx="6">
                <c:v>5.0999999999999996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555E-9B44-A647-D1A58B1277AA}"/>
            </c:ext>
          </c:extLst>
        </c:ser>
        <c:ser>
          <c:idx val="2"/>
          <c:order val="2"/>
          <c:tx>
            <c:v>Decrease</c:v>
          </c:tx>
          <c:spPr>
            <a:solidFill>
              <a:srgbClr val="595959"/>
            </a:solidFill>
            <a:ln>
              <a:noFill/>
            </a:ln>
          </c:spPr>
          <c:invertIfNegative val="1"/>
          <c:cat>
            <c:strLit>
              <c:ptCount val="8"/>
              <c:pt idx="0">
                <c:v>FC 2026</c:v>
              </c:pt>
              <c:pt idx="1">
                <c:v>ФОТ разработки</c:v>
              </c:pt>
              <c:pt idx="2">
                <c:v>IT ПО и техника</c:v>
              </c:pt>
              <c:pt idx="3">
                <c:v>Фасады ТТ</c:v>
              </c:pt>
              <c:pt idx="4">
                <c:v>Медиа с КСО</c:v>
              </c:pt>
              <c:pt idx="5">
                <c:v>Фасад БФ</c:v>
              </c:pt>
              <c:pt idx="6">
                <c:v>Система медиа</c:v>
              </c:pt>
              <c:pt idx="7">
                <c:v>BU 2027</c:v>
              </c:pt>
            </c:strLit>
          </c:cat>
          <c:val>
            <c:numLit>
              <c:formatCode>General</c:formatCode>
              <c:ptCount val="8"/>
              <c:pt idx="2">
                <c:v>19.5</c:v>
              </c:pt>
              <c:pt idx="3">
                <c:v>132.19999999999999</c:v>
              </c:pt>
              <c:pt idx="4">
                <c:v>66.599999999999994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555E-9B44-A647-D1A58B1277AA}"/>
            </c:ext>
          </c:extLst>
        </c:ser>
        <c:ser>
          <c:idx val="3"/>
          <c:order val="3"/>
          <c:tx>
            <c:v>Total</c:v>
          </c:tx>
          <c:spPr>
            <a:solidFill>
              <a:srgbClr val="999999"/>
            </a:solidFill>
            <a:ln>
              <a:noFill/>
            </a:ln>
          </c:spPr>
          <c:invertIfNegative val="1"/>
          <c:cat>
            <c:strLit>
              <c:ptCount val="8"/>
              <c:pt idx="0">
                <c:v>FC 2026</c:v>
              </c:pt>
              <c:pt idx="1">
                <c:v>ФОТ разработки</c:v>
              </c:pt>
              <c:pt idx="2">
                <c:v>IT ПО и техника</c:v>
              </c:pt>
              <c:pt idx="3">
                <c:v>Фасады ТТ</c:v>
              </c:pt>
              <c:pt idx="4">
                <c:v>Медиа с КСО</c:v>
              </c:pt>
              <c:pt idx="5">
                <c:v>Фасад БФ</c:v>
              </c:pt>
              <c:pt idx="6">
                <c:v>Система медиа</c:v>
              </c:pt>
              <c:pt idx="7">
                <c:v>BU 2027</c:v>
              </c:pt>
            </c:strLit>
          </c:cat>
          <c:val>
            <c:numLit>
              <c:formatCode>General</c:formatCode>
              <c:ptCount val="8"/>
              <c:pt idx="0">
                <c:v>1179.5999999999999</c:v>
              </c:pt>
              <c:pt idx="7">
                <c:v>1150.4999999999998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555E-9B44-A647-D1A58B1277AA}"/>
            </c:ext>
          </c:extLst>
        </c:ser>
        <c:ser>
          <c:idx val="4"/>
          <c:order val="4"/>
          <c:tx>
            <c:v>Labels</c:v>
          </c:tx>
          <c:spPr>
            <a:noFill/>
            <a:ln>
              <a:noFill/>
            </a:ln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r>
                      <a:rPr lang="en-US" sz="1400" b="1">
                        <a:solidFill>
                          <a:srgbClr val="999999"/>
                        </a:solidFill>
                        <a:latin typeface="Arial"/>
                      </a:rPr>
                      <a:t>1 180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4-555E-9B44-A647-D1A58B1277AA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FF452C"/>
                        </a:solidFill>
                        <a:latin typeface="Arial"/>
                      </a:rPr>
                      <a:t>+113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5-555E-9B44-A647-D1A58B1277AA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595959"/>
                        </a:solidFill>
                        <a:latin typeface="Arial"/>
                      </a:rPr>
                      <a:t>−20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6-555E-9B44-A647-D1A58B1277AA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595959"/>
                        </a:solidFill>
                        <a:latin typeface="Arial"/>
                      </a:rPr>
                      <a:t>−132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7-555E-9B44-A647-D1A58B1277AA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595959"/>
                        </a:solidFill>
                        <a:latin typeface="Arial"/>
                      </a:rPr>
                      <a:t>−67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8-555E-9B44-A647-D1A58B1277AA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FF452C"/>
                        </a:solidFill>
                        <a:latin typeface="Arial"/>
                      </a:rPr>
                      <a:t>+71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9-555E-9B44-A647-D1A58B1277AA}"/>
                </c:ext>
              </c:extLst>
            </c:dLbl>
            <c:dLbl>
              <c:idx val="6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FF452C"/>
                        </a:solidFill>
                        <a:latin typeface="Arial"/>
                      </a:rPr>
                      <a:t>+5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A-555E-9B44-A647-D1A58B1277AA}"/>
                </c:ext>
              </c:extLst>
            </c:dLbl>
            <c:dLbl>
              <c:idx val="7"/>
              <c:tx>
                <c:rich>
                  <a:bodyPr/>
                  <a:lstStyle/>
                  <a:p>
                    <a:r>
                      <a:rPr lang="en-US" sz="1400" b="1">
                        <a:solidFill>
                          <a:srgbClr val="999999"/>
                        </a:solidFill>
                        <a:latin typeface="Arial"/>
                      </a:rPr>
                      <a:t>1 151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B-555E-9B44-A647-D1A58B1277AA}"/>
                </c:ext>
              </c:extLst>
            </c:dLbl>
            <c:spPr>
              <a:noFill/>
              <a:ln>
                <a:noFill/>
              </a:ln>
              <a:effectLst/>
            </c:spPr>
            <c:dLblPos val="inBase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8"/>
              <c:pt idx="0">
                <c:v>FC 2026</c:v>
              </c:pt>
              <c:pt idx="1">
                <c:v>ФОТ разработки</c:v>
              </c:pt>
              <c:pt idx="2">
                <c:v>IT ПО и техника</c:v>
              </c:pt>
              <c:pt idx="3">
                <c:v>Фасады ТТ</c:v>
              </c:pt>
              <c:pt idx="4">
                <c:v>Медиа с КСО</c:v>
              </c:pt>
              <c:pt idx="5">
                <c:v>Фасад БФ</c:v>
              </c:pt>
              <c:pt idx="6">
                <c:v>Система медиа</c:v>
              </c:pt>
              <c:pt idx="7">
                <c:v>BU 2027</c:v>
              </c:pt>
            </c:strLit>
          </c:cat>
          <c:val>
            <c:numLit>
              <c:formatCode>General</c:formatCode>
              <c:ptCount val="8"/>
              <c:pt idx="0">
                <c:v>12.928999999999998</c:v>
              </c:pt>
              <c:pt idx="1">
                <c:v>12.928999999999998</c:v>
              </c:pt>
              <c:pt idx="2">
                <c:v>12.928999999999998</c:v>
              </c:pt>
              <c:pt idx="3">
                <c:v>12.928999999999998</c:v>
              </c:pt>
              <c:pt idx="4">
                <c:v>12.928999999999998</c:v>
              </c:pt>
              <c:pt idx="5">
                <c:v>12.928999999999998</c:v>
              </c:pt>
              <c:pt idx="6">
                <c:v>12.928999999999998</c:v>
              </c:pt>
              <c:pt idx="7">
                <c:v>12.928999999999998</c:v>
              </c:pt>
            </c:numLit>
          </c:val>
          <c:extLst>
            <c:ext xmlns:c16="http://schemas.microsoft.com/office/drawing/2014/chart" uri="{C3380CC4-5D6E-409C-BE32-E72D297353CC}">
              <c16:uniqueId val="{0000000C-555E-9B44-A647-D1A58B1277A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overlap val="100"/>
        <c:axId val="1"/>
        <c:axId val="2"/>
      </c:barChart>
      <c:catAx>
        <c:axId val="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BFBFBF"/>
            </a:solidFill>
          </a:ln>
        </c:spPr>
        <c:txPr>
          <a:bodyPr rot="0" vert="horz"/>
          <a:lstStyle/>
          <a:p>
            <a:pPr>
              <a:defRPr sz="1100" b="0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"/>
        <c:crosses val="autoZero"/>
        <c:auto val="1"/>
        <c:lblAlgn val="ctr"/>
        <c:lblOffset val="100"/>
        <c:tickLblSkip val="1"/>
        <c:noMultiLvlLbl val="1"/>
      </c:catAx>
      <c:valAx>
        <c:axId val="2"/>
        <c:scaling>
          <c:orientation val="minMax"/>
          <c:max val="1620"/>
          <c:min val="0"/>
        </c:scaling>
        <c:delete val="1"/>
        <c:axPos val="l"/>
        <c:numFmt formatCode="General" sourceLinked="1"/>
        <c:majorTickMark val="none"/>
        <c:minorTickMark val="none"/>
        <c:tickLblPos val="none"/>
        <c:crossAx val="1"/>
        <c:crosses val="autoZero"/>
        <c:crossBetween val="between"/>
      </c:valAx>
      <c:spPr>
        <a:noFill/>
        <a:ln>
          <a:noFill/>
        </a:ln>
      </c:spPr>
    </c:plotArea>
    <c:plotVisOnly val="1"/>
    <c:dispBlanksAs val="gap"/>
    <c:showDLblsOverMax val="1"/>
  </c:chart>
  <c:spPr>
    <a:noFill/>
    <a:ln>
      <a:noFill/>
    </a:ln>
  </c:spPr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R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B509E16-A88B-8B44-9AED-5D26A22D5264}" type="datetimeFigureOut">
              <a:rPr lang="en-RU" smtClean="0"/>
              <a:t>14.10.2026</a:t>
            </a:fld>
            <a:endParaRPr lang="en-R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R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A19F212-A752-C14B-A109-423296A66E50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20371950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E3D7615-9D8D-4AFB-A858-D9C1AB35B54F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923323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E3D7615-9D8D-4AFB-A858-D9C1AB35B54F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923323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E3D7615-9D8D-4AFB-A858-D9C1AB35B54F}" type="slidenum">
              <a:rPr lang="ru-RU" smtClean="0"/>
              <a:t>15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923323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E3D7615-9D8D-4AFB-A858-D9C1AB35B54F}" type="slidenum">
              <a:rPr lang="ru-RU" smtClean="0"/>
              <a:t>21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923323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19F212-A752-C14B-A109-423296A66E50}" type="slidenum">
              <a:rPr lang="en-RU" smtClean="0"/>
              <a:t>23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361418793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E3D7615-9D8D-4AFB-A858-D9C1AB35B54F}" type="slidenum">
              <a:rPr lang="ru-RU" smtClean="0"/>
              <a:t>31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923323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.xml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4.emf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3.xml"/><Relationship Id="rId5" Type="http://schemas.openxmlformats.org/officeDocument/2006/relationships/image" Target="../media/image3.png"/><Relationship Id="rId4" Type="http://schemas.openxmlformats.org/officeDocument/2006/relationships/image" Target="../media/image4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6_Обложка">
    <p:bg>
      <p:bgPr>
        <a:solidFill>
          <a:srgbClr val="091E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CA352461-ED9D-49E8-A227-4BE396B7BB05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4" progId="TCLayout.ActiveDocument.1">
                  <p:embed/>
                </p:oleObj>
              </mc:Choice>
              <mc:Fallback>
                <p:oleObj name="think-cell Slide" r:id="rId3" imgW="395" imgH="394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CA352461-ED9D-49E8-A227-4BE396B7BB0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E5C9D1B3-9449-1E35-A4F9-B27E63F23C36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Текст 8">
            <a:extLst>
              <a:ext uri="{FF2B5EF4-FFF2-40B4-BE49-F238E27FC236}">
                <a16:creationId xmlns:a16="http://schemas.microsoft.com/office/drawing/2014/main" id="{77C6AA7E-B9EC-D689-A34D-26514F873C4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265324" y="6039859"/>
            <a:ext cx="4383751" cy="2667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Дата. Шрифт </a:t>
            </a:r>
            <a:r>
              <a:rPr lang="en" dirty="0"/>
              <a:t>Arial Regular 12</a:t>
            </a:r>
            <a:endParaRPr lang="ru-RU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82E6B423-8860-5583-7550-8185EF9884D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50862" y="5684181"/>
            <a:ext cx="2631725" cy="822101"/>
          </a:xfrm>
          <a:prstGeom prst="rect">
            <a:avLst/>
          </a:prstGeom>
        </p:spPr>
      </p:pic>
      <p:sp>
        <p:nvSpPr>
          <p:cNvPr id="7" name="Текст 5">
            <a:extLst>
              <a:ext uri="{FF2B5EF4-FFF2-40B4-BE49-F238E27FC236}">
                <a16:creationId xmlns:a16="http://schemas.microsoft.com/office/drawing/2014/main" id="{1661DD3A-AD3B-4577-8E6F-0575534B65F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1514475"/>
            <a:ext cx="11098211" cy="2095500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000" b="1" i="0" baseline="0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ru-RU" dirty="0"/>
              <a:t>Заголовок</a:t>
            </a:r>
            <a:r>
              <a:rPr lang="en-US" dirty="0"/>
              <a:t> </a:t>
            </a:r>
            <a:r>
              <a:rPr lang="ru-RU" dirty="0"/>
              <a:t>презентации</a:t>
            </a:r>
          </a:p>
          <a:p>
            <a:r>
              <a:rPr lang="ru-RU" dirty="0"/>
              <a:t>в несколько строк</a:t>
            </a:r>
          </a:p>
          <a:p>
            <a:r>
              <a:rPr lang="ru-RU" dirty="0"/>
              <a:t>Шрифт </a:t>
            </a:r>
            <a:r>
              <a:rPr lang="en" dirty="0"/>
              <a:t>Arial Bold </a:t>
            </a:r>
            <a:r>
              <a:rPr lang="ru-RU" dirty="0"/>
              <a:t>50</a:t>
            </a:r>
          </a:p>
        </p:txBody>
      </p:sp>
      <p:sp>
        <p:nvSpPr>
          <p:cNvPr id="8" name="Текст 5">
            <a:extLst>
              <a:ext uri="{FF2B5EF4-FFF2-40B4-BE49-F238E27FC236}">
                <a16:creationId xmlns:a16="http://schemas.microsoft.com/office/drawing/2014/main" id="{EFFB686D-4A94-40E6-894F-ABB96ADE7A4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0864" y="3827102"/>
            <a:ext cx="5484812" cy="1260893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defRPr sz="1800" b="0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Имя Фамилия </a:t>
            </a:r>
            <a:br>
              <a:rPr lang="en-US" dirty="0"/>
            </a:br>
            <a:r>
              <a:rPr lang="ru-RU" dirty="0"/>
              <a:t>Шрифт </a:t>
            </a:r>
            <a:r>
              <a:rPr lang="en-US" dirty="0"/>
              <a:t>Arial Regular </a:t>
            </a:r>
            <a:r>
              <a:rPr lang="ru-RU" dirty="0"/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108355394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Внутренняя страница_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54D6B520-E496-4DE7-A7EA-039CB24155C4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4" progId="TCLayout.ActiveDocument.1">
                  <p:embed/>
                </p:oleObj>
              </mc:Choice>
              <mc:Fallback>
                <p:oleObj name="think-cell Slide" r:id="rId3" imgW="395" imgH="394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54D6B520-E496-4DE7-A7EA-039CB24155C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Текст 3">
            <a:extLst>
              <a:ext uri="{FF2B5EF4-FFF2-40B4-BE49-F238E27FC236}">
                <a16:creationId xmlns:a16="http://schemas.microsoft.com/office/drawing/2014/main" id="{F4EADE36-7228-4328-B953-053A78FFB65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619251" y="6238124"/>
            <a:ext cx="9277350" cy="391275"/>
          </a:xfrm>
          <a:prstGeom prst="rect">
            <a:avLst/>
          </a:prstGeom>
        </p:spPr>
        <p:txBody>
          <a:bodyPr lIns="0" tIns="0"/>
          <a:lstStyle>
            <a:lvl1pPr>
              <a:defRPr sz="900">
                <a:solidFill>
                  <a:schemeClr val="tx1"/>
                </a:solidFill>
              </a:defRPr>
            </a:lvl1pPr>
          </a:lstStyle>
          <a:p>
            <a:pPr lvl="0"/>
            <a:r>
              <a:rPr lang="ru-RU" dirty="0"/>
              <a:t>Сноска. Шрифт </a:t>
            </a:r>
            <a:r>
              <a:rPr lang="en-US" dirty="0"/>
              <a:t>Arial Regular </a:t>
            </a:r>
            <a:r>
              <a:rPr lang="ru-RU" dirty="0"/>
              <a:t>9</a:t>
            </a:r>
          </a:p>
        </p:txBody>
      </p:sp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B17D90FF-1B5F-46FE-8880-4FF59512C99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42050" y="6362699"/>
            <a:ext cx="485775" cy="2667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27D41D6-7756-D84E-A787-9DAD2BF0F149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1" name="Текст 5">
            <a:extLst>
              <a:ext uri="{FF2B5EF4-FFF2-40B4-BE49-F238E27FC236}">
                <a16:creationId xmlns:a16="http://schemas.microsoft.com/office/drawing/2014/main" id="{AC2FBA2D-C41D-4879-85FA-C8B9BDB2A74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4176" y="225092"/>
            <a:ext cx="10594970" cy="660733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spcBef>
                <a:spcPts val="0"/>
              </a:spcBef>
              <a:defRPr sz="2400" b="1" i="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Заголовок слайда</a:t>
            </a:r>
            <a:r>
              <a:rPr lang="en-US" dirty="0"/>
              <a:t> </a:t>
            </a:r>
            <a:r>
              <a:rPr lang="ru-RU" dirty="0"/>
              <a:t>в две строки</a:t>
            </a:r>
            <a:br>
              <a:rPr lang="ru-RU" dirty="0"/>
            </a:br>
            <a:r>
              <a:rPr lang="ru-RU" dirty="0"/>
              <a:t>Шрифт </a:t>
            </a:r>
            <a:r>
              <a:rPr lang="en" dirty="0"/>
              <a:t>Arial Bold </a:t>
            </a:r>
            <a:r>
              <a:rPr lang="ru-RU" dirty="0"/>
              <a:t>24</a:t>
            </a:r>
          </a:p>
        </p:txBody>
      </p:sp>
      <p:pic>
        <p:nvPicPr>
          <p:cNvPr id="5" name="Google Shape;329;p48">
            <a:extLst>
              <a:ext uri="{FF2B5EF4-FFF2-40B4-BE49-F238E27FC236}">
                <a16:creationId xmlns:a16="http://schemas.microsoft.com/office/drawing/2014/main" id="{C2310AFE-C757-48FC-8C89-768B12B79D26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 t="32015" b="29633"/>
          <a:stretch/>
        </p:blipFill>
        <p:spPr>
          <a:xfrm>
            <a:off x="10959145" y="210404"/>
            <a:ext cx="868680" cy="33315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81743545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theme" Target="../theme/theme1.xml"/><Relationship Id="rId7" Type="http://schemas.openxmlformats.org/officeDocument/2006/relationships/image" Target="../media/image2.sv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emf"/><Relationship Id="rId5" Type="http://schemas.openxmlformats.org/officeDocument/2006/relationships/oleObject" Target="../embeddings/oleObject1.bin"/><Relationship Id="rId4" Type="http://schemas.openxmlformats.org/officeDocument/2006/relationships/tags" Target="../tags/tag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2DF0275F-82EB-4AF8-93F2-E32D2E3F4A0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4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425" imgH="426" progId="TCLayout.ActiveDocument.1">
                  <p:embed/>
                </p:oleObj>
              </mc:Choice>
              <mc:Fallback>
                <p:oleObj name="think-cell Slide" r:id="rId5" imgW="425" imgH="426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2DF0275F-82EB-4AF8-93F2-E32D2E3F4A0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EC4ABD1C-F459-2C26-F2B9-9BA713F071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55362" y="6362700"/>
            <a:ext cx="485775" cy="2667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27D41D6-7756-D84E-A787-9DAD2BF0F149}" type="slidenum">
              <a:rPr lang="ru-RU" smtClean="0"/>
              <a:pPr/>
              <a:t>‹#›</a:t>
            </a:fld>
            <a:endParaRPr lang="ru-RU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E1C2BBA4-A98A-7E39-4BDE-05CCE102983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64175" y="6260830"/>
            <a:ext cx="1179870" cy="368569"/>
          </a:xfrm>
          <a:prstGeom prst="rect">
            <a:avLst/>
          </a:prstGeom>
        </p:spPr>
      </p:pic>
      <p:pic>
        <p:nvPicPr>
          <p:cNvPr id="6" name="Google Shape;329;p48">
            <a:extLst>
              <a:ext uri="{FF2B5EF4-FFF2-40B4-BE49-F238E27FC236}">
                <a16:creationId xmlns:a16="http://schemas.microsoft.com/office/drawing/2014/main" id="{E1B4E335-9445-4D22-A1BC-8334344EE35A}"/>
              </a:ext>
            </a:extLst>
          </p:cNvPr>
          <p:cNvPicPr preferRelativeResize="0"/>
          <p:nvPr userDrawn="1"/>
        </p:nvPicPr>
        <p:blipFill rotWithShape="1">
          <a:blip r:embed="rId8">
            <a:alphaModFix/>
          </a:blip>
          <a:srcRect t="32015" b="29633"/>
          <a:stretch/>
        </p:blipFill>
        <p:spPr>
          <a:xfrm>
            <a:off x="10959145" y="210404"/>
            <a:ext cx="868680" cy="33315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3307106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6" r:id="rId1"/>
    <p:sldLayoutId id="2147483674" r:id="rId2"/>
  </p:sldLayoutIdLst>
  <p:hf hdr="0" ftr="0" dt="0"/>
  <p:txStyles>
    <p:titleStyle>
      <a:lvl1pPr algn="l" defTabSz="914354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0" indent="0" algn="l" defTabSz="914354" rtl="0" eaLnBrk="1" latinLnBrk="0" hangingPunct="1">
        <a:lnSpc>
          <a:spcPct val="90000"/>
        </a:lnSpc>
        <a:spcBef>
          <a:spcPts val="1000"/>
        </a:spcBef>
        <a:buFontTx/>
        <a:buNone/>
        <a:defRPr sz="2000" kern="1200">
          <a:solidFill>
            <a:schemeClr val="accent3"/>
          </a:solidFill>
          <a:latin typeface="+mn-lt"/>
          <a:ea typeface="+mn-ea"/>
          <a:cs typeface="+mn-cs"/>
        </a:defRPr>
      </a:lvl1pPr>
      <a:lvl2pPr marL="457178" indent="0" algn="l" defTabSz="914354" rtl="0" eaLnBrk="1" latinLnBrk="0" hangingPunct="1">
        <a:lnSpc>
          <a:spcPct val="90000"/>
        </a:lnSpc>
        <a:spcBef>
          <a:spcPts val="500"/>
        </a:spcBef>
        <a:buFontTx/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54" indent="0" algn="l" defTabSz="914354" rtl="0" eaLnBrk="1" latinLnBrk="0" hangingPunct="1">
        <a:lnSpc>
          <a:spcPct val="90000"/>
        </a:lnSpc>
        <a:spcBef>
          <a:spcPts val="500"/>
        </a:spcBef>
        <a:buFontTx/>
        <a:buNone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32" indent="0" algn="l" defTabSz="914354" rtl="0" eaLnBrk="1" latinLnBrk="0" hangingPunct="1">
        <a:lnSpc>
          <a:spcPct val="90000"/>
        </a:lnSpc>
        <a:spcBef>
          <a:spcPts val="500"/>
        </a:spcBef>
        <a:buFontTx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09" indent="0" algn="l" defTabSz="914354" rtl="0" eaLnBrk="1" latinLnBrk="0" hangingPunct="1">
        <a:lnSpc>
          <a:spcPct val="90000"/>
        </a:lnSpc>
        <a:spcBef>
          <a:spcPts val="500"/>
        </a:spcBef>
        <a:buFontTx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474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65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829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0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7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54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3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09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86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06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4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1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47">
          <p15:clr>
            <a:srgbClr val="F26B43"/>
          </p15:clr>
        </p15:guide>
        <p15:guide id="4" orient="horz" pos="4156">
          <p15:clr>
            <a:srgbClr val="F26B43"/>
          </p15:clr>
        </p15:guide>
        <p15:guide id="5" orient="horz" pos="323">
          <p15:clr>
            <a:srgbClr val="F26B43"/>
          </p15:clr>
        </p15:guide>
        <p15:guide id="7" pos="1148">
          <p15:clr>
            <a:srgbClr val="F26B43"/>
          </p15:clr>
        </p15:guide>
        <p15:guide id="8" pos="1236">
          <p15:clr>
            <a:srgbClr val="F26B43"/>
          </p15:clr>
        </p15:guide>
        <p15:guide id="10" pos="2032">
          <p15:clr>
            <a:srgbClr val="F26B43"/>
          </p15:clr>
        </p15:guide>
        <p15:guide id="11" pos="2120">
          <p15:clr>
            <a:srgbClr val="F26B43"/>
          </p15:clr>
        </p15:guide>
        <p15:guide id="13" pos="2916">
          <p15:clr>
            <a:srgbClr val="F26B43"/>
          </p15:clr>
        </p15:guide>
        <p15:guide id="14" pos="3004">
          <p15:clr>
            <a:srgbClr val="F26B43"/>
          </p15:clr>
        </p15:guide>
        <p15:guide id="16" pos="3802">
          <p15:clr>
            <a:srgbClr val="F26B43"/>
          </p15:clr>
        </p15:guide>
        <p15:guide id="17" pos="7338">
          <p15:clr>
            <a:srgbClr val="F26B43"/>
          </p15:clr>
        </p15:guide>
        <p15:guide id="19" pos="6538">
          <p15:clr>
            <a:srgbClr val="F26B43"/>
          </p15:clr>
        </p15:guide>
        <p15:guide id="20" pos="6452">
          <p15:clr>
            <a:srgbClr val="F26B43"/>
          </p15:clr>
        </p15:guide>
        <p15:guide id="22" pos="5656">
          <p15:clr>
            <a:srgbClr val="F26B43"/>
          </p15:clr>
        </p15:guide>
        <p15:guide id="23" pos="5568">
          <p15:clr>
            <a:srgbClr val="F26B43"/>
          </p15:clr>
        </p15:guide>
        <p15:guide id="25" pos="4770">
          <p15:clr>
            <a:srgbClr val="F26B43"/>
          </p15:clr>
        </p15:guide>
        <p15:guide id="26" pos="4684">
          <p15:clr>
            <a:srgbClr val="F26B43"/>
          </p15:clr>
        </p15:guide>
        <p15:guide id="28" pos="3888">
          <p15:clr>
            <a:srgbClr val="F26B43"/>
          </p15:clr>
        </p15:guide>
        <p15:guide id="39" orient="horz" pos="3988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4.xml"/><Relationship Id="rId5" Type="http://schemas.openxmlformats.org/officeDocument/2006/relationships/image" Target="../media/image4.emf"/><Relationship Id="rId4" Type="http://schemas.openxmlformats.org/officeDocument/2006/relationships/oleObject" Target="../embeddings/oleObject4.bin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5.xml"/><Relationship Id="rId5" Type="http://schemas.openxmlformats.org/officeDocument/2006/relationships/image" Target="../media/image4.emf"/><Relationship Id="rId4" Type="http://schemas.openxmlformats.org/officeDocument/2006/relationships/oleObject" Target="../embeddings/oleObject4.bin"/></Relationships>
</file>

<file path=ppt/slides/_rels/slide5.xml.rels><?xml version="1.0" encoding="UTF-8" standalone="yes"?>
<Relationships xmlns="http://schemas.openxmlformats.org/package/2006/relationships"><Relationship Id="rId13" Type="http://schemas.openxmlformats.org/officeDocument/2006/relationships/tags" Target="../tags/tag18.xml"/><Relationship Id="rId18" Type="http://schemas.openxmlformats.org/officeDocument/2006/relationships/tags" Target="../tags/tag23.xml"/><Relationship Id="rId26" Type="http://schemas.openxmlformats.org/officeDocument/2006/relationships/tags" Target="../tags/tag31.xml"/><Relationship Id="rId39" Type="http://schemas.openxmlformats.org/officeDocument/2006/relationships/tags" Target="../tags/tag44.xml"/><Relationship Id="rId21" Type="http://schemas.openxmlformats.org/officeDocument/2006/relationships/tags" Target="../tags/tag26.xml"/><Relationship Id="rId34" Type="http://schemas.openxmlformats.org/officeDocument/2006/relationships/tags" Target="../tags/tag39.xml"/><Relationship Id="rId42" Type="http://schemas.openxmlformats.org/officeDocument/2006/relationships/tags" Target="../tags/tag47.xml"/><Relationship Id="rId47" Type="http://schemas.openxmlformats.org/officeDocument/2006/relationships/tags" Target="../tags/tag52.xml"/><Relationship Id="rId50" Type="http://schemas.openxmlformats.org/officeDocument/2006/relationships/tags" Target="../tags/tag55.xml"/><Relationship Id="rId55" Type="http://schemas.openxmlformats.org/officeDocument/2006/relationships/chart" Target="../charts/chart1.xml"/><Relationship Id="rId7" Type="http://schemas.openxmlformats.org/officeDocument/2006/relationships/tags" Target="../tags/tag12.xml"/><Relationship Id="rId2" Type="http://schemas.openxmlformats.org/officeDocument/2006/relationships/tags" Target="../tags/tag7.xml"/><Relationship Id="rId16" Type="http://schemas.openxmlformats.org/officeDocument/2006/relationships/tags" Target="../tags/tag21.xml"/><Relationship Id="rId29" Type="http://schemas.openxmlformats.org/officeDocument/2006/relationships/tags" Target="../tags/tag34.xml"/><Relationship Id="rId11" Type="http://schemas.openxmlformats.org/officeDocument/2006/relationships/tags" Target="../tags/tag16.xml"/><Relationship Id="rId24" Type="http://schemas.openxmlformats.org/officeDocument/2006/relationships/tags" Target="../tags/tag29.xml"/><Relationship Id="rId32" Type="http://schemas.openxmlformats.org/officeDocument/2006/relationships/tags" Target="../tags/tag37.xml"/><Relationship Id="rId37" Type="http://schemas.openxmlformats.org/officeDocument/2006/relationships/tags" Target="../tags/tag42.xml"/><Relationship Id="rId40" Type="http://schemas.openxmlformats.org/officeDocument/2006/relationships/tags" Target="../tags/tag45.xml"/><Relationship Id="rId45" Type="http://schemas.openxmlformats.org/officeDocument/2006/relationships/tags" Target="../tags/tag50.xml"/><Relationship Id="rId53" Type="http://schemas.openxmlformats.org/officeDocument/2006/relationships/oleObject" Target="../embeddings/oleObject5.bin"/><Relationship Id="rId5" Type="http://schemas.openxmlformats.org/officeDocument/2006/relationships/tags" Target="../tags/tag10.xml"/><Relationship Id="rId10" Type="http://schemas.openxmlformats.org/officeDocument/2006/relationships/tags" Target="../tags/tag15.xml"/><Relationship Id="rId19" Type="http://schemas.openxmlformats.org/officeDocument/2006/relationships/tags" Target="../tags/tag24.xml"/><Relationship Id="rId31" Type="http://schemas.openxmlformats.org/officeDocument/2006/relationships/tags" Target="../tags/tag36.xml"/><Relationship Id="rId44" Type="http://schemas.openxmlformats.org/officeDocument/2006/relationships/tags" Target="../tags/tag49.xml"/><Relationship Id="rId52" Type="http://schemas.openxmlformats.org/officeDocument/2006/relationships/slideLayout" Target="../slideLayouts/slideLayout2.xml"/><Relationship Id="rId4" Type="http://schemas.openxmlformats.org/officeDocument/2006/relationships/tags" Target="../tags/tag9.xml"/><Relationship Id="rId9" Type="http://schemas.openxmlformats.org/officeDocument/2006/relationships/tags" Target="../tags/tag14.xml"/><Relationship Id="rId14" Type="http://schemas.openxmlformats.org/officeDocument/2006/relationships/tags" Target="../tags/tag19.xml"/><Relationship Id="rId22" Type="http://schemas.openxmlformats.org/officeDocument/2006/relationships/tags" Target="../tags/tag27.xml"/><Relationship Id="rId27" Type="http://schemas.openxmlformats.org/officeDocument/2006/relationships/tags" Target="../tags/tag32.xml"/><Relationship Id="rId30" Type="http://schemas.openxmlformats.org/officeDocument/2006/relationships/tags" Target="../tags/tag35.xml"/><Relationship Id="rId35" Type="http://schemas.openxmlformats.org/officeDocument/2006/relationships/tags" Target="../tags/tag40.xml"/><Relationship Id="rId43" Type="http://schemas.openxmlformats.org/officeDocument/2006/relationships/tags" Target="../tags/tag48.xml"/><Relationship Id="rId48" Type="http://schemas.openxmlformats.org/officeDocument/2006/relationships/tags" Target="../tags/tag53.xml"/><Relationship Id="rId8" Type="http://schemas.openxmlformats.org/officeDocument/2006/relationships/tags" Target="../tags/tag13.xml"/><Relationship Id="rId51" Type="http://schemas.openxmlformats.org/officeDocument/2006/relationships/tags" Target="../tags/tag56.xml"/><Relationship Id="rId3" Type="http://schemas.openxmlformats.org/officeDocument/2006/relationships/tags" Target="../tags/tag8.xml"/><Relationship Id="rId12" Type="http://schemas.openxmlformats.org/officeDocument/2006/relationships/tags" Target="../tags/tag17.xml"/><Relationship Id="rId17" Type="http://schemas.openxmlformats.org/officeDocument/2006/relationships/tags" Target="../tags/tag22.xml"/><Relationship Id="rId25" Type="http://schemas.openxmlformats.org/officeDocument/2006/relationships/tags" Target="../tags/tag30.xml"/><Relationship Id="rId33" Type="http://schemas.openxmlformats.org/officeDocument/2006/relationships/tags" Target="../tags/tag38.xml"/><Relationship Id="rId38" Type="http://schemas.openxmlformats.org/officeDocument/2006/relationships/tags" Target="../tags/tag43.xml"/><Relationship Id="rId46" Type="http://schemas.openxmlformats.org/officeDocument/2006/relationships/tags" Target="../tags/tag51.xml"/><Relationship Id="rId20" Type="http://schemas.openxmlformats.org/officeDocument/2006/relationships/tags" Target="../tags/tag25.xml"/><Relationship Id="rId41" Type="http://schemas.openxmlformats.org/officeDocument/2006/relationships/tags" Target="../tags/tag46.xml"/><Relationship Id="rId54" Type="http://schemas.openxmlformats.org/officeDocument/2006/relationships/image" Target="../media/image7.emf"/><Relationship Id="rId1" Type="http://schemas.openxmlformats.org/officeDocument/2006/relationships/tags" Target="../tags/tag6.xml"/><Relationship Id="rId6" Type="http://schemas.openxmlformats.org/officeDocument/2006/relationships/tags" Target="../tags/tag11.xml"/><Relationship Id="rId15" Type="http://schemas.openxmlformats.org/officeDocument/2006/relationships/tags" Target="../tags/tag20.xml"/><Relationship Id="rId23" Type="http://schemas.openxmlformats.org/officeDocument/2006/relationships/tags" Target="../tags/tag28.xml"/><Relationship Id="rId28" Type="http://schemas.openxmlformats.org/officeDocument/2006/relationships/tags" Target="../tags/tag33.xml"/><Relationship Id="rId36" Type="http://schemas.openxmlformats.org/officeDocument/2006/relationships/tags" Target="../tags/tag41.xml"/><Relationship Id="rId49" Type="http://schemas.openxmlformats.org/officeDocument/2006/relationships/tags" Target="../tags/tag5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6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57.xml"/><Relationship Id="rId4" Type="http://schemas.openxmlformats.org/officeDocument/2006/relationships/image" Target="../media/image8.emf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58.xml"/><Relationship Id="rId4" Type="http://schemas.openxmlformats.org/officeDocument/2006/relationships/image" Target="../media/image9.emf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59.xml"/><Relationship Id="rId5" Type="http://schemas.openxmlformats.org/officeDocument/2006/relationships/image" Target="../media/image4.emf"/><Relationship Id="rId4" Type="http://schemas.openxmlformats.org/officeDocument/2006/relationships/oleObject" Target="../embeddings/oleObject4.bin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60.xml"/><Relationship Id="rId5" Type="http://schemas.openxmlformats.org/officeDocument/2006/relationships/image" Target="../media/image4.emf"/><Relationship Id="rId4" Type="http://schemas.openxmlformats.org/officeDocument/2006/relationships/oleObject" Target="../embeddings/oleObject4.bin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chart" Target="../charts/chart6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chart" Target="../charts/chart7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chart" Target="../charts/chart8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61.xml"/><Relationship Id="rId5" Type="http://schemas.openxmlformats.org/officeDocument/2006/relationships/image" Target="../media/image4.emf"/><Relationship Id="rId4" Type="http://schemas.openxmlformats.org/officeDocument/2006/relationships/oleObject" Target="../embeddings/oleObject4.bin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jpeg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85DF8EBA-9590-4C81-9F69-5D123BF9617A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95" imgH="394" progId="TCLayout.ActiveDocument.1">
                  <p:embed/>
                </p:oleObj>
              </mc:Choice>
              <mc:Fallback>
                <p:oleObj name="think-cell Slide" r:id="rId4" imgW="395" imgH="394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85DF8EBA-9590-4C81-9F69-5D123BF9617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Текст 1">
            <a:extLst>
              <a:ext uri="{FF2B5EF4-FFF2-40B4-BE49-F238E27FC236}">
                <a16:creationId xmlns:a16="http://schemas.microsoft.com/office/drawing/2014/main" id="{E7D62E96-F664-40DC-868E-D0B2F0A46B2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ru-RU" dirty="0"/>
              <a:t>Октябрь 2026</a:t>
            </a:r>
          </a:p>
        </p:txBody>
      </p:sp>
      <p:sp>
        <p:nvSpPr>
          <p:cNvPr id="6" name="Текст 2">
            <a:extLst>
              <a:ext uri="{FF2B5EF4-FFF2-40B4-BE49-F238E27FC236}">
                <a16:creationId xmlns:a16="http://schemas.microsoft.com/office/drawing/2014/main" id="{6060A129-27E9-4599-B4E5-C57388EC22F3}"/>
              </a:ext>
            </a:extLst>
          </p:cNvPr>
          <p:cNvSpPr txBox="1">
            <a:spLocks/>
          </p:cNvSpPr>
          <p:nvPr/>
        </p:nvSpPr>
        <p:spPr>
          <a:xfrm>
            <a:off x="550863" y="512763"/>
            <a:ext cx="11098211" cy="2743055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000" b="1" i="0" kern="1200" baseline="0">
                <a:solidFill>
                  <a:schemeClr val="bg1"/>
                </a:solidFill>
                <a:latin typeface="+mj-lt"/>
                <a:ea typeface="+mn-ea"/>
                <a:cs typeface="Arial" panose="020B0604020202020204" pitchFamily="34" charset="0"/>
              </a:defRPr>
            </a:lvl1pPr>
            <a:lvl2pPr marL="457178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54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32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09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5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Магнит </a:t>
            </a:r>
            <a:r>
              <a:rPr kumimoji="0" lang="en-US" sz="5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AdTech</a:t>
            </a:r>
            <a:endParaRPr kumimoji="0" lang="ru-RU" sz="50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sym typeface="Arial"/>
            </a:endParaRPr>
          </a:p>
          <a:p>
            <a:pPr marL="0" marR="0" lvl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5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Бюджет 2027</a:t>
            </a:r>
          </a:p>
        </p:txBody>
      </p:sp>
      <p:sp>
        <p:nvSpPr>
          <p:cNvPr id="7" name="Текст 7">
            <a:extLst>
              <a:ext uri="{FF2B5EF4-FFF2-40B4-BE49-F238E27FC236}">
                <a16:creationId xmlns:a16="http://schemas.microsoft.com/office/drawing/2014/main" id="{BC4C214E-1A99-490C-A3B5-9407F8AE158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50864" y="3550877"/>
            <a:ext cx="5484812" cy="1260893"/>
          </a:xfrm>
        </p:spPr>
        <p:txBody>
          <a:bodyPr/>
          <a:lstStyle/>
          <a:p>
            <a:r>
              <a:rPr lang="ru-RU" dirty="0"/>
              <a:t>Людмила </a:t>
            </a:r>
            <a:r>
              <a:rPr lang="ru-RU" dirty="0" err="1"/>
              <a:t>Марлье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8251213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E30666E-5DDA-7C37-E83B-3CD387FA1FF8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ru-RU" sz="900" dirty="0">
                <a:solidFill>
                  <a:srgbClr val="6E6E6E"/>
                </a:solidFill>
              </a:rPr>
              <a:t>1. Ads Market Calc (внутренняя оценка рынка Magnit ADS). Все финансовые показатели — млн руб. без НДС, сравнение с FC 2026 и стратегией 2027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69739A8-6D06-4296-15BC-B08991E1FEE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2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82C5617-DF71-AC57-5D39-E98D239B02B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Executive Summary: бюджет Magnit AdTech 2027</a:t>
            </a:r>
          </a:p>
        </p:txBody>
      </p:sp>
      <p:sp>
        <p:nvSpPr>
          <p:cNvPr id="100" name="Shape 100"/>
          <p:cNvSpPr/>
          <p:nvPr/>
        </p:nvSpPr>
        <p:spPr>
          <a:xfrm>
            <a:off x="368300" y="965200"/>
            <a:ext cx="2749550" cy="10668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txBody>
          <a:bodyPr wrap="square" lIns="127000" tIns="101600" rIns="127000" bIns="12700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ru-RU" sz="2600" b="1" dirty="0">
                <a:solidFill>
                  <a:srgbClr val="FF452C"/>
                </a:solidFill>
              </a:rPr>
              <a:t>14 747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Выручка, млн руб.</a:t>
            </a:r>
          </a:p>
          <a:p>
            <a:pPr marL="0" indent="0" algn="l">
              <a:spcBef>
                <a:spcPts val="200"/>
              </a:spcBef>
              <a:buNone/>
            </a:pPr>
            <a:r>
              <a:rPr lang="ru-RU" sz="1100" dirty="0">
                <a:solidFill>
                  <a:srgbClr val="595959"/>
                </a:solidFill>
              </a:rPr>
              <a:t>+43% к FC 2026  ·  +12% к стратегии</a:t>
            </a:r>
          </a:p>
        </p:txBody>
      </p:sp>
      <p:sp>
        <p:nvSpPr>
          <p:cNvPr id="101" name="Shape 101"/>
          <p:cNvSpPr/>
          <p:nvPr/>
        </p:nvSpPr>
        <p:spPr>
          <a:xfrm>
            <a:off x="3270250" y="965200"/>
            <a:ext cx="2749550" cy="10668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txBody>
          <a:bodyPr wrap="square" lIns="127000" tIns="101600" rIns="127000" bIns="12700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ru-RU" sz="2600" b="1" dirty="0">
                <a:solidFill>
                  <a:srgbClr val="FF452C"/>
                </a:solidFill>
              </a:rPr>
              <a:t>10 966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EBITDA, млн руб.</a:t>
            </a:r>
          </a:p>
          <a:p>
            <a:pPr marL="0" indent="0" algn="l">
              <a:spcBef>
                <a:spcPts val="200"/>
              </a:spcBef>
              <a:buNone/>
            </a:pPr>
            <a:r>
              <a:rPr lang="ru-RU" sz="1100" dirty="0">
                <a:solidFill>
                  <a:srgbClr val="595959"/>
                </a:solidFill>
              </a:rPr>
              <a:t>+35% к FC 2026</a:t>
            </a:r>
          </a:p>
        </p:txBody>
      </p:sp>
      <p:sp>
        <p:nvSpPr>
          <p:cNvPr id="102" name="Shape 102"/>
          <p:cNvSpPr/>
          <p:nvPr/>
        </p:nvSpPr>
        <p:spPr>
          <a:xfrm>
            <a:off x="6172200" y="965200"/>
            <a:ext cx="2749550" cy="10668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txBody>
          <a:bodyPr wrap="square" lIns="127000" tIns="101600" rIns="127000" bIns="12700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ru-RU" sz="2600" b="1" dirty="0">
                <a:solidFill>
                  <a:srgbClr val="FF452C"/>
                </a:solidFill>
              </a:rPr>
              <a:t>1 151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CAPEX, млн руб.</a:t>
            </a:r>
          </a:p>
          <a:p>
            <a:pPr marL="0" indent="0" algn="l">
              <a:spcBef>
                <a:spcPts val="200"/>
              </a:spcBef>
              <a:buNone/>
            </a:pPr>
            <a:r>
              <a:rPr lang="ru-RU" sz="1100" dirty="0">
                <a:solidFill>
                  <a:srgbClr val="595959"/>
                </a:solidFill>
              </a:rPr>
              <a:t>−2% к FC 2026  ·  −7% к стратегии</a:t>
            </a:r>
          </a:p>
        </p:txBody>
      </p:sp>
      <p:sp>
        <p:nvSpPr>
          <p:cNvPr id="103" name="Shape 103"/>
          <p:cNvSpPr/>
          <p:nvPr/>
        </p:nvSpPr>
        <p:spPr>
          <a:xfrm>
            <a:off x="9074150" y="965200"/>
            <a:ext cx="2749550" cy="10668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txBody>
          <a:bodyPr wrap="square" lIns="127000" tIns="101600" rIns="127000" bIns="12700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ru-RU" sz="2600" b="1" dirty="0">
                <a:solidFill>
                  <a:srgbClr val="FF452C"/>
                </a:solidFill>
              </a:rPr>
              <a:t>9 815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FCF, млн руб.</a:t>
            </a:r>
          </a:p>
          <a:p>
            <a:pPr marL="0" indent="0" algn="l">
              <a:spcBef>
                <a:spcPts val="200"/>
              </a:spcBef>
              <a:buNone/>
            </a:pPr>
            <a:r>
              <a:rPr lang="ru-RU" sz="1100" dirty="0">
                <a:solidFill>
                  <a:srgbClr val="595959"/>
                </a:solidFill>
              </a:rPr>
              <a:t>+42% к FC 2026  ·  +9% к стратегии</a:t>
            </a:r>
          </a:p>
        </p:txBody>
      </p:sp>
      <p:sp>
        <p:nvSpPr>
          <p:cNvPr id="104" name="Shape 104"/>
          <p:cNvSpPr txBox="1"/>
          <p:nvPr/>
        </p:nvSpPr>
        <p:spPr>
          <a:xfrm>
            <a:off x="368300" y="2260600"/>
            <a:ext cx="3649133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Стратегия</a:t>
            </a:r>
          </a:p>
        </p:txBody>
      </p:sp>
      <p:sp>
        <p:nvSpPr>
          <p:cNvPr id="105" name="Shape 105"/>
          <p:cNvSpPr/>
          <p:nvPr/>
        </p:nvSpPr>
        <p:spPr>
          <a:xfrm>
            <a:off x="368300" y="2590800"/>
            <a:ext cx="3649133" cy="31750"/>
          </a:xfrm>
          <a:prstGeom prst="rect">
            <a:avLst/>
          </a:prstGeom>
          <a:solidFill>
            <a:srgbClr val="FF452C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106" name="Shape 106"/>
          <p:cNvSpPr txBox="1"/>
          <p:nvPr/>
        </p:nvSpPr>
        <p:spPr>
          <a:xfrm>
            <a:off x="368300" y="2717800"/>
            <a:ext cx="3649133" cy="342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600"/>
              </a:spcBef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Рынок Retail Media вырастет до </a:t>
            </a:r>
            <a:r>
              <a:rPr lang="ru-RU" sz="1400" b="1" dirty="0">
                <a:solidFill>
                  <a:srgbClr val="000000"/>
                </a:solidFill>
              </a:rPr>
              <a:t>1,2 трлн руб.</a:t>
            </a:r>
            <a:r>
              <a:rPr lang="ru-RU" sz="1400" dirty="0">
                <a:solidFill>
                  <a:srgbClr val="000000"/>
                </a:solidFill>
              </a:rPr>
              <a:t> в 2027 г. (+35%), это 42% рекламного рынка</a:t>
            </a:r>
            <a:r>
              <a:rPr lang="ru-RU" sz="1400" baseline="30000" dirty="0">
                <a:solidFill>
                  <a:srgbClr val="000000"/>
                </a:solidFill>
              </a:rPr>
              <a:t>1</a:t>
            </a:r>
          </a:p>
          <a:p>
            <a:pPr marL="171450" indent="-171450" algn="l">
              <a:spcBef>
                <a:spcPts val="600"/>
              </a:spcBef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AdTech растёт быстрее рынка: </a:t>
            </a:r>
            <a:r>
              <a:rPr lang="ru-RU" sz="1400" b="1" dirty="0">
                <a:solidFill>
                  <a:srgbClr val="000000"/>
                </a:solidFill>
              </a:rPr>
              <a:t>+43%</a:t>
            </a:r>
            <a:r>
              <a:rPr lang="ru-RU" sz="1400" dirty="0">
                <a:solidFill>
                  <a:srgbClr val="000000"/>
                </a:solidFill>
              </a:rPr>
              <a:t>, доля в Retail Media около 1,2%</a:t>
            </a:r>
          </a:p>
          <a:p>
            <a:pPr marL="171450" indent="-171450" algn="l">
              <a:spcBef>
                <a:spcPts val="600"/>
              </a:spcBef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Драйверы: аудитория приложения </a:t>
            </a:r>
            <a:r>
              <a:rPr lang="ru-RU" sz="1400" b="1" dirty="0">
                <a:solidFill>
                  <a:srgbClr val="000000"/>
                </a:solidFill>
              </a:rPr>
              <a:t>+18%</a:t>
            </a:r>
            <a:r>
              <a:rPr lang="ru-RU" sz="1400" dirty="0">
                <a:solidFill>
                  <a:srgbClr val="000000"/>
                </a:solidFill>
              </a:rPr>
              <a:t>, новый прайс с 09.2026, рост RMN и запуск Content factory</a:t>
            </a:r>
          </a:p>
        </p:txBody>
      </p:sp>
      <p:sp>
        <p:nvSpPr>
          <p:cNvPr id="107" name="Shape 107"/>
          <p:cNvSpPr txBox="1"/>
          <p:nvPr/>
        </p:nvSpPr>
        <p:spPr>
          <a:xfrm>
            <a:off x="4271433" y="2260600"/>
            <a:ext cx="3649133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Бюджет 2027</a:t>
            </a:r>
          </a:p>
        </p:txBody>
      </p:sp>
      <p:sp>
        <p:nvSpPr>
          <p:cNvPr id="108" name="Shape 108"/>
          <p:cNvSpPr/>
          <p:nvPr/>
        </p:nvSpPr>
        <p:spPr>
          <a:xfrm>
            <a:off x="4271433" y="2590800"/>
            <a:ext cx="3649133" cy="31750"/>
          </a:xfrm>
          <a:prstGeom prst="rect">
            <a:avLst/>
          </a:prstGeom>
          <a:solidFill>
            <a:srgbClr val="FF452C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109" name="Shape 109"/>
          <p:cNvSpPr txBox="1"/>
          <p:nvPr/>
        </p:nvSpPr>
        <p:spPr>
          <a:xfrm>
            <a:off x="4271433" y="2717800"/>
            <a:ext cx="3649133" cy="342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600"/>
              </a:spcBef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Выручка выше стратегии на </a:t>
            </a:r>
            <a:r>
              <a:rPr lang="ru-RU" sz="1400" b="1" dirty="0">
                <a:solidFill>
                  <a:srgbClr val="000000"/>
                </a:solidFill>
              </a:rPr>
              <a:t>1 537 млн руб.</a:t>
            </a:r>
            <a:r>
              <a:rPr lang="ru-RU" sz="1400" dirty="0">
                <a:solidFill>
                  <a:srgbClr val="000000"/>
                </a:solidFill>
              </a:rPr>
              <a:t>: RMN +850, DMP+Online +537, APP +445</a:t>
            </a:r>
          </a:p>
          <a:p>
            <a:pPr marL="171450" indent="-171450" algn="l">
              <a:spcBef>
                <a:spcPts val="600"/>
              </a:spcBef>
              <a:buFont typeface="Arial"/>
              <a:buChar char="•"/>
            </a:pPr>
            <a:r>
              <a:rPr lang="ru-RU" sz="1400" b="1" dirty="0">
                <a:solidFill>
                  <a:srgbClr val="000000"/>
                </a:solidFill>
              </a:rPr>
              <a:t>42%</a:t>
            </a:r>
            <a:r>
              <a:rPr lang="ru-RU" sz="1400" dirty="0">
                <a:solidFill>
                  <a:srgbClr val="000000"/>
                </a:solidFill>
              </a:rPr>
              <a:t> годовой выручки приходится на Q4: сезонность цен и рост аудитории</a:t>
            </a:r>
          </a:p>
          <a:p>
            <a:pPr marL="171450" indent="-171450" algn="l">
              <a:spcBef>
                <a:spcPts val="600"/>
              </a:spcBef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OPEX растёт на </a:t>
            </a:r>
            <a:r>
              <a:rPr lang="ru-RU" sz="1400" b="1" dirty="0">
                <a:solidFill>
                  <a:srgbClr val="000000"/>
                </a:solidFill>
              </a:rPr>
              <a:t>1 543 млн руб.</a:t>
            </a:r>
            <a:r>
              <a:rPr lang="ru-RU" sz="1400" dirty="0">
                <a:solidFill>
                  <a:srgbClr val="000000"/>
                </a:solidFill>
              </a:rPr>
              <a:t> (+69%); 73% прироста — расходы, привязанные к выручке: трафик DMP, агентства, креаторы</a:t>
            </a:r>
          </a:p>
        </p:txBody>
      </p:sp>
      <p:sp>
        <p:nvSpPr>
          <p:cNvPr id="110" name="Shape 110"/>
          <p:cNvSpPr txBox="1"/>
          <p:nvPr/>
        </p:nvSpPr>
        <p:spPr>
          <a:xfrm>
            <a:off x="8174567" y="2260600"/>
            <a:ext cx="3649133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CAPEX и FCF</a:t>
            </a:r>
          </a:p>
        </p:txBody>
      </p:sp>
      <p:sp>
        <p:nvSpPr>
          <p:cNvPr id="111" name="Shape 111"/>
          <p:cNvSpPr/>
          <p:nvPr/>
        </p:nvSpPr>
        <p:spPr>
          <a:xfrm>
            <a:off x="8174567" y="2590800"/>
            <a:ext cx="3649133" cy="31750"/>
          </a:xfrm>
          <a:prstGeom prst="rect">
            <a:avLst/>
          </a:prstGeom>
          <a:solidFill>
            <a:srgbClr val="FF452C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112" name="Shape 112"/>
          <p:cNvSpPr txBox="1"/>
          <p:nvPr/>
        </p:nvSpPr>
        <p:spPr>
          <a:xfrm>
            <a:off x="8174567" y="2717800"/>
            <a:ext cx="3649133" cy="342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600"/>
              </a:spcBef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AT Platform: </a:t>
            </a:r>
            <a:r>
              <a:rPr lang="ru-RU" sz="1400" b="1" dirty="0">
                <a:solidFill>
                  <a:srgbClr val="000000"/>
                </a:solidFill>
              </a:rPr>
              <a:t>541 млн руб.</a:t>
            </a:r>
            <a:r>
              <a:rPr lang="ru-RU" sz="1400" dirty="0">
                <a:solidFill>
                  <a:srgbClr val="000000"/>
                </a:solidFill>
              </a:rPr>
              <a:t> (+94), из них 510 — капитализация ФОТ разработки</a:t>
            </a:r>
          </a:p>
          <a:p>
            <a:pPr marL="171450" indent="-171450" algn="l">
              <a:spcBef>
                <a:spcPts val="600"/>
              </a:spcBef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In-store: </a:t>
            </a:r>
            <a:r>
              <a:rPr lang="ru-RU" sz="1400" b="1" dirty="0">
                <a:solidFill>
                  <a:srgbClr val="000000"/>
                </a:solidFill>
              </a:rPr>
              <a:t>610 млн руб.</a:t>
            </a:r>
            <a:r>
              <a:rPr lang="ru-RU" sz="1400" dirty="0">
                <a:solidFill>
                  <a:srgbClr val="000000"/>
                </a:solidFill>
              </a:rPr>
              <a:t> (−123), в т.ч. система управления медиаконтентом 438</a:t>
            </a:r>
          </a:p>
          <a:p>
            <a:pPr marL="171450" indent="-171450" algn="l">
              <a:spcBef>
                <a:spcPts val="600"/>
              </a:spcBef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FCF </a:t>
            </a:r>
            <a:r>
              <a:rPr lang="ru-RU" sz="1400" b="1" dirty="0">
                <a:solidFill>
                  <a:srgbClr val="000000"/>
                </a:solidFill>
              </a:rPr>
              <a:t>9 815 млн руб.</a:t>
            </a:r>
            <a:r>
              <a:rPr lang="ru-RU" sz="1400" dirty="0">
                <a:solidFill>
                  <a:srgbClr val="000000"/>
                </a:solidFill>
              </a:rPr>
              <a:t> — на 842 млн руб. выше стратегии</a:t>
            </a:r>
          </a:p>
        </p:txBody>
      </p:sp>
    </p:spTree>
    <p:extLst>
      <p:ext uri="{BB962C8B-B14F-4D97-AF65-F5344CB8AC3E}">
        <p14:creationId xmlns:p14="http://schemas.microsoft.com/office/powerpoint/2010/main" val="21337172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E30666E-5DDA-7C37-E83B-3CD387FA1FF8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US" sz="900" noProof="1">
                <a:solidFill>
                  <a:srgbClr val="6E6E6E"/>
                </a:solidFill>
              </a:rPr>
              <a:t>Revenue </a:t>
            </a:r>
            <a:r>
              <a:rPr lang="ru-RU" sz="900" noProof="1">
                <a:solidFill>
                  <a:srgbClr val="6E6E6E"/>
                </a:solidFill>
              </a:rPr>
              <a:t>(</a:t>
            </a:r>
            <a:r>
              <a:rPr lang="en-US" sz="900" noProof="1">
                <a:solidFill>
                  <a:srgbClr val="6E6E6E"/>
                </a:solidFill>
              </a:rPr>
              <a:t>incr</a:t>
            </a:r>
            <a:r>
              <a:rPr lang="en-US" noProof="1">
                <a:solidFill>
                  <a:srgbClr val="6E6E6E"/>
                </a:solidFill>
              </a:rPr>
              <a:t>ease)</a:t>
            </a:r>
            <a:r>
              <a:rPr lang="en-US" sz="900" noProof="1">
                <a:solidFill>
                  <a:srgbClr val="6E6E6E"/>
                </a:solidFill>
              </a:rPr>
              <a:t> </a:t>
            </a:r>
            <a:r>
              <a:rPr lang="ru-RU" sz="900" dirty="0">
                <a:solidFill>
                  <a:srgbClr val="6E6E6E"/>
                </a:solidFill>
              </a:rPr>
              <a:t>— </a:t>
            </a:r>
            <a:r>
              <a:rPr lang="ru-RU" dirty="0">
                <a:solidFill>
                  <a:srgbClr val="6E6E6E"/>
                </a:solidFill>
              </a:rPr>
              <a:t>дополнительная выручка </a:t>
            </a:r>
            <a:r>
              <a:rPr lang="en-US" dirty="0">
                <a:solidFill>
                  <a:srgbClr val="6E6E6E"/>
                </a:solidFill>
              </a:rPr>
              <a:t>vs 2026FC8+4. </a:t>
            </a:r>
            <a:r>
              <a:rPr lang="ru-RU" sz="900" dirty="0">
                <a:solidFill>
                  <a:srgbClr val="6E6E6E"/>
                </a:solidFill>
              </a:rPr>
              <a:t>Млн руб. без НДС.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69739A8-6D06-4296-15BC-B08991E1FEE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3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82C5617-DF71-AC57-5D39-E98D239B02B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Сравнение с </a:t>
            </a:r>
            <a:r>
              <a:rPr lang="en-US" dirty="0"/>
              <a:t>top-down targets</a:t>
            </a:r>
            <a:endParaRPr lang="ru-RU" dirty="0"/>
          </a:p>
        </p:txBody>
      </p:sp>
      <p:sp>
        <p:nvSpPr>
          <p:cNvPr id="104" name="Shape 104"/>
          <p:cNvSpPr txBox="1"/>
          <p:nvPr/>
        </p:nvSpPr>
        <p:spPr>
          <a:xfrm>
            <a:off x="368300" y="1066800"/>
            <a:ext cx="78105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Бюджет 2027 vs стратегия и таргеты, млн руб.</a:t>
            </a:r>
          </a:p>
        </p:txBody>
      </p:sp>
      <p:sp>
        <p:nvSpPr>
          <p:cNvPr id="105" name="Shape 105"/>
          <p:cNvSpPr/>
          <p:nvPr/>
        </p:nvSpPr>
        <p:spPr>
          <a:xfrm>
            <a:off x="368300" y="1397000"/>
            <a:ext cx="7810500" cy="31750"/>
          </a:xfrm>
          <a:prstGeom prst="rect">
            <a:avLst/>
          </a:prstGeom>
          <a:solidFill>
            <a:srgbClr val="FF452C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110" name="Shape 110"/>
          <p:cNvSpPr txBox="1"/>
          <p:nvPr/>
        </p:nvSpPr>
        <p:spPr>
          <a:xfrm>
            <a:off x="8432800" y="1066800"/>
            <a:ext cx="33909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Комментарии</a:t>
            </a:r>
          </a:p>
        </p:txBody>
      </p:sp>
      <p:sp>
        <p:nvSpPr>
          <p:cNvPr id="111" name="Shape 111"/>
          <p:cNvSpPr/>
          <p:nvPr/>
        </p:nvSpPr>
        <p:spPr>
          <a:xfrm>
            <a:off x="8432800" y="1397000"/>
            <a:ext cx="3390900" cy="31750"/>
          </a:xfrm>
          <a:prstGeom prst="rect">
            <a:avLst/>
          </a:prstGeom>
          <a:solidFill>
            <a:srgbClr val="FF452C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112" name="Shape 112"/>
          <p:cNvSpPr txBox="1"/>
          <p:nvPr/>
        </p:nvSpPr>
        <p:spPr>
          <a:xfrm>
            <a:off x="8432800" y="1524000"/>
            <a:ext cx="3390900" cy="457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600"/>
              </a:spcBef>
              <a:buFont typeface="Arial"/>
              <a:buChar char="•"/>
            </a:pPr>
            <a:r>
              <a:rPr lang="ru-RU" sz="1400" b="1" dirty="0">
                <a:solidFill>
                  <a:srgbClr val="000000"/>
                </a:solidFill>
              </a:rPr>
              <a:t>Выручка: </a:t>
            </a:r>
            <a:r>
              <a:rPr lang="ru-RU" sz="1400" dirty="0">
                <a:solidFill>
                  <a:srgbClr val="000000"/>
                </a:solidFill>
              </a:rPr>
              <a:t>инкрементальная выручка </a:t>
            </a:r>
            <a:r>
              <a:rPr lang="ru-RU" sz="1400" b="1" dirty="0">
                <a:solidFill>
                  <a:srgbClr val="000000"/>
                </a:solidFill>
              </a:rPr>
              <a:t>4 281 млн руб.</a:t>
            </a:r>
            <a:r>
              <a:rPr lang="ru-RU" sz="1400" dirty="0">
                <a:solidFill>
                  <a:srgbClr val="000000"/>
                </a:solidFill>
              </a:rPr>
              <a:t> — на 802 млн руб. (+23%) выше стратегии</a:t>
            </a:r>
          </a:p>
          <a:p>
            <a:pPr marL="171450" indent="-171450" algn="l">
              <a:spcBef>
                <a:spcPts val="600"/>
              </a:spcBef>
              <a:buFont typeface="Arial"/>
              <a:buChar char="•"/>
            </a:pPr>
            <a:r>
              <a:rPr lang="ru-RU" sz="1400" b="1" dirty="0">
                <a:solidFill>
                  <a:srgbClr val="000000"/>
                </a:solidFill>
              </a:rPr>
              <a:t>EBITDA: 500 млн руб.</a:t>
            </a:r>
            <a:r>
              <a:rPr lang="ru-RU" sz="1400" dirty="0">
                <a:solidFill>
                  <a:srgbClr val="000000"/>
                </a:solidFill>
              </a:rPr>
              <a:t> — на уровне стратегии (+15) и на 2 000 млн руб. выше таргета (−1 500)</a:t>
            </a:r>
          </a:p>
          <a:p>
            <a:pPr marL="171450" indent="-171450" algn="l">
              <a:spcBef>
                <a:spcPts val="600"/>
              </a:spcBef>
              <a:buFont typeface="Arial"/>
              <a:buChar char="•"/>
            </a:pPr>
            <a:r>
              <a:rPr lang="ru-RU" sz="1400" b="1" dirty="0">
                <a:solidFill>
                  <a:srgbClr val="000000"/>
                </a:solidFill>
              </a:rPr>
              <a:t>CAPEX: 1 151 млн руб.</a:t>
            </a:r>
            <a:r>
              <a:rPr lang="ru-RU" sz="1400" dirty="0">
                <a:solidFill>
                  <a:srgbClr val="000000"/>
                </a:solidFill>
              </a:rPr>
              <a:t> — ниже стратегии на 92 (−7%) и таргета на 151 (−12%)</a:t>
            </a:r>
          </a:p>
        </p:txBody>
      </p:sp>
      <p:graphicFrame>
        <p:nvGraphicFramePr>
          <p:cNvPr id="200" name="BU vs Targets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97634902"/>
              </p:ext>
            </p:extLst>
          </p:nvPr>
        </p:nvGraphicFramePr>
        <p:xfrm>
          <a:off x="368299" y="1574800"/>
          <a:ext cx="7810502" cy="3708400"/>
        </p:xfrm>
        <a:graphic>
          <a:graphicData uri="http://schemas.openxmlformats.org/drawingml/2006/table">
            <a:tbl>
              <a:tblPr firstRow="1"/>
              <a:tblGrid>
                <a:gridCol w="134085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827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7827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86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70109">
                  <a:extLst>
                    <a:ext uri="{9D8B030D-6E8A-4147-A177-3AD203B41FA5}">
                      <a16:colId xmlns:a16="http://schemas.microsoft.com/office/drawing/2014/main" val="1974067606"/>
                    </a:ext>
                  </a:extLst>
                </a:gridCol>
                <a:gridCol w="107827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78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6604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6E6E6E"/>
                          </a:solidFill>
                        </a:rPr>
                        <a:t>Показатель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6E6E6E"/>
                          </a:solidFill>
                        </a:rPr>
                        <a:t>Стратегия 2027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6E6E6E"/>
                          </a:solidFill>
                        </a:rPr>
                        <a:t>Таргеты 2027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6E6E6E"/>
                          </a:solidFill>
                        </a:rPr>
                        <a:t>Бюджет 2027 (</a:t>
                      </a:r>
                      <a:r>
                        <a:rPr lang="en-US" sz="1100" b="1" dirty="0">
                          <a:solidFill>
                            <a:srgbClr val="6E6E6E"/>
                          </a:solidFill>
                        </a:rPr>
                        <a:t>AdTech)</a:t>
                      </a:r>
                      <a:endParaRPr lang="ru-RU" sz="1100" b="1" dirty="0">
                        <a:solidFill>
                          <a:srgbClr val="6E6E6E"/>
                        </a:solidFill>
                      </a:endParaRP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6E6E6E"/>
                          </a:solidFill>
                        </a:rPr>
                        <a:t>Стрейч форматов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6E6E6E"/>
                          </a:solidFill>
                        </a:rPr>
                        <a:t>Δ к стратегии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6E6E6E"/>
                          </a:solidFill>
                        </a:rPr>
                        <a:t>Δ к таргетам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0">
                <a:tc>
                  <a:txBody>
                    <a:bodyPr/>
                    <a:lstStyle/>
                    <a:p>
                      <a:pPr algn="l"/>
                      <a:r>
                        <a:rPr lang="ru-RU" sz="1200" b="1" dirty="0" err="1">
                          <a:solidFill>
                            <a:srgbClr val="000000"/>
                          </a:solidFill>
                        </a:rPr>
                        <a:t>Revenue</a:t>
                      </a:r>
                      <a:r>
                        <a:rPr lang="ru-RU" sz="1200" b="1" dirty="0">
                          <a:solidFill>
                            <a:srgbClr val="000000"/>
                          </a:solidFill>
                        </a:rPr>
                        <a:t> </a:t>
                      </a: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(increase)</a:t>
                      </a:r>
                      <a:endParaRPr lang="ru-RU" sz="1200" b="1" dirty="0">
                        <a:solidFill>
                          <a:srgbClr val="000000"/>
                        </a:solidFill>
                      </a:endParaRP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>
                          <a:solidFill>
                            <a:srgbClr val="000000"/>
                          </a:solidFill>
                        </a:rPr>
                        <a:t>3 479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>
                          <a:solidFill>
                            <a:srgbClr val="000000"/>
                          </a:solidFill>
                        </a:rPr>
                        <a:t>—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b="1" dirty="0">
                          <a:solidFill>
                            <a:srgbClr val="000000"/>
                          </a:solidFill>
                        </a:rPr>
                        <a:t>4 281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35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>
                          <a:solidFill>
                            <a:srgbClr val="000000"/>
                          </a:solidFill>
                        </a:rPr>
                        <a:t>—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>
                          <a:solidFill>
                            <a:srgbClr val="000000"/>
                          </a:solidFill>
                        </a:rPr>
                        <a:t>+802 (+23%)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>
                          <a:solidFill>
                            <a:srgbClr val="000000"/>
                          </a:solidFill>
                        </a:rPr>
                        <a:t>—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E0E0E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0">
                <a:tc>
                  <a:txBody>
                    <a:bodyPr/>
                    <a:lstStyle/>
                    <a:p>
                      <a:pPr algn="l"/>
                      <a:r>
                        <a:rPr lang="ru-RU" sz="1200" b="1" dirty="0">
                          <a:solidFill>
                            <a:srgbClr val="000000"/>
                          </a:solidFill>
                        </a:rPr>
                        <a:t>EBITDA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>
                          <a:solidFill>
                            <a:srgbClr val="000000"/>
                          </a:solidFill>
                        </a:rPr>
                        <a:t>485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>
                          <a:solidFill>
                            <a:srgbClr val="000000"/>
                          </a:solidFill>
                        </a:rPr>
                        <a:t>−1 500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b="1" dirty="0">
                          <a:solidFill>
                            <a:srgbClr val="000000"/>
                          </a:solidFill>
                        </a:rPr>
                        <a:t>500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b="1" dirty="0">
                          <a:solidFill>
                            <a:srgbClr val="000000"/>
                          </a:solidFill>
                        </a:rPr>
                        <a:t>-2 000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>
                          <a:solidFill>
                            <a:srgbClr val="000000"/>
                          </a:solidFill>
                        </a:rPr>
                        <a:t>+15 (+3%)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35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>
                          <a:solidFill>
                            <a:srgbClr val="000000"/>
                          </a:solidFill>
                        </a:rPr>
                        <a:t>—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E0E0E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0">
                <a:tc>
                  <a:txBody>
                    <a:bodyPr/>
                    <a:lstStyle/>
                    <a:p>
                      <a:pPr algn="l"/>
                      <a:r>
                        <a:rPr lang="ru-RU" sz="1200" b="1" dirty="0">
                          <a:solidFill>
                            <a:srgbClr val="000000"/>
                          </a:solidFill>
                        </a:rPr>
                        <a:t>CAPEX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>
                          <a:solidFill>
                            <a:srgbClr val="000000"/>
                          </a:solidFill>
                        </a:rPr>
                        <a:t>1 242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>
                          <a:solidFill>
                            <a:srgbClr val="000000"/>
                          </a:solidFill>
                        </a:rPr>
                        <a:t>1 302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b="1" dirty="0">
                          <a:solidFill>
                            <a:srgbClr val="000000"/>
                          </a:solidFill>
                        </a:rPr>
                        <a:t>1 151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35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>
                          <a:solidFill>
                            <a:srgbClr val="000000"/>
                          </a:solidFill>
                        </a:rPr>
                        <a:t>—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>
                          <a:solidFill>
                            <a:srgbClr val="000000"/>
                          </a:solidFill>
                        </a:rPr>
                        <a:t>−92 (−7%)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>
                          <a:solidFill>
                            <a:srgbClr val="000000"/>
                          </a:solidFill>
                        </a:rPr>
                        <a:t>−151 (−12%)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E0E0E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955312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85DF8EBA-9590-4C81-9F69-5D123BF9617A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95" imgH="394" progId="TCLayout.ActiveDocument.1">
                  <p:embed/>
                </p:oleObj>
              </mc:Choice>
              <mc:Fallback>
                <p:oleObj name="think-cell Slide" r:id="rId4" imgW="395" imgH="394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85DF8EBA-9590-4C81-9F69-5D123BF9617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Текст 1">
            <a:extLst>
              <a:ext uri="{FF2B5EF4-FFF2-40B4-BE49-F238E27FC236}">
                <a16:creationId xmlns:a16="http://schemas.microsoft.com/office/drawing/2014/main" id="{E7D62E96-F664-40DC-868E-D0B2F0A46B2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ru-RU" dirty="0"/>
              <a:t>Октябрь 2026</a:t>
            </a:r>
          </a:p>
        </p:txBody>
      </p:sp>
      <p:sp>
        <p:nvSpPr>
          <p:cNvPr id="6" name="Текст 2">
            <a:extLst>
              <a:ext uri="{FF2B5EF4-FFF2-40B4-BE49-F238E27FC236}">
                <a16:creationId xmlns:a16="http://schemas.microsoft.com/office/drawing/2014/main" id="{6060A129-27E9-4599-B4E5-C57388EC22F3}"/>
              </a:ext>
            </a:extLst>
          </p:cNvPr>
          <p:cNvSpPr txBox="1">
            <a:spLocks/>
          </p:cNvSpPr>
          <p:nvPr/>
        </p:nvSpPr>
        <p:spPr>
          <a:xfrm>
            <a:off x="550863" y="512763"/>
            <a:ext cx="11098211" cy="2743055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000" b="1" i="0" kern="1200" baseline="0">
                <a:solidFill>
                  <a:schemeClr val="bg1"/>
                </a:solidFill>
                <a:latin typeface="+mj-lt"/>
                <a:ea typeface="+mn-ea"/>
                <a:cs typeface="Arial" panose="020B0604020202020204" pitchFamily="34" charset="0"/>
              </a:defRPr>
            </a:lvl1pPr>
            <a:lvl2pPr marL="457178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54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32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09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90000"/>
              </a:lnSpc>
              <a:buNone/>
            </a:pPr>
            <a:r>
              <a:rPr lang="ru-RU" sz="5000" b="1" dirty="0">
                <a:solidFill>
                  <a:srgbClr val="FF452C"/>
                </a:solidFill>
                <a:latin typeface="Arial"/>
              </a:rPr>
              <a:t>01</a:t>
            </a:r>
          </a:p>
          <a:p>
            <a:pPr>
              <a:lnSpc>
                <a:spcPct val="90000"/>
              </a:lnSpc>
              <a:buNone/>
            </a:pPr>
            <a:r>
              <a:rPr lang="ru-RU" sz="5000" b="1" dirty="0">
                <a:solidFill>
                  <a:srgbClr val="FFFFFF"/>
                </a:solidFill>
                <a:latin typeface="Arial"/>
              </a:rPr>
              <a:t>Стратегия</a:t>
            </a:r>
          </a:p>
        </p:txBody>
      </p:sp>
      <p:sp>
        <p:nvSpPr>
          <p:cNvPr id="7" name="Текст 7">
            <a:extLst>
              <a:ext uri="{FF2B5EF4-FFF2-40B4-BE49-F238E27FC236}">
                <a16:creationId xmlns:a16="http://schemas.microsoft.com/office/drawing/2014/main" id="{BC4C214E-1A99-490C-A3B5-9407F8AE158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50864" y="3550877"/>
            <a:ext cx="5484812" cy="1260893"/>
          </a:xfrm>
        </p:spPr>
        <p:txBody>
          <a:bodyPr/>
          <a:lstStyle/>
          <a:p>
            <a:r>
              <a:rPr lang="ru-RU" dirty="0"/>
              <a:t>Рынок, тренды, конкуренты, драйверы роста и роль AdTech</a:t>
            </a:r>
          </a:p>
        </p:txBody>
      </p:sp>
    </p:spTree>
    <p:extLst>
      <p:ext uri="{BB962C8B-B14F-4D97-AF65-F5344CB8AC3E}">
        <p14:creationId xmlns:p14="http://schemas.microsoft.com/office/powerpoint/2010/main" val="26999784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56" name="think-cell data - do not delete" hidden="1">
            <a:extLst>
              <a:ext uri="{FF2B5EF4-FFF2-40B4-BE49-F238E27FC236}">
                <a16:creationId xmlns:a16="http://schemas.microsoft.com/office/drawing/2014/main" id="{F8FF028A-1381-5A7F-B2CA-5D03642832C3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3" imgW="7772400" imgH="10058400" progId="TCLayout.ActiveDocument.1">
                  <p:embed/>
                </p:oleObj>
              </mc:Choice>
              <mc:Fallback>
                <p:oleObj name="think-cell Slide" r:id="rId53" imgW="7772400" imgH="10058400" progId="TCLayout.ActiveDocument.1">
                  <p:embed/>
                  <p:pic>
                    <p:nvPicPr>
                      <p:cNvPr id="156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F8FF028A-1381-5A7F-B2CA-5D03642832C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Текст 1">
            <a:extLst>
              <a:ext uri="{FF2B5EF4-FFF2-40B4-BE49-F238E27FC236}">
                <a16:creationId xmlns:a16="http://schemas.microsoft.com/office/drawing/2014/main" id="{E17FBD44-1456-A977-6CF8-CB4EB919A66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 lIns="0" tIns="0"/>
          <a:lstStyle/>
          <a:p>
            <a:pPr>
              <a:spcBef>
                <a:spcPts val="0"/>
              </a:spcBef>
            </a:pPr>
            <a:r>
              <a:rPr lang="ru-RU" dirty="0">
                <a:solidFill>
                  <a:srgbClr val="6E6E6E"/>
                </a:solidFill>
              </a:rPr>
              <a:t>Источник: анализ </a:t>
            </a:r>
            <a:r>
              <a:rPr lang="en-US" dirty="0" err="1">
                <a:solidFill>
                  <a:srgbClr val="6E6E6E"/>
                </a:solidFill>
              </a:rPr>
              <a:t>Magnit</a:t>
            </a:r>
            <a:r>
              <a:rPr lang="en-US" dirty="0">
                <a:solidFill>
                  <a:srgbClr val="6E6E6E"/>
                </a:solidFill>
              </a:rPr>
              <a:t> ADS</a:t>
            </a:r>
            <a:endParaRPr lang="ru-RU" dirty="0">
              <a:solidFill>
                <a:srgbClr val="6E6E6E"/>
              </a:solidFill>
            </a:endParaRP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7C19635D-8E1C-0B52-900F-0C1F1686251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5</a:t>
            </a:fld>
            <a:endParaRPr lang="ru-RU" dirty="0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984B63B9-8C5B-1357-2088-05DBFD13FE2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>
              <a:tabLst>
                <a:tab pos="7554913" algn="l"/>
              </a:tabLst>
            </a:pPr>
            <a:r>
              <a:rPr lang="ru-RU" dirty="0"/>
              <a:t>Рынок ритейл медиа опережает темпы роста </a:t>
            </a:r>
            <a:br>
              <a:rPr lang="en-US" dirty="0"/>
            </a:br>
            <a:r>
              <a:rPr lang="ru-RU" dirty="0"/>
              <a:t>традиционного </a:t>
            </a:r>
            <a:r>
              <a:rPr lang="en-US" dirty="0"/>
              <a:t>digital +</a:t>
            </a:r>
            <a:r>
              <a:rPr lang="ru-RU" dirty="0"/>
              <a:t>50% </a:t>
            </a:r>
            <a:r>
              <a:rPr lang="en-US" dirty="0"/>
              <a:t>vs. +15%</a:t>
            </a:r>
            <a:r>
              <a:rPr lang="ru-RU" dirty="0"/>
              <a:t> </a:t>
            </a:r>
            <a:r>
              <a:rPr lang="en-US" dirty="0"/>
              <a:t>YoY</a:t>
            </a:r>
            <a:endParaRPr lang="ru-RU" dirty="0"/>
          </a:p>
        </p:txBody>
      </p:sp>
      <p:sp>
        <p:nvSpPr>
          <p:cNvPr id="81" name="Скругленный прямоугольник 80">
            <a:extLst>
              <a:ext uri="{FF2B5EF4-FFF2-40B4-BE49-F238E27FC236}">
                <a16:creationId xmlns:a16="http://schemas.microsoft.com/office/drawing/2014/main" id="{3FE6C233-CDF2-C619-78E9-FCF0BD9F590D}"/>
              </a:ext>
            </a:extLst>
          </p:cNvPr>
          <p:cNvSpPr/>
          <p:nvPr/>
        </p:nvSpPr>
        <p:spPr>
          <a:xfrm>
            <a:off x="3144838" y="1922463"/>
            <a:ext cx="5356978" cy="4132472"/>
          </a:xfrm>
          <a:prstGeom prst="roundRect">
            <a:avLst>
              <a:gd name="adj" fmla="val 3785"/>
            </a:avLst>
          </a:prstGeom>
          <a:pattFill prst="pct5">
            <a:fgClr>
              <a:schemeClr val="accent2"/>
            </a:fgClr>
            <a:bgClr>
              <a:schemeClr val="bg1"/>
            </a:bgClr>
          </a:pattFill>
          <a:ln w="63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ru-RU" sz="14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graphicFrame>
        <p:nvGraphicFramePr>
          <p:cNvPr id="6" name="Chart 3">
            <a:extLst>
              <a:ext uri="{FF2B5EF4-FFF2-40B4-BE49-F238E27FC236}">
                <a16:creationId xmlns:a16="http://schemas.microsoft.com/office/drawing/2014/main" id="{89805283-56FC-2FDC-FB28-F0F724A75FF2}"/>
              </a:ext>
            </a:extLst>
          </p:cNvPr>
          <p:cNvGraphicFramePr/>
          <p:nvPr>
            <p:custDataLst>
              <p:tags r:id="rId2"/>
            </p:custDataLst>
          </p:nvPr>
        </p:nvGraphicFramePr>
        <p:xfrm>
          <a:off x="295275" y="2001838"/>
          <a:ext cx="8269288" cy="39782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5"/>
          </a:graphicData>
        </a:graphic>
      </p:graphicFrame>
      <p:cxnSp>
        <p:nvCxnSpPr>
          <p:cNvPr id="86" name="Прямая соединительная линия 85">
            <a:extLst>
              <a:ext uri="{FF2B5EF4-FFF2-40B4-BE49-F238E27FC236}">
                <a16:creationId xmlns:a16="http://schemas.microsoft.com/office/drawing/2014/main" id="{2FA4329D-252B-2951-C982-13B48FACC736}"/>
              </a:ext>
            </a:extLst>
          </p:cNvPr>
          <p:cNvCxnSpPr/>
          <p:nvPr>
            <p:custDataLst>
              <p:tags r:id="rId3"/>
            </p:custDataLst>
          </p:nvPr>
        </p:nvCxnSpPr>
        <p:spPr bwMode="auto">
          <a:xfrm flipH="1">
            <a:off x="962025" y="5083175"/>
            <a:ext cx="65088" cy="0"/>
          </a:xfrm>
          <a:prstGeom prst="line">
            <a:avLst/>
          </a:prstGeom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7" name="Прямая соединительная линия 86">
            <a:extLst>
              <a:ext uri="{FF2B5EF4-FFF2-40B4-BE49-F238E27FC236}">
                <a16:creationId xmlns:a16="http://schemas.microsoft.com/office/drawing/2014/main" id="{055F50E7-D79B-C8F4-9D10-8236FC68C102}"/>
              </a:ext>
            </a:extLst>
          </p:cNvPr>
          <p:cNvCxnSpPr/>
          <p:nvPr>
            <p:custDataLst>
              <p:tags r:id="rId4"/>
            </p:custDataLst>
          </p:nvPr>
        </p:nvCxnSpPr>
        <p:spPr bwMode="auto">
          <a:xfrm flipH="1">
            <a:off x="2763838" y="4822825"/>
            <a:ext cx="65088" cy="0"/>
          </a:xfrm>
          <a:prstGeom prst="line">
            <a:avLst/>
          </a:prstGeom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3" name="Прямая соединительная линия 82">
            <a:extLst>
              <a:ext uri="{FF2B5EF4-FFF2-40B4-BE49-F238E27FC236}">
                <a16:creationId xmlns:a16="http://schemas.microsoft.com/office/drawing/2014/main" id="{48F74465-AEAD-D05F-97BB-FECD2280C613}"/>
              </a:ext>
            </a:extLst>
          </p:cNvPr>
          <p:cNvCxnSpPr>
            <a:cxnSpLocks/>
          </p:cNvCxnSpPr>
          <p:nvPr>
            <p:custDataLst>
              <p:tags r:id="rId5"/>
            </p:custDataLst>
          </p:nvPr>
        </p:nvCxnSpPr>
        <p:spPr bwMode="auto">
          <a:xfrm flipH="1">
            <a:off x="962025" y="5270500"/>
            <a:ext cx="65088" cy="0"/>
          </a:xfrm>
          <a:prstGeom prst="line">
            <a:avLst/>
          </a:prstGeom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8" name="Прямая соединительная линия 87">
            <a:extLst>
              <a:ext uri="{FF2B5EF4-FFF2-40B4-BE49-F238E27FC236}">
                <a16:creationId xmlns:a16="http://schemas.microsoft.com/office/drawing/2014/main" id="{A1164671-863E-D82D-88C9-EEB4423B504A}"/>
              </a:ext>
            </a:extLst>
          </p:cNvPr>
          <p:cNvCxnSpPr/>
          <p:nvPr>
            <p:custDataLst>
              <p:tags r:id="rId6"/>
            </p:custDataLst>
          </p:nvPr>
        </p:nvCxnSpPr>
        <p:spPr bwMode="auto">
          <a:xfrm flipH="1">
            <a:off x="1862138" y="4800600"/>
            <a:ext cx="65088" cy="0"/>
          </a:xfrm>
          <a:prstGeom prst="line">
            <a:avLst/>
          </a:prstGeom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4" name="Прямая соединительная линия 83">
            <a:extLst>
              <a:ext uri="{FF2B5EF4-FFF2-40B4-BE49-F238E27FC236}">
                <a16:creationId xmlns:a16="http://schemas.microsoft.com/office/drawing/2014/main" id="{A2A4C693-B523-065D-1A1A-489C19CC29AE}"/>
              </a:ext>
            </a:extLst>
          </p:cNvPr>
          <p:cNvCxnSpPr>
            <a:cxnSpLocks/>
          </p:cNvCxnSpPr>
          <p:nvPr>
            <p:custDataLst>
              <p:tags r:id="rId7"/>
            </p:custDataLst>
          </p:nvPr>
        </p:nvCxnSpPr>
        <p:spPr bwMode="auto">
          <a:xfrm flipH="1">
            <a:off x="1862138" y="5038725"/>
            <a:ext cx="65088" cy="0"/>
          </a:xfrm>
          <a:prstGeom prst="line">
            <a:avLst/>
          </a:prstGeom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5" name="Прямая соединительная линия 84">
            <a:extLst>
              <a:ext uri="{FF2B5EF4-FFF2-40B4-BE49-F238E27FC236}">
                <a16:creationId xmlns:a16="http://schemas.microsoft.com/office/drawing/2014/main" id="{44142CF4-B431-86DE-C756-46E0D49EA1A9}"/>
              </a:ext>
            </a:extLst>
          </p:cNvPr>
          <p:cNvCxnSpPr/>
          <p:nvPr>
            <p:custDataLst>
              <p:tags r:id="rId8"/>
            </p:custDataLst>
          </p:nvPr>
        </p:nvCxnSpPr>
        <p:spPr bwMode="auto">
          <a:xfrm flipH="1">
            <a:off x="3663950" y="4525963"/>
            <a:ext cx="65088" cy="0"/>
          </a:xfrm>
          <a:prstGeom prst="line">
            <a:avLst/>
          </a:prstGeom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6" name="Прямоугольник 115">
            <a:extLst>
              <a:ext uri="{FF2B5EF4-FFF2-40B4-BE49-F238E27FC236}">
                <a16:creationId xmlns:a16="http://schemas.microsoft.com/office/drawing/2014/main" id="{789419B5-90A7-7B49-374C-52A659B6855F}"/>
              </a:ext>
            </a:extLst>
          </p:cNvPr>
          <p:cNvSpPr/>
          <p:nvPr>
            <p:custDataLst>
              <p:tags r:id="rId9"/>
            </p:custDataLst>
          </p:nvPr>
        </p:nvSpPr>
        <p:spPr bwMode="gray">
          <a:xfrm>
            <a:off x="679450" y="5256213"/>
            <a:ext cx="296863" cy="1651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F6BD3966-E773-4F1B-9C26-C0DF250422BC}" type="datetime'''''''''''''''''''''''''''''''''''''''1''''8''''5'''''">
              <a:rPr lang="ru-RU" altLang="en-US" sz="1200" smtClean="0">
                <a:solidFill>
                  <a:srgbClr val="FFFFFF"/>
                </a:solidFill>
                <a:effectLst/>
              </a:rPr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185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  <a:sym typeface="Arial"/>
            </a:endParaRPr>
          </a:p>
        </p:txBody>
      </p:sp>
      <p:sp>
        <p:nvSpPr>
          <p:cNvPr id="95" name="Прямоугольник 94">
            <a:extLst>
              <a:ext uri="{FF2B5EF4-FFF2-40B4-BE49-F238E27FC236}">
                <a16:creationId xmlns:a16="http://schemas.microsoft.com/office/drawing/2014/main" id="{AC08CAAF-C412-2790-D1B8-DD4A357E0B92}"/>
              </a:ext>
            </a:extLst>
          </p:cNvPr>
          <p:cNvSpPr/>
          <p:nvPr>
            <p:custDataLst>
              <p:tags r:id="rId10"/>
            </p:custDataLst>
          </p:nvPr>
        </p:nvSpPr>
        <p:spPr bwMode="gray">
          <a:xfrm>
            <a:off x="6019800" y="4168775"/>
            <a:ext cx="423863" cy="1651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EF2DB5B5-629C-4E6F-AA63-2E59BA6B7C2C}" type="datetime'''1''''.''''''''''''''''''''''''''9''''''''6''''''''7'">
              <a:rPr lang="ru-RU" altLang="en-US" sz="1200" smtClean="0">
                <a:solidFill>
                  <a:srgbClr val="FFFFFF"/>
                </a:solidFill>
                <a:effectLst/>
              </a:rPr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1.967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  <a:sym typeface="Arial"/>
            </a:endParaRPr>
          </a:p>
        </p:txBody>
      </p:sp>
      <p:sp>
        <p:nvSpPr>
          <p:cNvPr id="121" name="Прямоугольник 120">
            <a:extLst>
              <a:ext uri="{FF2B5EF4-FFF2-40B4-BE49-F238E27FC236}">
                <a16:creationId xmlns:a16="http://schemas.microsoft.com/office/drawing/2014/main" id="{A189098B-C67C-37C4-C40D-502331A883BC}"/>
              </a:ext>
            </a:extLst>
          </p:cNvPr>
          <p:cNvSpPr/>
          <p:nvPr>
            <p:custDataLst>
              <p:tags r:id="rId11"/>
            </p:custDataLst>
          </p:nvPr>
        </p:nvSpPr>
        <p:spPr bwMode="auto">
          <a:xfrm>
            <a:off x="2454275" y="5764213"/>
            <a:ext cx="349250" cy="182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t"/>
          <a:lstStyle/>
          <a:p>
            <a:pPr lvl="0" algn="ctr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56F17BB1-725B-4AB1-8BDE-9C719FC362B7}" type="datetime'''''''''''''''2''''''''''''''''''0''25'''''''''">
              <a:rPr lang="ru-RU" altLang="en-US" sz="1200" smtClean="0">
                <a:solidFill>
                  <a:srgbClr val="000000"/>
                </a:solidFill>
              </a:rPr>
              <a:pPr lvl="0" algn="ctr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2025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105" name="Прямоугольник 104">
            <a:extLst>
              <a:ext uri="{FF2B5EF4-FFF2-40B4-BE49-F238E27FC236}">
                <a16:creationId xmlns:a16="http://schemas.microsoft.com/office/drawing/2014/main" id="{E3749B98-0EB1-40BD-7FF2-4EDE99B0DF52}"/>
              </a:ext>
            </a:extLst>
          </p:cNvPr>
          <p:cNvSpPr/>
          <p:nvPr>
            <p:custDataLst>
              <p:tags r:id="rId12"/>
            </p:custDataLst>
          </p:nvPr>
        </p:nvSpPr>
        <p:spPr bwMode="auto">
          <a:xfrm>
            <a:off x="1552575" y="5764213"/>
            <a:ext cx="349250" cy="182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t"/>
          <a:lstStyle/>
          <a:p>
            <a:pPr lvl="0" algn="ctr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B8DD0D6D-99A6-4C8E-9F94-CA67EC9A751E}" type="datetime'''''2''''''''''''''''''''''''''''''''''''0''''2''''''''''''4'">
              <a:rPr lang="ru-RU" altLang="en-US" sz="1200" smtClean="0">
                <a:solidFill>
                  <a:srgbClr val="000000"/>
                </a:solidFill>
              </a:rPr>
              <a:pPr lvl="0" algn="ctr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2024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114" name="Прямоугольник 113">
            <a:extLst>
              <a:ext uri="{FF2B5EF4-FFF2-40B4-BE49-F238E27FC236}">
                <a16:creationId xmlns:a16="http://schemas.microsoft.com/office/drawing/2014/main" id="{10F8E654-1CB9-F127-D245-2700E03EEE23}"/>
              </a:ext>
            </a:extLst>
          </p:cNvPr>
          <p:cNvSpPr/>
          <p:nvPr>
            <p:custDataLst>
              <p:tags r:id="rId13"/>
            </p:custDataLst>
          </p:nvPr>
        </p:nvSpPr>
        <p:spPr bwMode="auto">
          <a:xfrm>
            <a:off x="3354388" y="5764213"/>
            <a:ext cx="349250" cy="182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t"/>
          <a:lstStyle/>
          <a:p>
            <a:pPr lvl="0" algn="ctr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D1E25AE9-94C6-423C-B843-CB5A0BD8FFD9}" type="datetime'''''''''''''''''''''2''0''''''''''''''''''''''''''2''''6'''">
              <a:rPr lang="ru-RU" altLang="en-US" sz="1200" smtClean="0">
                <a:solidFill>
                  <a:srgbClr val="000000"/>
                </a:solidFill>
              </a:rPr>
              <a:pPr lvl="0" algn="ctr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2026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89" name="Прямоугольник 88">
            <a:extLst>
              <a:ext uri="{FF2B5EF4-FFF2-40B4-BE49-F238E27FC236}">
                <a16:creationId xmlns:a16="http://schemas.microsoft.com/office/drawing/2014/main" id="{0EFDBA62-534F-1768-3AAF-6A3DD149DD04}"/>
              </a:ext>
            </a:extLst>
          </p:cNvPr>
          <p:cNvSpPr/>
          <p:nvPr>
            <p:custDataLst>
              <p:tags r:id="rId14"/>
            </p:custDataLst>
          </p:nvPr>
        </p:nvSpPr>
        <p:spPr bwMode="gray">
          <a:xfrm>
            <a:off x="4322763" y="4148138"/>
            <a:ext cx="212725" cy="1651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CB1F90E4-F2C5-494F-8A98-F9E5E1A5544C}" type="datetime'''9''''''''''''''''''''3'''">
              <a:rPr lang="ru-RU" altLang="en-US" sz="1200" smtClean="0">
                <a:solidFill>
                  <a:srgbClr val="000000"/>
                </a:solidFill>
                <a:effectLst/>
              </a:rPr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93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+mn-ea"/>
              <a:cs typeface="+mn-cs"/>
              <a:sym typeface="Arial"/>
            </a:endParaRPr>
          </a:p>
        </p:txBody>
      </p:sp>
      <p:sp>
        <p:nvSpPr>
          <p:cNvPr id="90" name="Прямоугольник 89">
            <a:extLst>
              <a:ext uri="{FF2B5EF4-FFF2-40B4-BE49-F238E27FC236}">
                <a16:creationId xmlns:a16="http://schemas.microsoft.com/office/drawing/2014/main" id="{843603AB-4FFB-E057-AB25-F7E1DAAD2018}"/>
              </a:ext>
            </a:extLst>
          </p:cNvPr>
          <p:cNvSpPr/>
          <p:nvPr>
            <p:custDataLst>
              <p:tags r:id="rId15"/>
            </p:custDataLst>
          </p:nvPr>
        </p:nvSpPr>
        <p:spPr bwMode="gray">
          <a:xfrm>
            <a:off x="4217988" y="4581525"/>
            <a:ext cx="423863" cy="1651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C2CE3581-4895-47F2-B6B1-B66A6C23D730}" type="datetime'''''''''1''''''''.2''''''''''''''''''''''''''''''00'''">
              <a:rPr lang="ru-RU" altLang="en-US" sz="1200" smtClean="0">
                <a:solidFill>
                  <a:srgbClr val="FFFFFF"/>
                </a:solidFill>
                <a:effectLst/>
              </a:rPr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1.200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  <a:sym typeface="Arial"/>
            </a:endParaRPr>
          </a:p>
        </p:txBody>
      </p:sp>
      <p:sp>
        <p:nvSpPr>
          <p:cNvPr id="119" name="Прямоугольник 118">
            <a:extLst>
              <a:ext uri="{FF2B5EF4-FFF2-40B4-BE49-F238E27FC236}">
                <a16:creationId xmlns:a16="http://schemas.microsoft.com/office/drawing/2014/main" id="{B57FBE82-5B07-F580-6C82-0BBE443B6BBF}"/>
              </a:ext>
            </a:extLst>
          </p:cNvPr>
          <p:cNvSpPr/>
          <p:nvPr>
            <p:custDataLst>
              <p:tags r:id="rId16"/>
            </p:custDataLst>
          </p:nvPr>
        </p:nvSpPr>
        <p:spPr bwMode="auto">
          <a:xfrm>
            <a:off x="4254500" y="5764213"/>
            <a:ext cx="349250" cy="182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t"/>
          <a:lstStyle/>
          <a:p>
            <a:pPr lvl="0" algn="ctr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91EA796C-98BB-4198-8852-684A3CBC30CB}" type="datetime'''''''''''''''''''''''''''''''''''''''''''''''2''''''027'">
              <a:rPr lang="ru-RU" altLang="en-US" sz="1200" smtClean="0">
                <a:solidFill>
                  <a:srgbClr val="000000"/>
                </a:solidFill>
              </a:rPr>
              <a:pPr lvl="0" algn="ctr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2027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91" name="Прямоугольник 90">
            <a:extLst>
              <a:ext uri="{FF2B5EF4-FFF2-40B4-BE49-F238E27FC236}">
                <a16:creationId xmlns:a16="http://schemas.microsoft.com/office/drawing/2014/main" id="{D22FEEC8-00EF-6D60-0B4A-99A1319DAA44}"/>
              </a:ext>
            </a:extLst>
          </p:cNvPr>
          <p:cNvSpPr/>
          <p:nvPr>
            <p:custDataLst>
              <p:tags r:id="rId17"/>
            </p:custDataLst>
          </p:nvPr>
        </p:nvSpPr>
        <p:spPr bwMode="gray">
          <a:xfrm>
            <a:off x="5186363" y="3811588"/>
            <a:ext cx="285750" cy="1651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E86FDB48-789B-40A2-91AF-8329A43D4132}" type="datetime'''''''''''''''1''''''1''''''''''6'''''''''''''''''''">
              <a:rPr lang="ru-RU" altLang="en-US" sz="1200" smtClean="0">
                <a:solidFill>
                  <a:srgbClr val="000000"/>
                </a:solidFill>
                <a:effectLst/>
              </a:rPr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116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+mn-ea"/>
              <a:cs typeface="+mn-cs"/>
              <a:sym typeface="Arial"/>
            </a:endParaRPr>
          </a:p>
        </p:txBody>
      </p:sp>
      <p:sp>
        <p:nvSpPr>
          <p:cNvPr id="92" name="Прямоугольник 91">
            <a:extLst>
              <a:ext uri="{FF2B5EF4-FFF2-40B4-BE49-F238E27FC236}">
                <a16:creationId xmlns:a16="http://schemas.microsoft.com/office/drawing/2014/main" id="{0B380E6A-C981-83A6-F38C-DAD29817B015}"/>
              </a:ext>
            </a:extLst>
          </p:cNvPr>
          <p:cNvSpPr/>
          <p:nvPr>
            <p:custDataLst>
              <p:tags r:id="rId18"/>
            </p:custDataLst>
          </p:nvPr>
        </p:nvSpPr>
        <p:spPr bwMode="gray">
          <a:xfrm>
            <a:off x="5118100" y="4375150"/>
            <a:ext cx="423863" cy="1651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8E1C3567-C4AB-4513-8D2A-F1266E5196F0}" type="datetime'''''''1''''.''''''''5''''''''''''''6''5'''''''''''">
              <a:rPr lang="ru-RU" altLang="en-US" sz="1200" smtClean="0">
                <a:solidFill>
                  <a:srgbClr val="FFFFFF"/>
                </a:solidFill>
                <a:effectLst/>
              </a:rPr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1.565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  <a:sym typeface="Arial"/>
            </a:endParaRPr>
          </a:p>
        </p:txBody>
      </p:sp>
      <p:sp>
        <p:nvSpPr>
          <p:cNvPr id="93" name="Прямоугольник 92">
            <a:extLst>
              <a:ext uri="{FF2B5EF4-FFF2-40B4-BE49-F238E27FC236}">
                <a16:creationId xmlns:a16="http://schemas.microsoft.com/office/drawing/2014/main" id="{8E5CAA84-9A45-B6AE-A8A1-D9CF35AE2EF3}"/>
              </a:ext>
            </a:extLst>
          </p:cNvPr>
          <p:cNvSpPr/>
          <p:nvPr>
            <p:custDataLst>
              <p:tags r:id="rId19"/>
            </p:custDataLst>
          </p:nvPr>
        </p:nvSpPr>
        <p:spPr bwMode="gray">
          <a:xfrm>
            <a:off x="5118100" y="5265738"/>
            <a:ext cx="423863" cy="165100"/>
          </a:xfrm>
          <a:prstGeom prst="rect">
            <a:avLst/>
          </a:prstGeom>
          <a:solidFill>
            <a:srgbClr val="DFE5EF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AAB12687-88CD-4F15-9043-2C78B3CDB411}" type="datetime'''1''''.''''''''0''''''''''''''''''9''''''0'''''''''''''''">
              <a:rPr lang="ru-RU" altLang="en-US" sz="1200" smtClean="0">
                <a:solidFill>
                  <a:srgbClr val="000000"/>
                </a:solidFill>
                <a:effectLst/>
              </a:rPr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1.090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+mn-ea"/>
              <a:cs typeface="+mn-cs"/>
              <a:sym typeface="Arial"/>
            </a:endParaRPr>
          </a:p>
        </p:txBody>
      </p:sp>
      <p:sp>
        <p:nvSpPr>
          <p:cNvPr id="120" name="Прямоугольник 119">
            <a:extLst>
              <a:ext uri="{FF2B5EF4-FFF2-40B4-BE49-F238E27FC236}">
                <a16:creationId xmlns:a16="http://schemas.microsoft.com/office/drawing/2014/main" id="{F3E25EB1-779C-F3CA-17BC-C36D8E7AF4B3}"/>
              </a:ext>
            </a:extLst>
          </p:cNvPr>
          <p:cNvSpPr/>
          <p:nvPr>
            <p:custDataLst>
              <p:tags r:id="rId20"/>
            </p:custDataLst>
          </p:nvPr>
        </p:nvSpPr>
        <p:spPr bwMode="auto">
          <a:xfrm>
            <a:off x="5154613" y="5764213"/>
            <a:ext cx="349250" cy="182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t"/>
          <a:lstStyle/>
          <a:p>
            <a:pPr lvl="0" algn="ctr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D04747FA-DE9D-45A5-953A-2AEFD6268936}" type="datetime'''''''''''2''''''''''0''''''2''''''''''''''8'''''''''''''">
              <a:rPr lang="ru-RU" altLang="en-US" sz="1200" smtClean="0">
                <a:solidFill>
                  <a:srgbClr val="000000"/>
                </a:solidFill>
              </a:rPr>
              <a:pPr lvl="0" algn="ctr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2028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94" name="Прямоугольник 93">
            <a:extLst>
              <a:ext uri="{FF2B5EF4-FFF2-40B4-BE49-F238E27FC236}">
                <a16:creationId xmlns:a16="http://schemas.microsoft.com/office/drawing/2014/main" id="{DA03590A-3DFA-B4E9-EEFA-03D9794B5303}"/>
              </a:ext>
            </a:extLst>
          </p:cNvPr>
          <p:cNvSpPr/>
          <p:nvPr>
            <p:custDataLst>
              <p:tags r:id="rId21"/>
            </p:custDataLst>
          </p:nvPr>
        </p:nvSpPr>
        <p:spPr bwMode="gray">
          <a:xfrm>
            <a:off x="6083300" y="3460750"/>
            <a:ext cx="296863" cy="1651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AAF0BBA2-737D-4909-999B-D1E77F0A001D}" type="datetime'''''1''''''''4''''''''''''''''''''''''''''''''''''5'''''''''">
              <a:rPr lang="ru-RU" altLang="en-US" sz="1200" smtClean="0">
                <a:solidFill>
                  <a:srgbClr val="000000"/>
                </a:solidFill>
                <a:effectLst/>
              </a:rPr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145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+mn-ea"/>
              <a:cs typeface="+mn-cs"/>
              <a:sym typeface="Arial"/>
            </a:endParaRPr>
          </a:p>
        </p:txBody>
      </p:sp>
      <p:sp>
        <p:nvSpPr>
          <p:cNvPr id="104" name="Прямоугольник 103">
            <a:extLst>
              <a:ext uri="{FF2B5EF4-FFF2-40B4-BE49-F238E27FC236}">
                <a16:creationId xmlns:a16="http://schemas.microsoft.com/office/drawing/2014/main" id="{37A0F702-F529-2786-4832-33216D79DA1A}"/>
              </a:ext>
            </a:extLst>
          </p:cNvPr>
          <p:cNvSpPr/>
          <p:nvPr>
            <p:custDataLst>
              <p:tags r:id="rId22"/>
            </p:custDataLst>
          </p:nvPr>
        </p:nvSpPr>
        <p:spPr bwMode="auto">
          <a:xfrm>
            <a:off x="652463" y="5764213"/>
            <a:ext cx="349250" cy="182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t"/>
          <a:lstStyle/>
          <a:p>
            <a:pPr lvl="0" algn="ctr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952FA7EF-9394-490C-A75C-06F2501ACBFB}" type="datetime'''''2''''''''''''''''''0''''''''2''''''''''''3'''''''">
              <a:rPr lang="ru-RU" altLang="en-US" sz="1200" smtClean="0">
                <a:solidFill>
                  <a:srgbClr val="000000"/>
                </a:solidFill>
              </a:rPr>
              <a:pPr lvl="0" algn="ctr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2023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96" name="Прямоугольник 95">
            <a:extLst>
              <a:ext uri="{FF2B5EF4-FFF2-40B4-BE49-F238E27FC236}">
                <a16:creationId xmlns:a16="http://schemas.microsoft.com/office/drawing/2014/main" id="{686B165A-29A7-1BA6-BA59-3983337A1AEA}"/>
              </a:ext>
            </a:extLst>
          </p:cNvPr>
          <p:cNvSpPr/>
          <p:nvPr>
            <p:custDataLst>
              <p:tags r:id="rId23"/>
            </p:custDataLst>
          </p:nvPr>
        </p:nvSpPr>
        <p:spPr bwMode="gray">
          <a:xfrm>
            <a:off x="6019800" y="5229225"/>
            <a:ext cx="423863" cy="165100"/>
          </a:xfrm>
          <a:prstGeom prst="rect">
            <a:avLst/>
          </a:prstGeom>
          <a:solidFill>
            <a:srgbClr val="DFE5EF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DFF384B-6465-4053-8A74-D01917CE9C42}" type="datetime'''''''''''1''''''''''.''''''''1''''''''''''''''''''9''9'">
              <a:rPr lang="ru-RU" altLang="en-US" sz="1200" smtClean="0">
                <a:solidFill>
                  <a:srgbClr val="000000"/>
                </a:solidFill>
                <a:effectLst/>
              </a:rPr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1.199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+mn-ea"/>
              <a:cs typeface="+mn-cs"/>
              <a:sym typeface="Arial"/>
            </a:endParaRPr>
          </a:p>
        </p:txBody>
      </p:sp>
      <p:sp>
        <p:nvSpPr>
          <p:cNvPr id="106" name="Прямоугольник 105">
            <a:extLst>
              <a:ext uri="{FF2B5EF4-FFF2-40B4-BE49-F238E27FC236}">
                <a16:creationId xmlns:a16="http://schemas.microsoft.com/office/drawing/2014/main" id="{D70AA019-30F2-CBCA-1EBA-60966CF7D805}"/>
              </a:ext>
            </a:extLst>
          </p:cNvPr>
          <p:cNvSpPr/>
          <p:nvPr>
            <p:custDataLst>
              <p:tags r:id="rId24"/>
            </p:custDataLst>
          </p:nvPr>
        </p:nvSpPr>
        <p:spPr bwMode="auto">
          <a:xfrm>
            <a:off x="6056313" y="5764213"/>
            <a:ext cx="349250" cy="182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t"/>
          <a:lstStyle/>
          <a:p>
            <a:pPr lvl="0" algn="ctr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96F8F263-9D2E-47A7-8484-8ADFBF516155}" type="datetime'''''''2''''0''''''''''''''''''''''''2''''''9'''''''">
              <a:rPr lang="ru-RU" altLang="en-US" sz="1200" smtClean="0">
                <a:solidFill>
                  <a:srgbClr val="000000"/>
                </a:solidFill>
              </a:rPr>
              <a:pPr lvl="0" algn="ctr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2029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118" name="Прямоугольник 117">
            <a:extLst>
              <a:ext uri="{FF2B5EF4-FFF2-40B4-BE49-F238E27FC236}">
                <a16:creationId xmlns:a16="http://schemas.microsoft.com/office/drawing/2014/main" id="{D12DD7B7-4EFA-CC2F-764A-EA914B7775C7}"/>
              </a:ext>
            </a:extLst>
          </p:cNvPr>
          <p:cNvSpPr/>
          <p:nvPr>
            <p:custDataLst>
              <p:tags r:id="rId25"/>
            </p:custDataLst>
          </p:nvPr>
        </p:nvSpPr>
        <p:spPr bwMode="gray">
          <a:xfrm>
            <a:off x="6983413" y="3086100"/>
            <a:ext cx="296863" cy="1651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9B626F2F-D19B-46DF-ADB0-497547E72B0F}" type="datetime'''''1''''''''''''''''''''''''''8''''''''''''''1'">
              <a:rPr lang="ru-RU" altLang="en-US" sz="1200" smtClean="0">
                <a:solidFill>
                  <a:srgbClr val="000000"/>
                </a:solidFill>
                <a:effectLst/>
              </a:rPr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181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+mn-ea"/>
              <a:cs typeface="+mn-cs"/>
              <a:sym typeface="Arial"/>
            </a:endParaRPr>
          </a:p>
        </p:txBody>
      </p:sp>
      <p:sp>
        <p:nvSpPr>
          <p:cNvPr id="113" name="Прямоугольник 112">
            <a:extLst>
              <a:ext uri="{FF2B5EF4-FFF2-40B4-BE49-F238E27FC236}">
                <a16:creationId xmlns:a16="http://schemas.microsoft.com/office/drawing/2014/main" id="{34FDC6EE-4B96-1E71-FFD5-A04ADDC7125D}"/>
              </a:ext>
            </a:extLst>
          </p:cNvPr>
          <p:cNvSpPr/>
          <p:nvPr>
            <p:custDataLst>
              <p:tags r:id="rId26"/>
            </p:custDataLst>
          </p:nvPr>
        </p:nvSpPr>
        <p:spPr bwMode="gray">
          <a:xfrm>
            <a:off x="6919913" y="3946525"/>
            <a:ext cx="423863" cy="1651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8F207945-82E0-4028-BFC5-064A380A7C4F}" type="datetime'2''''''''''''''''''''''''''''''''.3''''''''8''''''''''9'''">
              <a:rPr lang="ru-RU" altLang="en-US" sz="1200" smtClean="0">
                <a:solidFill>
                  <a:srgbClr val="FFFFFF"/>
                </a:solidFill>
                <a:effectLst/>
              </a:rPr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2.389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  <a:sym typeface="Arial"/>
            </a:endParaRPr>
          </a:p>
        </p:txBody>
      </p:sp>
      <p:sp>
        <p:nvSpPr>
          <p:cNvPr id="111" name="Прямоугольник 110">
            <a:extLst>
              <a:ext uri="{FF2B5EF4-FFF2-40B4-BE49-F238E27FC236}">
                <a16:creationId xmlns:a16="http://schemas.microsoft.com/office/drawing/2014/main" id="{C078F7D8-3AD0-FFC9-55A8-7881008D76C9}"/>
              </a:ext>
            </a:extLst>
          </p:cNvPr>
          <p:cNvSpPr/>
          <p:nvPr>
            <p:custDataLst>
              <p:tags r:id="rId27"/>
            </p:custDataLst>
          </p:nvPr>
        </p:nvSpPr>
        <p:spPr bwMode="gray">
          <a:xfrm>
            <a:off x="6919913" y="5187950"/>
            <a:ext cx="423863" cy="165100"/>
          </a:xfrm>
          <a:prstGeom prst="rect">
            <a:avLst/>
          </a:prstGeom>
          <a:solidFill>
            <a:srgbClr val="DFE5EF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E1B89EA2-3064-4B5D-8A9E-EAF63BC3BCA4}" type="datetime'''''''''''''1.''''''''''''''''''''''''''3''''1''''''''''9'''">
              <a:rPr lang="ru-RU" altLang="en-US" sz="1200" smtClean="0">
                <a:solidFill>
                  <a:srgbClr val="000000"/>
                </a:solidFill>
                <a:effectLst/>
              </a:rPr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1.319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+mn-ea"/>
              <a:cs typeface="+mn-cs"/>
              <a:sym typeface="Arial"/>
            </a:endParaRPr>
          </a:p>
        </p:txBody>
      </p:sp>
      <p:sp>
        <p:nvSpPr>
          <p:cNvPr id="107" name="Прямоугольник 106">
            <a:extLst>
              <a:ext uri="{FF2B5EF4-FFF2-40B4-BE49-F238E27FC236}">
                <a16:creationId xmlns:a16="http://schemas.microsoft.com/office/drawing/2014/main" id="{A74B0002-E528-8D1D-A91E-03ED16747C02}"/>
              </a:ext>
            </a:extLst>
          </p:cNvPr>
          <p:cNvSpPr/>
          <p:nvPr>
            <p:custDataLst>
              <p:tags r:id="rId28"/>
            </p:custDataLst>
          </p:nvPr>
        </p:nvSpPr>
        <p:spPr bwMode="auto">
          <a:xfrm>
            <a:off x="6956425" y="5764213"/>
            <a:ext cx="349250" cy="182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t"/>
          <a:lstStyle/>
          <a:p>
            <a:pPr lvl="0" algn="ctr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B2CF1971-B2B1-4835-A593-87C564B54C07}" type="datetime'''''2''''''''''''''0''3''''''''''''''''''0'''''''''''''''''''">
              <a:rPr lang="ru-RU" altLang="en-US" sz="1200" smtClean="0">
                <a:solidFill>
                  <a:srgbClr val="000000"/>
                </a:solidFill>
              </a:rPr>
              <a:pPr lvl="0" algn="ctr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2030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115" name="Прямоугольник 114">
            <a:extLst>
              <a:ext uri="{FF2B5EF4-FFF2-40B4-BE49-F238E27FC236}">
                <a16:creationId xmlns:a16="http://schemas.microsoft.com/office/drawing/2014/main" id="{DCEEFDB2-9977-3ECC-E2F3-30E2D59A8579}"/>
              </a:ext>
            </a:extLst>
          </p:cNvPr>
          <p:cNvSpPr/>
          <p:nvPr>
            <p:custDataLst>
              <p:tags r:id="rId29"/>
            </p:custDataLst>
          </p:nvPr>
        </p:nvSpPr>
        <p:spPr bwMode="gray">
          <a:xfrm>
            <a:off x="7820025" y="3787775"/>
            <a:ext cx="423863" cy="1651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9E188162-E3C8-4F0B-B76B-DC1ADA999185}" type="datetime'''''2''''''.''''''6''''''''''''''''''0''''1'''''''''''">
              <a:rPr lang="ru-RU" altLang="en-US" sz="1200" smtClean="0">
                <a:solidFill>
                  <a:srgbClr val="FFFFFF"/>
                </a:solidFill>
                <a:effectLst/>
              </a:rPr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2.601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  <a:sym typeface="Arial"/>
            </a:endParaRPr>
          </a:p>
        </p:txBody>
      </p:sp>
      <p:sp>
        <p:nvSpPr>
          <p:cNvPr id="112" name="Прямоугольник 111">
            <a:extLst>
              <a:ext uri="{FF2B5EF4-FFF2-40B4-BE49-F238E27FC236}">
                <a16:creationId xmlns:a16="http://schemas.microsoft.com/office/drawing/2014/main" id="{93D1405F-AF7F-7EBB-BBD6-55D372323F43}"/>
              </a:ext>
            </a:extLst>
          </p:cNvPr>
          <p:cNvSpPr/>
          <p:nvPr>
            <p:custDataLst>
              <p:tags r:id="rId30"/>
            </p:custDataLst>
          </p:nvPr>
        </p:nvSpPr>
        <p:spPr bwMode="gray">
          <a:xfrm>
            <a:off x="7820025" y="5145088"/>
            <a:ext cx="423863" cy="165100"/>
          </a:xfrm>
          <a:prstGeom prst="rect">
            <a:avLst/>
          </a:prstGeom>
          <a:solidFill>
            <a:srgbClr val="DFE5EF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67D79810-81F6-4FA4-BBFC-29395BA405A3}" type="datetime'''''''''''''''''1''''''''''''.4''5''''''''''''''''''''''1'">
              <a:rPr lang="ru-RU" altLang="en-US" sz="1200" smtClean="0">
                <a:solidFill>
                  <a:srgbClr val="000000"/>
                </a:solidFill>
                <a:effectLst/>
              </a:rPr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1.451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+mn-ea"/>
              <a:cs typeface="+mn-cs"/>
              <a:sym typeface="Arial"/>
            </a:endParaRPr>
          </a:p>
        </p:txBody>
      </p:sp>
      <p:sp>
        <p:nvSpPr>
          <p:cNvPr id="108" name="Прямоугольник 107">
            <a:extLst>
              <a:ext uri="{FF2B5EF4-FFF2-40B4-BE49-F238E27FC236}">
                <a16:creationId xmlns:a16="http://schemas.microsoft.com/office/drawing/2014/main" id="{5F588EE3-6110-E1DA-AF72-D5E8C1E4479C}"/>
              </a:ext>
            </a:extLst>
          </p:cNvPr>
          <p:cNvSpPr/>
          <p:nvPr>
            <p:custDataLst>
              <p:tags r:id="rId31"/>
            </p:custDataLst>
          </p:nvPr>
        </p:nvSpPr>
        <p:spPr bwMode="auto">
          <a:xfrm>
            <a:off x="7856538" y="5764213"/>
            <a:ext cx="349250" cy="182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t"/>
          <a:lstStyle/>
          <a:p>
            <a:pPr lvl="0" algn="ctr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1E5153A0-D1AD-4B20-A840-54D6A05ECE4A}" type="datetime'''''''''2''''''''''''0''''3''''''''''''1'''''''''">
              <a:rPr lang="ru-RU" altLang="en-US" sz="1200" smtClean="0">
                <a:solidFill>
                  <a:srgbClr val="000000"/>
                </a:solidFill>
              </a:rPr>
              <a:pPr lvl="0" algn="ctr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2031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97" name="Прямоугольник 96">
            <a:extLst>
              <a:ext uri="{FF2B5EF4-FFF2-40B4-BE49-F238E27FC236}">
                <a16:creationId xmlns:a16="http://schemas.microsoft.com/office/drawing/2014/main" id="{B45FA084-58CB-1C16-1A9E-F90B4012E6F6}"/>
              </a:ext>
            </a:extLst>
          </p:cNvPr>
          <p:cNvSpPr/>
          <p:nvPr>
            <p:custDataLst>
              <p:tags r:id="rId32"/>
            </p:custDataLst>
          </p:nvPr>
        </p:nvSpPr>
        <p:spPr bwMode="gray">
          <a:xfrm>
            <a:off x="679450" y="4859338"/>
            <a:ext cx="296863" cy="165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b"/>
          <a:lstStyle/>
          <a:p>
            <a:pPr lvl="0"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3E38530A-A097-4C59-84D8-BCE574108824}" type="datetime'''''''9''''''''''''9''''''''''''''''''''''''''1'''''''">
              <a:rPr lang="ru-RU" altLang="en-US" sz="1200" b="1" smtClean="0">
                <a:solidFill>
                  <a:srgbClr val="000000"/>
                </a:solidFill>
              </a:rPr>
              <a:pPr lvl="0"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991</a:t>
            </a:fld>
            <a:endParaRPr kumimoji="0" lang="ru-RU" sz="1200" b="1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98" name="Прямоугольник 97">
            <a:extLst>
              <a:ext uri="{FF2B5EF4-FFF2-40B4-BE49-F238E27FC236}">
                <a16:creationId xmlns:a16="http://schemas.microsoft.com/office/drawing/2014/main" id="{B03325F5-CFB4-E9EB-C059-68FE65946F33}"/>
              </a:ext>
            </a:extLst>
          </p:cNvPr>
          <p:cNvSpPr/>
          <p:nvPr>
            <p:custDataLst>
              <p:tags r:id="rId33"/>
            </p:custDataLst>
          </p:nvPr>
        </p:nvSpPr>
        <p:spPr bwMode="gray">
          <a:xfrm>
            <a:off x="1516063" y="4564063"/>
            <a:ext cx="423863" cy="165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b"/>
          <a:lstStyle/>
          <a:p>
            <a:pPr lvl="0"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71B6B2A2-80E8-41AF-9294-3D9780020353}" type="datetime'''1''''''''''''''''''''''.4''''''''''''''''''''32'''''">
              <a:rPr lang="ru-RU" altLang="en-US" sz="1200" b="1" smtClean="0">
                <a:solidFill>
                  <a:srgbClr val="000000"/>
                </a:solidFill>
              </a:rPr>
              <a:pPr lvl="0"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1.432</a:t>
            </a:fld>
            <a:endParaRPr kumimoji="0" lang="ru-RU" sz="1200" b="1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99" name="Прямоугольник 98">
            <a:extLst>
              <a:ext uri="{FF2B5EF4-FFF2-40B4-BE49-F238E27FC236}">
                <a16:creationId xmlns:a16="http://schemas.microsoft.com/office/drawing/2014/main" id="{42B9F10C-F061-1741-0B94-5CE291FBA06F}"/>
              </a:ext>
            </a:extLst>
          </p:cNvPr>
          <p:cNvSpPr/>
          <p:nvPr>
            <p:custDataLst>
              <p:tags r:id="rId34"/>
            </p:custDataLst>
          </p:nvPr>
        </p:nvSpPr>
        <p:spPr bwMode="gray">
          <a:xfrm>
            <a:off x="2417763" y="4294188"/>
            <a:ext cx="423863" cy="165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b"/>
          <a:lstStyle/>
          <a:p>
            <a:pPr lvl="0"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E7493CC3-4EFB-46CE-9207-33FB037D843B}" type="datetime'''''''''''''1''''''.8''''''''''''33'''''''''''''''''''''''''''">
              <a:rPr lang="ru-RU" altLang="en-US" sz="1200" b="1" smtClean="0">
                <a:solidFill>
                  <a:srgbClr val="000000"/>
                </a:solidFill>
              </a:rPr>
              <a:pPr lvl="0"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1.833</a:t>
            </a:fld>
            <a:endParaRPr kumimoji="0" lang="ru-RU" sz="1200" b="1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100" name="Прямоугольник 99">
            <a:extLst>
              <a:ext uri="{FF2B5EF4-FFF2-40B4-BE49-F238E27FC236}">
                <a16:creationId xmlns:a16="http://schemas.microsoft.com/office/drawing/2014/main" id="{B506D63F-1A2E-8F77-3CA0-95F141AB3544}"/>
              </a:ext>
            </a:extLst>
          </p:cNvPr>
          <p:cNvSpPr/>
          <p:nvPr>
            <p:custDataLst>
              <p:tags r:id="rId35"/>
            </p:custDataLst>
          </p:nvPr>
        </p:nvSpPr>
        <p:spPr bwMode="gray">
          <a:xfrm>
            <a:off x="3317875" y="3951288"/>
            <a:ext cx="423863" cy="165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b"/>
          <a:lstStyle/>
          <a:p>
            <a:pPr lvl="0"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6D72B16F-3706-4979-B07F-5A31356F2F4B}" type="datetime'''''''''2''''.34''6'''''''''">
              <a:rPr lang="ru-RU" altLang="en-US" sz="1200" b="1" smtClean="0">
                <a:solidFill>
                  <a:srgbClr val="000000"/>
                </a:solidFill>
              </a:rPr>
              <a:pPr lvl="0"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2.346</a:t>
            </a:fld>
            <a:endParaRPr kumimoji="0" lang="ru-RU" sz="1200" b="1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101" name="Прямоугольник 100">
            <a:extLst>
              <a:ext uri="{FF2B5EF4-FFF2-40B4-BE49-F238E27FC236}">
                <a16:creationId xmlns:a16="http://schemas.microsoft.com/office/drawing/2014/main" id="{CD08CD25-9894-9330-8913-AC930F5D2CBE}"/>
              </a:ext>
            </a:extLst>
          </p:cNvPr>
          <p:cNvSpPr/>
          <p:nvPr>
            <p:custDataLst>
              <p:tags r:id="rId36"/>
            </p:custDataLst>
          </p:nvPr>
        </p:nvSpPr>
        <p:spPr bwMode="gray">
          <a:xfrm>
            <a:off x="4217988" y="3608388"/>
            <a:ext cx="423863" cy="165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b"/>
          <a:lstStyle/>
          <a:p>
            <a:pPr lvl="0"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E4EB1E10-03EA-44C5-8223-06A178B48676}" type="datetime'''''''''''''''''''''''''''''''''''''''''''''2.8''57'">
              <a:rPr lang="ru-RU" altLang="en-US" sz="1200" b="1" smtClean="0">
                <a:solidFill>
                  <a:srgbClr val="000000"/>
                </a:solidFill>
              </a:rPr>
              <a:pPr lvl="0"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2.857</a:t>
            </a:fld>
            <a:endParaRPr kumimoji="0" lang="ru-RU" sz="1200" b="1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102" name="Прямоугольник 101">
            <a:extLst>
              <a:ext uri="{FF2B5EF4-FFF2-40B4-BE49-F238E27FC236}">
                <a16:creationId xmlns:a16="http://schemas.microsoft.com/office/drawing/2014/main" id="{8DF5A422-F584-7BF4-8896-4D6D1E454CD8}"/>
              </a:ext>
            </a:extLst>
          </p:cNvPr>
          <p:cNvSpPr/>
          <p:nvPr>
            <p:custDataLst>
              <p:tags r:id="rId37"/>
            </p:custDataLst>
          </p:nvPr>
        </p:nvSpPr>
        <p:spPr bwMode="gray">
          <a:xfrm>
            <a:off x="5118100" y="3225800"/>
            <a:ext cx="423863" cy="165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b"/>
          <a:lstStyle/>
          <a:p>
            <a:pPr lvl="0"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F234250C-68B1-4A90-A37A-9D09B0FE0F55}" type="datetime'''''''''''''''''''''''3''.''''''4''''''''''''''''2''8'''''''">
              <a:rPr lang="ru-RU" altLang="en-US" sz="1200" b="1" smtClean="0">
                <a:solidFill>
                  <a:srgbClr val="000000"/>
                </a:solidFill>
              </a:rPr>
              <a:pPr lvl="0"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3.428</a:t>
            </a:fld>
            <a:endParaRPr kumimoji="0" lang="ru-RU" sz="1200" b="1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103" name="Прямоугольник 102">
            <a:extLst>
              <a:ext uri="{FF2B5EF4-FFF2-40B4-BE49-F238E27FC236}">
                <a16:creationId xmlns:a16="http://schemas.microsoft.com/office/drawing/2014/main" id="{61C359B3-3830-D4D8-36AB-790982E22B02}"/>
              </a:ext>
            </a:extLst>
          </p:cNvPr>
          <p:cNvSpPr/>
          <p:nvPr>
            <p:custDataLst>
              <p:tags r:id="rId38"/>
            </p:custDataLst>
          </p:nvPr>
        </p:nvSpPr>
        <p:spPr bwMode="gray">
          <a:xfrm>
            <a:off x="6019800" y="2822575"/>
            <a:ext cx="423863" cy="165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b"/>
          <a:lstStyle/>
          <a:p>
            <a:pPr lvl="0"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C6235F97-AB89-4ECE-A1AD-FC4760EFE21D}" type="datetime'''4''''''''.''0''''''3''''''0'''''''''''''">
              <a:rPr lang="ru-RU" altLang="en-US" sz="1200" b="1" smtClean="0">
                <a:solidFill>
                  <a:srgbClr val="000000"/>
                </a:solidFill>
              </a:rPr>
              <a:pPr lvl="0"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4.030</a:t>
            </a:fld>
            <a:endParaRPr kumimoji="0" lang="ru-RU" sz="1200" b="1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109" name="Прямоугольник 108">
            <a:extLst>
              <a:ext uri="{FF2B5EF4-FFF2-40B4-BE49-F238E27FC236}">
                <a16:creationId xmlns:a16="http://schemas.microsoft.com/office/drawing/2014/main" id="{08DC9B03-86BD-683C-46A0-53C82FBC1013}"/>
              </a:ext>
            </a:extLst>
          </p:cNvPr>
          <p:cNvSpPr/>
          <p:nvPr>
            <p:custDataLst>
              <p:tags r:id="rId39"/>
            </p:custDataLst>
          </p:nvPr>
        </p:nvSpPr>
        <p:spPr bwMode="gray">
          <a:xfrm>
            <a:off x="6919913" y="2389188"/>
            <a:ext cx="423863" cy="165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b"/>
          <a:lstStyle/>
          <a:p>
            <a:pPr lvl="0"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2FD1A78B-907A-48CC-82B6-3047BFD06CD9}" type="datetime'''''''''''''''''''4''''''''''''''''.''''''''''''677'">
              <a:rPr lang="ru-RU" altLang="en-US" sz="1200" b="1" smtClean="0">
                <a:solidFill>
                  <a:srgbClr val="000000"/>
                </a:solidFill>
              </a:rPr>
              <a:pPr lvl="0"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4.677</a:t>
            </a:fld>
            <a:endParaRPr kumimoji="0" lang="ru-RU" sz="1200" b="1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110" name="Прямоугольник 109">
            <a:extLst>
              <a:ext uri="{FF2B5EF4-FFF2-40B4-BE49-F238E27FC236}">
                <a16:creationId xmlns:a16="http://schemas.microsoft.com/office/drawing/2014/main" id="{24546A23-0E05-0A4A-0F19-4D90415CB852}"/>
              </a:ext>
            </a:extLst>
          </p:cNvPr>
          <p:cNvSpPr/>
          <p:nvPr>
            <p:custDataLst>
              <p:tags r:id="rId40"/>
            </p:custDataLst>
          </p:nvPr>
        </p:nvSpPr>
        <p:spPr bwMode="gray">
          <a:xfrm>
            <a:off x="7820025" y="2078038"/>
            <a:ext cx="423863" cy="165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b"/>
          <a:lstStyle/>
          <a:p>
            <a:pPr lvl="0"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7CA062F8-1C21-43AC-A8F7-0A6AB0EAC780}" type="datetime'5''''''.''''''''''''''1''''4''''''''''''''''''''2'''">
              <a:rPr lang="ru-RU" altLang="en-US" sz="1200" b="1" smtClean="0">
                <a:solidFill>
                  <a:srgbClr val="000000"/>
                </a:solidFill>
              </a:rPr>
              <a:pPr lvl="0"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5.142</a:t>
            </a:fld>
            <a:endParaRPr kumimoji="0" lang="ru-RU" sz="1200" b="1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117" name="Прямоугольник 116">
            <a:extLst>
              <a:ext uri="{FF2B5EF4-FFF2-40B4-BE49-F238E27FC236}">
                <a16:creationId xmlns:a16="http://schemas.microsoft.com/office/drawing/2014/main" id="{3A9B3E1D-88AC-D6F1-D8C1-10E2C0F29D7D}"/>
              </a:ext>
            </a:extLst>
          </p:cNvPr>
          <p:cNvSpPr/>
          <p:nvPr>
            <p:custDataLst>
              <p:tags r:id="rId41"/>
            </p:custDataLst>
          </p:nvPr>
        </p:nvSpPr>
        <p:spPr bwMode="gray">
          <a:xfrm>
            <a:off x="2481263" y="4460875"/>
            <a:ext cx="296863" cy="165100"/>
          </a:xfrm>
          <a:prstGeom prst="rect">
            <a:avLst/>
          </a:prstGeom>
          <a:solidFill>
            <a:srgbClr val="4C6C9C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2D399564-6B85-4091-A9AA-378A364500E0}" type="datetime'''''''''1''''''''''''''7''''4'''''">
              <a:rPr lang="ru-RU" altLang="en-US" sz="1200" smtClean="0">
                <a:solidFill>
                  <a:srgbClr val="FFFFFF"/>
                </a:solidFill>
                <a:effectLst/>
              </a:rPr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174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  <a:sym typeface="Arial"/>
            </a:endParaRPr>
          </a:p>
        </p:txBody>
      </p:sp>
      <p:sp>
        <p:nvSpPr>
          <p:cNvPr id="122" name="Прямоугольник 121">
            <a:extLst>
              <a:ext uri="{FF2B5EF4-FFF2-40B4-BE49-F238E27FC236}">
                <a16:creationId xmlns:a16="http://schemas.microsoft.com/office/drawing/2014/main" id="{3647EDFC-DEE4-781D-5CA2-8013518A5388}"/>
              </a:ext>
            </a:extLst>
          </p:cNvPr>
          <p:cNvSpPr/>
          <p:nvPr>
            <p:custDataLst>
              <p:tags r:id="rId42"/>
            </p:custDataLst>
          </p:nvPr>
        </p:nvSpPr>
        <p:spPr bwMode="auto">
          <a:xfrm>
            <a:off x="363538" y="1508125"/>
            <a:ext cx="214313" cy="160338"/>
          </a:xfrm>
          <a:prstGeom prst="rect">
            <a:avLst/>
          </a:prstGeom>
          <a:solidFill>
            <a:srgbClr val="4C6C9C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ru-RU" sz="14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23" name="Прямоугольник 122">
            <a:extLst>
              <a:ext uri="{FF2B5EF4-FFF2-40B4-BE49-F238E27FC236}">
                <a16:creationId xmlns:a16="http://schemas.microsoft.com/office/drawing/2014/main" id="{5FC1E172-FD12-CAEA-69F7-F88AA396875B}"/>
              </a:ext>
            </a:extLst>
          </p:cNvPr>
          <p:cNvSpPr/>
          <p:nvPr>
            <p:custDataLst>
              <p:tags r:id="rId43"/>
            </p:custDataLst>
          </p:nvPr>
        </p:nvSpPr>
        <p:spPr bwMode="auto">
          <a:xfrm>
            <a:off x="2711450" y="1508125"/>
            <a:ext cx="214313" cy="160338"/>
          </a:xfrm>
          <a:prstGeom prst="rect">
            <a:avLst/>
          </a:prstGeom>
          <a:solidFill>
            <a:srgbClr val="9DB1CF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ru-RU" sz="14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24" name="Прямоугольник 123">
            <a:extLst>
              <a:ext uri="{FF2B5EF4-FFF2-40B4-BE49-F238E27FC236}">
                <a16:creationId xmlns:a16="http://schemas.microsoft.com/office/drawing/2014/main" id="{FF88AA73-836A-6C1B-4CFE-59037E80A3FC}"/>
              </a:ext>
            </a:extLst>
          </p:cNvPr>
          <p:cNvSpPr/>
          <p:nvPr>
            <p:custDataLst>
              <p:tags r:id="rId44"/>
            </p:custDataLst>
          </p:nvPr>
        </p:nvSpPr>
        <p:spPr bwMode="auto">
          <a:xfrm>
            <a:off x="3273425" y="1508125"/>
            <a:ext cx="214313" cy="160338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ru-RU" sz="14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25" name="Прямоугольник 124">
            <a:extLst>
              <a:ext uri="{FF2B5EF4-FFF2-40B4-BE49-F238E27FC236}">
                <a16:creationId xmlns:a16="http://schemas.microsoft.com/office/drawing/2014/main" id="{69B194C7-79F6-88B3-1C84-4536828BA883}"/>
              </a:ext>
            </a:extLst>
          </p:cNvPr>
          <p:cNvSpPr/>
          <p:nvPr>
            <p:custDataLst>
              <p:tags r:id="rId45"/>
            </p:custDataLst>
          </p:nvPr>
        </p:nvSpPr>
        <p:spPr bwMode="auto">
          <a:xfrm>
            <a:off x="4256088" y="1508125"/>
            <a:ext cx="214313" cy="160338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ru-RU" sz="14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26" name="Прямоугольник 125">
            <a:extLst>
              <a:ext uri="{FF2B5EF4-FFF2-40B4-BE49-F238E27FC236}">
                <a16:creationId xmlns:a16="http://schemas.microsoft.com/office/drawing/2014/main" id="{3E5C9A0A-F4A6-5924-F811-50A5B61711F9}"/>
              </a:ext>
            </a:extLst>
          </p:cNvPr>
          <p:cNvSpPr/>
          <p:nvPr>
            <p:custDataLst>
              <p:tags r:id="rId46"/>
            </p:custDataLst>
          </p:nvPr>
        </p:nvSpPr>
        <p:spPr bwMode="auto">
          <a:xfrm>
            <a:off x="5465763" y="1508125"/>
            <a:ext cx="214313" cy="160338"/>
          </a:xfrm>
          <a:prstGeom prst="rect">
            <a:avLst/>
          </a:prstGeom>
          <a:solidFill>
            <a:srgbClr val="DFE5EF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ru-RU" sz="14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27" name="Прямоугольник 126">
            <a:extLst>
              <a:ext uri="{FF2B5EF4-FFF2-40B4-BE49-F238E27FC236}">
                <a16:creationId xmlns:a16="http://schemas.microsoft.com/office/drawing/2014/main" id="{AA218D48-B8E7-8FA6-0267-050377CF6F37}"/>
              </a:ext>
            </a:extLst>
          </p:cNvPr>
          <p:cNvSpPr/>
          <p:nvPr>
            <p:custDataLst>
              <p:tags r:id="rId47"/>
            </p:custDataLst>
          </p:nvPr>
        </p:nvSpPr>
        <p:spPr bwMode="auto">
          <a:xfrm>
            <a:off x="628650" y="1503363"/>
            <a:ext cx="1981200" cy="182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ctr"/>
          <a:lstStyle/>
          <a:p>
            <a:pPr lvl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59A698E8-021B-4086-AF75-CB8BD31FC29D}" type="datetime'''''Et''c. (''''i''''nc''l'' ''OO''H, Rad''''io,'' Pr''''ess)'">
              <a:rPr lang="ru-RU" altLang="en-US" sz="1200" smtClean="0">
                <a:solidFill>
                  <a:srgbClr val="000000"/>
                </a:solidFill>
              </a:rPr>
              <a:pPr lvl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Etc. (incl OOH, Radio, Press)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128" name="Прямоугольник 127">
            <a:extLst>
              <a:ext uri="{FF2B5EF4-FFF2-40B4-BE49-F238E27FC236}">
                <a16:creationId xmlns:a16="http://schemas.microsoft.com/office/drawing/2014/main" id="{76A7C27D-9D7D-620A-E3C7-E7349D65FE4A}"/>
              </a:ext>
            </a:extLst>
          </p:cNvPr>
          <p:cNvSpPr/>
          <p:nvPr>
            <p:custDataLst>
              <p:tags r:id="rId48"/>
            </p:custDataLst>
          </p:nvPr>
        </p:nvSpPr>
        <p:spPr bwMode="auto">
          <a:xfrm>
            <a:off x="2976563" y="1503363"/>
            <a:ext cx="195263" cy="182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ctr"/>
          <a:lstStyle/>
          <a:p>
            <a:pPr lvl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6738614D-788F-475E-906A-74DB5AB58DC2}" type="datetime'''''''''T''''''''''''''''''''V'''''''''''''">
              <a:rPr lang="ru-RU" altLang="en-US" sz="1200" smtClean="0">
                <a:solidFill>
                  <a:srgbClr val="000000"/>
                </a:solidFill>
              </a:rPr>
              <a:pPr lvl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TV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129" name="Прямоугольник 128">
            <a:extLst>
              <a:ext uri="{FF2B5EF4-FFF2-40B4-BE49-F238E27FC236}">
                <a16:creationId xmlns:a16="http://schemas.microsoft.com/office/drawing/2014/main" id="{DB658F56-02EB-A232-4970-C86C9B615312}"/>
              </a:ext>
            </a:extLst>
          </p:cNvPr>
          <p:cNvSpPr/>
          <p:nvPr>
            <p:custDataLst>
              <p:tags r:id="rId49"/>
            </p:custDataLst>
          </p:nvPr>
        </p:nvSpPr>
        <p:spPr bwMode="auto">
          <a:xfrm>
            <a:off x="3538538" y="1503363"/>
            <a:ext cx="615950" cy="182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ctr"/>
          <a:lstStyle/>
          <a:p>
            <a:pPr lvl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EBC019E4-7EB5-4708-93C1-FE271D75AB64}" type="datetime'''''I''nf''''l''u''''''''en''''''''c''''''''''''''e'''''">
              <a:rPr lang="en-US" altLang="en-US" sz="1200" smtClean="0">
                <a:solidFill>
                  <a:srgbClr val="000000"/>
                </a:solidFill>
              </a:rPr>
              <a:pPr lvl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Influence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130" name="Прямоугольник 129">
            <a:extLst>
              <a:ext uri="{FF2B5EF4-FFF2-40B4-BE49-F238E27FC236}">
                <a16:creationId xmlns:a16="http://schemas.microsoft.com/office/drawing/2014/main" id="{3671BBB8-A578-5411-8519-CE7F2F47C25E}"/>
              </a:ext>
            </a:extLst>
          </p:cNvPr>
          <p:cNvSpPr/>
          <p:nvPr>
            <p:custDataLst>
              <p:tags r:id="rId50"/>
            </p:custDataLst>
          </p:nvPr>
        </p:nvSpPr>
        <p:spPr bwMode="auto">
          <a:xfrm>
            <a:off x="4521200" y="1503363"/>
            <a:ext cx="842963" cy="182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ctr"/>
          <a:lstStyle/>
          <a:p>
            <a:pPr lvl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0D941EAB-DBA2-44C4-8F90-B2AE9369BB38}" type="datetime'R''e''''''t''''''''''''''''''''''''ai''l'''' ''''Med''''ia'">
              <a:rPr lang="en-US" altLang="en-US" sz="1200" smtClean="0">
                <a:solidFill>
                  <a:srgbClr val="000000"/>
                </a:solidFill>
              </a:rPr>
              <a:pPr lvl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Retail Media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131" name="Прямоугольник 130">
            <a:extLst>
              <a:ext uri="{FF2B5EF4-FFF2-40B4-BE49-F238E27FC236}">
                <a16:creationId xmlns:a16="http://schemas.microsoft.com/office/drawing/2014/main" id="{D4296DA3-F9B2-D511-4A8F-A16C8EF9DFB8}"/>
              </a:ext>
            </a:extLst>
          </p:cNvPr>
          <p:cNvSpPr/>
          <p:nvPr>
            <p:custDataLst>
              <p:tags r:id="rId51"/>
            </p:custDataLst>
          </p:nvPr>
        </p:nvSpPr>
        <p:spPr bwMode="auto">
          <a:xfrm>
            <a:off x="5730875" y="1503363"/>
            <a:ext cx="1139825" cy="182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ctr"/>
          <a:lstStyle/>
          <a:p>
            <a:pPr lvl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12333284-4378-4CF7-AB90-7EE2849552CC}" type="datetime'''T''r''ad''i''t''i''o''na''l'' ''d''i''gi''''t''''''''a''''l'">
              <a:rPr lang="en-US" altLang="en-US" sz="1200" smtClean="0">
                <a:solidFill>
                  <a:srgbClr val="000000"/>
                </a:solidFill>
              </a:rPr>
              <a:pPr lvl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Traditional digital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132" name="Прямоугольник: скругленные углы 462">
            <a:extLst>
              <a:ext uri="{FF2B5EF4-FFF2-40B4-BE49-F238E27FC236}">
                <a16:creationId xmlns:a16="http://schemas.microsoft.com/office/drawing/2014/main" id="{EB9F1138-819B-669A-733A-30E903FE7C18}"/>
              </a:ext>
            </a:extLst>
          </p:cNvPr>
          <p:cNvSpPr/>
          <p:nvPr/>
        </p:nvSpPr>
        <p:spPr>
          <a:xfrm>
            <a:off x="363538" y="1001900"/>
            <a:ext cx="8138477" cy="33941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ru-RU" sz="1600" b="1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Выручка основных сегментов рекламного рынка в РФ, </a:t>
            </a:r>
            <a:r>
              <a:rPr kumimoji="0" lang="ru-RU" sz="1600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млрд руб.</a:t>
            </a:r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6B96C9BD-EBAD-EC32-2044-E88BC73DB15A}"/>
              </a:ext>
            </a:extLst>
          </p:cNvPr>
          <p:cNvSpPr txBox="1"/>
          <p:nvPr/>
        </p:nvSpPr>
        <p:spPr>
          <a:xfrm>
            <a:off x="3292475" y="2032000"/>
            <a:ext cx="2293937" cy="226591"/>
          </a:xfrm>
          <a:prstGeom prst="rect">
            <a:avLst/>
          </a:prstGeom>
          <a:noFill/>
        </p:spPr>
        <p:txBody>
          <a:bodyPr wrap="square" lIns="0" tIns="36000" rIns="36000" bIns="3600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ru-RU" sz="1000" b="0" i="1" u="none" strike="noStrike" kern="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Индикативный прогноз</a:t>
            </a:r>
          </a:p>
        </p:txBody>
      </p:sp>
      <p:sp>
        <p:nvSpPr>
          <p:cNvPr id="134" name="Овал 133">
            <a:extLst>
              <a:ext uri="{FF2B5EF4-FFF2-40B4-BE49-F238E27FC236}">
                <a16:creationId xmlns:a16="http://schemas.microsoft.com/office/drawing/2014/main" id="{9BB0A294-90D7-3A6F-467C-967B714E5DBA}"/>
              </a:ext>
            </a:extLst>
          </p:cNvPr>
          <p:cNvSpPr/>
          <p:nvPr/>
        </p:nvSpPr>
        <p:spPr>
          <a:xfrm>
            <a:off x="563563" y="3227388"/>
            <a:ext cx="542650" cy="242778"/>
          </a:xfrm>
          <a:prstGeom prst="ellipse">
            <a:avLst/>
          </a:prstGeom>
          <a:solidFill>
            <a:schemeClr val="bg1"/>
          </a:solidFill>
          <a:ln w="12700">
            <a:solidFill>
              <a:srgbClr val="4C6C9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4C6C9C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+34%</a:t>
            </a:r>
            <a:endParaRPr kumimoji="0" lang="ru-RU" sz="900" b="1" i="0" u="none" strike="noStrike" kern="0" cap="none" spc="0" normalizeH="0" baseline="0" noProof="0" dirty="0">
              <a:ln>
                <a:noFill/>
              </a:ln>
              <a:solidFill>
                <a:srgbClr val="4C6C9C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35" name="Овал 134">
            <a:extLst>
              <a:ext uri="{FF2B5EF4-FFF2-40B4-BE49-F238E27FC236}">
                <a16:creationId xmlns:a16="http://schemas.microsoft.com/office/drawing/2014/main" id="{B5A2ACB7-DFCA-B167-2185-35EDB96C5D93}"/>
              </a:ext>
            </a:extLst>
          </p:cNvPr>
          <p:cNvSpPr/>
          <p:nvPr/>
        </p:nvSpPr>
        <p:spPr>
          <a:xfrm>
            <a:off x="7083425" y="1483326"/>
            <a:ext cx="542650" cy="206375"/>
          </a:xfrm>
          <a:prstGeom prst="ellipse">
            <a:avLst/>
          </a:prstGeom>
          <a:solidFill>
            <a:schemeClr val="bg1"/>
          </a:solidFill>
          <a:ln w="12700">
            <a:solidFill>
              <a:srgbClr val="4C6C9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000" b="1" i="0" u="none" strike="noStrike" kern="0" cap="none" spc="0" normalizeH="0" baseline="0" noProof="0" dirty="0">
                <a:ln>
                  <a:noFill/>
                </a:ln>
                <a:solidFill>
                  <a:srgbClr val="4C6C9C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+X%</a:t>
            </a:r>
            <a:endParaRPr kumimoji="0" lang="ru-RU" sz="1000" b="1" i="0" u="none" strike="noStrike" kern="0" cap="none" spc="0" normalizeH="0" baseline="0" noProof="0" dirty="0">
              <a:ln>
                <a:noFill/>
              </a:ln>
              <a:solidFill>
                <a:srgbClr val="4C6C9C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8AE5ABBA-2DBF-2962-E8BE-42D5BCE7D1BD}"/>
              </a:ext>
            </a:extLst>
          </p:cNvPr>
          <p:cNvSpPr txBox="1"/>
          <p:nvPr/>
        </p:nvSpPr>
        <p:spPr>
          <a:xfrm>
            <a:off x="7721600" y="1457829"/>
            <a:ext cx="760412" cy="257369"/>
          </a:xfrm>
          <a:prstGeom prst="rect">
            <a:avLst/>
          </a:prstGeom>
          <a:noFill/>
        </p:spPr>
        <p:txBody>
          <a:bodyPr wrap="square" lIns="0" tIns="36000" rIns="36000" bIns="3600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- CAGR</a:t>
            </a:r>
            <a:endParaRPr kumimoji="0" lang="ru-RU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137" name="Овал 136">
            <a:extLst>
              <a:ext uri="{FF2B5EF4-FFF2-40B4-BE49-F238E27FC236}">
                <a16:creationId xmlns:a16="http://schemas.microsoft.com/office/drawing/2014/main" id="{5176293A-74E7-4673-8EFC-C4B0BFD1EA5E}"/>
              </a:ext>
            </a:extLst>
          </p:cNvPr>
          <p:cNvSpPr/>
          <p:nvPr/>
        </p:nvSpPr>
        <p:spPr>
          <a:xfrm>
            <a:off x="1471613" y="2932113"/>
            <a:ext cx="542650" cy="242778"/>
          </a:xfrm>
          <a:prstGeom prst="ellipse">
            <a:avLst/>
          </a:prstGeom>
          <a:solidFill>
            <a:schemeClr val="bg1"/>
          </a:solidFill>
          <a:ln w="12700">
            <a:solidFill>
              <a:srgbClr val="4C6C9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4C6C9C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+35%</a:t>
            </a:r>
            <a:endParaRPr kumimoji="0" lang="ru-RU" sz="900" b="1" i="0" u="none" strike="noStrike" kern="0" cap="none" spc="0" normalizeH="0" baseline="0" noProof="0" dirty="0">
              <a:ln>
                <a:noFill/>
              </a:ln>
              <a:solidFill>
                <a:srgbClr val="4C6C9C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38" name="Овал 137">
            <a:extLst>
              <a:ext uri="{FF2B5EF4-FFF2-40B4-BE49-F238E27FC236}">
                <a16:creationId xmlns:a16="http://schemas.microsoft.com/office/drawing/2014/main" id="{FF969D4B-CF07-1EE7-41C1-BBF66086D484}"/>
              </a:ext>
            </a:extLst>
          </p:cNvPr>
          <p:cNvSpPr/>
          <p:nvPr/>
        </p:nvSpPr>
        <p:spPr>
          <a:xfrm>
            <a:off x="2379663" y="2636838"/>
            <a:ext cx="542650" cy="242778"/>
          </a:xfrm>
          <a:prstGeom prst="ellipse">
            <a:avLst/>
          </a:prstGeom>
          <a:solidFill>
            <a:schemeClr val="bg1"/>
          </a:solidFill>
          <a:ln w="12700">
            <a:solidFill>
              <a:srgbClr val="4C6C9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4C6C9C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+25%</a:t>
            </a:r>
            <a:endParaRPr kumimoji="0" lang="ru-RU" sz="900" b="1" i="0" u="none" strike="noStrike" kern="0" cap="none" spc="0" normalizeH="0" baseline="0" noProof="0" dirty="0">
              <a:ln>
                <a:noFill/>
              </a:ln>
              <a:solidFill>
                <a:srgbClr val="4C6C9C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39" name="Овал 138">
            <a:extLst>
              <a:ext uri="{FF2B5EF4-FFF2-40B4-BE49-F238E27FC236}">
                <a16:creationId xmlns:a16="http://schemas.microsoft.com/office/drawing/2014/main" id="{3C9768BD-18F9-1FA0-AB6D-38E3A1DE3758}"/>
              </a:ext>
            </a:extLst>
          </p:cNvPr>
          <p:cNvSpPr/>
          <p:nvPr/>
        </p:nvSpPr>
        <p:spPr>
          <a:xfrm>
            <a:off x="563563" y="3556000"/>
            <a:ext cx="542650" cy="242778"/>
          </a:xfrm>
          <a:prstGeom prst="ellipse">
            <a:avLst/>
          </a:prstGeom>
          <a:solidFill>
            <a:schemeClr val="bg1"/>
          </a:solidFill>
          <a:ln w="12700">
            <a:solidFill>
              <a:srgbClr val="9DB1C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9DB1C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+20%</a:t>
            </a:r>
            <a:endParaRPr kumimoji="0" lang="ru-RU" sz="900" b="1" i="0" u="none" strike="noStrike" kern="0" cap="none" spc="0" normalizeH="0" baseline="0" noProof="0" dirty="0">
              <a:ln>
                <a:noFill/>
              </a:ln>
              <a:solidFill>
                <a:srgbClr val="9DB1C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40" name="Овал 139">
            <a:extLst>
              <a:ext uri="{FF2B5EF4-FFF2-40B4-BE49-F238E27FC236}">
                <a16:creationId xmlns:a16="http://schemas.microsoft.com/office/drawing/2014/main" id="{0D290120-31A4-AF6F-E7EB-5602C4D69D5F}"/>
              </a:ext>
            </a:extLst>
          </p:cNvPr>
          <p:cNvSpPr/>
          <p:nvPr/>
        </p:nvSpPr>
        <p:spPr>
          <a:xfrm>
            <a:off x="1471613" y="3260725"/>
            <a:ext cx="542650" cy="242778"/>
          </a:xfrm>
          <a:prstGeom prst="ellipse">
            <a:avLst/>
          </a:prstGeom>
          <a:solidFill>
            <a:schemeClr val="bg1"/>
          </a:solidFill>
          <a:ln w="12700">
            <a:solidFill>
              <a:srgbClr val="9DB1C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9DB1C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+20%</a:t>
            </a:r>
            <a:endParaRPr kumimoji="0" lang="ru-RU" sz="900" b="1" i="0" u="none" strike="noStrike" kern="0" cap="none" spc="0" normalizeH="0" baseline="0" noProof="0" dirty="0">
              <a:ln>
                <a:noFill/>
              </a:ln>
              <a:solidFill>
                <a:srgbClr val="9DB1C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41" name="Овал 140">
            <a:extLst>
              <a:ext uri="{FF2B5EF4-FFF2-40B4-BE49-F238E27FC236}">
                <a16:creationId xmlns:a16="http://schemas.microsoft.com/office/drawing/2014/main" id="{9A5AE820-5EF5-E2F5-C855-9D378D4E32E2}"/>
              </a:ext>
            </a:extLst>
          </p:cNvPr>
          <p:cNvSpPr/>
          <p:nvPr/>
        </p:nvSpPr>
        <p:spPr>
          <a:xfrm>
            <a:off x="2379663" y="2965450"/>
            <a:ext cx="542650" cy="242778"/>
          </a:xfrm>
          <a:prstGeom prst="ellipse">
            <a:avLst/>
          </a:prstGeom>
          <a:solidFill>
            <a:schemeClr val="bg1"/>
          </a:solidFill>
          <a:ln w="12700">
            <a:solidFill>
              <a:srgbClr val="9DB1C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9DB1C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+15%</a:t>
            </a:r>
            <a:endParaRPr kumimoji="0" lang="ru-RU" sz="900" b="1" i="0" u="none" strike="noStrike" kern="0" cap="none" spc="0" normalizeH="0" baseline="0" noProof="0" dirty="0">
              <a:ln>
                <a:noFill/>
              </a:ln>
              <a:solidFill>
                <a:srgbClr val="9DB1C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42" name="Овал 141">
            <a:extLst>
              <a:ext uri="{FF2B5EF4-FFF2-40B4-BE49-F238E27FC236}">
                <a16:creationId xmlns:a16="http://schemas.microsoft.com/office/drawing/2014/main" id="{AB7DFC92-B68F-59AB-21AC-2721C510E987}"/>
              </a:ext>
            </a:extLst>
          </p:cNvPr>
          <p:cNvSpPr/>
          <p:nvPr/>
        </p:nvSpPr>
        <p:spPr>
          <a:xfrm>
            <a:off x="563563" y="3890963"/>
            <a:ext cx="542650" cy="24277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+100%</a:t>
            </a:r>
            <a:endParaRPr kumimoji="0" lang="ru-RU" sz="900" b="1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43" name="Овал 142">
            <a:extLst>
              <a:ext uri="{FF2B5EF4-FFF2-40B4-BE49-F238E27FC236}">
                <a16:creationId xmlns:a16="http://schemas.microsoft.com/office/drawing/2014/main" id="{8DF1B26E-E10C-A705-A530-235A5CF0EBF6}"/>
              </a:ext>
            </a:extLst>
          </p:cNvPr>
          <p:cNvSpPr/>
          <p:nvPr/>
        </p:nvSpPr>
        <p:spPr>
          <a:xfrm>
            <a:off x="1471613" y="3595688"/>
            <a:ext cx="542650" cy="24277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+150%</a:t>
            </a:r>
            <a:endParaRPr kumimoji="0" lang="ru-RU" sz="900" b="1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44" name="Овал 143">
            <a:extLst>
              <a:ext uri="{FF2B5EF4-FFF2-40B4-BE49-F238E27FC236}">
                <a16:creationId xmlns:a16="http://schemas.microsoft.com/office/drawing/2014/main" id="{D281B35C-86CA-2D49-E951-872DB96EB18F}"/>
              </a:ext>
            </a:extLst>
          </p:cNvPr>
          <p:cNvSpPr/>
          <p:nvPr/>
        </p:nvSpPr>
        <p:spPr>
          <a:xfrm>
            <a:off x="2379663" y="3300413"/>
            <a:ext cx="542650" cy="24277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+</a:t>
            </a:r>
            <a:r>
              <a:rPr lang="ru-RU" sz="900" b="1" kern="0" dirty="0">
                <a:solidFill>
                  <a:srgbClr val="FFFFFF"/>
                </a:solidFill>
                <a:latin typeface="Arial"/>
                <a:sym typeface="Arial"/>
              </a:rPr>
              <a:t>30</a:t>
            </a: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%</a:t>
            </a:r>
            <a:endParaRPr kumimoji="0" lang="ru-RU" sz="900" b="1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45" name="Овал 144">
            <a:extLst>
              <a:ext uri="{FF2B5EF4-FFF2-40B4-BE49-F238E27FC236}">
                <a16:creationId xmlns:a16="http://schemas.microsoft.com/office/drawing/2014/main" id="{680DE674-D71B-DB96-C4E4-5132C719524E}"/>
              </a:ext>
            </a:extLst>
          </p:cNvPr>
          <p:cNvSpPr/>
          <p:nvPr/>
        </p:nvSpPr>
        <p:spPr>
          <a:xfrm>
            <a:off x="563563" y="4233863"/>
            <a:ext cx="542650" cy="242778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+270%</a:t>
            </a:r>
            <a:endParaRPr kumimoji="0" lang="ru-RU" sz="900" b="1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46" name="Овал 145">
            <a:extLst>
              <a:ext uri="{FF2B5EF4-FFF2-40B4-BE49-F238E27FC236}">
                <a16:creationId xmlns:a16="http://schemas.microsoft.com/office/drawing/2014/main" id="{CCC283A4-4E2E-253B-D2AD-0F433B44EB7E}"/>
              </a:ext>
            </a:extLst>
          </p:cNvPr>
          <p:cNvSpPr/>
          <p:nvPr/>
        </p:nvSpPr>
        <p:spPr>
          <a:xfrm>
            <a:off x="1471613" y="3938588"/>
            <a:ext cx="542650" cy="242778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+110%</a:t>
            </a:r>
            <a:endParaRPr kumimoji="0" lang="ru-RU" sz="900" b="1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47" name="Овал 146">
            <a:extLst>
              <a:ext uri="{FF2B5EF4-FFF2-40B4-BE49-F238E27FC236}">
                <a16:creationId xmlns:a16="http://schemas.microsoft.com/office/drawing/2014/main" id="{8803AED3-4384-512A-7C57-873F7CB7F42E}"/>
              </a:ext>
            </a:extLst>
          </p:cNvPr>
          <p:cNvSpPr/>
          <p:nvPr/>
        </p:nvSpPr>
        <p:spPr>
          <a:xfrm>
            <a:off x="2379663" y="3643313"/>
            <a:ext cx="542650" cy="242778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+50%</a:t>
            </a:r>
            <a:endParaRPr kumimoji="0" lang="ru-RU" sz="900" b="1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48" name="Овал 147">
            <a:extLst>
              <a:ext uri="{FF2B5EF4-FFF2-40B4-BE49-F238E27FC236}">
                <a16:creationId xmlns:a16="http://schemas.microsoft.com/office/drawing/2014/main" id="{8387556B-8702-8BA0-4284-27664B72A334}"/>
              </a:ext>
            </a:extLst>
          </p:cNvPr>
          <p:cNvSpPr/>
          <p:nvPr/>
        </p:nvSpPr>
        <p:spPr>
          <a:xfrm>
            <a:off x="563563" y="4568825"/>
            <a:ext cx="542650" cy="242778"/>
          </a:xfrm>
          <a:prstGeom prst="ellipse">
            <a:avLst/>
          </a:prstGeom>
          <a:solidFill>
            <a:schemeClr val="bg1"/>
          </a:solidFill>
          <a:ln w="12700">
            <a:solidFill>
              <a:srgbClr val="DFE5E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FFFFFF">
                    <a:lumMod val="75000"/>
                  </a:srgbClr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+19%</a:t>
            </a:r>
            <a:endParaRPr kumimoji="0" lang="ru-RU" sz="900" b="1" i="0" u="none" strike="noStrike" kern="0" cap="none" spc="0" normalizeH="0" baseline="0" noProof="0" dirty="0">
              <a:ln>
                <a:noFill/>
              </a:ln>
              <a:solidFill>
                <a:srgbClr val="FFFFFF">
                  <a:lumMod val="75000"/>
                </a:srgbClr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49" name="Овал 148">
            <a:extLst>
              <a:ext uri="{FF2B5EF4-FFF2-40B4-BE49-F238E27FC236}">
                <a16:creationId xmlns:a16="http://schemas.microsoft.com/office/drawing/2014/main" id="{C8266C2A-4FE5-937C-8C7E-155BB01EA5BE}"/>
              </a:ext>
            </a:extLst>
          </p:cNvPr>
          <p:cNvSpPr/>
          <p:nvPr/>
        </p:nvSpPr>
        <p:spPr>
          <a:xfrm>
            <a:off x="1471613" y="4273550"/>
            <a:ext cx="542650" cy="242778"/>
          </a:xfrm>
          <a:prstGeom prst="ellipse">
            <a:avLst/>
          </a:prstGeom>
          <a:solidFill>
            <a:schemeClr val="bg1"/>
          </a:solidFill>
          <a:ln w="12700">
            <a:solidFill>
              <a:srgbClr val="DFE5E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FFFFFF">
                    <a:lumMod val="75000"/>
                  </a:srgbClr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+28%</a:t>
            </a:r>
            <a:endParaRPr kumimoji="0" lang="ru-RU" sz="900" b="1" i="0" u="none" strike="noStrike" kern="0" cap="none" spc="0" normalizeH="0" baseline="0" noProof="0" dirty="0">
              <a:ln>
                <a:noFill/>
              </a:ln>
              <a:solidFill>
                <a:srgbClr val="FFFFFF">
                  <a:lumMod val="75000"/>
                </a:srgbClr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50" name="Овал 149">
            <a:extLst>
              <a:ext uri="{FF2B5EF4-FFF2-40B4-BE49-F238E27FC236}">
                <a16:creationId xmlns:a16="http://schemas.microsoft.com/office/drawing/2014/main" id="{3E43B528-3EC0-35E9-3A4B-8DD866D4308F}"/>
              </a:ext>
            </a:extLst>
          </p:cNvPr>
          <p:cNvSpPr/>
          <p:nvPr/>
        </p:nvSpPr>
        <p:spPr>
          <a:xfrm>
            <a:off x="2379663" y="3978275"/>
            <a:ext cx="542650" cy="242778"/>
          </a:xfrm>
          <a:prstGeom prst="ellipse">
            <a:avLst/>
          </a:prstGeom>
          <a:solidFill>
            <a:schemeClr val="bg1"/>
          </a:solidFill>
          <a:ln w="12700">
            <a:solidFill>
              <a:srgbClr val="DFE5E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FFFFFF">
                    <a:lumMod val="75000"/>
                  </a:srgbClr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+21%</a:t>
            </a:r>
            <a:endParaRPr kumimoji="0" lang="ru-RU" sz="900" b="1" i="0" u="none" strike="noStrike" kern="0" cap="none" spc="0" normalizeH="0" baseline="0" noProof="0" dirty="0">
              <a:ln>
                <a:noFill/>
              </a:ln>
              <a:solidFill>
                <a:srgbClr val="FFFFFF">
                  <a:lumMod val="75000"/>
                </a:srgbClr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54774214-B187-CD67-E0FA-280DC69C67F5}"/>
              </a:ext>
            </a:extLst>
          </p:cNvPr>
          <p:cNvSpPr txBox="1"/>
          <p:nvPr/>
        </p:nvSpPr>
        <p:spPr>
          <a:xfrm>
            <a:off x="146050" y="2427288"/>
            <a:ext cx="1289594" cy="688256"/>
          </a:xfrm>
          <a:prstGeom prst="rect">
            <a:avLst/>
          </a:prstGeom>
          <a:noFill/>
        </p:spPr>
        <p:txBody>
          <a:bodyPr wrap="square" lIns="0" tIns="36000" rIns="36000" bIns="3600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ru-RU" sz="1000" b="0" i="0" u="none" strike="noStrike" kern="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Быстрорастущие</a:t>
            </a:r>
            <a:r>
              <a:rPr kumimoji="0" lang="ru-RU" sz="1000" b="0" i="0" u="none" strike="noStrike" kern="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 сегменты, замещающие </a:t>
            </a: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traditional digital</a:t>
            </a:r>
            <a:endParaRPr kumimoji="0" lang="ru-RU" sz="1000" b="0" i="0" u="none" strike="noStrike" kern="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152" name="Левая фигурная скобка 451">
            <a:extLst>
              <a:ext uri="{FF2B5EF4-FFF2-40B4-BE49-F238E27FC236}">
                <a16:creationId xmlns:a16="http://schemas.microsoft.com/office/drawing/2014/main" id="{47B408AC-EF5B-EAD6-E5E0-0F1CACD09953}"/>
              </a:ext>
            </a:extLst>
          </p:cNvPr>
          <p:cNvSpPr/>
          <p:nvPr/>
        </p:nvSpPr>
        <p:spPr>
          <a:xfrm>
            <a:off x="331788" y="3925888"/>
            <a:ext cx="149547" cy="590659"/>
          </a:xfrm>
          <a:prstGeom prst="leftBrac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ru-RU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cxnSp>
        <p:nvCxnSpPr>
          <p:cNvPr id="153" name="Соединитель: уступ 41">
            <a:extLst>
              <a:ext uri="{FF2B5EF4-FFF2-40B4-BE49-F238E27FC236}">
                <a16:creationId xmlns:a16="http://schemas.microsoft.com/office/drawing/2014/main" id="{6008DFB5-F10B-BB98-7543-E46C96ECB806}"/>
              </a:ext>
            </a:extLst>
          </p:cNvPr>
          <p:cNvCxnSpPr>
            <a:cxnSpLocks/>
            <a:endCxn id="152" idx="1"/>
          </p:cNvCxnSpPr>
          <p:nvPr/>
        </p:nvCxnSpPr>
        <p:spPr>
          <a:xfrm rot="16200000" flipH="1">
            <a:off x="-277431" y="3611999"/>
            <a:ext cx="1095192" cy="123246"/>
          </a:xfrm>
          <a:prstGeom prst="bentConnector2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6" name="Прямоугольник: скругленные углы 462">
            <a:extLst>
              <a:ext uri="{FF2B5EF4-FFF2-40B4-BE49-F238E27FC236}">
                <a16:creationId xmlns:a16="http://schemas.microsoft.com/office/drawing/2014/main" id="{DCB1416A-1512-6232-F56E-342927FE1AF8}"/>
              </a:ext>
            </a:extLst>
          </p:cNvPr>
          <p:cNvSpPr/>
          <p:nvPr/>
        </p:nvSpPr>
        <p:spPr>
          <a:xfrm>
            <a:off x="8680992" y="1001900"/>
            <a:ext cx="3146833" cy="33941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lang="ru-RU" sz="1600" b="1" kern="0" dirty="0">
                <a:solidFill>
                  <a:sysClr val="windowText" lastClr="000000"/>
                </a:solidFill>
                <a:latin typeface="Arial"/>
                <a:sym typeface="Arial"/>
              </a:rPr>
              <a:t>Комментарии</a:t>
            </a:r>
            <a:endParaRPr kumimoji="0" lang="ru-RU" sz="16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4596DD25-5FFC-7149-B150-9F36CA0AD1AE}"/>
              </a:ext>
            </a:extLst>
          </p:cNvPr>
          <p:cNvSpPr txBox="1"/>
          <p:nvPr/>
        </p:nvSpPr>
        <p:spPr>
          <a:xfrm>
            <a:off x="8682038" y="1432714"/>
            <a:ext cx="3145787" cy="3704467"/>
          </a:xfrm>
          <a:prstGeom prst="rect">
            <a:avLst/>
          </a:prstGeom>
          <a:noFill/>
        </p:spPr>
        <p:txBody>
          <a:bodyPr wrap="square" lIns="0" tIns="36000" rIns="36000" bIns="36000" rtlCol="0">
            <a:sp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Aft>
                <a:spcPts val="1200"/>
              </a:spcAft>
              <a:buClr>
                <a:srgbClr val="000000"/>
              </a:buClr>
              <a:buSzTx/>
              <a:buFont typeface="+mj-lt"/>
              <a:buAutoNum type="arabicPeriod"/>
              <a:tabLst/>
              <a:defRPr/>
            </a:pPr>
            <a:r>
              <a:rPr kumimoji="0" lang="ru-RU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Ключевым драйвером рынка является </a:t>
            </a: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Retail Media </a:t>
            </a:r>
            <a:r>
              <a:rPr kumimoji="0" lang="ru-RU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с высокой долей </a:t>
            </a: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e-com </a:t>
            </a:r>
            <a:r>
              <a:rPr kumimoji="0" lang="ru-RU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(</a:t>
            </a: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Ozon &amp; WB </a:t>
            </a:r>
            <a:r>
              <a:rPr kumimoji="0" lang="ru-RU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90</a:t>
            </a: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%</a:t>
            </a:r>
            <a:r>
              <a:rPr kumimoji="0" lang="ru-RU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+</a:t>
            </a: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)</a:t>
            </a:r>
            <a:endParaRPr lang="ru-RU" sz="1400" kern="0" dirty="0">
              <a:solidFill>
                <a:srgbClr val="000000"/>
              </a:solidFill>
              <a:latin typeface="Arial"/>
              <a:cs typeface="Arial"/>
              <a:sym typeface="Arial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Aft>
                <a:spcPts val="1200"/>
              </a:spcAft>
              <a:buClr>
                <a:srgbClr val="000000"/>
              </a:buClr>
              <a:buSzTx/>
              <a:buFont typeface="+mj-lt"/>
              <a:buAutoNum type="arabicPeriod"/>
              <a:tabLst/>
              <a:defRPr/>
            </a:pPr>
            <a:r>
              <a:rPr lang="ru-RU" sz="1400" dirty="0">
                <a:solidFill>
                  <a:srgbClr val="000000"/>
                </a:solidFill>
              </a:rPr>
              <a:t>Позиция </a:t>
            </a:r>
            <a:r>
              <a:rPr lang="ru-RU" sz="1400" dirty="0" err="1">
                <a:solidFill>
                  <a:srgbClr val="000000"/>
                </a:solidFill>
              </a:rPr>
              <a:t>Magnit</a:t>
            </a:r>
            <a:r>
              <a:rPr lang="ru-RU" sz="1400" dirty="0">
                <a:solidFill>
                  <a:srgbClr val="000000"/>
                </a:solidFill>
              </a:rPr>
              <a:t> </a:t>
            </a:r>
            <a:r>
              <a:rPr lang="ru-RU" sz="1400" dirty="0" err="1">
                <a:solidFill>
                  <a:srgbClr val="000000"/>
                </a:solidFill>
              </a:rPr>
              <a:t>AdTech</a:t>
            </a:r>
            <a:r>
              <a:rPr lang="ru-RU" sz="1400" dirty="0">
                <a:solidFill>
                  <a:srgbClr val="000000"/>
                </a:solidFill>
              </a:rPr>
              <a:t> в 2027 г.</a:t>
            </a:r>
          </a:p>
          <a:p>
            <a:pPr marL="742950" lvl="1" indent="-2857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Выручка </a:t>
            </a:r>
            <a:r>
              <a:rPr lang="ru-RU" sz="1400" b="1" dirty="0">
                <a:solidFill>
                  <a:srgbClr val="000000"/>
                </a:solidFill>
              </a:rPr>
              <a:t>14,7 млрд руб.</a:t>
            </a:r>
          </a:p>
          <a:p>
            <a:pPr marL="742950" lvl="1" indent="-2857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Доля во всем рекламном рынке: 0,5% (0,4% в 2026 г.)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Aft>
                <a:spcPts val="1200"/>
              </a:spcAft>
              <a:buClr>
                <a:srgbClr val="000000"/>
              </a:buClr>
              <a:buSzTx/>
              <a:buFont typeface="+mj-lt"/>
              <a:buAutoNum type="arabicPeriod"/>
              <a:tabLst/>
              <a:defRPr/>
            </a:pPr>
            <a:r>
              <a:rPr kumimoji="0" lang="ru-RU" sz="140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cs typeface="Arial"/>
                <a:sym typeface="Arial"/>
              </a:rPr>
              <a:t>Вторым крупным рекламным рынком по темпам роста является </a:t>
            </a:r>
            <a:r>
              <a:rPr kumimoji="0" lang="en-US" sz="1400" b="1" i="0" u="none" strike="noStrike" kern="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Influence</a:t>
            </a:r>
            <a:r>
              <a:rPr kumimoji="0" lang="ru-RU" sz="1400" b="1" i="0" u="none" strike="noStrike" kern="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-маркетинг, который растет +30% </a:t>
            </a:r>
            <a:r>
              <a:rPr lang="en-US" sz="1400" b="1" kern="0" dirty="0">
                <a:solidFill>
                  <a:schemeClr val="tx2"/>
                </a:solidFill>
                <a:latin typeface="Arial"/>
                <a:cs typeface="Arial"/>
                <a:sym typeface="Arial"/>
              </a:rPr>
              <a:t>YoY</a:t>
            </a:r>
            <a:r>
              <a:rPr lang="ru-RU" sz="1400" b="1" kern="0" dirty="0">
                <a:solidFill>
                  <a:schemeClr val="tx2"/>
                </a:solidFill>
                <a:latin typeface="Arial"/>
                <a:cs typeface="Arial"/>
                <a:sym typeface="Arial"/>
              </a:rPr>
              <a:t>, </a:t>
            </a:r>
            <a:r>
              <a:rPr lang="ru-RU" sz="1400" kern="0" dirty="0">
                <a:latin typeface="Arial"/>
                <a:cs typeface="Arial"/>
                <a:sym typeface="Arial"/>
              </a:rPr>
              <a:t>опережая по темпам роста традиционный </a:t>
            </a:r>
            <a:r>
              <a:rPr lang="en-US" sz="1400" kern="0" dirty="0">
                <a:latin typeface="Arial"/>
                <a:cs typeface="Arial"/>
                <a:sym typeface="Arial"/>
              </a:rPr>
              <a:t>digital (+15% YoY)</a:t>
            </a:r>
            <a:endParaRPr kumimoji="0" lang="en-US" sz="140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2829068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E30666E-5DDA-7C37-E83B-3CD387FA1FF8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1619251" y="6212037"/>
            <a:ext cx="9277350" cy="498376"/>
          </a:xfrm>
        </p:spPr>
        <p:txBody>
          <a:bodyPr/>
          <a:lstStyle/>
          <a:p>
            <a:pPr>
              <a:spcBef>
                <a:spcPts val="0"/>
              </a:spcBef>
            </a:pPr>
            <a:r>
              <a:rPr lang="ru-RU" dirty="0">
                <a:solidFill>
                  <a:srgbClr val="6E6E6E"/>
                </a:solidFill>
              </a:rPr>
              <a:t>1. Оценка </a:t>
            </a:r>
            <a:r>
              <a:rPr lang="en" dirty="0">
                <a:solidFill>
                  <a:srgbClr val="6E6E6E"/>
                </a:solidFill>
              </a:rPr>
              <a:t>AdTech, </a:t>
            </a:r>
            <a:r>
              <a:rPr lang="ru-RU" dirty="0">
                <a:solidFill>
                  <a:srgbClr val="6E6E6E"/>
                </a:solidFill>
              </a:rPr>
              <a:t>исходя из аналитических данных по «белым» инвестициям в </a:t>
            </a:r>
            <a:r>
              <a:rPr lang="ru-RU" dirty="0" err="1">
                <a:solidFill>
                  <a:srgbClr val="6E6E6E"/>
                </a:solidFill>
              </a:rPr>
              <a:t>инфлюенс</a:t>
            </a:r>
            <a:r>
              <a:rPr lang="ru-RU" dirty="0">
                <a:solidFill>
                  <a:srgbClr val="6E6E6E"/>
                </a:solidFill>
              </a:rPr>
              <a:t>-маркетинг и приблизительной оценки «серых» инвестиций без маркировки</a:t>
            </a:r>
          </a:p>
          <a:p>
            <a:pPr>
              <a:spcBef>
                <a:spcPts val="0"/>
              </a:spcBef>
            </a:pPr>
            <a:r>
              <a:rPr lang="ru-RU" dirty="0">
                <a:solidFill>
                  <a:srgbClr val="6E6E6E"/>
                </a:solidFill>
              </a:rPr>
              <a:t>2. АКАР, «Постмаркетинг» </a:t>
            </a:r>
          </a:p>
          <a:p>
            <a:pPr>
              <a:spcBef>
                <a:spcPts val="0"/>
              </a:spcBef>
            </a:pPr>
            <a:r>
              <a:rPr lang="ru-RU" sz="900" dirty="0">
                <a:solidFill>
                  <a:srgbClr val="6E6E6E"/>
                </a:solidFill>
              </a:rPr>
              <a:t>Источники: Ads Market Calc (внутренняя оценка рынка), отчетность X5, Data Insight, стратегия Magnit AdTech 2026-2031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69739A8-6D06-4296-15BC-B08991E1FEE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6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82C5617-DF71-AC57-5D39-E98D239B02B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Retail Media — 42% рекламного рынка 2027 г.: Magnit ADS растёт на внутреннем и внешнем инвентаре</a:t>
            </a:r>
          </a:p>
        </p:txBody>
      </p:sp>
      <p:sp>
        <p:nvSpPr>
          <p:cNvPr id="1001" name="ES market card"/>
          <p:cNvSpPr/>
          <p:nvPr/>
        </p:nvSpPr>
        <p:spPr>
          <a:xfrm>
            <a:off x="368300" y="911225"/>
            <a:ext cx="3600000" cy="508000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02" name="ADS 1002"/>
          <p:cNvSpPr txBox="1"/>
          <p:nvPr/>
        </p:nvSpPr>
        <p:spPr>
          <a:xfrm>
            <a:off x="528300" y="1041225"/>
            <a:ext cx="328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dirty="0">
                <a:solidFill>
                  <a:srgbClr val="FF452C"/>
                </a:solidFill>
                <a:latin typeface="Arial"/>
                <a:cs typeface="Arial"/>
              </a:rPr>
              <a:t>Рынок и конкуренты</a:t>
            </a:r>
            <a:endParaRPr lang="ru-RU" sz="1200" dirty="0"/>
          </a:p>
        </p:txBody>
      </p:sp>
      <p:sp>
        <p:nvSpPr>
          <p:cNvPr id="1003" name="ADS 1003"/>
          <p:cNvSpPr/>
          <p:nvPr/>
        </p:nvSpPr>
        <p:spPr>
          <a:xfrm>
            <a:off x="528300" y="1381225"/>
            <a:ext cx="328000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04" name="ADS 1004"/>
          <p:cNvSpPr/>
          <p:nvPr/>
        </p:nvSpPr>
        <p:spPr>
          <a:xfrm>
            <a:off x="528300" y="1491225"/>
            <a:ext cx="1580000" cy="8600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05" name="ADS 1005"/>
          <p:cNvSpPr txBox="1"/>
          <p:nvPr/>
        </p:nvSpPr>
        <p:spPr>
          <a:xfrm>
            <a:off x="618300" y="1551225"/>
            <a:ext cx="1400000" cy="7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dirty="0">
                <a:solidFill>
                  <a:srgbClr val="000000"/>
                </a:solidFill>
                <a:latin typeface="Arial"/>
                <a:cs typeface="Arial"/>
              </a:rPr>
              <a:t>2,9 трлн руб.</a:t>
            </a:r>
            <a:endParaRPr lang="ru-RU" sz="1200" dirty="0"/>
          </a:p>
          <a:p>
            <a:pPr marL="0" indent="0" algn="l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1000" dirty="0">
                <a:solidFill>
                  <a:srgbClr val="7F7F7F"/>
                </a:solidFill>
                <a:latin typeface="Arial"/>
                <a:cs typeface="Arial"/>
              </a:rPr>
              <a:t>Прогноз </a:t>
            </a:r>
            <a:r>
              <a:rPr lang="ru-RU" sz="1000" b="0" dirty="0">
                <a:solidFill>
                  <a:srgbClr val="7F7F7F"/>
                </a:solidFill>
                <a:latin typeface="Arial"/>
                <a:cs typeface="Arial"/>
              </a:rPr>
              <a:t>рекламного рынка в РФ 2027 г.</a:t>
            </a:r>
            <a:endParaRPr lang="ru-RU" sz="1200" dirty="0"/>
          </a:p>
        </p:txBody>
      </p:sp>
      <p:sp>
        <p:nvSpPr>
          <p:cNvPr id="1006" name="ADS 1006"/>
          <p:cNvSpPr/>
          <p:nvPr/>
        </p:nvSpPr>
        <p:spPr>
          <a:xfrm>
            <a:off x="2228300" y="1491225"/>
            <a:ext cx="1580000" cy="8600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07" name="ADS 1007"/>
          <p:cNvSpPr txBox="1"/>
          <p:nvPr/>
        </p:nvSpPr>
        <p:spPr>
          <a:xfrm>
            <a:off x="2318300" y="1551225"/>
            <a:ext cx="1400000" cy="7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dirty="0">
                <a:solidFill>
                  <a:srgbClr val="000000"/>
                </a:solidFill>
                <a:latin typeface="Arial"/>
                <a:cs typeface="Arial"/>
              </a:rPr>
              <a:t>1,2 трлн руб.</a:t>
            </a:r>
            <a:endParaRPr lang="ru-RU" sz="1200" dirty="0"/>
          </a:p>
          <a:p>
            <a:pPr marL="0" indent="0" algn="l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7F7F7F"/>
                </a:solidFill>
                <a:latin typeface="Arial"/>
                <a:cs typeface="Arial"/>
              </a:rPr>
              <a:t>Retail Media 2027 - 42% рынка</a:t>
            </a:r>
            <a:endParaRPr lang="ru-RU" sz="1200" dirty="0"/>
          </a:p>
        </p:txBody>
      </p:sp>
      <p:sp>
        <p:nvSpPr>
          <p:cNvPr id="1008" name="ADS 1008"/>
          <p:cNvSpPr txBox="1"/>
          <p:nvPr/>
        </p:nvSpPr>
        <p:spPr>
          <a:xfrm>
            <a:off x="528300" y="2471225"/>
            <a:ext cx="3280000" cy="2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7F7F7F"/>
                </a:solidFill>
                <a:latin typeface="Arial"/>
                <a:cs typeface="Arial"/>
              </a:rPr>
              <a:t>Рост сегментов в 2027 г., YoY</a:t>
            </a:r>
            <a:endParaRPr lang="ru-RU" sz="1200" dirty="0"/>
          </a:p>
        </p:txBody>
      </p:sp>
      <p:sp>
        <p:nvSpPr>
          <p:cNvPr id="1009" name="ADS 1009"/>
          <p:cNvSpPr txBox="1"/>
          <p:nvPr/>
        </p:nvSpPr>
        <p:spPr>
          <a:xfrm>
            <a:off x="528300" y="2751225"/>
            <a:ext cx="1250000" cy="2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000000"/>
                </a:solidFill>
                <a:latin typeface="Arial"/>
                <a:cs typeface="Arial"/>
              </a:rPr>
              <a:t>Retail Media</a:t>
            </a:r>
            <a:endParaRPr lang="ru-RU" sz="1200" dirty="0"/>
          </a:p>
        </p:txBody>
      </p:sp>
      <p:sp>
        <p:nvSpPr>
          <p:cNvPr id="1010" name="ADS 1010"/>
          <p:cNvSpPr/>
          <p:nvPr/>
        </p:nvSpPr>
        <p:spPr>
          <a:xfrm>
            <a:off x="1778300" y="2791225"/>
            <a:ext cx="1510000" cy="180000"/>
          </a:xfrm>
          <a:prstGeom prst="rect">
            <a:avLst/>
          </a:prstGeom>
          <a:solidFill>
            <a:srgbClr val="FF452C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11" name="ADS 1011"/>
          <p:cNvSpPr txBox="1"/>
          <p:nvPr/>
        </p:nvSpPr>
        <p:spPr>
          <a:xfrm>
            <a:off x="3348300" y="2751225"/>
            <a:ext cx="460000" cy="2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FF452C"/>
                </a:solidFill>
                <a:latin typeface="Arial"/>
                <a:cs typeface="Arial"/>
              </a:rPr>
              <a:t>+50%</a:t>
            </a:r>
            <a:endParaRPr lang="ru-RU" sz="1200" dirty="0"/>
          </a:p>
        </p:txBody>
      </p:sp>
      <p:sp>
        <p:nvSpPr>
          <p:cNvPr id="1012" name="ADS 1012"/>
          <p:cNvSpPr txBox="1"/>
          <p:nvPr/>
        </p:nvSpPr>
        <p:spPr>
          <a:xfrm>
            <a:off x="528300" y="3081225"/>
            <a:ext cx="1250000" cy="2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Influence</a:t>
            </a:r>
            <a:endParaRPr lang="ru-RU" sz="1200" dirty="0"/>
          </a:p>
        </p:txBody>
      </p:sp>
      <p:sp>
        <p:nvSpPr>
          <p:cNvPr id="1013" name="ADS 1013"/>
          <p:cNvSpPr/>
          <p:nvPr/>
        </p:nvSpPr>
        <p:spPr>
          <a:xfrm>
            <a:off x="1778299" y="3121225"/>
            <a:ext cx="955069" cy="180000"/>
          </a:xfrm>
          <a:prstGeom prst="rect">
            <a:avLst/>
          </a:prstGeom>
          <a:solidFill>
            <a:srgbClr val="FEA296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14" name="ADS 1014"/>
          <p:cNvSpPr txBox="1"/>
          <p:nvPr/>
        </p:nvSpPr>
        <p:spPr>
          <a:xfrm>
            <a:off x="2800100" y="3081225"/>
            <a:ext cx="460000" cy="2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000000"/>
                </a:solidFill>
                <a:latin typeface="Arial"/>
                <a:cs typeface="Arial"/>
              </a:rPr>
              <a:t>+30%</a:t>
            </a:r>
            <a:r>
              <a:rPr lang="ru-RU" sz="1000" b="1" baseline="30000" dirty="0">
                <a:solidFill>
                  <a:srgbClr val="000000"/>
                </a:solidFill>
                <a:latin typeface="Arial"/>
                <a:cs typeface="Arial"/>
              </a:rPr>
              <a:t>1</a:t>
            </a:r>
            <a:endParaRPr lang="ru-RU" sz="1200" baseline="30000" dirty="0"/>
          </a:p>
        </p:txBody>
      </p:sp>
      <p:sp>
        <p:nvSpPr>
          <p:cNvPr id="1015" name="ADS 1015"/>
          <p:cNvSpPr txBox="1"/>
          <p:nvPr/>
        </p:nvSpPr>
        <p:spPr>
          <a:xfrm>
            <a:off x="528300" y="3411225"/>
            <a:ext cx="1250000" cy="2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Traditional digital</a:t>
            </a:r>
            <a:endParaRPr lang="ru-RU" sz="1200" dirty="0"/>
          </a:p>
        </p:txBody>
      </p:sp>
      <p:sp>
        <p:nvSpPr>
          <p:cNvPr id="1016" name="ADS 1016"/>
          <p:cNvSpPr/>
          <p:nvPr/>
        </p:nvSpPr>
        <p:spPr>
          <a:xfrm>
            <a:off x="1778300" y="3451225"/>
            <a:ext cx="453000" cy="180000"/>
          </a:xfrm>
          <a:prstGeom prst="rect">
            <a:avLst/>
          </a:prstGeom>
          <a:solidFill>
            <a:srgbClr val="BFBFBF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17" name="ADS 1017"/>
          <p:cNvSpPr txBox="1"/>
          <p:nvPr/>
        </p:nvSpPr>
        <p:spPr>
          <a:xfrm>
            <a:off x="2291300" y="3411225"/>
            <a:ext cx="460000" cy="2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000000"/>
                </a:solidFill>
                <a:latin typeface="Arial"/>
                <a:cs typeface="Arial"/>
              </a:rPr>
              <a:t>+15%</a:t>
            </a:r>
            <a:endParaRPr lang="ru-RU" sz="1200" dirty="0"/>
          </a:p>
        </p:txBody>
      </p:sp>
      <p:sp>
        <p:nvSpPr>
          <p:cNvPr id="1018" name="ADS 1018"/>
          <p:cNvSpPr/>
          <p:nvPr/>
        </p:nvSpPr>
        <p:spPr>
          <a:xfrm>
            <a:off x="528300" y="3811225"/>
            <a:ext cx="328000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19" name="ADS 1019"/>
          <p:cNvSpPr txBox="1"/>
          <p:nvPr/>
        </p:nvSpPr>
        <p:spPr>
          <a:xfrm>
            <a:off x="528300" y="3901225"/>
            <a:ext cx="3280000" cy="20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171450" indent="-171450" algn="l">
              <a:spcAft>
                <a:spcPts val="600"/>
              </a:spcAft>
              <a:buClr>
                <a:srgbClr val="FF452C"/>
              </a:buClr>
              <a:buFont typeface="Arial" panose="020B0604020202020204" pitchFamily="34" charset="0"/>
              <a:buChar char="•"/>
            </a:pPr>
            <a:r>
              <a:rPr lang="ru-RU" sz="1100" b="0" dirty="0">
                <a:solidFill>
                  <a:srgbClr val="000000"/>
                </a:solidFill>
                <a:latin typeface="Arial"/>
                <a:cs typeface="Arial"/>
              </a:rPr>
              <a:t>Рынок традиционного </a:t>
            </a:r>
            <a:r>
              <a:rPr lang="en-US" sz="1100" b="0" dirty="0">
                <a:solidFill>
                  <a:srgbClr val="000000"/>
                </a:solidFill>
                <a:latin typeface="Arial"/>
                <a:cs typeface="Arial"/>
              </a:rPr>
              <a:t>digital</a:t>
            </a:r>
            <a:r>
              <a:rPr lang="ru-RU" sz="1100" b="0" dirty="0">
                <a:solidFill>
                  <a:srgbClr val="000000"/>
                </a:solidFill>
                <a:latin typeface="Arial"/>
                <a:cs typeface="Arial"/>
              </a:rPr>
              <a:t> растет темпами медиаинфляции (+15% </a:t>
            </a:r>
            <a:r>
              <a:rPr lang="en-US" sz="1100" b="0" dirty="0">
                <a:solidFill>
                  <a:srgbClr val="000000"/>
                </a:solidFill>
                <a:latin typeface="Arial"/>
                <a:cs typeface="Arial"/>
              </a:rPr>
              <a:t>YoY)</a:t>
            </a:r>
            <a:endParaRPr lang="ru-RU" sz="1100" b="0" dirty="0">
              <a:solidFill>
                <a:srgbClr val="000000"/>
              </a:solidFill>
              <a:latin typeface="Arial"/>
              <a:cs typeface="Arial"/>
            </a:endParaRPr>
          </a:p>
          <a:p>
            <a:pPr marL="171450" indent="-171450" algn="l">
              <a:spcAft>
                <a:spcPts val="600"/>
              </a:spcAft>
              <a:buClr>
                <a:srgbClr val="FF452C"/>
              </a:buClr>
              <a:buFont typeface="Arial" panose="020B0604020202020204" pitchFamily="34" charset="0"/>
              <a:buChar char="•"/>
            </a:pPr>
            <a:r>
              <a:rPr lang="ru-RU" sz="1100" b="0" dirty="0">
                <a:solidFill>
                  <a:srgbClr val="000000"/>
                </a:solidFill>
                <a:latin typeface="Arial"/>
                <a:cs typeface="Arial"/>
              </a:rPr>
              <a:t>Топ-150 рекламодателей сократили расходы на 11% - бюджеты уходят в каналы с доказуемым эффектом</a:t>
            </a:r>
            <a:r>
              <a:rPr lang="ru-RU" sz="1100" b="0" baseline="30000" dirty="0">
                <a:solidFill>
                  <a:srgbClr val="000000"/>
                </a:solidFill>
                <a:latin typeface="Arial"/>
                <a:cs typeface="Arial"/>
              </a:rPr>
              <a:t>1</a:t>
            </a:r>
            <a:endParaRPr lang="ru-RU" sz="1200" baseline="30000" dirty="0"/>
          </a:p>
          <a:p>
            <a:pPr marL="171450" indent="-171450" algn="l">
              <a:spcAft>
                <a:spcPts val="600"/>
              </a:spcAft>
              <a:buClr>
                <a:srgbClr val="FF452C"/>
              </a:buClr>
              <a:buFont typeface="Arial" panose="020B0604020202020204" pitchFamily="34" charset="0"/>
              <a:buChar char="•"/>
            </a:pPr>
            <a:r>
              <a:rPr lang="ru-RU" sz="1100" b="0" dirty="0">
                <a:solidFill>
                  <a:srgbClr val="000000"/>
                </a:solidFill>
                <a:latin typeface="Arial"/>
                <a:cs typeface="Arial"/>
              </a:rPr>
              <a:t>X5, Яндекс и маркетплейсы фокусируются на Retail Media; маркетплейсы уже заняли 90%+ рынка Retail Media</a:t>
            </a:r>
            <a:endParaRPr lang="ru-RU" sz="1200" dirty="0"/>
          </a:p>
        </p:txBody>
      </p:sp>
      <p:sp>
        <p:nvSpPr>
          <p:cNvPr id="1020" name="ES initiatives card"/>
          <p:cNvSpPr/>
          <p:nvPr/>
        </p:nvSpPr>
        <p:spPr>
          <a:xfrm>
            <a:off x="4218300" y="911225"/>
            <a:ext cx="7605400" cy="508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21" name="ADS 1021"/>
          <p:cNvSpPr txBox="1"/>
          <p:nvPr/>
        </p:nvSpPr>
        <p:spPr>
          <a:xfrm>
            <a:off x="4378300" y="1041225"/>
            <a:ext cx="72854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dirty="0">
                <a:solidFill>
                  <a:srgbClr val="FF452C"/>
                </a:solidFill>
                <a:latin typeface="Arial"/>
                <a:cs typeface="Arial"/>
              </a:rPr>
              <a:t>Ключевые драйверы рекламной выручки </a:t>
            </a:r>
            <a:r>
              <a:rPr lang="ru-RU" sz="1400" b="1" dirty="0" err="1">
                <a:solidFill>
                  <a:srgbClr val="FF452C"/>
                </a:solidFill>
                <a:latin typeface="Arial"/>
                <a:cs typeface="Arial"/>
              </a:rPr>
              <a:t>Magnit</a:t>
            </a:r>
            <a:r>
              <a:rPr lang="ru-RU" sz="1400" b="1" dirty="0">
                <a:solidFill>
                  <a:srgbClr val="FF452C"/>
                </a:solidFill>
                <a:latin typeface="Arial"/>
                <a:cs typeface="Arial"/>
              </a:rPr>
              <a:t> ADS в 2027 г.</a:t>
            </a:r>
            <a:endParaRPr lang="ru-RU" sz="1200" dirty="0"/>
          </a:p>
        </p:txBody>
      </p:sp>
      <p:sp>
        <p:nvSpPr>
          <p:cNvPr id="1022" name="ADS 1022"/>
          <p:cNvSpPr/>
          <p:nvPr/>
        </p:nvSpPr>
        <p:spPr>
          <a:xfrm>
            <a:off x="4378300" y="1381225"/>
            <a:ext cx="728540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23" name="ADS 1023"/>
          <p:cNvSpPr txBox="1"/>
          <p:nvPr/>
        </p:nvSpPr>
        <p:spPr>
          <a:xfrm>
            <a:off x="4378300" y="1451225"/>
            <a:ext cx="2000000" cy="2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7F7F7F"/>
                </a:solidFill>
                <a:latin typeface="Arial"/>
                <a:cs typeface="Arial"/>
              </a:rPr>
              <a:t>По типам инвентаря </a:t>
            </a:r>
            <a:endParaRPr lang="ru-RU" sz="1200" dirty="0"/>
          </a:p>
        </p:txBody>
      </p:sp>
      <p:sp>
        <p:nvSpPr>
          <p:cNvPr id="1024" name="ADS 1024"/>
          <p:cNvSpPr/>
          <p:nvPr/>
        </p:nvSpPr>
        <p:spPr>
          <a:xfrm>
            <a:off x="4378300" y="1721225"/>
            <a:ext cx="3542700" cy="250000"/>
          </a:xfrm>
          <a:prstGeom prst="roundRect">
            <a:avLst>
              <a:gd name="adj" fmla="val 30000"/>
            </a:avLst>
          </a:prstGeom>
          <a:solidFill>
            <a:srgbClr val="FFE9E5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FF452C"/>
                </a:solidFill>
                <a:latin typeface="Arial"/>
                <a:cs typeface="Arial"/>
              </a:rPr>
              <a:t>Внутренний</a:t>
            </a:r>
            <a:endParaRPr lang="ru-RU" sz="1200" dirty="0"/>
          </a:p>
        </p:txBody>
      </p:sp>
      <p:sp>
        <p:nvSpPr>
          <p:cNvPr id="1025" name="ADS 1025"/>
          <p:cNvSpPr/>
          <p:nvPr/>
        </p:nvSpPr>
        <p:spPr>
          <a:xfrm>
            <a:off x="4378300" y="2051225"/>
            <a:ext cx="1120900" cy="18800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26" name="ADS 1026"/>
          <p:cNvSpPr txBox="1"/>
          <p:nvPr/>
        </p:nvSpPr>
        <p:spPr>
          <a:xfrm>
            <a:off x="4458300" y="2141225"/>
            <a:ext cx="960900" cy="17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Медиа</a:t>
            </a:r>
            <a:endParaRPr lang="ru-RU" sz="1200" dirty="0"/>
          </a:p>
          <a:p>
            <a:pPr marL="0" indent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ru-RU" sz="1800" b="1" dirty="0">
                <a:solidFill>
                  <a:srgbClr val="FF452C"/>
                </a:solidFill>
                <a:latin typeface="Arial"/>
                <a:cs typeface="Arial"/>
              </a:rPr>
              <a:t>4 864</a:t>
            </a:r>
            <a:endParaRPr lang="ru-RU" sz="1200" dirty="0"/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млн руб. 2027</a:t>
            </a:r>
            <a:endParaRPr lang="ru-RU" sz="1200" dirty="0"/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000000"/>
                </a:solidFill>
                <a:latin typeface="Arial"/>
                <a:cs typeface="Arial"/>
              </a:rPr>
              <a:t>+22%</a:t>
            </a:r>
            <a:endParaRPr lang="ru-RU" sz="1200" dirty="0"/>
          </a:p>
          <a:p>
            <a:pPr marL="0" indent="0" algn="l">
              <a:lnSpc>
                <a:spcPct val="95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Наибольший объем, маржа 100%</a:t>
            </a:r>
            <a:endParaRPr lang="ru-RU" sz="1200" dirty="0"/>
          </a:p>
        </p:txBody>
      </p:sp>
      <p:sp>
        <p:nvSpPr>
          <p:cNvPr id="1027" name="ADS 1027"/>
          <p:cNvSpPr/>
          <p:nvPr/>
        </p:nvSpPr>
        <p:spPr>
          <a:xfrm>
            <a:off x="5589200" y="2051225"/>
            <a:ext cx="1120900" cy="18800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28" name="ADS 1028"/>
          <p:cNvSpPr txBox="1"/>
          <p:nvPr/>
        </p:nvSpPr>
        <p:spPr>
          <a:xfrm>
            <a:off x="5669200" y="2141225"/>
            <a:ext cx="960900" cy="17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Перформанс</a:t>
            </a:r>
            <a:endParaRPr lang="ru-RU" sz="1200" dirty="0"/>
          </a:p>
          <a:p>
            <a:pPr marL="0" indent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ru-RU" sz="1800" b="1" dirty="0">
                <a:solidFill>
                  <a:srgbClr val="FF452C"/>
                </a:solidFill>
                <a:latin typeface="Arial"/>
                <a:cs typeface="Arial"/>
              </a:rPr>
              <a:t>2 832</a:t>
            </a:r>
            <a:endParaRPr lang="ru-RU" sz="1200" dirty="0"/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млн руб. 2027</a:t>
            </a:r>
            <a:endParaRPr lang="ru-RU" sz="1200" dirty="0"/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000000"/>
                </a:solidFill>
                <a:latin typeface="Arial"/>
                <a:cs typeface="Arial"/>
              </a:rPr>
              <a:t>+29%</a:t>
            </a:r>
            <a:endParaRPr lang="ru-RU" sz="1200" dirty="0"/>
          </a:p>
          <a:p>
            <a:pPr marL="0" indent="0" algn="l">
              <a:lnSpc>
                <a:spcPct val="95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Ключевая ставка 2027: аукцион в поиске и рекомендациях</a:t>
            </a:r>
            <a:endParaRPr lang="ru-RU" sz="1200" dirty="0"/>
          </a:p>
        </p:txBody>
      </p:sp>
      <p:sp>
        <p:nvSpPr>
          <p:cNvPr id="1029" name="ADS 1029"/>
          <p:cNvSpPr/>
          <p:nvPr/>
        </p:nvSpPr>
        <p:spPr>
          <a:xfrm>
            <a:off x="6800100" y="2051225"/>
            <a:ext cx="1120900" cy="18800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30" name="ADS 1030"/>
          <p:cNvSpPr txBox="1"/>
          <p:nvPr/>
        </p:nvSpPr>
        <p:spPr>
          <a:xfrm>
            <a:off x="6880100" y="2141225"/>
            <a:ext cx="960900" cy="17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In-store</a:t>
            </a:r>
            <a:endParaRPr lang="ru-RU" sz="1200" dirty="0"/>
          </a:p>
          <a:p>
            <a:pPr marL="0" indent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ru-RU" sz="1800" b="1" dirty="0">
                <a:solidFill>
                  <a:srgbClr val="FF452C"/>
                </a:solidFill>
                <a:latin typeface="Arial"/>
                <a:cs typeface="Arial"/>
              </a:rPr>
              <a:t>4 058</a:t>
            </a:r>
            <a:endParaRPr lang="ru-RU" sz="1200" dirty="0"/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млн руб. 2027</a:t>
            </a:r>
            <a:endParaRPr lang="ru-RU" sz="1200" dirty="0"/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000000"/>
                </a:solidFill>
                <a:latin typeface="Arial"/>
                <a:cs typeface="Arial"/>
              </a:rPr>
              <a:t>+66%</a:t>
            </a:r>
            <a:endParaRPr lang="ru-RU" sz="1200" dirty="0"/>
          </a:p>
          <a:p>
            <a:pPr marL="0" indent="0" algn="l">
              <a:lnSpc>
                <a:spcPct val="95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Масштабируем самый перспективный инвентарь</a:t>
            </a:r>
            <a:endParaRPr lang="ru-RU" sz="1200" dirty="0"/>
          </a:p>
        </p:txBody>
      </p:sp>
      <p:sp>
        <p:nvSpPr>
          <p:cNvPr id="1031" name="ADS 1031"/>
          <p:cNvSpPr/>
          <p:nvPr/>
        </p:nvSpPr>
        <p:spPr>
          <a:xfrm>
            <a:off x="8121000" y="1721225"/>
            <a:ext cx="3542700" cy="250000"/>
          </a:xfrm>
          <a:prstGeom prst="roundRect">
            <a:avLst>
              <a:gd name="adj" fmla="val 30000"/>
            </a:avLst>
          </a:prstGeom>
          <a:solidFill>
            <a:srgbClr val="FFE9E5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FF452C"/>
                </a:solidFill>
                <a:latin typeface="Arial"/>
                <a:cs typeface="Arial"/>
              </a:rPr>
              <a:t>Внешний</a:t>
            </a:r>
            <a:endParaRPr lang="ru-RU" sz="1200" dirty="0"/>
          </a:p>
        </p:txBody>
      </p:sp>
      <p:sp>
        <p:nvSpPr>
          <p:cNvPr id="1032" name="ADS 1032"/>
          <p:cNvSpPr/>
          <p:nvPr/>
        </p:nvSpPr>
        <p:spPr>
          <a:xfrm>
            <a:off x="9331900" y="2051225"/>
            <a:ext cx="1120900" cy="18800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33" name="ADS 1033"/>
          <p:cNvSpPr txBox="1"/>
          <p:nvPr/>
        </p:nvSpPr>
        <p:spPr>
          <a:xfrm>
            <a:off x="9411900" y="2141225"/>
            <a:ext cx="960900" cy="17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RMN</a:t>
            </a:r>
            <a:endParaRPr lang="ru-RU" sz="1200" dirty="0"/>
          </a:p>
          <a:p>
            <a:pPr marL="0" indent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ru-RU" sz="1800" b="1" dirty="0">
                <a:solidFill>
                  <a:srgbClr val="FF452C"/>
                </a:solidFill>
                <a:latin typeface="Arial"/>
                <a:cs typeface="Arial"/>
              </a:rPr>
              <a:t>850</a:t>
            </a:r>
            <a:endParaRPr lang="ru-RU" sz="1200" dirty="0"/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млн руб. 2027</a:t>
            </a:r>
            <a:endParaRPr lang="ru-RU" sz="1200" dirty="0"/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000000"/>
                </a:solidFill>
                <a:latin typeface="Arial"/>
                <a:cs typeface="Arial"/>
              </a:rPr>
              <a:t>+43%</a:t>
            </a:r>
            <a:endParaRPr lang="ru-RU" sz="1200" dirty="0"/>
          </a:p>
          <a:p>
            <a:pPr marL="0" indent="0" algn="l">
              <a:lnSpc>
                <a:spcPct val="95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Бренд-бюджеты через внешнее ЮЛ с Дикси и Азбукой Вкуса</a:t>
            </a:r>
            <a:endParaRPr lang="ru-RU" sz="1200" dirty="0"/>
          </a:p>
        </p:txBody>
      </p:sp>
      <p:sp>
        <p:nvSpPr>
          <p:cNvPr id="1034" name="ADS 1034"/>
          <p:cNvSpPr/>
          <p:nvPr/>
        </p:nvSpPr>
        <p:spPr>
          <a:xfrm>
            <a:off x="10542800" y="2051225"/>
            <a:ext cx="1120900" cy="18800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35" name="ADS 1035"/>
          <p:cNvSpPr txBox="1"/>
          <p:nvPr/>
        </p:nvSpPr>
        <p:spPr>
          <a:xfrm>
            <a:off x="10622800" y="2141225"/>
            <a:ext cx="960900" cy="17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UGC</a:t>
            </a:r>
            <a:endParaRPr lang="ru-RU" sz="1200" dirty="0"/>
          </a:p>
          <a:p>
            <a:pPr marL="0" indent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ru-RU" sz="1800" b="1" dirty="0">
                <a:solidFill>
                  <a:srgbClr val="FF452C"/>
                </a:solidFill>
                <a:latin typeface="Arial"/>
                <a:cs typeface="Arial"/>
              </a:rPr>
              <a:t>356</a:t>
            </a:r>
            <a:endParaRPr lang="ru-RU" sz="1200" dirty="0"/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млн руб. 2027</a:t>
            </a:r>
            <a:endParaRPr lang="ru-RU" sz="1200" dirty="0"/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000000"/>
                </a:solidFill>
                <a:latin typeface="Arial"/>
                <a:cs typeface="Arial"/>
              </a:rPr>
              <a:t>новое</a:t>
            </a:r>
            <a:endParaRPr lang="ru-RU" sz="1200" dirty="0"/>
          </a:p>
          <a:p>
            <a:pPr marL="0" indent="0" algn="l">
              <a:lnSpc>
                <a:spcPct val="95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Social commerce и контент-завод</a:t>
            </a:r>
            <a:endParaRPr lang="ru-RU" sz="1200" dirty="0"/>
          </a:p>
        </p:txBody>
      </p:sp>
      <p:sp>
        <p:nvSpPr>
          <p:cNvPr id="1036" name="ADS 1036"/>
          <p:cNvSpPr/>
          <p:nvPr/>
        </p:nvSpPr>
        <p:spPr>
          <a:xfrm>
            <a:off x="8121000" y="2051225"/>
            <a:ext cx="1120900" cy="18800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37" name="ADS 1037"/>
          <p:cNvSpPr txBox="1"/>
          <p:nvPr/>
        </p:nvSpPr>
        <p:spPr>
          <a:xfrm>
            <a:off x="8201000" y="2141225"/>
            <a:ext cx="960900" cy="17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DMP + Online</a:t>
            </a:r>
            <a:endParaRPr lang="ru-RU" sz="1200" dirty="0"/>
          </a:p>
          <a:p>
            <a:pPr marL="0" indent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ru-RU" sz="1800" b="1" dirty="0">
                <a:solidFill>
                  <a:srgbClr val="FF452C"/>
                </a:solidFill>
                <a:latin typeface="Arial"/>
                <a:cs typeface="Arial"/>
              </a:rPr>
              <a:t>1 787</a:t>
            </a:r>
            <a:endParaRPr lang="ru-RU" sz="1200" dirty="0"/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млн руб. 2027</a:t>
            </a:r>
            <a:endParaRPr lang="ru-RU" sz="1200" dirty="0"/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000000"/>
                </a:solidFill>
                <a:latin typeface="Arial"/>
                <a:cs typeface="Arial"/>
              </a:rPr>
              <a:t>+64%</a:t>
            </a:r>
            <a:endParaRPr lang="ru-RU" sz="1200" dirty="0"/>
          </a:p>
          <a:p>
            <a:pPr marL="0" indent="0" algn="l">
              <a:lnSpc>
                <a:spcPct val="95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Данные Магнита </a:t>
            </a:r>
            <a:b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</a:b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на внешних площадках</a:t>
            </a:r>
            <a:endParaRPr lang="ru-RU" sz="1200" dirty="0"/>
          </a:p>
        </p:txBody>
      </p:sp>
      <p:sp>
        <p:nvSpPr>
          <p:cNvPr id="1038" name="ADS 1038"/>
          <p:cNvSpPr txBox="1"/>
          <p:nvPr/>
        </p:nvSpPr>
        <p:spPr>
          <a:xfrm>
            <a:off x="4378300" y="4155825"/>
            <a:ext cx="1600000" cy="2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7F7F7F"/>
                </a:solidFill>
                <a:latin typeface="Arial"/>
                <a:cs typeface="Arial"/>
              </a:rPr>
              <a:t>По типам бюджета</a:t>
            </a:r>
            <a:endParaRPr lang="ru-RU" sz="1200" dirty="0"/>
          </a:p>
        </p:txBody>
      </p:sp>
      <p:sp>
        <p:nvSpPr>
          <p:cNvPr id="1040" name="ADS 1040"/>
          <p:cNvSpPr/>
          <p:nvPr/>
        </p:nvSpPr>
        <p:spPr>
          <a:xfrm>
            <a:off x="4378300" y="4441225"/>
            <a:ext cx="4863600" cy="14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FF452C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41" name="ADS 1041"/>
          <p:cNvSpPr txBox="1"/>
          <p:nvPr/>
        </p:nvSpPr>
        <p:spPr>
          <a:xfrm>
            <a:off x="4498300" y="4531225"/>
            <a:ext cx="4635000" cy="14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1" dirty="0">
                <a:solidFill>
                  <a:srgbClr val="FF452C"/>
                </a:solidFill>
                <a:latin typeface="Arial"/>
                <a:cs typeface="Arial"/>
              </a:rPr>
              <a:t>Трейд-бюджеты</a:t>
            </a:r>
            <a:endParaRPr lang="ru-RU" sz="1200" dirty="0"/>
          </a:p>
          <a:p>
            <a:pPr marL="0" indent="0" algn="l">
              <a:spcBef>
                <a:spcPts val="300"/>
              </a:spcBef>
              <a:spcAft>
                <a:spcPts val="0"/>
              </a:spcAft>
              <a:buNone/>
            </a:pPr>
            <a:r>
              <a:rPr lang="ru-RU" sz="1600" b="1" dirty="0">
                <a:solidFill>
                  <a:srgbClr val="000000"/>
                </a:solidFill>
                <a:latin typeface="Arial"/>
                <a:cs typeface="Arial"/>
              </a:rPr>
              <a:t>13 541 млн руб. 2027</a:t>
            </a:r>
            <a:endParaRPr lang="ru-RU" sz="1200" dirty="0"/>
          </a:p>
          <a:p>
            <a:pPr marL="0" indent="0" algn="l">
              <a:spcBef>
                <a:spcPts val="50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Продаем через Коммерцию форматов; AdTech - сервисная функция: создает инвентарь, повышает его результативность, ведет кампании и отчетность</a:t>
            </a:r>
            <a:endParaRPr lang="ru-RU" sz="1200" dirty="0"/>
          </a:p>
        </p:txBody>
      </p:sp>
      <p:sp>
        <p:nvSpPr>
          <p:cNvPr id="1043" name="ADS 1043"/>
          <p:cNvSpPr/>
          <p:nvPr/>
        </p:nvSpPr>
        <p:spPr>
          <a:xfrm>
            <a:off x="9331900" y="4441225"/>
            <a:ext cx="2331800" cy="14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FF452C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44" name="ADS 1044"/>
          <p:cNvSpPr txBox="1"/>
          <p:nvPr/>
        </p:nvSpPr>
        <p:spPr>
          <a:xfrm>
            <a:off x="9446200" y="4531225"/>
            <a:ext cx="2103200" cy="14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1" dirty="0">
                <a:solidFill>
                  <a:srgbClr val="FF452C"/>
                </a:solidFill>
                <a:latin typeface="Arial"/>
                <a:cs typeface="Arial"/>
              </a:rPr>
              <a:t>Бренд-бюджеты</a:t>
            </a:r>
            <a:endParaRPr lang="ru-RU" sz="1200" dirty="0"/>
          </a:p>
          <a:p>
            <a:pPr marL="0" indent="0" algn="l">
              <a:spcBef>
                <a:spcPts val="300"/>
              </a:spcBef>
              <a:spcAft>
                <a:spcPts val="0"/>
              </a:spcAft>
              <a:buNone/>
            </a:pPr>
            <a:r>
              <a:rPr lang="ru-RU" sz="1600" b="1" dirty="0">
                <a:solidFill>
                  <a:srgbClr val="000000"/>
                </a:solidFill>
                <a:latin typeface="Arial"/>
                <a:cs typeface="Arial"/>
              </a:rPr>
              <a:t>1 206 млн руб. 2027</a:t>
            </a:r>
            <a:endParaRPr lang="ru-RU" sz="1200" dirty="0"/>
          </a:p>
          <a:p>
            <a:pPr marL="0" indent="0" algn="l">
              <a:spcBef>
                <a:spcPts val="50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Через внешнее ЮЛ Магнит Маркета: охваты как альтернатива ТВ, OOH и digital</a:t>
            </a:r>
            <a:endParaRPr lang="ru-RU" sz="1200" dirty="0"/>
          </a:p>
        </p:txBody>
      </p:sp>
      <p:sp>
        <p:nvSpPr>
          <p:cNvPr id="5" name="Открывающая фигурная скобка 4">
            <a:extLst>
              <a:ext uri="{FF2B5EF4-FFF2-40B4-BE49-F238E27FC236}">
                <a16:creationId xmlns:a16="http://schemas.microsoft.com/office/drawing/2014/main" id="{58000670-BDE9-3BE9-B0FB-3C9E24723090}"/>
              </a:ext>
            </a:extLst>
          </p:cNvPr>
          <p:cNvSpPr/>
          <p:nvPr/>
        </p:nvSpPr>
        <p:spPr>
          <a:xfrm rot="16200000">
            <a:off x="6685101" y="1675161"/>
            <a:ext cx="249999" cy="4863600"/>
          </a:xfrm>
          <a:prstGeom prst="leftBrace">
            <a:avLst>
              <a:gd name="adj1" fmla="val 40538"/>
              <a:gd name="adj2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Открывающая фигурная скобка 7">
            <a:extLst>
              <a:ext uri="{FF2B5EF4-FFF2-40B4-BE49-F238E27FC236}">
                <a16:creationId xmlns:a16="http://schemas.microsoft.com/office/drawing/2014/main" id="{74A3962A-9E63-C9E3-9261-3F329B6E46B6}"/>
              </a:ext>
            </a:extLst>
          </p:cNvPr>
          <p:cNvSpPr/>
          <p:nvPr/>
        </p:nvSpPr>
        <p:spPr>
          <a:xfrm rot="16200000">
            <a:off x="10372801" y="2941061"/>
            <a:ext cx="249999" cy="2331800"/>
          </a:xfrm>
          <a:prstGeom prst="leftBrace">
            <a:avLst>
              <a:gd name="adj1" fmla="val 40538"/>
              <a:gd name="adj2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486081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7E97DD0-DD89-B103-A00E-EEABC3FD28C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 lIns="0" tIns="0"/>
          <a:lstStyle/>
          <a:p>
            <a:pPr>
              <a:spcBef>
                <a:spcPts val="0"/>
              </a:spcBef>
            </a:pPr>
            <a:r>
              <a:rPr lang="ru-RU" dirty="0">
                <a:solidFill>
                  <a:srgbClr val="6E6E6E"/>
                </a:solidFill>
              </a:rPr>
              <a:t>E — прогноз. Доля AdTech = выручка AdTech / объём Retail Media. Источник: Ads Market Calc (внутренняя оценка рынка Magnit ADS), отчётность X5, Data Insight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40AF99F-E03A-625D-D459-F6FC0D9D88D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7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31962FE-4B9D-C536-072E-BEB6A9B93F0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Retail Media в 2027 г. вырастет на 35%, до 1,2 трлн руб.;</a:t>
            </a:r>
            <a:br>
              <a:rPr lang="ru-RU" dirty="0"/>
            </a:br>
            <a:r>
              <a:rPr lang="ru-RU" dirty="0"/>
              <a:t>AdTech растёт быстрее рынка — на 43%</a:t>
            </a:r>
          </a:p>
        </p:txBody>
      </p:sp>
      <p:graphicFrame>
        <p:nvGraphicFramePr>
          <p:cNvPr id="5" name="Chart"/>
          <p:cNvGraphicFramePr/>
          <p:nvPr/>
        </p:nvGraphicFramePr>
        <p:xfrm>
          <a:off x="368300" y="1079500"/>
          <a:ext cx="5969000" cy="4953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200" name="Shape 200"/>
          <p:cNvSpPr txBox="1"/>
          <p:nvPr/>
        </p:nvSpPr>
        <p:spPr>
          <a:xfrm>
            <a:off x="368300" y="1003300"/>
            <a:ext cx="5842000" cy="304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0" rIns="0" bIns="0" anchor="t">
            <a:noAutofit/>
          </a:bodyPr>
          <a:lstStyle/>
          <a:p>
            <a:r>
              <a:rPr lang="ru-RU" sz="1600" b="1" dirty="0">
                <a:solidFill>
                  <a:srgbClr val="000000"/>
                </a:solidFill>
              </a:rPr>
              <a:t>Объём рынка Retail Media в России, млрд руб.</a:t>
            </a:r>
          </a:p>
        </p:txBody>
      </p:sp>
      <p:sp>
        <p:nvSpPr>
          <p:cNvPr id="201" name="Shape 201"/>
          <p:cNvSpPr txBox="1"/>
          <p:nvPr/>
        </p:nvSpPr>
        <p:spPr>
          <a:xfrm>
            <a:off x="6604000" y="1016000"/>
            <a:ext cx="5219700" cy="50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Комментарии</a:t>
            </a:r>
          </a:p>
          <a:p>
            <a:pPr marL="0" indent="0" algn="l">
              <a:spcBef>
                <a:spcPts val="900"/>
              </a:spcBef>
              <a:buNone/>
            </a:pPr>
            <a:r>
              <a:rPr lang="ru-RU" sz="1400" b="1" dirty="0">
                <a:solidFill>
                  <a:srgbClr val="000000"/>
                </a:solidFill>
              </a:rPr>
              <a:t>Рынок</a:t>
            </a:r>
          </a:p>
          <a:p>
            <a:pPr marL="171450" indent="-171450" algn="l">
              <a:spcBef>
                <a:spcPts val="600"/>
              </a:spcBef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Рекламный рынок РФ: </a:t>
            </a:r>
            <a:r>
              <a:rPr lang="ru-RU" sz="1400" b="1" dirty="0">
                <a:solidFill>
                  <a:srgbClr val="000000"/>
                </a:solidFill>
              </a:rPr>
              <a:t>2,9 трлн руб.</a:t>
            </a:r>
            <a:r>
              <a:rPr lang="ru-RU" sz="1400" dirty="0">
                <a:solidFill>
                  <a:srgbClr val="000000"/>
                </a:solidFill>
              </a:rPr>
              <a:t> в 2027 г. (+22%)</a:t>
            </a:r>
          </a:p>
          <a:p>
            <a:pPr marL="171450" indent="-171450" algn="l">
              <a:spcBef>
                <a:spcPts val="600"/>
              </a:spcBef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Retail Media — </a:t>
            </a:r>
            <a:r>
              <a:rPr lang="ru-RU" sz="1400" b="1" dirty="0">
                <a:solidFill>
                  <a:srgbClr val="000000"/>
                </a:solidFill>
              </a:rPr>
              <a:t>42%</a:t>
            </a:r>
            <a:r>
              <a:rPr lang="ru-RU" sz="1400" dirty="0">
                <a:solidFill>
                  <a:srgbClr val="000000"/>
                </a:solidFill>
              </a:rPr>
              <a:t> рынка и самый быстрорастущий сегмент; traditional digital растёт на 15%</a:t>
            </a:r>
          </a:p>
          <a:p>
            <a:pPr marL="171450" indent="-171450" algn="l">
              <a:spcBef>
                <a:spcPts val="600"/>
              </a:spcBef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Маркетплейсы занимают более 90% Retail Media; X5, Яндекс и маркетплейсы усиливают фокус на сегменте</a:t>
            </a:r>
          </a:p>
          <a:p>
            <a:pPr marL="0" indent="0" algn="l">
              <a:spcBef>
                <a:spcPts val="900"/>
              </a:spcBef>
              <a:buNone/>
            </a:pPr>
            <a:r>
              <a:rPr lang="ru-RU" sz="1400" b="1" dirty="0">
                <a:solidFill>
                  <a:srgbClr val="000000"/>
                </a:solidFill>
              </a:rPr>
              <a:t>Позиция Magnit AdTech в 2027 г.</a:t>
            </a:r>
          </a:p>
          <a:p>
            <a:pPr marL="171450" indent="-171450" algn="l">
              <a:spcBef>
                <a:spcPts val="600"/>
              </a:spcBef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Выручка </a:t>
            </a:r>
            <a:r>
              <a:rPr lang="ru-RU" sz="1400" b="1" dirty="0">
                <a:solidFill>
                  <a:srgbClr val="000000"/>
                </a:solidFill>
              </a:rPr>
              <a:t>14,7 млрд руб.</a:t>
            </a:r>
            <a:r>
              <a:rPr lang="ru-RU" sz="1400" dirty="0">
                <a:solidFill>
                  <a:srgbClr val="000000"/>
                </a:solidFill>
              </a:rPr>
              <a:t> (+43%) — около 1,2% Retail Media</a:t>
            </a:r>
          </a:p>
          <a:p>
            <a:pPr marL="171450" indent="-171450" algn="l">
              <a:spcBef>
                <a:spcPts val="600"/>
              </a:spcBef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Доля во всём рекламном рынке: </a:t>
            </a:r>
            <a:r>
              <a:rPr lang="ru-RU" sz="1400" b="1" dirty="0">
                <a:solidFill>
                  <a:srgbClr val="000000"/>
                </a:solidFill>
              </a:rPr>
              <a:t>0,5%</a:t>
            </a:r>
            <a:r>
              <a:rPr lang="ru-RU" sz="1400" dirty="0">
                <a:solidFill>
                  <a:srgbClr val="000000"/>
                </a:solidFill>
              </a:rPr>
              <a:t> (0,4% в 2026 г.)</a:t>
            </a:r>
          </a:p>
        </p:txBody>
      </p:sp>
      <p:grpSp>
        <p:nvGrpSpPr>
          <p:cNvPr id="202" name="GrowthArrow f5 0"/>
          <p:cNvGrpSpPr/>
          <p:nvPr/>
        </p:nvGrpSpPr>
        <p:grpSpPr>
          <a:xfrm>
            <a:off x="1522720" y="2790994"/>
            <a:ext cx="1750080" cy="1041911"/>
            <a:chOff x="1522720" y="2790994"/>
            <a:chExt cx="1750080" cy="1041911"/>
          </a:xfrm>
        </p:grpSpPr>
        <p:cxnSp>
          <p:nvCxnSpPr>
            <p:cNvPr id="203" name="GrowthArrow f5 0 rise"/>
            <p:cNvCxnSpPr/>
            <p:nvPr/>
          </p:nvCxnSpPr>
          <p:spPr>
            <a:xfrm flipV="1">
              <a:off x="1522720" y="2915994"/>
              <a:ext cx="1" cy="916911"/>
            </a:xfrm>
            <a:prstGeom prst="line">
              <a:avLst/>
            </a:prstGeom>
            <a:ln w="12700">
              <a:solidFill>
                <a:srgbClr val="595959"/>
              </a:solidFill>
            </a:ln>
          </p:spPr>
        </p:cxnSp>
        <p:cxnSp>
          <p:nvCxnSpPr>
            <p:cNvPr id="204" name="GrowthArrow f5 0 line"/>
            <p:cNvCxnSpPr/>
            <p:nvPr/>
          </p:nvCxnSpPr>
          <p:spPr>
            <a:xfrm>
              <a:off x="1522720" y="2915994"/>
              <a:ext cx="1750080" cy="1"/>
            </a:xfrm>
            <a:prstGeom prst="line">
              <a:avLst/>
            </a:prstGeom>
            <a:ln w="12700">
              <a:solidFill>
                <a:srgbClr val="595959"/>
              </a:solidFill>
            </a:ln>
          </p:spPr>
        </p:cxnSp>
        <p:cxnSp>
          <p:nvCxnSpPr>
            <p:cNvPr id="205" name="GrowthArrow f5 0 drop"/>
            <p:cNvCxnSpPr/>
            <p:nvPr/>
          </p:nvCxnSpPr>
          <p:spPr>
            <a:xfrm>
              <a:off x="3272800" y="2915994"/>
              <a:ext cx="1" cy="205000"/>
            </a:xfrm>
            <a:prstGeom prst="line">
              <a:avLst/>
            </a:prstGeom>
            <a:ln w="12700">
              <a:solidFill>
                <a:srgbClr val="595959"/>
              </a:solidFill>
              <a:tailEnd type="triangle" w="med" len="med"/>
            </a:ln>
          </p:spPr>
        </p:cxnSp>
        <p:sp>
          <p:nvSpPr>
            <p:cNvPr id="206" name="GrowthArrow f5 0 label"/>
            <p:cNvSpPr txBox="1"/>
            <p:nvPr/>
          </p:nvSpPr>
          <p:spPr>
            <a:xfrm>
              <a:off x="2104560" y="2790994"/>
              <a:ext cx="586400" cy="250000"/>
            </a:xfrm>
            <a:prstGeom prst="rect">
              <a:avLst/>
            </a:prstGeom>
            <a:solidFill>
              <a:srgbClr val="FFFFFF"/>
            </a:solidFill>
          </p:spPr>
          <p:txBody>
            <a:bodyPr wrap="square" anchor="ctr">
              <a:normAutofit fontScale="77500" lnSpcReduction="20000"/>
            </a:bodyPr>
            <a:lstStyle/>
            <a:p>
              <a:pPr algn="ctr"/>
              <a:r>
                <a:rPr lang="en-US" sz="1600" b="1" dirty="0">
                  <a:solidFill>
                    <a:srgbClr val="000000"/>
                  </a:solidFill>
                  <a:latin typeface="Arial"/>
                </a:rPr>
                <a:t>+53%</a:t>
              </a:r>
            </a:p>
          </p:txBody>
        </p:sp>
      </p:grpSp>
      <p:grpSp>
        <p:nvGrpSpPr>
          <p:cNvPr id="207" name="GrowthArrow f5 1"/>
          <p:cNvGrpSpPr/>
          <p:nvPr/>
        </p:nvGrpSpPr>
        <p:grpSpPr>
          <a:xfrm>
            <a:off x="3432800" y="2074460"/>
            <a:ext cx="1750080" cy="1046534"/>
            <a:chOff x="3432800" y="2074460"/>
            <a:chExt cx="1750080" cy="1046534"/>
          </a:xfrm>
        </p:grpSpPr>
        <p:cxnSp>
          <p:nvCxnSpPr>
            <p:cNvPr id="208" name="GrowthArrow f5 1 rise"/>
            <p:cNvCxnSpPr/>
            <p:nvPr/>
          </p:nvCxnSpPr>
          <p:spPr>
            <a:xfrm flipV="1">
              <a:off x="3432800" y="2199460"/>
              <a:ext cx="1" cy="921534"/>
            </a:xfrm>
            <a:prstGeom prst="line">
              <a:avLst/>
            </a:prstGeom>
            <a:ln w="12700">
              <a:solidFill>
                <a:srgbClr val="595959"/>
              </a:solidFill>
            </a:ln>
          </p:spPr>
        </p:cxnSp>
        <p:cxnSp>
          <p:nvCxnSpPr>
            <p:cNvPr id="209" name="GrowthArrow f5 1 line"/>
            <p:cNvCxnSpPr/>
            <p:nvPr/>
          </p:nvCxnSpPr>
          <p:spPr>
            <a:xfrm>
              <a:off x="3432800" y="2199460"/>
              <a:ext cx="1750080" cy="1"/>
            </a:xfrm>
            <a:prstGeom prst="line">
              <a:avLst/>
            </a:prstGeom>
            <a:ln w="12700">
              <a:solidFill>
                <a:srgbClr val="595959"/>
              </a:solidFill>
            </a:ln>
          </p:spPr>
        </p:cxnSp>
        <p:cxnSp>
          <p:nvCxnSpPr>
            <p:cNvPr id="210" name="GrowthArrow f5 1 drop"/>
            <p:cNvCxnSpPr/>
            <p:nvPr/>
          </p:nvCxnSpPr>
          <p:spPr>
            <a:xfrm>
              <a:off x="5182880" y="2199460"/>
              <a:ext cx="1" cy="205000"/>
            </a:xfrm>
            <a:prstGeom prst="line">
              <a:avLst/>
            </a:prstGeom>
            <a:ln w="12700">
              <a:solidFill>
                <a:srgbClr val="595959"/>
              </a:solidFill>
              <a:tailEnd type="triangle" w="med" len="med"/>
            </a:ln>
          </p:spPr>
        </p:cxnSp>
        <p:sp>
          <p:nvSpPr>
            <p:cNvPr id="211" name="GrowthArrow f5 1 label"/>
            <p:cNvSpPr txBox="1"/>
            <p:nvPr/>
          </p:nvSpPr>
          <p:spPr>
            <a:xfrm>
              <a:off x="4014640" y="2074460"/>
              <a:ext cx="586400" cy="250000"/>
            </a:xfrm>
            <a:prstGeom prst="rect">
              <a:avLst/>
            </a:prstGeom>
            <a:solidFill>
              <a:srgbClr val="FFFFFF"/>
            </a:solidFill>
          </p:spPr>
          <p:txBody>
            <a:bodyPr wrap="square" anchor="ctr">
              <a:normAutofit fontScale="77500" lnSpcReduction="20000"/>
            </a:bodyPr>
            <a:lstStyle/>
            <a:p>
              <a:pPr algn="ctr"/>
              <a:r>
                <a:rPr lang="en-US" sz="1600" b="1" dirty="0">
                  <a:solidFill>
                    <a:srgbClr val="000000"/>
                  </a:solidFill>
                  <a:latin typeface="Arial"/>
                </a:rPr>
                <a:t>+35%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284360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92DAC0F-A039-A254-0652-BA59CF6C7EF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ru-RU" sz="900" dirty="0">
                <a:solidFill>
                  <a:srgbClr val="6E6E6E"/>
                </a:solidFill>
              </a:rPr>
              <a:t>Источники: отчетность X5 (AdIndex, Oborot.ru), дайджест E-Retail Media АРИР за I кв. 2026, Sostav, Коммерсантъ, CNews, Data Insight, «Постмаркетинг»; 2026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E9BE670-CA70-08AE-0F3A-5E118D01205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8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24A033E-567B-C7C9-F6E1-C6AC1813096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>
                <a:solidFill>
                  <a:sysClr val="windowText" lastClr="000000"/>
                </a:solidFill>
              </a:rPr>
              <a:t>Retail Media </a:t>
            </a:r>
            <a:r>
              <a:rPr lang="ru-RU" dirty="0">
                <a:solidFill>
                  <a:sysClr val="windowText" lastClr="000000"/>
                </a:solidFill>
              </a:rPr>
              <a:t>находится в фокусе внимания ключевых </a:t>
            </a:r>
            <a:br>
              <a:rPr lang="ru-RU" dirty="0">
                <a:solidFill>
                  <a:sysClr val="windowText" lastClr="000000"/>
                </a:solidFill>
              </a:rPr>
            </a:br>
            <a:r>
              <a:rPr lang="en-US" dirty="0">
                <a:solidFill>
                  <a:sysClr val="windowText" lastClr="000000"/>
                </a:solidFill>
              </a:rPr>
              <a:t>AdTech</a:t>
            </a:r>
            <a:r>
              <a:rPr lang="ru-RU" dirty="0">
                <a:solidFill>
                  <a:sysClr val="windowText" lastClr="000000"/>
                </a:solidFill>
              </a:rPr>
              <a:t>-игроков на рынке РФ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graphicFrame>
        <p:nvGraphicFramePr>
          <p:cNvPr id="301" name="Table 301"/>
          <p:cNvGraphicFramePr>
            <a:graphicFrameLocks noGrp="1"/>
          </p:cNvGraphicFramePr>
          <p:nvPr/>
        </p:nvGraphicFramePr>
        <p:xfrm>
          <a:off x="368299" y="1037230"/>
          <a:ext cx="11459526" cy="5012976"/>
        </p:xfrm>
        <a:graphic>
          <a:graphicData uri="http://schemas.openxmlformats.org/drawingml/2006/table">
            <a:tbl>
              <a:tblPr firstRow="1"/>
              <a:tblGrid>
                <a:gridCol w="1310376">
                  <a:extLst>
                    <a:ext uri="{9D8B030D-6E8A-4147-A177-3AD203B41FA5}">
                      <a16:colId xmlns:a16="http://schemas.microsoft.com/office/drawing/2014/main" val="3053660834"/>
                    </a:ext>
                  </a:extLst>
                </a:gridCol>
                <a:gridCol w="18833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83641">
                  <a:extLst>
                    <a:ext uri="{9D8B030D-6E8A-4147-A177-3AD203B41FA5}">
                      <a16:colId xmlns:a16="http://schemas.microsoft.com/office/drawing/2014/main" val="633549615"/>
                    </a:ext>
                  </a:extLst>
                </a:gridCol>
                <a:gridCol w="608211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0376">
                <a:tc gridSpan="2">
                  <a:txBody>
                    <a:bodyPr/>
                    <a:lstStyle/>
                    <a:p>
                      <a:pPr marL="0" marR="0" lvl="0" indent="0" algn="l" defTabSz="91435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600" b="1" dirty="0">
                          <a:solidFill>
                            <a:schemeClr val="tx2"/>
                          </a:solidFill>
                          <a:latin typeface="+mn-lt"/>
                        </a:rPr>
                        <a:t>Отрасль конкурента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ru-RU" sz="1600" b="1" dirty="0">
                        <a:solidFill>
                          <a:schemeClr val="tx2"/>
                        </a:solidFill>
                        <a:latin typeface="Arial"/>
                      </a:endParaRP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600" b="1" dirty="0">
                          <a:solidFill>
                            <a:schemeClr val="tx2"/>
                          </a:solidFill>
                          <a:latin typeface="Arial"/>
                        </a:rPr>
                        <a:t>Конкуренты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600" b="1" dirty="0">
                          <a:solidFill>
                            <a:schemeClr val="tx2"/>
                          </a:solidFill>
                          <a:latin typeface="Arial"/>
                        </a:rPr>
                        <a:t>Оценка деятельности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12520">
                <a:tc rowSpan="2">
                  <a:txBody>
                    <a:bodyPr/>
                    <a:lstStyle/>
                    <a:p>
                      <a:pPr algn="l"/>
                      <a:r>
                        <a:rPr lang="ru-RU" sz="1200" b="1" dirty="0">
                          <a:solidFill>
                            <a:srgbClr val="000000"/>
                          </a:solidFill>
                          <a:latin typeface="Arial"/>
                        </a:rPr>
                        <a:t>Ритейл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b="1" dirty="0">
                          <a:solidFill>
                            <a:sysClr val="windowText" lastClr="000000"/>
                          </a:solidFill>
                        </a:rPr>
                        <a:t>Retail Media Brick &amp; Mortar</a:t>
                      </a:r>
                      <a:r>
                        <a:rPr lang="ru-RU" sz="1200" b="1" dirty="0">
                          <a:solidFill>
                            <a:sysClr val="windowText" lastClr="000000"/>
                          </a:solidFill>
                        </a:rPr>
                        <a:t> / </a:t>
                      </a:r>
                      <a:r>
                        <a:rPr lang="en-US" sz="1200" b="1" dirty="0">
                          <a:solidFill>
                            <a:sysClr val="windowText" lastClr="000000"/>
                          </a:solidFill>
                        </a:rPr>
                        <a:t>e-grocery</a:t>
                      </a:r>
                      <a:endParaRPr lang="ru-RU" sz="1200" b="1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>
                        <a:buFontTx/>
                        <a:buChar char="-"/>
                      </a:pPr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Х5</a:t>
                      </a:r>
                    </a:p>
                    <a:p>
                      <a:pPr marL="171450" indent="-171450" algn="l">
                        <a:buFontTx/>
                        <a:buChar char="-"/>
                      </a:pPr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Сбер (Сбер Маркет, Купер, Самокат)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200" dirty="0">
                          <a:solidFill>
                            <a:sysClr val="windowText" lastClr="000000"/>
                          </a:solidFill>
                        </a:rPr>
                        <a:t>Медленно наращивают потенциал </a:t>
                      </a:r>
                      <a:r>
                        <a:rPr lang="en-US" sz="1200" dirty="0">
                          <a:solidFill>
                            <a:sysClr val="windowText" lastClr="000000"/>
                          </a:solidFill>
                        </a:rPr>
                        <a:t>retail media </a:t>
                      </a:r>
                      <a:br>
                        <a:rPr lang="ru-RU" sz="1200" dirty="0">
                          <a:solidFill>
                            <a:sysClr val="windowText" lastClr="000000"/>
                          </a:solidFill>
                        </a:rPr>
                      </a:br>
                      <a:r>
                        <a:rPr lang="ru-RU" sz="1200" dirty="0">
                          <a:solidFill>
                            <a:sysClr val="windowText" lastClr="000000"/>
                          </a:solidFill>
                        </a:rPr>
                        <a:t>и развиваются параллельно с </a:t>
                      </a:r>
                      <a:r>
                        <a:rPr lang="en-US" sz="1200" dirty="0" err="1">
                          <a:solidFill>
                            <a:sysClr val="windowText" lastClr="000000"/>
                          </a:solidFill>
                        </a:rPr>
                        <a:t>Magnit</a:t>
                      </a:r>
                      <a:r>
                        <a:rPr lang="en-US" sz="1200" dirty="0">
                          <a:solidFill>
                            <a:sysClr val="windowText" lastClr="000000"/>
                          </a:solidFill>
                        </a:rPr>
                        <a:t> ADS</a:t>
                      </a:r>
                      <a:endParaRPr lang="ru-RU" sz="1200" kern="1200" dirty="0">
                        <a:solidFill>
                          <a:srgbClr val="000000"/>
                        </a:solidFill>
                        <a:latin typeface="Arial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12520">
                <a:tc vMerge="1">
                  <a:txBody>
                    <a:bodyPr/>
                    <a:lstStyle/>
                    <a:p>
                      <a:pPr algn="l"/>
                      <a:endParaRPr lang="ru-RU" sz="1100" b="1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200" b="1" dirty="0">
                          <a:solidFill>
                            <a:srgbClr val="000000"/>
                          </a:solidFill>
                          <a:latin typeface="Arial"/>
                        </a:rPr>
                        <a:t>Прочие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>
                        <a:buFontTx/>
                        <a:buChar char="-"/>
                      </a:pPr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Лента</a:t>
                      </a:r>
                    </a:p>
                    <a:p>
                      <a:pPr marL="171450" indent="-171450" algn="l">
                        <a:buFontTx/>
                        <a:buChar char="-"/>
                      </a:pPr>
                      <a:r>
                        <a:rPr lang="ru-RU" sz="1200" dirty="0" err="1">
                          <a:solidFill>
                            <a:srgbClr val="000000"/>
                          </a:solidFill>
                          <a:latin typeface="Arial"/>
                        </a:rPr>
                        <a:t>ВкусВилл</a:t>
                      </a:r>
                      <a:endParaRPr lang="ru-RU" sz="1200" dirty="0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 marL="171450" indent="-171450" algn="l">
                        <a:buFontTx/>
                        <a:buChar char="-"/>
                      </a:pPr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Метро</a:t>
                      </a:r>
                    </a:p>
                    <a:p>
                      <a:pPr marL="171450" indent="-171450" algn="l">
                        <a:buFontTx/>
                        <a:buChar char="-"/>
                      </a:pPr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Ашан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Имеют потенциал внедрения 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</a:rPr>
                        <a:t>white-label </a:t>
                      </a:r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решения </a:t>
                      </a:r>
                      <a:b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</a:br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рекламной платформы от Магнит 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</a:rPr>
                        <a:t>ADS</a:t>
                      </a:r>
                      <a:endParaRPr lang="ru-RU" sz="1200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12520">
                <a:tc rowSpan="3">
                  <a:txBody>
                    <a:bodyPr/>
                    <a:lstStyle/>
                    <a:p>
                      <a:pPr algn="l"/>
                      <a:r>
                        <a:rPr lang="ru-RU" sz="1200" b="1" dirty="0">
                          <a:solidFill>
                            <a:srgbClr val="000000"/>
                          </a:solidFill>
                          <a:latin typeface="Arial"/>
                        </a:rPr>
                        <a:t> </a:t>
                      </a: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Arial"/>
                        </a:rPr>
                        <a:t>E-com &amp; Digital</a:t>
                      </a:r>
                      <a:endParaRPr lang="ru-RU" sz="1200" b="1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200" b="1" dirty="0">
                          <a:solidFill>
                            <a:srgbClr val="000000"/>
                          </a:solidFill>
                          <a:latin typeface="Arial"/>
                        </a:rPr>
                        <a:t>Маркетплейсы</a:t>
                      </a:r>
                      <a:endParaRPr lang="ru-RU" sz="1200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>
                        <a:buFontTx/>
                        <a:buChar char="-"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</a:rPr>
                        <a:t>Ozon</a:t>
                      </a:r>
                    </a:p>
                    <a:p>
                      <a:pPr marL="171450" indent="-171450" algn="l">
                        <a:buFontTx/>
                        <a:buChar char="-"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</a:rPr>
                        <a:t>RWB</a:t>
                      </a:r>
                      <a:endParaRPr lang="ru-RU" sz="1200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>
                        <a:buFontTx/>
                        <a:buChar char="-"/>
                      </a:pPr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Реализовали потенциал рекламной платформы</a:t>
                      </a:r>
                      <a:endParaRPr lang="en-US" sz="1200" dirty="0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 marL="171450" indent="-171450" algn="l">
                        <a:buFontTx/>
                        <a:buChar char="-"/>
                      </a:pPr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Развивают 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</a:rPr>
                        <a:t>social commerce</a:t>
                      </a:r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:</a:t>
                      </a:r>
                    </a:p>
                    <a:p>
                      <a:pPr marL="628628" lvl="1" indent="-171450" algn="l">
                        <a:buFontTx/>
                        <a:buChar char="-"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</a:rPr>
                        <a:t>Ozon </a:t>
                      </a:r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тестирует 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</a:rPr>
                        <a:t>shoppable</a:t>
                      </a:r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-механики с 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</a:rPr>
                        <a:t>VK</a:t>
                      </a:r>
                    </a:p>
                    <a:p>
                      <a:pPr marL="628628" lvl="1" indent="-171450" algn="l">
                        <a:buFontTx/>
                        <a:buChar char="-"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</a:rPr>
                        <a:t>WB </a:t>
                      </a:r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развивает </a:t>
                      </a:r>
                      <a:r>
                        <a:rPr lang="en-US" sz="1200" dirty="0" err="1">
                          <a:solidFill>
                            <a:srgbClr val="000000"/>
                          </a:solidFill>
                          <a:latin typeface="Arial"/>
                        </a:rPr>
                        <a:t>Wibes</a:t>
                      </a:r>
                      <a:endParaRPr lang="ru-RU" sz="1200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12520">
                <a:tc vMerge="1">
                  <a:txBody>
                    <a:bodyPr/>
                    <a:lstStyle/>
                    <a:p>
                      <a:pPr algn="l"/>
                      <a:endParaRPr lang="ru-RU" sz="1100" b="1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l"/>
                      <a:r>
                        <a:rPr lang="ru-RU" sz="1200" b="1" dirty="0">
                          <a:solidFill>
                            <a:srgbClr val="000000"/>
                          </a:solidFill>
                          <a:latin typeface="Arial"/>
                        </a:rPr>
                        <a:t>Традиционный </a:t>
                      </a: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Arial"/>
                        </a:rPr>
                        <a:t>digital</a:t>
                      </a:r>
                      <a:endParaRPr lang="ru-RU" sz="1200" b="1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- Яндекс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Сфокусированы на развитии 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</a:rPr>
                        <a:t>retail media </a:t>
                      </a:r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посредством подключения 30+ небольших ритейлеров (2025-2026 гг.)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912520">
                <a:tc vMerge="1">
                  <a:txBody>
                    <a:bodyPr/>
                    <a:lstStyle/>
                    <a:p>
                      <a:pPr algn="l"/>
                      <a:endParaRPr lang="ru-RU" sz="1100" b="1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l"/>
                      <a:endParaRPr lang="ru-RU" sz="1100" b="1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- 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</a:rPr>
                        <a:t>VK</a:t>
                      </a:r>
                      <a:endParaRPr lang="ru-RU" sz="1200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Развивают 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</a:rPr>
                        <a:t>shoppable</a:t>
                      </a:r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-механики (в том числе с </a:t>
                      </a:r>
                      <a:r>
                        <a:rPr lang="en-US" sz="1200" dirty="0" err="1">
                          <a:solidFill>
                            <a:srgbClr val="000000"/>
                          </a:solidFill>
                          <a:latin typeface="Arial"/>
                        </a:rPr>
                        <a:t>Magnit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</a:rPr>
                        <a:t> ADS)</a:t>
                      </a:r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, </a:t>
                      </a:r>
                      <a:b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</a:br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но имеют проблемы с качеством трафика и их низкой платежеспособностью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983780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92DAC0F-A039-A254-0652-BA59CF6C7EF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ru-RU" sz="900" dirty="0">
                <a:solidFill>
                  <a:srgbClr val="6E6E6E"/>
                </a:solidFill>
              </a:rPr>
              <a:t>Источники: 1. АКАР (I кв. 2026), «Постмаркетинг» (1П 2026), консенсус-прогноз ADPASS, Easy Commerce, Data Insight, АРИР, разъяснения ФАС от 10.03 и 25.03.2026, Sostav, AdIndex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E9BE670-CA70-08AE-0F3A-5E118D01205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9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24A033E-567B-C7C9-F6E1-C6AC1813096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Магнит </a:t>
            </a:r>
            <a:r>
              <a:rPr lang="en-US" dirty="0"/>
              <a:t>ADS </a:t>
            </a:r>
            <a:r>
              <a:rPr lang="ru-RU" dirty="0"/>
              <a:t>внедряет в операционную практику ключевые тренды рекламного рынка</a:t>
            </a:r>
          </a:p>
        </p:txBody>
      </p:sp>
      <p:graphicFrame>
        <p:nvGraphicFramePr>
          <p:cNvPr id="301" name="Table 30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65325618"/>
              </p:ext>
            </p:extLst>
          </p:nvPr>
        </p:nvGraphicFramePr>
        <p:xfrm>
          <a:off x="367284" y="959020"/>
          <a:ext cx="11457432" cy="5121132"/>
        </p:xfrm>
        <a:graphic>
          <a:graphicData uri="http://schemas.openxmlformats.org/drawingml/2006/table">
            <a:tbl>
              <a:tblPr firstRow="1"/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37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165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82583">
                <a:tc>
                  <a:txBody>
                    <a:bodyPr/>
                    <a:lstStyle/>
                    <a:p>
                      <a:pPr algn="l"/>
                      <a:r>
                        <a:rPr lang="ru-RU" sz="1600" b="1" dirty="0">
                          <a:solidFill>
                            <a:schemeClr val="tx2"/>
                          </a:solidFill>
                          <a:latin typeface="Arial"/>
                        </a:rPr>
                        <a:t>Тренды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600" b="1" dirty="0">
                          <a:solidFill>
                            <a:schemeClr val="tx2"/>
                          </a:solidFill>
                          <a:latin typeface="Arial"/>
                        </a:rPr>
                        <a:t>Изменения на рынке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600" b="1" dirty="0">
                          <a:solidFill>
                            <a:schemeClr val="tx2"/>
                          </a:solidFill>
                          <a:latin typeface="Arial"/>
                        </a:rPr>
                        <a:t>Инициативы </a:t>
                      </a:r>
                      <a:r>
                        <a:rPr lang="ru-RU" sz="1600" b="1" dirty="0" err="1">
                          <a:solidFill>
                            <a:schemeClr val="tx2"/>
                          </a:solidFill>
                          <a:latin typeface="Arial"/>
                        </a:rPr>
                        <a:t>Magnit</a:t>
                      </a:r>
                      <a:r>
                        <a:rPr lang="ru-RU" sz="1600" b="1" dirty="0">
                          <a:solidFill>
                            <a:schemeClr val="tx2"/>
                          </a:solidFill>
                          <a:latin typeface="Arial"/>
                        </a:rPr>
                        <a:t> ADS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87092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Оптимизация бюджетов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>
                        <a:spcAft>
                          <a:spcPts val="300"/>
                        </a:spcAft>
                        <a:buFontTx/>
                        <a:buChar char="-"/>
                      </a:pP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Топ-150 рекламодателей сократили расходы на 11% в 1П 2026</a:t>
                      </a:r>
                      <a:r>
                        <a:rPr lang="ru-RU" sz="1100" baseline="30000" dirty="0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</a:p>
                    <a:p>
                      <a:pPr marL="171450" indent="-171450" algn="l">
                        <a:spcAft>
                          <a:spcPts val="300"/>
                        </a:spcAft>
                        <a:buFontTx/>
                        <a:buChar char="-"/>
                      </a:pP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Новые бюджеты не выделяют, текущие переводят в каналы с доказуемым эффектом</a:t>
                      </a:r>
                      <a:r>
                        <a:rPr lang="ru-RU" sz="1100" baseline="30000" dirty="0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</a:p>
                    <a:p>
                      <a:pPr marL="171450" indent="-171450" algn="l">
                        <a:spcAft>
                          <a:spcPts val="300"/>
                        </a:spcAft>
                        <a:buFontTx/>
                        <a:buChar char="-"/>
                      </a:pPr>
                      <a:r>
                        <a:rPr lang="ru-RU" sz="1100" baseline="0" dirty="0">
                          <a:solidFill>
                            <a:srgbClr val="000000"/>
                          </a:solidFill>
                          <a:latin typeface="Arial"/>
                        </a:rPr>
                        <a:t>В рамках бренд-маркетинга все больше требуется демонстрация эффективности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300"/>
                        </a:spcAft>
                      </a:pP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Внедряем:</a:t>
                      </a:r>
                    </a:p>
                    <a:p>
                      <a:pPr marL="171450" indent="-171450" algn="l">
                        <a:spcAft>
                          <a:spcPts val="300"/>
                        </a:spcAft>
                        <a:buFontTx/>
                        <a:buChar char="-"/>
                      </a:pP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Кост-эффективные рекламные инструменты</a:t>
                      </a:r>
                    </a:p>
                    <a:p>
                      <a:pPr marL="171450" indent="-171450" algn="l">
                        <a:spcAft>
                          <a:spcPts val="300"/>
                        </a:spcAft>
                        <a:buFontTx/>
                        <a:buChar char="-"/>
                      </a:pP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Пост-кампейн аналитику для рекламодателя</a:t>
                      </a:r>
                    </a:p>
                    <a:p>
                      <a:pPr marL="171450" indent="-171450" algn="l">
                        <a:spcAft>
                          <a:spcPts val="300"/>
                        </a:spcAft>
                        <a:buFontTx/>
                        <a:buChar char="-"/>
                      </a:pP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Прозрачность рекламных инструментов и их верификация</a:t>
                      </a:r>
                    </a:p>
                    <a:p>
                      <a:pPr marL="171450" indent="-171450" algn="l">
                        <a:spcAft>
                          <a:spcPts val="300"/>
                        </a:spcAft>
                        <a:buFontTx/>
                        <a:buChar char="-"/>
                      </a:pP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Демонстрация рынку эффекта от инвестиций в ритейл медиа</a:t>
                      </a:r>
                    </a:p>
                    <a:p>
                      <a:pPr marL="171450" indent="-171450" algn="l">
                        <a:spcAft>
                          <a:spcPts val="300"/>
                        </a:spcAft>
                        <a:buFontTx/>
                        <a:buChar char="-"/>
                      </a:pP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Развитие </a:t>
                      </a: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/>
                        </a:rPr>
                        <a:t>Retail Media Network</a:t>
                      </a:r>
                      <a:endParaRPr lang="ru-RU" sz="1100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20386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Рост проникновения </a:t>
                      </a:r>
                    </a:p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ИИ в </a:t>
                      </a: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AdTech</a:t>
                      </a:r>
                      <a:endParaRPr lang="ru-RU" sz="1100" b="1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300"/>
                        </a:spcAft>
                      </a:pP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Ключевые игроки внедряют ИИ:</a:t>
                      </a:r>
                    </a:p>
                    <a:p>
                      <a:pPr marL="171450" indent="-171450" algn="l">
                        <a:spcAft>
                          <a:spcPts val="300"/>
                        </a:spcAft>
                        <a:buFontTx/>
                        <a:buChar char="-"/>
                      </a:pP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В личные рекламные кабинеты</a:t>
                      </a:r>
                    </a:p>
                    <a:p>
                      <a:pPr marL="171450" indent="-171450" algn="l">
                        <a:spcAft>
                          <a:spcPts val="300"/>
                        </a:spcAft>
                        <a:buFontTx/>
                        <a:buChar char="-"/>
                      </a:pP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На этапе прогнозирования эффектов от рекламных кампаний</a:t>
                      </a:r>
                    </a:p>
                    <a:p>
                      <a:pPr marL="171450" indent="-171450" algn="l">
                        <a:spcAft>
                          <a:spcPts val="300"/>
                        </a:spcAft>
                        <a:buFontTx/>
                        <a:buChar char="-"/>
                      </a:pP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При принятии решений о новых запусках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300"/>
                        </a:spcAft>
                      </a:pP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Запускаем:</a:t>
                      </a:r>
                    </a:p>
                    <a:p>
                      <a:pPr marL="171450" indent="-171450" algn="l">
                        <a:spcAft>
                          <a:spcPts val="300"/>
                        </a:spcAft>
                        <a:buFontTx/>
                        <a:buChar char="-"/>
                      </a:pP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ИИ-ассистента в личном кабинете</a:t>
                      </a:r>
                    </a:p>
                    <a:p>
                      <a:pPr marL="171450" indent="-171450" algn="l">
                        <a:spcAft>
                          <a:spcPts val="300"/>
                        </a:spcAft>
                        <a:buFontTx/>
                        <a:buChar char="-"/>
                      </a:pP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Авто-стратегии с помощью ИИ</a:t>
                      </a:r>
                    </a:p>
                    <a:p>
                      <a:pPr marL="171450" indent="-171450" algn="l">
                        <a:spcAft>
                          <a:spcPts val="300"/>
                        </a:spcAft>
                        <a:buFontTx/>
                        <a:buChar char="-"/>
                      </a:pP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AI-таргетинг аудиторий</a:t>
                      </a:r>
                    </a:p>
                    <a:p>
                      <a:pPr marL="171450" indent="-171450" algn="l">
                        <a:spcAft>
                          <a:spcPts val="300"/>
                        </a:spcAft>
                        <a:buFontTx/>
                        <a:buChar char="-"/>
                      </a:pP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Генерацию креативов на платформе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27413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Развитие </a:t>
                      </a: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social commerce</a:t>
                      </a:r>
                      <a:endParaRPr lang="ru-RU" sz="1100" b="1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spcAft>
                          <a:spcPts val="300"/>
                        </a:spcAft>
                        <a:buFontTx/>
                        <a:buChar char="-"/>
                      </a:pPr>
                      <a:r>
                        <a:rPr lang="ru-RU" sz="1100" dirty="0">
                          <a:solidFill>
                            <a:sysClr val="windowText" lastClr="000000"/>
                          </a:solidFill>
                        </a:rPr>
                        <a:t>Продолжается фундаментальный сдвиг внимания в пользу коротких видео, где также растет привычка покупать из соц. сетей (пример коллаборации </a:t>
                      </a:r>
                      <a:r>
                        <a:rPr lang="en-US" sz="1100" dirty="0">
                          <a:solidFill>
                            <a:sysClr val="windowText" lastClr="000000"/>
                          </a:solidFill>
                        </a:rPr>
                        <a:t>VK &amp; Ozon)</a:t>
                      </a:r>
                      <a:endParaRPr lang="ru-RU" sz="1100" dirty="0">
                        <a:solidFill>
                          <a:sysClr val="windowText" lastClr="000000"/>
                        </a:solidFill>
                      </a:endParaRPr>
                    </a:p>
                    <a:p>
                      <a:pPr marL="171450" indent="-171450">
                        <a:spcAft>
                          <a:spcPts val="300"/>
                        </a:spcAft>
                        <a:buFontTx/>
                        <a:buChar char="-"/>
                      </a:pPr>
                      <a:r>
                        <a:rPr lang="ru-RU" sz="1100" dirty="0">
                          <a:solidFill>
                            <a:sysClr val="windowText" lastClr="000000"/>
                          </a:solidFill>
                        </a:rPr>
                        <a:t>Бренды и платформы строят инициативы для развития механик социальной коммерции в социальных сетях:</a:t>
                      </a:r>
                    </a:p>
                    <a:p>
                      <a:pPr marL="628628" lvl="1" indent="-171450">
                        <a:spcAft>
                          <a:spcPts val="300"/>
                        </a:spcAft>
                        <a:buFontTx/>
                        <a:buChar char="-"/>
                      </a:pPr>
                      <a:r>
                        <a:rPr lang="ru-RU" sz="1100" dirty="0">
                          <a:solidFill>
                            <a:sysClr val="windowText" lastClr="000000"/>
                          </a:solidFill>
                        </a:rPr>
                        <a:t>контент-заводы от брендов</a:t>
                      </a:r>
                    </a:p>
                    <a:p>
                      <a:pPr marL="628628" lvl="1" indent="-171450">
                        <a:spcAft>
                          <a:spcPts val="300"/>
                        </a:spcAft>
                        <a:buFontTx/>
                        <a:buChar char="-"/>
                      </a:pPr>
                      <a:r>
                        <a:rPr lang="en-US" sz="1100" dirty="0">
                          <a:solidFill>
                            <a:sysClr val="windowText" lastClr="000000"/>
                          </a:solidFill>
                        </a:rPr>
                        <a:t>shoppable </a:t>
                      </a:r>
                      <a:r>
                        <a:rPr lang="ru-RU" sz="1100" dirty="0">
                          <a:solidFill>
                            <a:sysClr val="windowText" lastClr="000000"/>
                          </a:solidFill>
                        </a:rPr>
                        <a:t>инструменты отечественных соц. сетей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spcAft>
                          <a:spcPts val="300"/>
                        </a:spcAft>
                        <a:buFontTx/>
                        <a:buChar char="-"/>
                      </a:pPr>
                      <a:r>
                        <a:rPr lang="ru-RU" sz="1100" dirty="0">
                          <a:solidFill>
                            <a:sysClr val="windowText" lastClr="000000"/>
                          </a:solidFill>
                        </a:rPr>
                        <a:t>Фокусируемся на развитии инструментов вокруг </a:t>
                      </a:r>
                      <a:r>
                        <a:rPr lang="en-US" sz="1100" dirty="0">
                          <a:solidFill>
                            <a:sysClr val="windowText" lastClr="000000"/>
                          </a:solidFill>
                        </a:rPr>
                        <a:t>UGC</a:t>
                      </a:r>
                      <a:r>
                        <a:rPr lang="ru-RU" sz="1100" dirty="0">
                          <a:solidFill>
                            <a:sysClr val="windowText" lastClr="000000"/>
                          </a:solidFill>
                        </a:rPr>
                        <a:t>-продвижения, как во внешних соц. сетях, так и в приложении Магнит</a:t>
                      </a:r>
                    </a:p>
                    <a:p>
                      <a:pPr marL="171450" indent="-171450">
                        <a:spcAft>
                          <a:spcPts val="300"/>
                        </a:spcAft>
                        <a:buFontTx/>
                        <a:buChar char="-"/>
                      </a:pPr>
                      <a:r>
                        <a:rPr lang="ru-RU" sz="1100" dirty="0">
                          <a:solidFill>
                            <a:sysClr val="windowText" lastClr="000000"/>
                          </a:solidFill>
                        </a:rPr>
                        <a:t>Тестируем </a:t>
                      </a:r>
                      <a:r>
                        <a:rPr lang="en-US" sz="1100" dirty="0">
                          <a:solidFill>
                            <a:sysClr val="windowText" lastClr="000000"/>
                          </a:solidFill>
                        </a:rPr>
                        <a:t>shoppable </a:t>
                      </a:r>
                      <a:r>
                        <a:rPr lang="ru-RU" sz="1100" dirty="0">
                          <a:solidFill>
                            <a:sysClr val="windowText" lastClr="000000"/>
                          </a:solidFill>
                        </a:rPr>
                        <a:t>механики с внешними платформами и развиваем привычку покупать из соц. сетей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0386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Рост роли омниканальной коммуникации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300"/>
                        </a:spcAft>
                      </a:pP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Помимо маркетплейсов появляются </a:t>
                      </a: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Arial"/>
                        </a:rPr>
                        <a:t>ugc</a:t>
                      </a: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/>
                        </a:rPr>
                        <a:t>-</a:t>
                      </a: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игроки, банковский шоппинг, развиваются независимые ритейлеры, которые стремятся предлагать новые рекламные инструменты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300"/>
                        </a:spcAft>
                      </a:pP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Стремимся аккумулировать инвентарь разных игроков с целью предложения омниканальных решений для рекламодателя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661261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856592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F24ABF6-6C43-16EC-7903-593D29D0BA3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10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D61E654-5F65-A4D3-44C6-50BD96A0DF9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Три драйвера роста 2027: аудитория, новый прайс, новые направления</a:t>
            </a:r>
          </a:p>
        </p:txBody>
      </p:sp>
      <p:sp>
        <p:nvSpPr>
          <p:cNvPr id="200" name="Shape 200"/>
          <p:cNvSpPr/>
          <p:nvPr/>
        </p:nvSpPr>
        <p:spPr>
          <a:xfrm>
            <a:off x="368300" y="1016000"/>
            <a:ext cx="3687233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1" name="Shape 201"/>
          <p:cNvSpPr txBox="1"/>
          <p:nvPr/>
        </p:nvSpPr>
        <p:spPr>
          <a:xfrm>
            <a:off x="520700" y="1219200"/>
            <a:ext cx="3382433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Аудитория приложения</a:t>
            </a:r>
          </a:p>
        </p:txBody>
      </p:sp>
      <p:sp>
        <p:nvSpPr>
          <p:cNvPr id="202" name="Shape 202"/>
          <p:cNvSpPr txBox="1"/>
          <p:nvPr/>
        </p:nvSpPr>
        <p:spPr>
          <a:xfrm>
            <a:off x="520700" y="1803400"/>
            <a:ext cx="3382433" cy="558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3200" b="1" dirty="0">
                <a:solidFill>
                  <a:srgbClr val="000000"/>
                </a:solidFill>
              </a:rPr>
              <a:t>+18%</a:t>
            </a:r>
          </a:p>
        </p:txBody>
      </p:sp>
      <p:sp>
        <p:nvSpPr>
          <p:cNvPr id="203" name="Shape 203"/>
          <p:cNvSpPr txBox="1"/>
          <p:nvPr/>
        </p:nvSpPr>
        <p:spPr>
          <a:xfrm>
            <a:off x="520700" y="2387600"/>
            <a:ext cx="3382433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100" dirty="0">
                <a:solidFill>
                  <a:srgbClr val="595959"/>
                </a:solidFill>
              </a:rPr>
              <a:t>рост DAC: 24,8 → 29,3 млн в месяц</a:t>
            </a:r>
          </a:p>
        </p:txBody>
      </p:sp>
      <p:sp>
        <p:nvSpPr>
          <p:cNvPr id="204" name="Shape 204"/>
          <p:cNvSpPr/>
          <p:nvPr/>
        </p:nvSpPr>
        <p:spPr>
          <a:xfrm>
            <a:off x="673100" y="2921000"/>
            <a:ext cx="3077633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5" name="Shape 205"/>
          <p:cNvSpPr txBox="1"/>
          <p:nvPr/>
        </p:nvSpPr>
        <p:spPr>
          <a:xfrm>
            <a:off x="546100" y="3073400"/>
            <a:ext cx="3331633" cy="292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8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Показы AdTech: </a:t>
            </a:r>
            <a:r>
              <a:rPr lang="ru-RU" sz="1400" b="1" dirty="0">
                <a:solidFill>
                  <a:srgbClr val="000000"/>
                </a:solidFill>
              </a:rPr>
              <a:t>6,0 → 6,5 млрд</a:t>
            </a:r>
          </a:p>
          <a:p>
            <a:pPr marL="171450" indent="-171450" algn="l">
              <a:spcBef>
                <a:spcPts val="8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Перформанс-кампаний в месяц: </a:t>
            </a:r>
            <a:r>
              <a:rPr lang="ru-RU" sz="1400" b="1" dirty="0">
                <a:solidFill>
                  <a:srgbClr val="000000"/>
                </a:solidFill>
              </a:rPr>
              <a:t>2 033 → 2 270</a:t>
            </a:r>
          </a:p>
          <a:p>
            <a:pPr marL="171450" indent="-171450" algn="l">
              <a:spcBef>
                <a:spcPts val="8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Кампаний в сторис в месяц: </a:t>
            </a:r>
            <a:r>
              <a:rPr lang="ru-RU" sz="1400" b="1" dirty="0">
                <a:solidFill>
                  <a:srgbClr val="000000"/>
                </a:solidFill>
              </a:rPr>
              <a:t>264 → 313</a:t>
            </a:r>
          </a:p>
        </p:txBody>
      </p:sp>
      <p:sp>
        <p:nvSpPr>
          <p:cNvPr id="206" name="Shape 206"/>
          <p:cNvSpPr/>
          <p:nvPr/>
        </p:nvSpPr>
        <p:spPr>
          <a:xfrm>
            <a:off x="4258733" y="1016000"/>
            <a:ext cx="3687233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7" name="Shape 207"/>
          <p:cNvSpPr txBox="1"/>
          <p:nvPr/>
        </p:nvSpPr>
        <p:spPr>
          <a:xfrm>
            <a:off x="4411133" y="1219200"/>
            <a:ext cx="3382433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Новый прайс с 09.2026</a:t>
            </a:r>
          </a:p>
        </p:txBody>
      </p:sp>
      <p:sp>
        <p:nvSpPr>
          <p:cNvPr id="208" name="Shape 208"/>
          <p:cNvSpPr txBox="1"/>
          <p:nvPr/>
        </p:nvSpPr>
        <p:spPr>
          <a:xfrm>
            <a:off x="4411133" y="1803400"/>
            <a:ext cx="3382433" cy="558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3200" b="1" dirty="0">
                <a:solidFill>
                  <a:srgbClr val="000000"/>
                </a:solidFill>
              </a:rPr>
              <a:t>+17%</a:t>
            </a:r>
          </a:p>
        </p:txBody>
      </p:sp>
      <p:sp>
        <p:nvSpPr>
          <p:cNvPr id="209" name="Shape 209"/>
          <p:cNvSpPr txBox="1"/>
          <p:nvPr/>
        </p:nvSpPr>
        <p:spPr>
          <a:xfrm>
            <a:off x="4411133" y="2387600"/>
            <a:ext cx="3382433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100" dirty="0">
                <a:solidFill>
                  <a:srgbClr val="595959"/>
                </a:solidFill>
              </a:rPr>
              <a:t>средневзвешенный CPM: 499 → 582 руб.</a:t>
            </a:r>
          </a:p>
        </p:txBody>
      </p:sp>
      <p:sp>
        <p:nvSpPr>
          <p:cNvPr id="210" name="Shape 210"/>
          <p:cNvSpPr/>
          <p:nvPr/>
        </p:nvSpPr>
        <p:spPr>
          <a:xfrm>
            <a:off x="4563533" y="2921000"/>
            <a:ext cx="3077633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1" name="Shape 211"/>
          <p:cNvSpPr txBox="1"/>
          <p:nvPr/>
        </p:nvSpPr>
        <p:spPr>
          <a:xfrm>
            <a:off x="4436533" y="3073400"/>
            <a:ext cx="3331633" cy="292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8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Модальное окно: </a:t>
            </a:r>
            <a:r>
              <a:rPr lang="ru-RU" sz="1400" b="1" dirty="0">
                <a:solidFill>
                  <a:srgbClr val="000000"/>
                </a:solidFill>
              </a:rPr>
              <a:t>600 → 1 000 руб.</a:t>
            </a:r>
            <a:r>
              <a:rPr lang="ru-RU" sz="1400" dirty="0">
                <a:solidFill>
                  <a:srgbClr val="000000"/>
                </a:solidFill>
              </a:rPr>
              <a:t> CPM, QR-карта: 450 → 600 руб.</a:t>
            </a:r>
          </a:p>
          <a:p>
            <a:pPr marL="171450" indent="-171450" algn="l">
              <a:spcBef>
                <a:spcPts val="8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Чек перформанс-кампании: </a:t>
            </a:r>
            <a:r>
              <a:rPr lang="ru-RU" sz="1400" b="1" dirty="0">
                <a:solidFill>
                  <a:srgbClr val="000000"/>
                </a:solidFill>
              </a:rPr>
              <a:t>68 → 86 тыс. руб.</a:t>
            </a:r>
            <a:r>
              <a:rPr lang="ru-RU" sz="1400" dirty="0">
                <a:solidFill>
                  <a:srgbClr val="000000"/>
                </a:solidFill>
              </a:rPr>
              <a:t> (+26%)</a:t>
            </a:r>
          </a:p>
          <a:p>
            <a:pPr marL="171450" indent="-171450" algn="l">
              <a:spcBef>
                <a:spcPts val="8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Сторис: </a:t>
            </a:r>
            <a:r>
              <a:rPr lang="ru-RU" sz="1400" b="1" dirty="0">
                <a:solidFill>
                  <a:srgbClr val="000000"/>
                </a:solidFill>
              </a:rPr>
              <a:t>70 → 100 тыс. руб.</a:t>
            </a:r>
            <a:r>
              <a:rPr lang="ru-RU" sz="1400" dirty="0">
                <a:solidFill>
                  <a:srgbClr val="000000"/>
                </a:solidFill>
              </a:rPr>
              <a:t> за день</a:t>
            </a:r>
          </a:p>
        </p:txBody>
      </p:sp>
      <p:sp>
        <p:nvSpPr>
          <p:cNvPr id="218" name="Shape 218"/>
          <p:cNvSpPr/>
          <p:nvPr/>
        </p:nvSpPr>
        <p:spPr>
          <a:xfrm>
            <a:off x="8149166" y="1016000"/>
            <a:ext cx="3687233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9" name="Shape 219"/>
          <p:cNvSpPr txBox="1"/>
          <p:nvPr/>
        </p:nvSpPr>
        <p:spPr>
          <a:xfrm>
            <a:off x="8301566" y="1219200"/>
            <a:ext cx="3382433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Новые направления</a:t>
            </a:r>
          </a:p>
        </p:txBody>
      </p:sp>
      <p:sp>
        <p:nvSpPr>
          <p:cNvPr id="220" name="Shape 220"/>
          <p:cNvSpPr txBox="1"/>
          <p:nvPr/>
        </p:nvSpPr>
        <p:spPr>
          <a:xfrm>
            <a:off x="8301566" y="1803400"/>
            <a:ext cx="3382433" cy="558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3200" b="1" dirty="0">
                <a:solidFill>
                  <a:srgbClr val="000000"/>
                </a:solidFill>
              </a:rPr>
              <a:t>1 625</a:t>
            </a:r>
          </a:p>
        </p:txBody>
      </p:sp>
      <p:sp>
        <p:nvSpPr>
          <p:cNvPr id="221" name="Shape 221"/>
          <p:cNvSpPr txBox="1"/>
          <p:nvPr/>
        </p:nvSpPr>
        <p:spPr>
          <a:xfrm>
            <a:off x="8301566" y="2387600"/>
            <a:ext cx="3382433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100" dirty="0">
                <a:solidFill>
                  <a:srgbClr val="595959"/>
                </a:solidFill>
              </a:rPr>
              <a:t>млн руб.: RMN, Content factory, расширение DMP</a:t>
            </a:r>
          </a:p>
        </p:txBody>
      </p:sp>
      <p:sp>
        <p:nvSpPr>
          <p:cNvPr id="222" name="Shape 222"/>
          <p:cNvSpPr/>
          <p:nvPr/>
        </p:nvSpPr>
        <p:spPr>
          <a:xfrm>
            <a:off x="8453966" y="2921000"/>
            <a:ext cx="3077633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23" name="Shape 223"/>
          <p:cNvSpPr txBox="1"/>
          <p:nvPr/>
        </p:nvSpPr>
        <p:spPr>
          <a:xfrm>
            <a:off x="8326966" y="3073400"/>
            <a:ext cx="3331633" cy="292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8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RMN: </a:t>
            </a:r>
            <a:r>
              <a:rPr lang="ru-RU" sz="1400" b="1" dirty="0">
                <a:solidFill>
                  <a:srgbClr val="000000"/>
                </a:solidFill>
              </a:rPr>
              <a:t>850 млн руб.</a:t>
            </a:r>
          </a:p>
          <a:p>
            <a:pPr marL="171450" indent="-171450" algn="l">
              <a:spcBef>
                <a:spcPts val="8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Content factory: </a:t>
            </a:r>
            <a:r>
              <a:rPr lang="ru-RU" sz="1400" b="1" dirty="0">
                <a:solidFill>
                  <a:srgbClr val="000000"/>
                </a:solidFill>
              </a:rPr>
              <a:t>356 млн руб.</a:t>
            </a:r>
            <a:r>
              <a:rPr lang="ru-RU" sz="1400" dirty="0">
                <a:solidFill>
                  <a:srgbClr val="000000"/>
                </a:solidFill>
              </a:rPr>
              <a:t>, 150 креаторов, 569 млн просмотров</a:t>
            </a:r>
          </a:p>
          <a:p>
            <a:pPr marL="171450" indent="-171450" algn="l">
              <a:spcBef>
                <a:spcPts val="8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DMP: </a:t>
            </a:r>
            <a:r>
              <a:rPr lang="ru-RU" sz="1400" b="1" dirty="0">
                <a:solidFill>
                  <a:srgbClr val="000000"/>
                </a:solidFill>
              </a:rPr>
              <a:t>420 млн руб.</a:t>
            </a:r>
          </a:p>
        </p:txBody>
      </p:sp>
    </p:spTree>
    <p:extLst>
      <p:ext uri="{BB962C8B-B14F-4D97-AF65-F5344CB8AC3E}">
        <p14:creationId xmlns:p14="http://schemas.microsoft.com/office/powerpoint/2010/main" val="238930706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think-cell data - do not delete" hidden="1">
            <a:extLst>
              <a:ext uri="{FF2B5EF4-FFF2-40B4-BE49-F238E27FC236}">
                <a16:creationId xmlns:a16="http://schemas.microsoft.com/office/drawing/2014/main" id="{D4EDF462-AABE-F9F0-5274-88E2E9AEA2D4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3" imgW="7772400" imgH="10058400" progId="TCLayout.ActiveDocument.1">
                  <p:embed/>
                </p:oleObj>
              </mc:Choice>
              <mc:Fallback>
                <p:oleObj name="Слайд think-cell" r:id="rId3" imgW="7772400" imgH="10058400" progId="TCLayout.ActiveDocument.1">
                  <p:embed/>
                  <p:pic>
                    <p:nvPicPr>
                      <p:cNvPr id="9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D4EDF462-AABE-F9F0-5274-88E2E9AEA2D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" name="Shape 210">
            <a:extLst>
              <a:ext uri="{FF2B5EF4-FFF2-40B4-BE49-F238E27FC236}">
                <a16:creationId xmlns:a16="http://schemas.microsoft.com/office/drawing/2014/main" id="{97F971B1-EA94-F5C4-5525-808B0B0C6D57}"/>
              </a:ext>
            </a:extLst>
          </p:cNvPr>
          <p:cNvSpPr/>
          <p:nvPr/>
        </p:nvSpPr>
        <p:spPr>
          <a:xfrm>
            <a:off x="6193476" y="5008995"/>
            <a:ext cx="5630224" cy="1178684"/>
          </a:xfrm>
          <a:prstGeom prst="roundRect">
            <a:avLst>
              <a:gd name="adj" fmla="val 12789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8" name="Shape 205">
            <a:extLst>
              <a:ext uri="{FF2B5EF4-FFF2-40B4-BE49-F238E27FC236}">
                <a16:creationId xmlns:a16="http://schemas.microsoft.com/office/drawing/2014/main" id="{C612035D-FF8B-A088-5B28-F10A02F6CB10}"/>
              </a:ext>
            </a:extLst>
          </p:cNvPr>
          <p:cNvSpPr/>
          <p:nvPr/>
        </p:nvSpPr>
        <p:spPr>
          <a:xfrm>
            <a:off x="6197600" y="1492415"/>
            <a:ext cx="2711450" cy="3364179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056059-17AC-0E22-6608-13D1F495741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11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248931F-8DCA-B7A7-C277-09DE317B59C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Инициативы Magnit ADS: максимизируем внутренний инвентарь Магнит, развиваем внешний и стремимся к росту маржинальности</a:t>
            </a:r>
          </a:p>
        </p:txBody>
      </p:sp>
      <p:sp>
        <p:nvSpPr>
          <p:cNvPr id="200" name="Shape 200"/>
          <p:cNvSpPr/>
          <p:nvPr/>
        </p:nvSpPr>
        <p:spPr>
          <a:xfrm>
            <a:off x="368300" y="1492415"/>
            <a:ext cx="2711450" cy="3364179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1" name="Shape 201"/>
          <p:cNvSpPr txBox="1"/>
          <p:nvPr/>
        </p:nvSpPr>
        <p:spPr>
          <a:xfrm>
            <a:off x="520700" y="1632115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Внутренний: медиа</a:t>
            </a:r>
          </a:p>
        </p:txBody>
      </p:sp>
      <p:sp>
        <p:nvSpPr>
          <p:cNvPr id="202" name="Shape 202"/>
          <p:cNvSpPr txBox="1"/>
          <p:nvPr/>
        </p:nvSpPr>
        <p:spPr>
          <a:xfrm>
            <a:off x="520700" y="2051215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4 864 млн руб. 2027  ·  +22%</a:t>
            </a:r>
          </a:p>
        </p:txBody>
      </p:sp>
      <p:sp>
        <p:nvSpPr>
          <p:cNvPr id="203" name="Shape 203"/>
          <p:cNvSpPr/>
          <p:nvPr/>
        </p:nvSpPr>
        <p:spPr>
          <a:xfrm>
            <a:off x="673100" y="2388147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4" name="Shape 204"/>
          <p:cNvSpPr txBox="1"/>
          <p:nvPr/>
        </p:nvSpPr>
        <p:spPr>
          <a:xfrm>
            <a:off x="546100" y="2494393"/>
            <a:ext cx="2355850" cy="236220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285750" indent="-285750">
              <a:spcBef>
                <a:spcPts val="600"/>
              </a:spcBef>
              <a:buClr>
                <a:srgbClr val="FF452C"/>
              </a:buClr>
              <a:buFont typeface="Arial" panose="020B0604020202020204" pitchFamily="34" charset="0"/>
              <a:buChar char="•"/>
            </a:pPr>
            <a:r>
              <a:rPr lang="ru-RU" sz="1400" dirty="0"/>
              <a:t>В 2027 г. в рамках медиа-инвентаря будет задействован максимальный потенциал</a:t>
            </a:r>
            <a:endParaRPr lang="ru-RU" sz="1400" dirty="0">
              <a:solidFill>
                <a:srgbClr val="000000"/>
              </a:solidFill>
            </a:endParaRPr>
          </a:p>
        </p:txBody>
      </p:sp>
      <p:sp>
        <p:nvSpPr>
          <p:cNvPr id="205" name="Shape 205"/>
          <p:cNvSpPr/>
          <p:nvPr/>
        </p:nvSpPr>
        <p:spPr>
          <a:xfrm>
            <a:off x="3282950" y="1492415"/>
            <a:ext cx="2711450" cy="3364179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6" name="Shape 206"/>
          <p:cNvSpPr txBox="1"/>
          <p:nvPr/>
        </p:nvSpPr>
        <p:spPr>
          <a:xfrm>
            <a:off x="3282950" y="1632115"/>
            <a:ext cx="27114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ru-RU" sz="1600" b="1" dirty="0">
                <a:solidFill>
                  <a:srgbClr val="FF452C"/>
                </a:solidFill>
              </a:rPr>
              <a:t>Внутренний: </a:t>
            </a:r>
            <a:br>
              <a:rPr lang="ru-RU" sz="1600" b="1" dirty="0">
                <a:solidFill>
                  <a:srgbClr val="FF452C"/>
                </a:solidFill>
              </a:rPr>
            </a:br>
            <a:r>
              <a:rPr lang="ru-RU" sz="1600" b="1" dirty="0">
                <a:solidFill>
                  <a:srgbClr val="FF452C"/>
                </a:solidFill>
              </a:rPr>
              <a:t>перформанс</a:t>
            </a:r>
          </a:p>
        </p:txBody>
      </p:sp>
      <p:sp>
        <p:nvSpPr>
          <p:cNvPr id="207" name="Shape 207"/>
          <p:cNvSpPr txBox="1"/>
          <p:nvPr/>
        </p:nvSpPr>
        <p:spPr>
          <a:xfrm>
            <a:off x="3435350" y="2051215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2 832 млн руб. 2027  ·  +29%</a:t>
            </a:r>
          </a:p>
        </p:txBody>
      </p:sp>
      <p:sp>
        <p:nvSpPr>
          <p:cNvPr id="208" name="Shape 208"/>
          <p:cNvSpPr/>
          <p:nvPr/>
        </p:nvSpPr>
        <p:spPr>
          <a:xfrm>
            <a:off x="3587750" y="2388147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9" name="Shape 209"/>
          <p:cNvSpPr txBox="1"/>
          <p:nvPr/>
        </p:nvSpPr>
        <p:spPr>
          <a:xfrm>
            <a:off x="3460750" y="2494393"/>
            <a:ext cx="2355850" cy="236220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285750" indent="-285750">
              <a:spcBef>
                <a:spcPts val="600"/>
              </a:spcBef>
              <a:buClr>
                <a:srgbClr val="FF452C"/>
              </a:buClr>
              <a:buFont typeface="Arial" panose="020B0604020202020204" pitchFamily="34" charset="0"/>
              <a:buChar char="•"/>
            </a:pPr>
            <a:r>
              <a:rPr lang="ru-RU" sz="1400" b="1" dirty="0"/>
              <a:t>Среднесрочный рост рекламной выручки </a:t>
            </a:r>
            <a:r>
              <a:rPr lang="ru-RU" sz="1400" dirty="0"/>
              <a:t>за счет развития аукционных механик в поиске и рекомендациях</a:t>
            </a:r>
            <a:endParaRPr lang="ru-RU" sz="1400" dirty="0">
              <a:solidFill>
                <a:srgbClr val="000000"/>
              </a:solidFill>
            </a:endParaRPr>
          </a:p>
        </p:txBody>
      </p:sp>
      <p:sp>
        <p:nvSpPr>
          <p:cNvPr id="210" name="Shape 210"/>
          <p:cNvSpPr/>
          <p:nvPr/>
        </p:nvSpPr>
        <p:spPr>
          <a:xfrm>
            <a:off x="364176" y="5008995"/>
            <a:ext cx="5630224" cy="1178684"/>
          </a:xfrm>
          <a:prstGeom prst="roundRect">
            <a:avLst>
              <a:gd name="adj" fmla="val 12789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1" name="Shape 211"/>
          <p:cNvSpPr txBox="1"/>
          <p:nvPr/>
        </p:nvSpPr>
        <p:spPr>
          <a:xfrm>
            <a:off x="6197600" y="1632115"/>
            <a:ext cx="27114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ru-RU" sz="1600" b="1" dirty="0">
                <a:solidFill>
                  <a:srgbClr val="FF452C"/>
                </a:solidFill>
              </a:rPr>
              <a:t>Внутренний: </a:t>
            </a:r>
            <a:br>
              <a:rPr lang="ru-RU" sz="1600" b="1" dirty="0">
                <a:solidFill>
                  <a:srgbClr val="FF452C"/>
                </a:solidFill>
              </a:rPr>
            </a:br>
            <a:r>
              <a:rPr lang="en-US" sz="1600" b="1" dirty="0">
                <a:solidFill>
                  <a:srgbClr val="FF452C"/>
                </a:solidFill>
              </a:rPr>
              <a:t>digital </a:t>
            </a:r>
            <a:r>
              <a:rPr lang="ru-RU" sz="1600" b="1" dirty="0">
                <a:solidFill>
                  <a:srgbClr val="FF452C"/>
                </a:solidFill>
              </a:rPr>
              <a:t>In-</a:t>
            </a:r>
            <a:r>
              <a:rPr lang="ru-RU" sz="1600" b="1" dirty="0" err="1">
                <a:solidFill>
                  <a:srgbClr val="FF452C"/>
                </a:solidFill>
              </a:rPr>
              <a:t>store</a:t>
            </a:r>
            <a:endParaRPr lang="ru-RU" sz="1600" b="1" dirty="0">
              <a:solidFill>
                <a:srgbClr val="FF452C"/>
              </a:solidFill>
            </a:endParaRPr>
          </a:p>
        </p:txBody>
      </p:sp>
      <p:sp>
        <p:nvSpPr>
          <p:cNvPr id="212" name="Shape 212"/>
          <p:cNvSpPr txBox="1"/>
          <p:nvPr/>
        </p:nvSpPr>
        <p:spPr>
          <a:xfrm>
            <a:off x="6350000" y="2051215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4 058 млн руб. 2027 ·  +66%</a:t>
            </a:r>
          </a:p>
        </p:txBody>
      </p:sp>
      <p:sp>
        <p:nvSpPr>
          <p:cNvPr id="213" name="Shape 213"/>
          <p:cNvSpPr/>
          <p:nvPr/>
        </p:nvSpPr>
        <p:spPr>
          <a:xfrm>
            <a:off x="6502400" y="2388147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4" name="Shape 214"/>
          <p:cNvSpPr txBox="1"/>
          <p:nvPr/>
        </p:nvSpPr>
        <p:spPr>
          <a:xfrm>
            <a:off x="6375400" y="2494393"/>
            <a:ext cx="2355850" cy="236220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285750" indent="-285750">
              <a:spcBef>
                <a:spcPts val="600"/>
              </a:spcBef>
              <a:buClr>
                <a:srgbClr val="FF452C"/>
              </a:buClr>
              <a:buFont typeface="Arial" panose="020B0604020202020204" pitchFamily="34" charset="0"/>
              <a:buChar char="•"/>
            </a:pPr>
            <a:r>
              <a:rPr lang="ru-RU" sz="1400" b="1" dirty="0">
                <a:solidFill>
                  <a:sysClr val="windowText" lastClr="000000"/>
                </a:solidFill>
              </a:rPr>
              <a:t>Ищем эффективную конфигурацию оборудования </a:t>
            </a:r>
            <a:r>
              <a:rPr lang="ru-RU" sz="1400" dirty="0">
                <a:solidFill>
                  <a:sysClr val="windowText" lastClr="000000"/>
                </a:solidFill>
              </a:rPr>
              <a:t>с целью удержания высокой утилизации и рыночной стоимости инвентаря</a:t>
            </a:r>
            <a:endParaRPr lang="ru-RU" sz="1400" dirty="0">
              <a:solidFill>
                <a:srgbClr val="000000"/>
              </a:solidFill>
            </a:endParaRPr>
          </a:p>
        </p:txBody>
      </p:sp>
      <p:sp>
        <p:nvSpPr>
          <p:cNvPr id="215" name="Shape 215"/>
          <p:cNvSpPr/>
          <p:nvPr/>
        </p:nvSpPr>
        <p:spPr>
          <a:xfrm>
            <a:off x="9112250" y="1492415"/>
            <a:ext cx="2711450" cy="3364179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6" name="Shape 216"/>
          <p:cNvSpPr txBox="1"/>
          <p:nvPr/>
        </p:nvSpPr>
        <p:spPr>
          <a:xfrm>
            <a:off x="9264650" y="1632115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Внешний</a:t>
            </a:r>
          </a:p>
        </p:txBody>
      </p:sp>
      <p:sp>
        <p:nvSpPr>
          <p:cNvPr id="217" name="Shape 217"/>
          <p:cNvSpPr txBox="1"/>
          <p:nvPr/>
        </p:nvSpPr>
        <p:spPr>
          <a:xfrm>
            <a:off x="9264650" y="2051215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2 993 млн руб.</a:t>
            </a:r>
          </a:p>
        </p:txBody>
      </p:sp>
      <p:sp>
        <p:nvSpPr>
          <p:cNvPr id="218" name="Shape 218"/>
          <p:cNvSpPr/>
          <p:nvPr/>
        </p:nvSpPr>
        <p:spPr>
          <a:xfrm>
            <a:off x="9417050" y="2388147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9" name="Shape 219"/>
          <p:cNvSpPr txBox="1"/>
          <p:nvPr/>
        </p:nvSpPr>
        <p:spPr>
          <a:xfrm>
            <a:off x="9290050" y="2494393"/>
            <a:ext cx="2355850" cy="236220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6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b="1" dirty="0">
                <a:solidFill>
                  <a:srgbClr val="000000"/>
                </a:solidFill>
              </a:rPr>
              <a:t>RMN:</a:t>
            </a:r>
            <a:r>
              <a:rPr lang="ru-RU" sz="1400" dirty="0">
                <a:solidFill>
                  <a:srgbClr val="000000"/>
                </a:solidFill>
              </a:rPr>
              <a:t> бренд-бюджеты поставщиков через внешнее ЮЛ</a:t>
            </a:r>
          </a:p>
          <a:p>
            <a:pPr marL="171450" indent="-171450" algn="l">
              <a:spcBef>
                <a:spcPts val="6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b="1" dirty="0">
                <a:solidFill>
                  <a:srgbClr val="000000"/>
                </a:solidFill>
              </a:rPr>
              <a:t>Social commerce:</a:t>
            </a:r>
            <a:r>
              <a:rPr lang="ru-RU" sz="1400" dirty="0">
                <a:solidFill>
                  <a:srgbClr val="000000"/>
                </a:solidFill>
              </a:rPr>
              <a:t> </a:t>
            </a:r>
            <a:br>
              <a:rPr lang="en-US" sz="1400" dirty="0">
                <a:solidFill>
                  <a:srgbClr val="000000"/>
                </a:solidFill>
              </a:rPr>
            </a:br>
            <a:r>
              <a:rPr lang="en-US" sz="1400" dirty="0">
                <a:solidFill>
                  <a:srgbClr val="000000"/>
                </a:solidFill>
              </a:rPr>
              <a:t>UGC-</a:t>
            </a:r>
            <a:r>
              <a:rPr lang="ru-RU" sz="1400" dirty="0" err="1">
                <a:solidFill>
                  <a:srgbClr val="000000"/>
                </a:solidFill>
              </a:rPr>
              <a:t>factory</a:t>
            </a:r>
            <a:r>
              <a:rPr lang="en-US" sz="1400" dirty="0">
                <a:solidFill>
                  <a:srgbClr val="000000"/>
                </a:solidFill>
              </a:rPr>
              <a:t> (</a:t>
            </a:r>
            <a:r>
              <a:rPr lang="ru-RU" sz="1400" dirty="0">
                <a:solidFill>
                  <a:srgbClr val="000000"/>
                </a:solidFill>
              </a:rPr>
              <a:t>развиваем инвентарь во внешних соц. сетях)</a:t>
            </a:r>
          </a:p>
          <a:p>
            <a:pPr marL="171450" indent="-171450" algn="l">
              <a:spcBef>
                <a:spcPts val="6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b="1" dirty="0">
                <a:solidFill>
                  <a:srgbClr val="000000"/>
                </a:solidFill>
              </a:rPr>
              <a:t>DMP + Online:</a:t>
            </a:r>
            <a:r>
              <a:rPr lang="ru-RU" sz="1400" dirty="0">
                <a:solidFill>
                  <a:srgbClr val="000000"/>
                </a:solidFill>
              </a:rPr>
              <a:t> данные Магнита на внешних площадках</a:t>
            </a:r>
          </a:p>
        </p:txBody>
      </p:sp>
      <p:sp>
        <p:nvSpPr>
          <p:cNvPr id="10" name="Shape 206">
            <a:extLst>
              <a:ext uri="{FF2B5EF4-FFF2-40B4-BE49-F238E27FC236}">
                <a16:creationId xmlns:a16="http://schemas.microsoft.com/office/drawing/2014/main" id="{3061C705-AABB-0B0F-02FC-B4B84DDC17C8}"/>
              </a:ext>
            </a:extLst>
          </p:cNvPr>
          <p:cNvSpPr txBox="1"/>
          <p:nvPr/>
        </p:nvSpPr>
        <p:spPr>
          <a:xfrm>
            <a:off x="698454" y="5058473"/>
            <a:ext cx="5020624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ИТ-Инфраструктура</a:t>
            </a:r>
          </a:p>
        </p:txBody>
      </p:sp>
      <p:sp>
        <p:nvSpPr>
          <p:cNvPr id="11" name="Shape 209">
            <a:extLst>
              <a:ext uri="{FF2B5EF4-FFF2-40B4-BE49-F238E27FC236}">
                <a16:creationId xmlns:a16="http://schemas.microsoft.com/office/drawing/2014/main" id="{76B62D15-F1ED-56A2-0AB3-5154FC49F9A6}"/>
              </a:ext>
            </a:extLst>
          </p:cNvPr>
          <p:cNvSpPr txBox="1"/>
          <p:nvPr/>
        </p:nvSpPr>
        <p:spPr>
          <a:xfrm>
            <a:off x="546100" y="5401374"/>
            <a:ext cx="4257912" cy="6902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285750" indent="-285750">
              <a:spcBef>
                <a:spcPts val="300"/>
              </a:spcBef>
              <a:buClr>
                <a:srgbClr val="FF452C"/>
              </a:buClr>
              <a:buFont typeface="Arial" panose="020B0604020202020204" pitchFamily="34" charset="0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Аукционные механики</a:t>
            </a:r>
          </a:p>
          <a:p>
            <a:pPr marL="285750" indent="-285750">
              <a:spcBef>
                <a:spcPts val="300"/>
              </a:spcBef>
              <a:buClr>
                <a:srgbClr val="FF452C"/>
              </a:buClr>
              <a:buFont typeface="Arial" panose="020B0604020202020204" pitchFamily="34" charset="0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Улучшение личного кабинета рекламодателя</a:t>
            </a:r>
          </a:p>
        </p:txBody>
      </p:sp>
      <p:sp>
        <p:nvSpPr>
          <p:cNvPr id="16" name="Shape 206">
            <a:extLst>
              <a:ext uri="{FF2B5EF4-FFF2-40B4-BE49-F238E27FC236}">
                <a16:creationId xmlns:a16="http://schemas.microsoft.com/office/drawing/2014/main" id="{DE871A07-EC9A-2E73-597B-2DD41793E660}"/>
              </a:ext>
            </a:extLst>
          </p:cNvPr>
          <p:cNvSpPr txBox="1"/>
          <p:nvPr/>
        </p:nvSpPr>
        <p:spPr>
          <a:xfrm>
            <a:off x="6527754" y="5058473"/>
            <a:ext cx="5020624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Коммерческие процессы</a:t>
            </a:r>
          </a:p>
        </p:txBody>
      </p:sp>
      <p:sp>
        <p:nvSpPr>
          <p:cNvPr id="17" name="Shape 209">
            <a:extLst>
              <a:ext uri="{FF2B5EF4-FFF2-40B4-BE49-F238E27FC236}">
                <a16:creationId xmlns:a16="http://schemas.microsoft.com/office/drawing/2014/main" id="{49945798-9E96-F56A-BB1C-69A2B9CCAE9D}"/>
              </a:ext>
            </a:extLst>
          </p:cNvPr>
          <p:cNvSpPr txBox="1"/>
          <p:nvPr/>
        </p:nvSpPr>
        <p:spPr>
          <a:xfrm>
            <a:off x="6375400" y="5401374"/>
            <a:ext cx="5295900" cy="6902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285750" indent="-285750">
              <a:spcBef>
                <a:spcPts val="300"/>
              </a:spcBef>
              <a:buClr>
                <a:srgbClr val="FF452C"/>
              </a:buClr>
              <a:buFont typeface="Arial" panose="020B0604020202020204" pitchFamily="34" charset="0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Внедрение в процессы внешнего юр. лица</a:t>
            </a:r>
          </a:p>
          <a:p>
            <a:pPr marL="285750" indent="-285750">
              <a:spcBef>
                <a:spcPts val="300"/>
              </a:spcBef>
              <a:buClr>
                <a:srgbClr val="FF452C"/>
              </a:buClr>
              <a:buFont typeface="Arial" panose="020B0604020202020204" pitchFamily="34" charset="0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Развитие поддержки и операционной деятельности</a:t>
            </a:r>
          </a:p>
          <a:p>
            <a:pPr marL="285750" indent="-285750">
              <a:spcBef>
                <a:spcPts val="300"/>
              </a:spcBef>
              <a:buClr>
                <a:srgbClr val="FF452C"/>
              </a:buClr>
              <a:buFont typeface="Arial" panose="020B0604020202020204" pitchFamily="34" charset="0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Улучшение коммерческих процессов</a:t>
            </a:r>
          </a:p>
        </p:txBody>
      </p:sp>
      <p:sp>
        <p:nvSpPr>
          <p:cNvPr id="2" name="Открывающая квадратная скобка 1">
            <a:extLst>
              <a:ext uri="{FF2B5EF4-FFF2-40B4-BE49-F238E27FC236}">
                <a16:creationId xmlns:a16="http://schemas.microsoft.com/office/drawing/2014/main" id="{2F6F0D75-37D5-2A0F-08FB-9761457DF828}"/>
              </a:ext>
            </a:extLst>
          </p:cNvPr>
          <p:cNvSpPr/>
          <p:nvPr/>
        </p:nvSpPr>
        <p:spPr>
          <a:xfrm rot="5400000">
            <a:off x="4555710" y="-3069317"/>
            <a:ext cx="161803" cy="8544873"/>
          </a:xfrm>
          <a:prstGeom prst="leftBracket">
            <a:avLst>
              <a:gd name="adj" fmla="val 75388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Скругленный прямоугольник 4">
            <a:extLst>
              <a:ext uri="{FF2B5EF4-FFF2-40B4-BE49-F238E27FC236}">
                <a16:creationId xmlns:a16="http://schemas.microsoft.com/office/drawing/2014/main" id="{832BA71B-DACB-F3D0-372B-25B4135F244F}"/>
              </a:ext>
            </a:extLst>
          </p:cNvPr>
          <p:cNvSpPr/>
          <p:nvPr/>
        </p:nvSpPr>
        <p:spPr>
          <a:xfrm>
            <a:off x="3282950" y="928029"/>
            <a:ext cx="2711450" cy="385495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200" b="1" dirty="0"/>
              <a:t>90%+ </a:t>
            </a:r>
            <a:r>
              <a:rPr lang="ru-RU" sz="1200" dirty="0"/>
              <a:t>маржинальность инвентаря</a:t>
            </a:r>
          </a:p>
          <a:p>
            <a:pPr algn="ctr"/>
            <a:r>
              <a:rPr lang="ru-RU" sz="800" i="1" dirty="0"/>
              <a:t>Необходим фокус Коммерции на </a:t>
            </a:r>
            <a:r>
              <a:rPr lang="en-US" sz="800" i="1" dirty="0"/>
              <a:t>AdTech</a:t>
            </a:r>
            <a:endParaRPr lang="ru-RU" sz="800" i="1" dirty="0"/>
          </a:p>
        </p:txBody>
      </p:sp>
    </p:spTree>
    <p:extLst>
      <p:ext uri="{BB962C8B-B14F-4D97-AF65-F5344CB8AC3E}">
        <p14:creationId xmlns:p14="http://schemas.microsoft.com/office/powerpoint/2010/main" val="19364842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5" name="think-cell data - do not delete" hidden="1">
            <a:extLst>
              <a:ext uri="{FF2B5EF4-FFF2-40B4-BE49-F238E27FC236}">
                <a16:creationId xmlns:a16="http://schemas.microsoft.com/office/drawing/2014/main" id="{B667F642-A6DC-FB4B-0CF2-C06CB38BC467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3" imgW="7772400" imgH="10058400" progId="TCLayout.ActiveDocument.1">
                  <p:embed/>
                </p:oleObj>
              </mc:Choice>
              <mc:Fallback>
                <p:oleObj name="Слайд think-cell" r:id="rId3" imgW="7772400" imgH="10058400" progId="TCLayout.ActiveDocument.1">
                  <p:embed/>
                  <p:pic>
                    <p:nvPicPr>
                      <p:cNvPr id="6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B667F642-A6DC-FB4B-0CF2-C06CB38BC46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Текст 1">
            <a:extLst>
              <a:ext uri="{FF2B5EF4-FFF2-40B4-BE49-F238E27FC236}">
                <a16:creationId xmlns:a16="http://schemas.microsoft.com/office/drawing/2014/main" id="{58E3ACAA-D0DB-85FC-1715-5DF10349E27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 lIns="0" tIns="0"/>
          <a:lstStyle/>
          <a:p>
            <a:r>
              <a:rPr dirty="0">
                <a:solidFill>
                  <a:srgbClr val="6E6E6E"/>
                </a:solidFill>
              </a:rPr>
              <a:t>КМ - </a:t>
            </a:r>
            <a:r>
              <a:rPr dirty="0" err="1">
                <a:solidFill>
                  <a:srgbClr val="6E6E6E"/>
                </a:solidFill>
              </a:rPr>
              <a:t>категорийный</a:t>
            </a:r>
            <a:r>
              <a:rPr dirty="0">
                <a:solidFill>
                  <a:srgbClr val="6E6E6E"/>
                </a:solidFill>
              </a:rPr>
              <a:t> </a:t>
            </a:r>
            <a:r>
              <a:rPr dirty="0" err="1">
                <a:solidFill>
                  <a:srgbClr val="6E6E6E"/>
                </a:solidFill>
              </a:rPr>
              <a:t>менеджер</a:t>
            </a:r>
            <a:r>
              <a:rPr dirty="0">
                <a:solidFill>
                  <a:srgbClr val="6E6E6E"/>
                </a:solidFill>
              </a:rPr>
              <a:t>. </a:t>
            </a:r>
            <a:r>
              <a:rPr dirty="0" err="1">
                <a:solidFill>
                  <a:srgbClr val="6E6E6E"/>
                </a:solidFill>
              </a:rPr>
              <a:t>Источник</a:t>
            </a:r>
            <a:r>
              <a:rPr dirty="0">
                <a:solidFill>
                  <a:srgbClr val="6E6E6E"/>
                </a:solidFill>
              </a:rPr>
              <a:t>: </a:t>
            </a:r>
            <a:r>
              <a:rPr dirty="0" err="1">
                <a:solidFill>
                  <a:srgbClr val="6E6E6E"/>
                </a:solidFill>
              </a:rPr>
              <a:t>инициативы</a:t>
            </a:r>
            <a:r>
              <a:rPr dirty="0">
                <a:solidFill>
                  <a:srgbClr val="6E6E6E"/>
                </a:solidFill>
              </a:rPr>
              <a:t> </a:t>
            </a:r>
            <a:r>
              <a:rPr dirty="0" err="1">
                <a:solidFill>
                  <a:srgbClr val="6E6E6E"/>
                </a:solidFill>
              </a:rPr>
              <a:t>руководителей</a:t>
            </a:r>
            <a:r>
              <a:rPr dirty="0">
                <a:solidFill>
                  <a:srgbClr val="6E6E6E"/>
                </a:solidFill>
              </a:rPr>
              <a:t> </a:t>
            </a:r>
            <a:r>
              <a:rPr dirty="0" err="1">
                <a:solidFill>
                  <a:srgbClr val="6E6E6E"/>
                </a:solidFill>
              </a:rPr>
              <a:t>направлений</a:t>
            </a:r>
            <a:r>
              <a:rPr dirty="0">
                <a:solidFill>
                  <a:srgbClr val="6E6E6E"/>
                </a:solidFill>
              </a:rPr>
              <a:t> </a:t>
            </a:r>
            <a:r>
              <a:rPr dirty="0" err="1">
                <a:solidFill>
                  <a:srgbClr val="6E6E6E"/>
                </a:solidFill>
              </a:rPr>
              <a:t>Магнит</a:t>
            </a:r>
            <a:r>
              <a:rPr dirty="0">
                <a:solidFill>
                  <a:srgbClr val="6E6E6E"/>
                </a:solidFill>
              </a:rPr>
              <a:t> </a:t>
            </a:r>
            <a:r>
              <a:rPr dirty="0" err="1">
                <a:solidFill>
                  <a:srgbClr val="6E6E6E"/>
                </a:solidFill>
              </a:rPr>
              <a:t>на</a:t>
            </a:r>
            <a:r>
              <a:rPr dirty="0">
                <a:solidFill>
                  <a:srgbClr val="6E6E6E"/>
                </a:solidFill>
              </a:rPr>
              <a:t> 2027+ </a:t>
            </a:r>
            <a:r>
              <a:rPr dirty="0" err="1">
                <a:solidFill>
                  <a:srgbClr val="6E6E6E"/>
                </a:solidFill>
              </a:rPr>
              <a:t>гг</a:t>
            </a:r>
            <a:r>
              <a:rPr dirty="0">
                <a:solidFill>
                  <a:srgbClr val="6E6E6E"/>
                </a:solidFill>
              </a:rPr>
              <a:t>.</a:t>
            </a:r>
            <a:endParaRPr lang="ru-RU" dirty="0">
              <a:solidFill>
                <a:srgbClr val="6E6E6E"/>
              </a:solidFill>
            </a:endParaRP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82582B94-C19A-6A94-2EAE-E497942D38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12</a:t>
            </a:fld>
            <a:endParaRPr lang="ru-RU" dirty="0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B611134C-94AC-F253-DD37-FB977A432E6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Magnit AdTech - рекламная платформа для всего Магнита</a:t>
            </a:r>
          </a:p>
        </p:txBody>
      </p:sp>
      <p:sp>
        <p:nvSpPr>
          <p:cNvPr id="5" name="Platform card 6"/>
          <p:cNvSpPr/>
          <p:nvPr/>
        </p:nvSpPr>
        <p:spPr>
          <a:xfrm>
            <a:off x="365760" y="1024128"/>
            <a:ext cx="3383280" cy="5120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6" name="Platform head 7"/>
          <p:cNvSpPr txBox="1"/>
          <p:nvPr/>
        </p:nvSpPr>
        <p:spPr>
          <a:xfrm>
            <a:off x="548640" y="1152144"/>
            <a:ext cx="301752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dirty="0">
                <a:solidFill>
                  <a:srgbClr val="FF452C"/>
                </a:solidFill>
                <a:latin typeface="Arial"/>
                <a:cs typeface="Arial"/>
              </a:rPr>
              <a:t>1. Delivery-платформа</a:t>
            </a:r>
            <a:endParaRPr lang="ru-RU" sz="1200" dirty="0"/>
          </a:p>
        </p:txBody>
      </p:sp>
      <p:sp>
        <p:nvSpPr>
          <p:cNvPr id="7" name="Platform thesis 8"/>
          <p:cNvSpPr txBox="1"/>
          <p:nvPr/>
        </p:nvSpPr>
        <p:spPr>
          <a:xfrm>
            <a:off x="548640" y="1499616"/>
            <a:ext cx="30175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1" dirty="0">
                <a:solidFill>
                  <a:srgbClr val="000000"/>
                </a:solidFill>
                <a:latin typeface="Arial"/>
                <a:cs typeface="Arial"/>
              </a:rPr>
              <a:t>Арбитраж за внимание пользователя, а не только доставка контента</a:t>
            </a:r>
            <a:endParaRPr lang="ru-RU" sz="1200" dirty="0"/>
          </a:p>
        </p:txBody>
      </p:sp>
      <p:sp>
        <p:nvSpPr>
          <p:cNvPr id="8" name="Platform line 9"/>
          <p:cNvSpPr/>
          <p:nvPr/>
        </p:nvSpPr>
        <p:spPr>
          <a:xfrm>
            <a:off x="548640" y="2011680"/>
            <a:ext cx="3017520" cy="914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9" name="Platform label 10"/>
          <p:cNvSpPr txBox="1"/>
          <p:nvPr/>
        </p:nvSpPr>
        <p:spPr>
          <a:xfrm>
            <a:off x="548640" y="2084832"/>
            <a:ext cx="3017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7F7F7F"/>
                </a:solidFill>
                <a:latin typeface="Arial"/>
                <a:cs typeface="Arial"/>
              </a:rPr>
              <a:t>За плейсмент на главном экране конкурируют</a:t>
            </a:r>
            <a:endParaRPr lang="ru-RU" sz="1200" dirty="0"/>
          </a:p>
        </p:txBody>
      </p:sp>
      <p:sp>
        <p:nvSpPr>
          <p:cNvPr id="10" name="Platform chip 11"/>
          <p:cNvSpPr/>
          <p:nvPr/>
        </p:nvSpPr>
        <p:spPr>
          <a:xfrm>
            <a:off x="548640" y="2345196"/>
            <a:ext cx="1463040" cy="566928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1" name="Platform chiptxt 12"/>
          <p:cNvSpPr txBox="1"/>
          <p:nvPr/>
        </p:nvSpPr>
        <p:spPr>
          <a:xfrm>
            <a:off x="548640" y="2390916"/>
            <a:ext cx="146304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Реклама поставщика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Рекламная выручка </a:t>
            </a:r>
            <a:b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</a:b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и Рост РТО</a:t>
            </a:r>
            <a:endParaRPr lang="ru-RU" sz="1200" dirty="0"/>
          </a:p>
        </p:txBody>
      </p:sp>
      <p:sp>
        <p:nvSpPr>
          <p:cNvPr id="12" name="Platform chip 13"/>
          <p:cNvSpPr/>
          <p:nvPr/>
        </p:nvSpPr>
        <p:spPr>
          <a:xfrm>
            <a:off x="2103120" y="2345196"/>
            <a:ext cx="1463040" cy="566928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3" name="Platform chiptxt 14"/>
          <p:cNvSpPr txBox="1"/>
          <p:nvPr/>
        </p:nvSpPr>
        <p:spPr>
          <a:xfrm>
            <a:off x="2194560" y="2390916"/>
            <a:ext cx="128016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Акция Магнита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рост GMV</a:t>
            </a:r>
            <a:endParaRPr lang="ru-RU" sz="1200" dirty="0"/>
          </a:p>
        </p:txBody>
      </p:sp>
      <p:sp>
        <p:nvSpPr>
          <p:cNvPr id="14" name="Platform chip 15"/>
          <p:cNvSpPr/>
          <p:nvPr/>
        </p:nvSpPr>
        <p:spPr>
          <a:xfrm>
            <a:off x="548640" y="3094675"/>
            <a:ext cx="1463040" cy="566928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5" name="Platform chiptxt 16"/>
          <p:cNvSpPr txBox="1"/>
          <p:nvPr/>
        </p:nvSpPr>
        <p:spPr>
          <a:xfrm>
            <a:off x="640080" y="3140395"/>
            <a:ext cx="128016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Оффер лояльности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рост retention</a:t>
            </a:r>
            <a:endParaRPr lang="ru-RU" sz="1200" dirty="0"/>
          </a:p>
        </p:txBody>
      </p:sp>
      <p:sp>
        <p:nvSpPr>
          <p:cNvPr id="16" name="Platform chip 17"/>
          <p:cNvSpPr/>
          <p:nvPr/>
        </p:nvSpPr>
        <p:spPr>
          <a:xfrm>
            <a:off x="2103120" y="3094675"/>
            <a:ext cx="1463040" cy="566928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7" name="Platform chiptxt 18"/>
          <p:cNvSpPr txBox="1"/>
          <p:nvPr/>
        </p:nvSpPr>
        <p:spPr>
          <a:xfrm>
            <a:off x="2194560" y="3140395"/>
            <a:ext cx="128016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Виджет команды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A/B-эксперимент</a:t>
            </a:r>
            <a:endParaRPr lang="ru-RU" sz="1200" dirty="0"/>
          </a:p>
        </p:txBody>
      </p:sp>
      <p:sp>
        <p:nvSpPr>
          <p:cNvPr id="18" name="Platform arrow 19"/>
          <p:cNvSpPr/>
          <p:nvPr/>
        </p:nvSpPr>
        <p:spPr>
          <a:xfrm rot="10800000">
            <a:off x="1965960" y="4498848"/>
            <a:ext cx="182880" cy="91226"/>
          </a:xfrm>
          <a:prstGeom prst="triangle">
            <a:avLst/>
          </a:prstGeom>
          <a:solidFill>
            <a:srgbClr val="FF452C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9" name="Platform pink 20"/>
          <p:cNvSpPr/>
          <p:nvPr/>
        </p:nvSpPr>
        <p:spPr>
          <a:xfrm>
            <a:off x="548640" y="4720316"/>
            <a:ext cx="3017520" cy="677136"/>
          </a:xfrm>
          <a:prstGeom prst="roundRect">
            <a:avLst>
              <a:gd name="adj" fmla="val 10000"/>
            </a:avLst>
          </a:prstGeom>
          <a:solidFill>
            <a:srgbClr val="FFE9E5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20" name="Platform pinktxt 21"/>
          <p:cNvSpPr txBox="1"/>
          <p:nvPr/>
        </p:nvSpPr>
        <p:spPr>
          <a:xfrm>
            <a:off x="640080" y="4743176"/>
            <a:ext cx="2834640" cy="63141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FF452C"/>
                </a:solidFill>
                <a:latin typeface="Arial"/>
                <a:cs typeface="Arial"/>
              </a:rPr>
              <a:t>Единая политика выбора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000000"/>
                </a:solidFill>
                <a:latin typeface="Arial"/>
                <a:cs typeface="Arial"/>
              </a:rPr>
              <a:t>учитывает бизнес-правила, коммерческую ценность, контекст пользователя и ограничения UX</a:t>
            </a:r>
            <a:endParaRPr lang="ru-RU" sz="1200" dirty="0"/>
          </a:p>
        </p:txBody>
      </p:sp>
      <p:sp>
        <p:nvSpPr>
          <p:cNvPr id="22" name="Platform card 23"/>
          <p:cNvSpPr/>
          <p:nvPr/>
        </p:nvSpPr>
        <p:spPr>
          <a:xfrm>
            <a:off x="3931920" y="1024128"/>
            <a:ext cx="4325112" cy="5120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23" name="Platform head 24"/>
          <p:cNvSpPr txBox="1"/>
          <p:nvPr/>
        </p:nvSpPr>
        <p:spPr>
          <a:xfrm>
            <a:off x="4114800" y="1152144"/>
            <a:ext cx="3959352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dirty="0">
                <a:solidFill>
                  <a:srgbClr val="FF452C"/>
                </a:solidFill>
                <a:latin typeface="Arial"/>
                <a:cs typeface="Arial"/>
              </a:rPr>
              <a:t>2. Оркестрация монетизации группы</a:t>
            </a:r>
            <a:endParaRPr lang="ru-RU" sz="1200" dirty="0"/>
          </a:p>
        </p:txBody>
      </p:sp>
      <p:sp>
        <p:nvSpPr>
          <p:cNvPr id="24" name="Platform thesis 25"/>
          <p:cNvSpPr txBox="1"/>
          <p:nvPr/>
        </p:nvSpPr>
        <p:spPr>
          <a:xfrm>
            <a:off x="4114800" y="1499616"/>
            <a:ext cx="3959352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1" dirty="0">
                <a:solidFill>
                  <a:srgbClr val="000000"/>
                </a:solidFill>
                <a:latin typeface="Arial"/>
                <a:cs typeface="Arial"/>
              </a:rPr>
              <a:t>С 2026 г. AdTech - единая функция монетизации OMNI и оркестратор внутренних коммуникаций</a:t>
            </a:r>
            <a:endParaRPr lang="ru-RU" sz="1200" dirty="0"/>
          </a:p>
        </p:txBody>
      </p:sp>
      <p:sp>
        <p:nvSpPr>
          <p:cNvPr id="25" name="Platform line 26"/>
          <p:cNvSpPr/>
          <p:nvPr/>
        </p:nvSpPr>
        <p:spPr>
          <a:xfrm>
            <a:off x="4114800" y="2011680"/>
            <a:ext cx="3959352" cy="914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26" name="Platform label 27"/>
          <p:cNvSpPr txBox="1"/>
          <p:nvPr/>
        </p:nvSpPr>
        <p:spPr>
          <a:xfrm>
            <a:off x="4114800" y="2084832"/>
            <a:ext cx="3959352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7F7F7F"/>
                </a:solidFill>
                <a:latin typeface="Arial"/>
                <a:cs typeface="Arial"/>
              </a:rPr>
              <a:t>Зона ответственности AdTech по бизнесам группы</a:t>
            </a:r>
            <a:endParaRPr lang="ru-RU" sz="1200" dirty="0"/>
          </a:p>
        </p:txBody>
      </p:sp>
      <p:sp>
        <p:nvSpPr>
          <p:cNvPr id="27" name="Platform chip 28"/>
          <p:cNvSpPr/>
          <p:nvPr/>
        </p:nvSpPr>
        <p:spPr>
          <a:xfrm>
            <a:off x="4114800" y="2267712"/>
            <a:ext cx="1933956" cy="896112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28" name="Platform chiptxt 29"/>
          <p:cNvSpPr txBox="1"/>
          <p:nvPr/>
        </p:nvSpPr>
        <p:spPr>
          <a:xfrm>
            <a:off x="4206240" y="2313432"/>
            <a:ext cx="1751076" cy="8046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FoodTech (приложение)</a:t>
            </a:r>
            <a:endParaRPr lang="ru-RU" sz="1200" dirty="0"/>
          </a:p>
          <a:p>
            <a:pPr marL="0" indent="0" algn="l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Разрабатываем инвентарь, реализуем условные бонусы поставщиков, привлекаем внешних рекламодателей</a:t>
            </a:r>
            <a:endParaRPr lang="ru-RU" sz="1200" dirty="0"/>
          </a:p>
        </p:txBody>
      </p:sp>
      <p:sp>
        <p:nvSpPr>
          <p:cNvPr id="29" name="Platform chip 30"/>
          <p:cNvSpPr/>
          <p:nvPr/>
        </p:nvSpPr>
        <p:spPr>
          <a:xfrm>
            <a:off x="6140196" y="2267712"/>
            <a:ext cx="1933956" cy="896112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30" name="Platform chiptxt 31"/>
          <p:cNvSpPr txBox="1"/>
          <p:nvPr/>
        </p:nvSpPr>
        <p:spPr>
          <a:xfrm>
            <a:off x="6231636" y="2313432"/>
            <a:ext cx="1751076" cy="8046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М+</a:t>
            </a:r>
            <a:endParaRPr lang="ru-RU" sz="1200" dirty="0"/>
          </a:p>
          <a:p>
            <a:pPr marL="0" indent="0" algn="l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7F7F7F"/>
                </a:solidFill>
                <a:latin typeface="Arial"/>
                <a:cs typeface="Arial"/>
              </a:rPr>
              <a:t>S</a:t>
            </a:r>
            <a:r>
              <a:rPr lang="ru-RU" sz="900" b="0" dirty="0" err="1">
                <a:solidFill>
                  <a:srgbClr val="7F7F7F"/>
                </a:solidFill>
                <a:latin typeface="Arial"/>
                <a:cs typeface="Arial"/>
              </a:rPr>
              <a:t>ales</a:t>
            </a: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 </a:t>
            </a:r>
            <a:r>
              <a:rPr lang="ru-RU" sz="900" b="0" dirty="0" err="1">
                <a:solidFill>
                  <a:srgbClr val="7F7F7F"/>
                </a:solidFill>
                <a:latin typeface="Arial"/>
                <a:cs typeface="Arial"/>
              </a:rPr>
              <a:t>force</a:t>
            </a: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 </a:t>
            </a:r>
            <a:r>
              <a:rPr lang="ru-RU" sz="900" dirty="0">
                <a:solidFill>
                  <a:srgbClr val="7F7F7F"/>
                </a:solidFill>
                <a:latin typeface="Arial"/>
                <a:cs typeface="Arial"/>
              </a:rPr>
              <a:t>на стороне </a:t>
            </a:r>
            <a:r>
              <a:rPr lang="ru-RU" sz="900" b="0" dirty="0" err="1">
                <a:solidFill>
                  <a:srgbClr val="7F7F7F"/>
                </a:solidFill>
                <a:latin typeface="Arial"/>
                <a:cs typeface="Arial"/>
              </a:rPr>
              <a:t>AdTech</a:t>
            </a: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: бонусы по инвентарю М+ (кроме игр), кратный рост выручки г/г</a:t>
            </a:r>
            <a:endParaRPr lang="ru-RU" sz="1200" dirty="0"/>
          </a:p>
        </p:txBody>
      </p:sp>
      <p:sp>
        <p:nvSpPr>
          <p:cNvPr id="31" name="Platform chip 32"/>
          <p:cNvSpPr/>
          <p:nvPr/>
        </p:nvSpPr>
        <p:spPr>
          <a:xfrm>
            <a:off x="4114800" y="3255264"/>
            <a:ext cx="1933956" cy="896112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32" name="Platform chiptxt 33"/>
          <p:cNvSpPr txBox="1"/>
          <p:nvPr/>
        </p:nvSpPr>
        <p:spPr>
          <a:xfrm>
            <a:off x="4206240" y="3300984"/>
            <a:ext cx="1751076" cy="8046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Офлайн-форматы</a:t>
            </a:r>
            <a:endParaRPr lang="ru-RU" sz="1200" dirty="0"/>
          </a:p>
          <a:p>
            <a:pPr marL="0" indent="0" algn="l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Бонусы на digital in-store, Online + DMP и DMP; разработка инвентаря, внешние рекламодатели</a:t>
            </a:r>
            <a:endParaRPr lang="ru-RU" sz="1200" dirty="0"/>
          </a:p>
        </p:txBody>
      </p:sp>
      <p:sp>
        <p:nvSpPr>
          <p:cNvPr id="33" name="Platform chip 34"/>
          <p:cNvSpPr/>
          <p:nvPr/>
        </p:nvSpPr>
        <p:spPr>
          <a:xfrm>
            <a:off x="6140196" y="3255264"/>
            <a:ext cx="1933956" cy="896112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34" name="Platform chiptxt 35"/>
          <p:cNvSpPr txBox="1"/>
          <p:nvPr/>
        </p:nvSpPr>
        <p:spPr>
          <a:xfrm>
            <a:off x="6231636" y="3300984"/>
            <a:ext cx="1751076" cy="8046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Финтех</a:t>
            </a:r>
            <a:endParaRPr lang="ru-RU" sz="1200" dirty="0"/>
          </a:p>
          <a:p>
            <a:pPr marL="0" indent="0" algn="l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Финализируем условия передачи монетизации витрины; идет MVP взаимодействия</a:t>
            </a:r>
            <a:endParaRPr lang="ru-RU" sz="1200" dirty="0"/>
          </a:p>
        </p:txBody>
      </p:sp>
      <p:sp>
        <p:nvSpPr>
          <p:cNvPr id="35" name="Platform chip 36"/>
          <p:cNvSpPr/>
          <p:nvPr/>
        </p:nvSpPr>
        <p:spPr>
          <a:xfrm>
            <a:off x="4114800" y="4242816"/>
            <a:ext cx="1933956" cy="109728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36" name="Platform chiptxt 37"/>
          <p:cNvSpPr txBox="1"/>
          <p:nvPr/>
        </p:nvSpPr>
        <p:spPr>
          <a:xfrm>
            <a:off x="4206240" y="4288536"/>
            <a:ext cx="1751076" cy="100583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UGC-factory</a:t>
            </a:r>
            <a:endParaRPr lang="ru-RU" sz="1200" dirty="0"/>
          </a:p>
          <a:p>
            <a:pPr marL="0" indent="0" algn="l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2026 г. - пилот: план </a:t>
            </a:r>
            <a:r>
              <a:rPr lang="ru-RU" sz="900" b="1" dirty="0">
                <a:solidFill>
                  <a:srgbClr val="7F7F7F"/>
                </a:solidFill>
                <a:latin typeface="Arial"/>
                <a:cs typeface="Arial"/>
              </a:rPr>
              <a:t>12,3 млн</a:t>
            </a: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 просмотров для 2 клиентов. 2027 г. - цель </a:t>
            </a:r>
            <a:r>
              <a:rPr lang="ru-RU" sz="900" b="1" dirty="0">
                <a:solidFill>
                  <a:srgbClr val="7F7F7F"/>
                </a:solidFill>
                <a:latin typeface="Arial"/>
                <a:cs typeface="Arial"/>
              </a:rPr>
              <a:t>500+ млн</a:t>
            </a: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 просмотров, рост до </a:t>
            </a:r>
            <a:r>
              <a:rPr lang="ru-RU" sz="900" b="1" dirty="0">
                <a:solidFill>
                  <a:srgbClr val="7F7F7F"/>
                </a:solidFill>
                <a:latin typeface="Arial"/>
                <a:cs typeface="Arial"/>
              </a:rPr>
              <a:t>150</a:t>
            </a: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 инфлюенсеров в штате</a:t>
            </a:r>
            <a:endParaRPr lang="ru-RU" sz="1200" dirty="0"/>
          </a:p>
        </p:txBody>
      </p:sp>
      <p:sp>
        <p:nvSpPr>
          <p:cNvPr id="37" name="Platform chip 38"/>
          <p:cNvSpPr/>
          <p:nvPr/>
        </p:nvSpPr>
        <p:spPr>
          <a:xfrm>
            <a:off x="6140196" y="4242816"/>
            <a:ext cx="1933956" cy="109728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38" name="Platform chiptxt 39"/>
          <p:cNvSpPr txBox="1"/>
          <p:nvPr/>
        </p:nvSpPr>
        <p:spPr>
          <a:xfrm>
            <a:off x="6231636" y="4288536"/>
            <a:ext cx="1751076" cy="100583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Внутренние заказчики</a:t>
            </a:r>
            <a:endParaRPr lang="ru-RU" sz="1200" dirty="0"/>
          </a:p>
          <a:p>
            <a:pPr marL="0" indent="0" algn="l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Квота 50% инвентаря приложения и digital in-store - под задачи команд Магнита</a:t>
            </a:r>
            <a:endParaRPr lang="ru-RU" sz="1200" dirty="0"/>
          </a:p>
        </p:txBody>
      </p:sp>
      <p:sp>
        <p:nvSpPr>
          <p:cNvPr id="39" name="Platform pink 40"/>
          <p:cNvSpPr/>
          <p:nvPr/>
        </p:nvSpPr>
        <p:spPr>
          <a:xfrm>
            <a:off x="4114800" y="5413248"/>
            <a:ext cx="3959352" cy="585216"/>
          </a:xfrm>
          <a:prstGeom prst="roundRect">
            <a:avLst>
              <a:gd name="adj" fmla="val 10000"/>
            </a:avLst>
          </a:prstGeom>
          <a:solidFill>
            <a:srgbClr val="FFE9E5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40" name="Platform pinktxt 41"/>
          <p:cNvSpPr txBox="1"/>
          <p:nvPr/>
        </p:nvSpPr>
        <p:spPr>
          <a:xfrm>
            <a:off x="4206240" y="5458968"/>
            <a:ext cx="3776472" cy="49377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FF452C"/>
                </a:solidFill>
                <a:latin typeface="Arial"/>
                <a:cs typeface="Arial"/>
              </a:rPr>
              <a:t>Q4 2027 - MVP бренд-бюджетов поставщиков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000000"/>
                </a:solidFill>
                <a:latin typeface="Arial"/>
                <a:cs typeface="Arial"/>
              </a:rPr>
              <a:t>вне коммерческих условий, на весь доступный инвентарь, через ЮЛ Магнит Маркета</a:t>
            </a:r>
            <a:endParaRPr lang="ru-RU" sz="1200" dirty="0"/>
          </a:p>
        </p:txBody>
      </p:sp>
      <p:sp>
        <p:nvSpPr>
          <p:cNvPr id="41" name="Platform card 42"/>
          <p:cNvSpPr/>
          <p:nvPr/>
        </p:nvSpPr>
        <p:spPr>
          <a:xfrm>
            <a:off x="8439912" y="1024128"/>
            <a:ext cx="3383280" cy="5120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42" name="Platform head 43"/>
          <p:cNvSpPr txBox="1"/>
          <p:nvPr/>
        </p:nvSpPr>
        <p:spPr>
          <a:xfrm>
            <a:off x="8622792" y="1152144"/>
            <a:ext cx="301752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dirty="0">
                <a:solidFill>
                  <a:srgbClr val="FF452C"/>
                </a:solidFill>
                <a:latin typeface="Arial"/>
                <a:cs typeface="Arial"/>
              </a:rPr>
              <a:t>3. РИМ на платформе</a:t>
            </a:r>
            <a:endParaRPr lang="ru-RU" sz="1200" dirty="0"/>
          </a:p>
        </p:txBody>
      </p:sp>
      <p:sp>
        <p:nvSpPr>
          <p:cNvPr id="43" name="Platform thesis 44"/>
          <p:cNvSpPr txBox="1"/>
          <p:nvPr/>
        </p:nvSpPr>
        <p:spPr>
          <a:xfrm>
            <a:off x="8622792" y="1499616"/>
            <a:ext cx="30175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1" dirty="0">
                <a:solidFill>
                  <a:srgbClr val="000000"/>
                </a:solidFill>
                <a:latin typeface="Arial"/>
                <a:cs typeface="Arial"/>
              </a:rPr>
              <a:t>Переводим процессы РИМ в рекламную платформу</a:t>
            </a:r>
            <a:endParaRPr lang="ru-RU" sz="1200" dirty="0"/>
          </a:p>
        </p:txBody>
      </p:sp>
      <p:sp>
        <p:nvSpPr>
          <p:cNvPr id="44" name="Platform line 45"/>
          <p:cNvSpPr/>
          <p:nvPr/>
        </p:nvSpPr>
        <p:spPr>
          <a:xfrm>
            <a:off x="8622792" y="2011680"/>
            <a:ext cx="3017520" cy="914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45" name="Platform label 46"/>
          <p:cNvSpPr txBox="1"/>
          <p:nvPr/>
        </p:nvSpPr>
        <p:spPr>
          <a:xfrm>
            <a:off x="8622792" y="2084832"/>
            <a:ext cx="3017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7F7F7F"/>
                </a:solidFill>
                <a:latin typeface="Arial"/>
                <a:cs typeface="Arial"/>
              </a:rPr>
              <a:t>Флоу: бренд → КМ → AdTech → магазин</a:t>
            </a:r>
            <a:endParaRPr lang="ru-RU" sz="1200" dirty="0"/>
          </a:p>
        </p:txBody>
      </p:sp>
      <p:sp>
        <p:nvSpPr>
          <p:cNvPr id="46" name="Platform chip 47"/>
          <p:cNvSpPr/>
          <p:nvPr/>
        </p:nvSpPr>
        <p:spPr>
          <a:xfrm>
            <a:off x="8622792" y="2267712"/>
            <a:ext cx="3017520" cy="420624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47" name="Platform chiptxt 48"/>
          <p:cNvSpPr txBox="1"/>
          <p:nvPr/>
        </p:nvSpPr>
        <p:spPr>
          <a:xfrm>
            <a:off x="8714232" y="2313432"/>
            <a:ext cx="283464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Бронирование и расчет емкости</a:t>
            </a:r>
            <a:endParaRPr lang="ru-RU" sz="1200" dirty="0"/>
          </a:p>
        </p:txBody>
      </p:sp>
      <p:sp>
        <p:nvSpPr>
          <p:cNvPr id="48" name="Platform arrow 49"/>
          <p:cNvSpPr/>
          <p:nvPr/>
        </p:nvSpPr>
        <p:spPr>
          <a:xfrm rot="10800000">
            <a:off x="10058400" y="2750601"/>
            <a:ext cx="146304" cy="72980"/>
          </a:xfrm>
          <a:prstGeom prst="triangle">
            <a:avLst/>
          </a:prstGeom>
          <a:solidFill>
            <a:srgbClr val="FF452C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49" name="Platform chip 50"/>
          <p:cNvSpPr/>
          <p:nvPr/>
        </p:nvSpPr>
        <p:spPr>
          <a:xfrm>
            <a:off x="8622792" y="2871216"/>
            <a:ext cx="3017520" cy="420624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50" name="Platform chiptxt 51"/>
          <p:cNvSpPr txBox="1"/>
          <p:nvPr/>
        </p:nvSpPr>
        <p:spPr>
          <a:xfrm>
            <a:off x="8714232" y="2916936"/>
            <a:ext cx="283464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Передача артефактов для размещения</a:t>
            </a:r>
            <a:endParaRPr lang="ru-RU" sz="1200" dirty="0"/>
          </a:p>
        </p:txBody>
      </p:sp>
      <p:sp>
        <p:nvSpPr>
          <p:cNvPr id="51" name="Platform arrow 52"/>
          <p:cNvSpPr/>
          <p:nvPr/>
        </p:nvSpPr>
        <p:spPr>
          <a:xfrm rot="10800000">
            <a:off x="10058400" y="3354105"/>
            <a:ext cx="146304" cy="72980"/>
          </a:xfrm>
          <a:prstGeom prst="triangle">
            <a:avLst/>
          </a:prstGeom>
          <a:solidFill>
            <a:srgbClr val="FF452C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52" name="Platform chip 53"/>
          <p:cNvSpPr/>
          <p:nvPr/>
        </p:nvSpPr>
        <p:spPr>
          <a:xfrm>
            <a:off x="8622792" y="3474720"/>
            <a:ext cx="3017520" cy="420624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53" name="Platform chiptxt 54"/>
          <p:cNvSpPr txBox="1"/>
          <p:nvPr/>
        </p:nvSpPr>
        <p:spPr>
          <a:xfrm>
            <a:off x="8714232" y="3520439"/>
            <a:ext cx="283464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Фиксация размещения</a:t>
            </a:r>
            <a:endParaRPr lang="ru-RU" sz="1200" dirty="0"/>
          </a:p>
        </p:txBody>
      </p:sp>
      <p:sp>
        <p:nvSpPr>
          <p:cNvPr id="54" name="Platform arrow 55"/>
          <p:cNvSpPr/>
          <p:nvPr/>
        </p:nvSpPr>
        <p:spPr>
          <a:xfrm rot="10800000">
            <a:off x="10058400" y="3957608"/>
            <a:ext cx="146304" cy="72980"/>
          </a:xfrm>
          <a:prstGeom prst="triangle">
            <a:avLst/>
          </a:prstGeom>
          <a:solidFill>
            <a:srgbClr val="FF452C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55" name="Platform chip 56"/>
          <p:cNvSpPr/>
          <p:nvPr/>
        </p:nvSpPr>
        <p:spPr>
          <a:xfrm>
            <a:off x="8622792" y="4078224"/>
            <a:ext cx="3017520" cy="420624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56" name="Platform chiptxt 57"/>
          <p:cNvSpPr txBox="1"/>
          <p:nvPr/>
        </p:nvSpPr>
        <p:spPr>
          <a:xfrm>
            <a:off x="8714232" y="4123944"/>
            <a:ext cx="283464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Подсчет результатов</a:t>
            </a:r>
            <a:endParaRPr lang="ru-RU" sz="1200" dirty="0"/>
          </a:p>
        </p:txBody>
      </p:sp>
      <p:sp>
        <p:nvSpPr>
          <p:cNvPr id="57" name="Platform arrow 58"/>
          <p:cNvSpPr/>
          <p:nvPr/>
        </p:nvSpPr>
        <p:spPr>
          <a:xfrm rot="10800000">
            <a:off x="10058400" y="4561113"/>
            <a:ext cx="146304" cy="72980"/>
          </a:xfrm>
          <a:prstGeom prst="triangle">
            <a:avLst/>
          </a:prstGeom>
          <a:solidFill>
            <a:srgbClr val="FF452C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58" name="Platform chip 59"/>
          <p:cNvSpPr/>
          <p:nvPr/>
        </p:nvSpPr>
        <p:spPr>
          <a:xfrm>
            <a:off x="8622792" y="4681728"/>
            <a:ext cx="3017520" cy="420624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59" name="Platform chiptxt 60"/>
          <p:cNvSpPr txBox="1"/>
          <p:nvPr/>
        </p:nvSpPr>
        <p:spPr>
          <a:xfrm>
            <a:off x="8714232" y="4727448"/>
            <a:ext cx="283464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Закрывающие документы</a:t>
            </a:r>
            <a:endParaRPr lang="ru-RU" sz="1200" dirty="0"/>
          </a:p>
        </p:txBody>
      </p:sp>
      <p:sp>
        <p:nvSpPr>
          <p:cNvPr id="60" name="Platform pink 61"/>
          <p:cNvSpPr/>
          <p:nvPr/>
        </p:nvSpPr>
        <p:spPr>
          <a:xfrm>
            <a:off x="8622792" y="5358384"/>
            <a:ext cx="3017520" cy="640080"/>
          </a:xfrm>
          <a:prstGeom prst="roundRect">
            <a:avLst>
              <a:gd name="adj" fmla="val 10000"/>
            </a:avLst>
          </a:prstGeom>
          <a:solidFill>
            <a:srgbClr val="FFE9E5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61" name="Platform pinktxt 62"/>
          <p:cNvSpPr txBox="1"/>
          <p:nvPr/>
        </p:nvSpPr>
        <p:spPr>
          <a:xfrm>
            <a:off x="8714232" y="5404104"/>
            <a:ext cx="28346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FF452C"/>
                </a:solidFill>
                <a:latin typeface="Arial"/>
                <a:cs typeface="Arial"/>
              </a:rPr>
              <a:t>Аукцион за место на полке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000000"/>
                </a:solidFill>
                <a:latin typeface="Arial"/>
                <a:cs typeface="Arial"/>
              </a:rPr>
              <a:t>разрабатывается вместе с переводом РИМ</a:t>
            </a:r>
            <a:endParaRPr lang="ru-RU" sz="1200" dirty="0"/>
          </a:p>
        </p:txBody>
      </p:sp>
      <p:sp>
        <p:nvSpPr>
          <p:cNvPr id="64" name="Platform chip 15">
            <a:extLst>
              <a:ext uri="{FF2B5EF4-FFF2-40B4-BE49-F238E27FC236}">
                <a16:creationId xmlns:a16="http://schemas.microsoft.com/office/drawing/2014/main" id="{53F6839C-F744-4CEE-10D4-20776A554559}"/>
              </a:ext>
            </a:extLst>
          </p:cNvPr>
          <p:cNvSpPr/>
          <p:nvPr/>
        </p:nvSpPr>
        <p:spPr>
          <a:xfrm>
            <a:off x="548640" y="3840480"/>
            <a:ext cx="3017520" cy="473572"/>
          </a:xfrm>
          <a:prstGeom prst="roundRect">
            <a:avLst>
              <a:gd name="adj" fmla="val 13273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63" name="Platform chiptxt 12">
            <a:extLst>
              <a:ext uri="{FF2B5EF4-FFF2-40B4-BE49-F238E27FC236}">
                <a16:creationId xmlns:a16="http://schemas.microsoft.com/office/drawing/2014/main" id="{444413D6-382A-2915-3D44-3FA6FD1F341B}"/>
              </a:ext>
            </a:extLst>
          </p:cNvPr>
          <p:cNvSpPr txBox="1"/>
          <p:nvPr/>
        </p:nvSpPr>
        <p:spPr>
          <a:xfrm>
            <a:off x="936097" y="3887711"/>
            <a:ext cx="2242605" cy="3859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Реклама НЕ поставщика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Рекламная выручка</a:t>
            </a:r>
            <a:endParaRPr lang="ru-RU" sz="1200" dirty="0"/>
          </a:p>
        </p:txBody>
      </p:sp>
    </p:spTree>
    <p:extLst>
      <p:ext uri="{BB962C8B-B14F-4D97-AF65-F5344CB8AC3E}">
        <p14:creationId xmlns:p14="http://schemas.microsoft.com/office/powerpoint/2010/main" val="225397032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1">
            <a:extLst>
              <a:ext uri="{FF2B5EF4-FFF2-40B4-BE49-F238E27FC236}">
                <a16:creationId xmlns:a16="http://schemas.microsoft.com/office/drawing/2014/main" id="{F92809F8-88FA-BA41-DCAE-2F45FB22CD56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04789985-C1E5-928D-6C24-D23FEF66EC4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13</a:t>
            </a:fld>
            <a:endParaRPr lang="ru-RU" dirty="0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C442B76-F572-6CD1-713D-47281235C27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Обновление роли </a:t>
            </a:r>
            <a:r>
              <a:rPr lang="en-US" dirty="0"/>
              <a:t>AdTech </a:t>
            </a:r>
            <a:r>
              <a:rPr lang="ru-RU" dirty="0"/>
              <a:t>для максимизации </a:t>
            </a:r>
            <a:br>
              <a:rPr lang="ru-RU" dirty="0"/>
            </a:br>
            <a:r>
              <a:rPr lang="ru-RU" dirty="0"/>
              <a:t>рекламной выручки в условиях модели ритейлера</a:t>
            </a:r>
          </a:p>
        </p:txBody>
      </p:sp>
      <p:sp>
        <p:nvSpPr>
          <p:cNvPr id="7" name="Role card 1">
            <a:extLst>
              <a:ext uri="{FF2B5EF4-FFF2-40B4-BE49-F238E27FC236}">
                <a16:creationId xmlns:a16="http://schemas.microsoft.com/office/drawing/2014/main" id="{52F61E5C-8CE7-55C9-A00A-68A8C1C0435C}"/>
              </a:ext>
            </a:extLst>
          </p:cNvPr>
          <p:cNvSpPr/>
          <p:nvPr/>
        </p:nvSpPr>
        <p:spPr>
          <a:xfrm>
            <a:off x="368300" y="1012008"/>
            <a:ext cx="5602700" cy="508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8" name="ADS 1046">
            <a:extLst>
              <a:ext uri="{FF2B5EF4-FFF2-40B4-BE49-F238E27FC236}">
                <a16:creationId xmlns:a16="http://schemas.microsoft.com/office/drawing/2014/main" id="{3014A97D-D77A-F459-5950-3BEC72A4ECEA}"/>
              </a:ext>
            </a:extLst>
          </p:cNvPr>
          <p:cNvSpPr txBox="1"/>
          <p:nvPr/>
        </p:nvSpPr>
        <p:spPr>
          <a:xfrm>
            <a:off x="548300" y="1152008"/>
            <a:ext cx="5242700" cy="3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dirty="0">
                <a:solidFill>
                  <a:srgbClr val="FF452C"/>
                </a:solidFill>
                <a:latin typeface="Arial"/>
                <a:cs typeface="Arial"/>
              </a:rPr>
              <a:t>Трейд-бюджеты</a:t>
            </a:r>
            <a:endParaRPr lang="ru-RU" sz="1200" dirty="0"/>
          </a:p>
        </p:txBody>
      </p:sp>
      <p:sp>
        <p:nvSpPr>
          <p:cNvPr id="9" name="ADS 1047">
            <a:extLst>
              <a:ext uri="{FF2B5EF4-FFF2-40B4-BE49-F238E27FC236}">
                <a16:creationId xmlns:a16="http://schemas.microsoft.com/office/drawing/2014/main" id="{987CF5DB-3F55-8C40-AACE-2E4CFC975476}"/>
              </a:ext>
            </a:extLst>
          </p:cNvPr>
          <p:cNvSpPr txBox="1"/>
          <p:nvPr/>
        </p:nvSpPr>
        <p:spPr>
          <a:xfrm>
            <a:off x="548300" y="1492008"/>
            <a:ext cx="5242700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1" dirty="0">
                <a:solidFill>
                  <a:srgbClr val="000000"/>
                </a:solidFill>
                <a:latin typeface="Arial"/>
                <a:cs typeface="Arial"/>
              </a:rPr>
              <a:t>Как сервисная функция, активно работаем </a:t>
            </a:r>
            <a:br>
              <a:rPr lang="ru-RU" sz="1200" b="1" dirty="0">
                <a:solidFill>
                  <a:srgbClr val="000000"/>
                </a:solidFill>
                <a:latin typeface="Arial"/>
                <a:cs typeface="Arial"/>
              </a:rPr>
            </a:br>
            <a:r>
              <a:rPr lang="ru-RU" sz="1200" b="1" dirty="0">
                <a:solidFill>
                  <a:srgbClr val="000000"/>
                </a:solidFill>
                <a:latin typeface="Arial"/>
                <a:cs typeface="Arial"/>
              </a:rPr>
              <a:t>с коммерцией форматов</a:t>
            </a:r>
            <a:endParaRPr lang="ru-RU" sz="1200" dirty="0"/>
          </a:p>
        </p:txBody>
      </p:sp>
      <p:sp>
        <p:nvSpPr>
          <p:cNvPr id="10" name="ADS 1048">
            <a:extLst>
              <a:ext uri="{FF2B5EF4-FFF2-40B4-BE49-F238E27FC236}">
                <a16:creationId xmlns:a16="http://schemas.microsoft.com/office/drawing/2014/main" id="{C39AB452-15EB-7441-E8E1-93D4B539C075}"/>
              </a:ext>
            </a:extLst>
          </p:cNvPr>
          <p:cNvSpPr/>
          <p:nvPr/>
        </p:nvSpPr>
        <p:spPr>
          <a:xfrm>
            <a:off x="548300" y="2022008"/>
            <a:ext cx="524270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1" name="ADS 1049">
            <a:extLst>
              <a:ext uri="{FF2B5EF4-FFF2-40B4-BE49-F238E27FC236}">
                <a16:creationId xmlns:a16="http://schemas.microsoft.com/office/drawing/2014/main" id="{7460418B-5798-95B6-720F-57E1507AE22A}"/>
              </a:ext>
            </a:extLst>
          </p:cNvPr>
          <p:cNvSpPr txBox="1"/>
          <p:nvPr/>
        </p:nvSpPr>
        <p:spPr>
          <a:xfrm>
            <a:off x="548300" y="2147199"/>
            <a:ext cx="5242700" cy="2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7F7F7F"/>
                </a:solidFill>
                <a:latin typeface="Arial"/>
                <a:cs typeface="Arial"/>
              </a:rPr>
              <a:t>Как работаем с бюджетом</a:t>
            </a:r>
            <a:endParaRPr lang="ru-RU" sz="1200" dirty="0"/>
          </a:p>
        </p:txBody>
      </p:sp>
      <p:sp>
        <p:nvSpPr>
          <p:cNvPr id="12" name="ADS 1050">
            <a:extLst>
              <a:ext uri="{FF2B5EF4-FFF2-40B4-BE49-F238E27FC236}">
                <a16:creationId xmlns:a16="http://schemas.microsoft.com/office/drawing/2014/main" id="{35BB8657-E443-532C-88BC-D853845ACC3C}"/>
              </a:ext>
            </a:extLst>
          </p:cNvPr>
          <p:cNvSpPr/>
          <p:nvPr/>
        </p:nvSpPr>
        <p:spPr>
          <a:xfrm>
            <a:off x="548300" y="2501756"/>
            <a:ext cx="1547567" cy="8200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3" name="ADS 1051">
            <a:extLst>
              <a:ext uri="{FF2B5EF4-FFF2-40B4-BE49-F238E27FC236}">
                <a16:creationId xmlns:a16="http://schemas.microsoft.com/office/drawing/2014/main" id="{52F1153B-F5D6-D9CD-D238-FD7C11763178}"/>
              </a:ext>
            </a:extLst>
          </p:cNvPr>
          <p:cNvSpPr txBox="1"/>
          <p:nvPr/>
        </p:nvSpPr>
        <p:spPr>
          <a:xfrm>
            <a:off x="618300" y="2551756"/>
            <a:ext cx="1407567" cy="7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Поставщик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595959"/>
                </a:solidFill>
                <a:latin typeface="Arial"/>
                <a:cs typeface="Arial"/>
              </a:rPr>
              <a:t>трейд-инвестиции в рамках коммерческих условий</a:t>
            </a:r>
            <a:endParaRPr lang="ru-RU" sz="1200" dirty="0"/>
          </a:p>
        </p:txBody>
      </p:sp>
      <p:sp>
        <p:nvSpPr>
          <p:cNvPr id="14" name="ADS 1052">
            <a:extLst>
              <a:ext uri="{FF2B5EF4-FFF2-40B4-BE49-F238E27FC236}">
                <a16:creationId xmlns:a16="http://schemas.microsoft.com/office/drawing/2014/main" id="{002CEA90-6643-D8A6-0A3B-F9D8D62AC6A1}"/>
              </a:ext>
            </a:extLst>
          </p:cNvPr>
          <p:cNvSpPr/>
          <p:nvPr/>
        </p:nvSpPr>
        <p:spPr>
          <a:xfrm>
            <a:off x="2145867" y="2801756"/>
            <a:ext cx="200000" cy="220000"/>
          </a:xfrm>
          <a:prstGeom prst="rightArrow">
            <a:avLst/>
          </a:prstGeom>
          <a:solidFill>
            <a:srgbClr val="FF452C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5" name="ADS 1053">
            <a:extLst>
              <a:ext uri="{FF2B5EF4-FFF2-40B4-BE49-F238E27FC236}">
                <a16:creationId xmlns:a16="http://schemas.microsoft.com/office/drawing/2014/main" id="{E2427C04-2548-EF9A-9D57-86402AA63938}"/>
              </a:ext>
            </a:extLst>
          </p:cNvPr>
          <p:cNvSpPr/>
          <p:nvPr/>
        </p:nvSpPr>
        <p:spPr>
          <a:xfrm>
            <a:off x="2395867" y="2501756"/>
            <a:ext cx="1547567" cy="8200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6" name="ADS 1054">
            <a:extLst>
              <a:ext uri="{FF2B5EF4-FFF2-40B4-BE49-F238E27FC236}">
                <a16:creationId xmlns:a16="http://schemas.microsoft.com/office/drawing/2014/main" id="{EE584239-7A3A-2CE8-4358-421B944898AB}"/>
              </a:ext>
            </a:extLst>
          </p:cNvPr>
          <p:cNvSpPr txBox="1"/>
          <p:nvPr/>
        </p:nvSpPr>
        <p:spPr>
          <a:xfrm>
            <a:off x="2465867" y="2551756"/>
            <a:ext cx="1407567" cy="7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Коммерция форматов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595959"/>
                </a:solidFill>
                <a:latin typeface="Arial"/>
                <a:cs typeface="Arial"/>
              </a:rPr>
              <a:t>ведет переговоры и наращивает выручку</a:t>
            </a:r>
            <a:endParaRPr lang="ru-RU" sz="1200" dirty="0"/>
          </a:p>
        </p:txBody>
      </p:sp>
      <p:sp>
        <p:nvSpPr>
          <p:cNvPr id="17" name="ADS 1055">
            <a:extLst>
              <a:ext uri="{FF2B5EF4-FFF2-40B4-BE49-F238E27FC236}">
                <a16:creationId xmlns:a16="http://schemas.microsoft.com/office/drawing/2014/main" id="{224F4386-B450-06C4-F955-003AA2D7E198}"/>
              </a:ext>
            </a:extLst>
          </p:cNvPr>
          <p:cNvSpPr/>
          <p:nvPr/>
        </p:nvSpPr>
        <p:spPr>
          <a:xfrm>
            <a:off x="3993433" y="2801756"/>
            <a:ext cx="200000" cy="220000"/>
          </a:xfrm>
          <a:prstGeom prst="rightArrow">
            <a:avLst/>
          </a:prstGeom>
          <a:solidFill>
            <a:srgbClr val="FF452C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8" name="ADS 1056">
            <a:extLst>
              <a:ext uri="{FF2B5EF4-FFF2-40B4-BE49-F238E27FC236}">
                <a16:creationId xmlns:a16="http://schemas.microsoft.com/office/drawing/2014/main" id="{49B016DD-0563-A408-689F-2021FF5DEB0F}"/>
              </a:ext>
            </a:extLst>
          </p:cNvPr>
          <p:cNvSpPr/>
          <p:nvPr/>
        </p:nvSpPr>
        <p:spPr>
          <a:xfrm>
            <a:off x="4243433" y="2501756"/>
            <a:ext cx="1547567" cy="820000"/>
          </a:xfrm>
          <a:prstGeom prst="roundRect">
            <a:avLst>
              <a:gd name="adj" fmla="val 10000"/>
            </a:avLst>
          </a:prstGeom>
          <a:solidFill>
            <a:srgbClr val="FFE9E5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9" name="ADS 1057">
            <a:extLst>
              <a:ext uri="{FF2B5EF4-FFF2-40B4-BE49-F238E27FC236}">
                <a16:creationId xmlns:a16="http://schemas.microsoft.com/office/drawing/2014/main" id="{5441B506-A5A1-0CE0-3A97-AB64BA068C3C}"/>
              </a:ext>
            </a:extLst>
          </p:cNvPr>
          <p:cNvSpPr txBox="1"/>
          <p:nvPr/>
        </p:nvSpPr>
        <p:spPr>
          <a:xfrm>
            <a:off x="4313433" y="2551756"/>
            <a:ext cx="1407567" cy="7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FF452C"/>
                </a:solidFill>
                <a:latin typeface="Arial"/>
                <a:cs typeface="Arial"/>
              </a:rPr>
              <a:t>AdTech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000000"/>
                </a:solidFill>
                <a:latin typeface="Arial"/>
                <a:cs typeface="Arial"/>
              </a:rPr>
              <a:t>создает инвентарь, ведет кампании и отчетность</a:t>
            </a:r>
            <a:endParaRPr lang="ru-RU" sz="1200" dirty="0"/>
          </a:p>
        </p:txBody>
      </p:sp>
      <p:sp>
        <p:nvSpPr>
          <p:cNvPr id="25" name="Role card 2">
            <a:extLst>
              <a:ext uri="{FF2B5EF4-FFF2-40B4-BE49-F238E27FC236}">
                <a16:creationId xmlns:a16="http://schemas.microsoft.com/office/drawing/2014/main" id="{5626C9BC-7A0F-EC50-49B1-BBEA570B92B6}"/>
              </a:ext>
            </a:extLst>
          </p:cNvPr>
          <p:cNvSpPr/>
          <p:nvPr/>
        </p:nvSpPr>
        <p:spPr>
          <a:xfrm>
            <a:off x="6221000" y="1012008"/>
            <a:ext cx="5602700" cy="508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26" name="ADS 1064">
            <a:extLst>
              <a:ext uri="{FF2B5EF4-FFF2-40B4-BE49-F238E27FC236}">
                <a16:creationId xmlns:a16="http://schemas.microsoft.com/office/drawing/2014/main" id="{6E3E5825-927A-5360-D634-5FDC71D6419B}"/>
              </a:ext>
            </a:extLst>
          </p:cNvPr>
          <p:cNvSpPr txBox="1"/>
          <p:nvPr/>
        </p:nvSpPr>
        <p:spPr>
          <a:xfrm>
            <a:off x="6401000" y="1152008"/>
            <a:ext cx="5242700" cy="3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dirty="0">
                <a:solidFill>
                  <a:srgbClr val="FF452C"/>
                </a:solidFill>
                <a:latin typeface="Arial"/>
                <a:cs typeface="Arial"/>
              </a:rPr>
              <a:t>Бренд-бюджеты</a:t>
            </a:r>
            <a:endParaRPr lang="ru-RU" sz="1200" dirty="0"/>
          </a:p>
        </p:txBody>
      </p:sp>
      <p:sp>
        <p:nvSpPr>
          <p:cNvPr id="27" name="ADS 1065">
            <a:extLst>
              <a:ext uri="{FF2B5EF4-FFF2-40B4-BE49-F238E27FC236}">
                <a16:creationId xmlns:a16="http://schemas.microsoft.com/office/drawing/2014/main" id="{F98A22A2-9BD7-9F4D-D527-75A6E040B101}"/>
              </a:ext>
            </a:extLst>
          </p:cNvPr>
          <p:cNvSpPr txBox="1"/>
          <p:nvPr/>
        </p:nvSpPr>
        <p:spPr>
          <a:xfrm>
            <a:off x="6401000" y="1492008"/>
            <a:ext cx="5242700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1" dirty="0">
                <a:solidFill>
                  <a:srgbClr val="000000"/>
                </a:solidFill>
                <a:latin typeface="Arial"/>
                <a:cs typeface="Arial"/>
              </a:rPr>
              <a:t>Стремимся выйти на бренд-бюджеты - развиваемся через внешнее ЮЛ Магнит Маркет</a:t>
            </a:r>
            <a:endParaRPr lang="ru-RU" sz="1200" dirty="0"/>
          </a:p>
        </p:txBody>
      </p:sp>
      <p:sp>
        <p:nvSpPr>
          <p:cNvPr id="28" name="ADS 1066">
            <a:extLst>
              <a:ext uri="{FF2B5EF4-FFF2-40B4-BE49-F238E27FC236}">
                <a16:creationId xmlns:a16="http://schemas.microsoft.com/office/drawing/2014/main" id="{74171890-49F2-B5FA-4D24-98EA08B26614}"/>
              </a:ext>
            </a:extLst>
          </p:cNvPr>
          <p:cNvSpPr/>
          <p:nvPr/>
        </p:nvSpPr>
        <p:spPr>
          <a:xfrm>
            <a:off x="6401000" y="2022008"/>
            <a:ext cx="524270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29" name="ADS 1067">
            <a:extLst>
              <a:ext uri="{FF2B5EF4-FFF2-40B4-BE49-F238E27FC236}">
                <a16:creationId xmlns:a16="http://schemas.microsoft.com/office/drawing/2014/main" id="{320B44EA-7054-564B-FB55-4BC5B99DCC99}"/>
              </a:ext>
            </a:extLst>
          </p:cNvPr>
          <p:cNvSpPr txBox="1"/>
          <p:nvPr/>
        </p:nvSpPr>
        <p:spPr>
          <a:xfrm>
            <a:off x="6401000" y="2147199"/>
            <a:ext cx="5242700" cy="2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7F7F7F"/>
                </a:solidFill>
                <a:latin typeface="Arial"/>
                <a:cs typeface="Arial"/>
              </a:rPr>
              <a:t>Как работаем с бюджетом</a:t>
            </a:r>
            <a:endParaRPr lang="ru-RU" sz="1200" dirty="0"/>
          </a:p>
        </p:txBody>
      </p:sp>
      <p:sp>
        <p:nvSpPr>
          <p:cNvPr id="30" name="ADS 1068">
            <a:extLst>
              <a:ext uri="{FF2B5EF4-FFF2-40B4-BE49-F238E27FC236}">
                <a16:creationId xmlns:a16="http://schemas.microsoft.com/office/drawing/2014/main" id="{6E938C0B-D0AA-EB41-D824-24D3D130E74E}"/>
              </a:ext>
            </a:extLst>
          </p:cNvPr>
          <p:cNvSpPr/>
          <p:nvPr/>
        </p:nvSpPr>
        <p:spPr>
          <a:xfrm>
            <a:off x="6401000" y="2501756"/>
            <a:ext cx="1547567" cy="8200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31" name="ADS 1069">
            <a:extLst>
              <a:ext uri="{FF2B5EF4-FFF2-40B4-BE49-F238E27FC236}">
                <a16:creationId xmlns:a16="http://schemas.microsoft.com/office/drawing/2014/main" id="{FC2F763A-96A8-AB62-AAE1-D71C86DFE373}"/>
              </a:ext>
            </a:extLst>
          </p:cNvPr>
          <p:cNvSpPr txBox="1"/>
          <p:nvPr/>
        </p:nvSpPr>
        <p:spPr>
          <a:xfrm>
            <a:off x="6471000" y="2551756"/>
            <a:ext cx="1407567" cy="7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Бренд-команда поставщика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595959"/>
                </a:solidFill>
                <a:latin typeface="Arial"/>
                <a:cs typeface="Arial"/>
              </a:rPr>
              <a:t>бюджет на охватную рекламу: ТВ, OOH, digital</a:t>
            </a:r>
            <a:endParaRPr lang="ru-RU" sz="1200" dirty="0"/>
          </a:p>
        </p:txBody>
      </p:sp>
      <p:sp>
        <p:nvSpPr>
          <p:cNvPr id="32" name="ADS 1070">
            <a:extLst>
              <a:ext uri="{FF2B5EF4-FFF2-40B4-BE49-F238E27FC236}">
                <a16:creationId xmlns:a16="http://schemas.microsoft.com/office/drawing/2014/main" id="{86CE7601-55CB-2AA8-3ACD-6D4D34FFF3B2}"/>
              </a:ext>
            </a:extLst>
          </p:cNvPr>
          <p:cNvSpPr/>
          <p:nvPr/>
        </p:nvSpPr>
        <p:spPr>
          <a:xfrm>
            <a:off x="7998567" y="2801756"/>
            <a:ext cx="200000" cy="220000"/>
          </a:xfrm>
          <a:prstGeom prst="rightArrow">
            <a:avLst/>
          </a:prstGeom>
          <a:solidFill>
            <a:srgbClr val="FF452C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33" name="ADS 1071">
            <a:extLst>
              <a:ext uri="{FF2B5EF4-FFF2-40B4-BE49-F238E27FC236}">
                <a16:creationId xmlns:a16="http://schemas.microsoft.com/office/drawing/2014/main" id="{7C4DCCDD-B76A-893D-A1EE-B818DA123690}"/>
              </a:ext>
            </a:extLst>
          </p:cNvPr>
          <p:cNvSpPr/>
          <p:nvPr/>
        </p:nvSpPr>
        <p:spPr>
          <a:xfrm>
            <a:off x="8248567" y="2501756"/>
            <a:ext cx="1547567" cy="8200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34" name="ADS 1072">
            <a:extLst>
              <a:ext uri="{FF2B5EF4-FFF2-40B4-BE49-F238E27FC236}">
                <a16:creationId xmlns:a16="http://schemas.microsoft.com/office/drawing/2014/main" id="{0CC4A8D1-37B6-DAB5-F1D2-E0C9CCD14469}"/>
              </a:ext>
            </a:extLst>
          </p:cNvPr>
          <p:cNvSpPr txBox="1"/>
          <p:nvPr/>
        </p:nvSpPr>
        <p:spPr>
          <a:xfrm>
            <a:off x="8318567" y="2551756"/>
            <a:ext cx="1407567" cy="7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Внешнее ЮЛ Магнит Маркета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595959"/>
                </a:solidFill>
                <a:latin typeface="Arial"/>
                <a:cs typeface="Arial"/>
              </a:rPr>
              <a:t>RMN в связке с Дикси и Азбукой Вкуса</a:t>
            </a:r>
            <a:endParaRPr lang="ru-RU" sz="1200" dirty="0"/>
          </a:p>
        </p:txBody>
      </p:sp>
      <p:sp>
        <p:nvSpPr>
          <p:cNvPr id="35" name="ADS 1073">
            <a:extLst>
              <a:ext uri="{FF2B5EF4-FFF2-40B4-BE49-F238E27FC236}">
                <a16:creationId xmlns:a16="http://schemas.microsoft.com/office/drawing/2014/main" id="{80853A94-6C0A-D93E-F031-C80373C393AF}"/>
              </a:ext>
            </a:extLst>
          </p:cNvPr>
          <p:cNvSpPr/>
          <p:nvPr/>
        </p:nvSpPr>
        <p:spPr>
          <a:xfrm>
            <a:off x="9846133" y="2801756"/>
            <a:ext cx="200000" cy="220000"/>
          </a:xfrm>
          <a:prstGeom prst="rightArrow">
            <a:avLst/>
          </a:prstGeom>
          <a:solidFill>
            <a:srgbClr val="FF452C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36" name="ADS 1074">
            <a:extLst>
              <a:ext uri="{FF2B5EF4-FFF2-40B4-BE49-F238E27FC236}">
                <a16:creationId xmlns:a16="http://schemas.microsoft.com/office/drawing/2014/main" id="{08D0A1F6-FAC9-404B-CEAE-36FB2FA5575B}"/>
              </a:ext>
            </a:extLst>
          </p:cNvPr>
          <p:cNvSpPr/>
          <p:nvPr/>
        </p:nvSpPr>
        <p:spPr>
          <a:xfrm>
            <a:off x="10096133" y="2501756"/>
            <a:ext cx="1547567" cy="820000"/>
          </a:xfrm>
          <a:prstGeom prst="roundRect">
            <a:avLst>
              <a:gd name="adj" fmla="val 10000"/>
            </a:avLst>
          </a:prstGeom>
          <a:solidFill>
            <a:srgbClr val="FFE9E5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37" name="ADS 1075">
            <a:extLst>
              <a:ext uri="{FF2B5EF4-FFF2-40B4-BE49-F238E27FC236}">
                <a16:creationId xmlns:a16="http://schemas.microsoft.com/office/drawing/2014/main" id="{38F46111-3199-7DB1-4E60-55A3BF096B22}"/>
              </a:ext>
            </a:extLst>
          </p:cNvPr>
          <p:cNvSpPr txBox="1"/>
          <p:nvPr/>
        </p:nvSpPr>
        <p:spPr>
          <a:xfrm>
            <a:off x="10166133" y="2551756"/>
            <a:ext cx="1407567" cy="7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FF452C"/>
                </a:solidFill>
                <a:latin typeface="Arial"/>
                <a:cs typeface="Arial"/>
              </a:rPr>
              <a:t>AdTech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000000"/>
                </a:solidFill>
                <a:latin typeface="Arial"/>
                <a:cs typeface="Arial"/>
              </a:rPr>
              <a:t>продает напрямую и через агентства</a:t>
            </a:r>
            <a:endParaRPr lang="ru-RU" sz="1200" dirty="0"/>
          </a:p>
        </p:txBody>
      </p:sp>
      <p:sp>
        <p:nvSpPr>
          <p:cNvPr id="100" name="Role add 100">
            <a:extLst>
              <a:ext uri="{FF2B5EF4-FFF2-40B4-BE49-F238E27FC236}">
                <a16:creationId xmlns:a16="http://schemas.microsoft.com/office/drawing/2014/main" id="{C39AB452-15EB-7441-E8E1-93D4B539C075}"/>
              </a:ext>
            </a:extLst>
          </p:cNvPr>
          <p:cNvSpPr/>
          <p:nvPr/>
        </p:nvSpPr>
        <p:spPr>
          <a:xfrm>
            <a:off x="546100" y="3619500"/>
            <a:ext cx="524510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1" name="Role add 101">
            <a:extLst>
              <a:ext uri="{FF2B5EF4-FFF2-40B4-BE49-F238E27FC236}">
                <a16:creationId xmlns:a16="http://schemas.microsoft.com/office/drawing/2014/main" id="{7460418B-5798-95B6-720F-57E1507AE22A}"/>
              </a:ext>
            </a:extLst>
          </p:cNvPr>
          <p:cNvSpPr txBox="1"/>
          <p:nvPr/>
        </p:nvSpPr>
        <p:spPr>
          <a:xfrm>
            <a:off x="546100" y="3746500"/>
            <a:ext cx="52451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7F7F7F"/>
                </a:solidFill>
                <a:latin typeface="Arial"/>
                <a:cs typeface="Arial"/>
              </a:rPr>
              <a:t>План 2027</a:t>
            </a:r>
            <a:endParaRPr lang="ru-RU" sz="1200" dirty="0"/>
          </a:p>
        </p:txBody>
      </p:sp>
      <p:sp>
        <p:nvSpPr>
          <p:cNvPr id="102" name="Role add 102">
            <a:extLst>
              <a:ext uri="{FF2B5EF4-FFF2-40B4-BE49-F238E27FC236}">
                <a16:creationId xmlns:a16="http://schemas.microsoft.com/office/drawing/2014/main" id="{3014A97D-D77A-F459-5950-3BEC72A4ECEA}"/>
              </a:ext>
            </a:extLst>
          </p:cNvPr>
          <p:cNvSpPr txBox="1"/>
          <p:nvPr/>
        </p:nvSpPr>
        <p:spPr>
          <a:xfrm>
            <a:off x="546100" y="4000500"/>
            <a:ext cx="52451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800" b="1" dirty="0">
                <a:solidFill>
                  <a:schemeClr val="tx1"/>
                </a:solidFill>
                <a:latin typeface="Arial"/>
                <a:cs typeface="Arial"/>
              </a:rPr>
              <a:t>13 541 млн руб.</a:t>
            </a:r>
            <a:endParaRPr lang="ru-RU" sz="1200" dirty="0"/>
          </a:p>
        </p:txBody>
      </p:sp>
      <p:sp>
        <p:nvSpPr>
          <p:cNvPr id="103" name="Role add 103">
            <a:extLst>
              <a:ext uri="{FF2B5EF4-FFF2-40B4-BE49-F238E27FC236}">
                <a16:creationId xmlns:a16="http://schemas.microsoft.com/office/drawing/2014/main" id="{987CF5DB-3F55-8C40-AACE-2E4CFC975476}"/>
              </a:ext>
            </a:extLst>
          </p:cNvPr>
          <p:cNvSpPr txBox="1"/>
          <p:nvPr/>
        </p:nvSpPr>
        <p:spPr>
          <a:xfrm>
            <a:off x="546100" y="4533900"/>
            <a:ext cx="52451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0" dirty="0">
                <a:solidFill>
                  <a:srgbClr val="000000"/>
                </a:solidFill>
                <a:latin typeface="Arial"/>
                <a:cs typeface="Arial"/>
              </a:rPr>
              <a:t>плановая выручка 2027 г. — 92% Gross Revenue</a:t>
            </a:r>
            <a:br>
              <a:rPr lang="ru-RU" sz="1200" b="1" dirty="0">
                <a:solidFill>
                  <a:srgbClr val="000000"/>
                </a:solidFill>
                <a:latin typeface="Arial"/>
                <a:cs typeface="Arial"/>
              </a:rPr>
            </a:br>
            <a:endParaRPr lang="ru-RU" sz="1200" dirty="0"/>
          </a:p>
        </p:txBody>
      </p:sp>
      <p:sp>
        <p:nvSpPr>
          <p:cNvPr id="104" name="Role add 104">
            <a:extLst>
              <a:ext uri="{FF2B5EF4-FFF2-40B4-BE49-F238E27FC236}">
                <a16:creationId xmlns:a16="http://schemas.microsoft.com/office/drawing/2014/main" id="{987CF5DB-3F55-8C40-AACE-2E4CFC975476}"/>
              </a:ext>
            </a:extLst>
          </p:cNvPr>
          <p:cNvSpPr txBox="1"/>
          <p:nvPr/>
        </p:nvSpPr>
        <p:spPr>
          <a:xfrm>
            <a:off x="546100" y="4927600"/>
            <a:ext cx="5245100" cy="1143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171450" indent="-171450" algn="l">
              <a:spcBef>
                <a:spcPts val="600"/>
              </a:spcBef>
              <a:spcAft>
                <a:spcPts val="0"/>
              </a:spcAft>
              <a:buClr>
                <a:srgbClr val="FF452C"/>
              </a:buClr>
              <a:buFont typeface="Arial"/>
              <a:buChar char="•"/>
            </a:pPr>
            <a:r>
              <a:rPr lang="ru-RU" sz="1200" b="0" dirty="0">
                <a:solidFill>
                  <a:srgbClr val="000000"/>
                </a:solidFill>
                <a:latin typeface="Arial"/>
                <a:cs typeface="Arial"/>
              </a:rPr>
              <a:t>APP: 7 696 млн руб. (медиа и перформанс)</a:t>
            </a:r>
            <a:endParaRPr lang="ru-RU" sz="1200" dirty="0"/>
          </a:p>
          <a:p>
            <a:pPr marL="171450" indent="-171450" algn="l">
              <a:spcBef>
                <a:spcPts val="600"/>
              </a:spcBef>
              <a:spcAft>
                <a:spcPts val="0"/>
              </a:spcAft>
              <a:buClr>
                <a:srgbClr val="FF452C"/>
              </a:buClr>
              <a:buFont typeface="Arial"/>
              <a:buChar char="•"/>
            </a:pPr>
            <a:r>
              <a:rPr lang="ru-RU" sz="1200" b="0" dirty="0">
                <a:solidFill>
                  <a:srgbClr val="000000"/>
                </a:solidFill>
                <a:latin typeface="Arial"/>
                <a:cs typeface="Arial"/>
              </a:rPr>
              <a:t>In-store digital: 4 058 млн руб.</a:t>
            </a:r>
            <a:endParaRPr lang="ru-RU" sz="1200" dirty="0"/>
          </a:p>
          <a:p>
            <a:pPr marL="171450" indent="-171450" algn="l">
              <a:spcBef>
                <a:spcPts val="600"/>
              </a:spcBef>
              <a:spcAft>
                <a:spcPts val="0"/>
              </a:spcAft>
              <a:buClr>
                <a:srgbClr val="FF452C"/>
              </a:buClr>
              <a:buFont typeface="Arial"/>
              <a:buChar char="•"/>
            </a:pPr>
            <a:r>
              <a:rPr lang="ru-RU" sz="1200" b="0" dirty="0">
                <a:solidFill>
                  <a:srgbClr val="000000"/>
                </a:solidFill>
                <a:latin typeface="Arial"/>
                <a:cs typeface="Arial"/>
              </a:rPr>
              <a:t>DMP + Online и Analytics: 1 787 млн руб.</a:t>
            </a:r>
            <a:endParaRPr lang="ru-RU" sz="1200" dirty="0"/>
          </a:p>
          <a:p>
            <a:pPr marL="171450" indent="-171450" algn="l">
              <a:spcBef>
                <a:spcPts val="600"/>
              </a:spcBef>
              <a:spcAft>
                <a:spcPts val="0"/>
              </a:spcAft>
              <a:buClr>
                <a:srgbClr val="FF452C"/>
              </a:buClr>
              <a:buFont typeface="Arial"/>
              <a:buChar char="•"/>
            </a:pPr>
            <a:r>
              <a:rPr lang="ru-RU" sz="1200" b="0" dirty="0">
                <a:solidFill>
                  <a:srgbClr val="000000"/>
                </a:solidFill>
                <a:latin typeface="Arial"/>
                <a:cs typeface="Arial"/>
              </a:rPr>
              <a:t>Рост к FC 2026 дают аудитория, новый прайс и парк in-store</a:t>
            </a:r>
            <a:endParaRPr lang="ru-RU" sz="1200" dirty="0"/>
          </a:p>
        </p:txBody>
      </p:sp>
      <p:sp>
        <p:nvSpPr>
          <p:cNvPr id="105" name="Role add 105">
            <a:extLst>
              <a:ext uri="{FF2B5EF4-FFF2-40B4-BE49-F238E27FC236}">
                <a16:creationId xmlns:a16="http://schemas.microsoft.com/office/drawing/2014/main" id="{74171890-49F2-B5FA-4D24-98EA08B26614}"/>
              </a:ext>
            </a:extLst>
          </p:cNvPr>
          <p:cNvSpPr/>
          <p:nvPr/>
        </p:nvSpPr>
        <p:spPr>
          <a:xfrm>
            <a:off x="6400800" y="3619500"/>
            <a:ext cx="524510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6" name="Role add 106">
            <a:extLst>
              <a:ext uri="{FF2B5EF4-FFF2-40B4-BE49-F238E27FC236}">
                <a16:creationId xmlns:a16="http://schemas.microsoft.com/office/drawing/2014/main" id="{320B44EA-7054-564B-FB55-4BC5B99DCC99}"/>
              </a:ext>
            </a:extLst>
          </p:cNvPr>
          <p:cNvSpPr txBox="1"/>
          <p:nvPr/>
        </p:nvSpPr>
        <p:spPr>
          <a:xfrm>
            <a:off x="6400800" y="3746500"/>
            <a:ext cx="52451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7F7F7F"/>
                </a:solidFill>
                <a:latin typeface="Arial"/>
                <a:cs typeface="Arial"/>
              </a:rPr>
              <a:t>План 2027</a:t>
            </a:r>
            <a:endParaRPr lang="ru-RU" sz="1200" dirty="0"/>
          </a:p>
        </p:txBody>
      </p:sp>
      <p:sp>
        <p:nvSpPr>
          <p:cNvPr id="107" name="Role add 107">
            <a:extLst>
              <a:ext uri="{FF2B5EF4-FFF2-40B4-BE49-F238E27FC236}">
                <a16:creationId xmlns:a16="http://schemas.microsoft.com/office/drawing/2014/main" id="{6E3E5825-927A-5360-D634-5FDC71D6419B}"/>
              </a:ext>
            </a:extLst>
          </p:cNvPr>
          <p:cNvSpPr txBox="1"/>
          <p:nvPr/>
        </p:nvSpPr>
        <p:spPr>
          <a:xfrm>
            <a:off x="6400800" y="4000500"/>
            <a:ext cx="52451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800" b="1" dirty="0">
                <a:solidFill>
                  <a:schemeClr val="tx1"/>
                </a:solidFill>
                <a:latin typeface="Arial"/>
                <a:cs typeface="Arial"/>
              </a:rPr>
              <a:t>1 206 млн руб.</a:t>
            </a:r>
            <a:endParaRPr lang="ru-RU" sz="1200" dirty="0"/>
          </a:p>
        </p:txBody>
      </p:sp>
      <p:sp>
        <p:nvSpPr>
          <p:cNvPr id="108" name="Role add 108">
            <a:extLst>
              <a:ext uri="{FF2B5EF4-FFF2-40B4-BE49-F238E27FC236}">
                <a16:creationId xmlns:a16="http://schemas.microsoft.com/office/drawing/2014/main" id="{F98A22A2-9BD7-9F4D-D527-75A6E040B101}"/>
              </a:ext>
            </a:extLst>
          </p:cNvPr>
          <p:cNvSpPr txBox="1"/>
          <p:nvPr/>
        </p:nvSpPr>
        <p:spPr>
          <a:xfrm>
            <a:off x="6400800" y="4533900"/>
            <a:ext cx="52451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0" dirty="0">
                <a:solidFill>
                  <a:srgbClr val="000000"/>
                </a:solidFill>
                <a:latin typeface="Arial"/>
                <a:cs typeface="Arial"/>
              </a:rPr>
              <a:t>плановая выручка 2027 г. — 8% Gross Revenue</a:t>
            </a:r>
            <a:endParaRPr lang="ru-RU" sz="1200" dirty="0"/>
          </a:p>
        </p:txBody>
      </p:sp>
      <p:sp>
        <p:nvSpPr>
          <p:cNvPr id="109" name="Role add 109">
            <a:extLst>
              <a:ext uri="{FF2B5EF4-FFF2-40B4-BE49-F238E27FC236}">
                <a16:creationId xmlns:a16="http://schemas.microsoft.com/office/drawing/2014/main" id="{F98A22A2-9BD7-9F4D-D527-75A6E040B101}"/>
              </a:ext>
            </a:extLst>
          </p:cNvPr>
          <p:cNvSpPr txBox="1"/>
          <p:nvPr/>
        </p:nvSpPr>
        <p:spPr>
          <a:xfrm>
            <a:off x="6400800" y="4927600"/>
            <a:ext cx="5245100" cy="1143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171450" indent="-171450" algn="l">
              <a:spcBef>
                <a:spcPts val="600"/>
              </a:spcBef>
              <a:spcAft>
                <a:spcPts val="0"/>
              </a:spcAft>
              <a:buClr>
                <a:srgbClr val="FF452C"/>
              </a:buClr>
              <a:buFont typeface="Arial"/>
              <a:buChar char="•"/>
            </a:pPr>
            <a:r>
              <a:rPr lang="ru-RU" sz="1200" b="0" dirty="0">
                <a:solidFill>
                  <a:srgbClr val="000000"/>
                </a:solidFill>
                <a:latin typeface="Arial"/>
                <a:cs typeface="Arial"/>
              </a:rPr>
              <a:t>RMN: 850 млн руб.</a:t>
            </a:r>
            <a:endParaRPr lang="ru-RU" sz="1200" dirty="0"/>
          </a:p>
          <a:p>
            <a:pPr marL="171450" indent="-171450" algn="l">
              <a:spcBef>
                <a:spcPts val="600"/>
              </a:spcBef>
              <a:spcAft>
                <a:spcPts val="0"/>
              </a:spcAft>
              <a:buClr>
                <a:srgbClr val="FF452C"/>
              </a:buClr>
              <a:buFont typeface="Arial"/>
              <a:buChar char="•"/>
            </a:pPr>
            <a:r>
              <a:rPr lang="ru-RU" sz="1200" b="0" dirty="0">
                <a:solidFill>
                  <a:srgbClr val="000000"/>
                </a:solidFill>
                <a:latin typeface="Arial"/>
                <a:cs typeface="Arial"/>
              </a:rPr>
              <a:t>UGC (Content factory): 356 млн руб.</a:t>
            </a:r>
            <a:endParaRPr lang="ru-RU" sz="1200" dirty="0"/>
          </a:p>
          <a:p>
            <a:pPr marL="171450" indent="-171450" algn="l">
              <a:spcBef>
                <a:spcPts val="600"/>
              </a:spcBef>
              <a:spcAft>
                <a:spcPts val="0"/>
              </a:spcAft>
              <a:buClr>
                <a:srgbClr val="FF452C"/>
              </a:buClr>
              <a:buFont typeface="Arial"/>
              <a:buChar char="•"/>
            </a:pPr>
            <a:r>
              <a:rPr lang="ru-RU" sz="1200" b="0" dirty="0">
                <a:solidFill>
                  <a:srgbClr val="000000"/>
                </a:solidFill>
                <a:latin typeface="Arial"/>
                <a:cs typeface="Arial"/>
              </a:rPr>
              <a:t>Каналы: внешнее ЮЛ, прямые продажи и агентства</a:t>
            </a:r>
            <a:endParaRPr lang="ru-RU" sz="1200" dirty="0"/>
          </a:p>
        </p:txBody>
      </p:sp>
    </p:spTree>
    <p:extLst>
      <p:ext uri="{BB962C8B-B14F-4D97-AF65-F5344CB8AC3E}">
        <p14:creationId xmlns:p14="http://schemas.microsoft.com/office/powerpoint/2010/main" val="6844639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92DAC0F-A039-A254-0652-BA59CF6C7EF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ru-RU" sz="900" dirty="0">
                <a:solidFill>
                  <a:srgbClr val="6E6E6E"/>
                </a:solidFill>
              </a:rPr>
              <a:t>1. Объем бюджетов — внутреннее исследование Magnit ADS: около 200 млрд руб. среднегодовой маркетинговый бюджет FMCG-компаний. </a:t>
            </a:r>
          </a:p>
          <a:p>
            <a:r>
              <a:rPr lang="ru-RU" sz="900" dirty="0">
                <a:solidFill>
                  <a:srgbClr val="6E6E6E"/>
                </a:solidFill>
              </a:rPr>
              <a:t>План 2027 — BU 2027, млн руб. без НДС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E9BE670-CA70-08AE-0F3A-5E118D01205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14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24A033E-567B-C7C9-F6E1-C6AC1813096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Два типа бюджетов поставщика: трейд через Коммерцию форматов, бренд через внешнее ЮЛ AdTech</a:t>
            </a:r>
          </a:p>
        </p:txBody>
      </p:sp>
      <p:sp>
        <p:nvSpPr>
          <p:cNvPr id="300" name="Shape 300"/>
          <p:cNvSpPr txBox="1"/>
          <p:nvPr/>
        </p:nvSpPr>
        <p:spPr>
          <a:xfrm>
            <a:off x="368300" y="1016000"/>
            <a:ext cx="11457432" cy="3048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Как Magnit ADS работает с трейд- и бренд-бюджетами</a:t>
            </a:r>
          </a:p>
        </p:txBody>
      </p:sp>
      <p:graphicFrame>
        <p:nvGraphicFramePr>
          <p:cNvPr id="301" name="Table 30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64261515"/>
              </p:ext>
            </p:extLst>
          </p:nvPr>
        </p:nvGraphicFramePr>
        <p:xfrm>
          <a:off x="368300" y="1396999"/>
          <a:ext cx="11457432" cy="4445001"/>
        </p:xfrm>
        <a:graphic>
          <a:graphicData uri="http://schemas.openxmlformats.org/drawingml/2006/table">
            <a:tbl>
              <a:tblPr firstRow="1"/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908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9631">
                <a:tc>
                  <a:txBody>
                    <a:bodyPr/>
                    <a:lstStyle/>
                    <a:p>
                      <a:pPr algn="l"/>
                      <a:r>
                        <a:rPr lang="ru-RU" sz="1200" b="1" dirty="0">
                          <a:solidFill>
                            <a:schemeClr val="tx2"/>
                          </a:solidFill>
                          <a:latin typeface="Arial"/>
                        </a:rPr>
                        <a:t>Параметр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200" b="1" dirty="0">
                          <a:solidFill>
                            <a:schemeClr val="tx2"/>
                          </a:solidFill>
                          <a:latin typeface="Arial"/>
                        </a:rPr>
                        <a:t>Трейд-бюджеты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200" b="1" dirty="0">
                          <a:solidFill>
                            <a:schemeClr val="tx2"/>
                          </a:solidFill>
                          <a:latin typeface="Arial"/>
                        </a:rPr>
                        <a:t>Бренд-бюджеты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5895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Описание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Инвестиции поставщика в продвижение в сети в рамках коммерческих условий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Бюджеты бренд-маркетинга поставщика на охватную рекламу: </a:t>
                      </a:r>
                      <a:br>
                        <a:rPr lang="en-US" sz="1100" dirty="0">
                          <a:solidFill>
                            <a:srgbClr val="000000"/>
                          </a:solidFill>
                          <a:latin typeface="Arial"/>
                        </a:rPr>
                      </a:b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ТВ, OOH, digital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5895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Объем у FMCG-компаний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120-140 млрд руб. в год</a:t>
                      </a:r>
                      <a:r>
                        <a:rPr lang="ru-RU" sz="1100" baseline="30000" dirty="0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60-80 млрд руб. в год</a:t>
                      </a:r>
                      <a:r>
                        <a:rPr lang="ru-RU" sz="1100" baseline="30000" dirty="0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5895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Кто продает со стороны Магнит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Коммерция форматов в переговорах с поставщиком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AdTech самостоятельно или через рекламные агентства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5895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Роль AdTech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Создает новый и инновационный инвентарь, ведет кампании и отчетность; Коммерция наращивает на нем рекламную выручку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Выходит на бренд-команды поставщиков и получает бюджеты через внешнее ЮЛ Магнит Маркета (Retail Media Network в связке с Дикси </a:t>
                      </a:r>
                      <a:b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</a:b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и Азбука Вкуса)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55895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Инвентарь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APP (медиа и перформанс), in-store digital, DMP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Охваты RMN: digital и in-store, контакт в момент выбора товара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55895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План 2027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Планируемая рекламная выручка 13 541 млн руб. </a:t>
                      </a:r>
                      <a:b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</a:b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(APP 7 696; in-store 4 058; DMP+Online+Analytics 1 787)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Планируемая рекламная выручка 1 206 млн руб.</a:t>
                      </a:r>
                    </a:p>
                    <a:p>
                      <a:pPr marL="0" marR="0" lvl="0" indent="0" algn="l" defTabSz="91435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100" dirty="0">
                          <a:solidFill>
                            <a:srgbClr val="000000"/>
                          </a:solidFill>
                          <a:latin typeface="+mn-lt"/>
                        </a:rPr>
                        <a:t>(RMN - 850; UGC - 356)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6625222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85DF8EBA-9590-4C81-9F69-5D123BF9617A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95" imgH="394" progId="TCLayout.ActiveDocument.1">
                  <p:embed/>
                </p:oleObj>
              </mc:Choice>
              <mc:Fallback>
                <p:oleObj name="think-cell Slide" r:id="rId4" imgW="395" imgH="394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85DF8EBA-9590-4C81-9F69-5D123BF9617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Текст 1">
            <a:extLst>
              <a:ext uri="{FF2B5EF4-FFF2-40B4-BE49-F238E27FC236}">
                <a16:creationId xmlns:a16="http://schemas.microsoft.com/office/drawing/2014/main" id="{E7D62E96-F664-40DC-868E-D0B2F0A46B2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ru-RU" dirty="0"/>
              <a:t>Октябрь 2026</a:t>
            </a:r>
          </a:p>
        </p:txBody>
      </p:sp>
      <p:sp>
        <p:nvSpPr>
          <p:cNvPr id="6" name="Текст 2">
            <a:extLst>
              <a:ext uri="{FF2B5EF4-FFF2-40B4-BE49-F238E27FC236}">
                <a16:creationId xmlns:a16="http://schemas.microsoft.com/office/drawing/2014/main" id="{6060A129-27E9-4599-B4E5-C57388EC22F3}"/>
              </a:ext>
            </a:extLst>
          </p:cNvPr>
          <p:cNvSpPr txBox="1">
            <a:spLocks/>
          </p:cNvSpPr>
          <p:nvPr/>
        </p:nvSpPr>
        <p:spPr>
          <a:xfrm>
            <a:off x="550863" y="512763"/>
            <a:ext cx="11098211" cy="2743055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000" b="1" i="0" kern="1200" baseline="0">
                <a:solidFill>
                  <a:schemeClr val="bg1"/>
                </a:solidFill>
                <a:latin typeface="+mj-lt"/>
                <a:ea typeface="+mn-ea"/>
                <a:cs typeface="Arial" panose="020B0604020202020204" pitchFamily="34" charset="0"/>
              </a:defRPr>
            </a:lvl1pPr>
            <a:lvl2pPr marL="457178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54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32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09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90000"/>
              </a:lnSpc>
              <a:buNone/>
            </a:pPr>
            <a:r>
              <a:rPr lang="ru-RU" sz="5000" b="1" dirty="0">
                <a:solidFill>
                  <a:srgbClr val="FF452C"/>
                </a:solidFill>
                <a:latin typeface="Arial"/>
              </a:rPr>
              <a:t>02</a:t>
            </a:r>
          </a:p>
          <a:p>
            <a:pPr>
              <a:lnSpc>
                <a:spcPct val="90000"/>
              </a:lnSpc>
              <a:buNone/>
            </a:pPr>
            <a:r>
              <a:rPr lang="ru-RU" sz="5000" b="1" dirty="0">
                <a:solidFill>
                  <a:srgbClr val="FFFFFF"/>
                </a:solidFill>
                <a:latin typeface="Arial"/>
              </a:rPr>
              <a:t>Бюджет 2027</a:t>
            </a:r>
          </a:p>
        </p:txBody>
      </p:sp>
      <p:sp>
        <p:nvSpPr>
          <p:cNvPr id="7" name="Текст 7">
            <a:extLst>
              <a:ext uri="{FF2B5EF4-FFF2-40B4-BE49-F238E27FC236}">
                <a16:creationId xmlns:a16="http://schemas.microsoft.com/office/drawing/2014/main" id="{BC4C214E-1A99-490C-A3B5-9407F8AE158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50864" y="3550877"/>
            <a:ext cx="5484812" cy="1260893"/>
          </a:xfrm>
        </p:spPr>
        <p:txBody>
          <a:bodyPr/>
          <a:lstStyle/>
          <a:p>
            <a:r>
              <a:rPr lang="ru-RU" dirty="0"/>
              <a:t>P&amp;L, ключевые допущения, сверка со стратегией и планы направлений</a:t>
            </a:r>
          </a:p>
        </p:txBody>
      </p:sp>
    </p:spTree>
    <p:extLst>
      <p:ext uri="{BB962C8B-B14F-4D97-AF65-F5344CB8AC3E}">
        <p14:creationId xmlns:p14="http://schemas.microsoft.com/office/powerpoint/2010/main" val="362302355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46212E8-2DA6-6B7B-76AC-1E529EE3E46D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ru-RU" sz="900" dirty="0">
                <a:solidFill>
                  <a:srgbClr val="6E6E6E"/>
                </a:solidFill>
              </a:rPr>
              <a:t>млн руб. без НДС. FC 2026 — факт 8 мес. + прогноз 4 </a:t>
            </a:r>
            <a:r>
              <a:rPr lang="ru-RU" sz="900" dirty="0" err="1">
                <a:solidFill>
                  <a:srgbClr val="6E6E6E"/>
                </a:solidFill>
              </a:rPr>
              <a:t>мес. Н/д — в стратегии нет разбивки Marketing на COGS и прочий</a:t>
            </a:r>
            <a:endParaRPr lang="ru-RU" sz="900" dirty="0">
              <a:solidFill>
                <a:srgbClr val="6E6E6E"/>
              </a:solidFill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A998D84-AF56-10C7-0944-36EF753D0F0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16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CB8F879-99E1-3AE9-5D03-781690F4C0D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P&amp;L 2027: выручка 14,7 млрд руб. (+43%), EBITDA 11,0 млрд руб. (+35%)</a:t>
            </a:r>
          </a:p>
        </p:txBody>
      </p:sp>
      <p:graphicFrame>
        <p:nvGraphicFramePr>
          <p:cNvPr id="200" name="Table 200"/>
          <p:cNvGraphicFramePr>
            <a:graphicFrameLocks noGrp="1"/>
          </p:cNvGraphicFramePr>
          <p:nvPr/>
        </p:nvGraphicFramePr>
        <p:xfrm>
          <a:off x="368300" y="1041400"/>
          <a:ext cx="6832600" cy="4800600"/>
        </p:xfrm>
        <a:graphic>
          <a:graphicData uri="http://schemas.openxmlformats.org/drawingml/2006/table">
            <a:tbl>
              <a:tblPr firstRow="1"/>
              <a:tblGrid>
                <a:gridCol w="1905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87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87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87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60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906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P&amp;L, млн руб.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FC 2026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BU 2027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YoY, абс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YoY, 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Стратегия 2027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BU vs стр., абс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APP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6 195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7 696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1 501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24%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7 251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445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In-store digital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2 446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4 058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1 612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66%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4 509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(451)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DMP + Online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987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1 600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613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62%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1 063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537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RMN (бренд-бюджеты)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593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850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258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43%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850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Content factory, внешн.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213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213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213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Content factory, ВГО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142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131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&gt;100%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262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(120)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DMP + Analytics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83%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Gross Revenue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10 335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14 747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4 412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43%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13 210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1 537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COGS (маркетинг)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(881)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(2 009)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(1 129)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&gt;100%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н/д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н/д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Net Revenue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9 454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12 738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3 283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35%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н/д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н/д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PEX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(1 120)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(1 436)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(316)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28%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(1 479)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Other PEX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(33)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(40)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(8)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23%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(26)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(14)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Marketing (прочий)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(55)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(101)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(45)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82%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н/д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н/д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IT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(59)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(92)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(34)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57%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(62)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(30)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Other OPEX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(92)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(102)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(10)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11%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(98)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(4)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OPEX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(1 358)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(1 772)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(414)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30%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н/д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н/д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EBITDA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8 096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10 966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2 870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35%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10 215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750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ru-RU" sz="1100" i="1" dirty="0">
                          <a:solidFill>
                            <a:srgbClr val="595959"/>
                          </a:solidFill>
                          <a:latin typeface="Arial"/>
                        </a:rPr>
                        <a:t>EBITDA margin, 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595959"/>
                          </a:solidFill>
                          <a:latin typeface="Arial"/>
                        </a:rPr>
                        <a:t>78%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595959"/>
                          </a:solidFill>
                          <a:latin typeface="Arial"/>
                        </a:rPr>
                        <a:t>74%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595959"/>
                          </a:solidFill>
                          <a:latin typeface="Arial"/>
                        </a:rPr>
                        <a:t>−4 п.п.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/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595959"/>
                          </a:solidFill>
                          <a:latin typeface="Arial"/>
                        </a:rPr>
                        <a:t>77%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595959"/>
                          </a:solidFill>
                          <a:latin typeface="Arial"/>
                        </a:rPr>
                        <a:t>−3 п.п.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CAPEX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(1 180)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(1 151)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−2%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(1 242)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FCF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6 917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9 815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2 898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42%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8 973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842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</a:tr>
            </a:tbl>
          </a:graphicData>
        </a:graphic>
      </p:graphicFrame>
      <p:sp>
        <p:nvSpPr>
          <p:cNvPr id="201" name="Shape 201"/>
          <p:cNvSpPr txBox="1"/>
          <p:nvPr/>
        </p:nvSpPr>
        <p:spPr>
          <a:xfrm>
            <a:off x="7620000" y="1041400"/>
            <a:ext cx="4203700" cy="50165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Ключевые предпосылки</a:t>
            </a:r>
          </a:p>
          <a:p>
            <a:pPr marL="171450" indent="-171450" algn="l">
              <a:spcBef>
                <a:spcPts val="7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Аудитория: </a:t>
            </a:r>
            <a:r>
              <a:rPr lang="ru-RU" sz="1200" dirty="0">
                <a:solidFill>
                  <a:srgbClr val="000000"/>
                </a:solidFill>
              </a:rPr>
              <a:t>DAC 29,3 млн в месяц (+18%) по прогнозу М+</a:t>
            </a:r>
          </a:p>
          <a:p>
            <a:pPr marL="171450" indent="-171450" algn="l">
              <a:spcBef>
                <a:spcPts val="7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Прайс APP: </a:t>
            </a:r>
            <a:r>
              <a:rPr lang="ru-RU" sz="1200" dirty="0">
                <a:solidFill>
                  <a:srgbClr val="000000"/>
                </a:solidFill>
              </a:rPr>
              <a:t>новый прайс с 09.2026 действует весь 2027 г.</a:t>
            </a:r>
          </a:p>
          <a:p>
            <a:pPr marL="171450" indent="-171450" algn="l">
              <a:spcBef>
                <a:spcPts val="7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In-store: </a:t>
            </a:r>
            <a:r>
              <a:rPr lang="ru-RU" sz="1200" dirty="0">
                <a:solidFill>
                  <a:srgbClr val="000000"/>
                </a:solidFill>
              </a:rPr>
              <a:t>парк 81,4 тыс. устройств</a:t>
            </a:r>
          </a:p>
          <a:p>
            <a:pPr marL="171450" indent="-171450" algn="l">
              <a:spcBef>
                <a:spcPts val="7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DMP + Online: </a:t>
            </a:r>
            <a:r>
              <a:rPr lang="ru-RU" sz="1200" dirty="0">
                <a:solidFill>
                  <a:srgbClr val="000000"/>
                </a:solidFill>
              </a:rPr>
              <a:t>маржинальность 37,5%, закупка трафика 1 000 млн руб. в строке COGS</a:t>
            </a:r>
          </a:p>
          <a:p>
            <a:pPr marL="171450" indent="-171450" algn="l">
              <a:spcBef>
                <a:spcPts val="7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COGS: </a:t>
            </a:r>
            <a:r>
              <a:rPr lang="ru-RU" sz="1200" dirty="0">
                <a:solidFill>
                  <a:srgbClr val="000000"/>
                </a:solidFill>
              </a:rPr>
              <a:t>2 009 млн руб. — маркетинг, связанный с выручкой: закупка трафика DMP 1 000, вознаграждения агентствам 795 (30% от 2,65 млрд руб. выручки через агентства), креаторы CF 214. Net Revenue — 86% Gross Revenue (91% в FC 2026)</a:t>
            </a:r>
          </a:p>
          <a:p>
            <a:pPr marL="171450" indent="-171450" algn="l">
              <a:spcBef>
                <a:spcPts val="7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RMN и Content factory: </a:t>
            </a:r>
            <a:r>
              <a:rPr lang="ru-RU" sz="1200" dirty="0">
                <a:solidFill>
                  <a:srgbClr val="000000"/>
                </a:solidFill>
              </a:rPr>
              <a:t>расширение направлений, создание полноценной </a:t>
            </a:r>
            <a:r>
              <a:rPr lang="ru-RU" sz="1200" dirty="0" err="1">
                <a:solidFill>
                  <a:srgbClr val="000000"/>
                </a:solidFill>
              </a:rPr>
              <a:t>блогерской</a:t>
            </a:r>
            <a:r>
              <a:rPr lang="ru-RU" sz="1200" dirty="0">
                <a:solidFill>
                  <a:srgbClr val="000000"/>
                </a:solidFill>
              </a:rPr>
              <a:t> платформы </a:t>
            </a:r>
          </a:p>
          <a:p>
            <a:pPr marL="171450" indent="-171450" algn="l">
              <a:spcBef>
                <a:spcPts val="7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PEX: </a:t>
            </a:r>
            <a:r>
              <a:rPr lang="ru-RU" sz="1200" dirty="0">
                <a:solidFill>
                  <a:srgbClr val="000000"/>
                </a:solidFill>
              </a:rPr>
              <a:t>1 436 млн руб. = ФОТ AdTech 1 370 + команда Content factory 66; 354 FTE на конец 2027 г. (312 на конец 2026 г.), в 2027 г. штат работает полный год (full year run-rate); 27% ФОТ (510 млн руб.) капитализируется</a:t>
            </a:r>
          </a:p>
        </p:txBody>
      </p:sp>
    </p:spTree>
    <p:extLst>
      <p:ext uri="{BB962C8B-B14F-4D97-AF65-F5344CB8AC3E}">
        <p14:creationId xmlns:p14="http://schemas.microsoft.com/office/powerpoint/2010/main" val="15362483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1B195EE-AB28-7BF5-C59F-08686C969E2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ru-RU" sz="900" dirty="0">
                <a:solidFill>
                  <a:srgbClr val="6E6E6E"/>
                </a:solidFill>
              </a:rPr>
              <a:t>млн руб. без НДС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D2BA190-0DA4-8110-CB82-CAC8AD064E0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17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FEE4971-9518-1AE3-CEF7-A78B6EB4762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42% выручки 2027 приходится на Q4: сезонность цен и рост аудитории к концу года</a:t>
            </a:r>
          </a:p>
        </p:txBody>
      </p:sp>
      <p:graphicFrame>
        <p:nvGraphicFramePr>
          <p:cNvPr id="5" name="Chart"/>
          <p:cNvGraphicFramePr/>
          <p:nvPr/>
        </p:nvGraphicFramePr>
        <p:xfrm>
          <a:off x="368300" y="1308100"/>
          <a:ext cx="7747000" cy="482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300" name="Shape 300"/>
          <p:cNvSpPr txBox="1"/>
          <p:nvPr/>
        </p:nvSpPr>
        <p:spPr>
          <a:xfrm>
            <a:off x="368300" y="1016000"/>
            <a:ext cx="7620000" cy="304800"/>
          </a:xfrm>
          <a:prstGeom prst="rect">
            <a:avLst/>
          </a:prstGeom>
          <a:noFill/>
        </p:spPr>
        <p:txBody>
          <a:bodyPr wrap="square" lIns="9144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Gross Revenue по месяцам 2027, млн руб.</a:t>
            </a:r>
          </a:p>
        </p:txBody>
      </p:sp>
      <p:sp>
        <p:nvSpPr>
          <p:cNvPr id="301" name="Shape 301"/>
          <p:cNvSpPr txBox="1"/>
          <p:nvPr/>
        </p:nvSpPr>
        <p:spPr>
          <a:xfrm>
            <a:off x="8255000" y="1016000"/>
            <a:ext cx="3568700" cy="508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Комментарии</a:t>
            </a:r>
          </a:p>
          <a:p>
            <a:pPr marL="0" indent="0" algn="l">
              <a:spcBef>
                <a:spcPts val="90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Выручка по кварталам</a:t>
            </a:r>
          </a:p>
          <a:p>
            <a:pPr marL="171450" indent="-171450" algn="l">
              <a:spcBef>
                <a:spcPts val="300"/>
              </a:spcBef>
              <a:buFont typeface="Arial"/>
              <a:buChar char="•"/>
            </a:pPr>
            <a:r>
              <a:rPr lang="ru-RU" sz="1200" dirty="0">
                <a:solidFill>
                  <a:srgbClr val="000000"/>
                </a:solidFill>
              </a:rPr>
              <a:t>Q1: </a:t>
            </a:r>
            <a:r>
              <a:rPr lang="ru-RU" sz="1200" b="1" dirty="0">
                <a:solidFill>
                  <a:srgbClr val="000000"/>
                </a:solidFill>
              </a:rPr>
              <a:t>2 065</a:t>
            </a:r>
            <a:r>
              <a:rPr lang="ru-RU" sz="1200" dirty="0">
                <a:solidFill>
                  <a:srgbClr val="000000"/>
                </a:solidFill>
              </a:rPr>
              <a:t> (14%)</a:t>
            </a:r>
          </a:p>
          <a:p>
            <a:pPr marL="171450" indent="-171450" algn="l">
              <a:spcBef>
                <a:spcPts val="300"/>
              </a:spcBef>
              <a:buFont typeface="Arial"/>
              <a:buChar char="•"/>
            </a:pPr>
            <a:r>
              <a:rPr lang="ru-RU" sz="1200" dirty="0">
                <a:solidFill>
                  <a:srgbClr val="000000"/>
                </a:solidFill>
              </a:rPr>
              <a:t>Q2: </a:t>
            </a:r>
            <a:r>
              <a:rPr lang="ru-RU" sz="1200" b="1" dirty="0">
                <a:solidFill>
                  <a:srgbClr val="000000"/>
                </a:solidFill>
              </a:rPr>
              <a:t>3 097</a:t>
            </a:r>
            <a:r>
              <a:rPr lang="ru-RU" sz="1200" dirty="0">
                <a:solidFill>
                  <a:srgbClr val="000000"/>
                </a:solidFill>
              </a:rPr>
              <a:t> (21%)</a:t>
            </a:r>
          </a:p>
          <a:p>
            <a:pPr marL="171450" indent="-171450" algn="l">
              <a:spcBef>
                <a:spcPts val="300"/>
              </a:spcBef>
              <a:buFont typeface="Arial"/>
              <a:buChar char="•"/>
            </a:pPr>
            <a:r>
              <a:rPr lang="ru-RU" sz="1200" dirty="0">
                <a:solidFill>
                  <a:srgbClr val="000000"/>
                </a:solidFill>
              </a:rPr>
              <a:t>Q3: </a:t>
            </a:r>
            <a:r>
              <a:rPr lang="ru-RU" sz="1200" b="1" dirty="0">
                <a:solidFill>
                  <a:srgbClr val="000000"/>
                </a:solidFill>
              </a:rPr>
              <a:t>3 392</a:t>
            </a:r>
            <a:r>
              <a:rPr lang="ru-RU" sz="1200" dirty="0">
                <a:solidFill>
                  <a:srgbClr val="000000"/>
                </a:solidFill>
              </a:rPr>
              <a:t> (23%)</a:t>
            </a:r>
          </a:p>
          <a:p>
            <a:pPr marL="171450" indent="-171450" algn="l">
              <a:spcBef>
                <a:spcPts val="300"/>
              </a:spcBef>
              <a:buFont typeface="Arial"/>
              <a:buChar char="•"/>
            </a:pPr>
            <a:r>
              <a:rPr lang="ru-RU" sz="1200" dirty="0">
                <a:solidFill>
                  <a:srgbClr val="000000"/>
                </a:solidFill>
              </a:rPr>
              <a:t>Q4: </a:t>
            </a:r>
            <a:r>
              <a:rPr lang="ru-RU" sz="1200" b="1" dirty="0"/>
              <a:t>6 194</a:t>
            </a:r>
            <a:r>
              <a:rPr lang="ru-RU" sz="1200" dirty="0"/>
              <a:t> </a:t>
            </a:r>
            <a:r>
              <a:rPr lang="ru-RU" sz="1200" dirty="0">
                <a:solidFill>
                  <a:srgbClr val="000000"/>
                </a:solidFill>
              </a:rPr>
              <a:t>(42%)</a:t>
            </a:r>
          </a:p>
          <a:p>
            <a:pPr marL="0" indent="0" algn="l">
              <a:spcBef>
                <a:spcPts val="90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Профиль</a:t>
            </a:r>
          </a:p>
          <a:p>
            <a:pPr marL="171450" indent="-171450" algn="l">
              <a:spcBef>
                <a:spcPts val="300"/>
              </a:spcBef>
              <a:buFont typeface="Arial"/>
              <a:buChar char="•"/>
            </a:pPr>
            <a:r>
              <a:rPr lang="ru-RU" sz="1200" dirty="0">
                <a:solidFill>
                  <a:srgbClr val="000000"/>
                </a:solidFill>
              </a:rPr>
              <a:t>Январь — 2% годового плана</a:t>
            </a:r>
          </a:p>
          <a:p>
            <a:pPr marL="171450" indent="-171450" algn="l">
              <a:spcBef>
                <a:spcPts val="300"/>
              </a:spcBef>
              <a:buFont typeface="Arial"/>
              <a:buChar char="•"/>
            </a:pPr>
            <a:r>
              <a:rPr lang="ru-RU" sz="1200" dirty="0">
                <a:solidFill>
                  <a:srgbClr val="000000"/>
                </a:solidFill>
              </a:rPr>
              <a:t>Декабрь — 17% годового плана</a:t>
            </a:r>
          </a:p>
          <a:p>
            <a:pPr marL="171450" indent="-171450" algn="l">
              <a:spcBef>
                <a:spcPts val="300"/>
              </a:spcBef>
              <a:buFont typeface="Arial"/>
              <a:buChar char="•"/>
            </a:pPr>
            <a:r>
              <a:rPr lang="ru-RU" sz="1200" dirty="0">
                <a:solidFill>
                  <a:srgbClr val="000000"/>
                </a:solidFill>
              </a:rPr>
              <a:t>Маржа EBITDA растёт с 25% в январе до 83% в декабре: PEX равномерный</a:t>
            </a:r>
          </a:p>
        </p:txBody>
      </p:sp>
    </p:spTree>
    <p:extLst>
      <p:ext uri="{BB962C8B-B14F-4D97-AF65-F5344CB8AC3E}">
        <p14:creationId xmlns:p14="http://schemas.microsoft.com/office/powerpoint/2010/main" val="396799463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A4AF7E3-8FC3-07B1-051D-8A6A96430C6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ru-RU" sz="900" dirty="0">
                <a:solidFill>
                  <a:srgbClr val="6E6E6E"/>
                </a:solidFill>
              </a:rPr>
              <a:t>млн руб. без НДС. Стратегия 2027 — целевые значения стратегии AdTech (лист Summary, Bridge to strategy)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6BDF6F5-4FFD-62B6-A50A-324A6873960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18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2F1EDC9-92BA-2F91-2FFB-E391FF536F0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Бюджет выше стратегии: выручка +1 537 млн руб. (+12%), EBITDA +750 млн руб. (+7%)</a:t>
            </a:r>
          </a:p>
        </p:txBody>
      </p:sp>
      <p:graphicFrame>
        <p:nvGraphicFramePr>
          <p:cNvPr id="5" name="Chart"/>
          <p:cNvGraphicFramePr/>
          <p:nvPr/>
        </p:nvGraphicFramePr>
        <p:xfrm>
          <a:off x="368300" y="1333500"/>
          <a:ext cx="7112000" cy="4800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300" name="Shape 300"/>
          <p:cNvSpPr txBox="1"/>
          <p:nvPr/>
        </p:nvSpPr>
        <p:spPr>
          <a:xfrm>
            <a:off x="368300" y="1016000"/>
            <a:ext cx="7112000" cy="304800"/>
          </a:xfrm>
          <a:prstGeom prst="rect">
            <a:avLst/>
          </a:prstGeom>
          <a:noFill/>
        </p:spPr>
        <p:txBody>
          <a:bodyPr wrap="square" lIns="91440" tIns="0" rIns="0" bIns="0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Gross Revenue: стратегия 2027 → BU 2027, млн руб.</a:t>
            </a:r>
          </a:p>
        </p:txBody>
      </p:sp>
      <p:sp>
        <p:nvSpPr>
          <p:cNvPr id="301" name="Shape 301"/>
          <p:cNvSpPr txBox="1"/>
          <p:nvPr/>
        </p:nvSpPr>
        <p:spPr>
          <a:xfrm>
            <a:off x="7696200" y="1016000"/>
            <a:ext cx="4127500" cy="3048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Сверка ключевых строк</a:t>
            </a:r>
          </a:p>
        </p:txBody>
      </p:sp>
      <p:graphicFrame>
        <p:nvGraphicFramePr>
          <p:cNvPr id="302" name="Table 302"/>
          <p:cNvGraphicFramePr>
            <a:graphicFrameLocks noGrp="1"/>
          </p:cNvGraphicFramePr>
          <p:nvPr/>
        </p:nvGraphicFramePr>
        <p:xfrm>
          <a:off x="7696200" y="1397000"/>
          <a:ext cx="4127500" cy="1600200"/>
        </p:xfrm>
        <a:graphic>
          <a:graphicData uri="http://schemas.openxmlformats.org/drawingml/2006/table">
            <a:tbl>
              <a:tblPr firstRow="1"/>
              <a:tblGrid>
                <a:gridCol w="127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52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525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525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млн руб.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Стратегия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BU 2027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Δ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Gross Revenue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13 210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14 747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+1 537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OPEX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(2 995)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(3 781)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(787)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EBITDA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10 215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10 966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+750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CAPEX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(1 242)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(1 151)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+92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FCF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8 973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9 815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+842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03" name="Shape 303"/>
          <p:cNvSpPr txBox="1"/>
          <p:nvPr/>
        </p:nvSpPr>
        <p:spPr>
          <a:xfrm>
            <a:off x="7696200" y="3175000"/>
            <a:ext cx="4127500" cy="29210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171450" indent="-171450" algn="l">
              <a:spcBef>
                <a:spcPts val="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RMN </a:t>
            </a:r>
            <a:r>
              <a:rPr lang="ru-RU" sz="1200" dirty="0">
                <a:solidFill>
                  <a:srgbClr val="000000"/>
                </a:solidFill>
              </a:rPr>
              <a:t>не закладывался в стратегию: бренд-бюджеты поставщиков через отдельное ЮЛ</a:t>
            </a:r>
          </a:p>
          <a:p>
            <a:pPr marL="171450" indent="-171450" algn="l">
              <a:spcBef>
                <a:spcPts val="5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DMP + Online: </a:t>
            </a:r>
            <a:r>
              <a:rPr lang="ru-RU" sz="1200" dirty="0">
                <a:solidFill>
                  <a:srgbClr val="000000"/>
                </a:solidFill>
              </a:rPr>
              <a:t>новые площадки (SmartTV, Авито, маркетплейсы) дают 420 млн руб.</a:t>
            </a:r>
          </a:p>
          <a:p>
            <a:pPr marL="171450" indent="-171450" algn="l">
              <a:spcBef>
                <a:spcPts val="5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In-store ниже стратегии</a:t>
            </a:r>
            <a:r>
              <a:rPr lang="ru-RU" sz="1200" dirty="0">
                <a:solidFill>
                  <a:srgbClr val="000000"/>
                </a:solidFill>
              </a:rPr>
              <a:t>: снижение выручки относительно стратегии из-за корректировки утилизации ввиду роста парка</a:t>
            </a:r>
          </a:p>
          <a:p>
            <a:pPr marL="171450" indent="-171450" algn="l">
              <a:spcBef>
                <a:spcPts val="5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OPEX выше на 787: </a:t>
            </a:r>
            <a:r>
              <a:rPr lang="ru-RU" sz="1200" dirty="0">
                <a:solidFill>
                  <a:srgbClr val="000000"/>
                </a:solidFill>
              </a:rPr>
              <a:t>закупка трафика DMP и агентские вознаграждения (Marketing +780)</a:t>
            </a:r>
          </a:p>
        </p:txBody>
      </p:sp>
    </p:spTree>
    <p:extLst>
      <p:ext uri="{BB962C8B-B14F-4D97-AF65-F5344CB8AC3E}">
        <p14:creationId xmlns:p14="http://schemas.microsoft.com/office/powerpoint/2010/main" val="358614408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056059-17AC-0E22-6608-13D1F495741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19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248931F-8DCA-B7A7-C277-09DE317B59C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Планы направлений 2027: APP и In-store дают 80% выручки, RMN и Content factory — 1,2 млрд руб.</a:t>
            </a:r>
          </a:p>
        </p:txBody>
      </p:sp>
      <p:sp>
        <p:nvSpPr>
          <p:cNvPr id="200" name="Shape 200"/>
          <p:cNvSpPr/>
          <p:nvPr/>
        </p:nvSpPr>
        <p:spPr>
          <a:xfrm>
            <a:off x="36830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1" name="Shape 201"/>
          <p:cNvSpPr txBox="1"/>
          <p:nvPr/>
        </p:nvSpPr>
        <p:spPr>
          <a:xfrm>
            <a:off x="52070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APP</a:t>
            </a:r>
          </a:p>
        </p:txBody>
      </p:sp>
      <p:sp>
        <p:nvSpPr>
          <p:cNvPr id="202" name="Shape 202"/>
          <p:cNvSpPr txBox="1"/>
          <p:nvPr/>
        </p:nvSpPr>
        <p:spPr>
          <a:xfrm>
            <a:off x="52070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7 696 млн руб.  ·  +24%</a:t>
            </a:r>
          </a:p>
        </p:txBody>
      </p:sp>
      <p:sp>
        <p:nvSpPr>
          <p:cNvPr id="203" name="Shape 203"/>
          <p:cNvSpPr/>
          <p:nvPr/>
        </p:nvSpPr>
        <p:spPr>
          <a:xfrm>
            <a:off x="67310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4" name="Shape 204"/>
          <p:cNvSpPr txBox="1"/>
          <p:nvPr/>
        </p:nvSpPr>
        <p:spPr>
          <a:xfrm>
            <a:off x="54610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Монетизация роста аудитории: DAC </a:t>
            </a:r>
            <a:r>
              <a:rPr lang="ru-RU" sz="1400" b="1" dirty="0">
                <a:solidFill>
                  <a:srgbClr val="000000"/>
                </a:solidFill>
              </a:rPr>
              <a:t>+18%</a:t>
            </a:r>
            <a:r>
              <a:rPr lang="ru-RU" sz="1400" dirty="0">
                <a:solidFill>
                  <a:srgbClr val="000000"/>
                </a:solidFill>
              </a:rPr>
              <a:t>, показы AdTech 6,5 млрд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Полный год нового прайса: модальное окно и Косметик — </a:t>
            </a:r>
            <a:r>
              <a:rPr lang="ru-RU" sz="1400" b="1" dirty="0">
                <a:solidFill>
                  <a:srgbClr val="000000"/>
                </a:solidFill>
              </a:rPr>
              <a:t>1 000 руб.</a:t>
            </a:r>
            <a:r>
              <a:rPr lang="ru-RU" sz="1400" dirty="0">
                <a:solidFill>
                  <a:srgbClr val="000000"/>
                </a:solidFill>
              </a:rPr>
              <a:t> CPM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Перформанс: </a:t>
            </a:r>
            <a:r>
              <a:rPr lang="ru-RU" sz="1400" b="1" dirty="0">
                <a:solidFill>
                  <a:srgbClr val="000000"/>
                </a:solidFill>
              </a:rPr>
              <a:t>2,3 тыс.</a:t>
            </a:r>
            <a:r>
              <a:rPr lang="ru-RU" sz="1400" dirty="0">
                <a:solidFill>
                  <a:srgbClr val="000000"/>
                </a:solidFill>
              </a:rPr>
              <a:t> кампаний в месяц, чек 86 тыс. руб.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Сторис: </a:t>
            </a:r>
            <a:r>
              <a:rPr lang="ru-RU" sz="1400" b="1" dirty="0">
                <a:solidFill>
                  <a:srgbClr val="000000"/>
                </a:solidFill>
              </a:rPr>
              <a:t>313</a:t>
            </a:r>
            <a:r>
              <a:rPr lang="ru-RU" sz="1400" dirty="0">
                <a:solidFill>
                  <a:srgbClr val="000000"/>
                </a:solidFill>
              </a:rPr>
              <a:t> кампаний в месяц по 100 тыс. руб. за день</a:t>
            </a:r>
          </a:p>
        </p:txBody>
      </p:sp>
      <p:sp>
        <p:nvSpPr>
          <p:cNvPr id="205" name="Shape 205"/>
          <p:cNvSpPr/>
          <p:nvPr/>
        </p:nvSpPr>
        <p:spPr>
          <a:xfrm>
            <a:off x="328295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6" name="Shape 206"/>
          <p:cNvSpPr txBox="1"/>
          <p:nvPr/>
        </p:nvSpPr>
        <p:spPr>
          <a:xfrm>
            <a:off x="343535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In-store digital</a:t>
            </a:r>
          </a:p>
        </p:txBody>
      </p:sp>
      <p:sp>
        <p:nvSpPr>
          <p:cNvPr id="207" name="Shape 207"/>
          <p:cNvSpPr txBox="1"/>
          <p:nvPr/>
        </p:nvSpPr>
        <p:spPr>
          <a:xfrm>
            <a:off x="343535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4 058 млн руб.  ·  +66%</a:t>
            </a:r>
          </a:p>
        </p:txBody>
      </p:sp>
      <p:sp>
        <p:nvSpPr>
          <p:cNvPr id="208" name="Shape 208"/>
          <p:cNvSpPr/>
          <p:nvPr/>
        </p:nvSpPr>
        <p:spPr>
          <a:xfrm>
            <a:off x="358775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9" name="Shape 209"/>
          <p:cNvSpPr txBox="1"/>
          <p:nvPr/>
        </p:nvSpPr>
        <p:spPr>
          <a:xfrm>
            <a:off x="346075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Ввод </a:t>
            </a:r>
            <a:r>
              <a:rPr lang="ru-RU" sz="1400" b="1" dirty="0">
                <a:solidFill>
                  <a:srgbClr val="000000"/>
                </a:solidFill>
              </a:rPr>
              <a:t>3 250</a:t>
            </a:r>
            <a:r>
              <a:rPr lang="ru-RU" sz="1400" dirty="0">
                <a:solidFill>
                  <a:srgbClr val="000000"/>
                </a:solidFill>
              </a:rPr>
              <a:t> шелф-баннеров, 428 фасадных экранов и 20 медиафасадов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Запуск целевой системы управления медиаконтентом (CAPEX 438 млн руб.)</a:t>
            </a:r>
          </a:p>
        </p:txBody>
      </p:sp>
      <p:sp>
        <p:nvSpPr>
          <p:cNvPr id="210" name="Shape 210"/>
          <p:cNvSpPr/>
          <p:nvPr/>
        </p:nvSpPr>
        <p:spPr>
          <a:xfrm>
            <a:off x="619760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1" name="Shape 211"/>
          <p:cNvSpPr txBox="1"/>
          <p:nvPr/>
        </p:nvSpPr>
        <p:spPr>
          <a:xfrm>
            <a:off x="635000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DMP и данные</a:t>
            </a:r>
          </a:p>
        </p:txBody>
      </p:sp>
      <p:sp>
        <p:nvSpPr>
          <p:cNvPr id="212" name="Shape 212"/>
          <p:cNvSpPr txBox="1"/>
          <p:nvPr/>
        </p:nvSpPr>
        <p:spPr>
          <a:xfrm>
            <a:off x="635000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1 787 млн руб.  ·  +64%</a:t>
            </a:r>
          </a:p>
        </p:txBody>
      </p:sp>
      <p:sp>
        <p:nvSpPr>
          <p:cNvPr id="213" name="Shape 213"/>
          <p:cNvSpPr/>
          <p:nvPr/>
        </p:nvSpPr>
        <p:spPr>
          <a:xfrm>
            <a:off x="650240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4" name="Shape 214"/>
          <p:cNvSpPr txBox="1"/>
          <p:nvPr/>
        </p:nvSpPr>
        <p:spPr>
          <a:xfrm>
            <a:off x="637540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Баннеры и OLV: </a:t>
            </a:r>
            <a:r>
              <a:rPr lang="ru-RU" sz="1400" b="1" dirty="0">
                <a:solidFill>
                  <a:srgbClr val="000000"/>
                </a:solidFill>
              </a:rPr>
              <a:t>788 млн руб.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Пакеты и Онлайн+ТВ: </a:t>
            </a:r>
            <a:r>
              <a:rPr lang="ru-RU" sz="1400" b="1" dirty="0">
                <a:solidFill>
                  <a:srgbClr val="000000"/>
                </a:solidFill>
              </a:rPr>
              <a:t>393 млн руб.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Новые площадки — SmartTV, Авито, маркетплейсы: </a:t>
            </a:r>
            <a:r>
              <a:rPr lang="ru-RU" sz="1400" b="1" dirty="0">
                <a:solidFill>
                  <a:srgbClr val="000000"/>
                </a:solidFill>
              </a:rPr>
              <a:t>420 млн руб.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Аналитика: DMP 54 и ad hoc 133 млн руб.</a:t>
            </a:r>
          </a:p>
        </p:txBody>
      </p:sp>
      <p:sp>
        <p:nvSpPr>
          <p:cNvPr id="215" name="Shape 215"/>
          <p:cNvSpPr/>
          <p:nvPr/>
        </p:nvSpPr>
        <p:spPr>
          <a:xfrm>
            <a:off x="911225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6" name="Shape 216"/>
          <p:cNvSpPr txBox="1"/>
          <p:nvPr/>
        </p:nvSpPr>
        <p:spPr>
          <a:xfrm>
            <a:off x="926465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RMN и Content factory</a:t>
            </a:r>
          </a:p>
        </p:txBody>
      </p:sp>
      <p:sp>
        <p:nvSpPr>
          <p:cNvPr id="217" name="Shape 217"/>
          <p:cNvSpPr txBox="1"/>
          <p:nvPr/>
        </p:nvSpPr>
        <p:spPr>
          <a:xfrm>
            <a:off x="926465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1 206 млн руб.</a:t>
            </a:r>
          </a:p>
        </p:txBody>
      </p:sp>
      <p:sp>
        <p:nvSpPr>
          <p:cNvPr id="218" name="Shape 218"/>
          <p:cNvSpPr/>
          <p:nvPr/>
        </p:nvSpPr>
        <p:spPr>
          <a:xfrm>
            <a:off x="941705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9" name="Shape 219"/>
          <p:cNvSpPr txBox="1"/>
          <p:nvPr/>
        </p:nvSpPr>
        <p:spPr>
          <a:xfrm>
            <a:off x="929005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RMN: </a:t>
            </a:r>
            <a:r>
              <a:rPr lang="ru-RU" sz="1400" b="1" dirty="0">
                <a:solidFill>
                  <a:srgbClr val="000000"/>
                </a:solidFill>
              </a:rPr>
              <a:t>850 млн руб.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Content factory: 6 ячеек по 25 креаторов к марту 2027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CF: </a:t>
            </a:r>
            <a:r>
              <a:rPr lang="ru-RU" sz="1400" b="1" dirty="0">
                <a:solidFill>
                  <a:srgbClr val="000000"/>
                </a:solidFill>
              </a:rPr>
              <a:t>569 млн</a:t>
            </a:r>
            <a:r>
              <a:rPr lang="ru-RU" sz="1400" dirty="0">
                <a:solidFill>
                  <a:srgbClr val="000000"/>
                </a:solidFill>
              </a:rPr>
              <a:t> просмотров, половина — внешним рекламодателям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Результат CF: </a:t>
            </a:r>
            <a:r>
              <a:rPr lang="ru-RU" sz="1400" b="1" dirty="0">
                <a:solidFill>
                  <a:srgbClr val="000000"/>
                </a:solidFill>
              </a:rPr>
              <a:t>113 млн руб.</a:t>
            </a:r>
            <a:r>
              <a:rPr lang="ru-RU" sz="1400" dirty="0">
                <a:solidFill>
                  <a:srgbClr val="000000"/>
                </a:solidFill>
              </a:rPr>
              <a:t>, рентабельность 32%</a:t>
            </a:r>
          </a:p>
        </p:txBody>
      </p:sp>
    </p:spTree>
    <p:extLst>
      <p:ext uri="{BB962C8B-B14F-4D97-AF65-F5344CB8AC3E}">
        <p14:creationId xmlns:p14="http://schemas.microsoft.com/office/powerpoint/2010/main" val="172239062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92DAC0F-A039-A254-0652-BA59CF6C7EF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ru-RU" sz="900" dirty="0">
                <a:solidFill>
                  <a:srgbClr val="6E6E6E"/>
                </a:solidFill>
              </a:rPr>
              <a:t>DAC — пользователи, совершившие хотя бы одно действие в приложении. Источник: прогноз М+, стратегия Magnit AdTech 2026–2031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E9BE670-CA70-08AE-0F3A-5E118D01205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20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24A033E-567B-C7C9-F6E1-C6AC1813096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Пять пререквизитов достижения целей 2027: аудитория, квота, in-store, отдельное ЮЛ и KPI Коммерции</a:t>
            </a:r>
          </a:p>
        </p:txBody>
      </p:sp>
      <p:sp>
        <p:nvSpPr>
          <p:cNvPr id="300" name="Shape 300"/>
          <p:cNvSpPr txBox="1"/>
          <p:nvPr/>
        </p:nvSpPr>
        <p:spPr>
          <a:xfrm>
            <a:off x="368300" y="1016000"/>
            <a:ext cx="7112000" cy="304800"/>
          </a:xfrm>
          <a:prstGeom prst="rect">
            <a:avLst/>
          </a:prstGeom>
          <a:noFill/>
        </p:spPr>
        <p:txBody>
          <a:bodyPr wrap="square" lIns="91440" tIns="0" rIns="0" bIns="0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Пререквизиты и зависимые направления</a:t>
            </a:r>
          </a:p>
        </p:txBody>
      </p:sp>
      <p:graphicFrame>
        <p:nvGraphicFramePr>
          <p:cNvPr id="301" name="Table 30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54389077"/>
              </p:ext>
            </p:extLst>
          </p:nvPr>
        </p:nvGraphicFramePr>
        <p:xfrm>
          <a:off x="368300" y="1397000"/>
          <a:ext cx="7114032" cy="4394200"/>
        </p:xfrm>
        <a:graphic>
          <a:graphicData uri="http://schemas.openxmlformats.org/drawingml/2006/table">
            <a:tbl>
              <a:tblPr firstRow="1"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91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105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Пререквизит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Что требуется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Влияет на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874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План М+ по аудитории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DAC 29,3 млн в месяц (+18%)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APP: показы и число кампаний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874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Квота AdTech в показах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Сохранение доли AdTech в показах приложения, переход от квот к аукциону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APP Медиа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874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Ввод in-store оборудования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3 250 шелф-баннеров, 428 фасадных экранов и 20 медиафасадов по графику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In-store digital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874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Отдельное ЮЛ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Юрлицо для сделок с бренд-бюджетами и внешними рекламодателями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RMN, Content factory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874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KPI Коммерции форматов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Цель на прирост трейд-бюджетов пропорционально росту инвентаря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Трейд-бюджеты поставщиков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02" name="Shape 302"/>
          <p:cNvSpPr txBox="1"/>
          <p:nvPr/>
        </p:nvSpPr>
        <p:spPr>
          <a:xfrm>
            <a:off x="7823200" y="1016000"/>
            <a:ext cx="4000500" cy="50800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Что это значит</a:t>
            </a:r>
          </a:p>
          <a:p>
            <a:pPr marL="171450" indent="-171450">
              <a:spcBef>
                <a:spcPts val="9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Зависимость от экосистемы:</a:t>
            </a:r>
            <a:r>
              <a:rPr lang="ru-RU" sz="1200" dirty="0">
                <a:solidFill>
                  <a:srgbClr val="000000"/>
                </a:solidFill>
              </a:rPr>
              <a:t> AdTech — горизонталь, результат зависит от DAC (М+) и online GMV (FoodTech)</a:t>
            </a:r>
          </a:p>
          <a:p>
            <a:pPr marL="171450" indent="-171450">
              <a:spcBef>
                <a:spcPts val="9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Верификация in-store:</a:t>
            </a:r>
            <a:r>
              <a:rPr lang="ru-RU" sz="1200" dirty="0">
                <a:solidFill>
                  <a:srgbClr val="000000"/>
                </a:solidFill>
              </a:rPr>
              <a:t> для продажи нового инвентаря нужны система контроля показов и фотофиксация</a:t>
            </a:r>
          </a:p>
          <a:p>
            <a:pPr marL="0" indent="0">
              <a:spcBef>
                <a:spcPts val="120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При отклонении</a:t>
            </a:r>
          </a:p>
          <a:p>
            <a:pPr marL="171450" indent="-171450">
              <a:spcBef>
                <a:spcPts val="9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Пересмотр целей:</a:t>
            </a:r>
            <a:r>
              <a:rPr lang="ru-RU" sz="1200" dirty="0">
                <a:solidFill>
                  <a:srgbClr val="000000"/>
                </a:solidFill>
              </a:rPr>
              <a:t> при невыполнении плана по аудитории или сдвиге ввода оборудования цели APP и in-store пересматриваются пропорционально</a:t>
            </a:r>
          </a:p>
        </p:txBody>
      </p:sp>
    </p:spTree>
    <p:extLst>
      <p:ext uri="{BB962C8B-B14F-4D97-AF65-F5344CB8AC3E}">
        <p14:creationId xmlns:p14="http://schemas.microsoft.com/office/powerpoint/2010/main" val="154657344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85DF8EBA-9590-4C81-9F69-5D123BF9617A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95" imgH="394" progId="TCLayout.ActiveDocument.1">
                  <p:embed/>
                </p:oleObj>
              </mc:Choice>
              <mc:Fallback>
                <p:oleObj name="think-cell Slide" r:id="rId4" imgW="395" imgH="394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85DF8EBA-9590-4C81-9F69-5D123BF9617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Текст 1">
            <a:extLst>
              <a:ext uri="{FF2B5EF4-FFF2-40B4-BE49-F238E27FC236}">
                <a16:creationId xmlns:a16="http://schemas.microsoft.com/office/drawing/2014/main" id="{E7D62E96-F664-40DC-868E-D0B2F0A46B2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ru-RU" dirty="0"/>
              <a:t>Октябрь 2026</a:t>
            </a:r>
          </a:p>
        </p:txBody>
      </p:sp>
      <p:sp>
        <p:nvSpPr>
          <p:cNvPr id="6" name="Текст 2">
            <a:extLst>
              <a:ext uri="{FF2B5EF4-FFF2-40B4-BE49-F238E27FC236}">
                <a16:creationId xmlns:a16="http://schemas.microsoft.com/office/drawing/2014/main" id="{6060A129-27E9-4599-B4E5-C57388EC22F3}"/>
              </a:ext>
            </a:extLst>
          </p:cNvPr>
          <p:cNvSpPr txBox="1">
            <a:spLocks/>
          </p:cNvSpPr>
          <p:nvPr/>
        </p:nvSpPr>
        <p:spPr>
          <a:xfrm>
            <a:off x="550863" y="512763"/>
            <a:ext cx="11098211" cy="2743055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000" b="1" i="0" kern="1200" baseline="0">
                <a:solidFill>
                  <a:schemeClr val="bg1"/>
                </a:solidFill>
                <a:latin typeface="+mj-lt"/>
                <a:ea typeface="+mn-ea"/>
                <a:cs typeface="Arial" panose="020B0604020202020204" pitchFamily="34" charset="0"/>
              </a:defRPr>
            </a:lvl1pPr>
            <a:lvl2pPr marL="457178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54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32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09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90000"/>
              </a:lnSpc>
              <a:buNone/>
            </a:pPr>
            <a:r>
              <a:rPr lang="ru-RU" sz="5000" b="1" dirty="0">
                <a:solidFill>
                  <a:srgbClr val="FF452C"/>
                </a:solidFill>
                <a:latin typeface="Arial"/>
              </a:rPr>
              <a:t>03</a:t>
            </a:r>
          </a:p>
          <a:p>
            <a:pPr>
              <a:lnSpc>
                <a:spcPct val="90000"/>
              </a:lnSpc>
              <a:buNone/>
            </a:pPr>
            <a:r>
              <a:rPr lang="ru-RU" sz="5000" b="1" dirty="0">
                <a:solidFill>
                  <a:srgbClr val="FFFFFF"/>
                </a:solidFill>
                <a:latin typeface="Arial"/>
              </a:rPr>
              <a:t>P&amp;L Deep Dive</a:t>
            </a:r>
          </a:p>
        </p:txBody>
      </p:sp>
      <p:sp>
        <p:nvSpPr>
          <p:cNvPr id="7" name="Текст 7">
            <a:extLst>
              <a:ext uri="{FF2B5EF4-FFF2-40B4-BE49-F238E27FC236}">
                <a16:creationId xmlns:a16="http://schemas.microsoft.com/office/drawing/2014/main" id="{BC4C214E-1A99-490C-A3B5-9407F8AE158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50864" y="3550877"/>
            <a:ext cx="5484812" cy="1260893"/>
          </a:xfrm>
        </p:spPr>
        <p:txBody>
          <a:bodyPr/>
          <a:lstStyle/>
          <a:p>
            <a:r>
              <a:rPr lang="ru-RU" dirty="0"/>
              <a:t>Логика расчёта строк, бриджи выручки, EBITDA и CAPEX</a:t>
            </a:r>
          </a:p>
        </p:txBody>
      </p:sp>
    </p:spTree>
    <p:extLst>
      <p:ext uri="{BB962C8B-B14F-4D97-AF65-F5344CB8AC3E}">
        <p14:creationId xmlns:p14="http://schemas.microsoft.com/office/powerpoint/2010/main" val="403340699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9916F84-7008-B85C-1BA3-8FE84327667D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ru-RU" sz="900" dirty="0">
                <a:solidFill>
                  <a:srgbClr val="6E6E6E"/>
                </a:solidFill>
              </a:rPr>
              <a:t>млн руб. без НДС. FC 2026 — факт 8 мес. + прогноз 4 мес.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2E2792A-D6CD-18B8-079A-4922E33CE5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22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0CD53B8-7239-64EC-489A-A05C52230E7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Выручка растёт на 4 412 млн руб.: 71% прироста дают APP и In-store</a:t>
            </a:r>
          </a:p>
        </p:txBody>
      </p:sp>
      <p:graphicFrame>
        <p:nvGraphicFramePr>
          <p:cNvPr id="5" name="Chart"/>
          <p:cNvGraphicFramePr/>
          <p:nvPr/>
        </p:nvGraphicFramePr>
        <p:xfrm>
          <a:off x="368300" y="1333500"/>
          <a:ext cx="7112000" cy="4800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300" name="Shape 300"/>
          <p:cNvSpPr txBox="1"/>
          <p:nvPr/>
        </p:nvSpPr>
        <p:spPr>
          <a:xfrm>
            <a:off x="368300" y="1016000"/>
            <a:ext cx="7112000" cy="304800"/>
          </a:xfrm>
          <a:prstGeom prst="rect">
            <a:avLst/>
          </a:prstGeom>
          <a:noFill/>
        </p:spPr>
        <p:txBody>
          <a:bodyPr wrap="square" lIns="91440" tIns="0" rIns="0" bIns="0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Gross Revenue: FC 2026 → BU 2027, млн руб.</a:t>
            </a:r>
          </a:p>
        </p:txBody>
      </p:sp>
      <p:sp>
        <p:nvSpPr>
          <p:cNvPr id="301" name="Shape 301"/>
          <p:cNvSpPr txBox="1"/>
          <p:nvPr/>
        </p:nvSpPr>
        <p:spPr>
          <a:xfrm>
            <a:off x="7696200" y="1016000"/>
            <a:ext cx="4127500" cy="50800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Комментарии</a:t>
            </a:r>
          </a:p>
          <a:p>
            <a:pPr marL="171450" indent="-171450">
              <a:spcBef>
                <a:spcPts val="9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APP +1 501 (+24%): </a:t>
            </a:r>
            <a:r>
              <a:rPr lang="ru-RU" sz="1200" dirty="0">
                <a:solidFill>
                  <a:srgbClr val="000000"/>
                </a:solidFill>
              </a:rPr>
              <a:t>медиа (CPM и сторис) +865, перформанс +636; рост аудитории и полный год нового прайса</a:t>
            </a:r>
          </a:p>
          <a:p>
            <a:pPr marL="171450" indent="-171450">
              <a:spcBef>
                <a:spcPts val="6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In-store +1 612 (+66%): </a:t>
            </a:r>
            <a:r>
              <a:rPr lang="ru-RU" sz="1200" b="0" dirty="0">
                <a:solidFill>
                  <a:srgbClr val="000000"/>
                </a:solidFill>
              </a:rPr>
              <a:t>шелф-баннеры +932, КСО +492, фасадные экраны +159; реализация инвентаря 100% против 92,5% в 2026 г.</a:t>
            </a:r>
          </a:p>
          <a:p>
            <a:pPr marL="171450" indent="-171450">
              <a:spcBef>
                <a:spcPts val="6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DMP Online +613 (+62%): </a:t>
            </a:r>
            <a:r>
              <a:rPr lang="ru-RU" sz="1200" dirty="0">
                <a:solidFill>
                  <a:srgbClr val="000000"/>
                </a:solidFill>
              </a:rPr>
              <a:t>новые площадки SmartTV, Авито, маркетплейсы, партнёрские интеграции ЦМ — 420 млн руб.</a:t>
            </a:r>
          </a:p>
          <a:p>
            <a:pPr marL="171450" indent="-171450">
              <a:spcBef>
                <a:spcPts val="6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RMN +258 (+43%): </a:t>
            </a:r>
            <a:r>
              <a:rPr lang="ru-RU" sz="1200" dirty="0">
                <a:solidFill>
                  <a:srgbClr val="000000"/>
                </a:solidFill>
              </a:rPr>
              <a:t>850 млн руб. против 593 млн руб. в 2026 г.</a:t>
            </a:r>
          </a:p>
          <a:p>
            <a:pPr marL="171450" indent="-171450">
              <a:spcBef>
                <a:spcPts val="6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Content factory +344: </a:t>
            </a:r>
            <a:r>
              <a:rPr lang="ru-RU" sz="1200" dirty="0">
                <a:solidFill>
                  <a:srgbClr val="000000"/>
                </a:solidFill>
              </a:rPr>
              <a:t>запуск 6 ячеек креаторов; внешние рекламодатели +213, ВГО +131 (до 142 млн руб.)</a:t>
            </a:r>
          </a:p>
          <a:p>
            <a:pPr marL="171450" indent="-171450">
              <a:spcBef>
                <a:spcPts val="6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DMP Analytics +85 (+83%): </a:t>
            </a:r>
            <a:r>
              <a:rPr lang="ru-RU" sz="1200" dirty="0">
                <a:solidFill>
                  <a:srgbClr val="000000"/>
                </a:solidFill>
              </a:rPr>
              <a:t>рост </a:t>
            </a:r>
            <a:r>
              <a:rPr lang="ru-RU" sz="1200" dirty="0" err="1">
                <a:solidFill>
                  <a:srgbClr val="000000"/>
                </a:solidFill>
              </a:rPr>
              <a:t>ad</a:t>
            </a:r>
            <a:r>
              <a:rPr lang="ru-RU" sz="1200" dirty="0">
                <a:solidFill>
                  <a:srgbClr val="000000"/>
                </a:solidFill>
              </a:rPr>
              <a:t> </a:t>
            </a:r>
            <a:r>
              <a:rPr lang="ru-RU" sz="1200" dirty="0" err="1">
                <a:solidFill>
                  <a:srgbClr val="000000"/>
                </a:solidFill>
              </a:rPr>
              <a:t>hoc</a:t>
            </a:r>
            <a:r>
              <a:rPr lang="ru-RU" sz="1200" dirty="0">
                <a:solidFill>
                  <a:srgbClr val="000000"/>
                </a:solidFill>
              </a:rPr>
              <a:t> до 133 млн руб.</a:t>
            </a:r>
          </a:p>
        </p:txBody>
      </p:sp>
    </p:spTree>
    <p:extLst>
      <p:ext uri="{BB962C8B-B14F-4D97-AF65-F5344CB8AC3E}">
        <p14:creationId xmlns:p14="http://schemas.microsoft.com/office/powerpoint/2010/main" val="47022844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8FDCD95-2C49-FCBA-9D46-D3D1F7AC1D3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ru-RU" sz="900" dirty="0">
                <a:solidFill>
                  <a:srgbClr val="6E6E6E"/>
                </a:solidFill>
              </a:rPr>
              <a:t>CPM 2026 — по прайсу до 09.2026, взвешен по структуре показов; выручка 2026 за сен.–дек. — по новому прайсу. Выручка по прайсу — до применения сезонных коэффициентов. Источник: листы «APP Медиа», «APP Перформанс», «ПРАЙС», «DATA»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08BDDC2-A8EC-137E-AD13-84B93FA46C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23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C44BFE2-22C4-A10E-17DE-60161C323E6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APP: рост аудитории на 18% и новый прайс дают +1 501 млн руб. (+24%)</a:t>
            </a:r>
          </a:p>
        </p:txBody>
      </p:sp>
      <p:sp>
        <p:nvSpPr>
          <p:cNvPr id="300" name="Shape 300"/>
          <p:cNvSpPr txBox="1"/>
          <p:nvPr/>
        </p:nvSpPr>
        <p:spPr>
          <a:xfrm>
            <a:off x="368300" y="1016000"/>
            <a:ext cx="6604000" cy="304800"/>
          </a:xfrm>
          <a:prstGeom prst="rect">
            <a:avLst/>
          </a:prstGeom>
          <a:noFill/>
        </p:spPr>
        <p:txBody>
          <a:bodyPr wrap="square" lIns="91440" tIns="0" rIns="0" bIns="0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Драйверы выручки APP</a:t>
            </a:r>
          </a:p>
        </p:txBody>
      </p:sp>
      <p:graphicFrame>
        <p:nvGraphicFramePr>
          <p:cNvPr id="301" name="Table 301"/>
          <p:cNvGraphicFramePr>
            <a:graphicFrameLocks noGrp="1"/>
          </p:cNvGraphicFramePr>
          <p:nvPr/>
        </p:nvGraphicFramePr>
        <p:xfrm>
          <a:off x="368300" y="1397000"/>
          <a:ext cx="6604000" cy="4404360"/>
        </p:xfrm>
        <a:graphic>
          <a:graphicData uri="http://schemas.openxmlformats.org/drawingml/2006/table">
            <a:tbl>
              <a:tblPr firstRow="1"/>
              <a:tblGrid>
                <a:gridCol w="3175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85750"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Показатель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2026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2027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Δ, 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FF452C"/>
                          </a:solidFill>
                          <a:latin typeface="Arial"/>
                        </a:rPr>
                        <a:t>Медиа: CPM-плейсменты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/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/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/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Показы AdTech, млрд</a:t>
                      </a:r>
                    </a:p>
                  </a:txBody>
                  <a:tcPr marL="177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6,5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+8%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Средневзвешенный CPM, руб.</a:t>
                      </a:r>
                    </a:p>
                  </a:txBody>
                  <a:tcPr marL="177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499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582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+17%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Выручка по прайсу, млн руб.</a:t>
                      </a:r>
                    </a:p>
                  </a:txBody>
                  <a:tcPr marL="177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3 172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3 782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+19%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FF452C"/>
                          </a:solidFill>
                          <a:latin typeface="Arial"/>
                        </a:rPr>
                        <a:t>Медиа: сторис (CPD)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/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/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/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Кампаний AdTech в месяц</a:t>
                      </a:r>
                    </a:p>
                  </a:txBody>
                  <a:tcPr marL="177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264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313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+18%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Цена за день, тыс. руб.</a:t>
                      </a:r>
                    </a:p>
                  </a:txBody>
                  <a:tcPr marL="177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+43%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Выручка по прайсу, млн руб.</a:t>
                      </a:r>
                    </a:p>
                  </a:txBody>
                  <a:tcPr marL="177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231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341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+48%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Медиа с сезонностью, млн руб.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3 999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4 864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+22%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FF452C"/>
                          </a:solidFill>
                          <a:latin typeface="Arial"/>
                        </a:rPr>
                        <a:t>Перформанс: закрепы (CPD)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/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/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/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Кампаний AdTech в месяц</a:t>
                      </a:r>
                    </a:p>
                  </a:txBody>
                  <a:tcPr marL="177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2 033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2 270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+12%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Средний чек кампании, тыс. руб.</a:t>
                      </a:r>
                    </a:p>
                  </a:txBody>
                  <a:tcPr marL="177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+26%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Выручка перформанса, млн руб.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2 196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2 832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+29%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APP итого, млн руб.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6 195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7 696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+24%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solidFill>
                      <a:srgbClr val="FFE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sp>
        <p:nvSpPr>
          <p:cNvPr id="302" name="Shape 302"/>
          <p:cNvSpPr txBox="1"/>
          <p:nvPr/>
        </p:nvSpPr>
        <p:spPr>
          <a:xfrm>
            <a:off x="7366000" y="1016000"/>
            <a:ext cx="4457700" cy="50800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Как считали</a:t>
            </a:r>
          </a:p>
          <a:p>
            <a:pPr marL="171450" indent="-171450">
              <a:spcBef>
                <a:spcPts val="9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Показы 2027 = </a:t>
            </a:r>
            <a:r>
              <a:rPr lang="ru-RU" sz="1200" dirty="0">
                <a:solidFill>
                  <a:srgbClr val="000000"/>
                </a:solidFill>
              </a:rPr>
              <a:t>тотал показов 8 мес. 2026 × 1,57 (пересчёт в год) × 1,18 (рост DAC) × квота AdTech по плейсменту</a:t>
            </a:r>
          </a:p>
          <a:p>
            <a:pPr marL="171450" indent="-171450">
              <a:spcBef>
                <a:spcPts val="6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Выручка CPM = </a:t>
            </a:r>
            <a:r>
              <a:rPr lang="ru-RU" sz="1200" dirty="0">
                <a:solidFill>
                  <a:srgbClr val="000000"/>
                </a:solidFill>
              </a:rPr>
              <a:t>показы × CPM нового прайса по каждому из 20 плейсментов / 1 000</a:t>
            </a:r>
          </a:p>
          <a:p>
            <a:pPr marL="171450" indent="-171450">
              <a:spcBef>
                <a:spcPts val="6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Сторис = </a:t>
            </a:r>
            <a:r>
              <a:rPr lang="ru-RU" sz="1200" dirty="0">
                <a:solidFill>
                  <a:srgbClr val="000000"/>
                </a:solidFill>
              </a:rPr>
              <a:t>кампании × 0,91 дня размещения × цена за день × 12 мес.</a:t>
            </a:r>
          </a:p>
          <a:p>
            <a:pPr marL="171450" indent="-171450">
              <a:spcBef>
                <a:spcPts val="6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Перформанс = </a:t>
            </a:r>
            <a:r>
              <a:rPr lang="ru-RU" sz="1200" dirty="0">
                <a:solidFill>
                  <a:srgbClr val="000000"/>
                </a:solidFill>
              </a:rPr>
              <a:t>кампании 2026 × 1,18 × средний чек; чек откалиброван на факт 2026 и проиндексирован на +26% по новому прайсу</a:t>
            </a:r>
          </a:p>
          <a:p>
            <a:pPr marL="171450" indent="-171450">
              <a:spcBef>
                <a:spcPts val="6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По месяцам: </a:t>
            </a:r>
            <a:r>
              <a:rPr lang="ru-RU" sz="1200" dirty="0">
                <a:solidFill>
                  <a:srgbClr val="000000"/>
                </a:solidFill>
              </a:rPr>
              <a:t>доля месяца в DAC × сезонный коэффициент цены (1,0–1,7), в среднем +18% к выручке по прайсу</a:t>
            </a:r>
          </a:p>
        </p:txBody>
      </p:sp>
    </p:spTree>
    <p:extLst>
      <p:ext uri="{BB962C8B-B14F-4D97-AF65-F5344CB8AC3E}">
        <p14:creationId xmlns:p14="http://schemas.microsoft.com/office/powerpoint/2010/main" val="50801336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92DAC0F-A039-A254-0652-BA59CF6C7EF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ru-RU" sz="900" dirty="0">
                <a:solidFill>
                  <a:srgbClr val="6E6E6E"/>
                </a:solidFill>
              </a:rPr>
              <a:t>Устройства — на конец года. Источник: листы «In-store», «ПРАЙС», «DATA»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E9BE670-CA70-08AE-0F3A-5E118D01205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24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24A033E-567B-C7C9-F6E1-C6AC1813096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In-store +1 612 млн руб. (+66%): 58% прироста дают шелф-баннеры</a:t>
            </a:r>
          </a:p>
        </p:txBody>
      </p:sp>
      <p:sp>
        <p:nvSpPr>
          <p:cNvPr id="300" name="Shape 300"/>
          <p:cNvSpPr txBox="1"/>
          <p:nvPr/>
        </p:nvSpPr>
        <p:spPr>
          <a:xfrm>
            <a:off x="368300" y="1016000"/>
            <a:ext cx="7112000" cy="304800"/>
          </a:xfrm>
          <a:prstGeom prst="rect">
            <a:avLst/>
          </a:prstGeom>
          <a:noFill/>
        </p:spPr>
        <p:txBody>
          <a:bodyPr wrap="square" lIns="91440" tIns="0" rIns="0" bIns="0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Выручка In-store по типам оборудования</a:t>
            </a:r>
          </a:p>
        </p:txBody>
      </p:sp>
      <p:graphicFrame>
        <p:nvGraphicFramePr>
          <p:cNvPr id="301" name="Table 301"/>
          <p:cNvGraphicFramePr>
            <a:graphicFrameLocks noGrp="1"/>
          </p:cNvGraphicFramePr>
          <p:nvPr/>
        </p:nvGraphicFramePr>
        <p:xfrm>
          <a:off x="368300" y="1397000"/>
          <a:ext cx="7112000" cy="4318000"/>
        </p:xfrm>
        <a:graphic>
          <a:graphicData uri="http://schemas.openxmlformats.org/drawingml/2006/table">
            <a:tbl>
              <a:tblPr firstRow="1"/>
              <a:tblGrid>
                <a:gridCol w="1651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51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90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90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Тип оборудования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Устройств 2026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Устройств 2027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Доход на устр. в мес., руб. 2026 → 2027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Выручка 2026, млн руб.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Выручка 2027, млн руб.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КСО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57 000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57 000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4 809 → 2 885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1 421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1 913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Шелф-баннеры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2 750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6 000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28 800 → 30 240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226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1 158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Фасадные экраны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1 231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1 659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30 214 → 24 171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227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386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TFT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2 310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2 310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14 350 → 11 480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368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308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Дисплеи покупателя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6 121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6 121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1 784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121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Радио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3 821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3 821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506 → 2 024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Прайсчекеры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4 408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4 408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1 112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Медиафасады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200 000 → 240 000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LED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7 136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Итого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77 721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81 419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/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2 446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4 058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02" name="Shape 302"/>
          <p:cNvSpPr txBox="1"/>
          <p:nvPr/>
        </p:nvSpPr>
        <p:spPr>
          <a:xfrm>
            <a:off x="7823200" y="1016000"/>
            <a:ext cx="4000500" cy="50800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Как считали</a:t>
            </a:r>
          </a:p>
          <a:p>
            <a:pPr marL="171450" indent="-171450">
              <a:spcBef>
                <a:spcPts val="9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Выручка = </a:t>
            </a:r>
            <a:r>
              <a:rPr lang="ru-RU" sz="1200" dirty="0">
                <a:solidFill>
                  <a:srgbClr val="000000"/>
                </a:solidFill>
              </a:rPr>
              <a:t>устройства × доход на устройство в месяц × месяцы работы × реализация</a:t>
            </a:r>
          </a:p>
          <a:p>
            <a:pPr marL="171450" indent="-171450">
              <a:spcBef>
                <a:spcPts val="6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Реализация: </a:t>
            </a:r>
            <a:r>
              <a:rPr lang="ru-RU" sz="1200" dirty="0">
                <a:solidFill>
                  <a:srgbClr val="000000"/>
                </a:solidFill>
              </a:rPr>
              <a:t>92,5% в 2026 г. → 100% в 2027 г.</a:t>
            </a:r>
          </a:p>
          <a:p>
            <a:pPr marL="0" indent="0">
              <a:spcBef>
                <a:spcPts val="120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Ключевые изменения</a:t>
            </a:r>
          </a:p>
          <a:p>
            <a:pPr marL="171450" indent="-171450">
              <a:spcBef>
                <a:spcPts val="6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Шелф-баннеры: </a:t>
            </a:r>
            <a:r>
              <a:rPr lang="ru-RU" sz="1200" dirty="0">
                <a:solidFill>
                  <a:srgbClr val="000000"/>
                </a:solidFill>
              </a:rPr>
              <a:t>+932 млн руб. — 6 тыс. устройств на конец года (ввод 3 250), выручка выросла в 5 раз</a:t>
            </a:r>
          </a:p>
          <a:p>
            <a:pPr marL="171450" indent="-171450">
              <a:spcBef>
                <a:spcPts val="6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КСО: </a:t>
            </a:r>
            <a:r>
              <a:rPr lang="ru-RU" sz="1200" dirty="0">
                <a:solidFill>
                  <a:srgbClr val="000000"/>
                </a:solidFill>
              </a:rPr>
              <a:t>+492 млн руб. — 40,5 тыс. устройств, введённых в Q4 2026, работают весь год; доход на КСО снижен на 40%, до 2 885 руб. в месяц</a:t>
            </a:r>
          </a:p>
          <a:p>
            <a:pPr marL="171450" indent="-171450">
              <a:spcBef>
                <a:spcPts val="6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Фасадные экраны: </a:t>
            </a:r>
            <a:r>
              <a:rPr lang="ru-RU" sz="1200" dirty="0">
                <a:solidFill>
                  <a:srgbClr val="000000"/>
                </a:solidFill>
              </a:rPr>
              <a:t>+159 млн руб. — ввод 428 экранов при доходе на экран −20%</a:t>
            </a:r>
          </a:p>
          <a:p>
            <a:pPr marL="171450" indent="-171450">
              <a:spcBef>
                <a:spcPts val="6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TFT: </a:t>
            </a:r>
            <a:r>
              <a:rPr lang="ru-RU" sz="1200" dirty="0">
                <a:solidFill>
                  <a:srgbClr val="000000"/>
                </a:solidFill>
              </a:rPr>
              <a:t>−60 млн руб., доход на экран −20%; радио: +69 млн руб., доход на точку ×4</a:t>
            </a:r>
          </a:p>
        </p:txBody>
      </p:sp>
    </p:spTree>
    <p:extLst>
      <p:ext uri="{BB962C8B-B14F-4D97-AF65-F5344CB8AC3E}">
        <p14:creationId xmlns:p14="http://schemas.microsoft.com/office/powerpoint/2010/main" val="224020277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056059-17AC-0E22-6608-13D1F495741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25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248931F-8DCA-B7A7-C277-09DE317B59C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Концепция 5 касаний: от теста спроса в 2026 к масштабированию в 2027</a:t>
            </a:r>
          </a:p>
        </p:txBody>
      </p:sp>
      <p:sp>
        <p:nvSpPr>
          <p:cNvPr id="200" name="Shape 200"/>
          <p:cNvSpPr/>
          <p:nvPr/>
        </p:nvSpPr>
        <p:spPr>
          <a:xfrm>
            <a:off x="36830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1" name="Shape 201"/>
          <p:cNvSpPr txBox="1"/>
          <p:nvPr/>
        </p:nvSpPr>
        <p:spPr>
          <a:xfrm>
            <a:off x="52070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Этап I</a:t>
            </a:r>
          </a:p>
        </p:txBody>
      </p:sp>
      <p:sp>
        <p:nvSpPr>
          <p:cNvPr id="202" name="Shape 202"/>
          <p:cNvSpPr txBox="1"/>
          <p:nvPr/>
        </p:nvSpPr>
        <p:spPr>
          <a:xfrm>
            <a:off x="52070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Q3 2025  ·  альфа-тест</a:t>
            </a:r>
          </a:p>
        </p:txBody>
      </p:sp>
      <p:sp>
        <p:nvSpPr>
          <p:cNvPr id="203" name="Shape 203"/>
          <p:cNvSpPr/>
          <p:nvPr/>
        </p:nvSpPr>
        <p:spPr>
          <a:xfrm>
            <a:off x="67310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4" name="Shape 204"/>
          <p:cNvSpPr txBox="1"/>
          <p:nvPr/>
        </p:nvSpPr>
        <p:spPr>
          <a:xfrm>
            <a:off x="54610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Новые типы инвентаря в </a:t>
            </a:r>
            <a:r>
              <a:rPr lang="ru-RU" sz="1400" b="1" dirty="0">
                <a:solidFill>
                  <a:srgbClr val="000000"/>
                </a:solidFill>
              </a:rPr>
              <a:t>5 + 5</a:t>
            </a:r>
            <a:r>
              <a:rPr lang="ru-RU" sz="1400" dirty="0">
                <a:solidFill>
                  <a:srgbClr val="000000"/>
                </a:solidFill>
              </a:rPr>
              <a:t> магазинах Москвы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5 касаний за визит: фасадный экран на входе, три шелф-баннера у полок, экран над кассой</a:t>
            </a:r>
          </a:p>
        </p:txBody>
      </p:sp>
      <p:sp>
        <p:nvSpPr>
          <p:cNvPr id="205" name="Shape 205"/>
          <p:cNvSpPr/>
          <p:nvPr/>
        </p:nvSpPr>
        <p:spPr>
          <a:xfrm>
            <a:off x="328295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6" name="Shape 206"/>
          <p:cNvSpPr txBox="1"/>
          <p:nvPr/>
        </p:nvSpPr>
        <p:spPr>
          <a:xfrm>
            <a:off x="343535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Этап II</a:t>
            </a:r>
          </a:p>
        </p:txBody>
      </p:sp>
      <p:sp>
        <p:nvSpPr>
          <p:cNvPr id="207" name="Shape 207"/>
          <p:cNvSpPr txBox="1"/>
          <p:nvPr/>
        </p:nvSpPr>
        <p:spPr>
          <a:xfrm>
            <a:off x="343535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Q4 2025 – 2026  ·  бета-тест</a:t>
            </a:r>
          </a:p>
        </p:txBody>
      </p:sp>
      <p:sp>
        <p:nvSpPr>
          <p:cNvPr id="208" name="Shape 208"/>
          <p:cNvSpPr/>
          <p:nvPr/>
        </p:nvSpPr>
        <p:spPr>
          <a:xfrm>
            <a:off x="358775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9" name="Shape 209"/>
          <p:cNvSpPr txBox="1"/>
          <p:nvPr/>
        </p:nvSpPr>
        <p:spPr>
          <a:xfrm>
            <a:off x="346075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Проверка спроса на новый инвентарь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Введено </a:t>
            </a:r>
            <a:r>
              <a:rPr lang="ru-RU" sz="1400" b="1" dirty="0">
                <a:solidFill>
                  <a:srgbClr val="000000"/>
                </a:solidFill>
              </a:rPr>
              <a:t>2 725</a:t>
            </a:r>
            <a:r>
              <a:rPr lang="ru-RU" sz="1400" dirty="0">
                <a:solidFill>
                  <a:srgbClr val="000000"/>
                </a:solidFill>
              </a:rPr>
              <a:t> шелф-баннеров и </a:t>
            </a:r>
            <a:r>
              <a:rPr lang="ru-RU" sz="1400" b="1" dirty="0">
                <a:solidFill>
                  <a:srgbClr val="000000"/>
                </a:solidFill>
              </a:rPr>
              <a:t>831</a:t>
            </a:r>
            <a:r>
              <a:rPr lang="ru-RU" sz="1400" dirty="0">
                <a:solidFill>
                  <a:srgbClr val="000000"/>
                </a:solidFill>
              </a:rPr>
              <a:t> фасадный экран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Критерий успеха: контракты, окупающие оборудование за 1–1,5 года</a:t>
            </a:r>
          </a:p>
        </p:txBody>
      </p:sp>
      <p:sp>
        <p:nvSpPr>
          <p:cNvPr id="210" name="Shape 210"/>
          <p:cNvSpPr/>
          <p:nvPr/>
        </p:nvSpPr>
        <p:spPr>
          <a:xfrm>
            <a:off x="619760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1" name="Shape 211"/>
          <p:cNvSpPr txBox="1"/>
          <p:nvPr/>
        </p:nvSpPr>
        <p:spPr>
          <a:xfrm>
            <a:off x="635000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Этап III</a:t>
            </a:r>
          </a:p>
        </p:txBody>
      </p:sp>
      <p:sp>
        <p:nvSpPr>
          <p:cNvPr id="212" name="Shape 212"/>
          <p:cNvSpPr txBox="1"/>
          <p:nvPr/>
        </p:nvSpPr>
        <p:spPr>
          <a:xfrm>
            <a:off x="635000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2027  ·  масштабирование</a:t>
            </a:r>
          </a:p>
        </p:txBody>
      </p:sp>
      <p:sp>
        <p:nvSpPr>
          <p:cNvPr id="213" name="Shape 213"/>
          <p:cNvSpPr/>
          <p:nvPr/>
        </p:nvSpPr>
        <p:spPr>
          <a:xfrm>
            <a:off x="650240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4" name="Shape 214"/>
          <p:cNvSpPr txBox="1"/>
          <p:nvPr/>
        </p:nvSpPr>
        <p:spPr>
          <a:xfrm>
            <a:off x="637540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Еще </a:t>
            </a:r>
            <a:r>
              <a:rPr lang="ru-RU" sz="1400" b="1" dirty="0">
                <a:solidFill>
                  <a:srgbClr val="000000"/>
                </a:solidFill>
              </a:rPr>
              <a:t>3 250</a:t>
            </a:r>
            <a:r>
              <a:rPr lang="ru-RU" sz="1400" dirty="0">
                <a:solidFill>
                  <a:srgbClr val="000000"/>
                </a:solidFill>
              </a:rPr>
              <a:t> шелф-баннеров, </a:t>
            </a:r>
            <a:r>
              <a:rPr lang="ru-RU" sz="1400" b="1" dirty="0">
                <a:solidFill>
                  <a:srgbClr val="000000"/>
                </a:solidFill>
              </a:rPr>
              <a:t>428</a:t>
            </a:r>
            <a:r>
              <a:rPr lang="ru-RU" sz="1400" dirty="0">
                <a:solidFill>
                  <a:srgbClr val="000000"/>
                </a:solidFill>
              </a:rPr>
              <a:t> фасадных экранов, </a:t>
            </a:r>
            <a:r>
              <a:rPr lang="ru-RU" sz="1400" b="1" dirty="0">
                <a:solidFill>
                  <a:srgbClr val="000000"/>
                </a:solidFill>
              </a:rPr>
              <a:t>20</a:t>
            </a:r>
            <a:r>
              <a:rPr lang="ru-RU" sz="1400" dirty="0">
                <a:solidFill>
                  <a:srgbClr val="000000"/>
                </a:solidFill>
              </a:rPr>
              <a:t> медиафасадов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Количество экранов — по трафику конкретного магазина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Таргетинг и фотофиксация indoor</a:t>
            </a:r>
          </a:p>
        </p:txBody>
      </p:sp>
      <p:sp>
        <p:nvSpPr>
          <p:cNvPr id="215" name="Shape 215"/>
          <p:cNvSpPr/>
          <p:nvPr/>
        </p:nvSpPr>
        <p:spPr>
          <a:xfrm>
            <a:off x="911225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6" name="Shape 216"/>
          <p:cNvSpPr txBox="1"/>
          <p:nvPr/>
        </p:nvSpPr>
        <p:spPr>
          <a:xfrm>
            <a:off x="926465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Этап IV</a:t>
            </a:r>
          </a:p>
        </p:txBody>
      </p:sp>
      <p:sp>
        <p:nvSpPr>
          <p:cNvPr id="217" name="Shape 217"/>
          <p:cNvSpPr txBox="1"/>
          <p:nvPr/>
        </p:nvSpPr>
        <p:spPr>
          <a:xfrm>
            <a:off x="926465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2027+  ·  другие форматы</a:t>
            </a:r>
          </a:p>
        </p:txBody>
      </p:sp>
      <p:sp>
        <p:nvSpPr>
          <p:cNvPr id="218" name="Shape 218"/>
          <p:cNvSpPr/>
          <p:nvPr/>
        </p:nvSpPr>
        <p:spPr>
          <a:xfrm>
            <a:off x="941705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9" name="Shape 219"/>
          <p:cNvSpPr txBox="1"/>
          <p:nvPr/>
        </p:nvSpPr>
        <p:spPr>
          <a:xfrm>
            <a:off x="929005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Раскатка адаптированного подхода на другие форматы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Франшизная модель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Performance-инвентарь в in-store</a:t>
            </a:r>
          </a:p>
        </p:txBody>
      </p:sp>
    </p:spTree>
    <p:extLst>
      <p:ext uri="{BB962C8B-B14F-4D97-AF65-F5344CB8AC3E}">
        <p14:creationId xmlns:p14="http://schemas.microsoft.com/office/powerpoint/2010/main" val="171335330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93E7A19-0F0B-E6EF-F271-75A86904B3E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ru-RU" sz="900" dirty="0">
                <a:solidFill>
                  <a:srgbClr val="6E6E6E"/>
                </a:solidFill>
              </a:rPr>
              <a:t>млн руб. без НДС. Источник: листы «DMP», «Content factory», «RMN». ВГО — внутригрупповые обороты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1389BD3-4A44-0347-87C5-EB7C12DB9D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26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BB96AA7-FFF9-7FC0-FD4C-510EFB459B0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DMP, Content factory и RMN: 2 993 млн руб. выручки (+77%) — от плана команд и юнит-экономики</a:t>
            </a:r>
          </a:p>
        </p:txBody>
      </p:sp>
      <p:sp>
        <p:nvSpPr>
          <p:cNvPr id="300" name="Shape 300"/>
          <p:cNvSpPr txBox="1"/>
          <p:nvPr/>
        </p:nvSpPr>
        <p:spPr>
          <a:xfrm>
            <a:off x="368300" y="1016000"/>
            <a:ext cx="3649133" cy="2794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DMP</a:t>
            </a:r>
          </a:p>
        </p:txBody>
      </p:sp>
      <p:sp>
        <p:nvSpPr>
          <p:cNvPr id="301" name="Shape 301"/>
          <p:cNvSpPr txBox="1"/>
          <p:nvPr/>
        </p:nvSpPr>
        <p:spPr>
          <a:xfrm>
            <a:off x="368300" y="1295400"/>
            <a:ext cx="3649133" cy="2286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ru-RU" sz="1100" dirty="0">
                <a:solidFill>
                  <a:srgbClr val="595959"/>
                </a:solidFill>
              </a:rPr>
              <a:t>1 787 млн руб.  ·  +64% к FC 2026</a:t>
            </a:r>
          </a:p>
        </p:txBody>
      </p:sp>
      <p:sp>
        <p:nvSpPr>
          <p:cNvPr id="302" name="Shape 302"/>
          <p:cNvSpPr txBox="1"/>
          <p:nvPr/>
        </p:nvSpPr>
        <p:spPr>
          <a:xfrm>
            <a:off x="368300" y="1549400"/>
            <a:ext cx="3649133" cy="31750"/>
          </a:xfrm>
          <a:prstGeom prst="rect">
            <a:avLst/>
          </a:prstGeom>
          <a:solidFill>
            <a:srgbClr val="FF452C"/>
          </a:solidFill>
        </p:spPr>
        <p:txBody>
          <a:bodyPr wrap="square" lIns="0" tIns="0" rIns="0" bIns="0">
            <a:noAutofit/>
          </a:bodyPr>
          <a:lstStyle/>
          <a:p>
            <a:endParaRPr lang="ru-RU"/>
          </a:p>
        </p:txBody>
      </p:sp>
      <p:sp>
        <p:nvSpPr>
          <p:cNvPr id="303" name="Shape 303"/>
          <p:cNvSpPr txBox="1"/>
          <p:nvPr/>
        </p:nvSpPr>
        <p:spPr>
          <a:xfrm>
            <a:off x="4271433" y="1016000"/>
            <a:ext cx="3649133" cy="2794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Content factory</a:t>
            </a:r>
          </a:p>
        </p:txBody>
      </p:sp>
      <p:sp>
        <p:nvSpPr>
          <p:cNvPr id="304" name="Shape 304"/>
          <p:cNvSpPr txBox="1"/>
          <p:nvPr/>
        </p:nvSpPr>
        <p:spPr>
          <a:xfrm>
            <a:off x="4271433" y="1295400"/>
            <a:ext cx="3649133" cy="2286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ru-RU" sz="1100" dirty="0">
                <a:solidFill>
                  <a:srgbClr val="595959"/>
                </a:solidFill>
              </a:rPr>
              <a:t>356 млн руб.  ·  результат 113 млн руб.</a:t>
            </a:r>
          </a:p>
        </p:txBody>
      </p:sp>
      <p:sp>
        <p:nvSpPr>
          <p:cNvPr id="305" name="Shape 305"/>
          <p:cNvSpPr txBox="1"/>
          <p:nvPr/>
        </p:nvSpPr>
        <p:spPr>
          <a:xfrm>
            <a:off x="4271433" y="1549400"/>
            <a:ext cx="3649133" cy="31750"/>
          </a:xfrm>
          <a:prstGeom prst="rect">
            <a:avLst/>
          </a:prstGeom>
          <a:solidFill>
            <a:srgbClr val="FF452C"/>
          </a:solidFill>
        </p:spPr>
        <p:txBody>
          <a:bodyPr wrap="square" lIns="0" tIns="0" rIns="0" bIns="0">
            <a:noAutofit/>
          </a:bodyPr>
          <a:lstStyle/>
          <a:p>
            <a:endParaRPr lang="ru-RU"/>
          </a:p>
        </p:txBody>
      </p:sp>
      <p:sp>
        <p:nvSpPr>
          <p:cNvPr id="306" name="Shape 306"/>
          <p:cNvSpPr txBox="1"/>
          <p:nvPr/>
        </p:nvSpPr>
        <p:spPr>
          <a:xfrm>
            <a:off x="8174567" y="1016000"/>
            <a:ext cx="3649133" cy="2794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RMN</a:t>
            </a:r>
          </a:p>
        </p:txBody>
      </p:sp>
      <p:sp>
        <p:nvSpPr>
          <p:cNvPr id="307" name="Shape 307"/>
          <p:cNvSpPr txBox="1"/>
          <p:nvPr/>
        </p:nvSpPr>
        <p:spPr>
          <a:xfrm>
            <a:off x="8174567" y="1295400"/>
            <a:ext cx="3649133" cy="2286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ru-RU" sz="1100" dirty="0">
                <a:solidFill>
                  <a:srgbClr val="595959"/>
                </a:solidFill>
              </a:rPr>
              <a:t>850 млн руб.  ·  +43% к FC 2026</a:t>
            </a:r>
          </a:p>
        </p:txBody>
      </p:sp>
      <p:sp>
        <p:nvSpPr>
          <p:cNvPr id="308" name="Shape 308"/>
          <p:cNvSpPr txBox="1"/>
          <p:nvPr/>
        </p:nvSpPr>
        <p:spPr>
          <a:xfrm>
            <a:off x="8174567" y="1549400"/>
            <a:ext cx="3649133" cy="31750"/>
          </a:xfrm>
          <a:prstGeom prst="rect">
            <a:avLst/>
          </a:prstGeom>
          <a:solidFill>
            <a:srgbClr val="FF452C"/>
          </a:solidFill>
        </p:spPr>
        <p:txBody>
          <a:bodyPr wrap="square" lIns="0" tIns="0" rIns="0" bIns="0">
            <a:noAutofit/>
          </a:bodyPr>
          <a:lstStyle/>
          <a:p>
            <a:endParaRPr lang="ru-RU"/>
          </a:p>
        </p:txBody>
      </p:sp>
      <p:graphicFrame>
        <p:nvGraphicFramePr>
          <p:cNvPr id="309" name="Table 309"/>
          <p:cNvGraphicFramePr>
            <a:graphicFrameLocks noGrp="1"/>
          </p:cNvGraphicFramePr>
          <p:nvPr/>
        </p:nvGraphicFramePr>
        <p:xfrm>
          <a:off x="368300" y="1676400"/>
          <a:ext cx="3733800" cy="1925320"/>
        </p:xfrm>
        <a:graphic>
          <a:graphicData uri="http://schemas.openxmlformats.org/drawingml/2006/table">
            <a:tbl>
              <a:tblPr firstRow="1"/>
              <a:tblGrid>
                <a:gridCol w="1905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8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39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Направление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Выручка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Маржа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Пакеты и Онлайн+ТВ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393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25%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Баннеры и OLV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788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40%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Новые площадки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420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44%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DMP + Online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1 600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37,5%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595959"/>
                          </a:solidFill>
                          <a:latin typeface="Arial"/>
                        </a:rPr>
                        <a:t>Закупка трафика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595959"/>
                          </a:solidFill>
                          <a:latin typeface="Arial"/>
                        </a:rPr>
                        <a:t>(1 000)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/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DMP + Analytics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310" name="Shape 310"/>
          <p:cNvSpPr txBox="1"/>
          <p:nvPr/>
        </p:nvSpPr>
        <p:spPr>
          <a:xfrm>
            <a:off x="368300" y="3683000"/>
            <a:ext cx="3649133" cy="24130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171450" indent="-171450" algn="l">
              <a:spcBef>
                <a:spcPts val="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Выручка — </a:t>
            </a:r>
            <a:r>
              <a:rPr lang="ru-RU" sz="1200" dirty="0">
                <a:solidFill>
                  <a:srgbClr val="000000"/>
                </a:solidFill>
              </a:rPr>
              <a:t>план команды DMP и интеграция брендов Центральным Маркетингом</a:t>
            </a:r>
          </a:p>
          <a:p>
            <a:pPr marL="171450" indent="-171450" algn="l">
              <a:spcBef>
                <a:spcPts val="5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Закупка трафика = </a:t>
            </a:r>
            <a:r>
              <a:rPr lang="ru-RU" sz="1200" dirty="0">
                <a:solidFill>
                  <a:srgbClr val="000000"/>
                </a:solidFill>
              </a:rPr>
              <a:t>выручка × (1 − маржинальность), отражена в Marketing</a:t>
            </a:r>
          </a:p>
          <a:p>
            <a:pPr marL="171450" indent="-171450" algn="l">
              <a:spcBef>
                <a:spcPts val="5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Analytics: </a:t>
            </a:r>
            <a:r>
              <a:rPr lang="ru-RU" sz="1200" dirty="0">
                <a:solidFill>
                  <a:srgbClr val="000000"/>
                </a:solidFill>
              </a:rPr>
              <a:t>DMP 54 и ad hoc 133 млн руб.</a:t>
            </a:r>
          </a:p>
        </p:txBody>
      </p:sp>
      <p:graphicFrame>
        <p:nvGraphicFramePr>
          <p:cNvPr id="311" name="Table 311"/>
          <p:cNvGraphicFramePr>
            <a:graphicFrameLocks noGrp="1"/>
          </p:cNvGraphicFramePr>
          <p:nvPr/>
        </p:nvGraphicFramePr>
        <p:xfrm>
          <a:off x="4271433" y="1676400"/>
          <a:ext cx="3733800" cy="2133600"/>
        </p:xfrm>
        <a:graphic>
          <a:graphicData uri="http://schemas.openxmlformats.org/drawingml/2006/table">
            <a:tbl>
              <a:tblPr firstRow="1"/>
              <a:tblGrid>
                <a:gridCol w="2463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7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Воронка, 2027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Значение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Ячеек × креаторов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6 × 25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Публикаций, тыс.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414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Просмотров, млн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569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Внешние: 284 млн × 0,75 руб.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213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ВГО: 284 млн × 0,5 руб.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142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Креаторы (176) и команда (66)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(242)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Результат CF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113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solidFill>
                      <a:srgbClr val="FFE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12" name="Shape 312"/>
          <p:cNvSpPr txBox="1"/>
          <p:nvPr/>
        </p:nvSpPr>
        <p:spPr>
          <a:xfrm>
            <a:off x="4271433" y="3962400"/>
            <a:ext cx="3649133" cy="21336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171450" indent="-171450" algn="l">
              <a:spcBef>
                <a:spcPts val="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Публикации = </a:t>
            </a:r>
            <a:r>
              <a:rPr lang="ru-RU" sz="1200" dirty="0">
                <a:solidFill>
                  <a:srgbClr val="000000"/>
                </a:solidFill>
              </a:rPr>
              <a:t>ячейки × креаторы × 60–70 единиц контента × 4 (дублирование)</a:t>
            </a:r>
          </a:p>
          <a:p>
            <a:pPr marL="171450" indent="-171450" algn="l">
              <a:spcBef>
                <a:spcPts val="5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Себестоимость просмотра </a:t>
            </a:r>
            <a:r>
              <a:rPr lang="ru-RU" sz="1200" dirty="0">
                <a:solidFill>
                  <a:srgbClr val="000000"/>
                </a:solidFill>
              </a:rPr>
              <a:t>0,46 руб.; ставка креатора 105 тыс. руб. в месяц</a:t>
            </a:r>
          </a:p>
          <a:p>
            <a:pPr marL="171450" indent="-171450" algn="l">
              <a:spcBef>
                <a:spcPts val="5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Рентабельность 32%</a:t>
            </a:r>
          </a:p>
        </p:txBody>
      </p:sp>
      <p:graphicFrame>
        <p:nvGraphicFramePr>
          <p:cNvPr id="313" name="Table 313"/>
          <p:cNvGraphicFramePr>
            <a:graphicFrameLocks noGrp="1"/>
          </p:cNvGraphicFramePr>
          <p:nvPr/>
        </p:nvGraphicFramePr>
        <p:xfrm>
          <a:off x="8174567" y="1676400"/>
          <a:ext cx="3733800" cy="800100"/>
        </p:xfrm>
        <a:graphic>
          <a:graphicData uri="http://schemas.openxmlformats.org/drawingml/2006/table">
            <a:tbl>
              <a:tblPr firstRow="1"/>
              <a:tblGrid>
                <a:gridCol w="2463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7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RMN</a:t>
                      </a:r>
                      <a:endParaRPr lang="ru-RU" sz="1000" b="1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млн руб.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2026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593</a:t>
                      </a:r>
                      <a:endParaRPr lang="ru-RU" sz="1100" b="1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2027</a:t>
                      </a:r>
                      <a:endParaRPr lang="ru-RU" sz="1100" b="1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850</a:t>
                      </a:r>
                      <a:endParaRPr lang="ru-RU" sz="1100" b="1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72569"/>
                  </a:ext>
                </a:extLst>
              </a:tr>
            </a:tbl>
          </a:graphicData>
        </a:graphic>
      </p:graphicFrame>
      <p:sp>
        <p:nvSpPr>
          <p:cNvPr id="314" name="Shape 314"/>
          <p:cNvSpPr txBox="1"/>
          <p:nvPr/>
        </p:nvSpPr>
        <p:spPr>
          <a:xfrm>
            <a:off x="8174567" y="3962400"/>
            <a:ext cx="3649133" cy="21336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171450" indent="-171450" algn="l">
              <a:spcBef>
                <a:spcPts val="5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BU 2027: </a:t>
            </a:r>
            <a:r>
              <a:rPr lang="ru-RU" sz="1200" dirty="0">
                <a:solidFill>
                  <a:srgbClr val="000000"/>
                </a:solidFill>
              </a:rPr>
              <a:t>850 млн руб., +</a:t>
            </a:r>
            <a:r>
              <a:rPr lang="en-US" sz="1200" dirty="0">
                <a:solidFill>
                  <a:srgbClr val="000000"/>
                </a:solidFill>
              </a:rPr>
              <a:t>43</a:t>
            </a:r>
            <a:r>
              <a:rPr lang="ru-RU" sz="1200" dirty="0">
                <a:solidFill>
                  <a:srgbClr val="000000"/>
                </a:solidFill>
              </a:rPr>
              <a:t>% к 2026</a:t>
            </a:r>
          </a:p>
          <a:p>
            <a:pPr marL="171450" indent="-171450" algn="l">
              <a:spcBef>
                <a:spcPts val="5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Отдельное ЮЛ </a:t>
            </a:r>
            <a:r>
              <a:rPr lang="ru-RU" sz="1200" dirty="0">
                <a:solidFill>
                  <a:srgbClr val="000000"/>
                </a:solidFill>
              </a:rPr>
              <a:t>для сделок по направлению</a:t>
            </a:r>
          </a:p>
        </p:txBody>
      </p:sp>
    </p:spTree>
    <p:extLst>
      <p:ext uri="{BB962C8B-B14F-4D97-AF65-F5344CB8AC3E}">
        <p14:creationId xmlns:p14="http://schemas.microsoft.com/office/powerpoint/2010/main" val="317697178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056059-17AC-0E22-6608-13D1F495741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27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248931F-8DCA-B7A7-C277-09DE317B59C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Внешний инвентарь: Retail Media Network, social commerce и данные Магнита на внешних площадках</a:t>
            </a:r>
          </a:p>
        </p:txBody>
      </p:sp>
      <p:sp>
        <p:nvSpPr>
          <p:cNvPr id="200" name="Shape 200"/>
          <p:cNvSpPr/>
          <p:nvPr/>
        </p:nvSpPr>
        <p:spPr>
          <a:xfrm>
            <a:off x="36830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1" name="Shape 201"/>
          <p:cNvSpPr txBox="1"/>
          <p:nvPr/>
        </p:nvSpPr>
        <p:spPr>
          <a:xfrm>
            <a:off x="52070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Retail Media Network</a:t>
            </a:r>
          </a:p>
        </p:txBody>
      </p:sp>
      <p:sp>
        <p:nvSpPr>
          <p:cNvPr id="202" name="Shape 202"/>
          <p:cNvSpPr txBox="1"/>
          <p:nvPr/>
        </p:nvSpPr>
        <p:spPr>
          <a:xfrm>
            <a:off x="52070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850 млн руб.  ·  +43%</a:t>
            </a:r>
          </a:p>
        </p:txBody>
      </p:sp>
      <p:sp>
        <p:nvSpPr>
          <p:cNvPr id="203" name="Shape 203"/>
          <p:cNvSpPr/>
          <p:nvPr/>
        </p:nvSpPr>
        <p:spPr>
          <a:xfrm>
            <a:off x="67310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4" name="Shape 204"/>
          <p:cNvSpPr txBox="1"/>
          <p:nvPr/>
        </p:nvSpPr>
        <p:spPr>
          <a:xfrm>
            <a:off x="54610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Внешнее ЮЛ для бренд-бюджетов поставщиков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Охваты как альтернатива ТВ, OOH и digital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Пакеты с инвентарем других ритейл-медиа игроков</a:t>
            </a:r>
          </a:p>
        </p:txBody>
      </p:sp>
      <p:sp>
        <p:nvSpPr>
          <p:cNvPr id="205" name="Shape 205"/>
          <p:cNvSpPr/>
          <p:nvPr/>
        </p:nvSpPr>
        <p:spPr>
          <a:xfrm>
            <a:off x="328295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6" name="Shape 206"/>
          <p:cNvSpPr txBox="1"/>
          <p:nvPr/>
        </p:nvSpPr>
        <p:spPr>
          <a:xfrm>
            <a:off x="343535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Social commerce</a:t>
            </a:r>
          </a:p>
        </p:txBody>
      </p:sp>
      <p:sp>
        <p:nvSpPr>
          <p:cNvPr id="207" name="Shape 207"/>
          <p:cNvSpPr txBox="1"/>
          <p:nvPr/>
        </p:nvSpPr>
        <p:spPr>
          <a:xfrm>
            <a:off x="343535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356 млн руб.</a:t>
            </a:r>
          </a:p>
        </p:txBody>
      </p:sp>
      <p:sp>
        <p:nvSpPr>
          <p:cNvPr id="208" name="Shape 208"/>
          <p:cNvSpPr/>
          <p:nvPr/>
        </p:nvSpPr>
        <p:spPr>
          <a:xfrm>
            <a:off x="358775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9" name="Shape 209"/>
          <p:cNvSpPr txBox="1"/>
          <p:nvPr/>
        </p:nvSpPr>
        <p:spPr>
          <a:xfrm>
            <a:off x="346075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Content factory: </a:t>
            </a:r>
            <a:r>
              <a:rPr lang="ru-RU" sz="1400" b="1" dirty="0">
                <a:solidFill>
                  <a:srgbClr val="000000"/>
                </a:solidFill>
              </a:rPr>
              <a:t>6 ячеек</a:t>
            </a:r>
            <a:r>
              <a:rPr lang="ru-RU" sz="1400" dirty="0">
                <a:solidFill>
                  <a:srgbClr val="000000"/>
                </a:solidFill>
              </a:rPr>
              <a:t> по 25 креаторов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b="1" dirty="0">
                <a:solidFill>
                  <a:srgbClr val="000000"/>
                </a:solidFill>
              </a:rPr>
              <a:t>569 млн</a:t>
            </a:r>
            <a:r>
              <a:rPr lang="ru-RU" sz="1400" dirty="0">
                <a:solidFill>
                  <a:srgbClr val="000000"/>
                </a:solidFill>
              </a:rPr>
              <a:t> просмотров, половина — внешним рекламодателям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Блогерская платформа MIP и </a:t>
            </a:r>
            <a:r>
              <a:rPr lang="ru-RU" sz="1400" dirty="0" err="1">
                <a:solidFill>
                  <a:srgbClr val="000000"/>
                </a:solidFill>
              </a:rPr>
              <a:t>shoppable</a:t>
            </a:r>
            <a:r>
              <a:rPr lang="ru-RU" sz="1400" dirty="0">
                <a:solidFill>
                  <a:srgbClr val="000000"/>
                </a:solidFill>
              </a:rPr>
              <a:t>-партнерства</a:t>
            </a:r>
          </a:p>
        </p:txBody>
      </p:sp>
      <p:sp>
        <p:nvSpPr>
          <p:cNvPr id="210" name="Shape 210"/>
          <p:cNvSpPr/>
          <p:nvPr/>
        </p:nvSpPr>
        <p:spPr>
          <a:xfrm>
            <a:off x="619760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1" name="Shape 211"/>
          <p:cNvSpPr txBox="1"/>
          <p:nvPr/>
        </p:nvSpPr>
        <p:spPr>
          <a:xfrm>
            <a:off x="635000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DMP + Online</a:t>
            </a:r>
          </a:p>
        </p:txBody>
      </p:sp>
      <p:sp>
        <p:nvSpPr>
          <p:cNvPr id="212" name="Shape 212"/>
          <p:cNvSpPr txBox="1"/>
          <p:nvPr/>
        </p:nvSpPr>
        <p:spPr>
          <a:xfrm>
            <a:off x="635000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1 600 млн руб.  ·  +62%</a:t>
            </a:r>
          </a:p>
        </p:txBody>
      </p:sp>
      <p:sp>
        <p:nvSpPr>
          <p:cNvPr id="213" name="Shape 213"/>
          <p:cNvSpPr/>
          <p:nvPr/>
        </p:nvSpPr>
        <p:spPr>
          <a:xfrm>
            <a:off x="650240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4" name="Shape 214"/>
          <p:cNvSpPr txBox="1"/>
          <p:nvPr/>
        </p:nvSpPr>
        <p:spPr>
          <a:xfrm>
            <a:off x="637540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Баннеры и OLV на внешних площадках по данным Магнита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Пакеты и Онлайн+ТВ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Новые площадки: </a:t>
            </a:r>
            <a:r>
              <a:rPr lang="ru-RU" sz="1400" b="1" dirty="0">
                <a:solidFill>
                  <a:srgbClr val="000000"/>
                </a:solidFill>
              </a:rPr>
              <a:t>SmartTV, Авито,</a:t>
            </a:r>
            <a:r>
              <a:rPr lang="ru-RU" sz="1400" dirty="0">
                <a:solidFill>
                  <a:srgbClr val="000000"/>
                </a:solidFill>
              </a:rPr>
              <a:t> маркетплейсы</a:t>
            </a:r>
          </a:p>
        </p:txBody>
      </p:sp>
      <p:sp>
        <p:nvSpPr>
          <p:cNvPr id="215" name="Shape 215"/>
          <p:cNvSpPr/>
          <p:nvPr/>
        </p:nvSpPr>
        <p:spPr>
          <a:xfrm>
            <a:off x="911225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6" name="Shape 216"/>
          <p:cNvSpPr txBox="1"/>
          <p:nvPr/>
        </p:nvSpPr>
        <p:spPr>
          <a:xfrm>
            <a:off x="926465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Внешний инвентарь</a:t>
            </a:r>
          </a:p>
        </p:txBody>
      </p:sp>
      <p:sp>
        <p:nvSpPr>
          <p:cNvPr id="217" name="Shape 217"/>
          <p:cNvSpPr txBox="1"/>
          <p:nvPr/>
        </p:nvSpPr>
        <p:spPr>
          <a:xfrm>
            <a:off x="926465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Следующий шаг</a:t>
            </a:r>
          </a:p>
        </p:txBody>
      </p:sp>
      <p:sp>
        <p:nvSpPr>
          <p:cNvPr id="218" name="Shape 218"/>
          <p:cNvSpPr/>
          <p:nvPr/>
        </p:nvSpPr>
        <p:spPr>
          <a:xfrm>
            <a:off x="941705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9" name="Shape 219"/>
          <p:cNvSpPr txBox="1"/>
          <p:nvPr/>
        </p:nvSpPr>
        <p:spPr>
          <a:xfrm>
            <a:off x="929005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Подключение Дикси и Азбуки Вкуса к платформе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OOH и DOOH, внешние рекламные сети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Технологии и данные — для внешнего трафика</a:t>
            </a:r>
          </a:p>
        </p:txBody>
      </p:sp>
    </p:spTree>
    <p:extLst>
      <p:ext uri="{BB962C8B-B14F-4D97-AF65-F5344CB8AC3E}">
        <p14:creationId xmlns:p14="http://schemas.microsoft.com/office/powerpoint/2010/main" val="120914386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2B1FA00-966B-D804-0FFD-15FCFF347BD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ru-RU" sz="900" dirty="0">
                <a:solidFill>
                  <a:srgbClr val="6E6E6E"/>
                </a:solidFill>
              </a:rPr>
              <a:t>млн руб. без НДС. Красным — расходы, которые масштабируются с выручкой. Источник: листы «Расходы», «Потребности», «PEX»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8C60FB5-2F57-2A40-8B8F-6189F97D95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28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926C368-B69A-4DC3-8713-5D58E7BC4B3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OPEX +1 543 млн руб. (+69%): 73% прироста — расходы, привязанные к выручке DMP, агентств и CF</a:t>
            </a:r>
          </a:p>
        </p:txBody>
      </p:sp>
      <p:graphicFrame>
        <p:nvGraphicFramePr>
          <p:cNvPr id="5" name="Chart"/>
          <p:cNvGraphicFramePr/>
          <p:nvPr/>
        </p:nvGraphicFramePr>
        <p:xfrm>
          <a:off x="368300" y="1333500"/>
          <a:ext cx="6985000" cy="482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300" name="Shape 300"/>
          <p:cNvSpPr txBox="1"/>
          <p:nvPr/>
        </p:nvSpPr>
        <p:spPr>
          <a:xfrm>
            <a:off x="368300" y="1016000"/>
            <a:ext cx="6858000" cy="304800"/>
          </a:xfrm>
          <a:prstGeom prst="rect">
            <a:avLst/>
          </a:prstGeom>
          <a:noFill/>
        </p:spPr>
        <p:txBody>
          <a:bodyPr wrap="square" lIns="91440" tIns="0" rIns="0" bIns="0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Прирост OPEX 2027 к FC 2026 по статьям, млн руб.</a:t>
            </a:r>
          </a:p>
        </p:txBody>
      </p:sp>
      <p:sp>
        <p:nvSpPr>
          <p:cNvPr id="301" name="Shape 301"/>
          <p:cNvSpPr txBox="1"/>
          <p:nvPr/>
        </p:nvSpPr>
        <p:spPr>
          <a:xfrm>
            <a:off x="7620000" y="1016000"/>
            <a:ext cx="4203700" cy="3048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OPEX в % от выручки</a:t>
            </a:r>
          </a:p>
        </p:txBody>
      </p:sp>
      <p:graphicFrame>
        <p:nvGraphicFramePr>
          <p:cNvPr id="302" name="Table 302"/>
          <p:cNvGraphicFramePr>
            <a:graphicFrameLocks noGrp="1"/>
          </p:cNvGraphicFramePr>
          <p:nvPr/>
        </p:nvGraphicFramePr>
        <p:xfrm>
          <a:off x="7620000" y="1397000"/>
          <a:ext cx="4203700" cy="1333500"/>
        </p:xfrm>
        <a:graphic>
          <a:graphicData uri="http://schemas.openxmlformats.org/drawingml/2006/table">
            <a:tbl>
              <a:tblPr firstRow="1"/>
              <a:tblGrid>
                <a:gridCol w="1536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8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89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89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Статья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FC 2026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BU 2027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Δ, п.п.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Marketing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9,1%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14,3%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+5,2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PEX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10,8%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9,7%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−1,1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IT и прочие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1,8%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1,6%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−0,2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OPEX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21,7%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25,6%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+3,9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03" name="Shape 303"/>
          <p:cNvSpPr txBox="1"/>
          <p:nvPr/>
        </p:nvSpPr>
        <p:spPr>
          <a:xfrm>
            <a:off x="7620000" y="2921000"/>
            <a:ext cx="4203700" cy="31750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171450" indent="-171450">
              <a:spcBef>
                <a:spcPts val="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Закупка трафика DMP: </a:t>
            </a:r>
            <a:r>
              <a:rPr lang="ru-RU" sz="1200" dirty="0">
                <a:solidFill>
                  <a:srgbClr val="000000"/>
                </a:solidFill>
              </a:rPr>
              <a:t>1 000 млн руб. — 62,5% выручки DMP + Online</a:t>
            </a:r>
          </a:p>
          <a:p>
            <a:pPr marL="171450" indent="-171450">
              <a:spcBef>
                <a:spcPts val="5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Вознаграждения агентствам: </a:t>
            </a:r>
            <a:r>
              <a:rPr lang="ru-RU" sz="1200" dirty="0">
                <a:solidFill>
                  <a:srgbClr val="000000"/>
                </a:solidFill>
              </a:rPr>
              <a:t>795 млн руб., 66 млн руб. в месяц</a:t>
            </a:r>
          </a:p>
          <a:p>
            <a:pPr marL="171450" indent="-171450">
              <a:spcBef>
                <a:spcPts val="5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Креаторы: 214 млн руб. (ячейки CF 176)</a:t>
            </a:r>
            <a:r>
              <a:rPr lang="ru-RU" sz="1200" dirty="0">
                <a:solidFill>
                  <a:srgbClr val="000000"/>
                </a:solidFill>
              </a:rPr>
              <a:t> при выручке CF 356 млн руб.</a:t>
            </a:r>
          </a:p>
          <a:p>
            <a:pPr marL="171450" indent="-171450">
              <a:spcBef>
                <a:spcPts val="5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PEX +28%: </a:t>
            </a:r>
            <a:r>
              <a:rPr lang="ru-RU" sz="1200" dirty="0">
                <a:solidFill>
                  <a:srgbClr val="000000"/>
                </a:solidFill>
              </a:rPr>
              <a:t>ФОТ AdTech +250 — full year run-rate штата, набранного в 2026 г., и +42 FTE (312 → 354 на конец года); +66 — команда Content factory; доля в выручке снижается</a:t>
            </a:r>
          </a:p>
        </p:txBody>
      </p:sp>
    </p:spTree>
    <p:extLst>
      <p:ext uri="{BB962C8B-B14F-4D97-AF65-F5344CB8AC3E}">
        <p14:creationId xmlns:p14="http://schemas.microsoft.com/office/powerpoint/2010/main" val="40909353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FA32A12-DBF8-B635-A4EF-BC200353AF6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ru-RU" sz="900" dirty="0">
                <a:solidFill>
                  <a:srgbClr val="6E6E6E"/>
                </a:solidFill>
              </a:rPr>
              <a:t>млн руб. без НДС. «Прочие» — Other PEX и Other OPEX. Источник: лист «P&amp;L 2027»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C9A00D5-F5F7-4269-9282-3782D2317F3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29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78F8EA2-D748-7415-AF7B-A35DE0C7B24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EBITDA +2 870 млн руб. (+35%): 65% прироста выручки доходит до EBITDA</a:t>
            </a:r>
          </a:p>
        </p:txBody>
      </p:sp>
      <p:graphicFrame>
        <p:nvGraphicFramePr>
          <p:cNvPr id="5" name="Chart"/>
          <p:cNvGraphicFramePr/>
          <p:nvPr/>
        </p:nvGraphicFramePr>
        <p:xfrm>
          <a:off x="368300" y="1333500"/>
          <a:ext cx="7112000" cy="4800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300" name="Shape 300"/>
          <p:cNvSpPr txBox="1"/>
          <p:nvPr/>
        </p:nvSpPr>
        <p:spPr>
          <a:xfrm>
            <a:off x="368300" y="1016000"/>
            <a:ext cx="7112000" cy="304800"/>
          </a:xfrm>
          <a:prstGeom prst="rect">
            <a:avLst/>
          </a:prstGeom>
          <a:noFill/>
        </p:spPr>
        <p:txBody>
          <a:bodyPr wrap="square" lIns="91440" tIns="0" rIns="0" bIns="0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EBITDA: FC 2026 → BU 2027, млн руб.</a:t>
            </a:r>
          </a:p>
        </p:txBody>
      </p:sp>
      <p:sp>
        <p:nvSpPr>
          <p:cNvPr id="301" name="Shape 301"/>
          <p:cNvSpPr txBox="1"/>
          <p:nvPr/>
        </p:nvSpPr>
        <p:spPr>
          <a:xfrm>
            <a:off x="7696200" y="1016000"/>
            <a:ext cx="4127500" cy="50800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Комментарии</a:t>
            </a:r>
          </a:p>
          <a:p>
            <a:pPr marL="171450" indent="-171450">
              <a:spcBef>
                <a:spcPts val="9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Выручка +4 412: APP +1 501, In-store +1 612</a:t>
            </a:r>
            <a:r>
              <a:rPr lang="ru-RU" sz="1200" dirty="0">
                <a:solidFill>
                  <a:srgbClr val="000000"/>
                </a:solidFill>
              </a:rPr>
              <a:t>, DMP, RMN и CF +1 299</a:t>
            </a:r>
          </a:p>
          <a:p>
            <a:pPr marL="171450" indent="-171450">
              <a:spcBef>
                <a:spcPts val="6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Marketing −1 174: </a:t>
            </a:r>
            <a:r>
              <a:rPr lang="ru-RU" sz="1200" dirty="0">
                <a:solidFill>
                  <a:srgbClr val="000000"/>
                </a:solidFill>
              </a:rPr>
              <a:t>закупка трафика DMP (−489), агентские вознаграждения (−441), креаторы (−199)</a:t>
            </a:r>
          </a:p>
          <a:p>
            <a:pPr marL="171450" indent="-171450">
              <a:spcBef>
                <a:spcPts val="6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PEX −316 (+28%): </a:t>
            </a:r>
            <a:r>
              <a:rPr lang="ru-RU" sz="1200" dirty="0">
                <a:solidFill>
                  <a:srgbClr val="000000"/>
                </a:solidFill>
              </a:rPr>
              <a:t>ФОТ AdTech −250 — full year run-rate штата 2026 г. и +42 FTE (312 → 354 на конец года); команда Content factory −66</a:t>
            </a:r>
          </a:p>
          <a:p>
            <a:pPr marL="171450" indent="-171450">
              <a:spcBef>
                <a:spcPts val="6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IT −34: </a:t>
            </a:r>
            <a:r>
              <a:rPr lang="ru-RU" sz="1200" dirty="0">
                <a:solidFill>
                  <a:srgbClr val="000000"/>
                </a:solidFill>
              </a:rPr>
              <a:t>техподдержка и сопровождение ПО 92 млн руб.</a:t>
            </a:r>
          </a:p>
        </p:txBody>
      </p:sp>
    </p:spTree>
    <p:extLst>
      <p:ext uri="{BB962C8B-B14F-4D97-AF65-F5344CB8AC3E}">
        <p14:creationId xmlns:p14="http://schemas.microsoft.com/office/powerpoint/2010/main" val="296943672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DA91855-A4E0-FABA-3EBF-ADB659F33438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ru-RU" sz="900" dirty="0">
                <a:solidFill>
                  <a:srgbClr val="6E6E6E"/>
                </a:solidFill>
              </a:rPr>
              <a:t>млн руб. без НДС. Источник: листы «Расходы», «Потребности», «PEX», «Summary»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3BBA5D7-7FA0-A89F-F576-81B46FDABE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30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F878B28-0AD1-DD08-24A2-52FA2A0D0B3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CAPEX 1 151 млн руб. (−2%): рост капитализации разработки компенсирован сокращением in-store проектов</a:t>
            </a:r>
          </a:p>
        </p:txBody>
      </p:sp>
      <p:graphicFrame>
        <p:nvGraphicFramePr>
          <p:cNvPr id="5" name="Chart"/>
          <p:cNvGraphicFramePr/>
          <p:nvPr/>
        </p:nvGraphicFramePr>
        <p:xfrm>
          <a:off x="368300" y="1333500"/>
          <a:ext cx="7112000" cy="4800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300" name="Shape 300"/>
          <p:cNvSpPr txBox="1"/>
          <p:nvPr/>
        </p:nvSpPr>
        <p:spPr>
          <a:xfrm>
            <a:off x="368300" y="1016000"/>
            <a:ext cx="7112000" cy="304800"/>
          </a:xfrm>
          <a:prstGeom prst="rect">
            <a:avLst/>
          </a:prstGeom>
          <a:noFill/>
        </p:spPr>
        <p:txBody>
          <a:bodyPr wrap="square" lIns="91440" tIns="0" rIns="0" bIns="0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CAPEX: FC 2026 → BU 2027, млн руб.</a:t>
            </a:r>
          </a:p>
        </p:txBody>
      </p:sp>
      <p:sp>
        <p:nvSpPr>
          <p:cNvPr id="301" name="Shape 301"/>
          <p:cNvSpPr txBox="1"/>
          <p:nvPr/>
        </p:nvSpPr>
        <p:spPr>
          <a:xfrm>
            <a:off x="7696200" y="1016000"/>
            <a:ext cx="4127500" cy="3048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CAPEX по проектам</a:t>
            </a:r>
          </a:p>
        </p:txBody>
      </p:sp>
      <p:graphicFrame>
        <p:nvGraphicFramePr>
          <p:cNvPr id="302" name="Table 302"/>
          <p:cNvGraphicFramePr>
            <a:graphicFrameLocks noGrp="1"/>
          </p:cNvGraphicFramePr>
          <p:nvPr/>
        </p:nvGraphicFramePr>
        <p:xfrm>
          <a:off x="7696200" y="1397000"/>
          <a:ext cx="4127500" cy="1183640"/>
        </p:xfrm>
        <a:graphic>
          <a:graphicData uri="http://schemas.openxmlformats.org/drawingml/2006/table">
            <a:tbl>
              <a:tblPr firstRow="1"/>
              <a:tblGrid>
                <a:gridCol w="1460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8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89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89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млн руб.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FC 2026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BU 2027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Стратегия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AT Platform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447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541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/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In-store digital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732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610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/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CAPEX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1 180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1 151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1 242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03" name="Shape 303"/>
          <p:cNvSpPr txBox="1"/>
          <p:nvPr/>
        </p:nvSpPr>
        <p:spPr>
          <a:xfrm>
            <a:off x="7696200" y="2819400"/>
            <a:ext cx="4127500" cy="32766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171450" indent="-171450">
              <a:spcBef>
                <a:spcPts val="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ФОТ разработки 510: </a:t>
            </a:r>
            <a:r>
              <a:rPr lang="ru-RU" sz="1200" dirty="0">
                <a:solidFill>
                  <a:srgbClr val="000000"/>
                </a:solidFill>
              </a:rPr>
              <a:t>27% ФОТ капитализируется — IT, Product, Analytics, BizDev IT</a:t>
            </a:r>
          </a:p>
          <a:p>
            <a:pPr marL="171450" indent="-171450">
              <a:spcBef>
                <a:spcPts val="5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ИТ-закупки 31: </a:t>
            </a:r>
            <a:r>
              <a:rPr lang="ru-RU" sz="1200" dirty="0">
                <a:solidFill>
                  <a:srgbClr val="000000"/>
                </a:solidFill>
              </a:rPr>
              <a:t>MacBook 14 (найм 30 чел.), AI-инструменты 11, Optimacros 5</a:t>
            </a:r>
          </a:p>
          <a:p>
            <a:pPr marL="171450" indent="-171450">
              <a:spcBef>
                <a:spcPts val="5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In-store 610: </a:t>
            </a:r>
            <a:r>
              <a:rPr lang="ru-RU" sz="1200" dirty="0">
                <a:solidFill>
                  <a:srgbClr val="000000"/>
                </a:solidFill>
              </a:rPr>
              <a:t>система управления медиаконтентом 438 и её внедрение 9, фасад и билборд БФ 82, фасадные экраны ТТ 80; интеграция медиа с КСО не закладывается</a:t>
            </a:r>
          </a:p>
          <a:p>
            <a:pPr marL="171450" indent="-171450">
              <a:spcBef>
                <a:spcPts val="5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Собственная разработка </a:t>
            </a:r>
            <a:r>
              <a:rPr lang="ru-RU" sz="1200" dirty="0">
                <a:solidFill>
                  <a:srgbClr val="000000"/>
                </a:solidFill>
              </a:rPr>
              <a:t>(Cubic, InAppStory) экономит ГК 22 млн руб. в год</a:t>
            </a:r>
          </a:p>
        </p:txBody>
      </p:sp>
    </p:spTree>
    <p:extLst>
      <p:ext uri="{BB962C8B-B14F-4D97-AF65-F5344CB8AC3E}">
        <p14:creationId xmlns:p14="http://schemas.microsoft.com/office/powerpoint/2010/main" val="65142450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85DF8EBA-9590-4C81-9F69-5D123BF9617A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95" imgH="394" progId="TCLayout.ActiveDocument.1">
                  <p:embed/>
                </p:oleObj>
              </mc:Choice>
              <mc:Fallback>
                <p:oleObj name="think-cell Slide" r:id="rId4" imgW="395" imgH="394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85DF8EBA-9590-4C81-9F69-5D123BF9617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Текст 1">
            <a:extLst>
              <a:ext uri="{FF2B5EF4-FFF2-40B4-BE49-F238E27FC236}">
                <a16:creationId xmlns:a16="http://schemas.microsoft.com/office/drawing/2014/main" id="{E7D62E96-F664-40DC-868E-D0B2F0A46B2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ru-RU" dirty="0"/>
              <a:t>Октябрь 2026</a:t>
            </a:r>
          </a:p>
        </p:txBody>
      </p:sp>
      <p:sp>
        <p:nvSpPr>
          <p:cNvPr id="6" name="Текст 2">
            <a:extLst>
              <a:ext uri="{FF2B5EF4-FFF2-40B4-BE49-F238E27FC236}">
                <a16:creationId xmlns:a16="http://schemas.microsoft.com/office/drawing/2014/main" id="{6060A129-27E9-4599-B4E5-C57388EC22F3}"/>
              </a:ext>
            </a:extLst>
          </p:cNvPr>
          <p:cNvSpPr txBox="1">
            <a:spLocks/>
          </p:cNvSpPr>
          <p:nvPr/>
        </p:nvSpPr>
        <p:spPr>
          <a:xfrm>
            <a:off x="550863" y="512763"/>
            <a:ext cx="11098211" cy="2743055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000" b="1" i="0" kern="1200" baseline="0">
                <a:solidFill>
                  <a:schemeClr val="bg1"/>
                </a:solidFill>
                <a:latin typeface="+mj-lt"/>
                <a:ea typeface="+mn-ea"/>
                <a:cs typeface="Arial" panose="020B0604020202020204" pitchFamily="34" charset="0"/>
              </a:defRPr>
            </a:lvl1pPr>
            <a:lvl2pPr marL="457178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54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32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09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90000"/>
              </a:lnSpc>
              <a:buNone/>
            </a:pPr>
            <a:r>
              <a:rPr lang="ru-RU" sz="5000" b="1" dirty="0">
                <a:solidFill>
                  <a:srgbClr val="FF452C"/>
                </a:solidFill>
                <a:latin typeface="Arial"/>
              </a:rPr>
              <a:t>04</a:t>
            </a:r>
          </a:p>
          <a:p>
            <a:pPr>
              <a:lnSpc>
                <a:spcPct val="90000"/>
              </a:lnSpc>
              <a:buNone/>
            </a:pPr>
            <a:r>
              <a:rPr lang="ru-RU" sz="5000" b="1" dirty="0">
                <a:solidFill>
                  <a:srgbClr val="FFFFFF"/>
                </a:solidFill>
                <a:latin typeface="Arial"/>
              </a:rPr>
              <a:t>Приложение</a:t>
            </a:r>
          </a:p>
        </p:txBody>
      </p:sp>
      <p:sp>
        <p:nvSpPr>
          <p:cNvPr id="7" name="Текст 7">
            <a:extLst>
              <a:ext uri="{FF2B5EF4-FFF2-40B4-BE49-F238E27FC236}">
                <a16:creationId xmlns:a16="http://schemas.microsoft.com/office/drawing/2014/main" id="{BC4C214E-1A99-490C-A3B5-9407F8AE158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50864" y="3550877"/>
            <a:ext cx="5484812" cy="1260893"/>
          </a:xfrm>
        </p:spPr>
        <p:txBody>
          <a:bodyPr/>
          <a:lstStyle/>
          <a:p>
            <a:r>
              <a:rPr lang="ru-RU" dirty="0"/>
              <a:t>Конкуренты, платформа и данные, дорожные карты, зоны ответственности</a:t>
            </a:r>
          </a:p>
        </p:txBody>
      </p:sp>
    </p:spTree>
    <p:extLst>
      <p:ext uri="{BB962C8B-B14F-4D97-AF65-F5344CB8AC3E}">
        <p14:creationId xmlns:p14="http://schemas.microsoft.com/office/powerpoint/2010/main" val="59808437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1">
            <a:extLst>
              <a:ext uri="{FF2B5EF4-FFF2-40B4-BE49-F238E27FC236}">
                <a16:creationId xmlns:a16="http://schemas.microsoft.com/office/drawing/2014/main" id="{D7A2D0A2-E774-33F4-016C-254DDE8DAC42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 lIns="0" tIns="0"/>
          <a:lstStyle/>
          <a:p>
            <a:r>
              <a:rPr lang="ru-RU" dirty="0">
                <a:solidFill>
                  <a:srgbClr val="6E6E6E"/>
                </a:solidFill>
              </a:rPr>
              <a:t>Источники: Sostav (11.04.2025), click.ru (10.2024), ppc.world (11.02.2026), Т-Ж (16.04.2025)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FB930E18-D2B0-F1A6-ED72-55B5F838131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32</a:t>
            </a:fld>
            <a:endParaRPr lang="ru-RU" dirty="0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05F93D32-6B1F-C6F7-D714-53E5BFFD97A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Конкуренты развивают self-service кабинеты </a:t>
            </a:r>
            <a:br>
              <a:rPr lang="ru-RU" dirty="0"/>
            </a:br>
            <a:r>
              <a:rPr lang="ru-RU" dirty="0"/>
              <a:t>и покупки из коротких видео</a:t>
            </a:r>
          </a:p>
        </p:txBody>
      </p:sp>
      <p:sp>
        <p:nvSpPr>
          <p:cNvPr id="1081" name="Competitor card 1"/>
          <p:cNvSpPr/>
          <p:nvPr/>
        </p:nvSpPr>
        <p:spPr>
          <a:xfrm>
            <a:off x="368300" y="1000000"/>
            <a:ext cx="3651800" cy="508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82" name="ADS 1082"/>
          <p:cNvSpPr txBox="1"/>
          <p:nvPr/>
        </p:nvSpPr>
        <p:spPr>
          <a:xfrm>
            <a:off x="518300" y="1120000"/>
            <a:ext cx="33518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dirty="0">
                <a:solidFill>
                  <a:srgbClr val="FF452C"/>
                </a:solidFill>
                <a:latin typeface="Arial"/>
                <a:cs typeface="Arial"/>
              </a:rPr>
              <a:t>X5 Media: рекламный кабинет</a:t>
            </a:r>
            <a:endParaRPr lang="ru-RU" sz="1200" dirty="0"/>
          </a:p>
        </p:txBody>
      </p:sp>
      <p:sp>
        <p:nvSpPr>
          <p:cNvPr id="1083" name="ADS 1083"/>
          <p:cNvSpPr txBox="1"/>
          <p:nvPr/>
        </p:nvSpPr>
        <p:spPr>
          <a:xfrm>
            <a:off x="518300" y="1420000"/>
            <a:ext cx="33518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7F7F7F"/>
                </a:solidFill>
                <a:latin typeface="Arial"/>
                <a:cs typeface="Arial"/>
              </a:rPr>
              <a:t>Бета для агентств с апреля 2025</a:t>
            </a:r>
            <a:endParaRPr lang="ru-RU" sz="1200" dirty="0"/>
          </a:p>
        </p:txBody>
      </p:sp>
      <p:sp>
        <p:nvSpPr>
          <p:cNvPr id="1085" name="ADS 1085"/>
          <p:cNvSpPr txBox="1"/>
          <p:nvPr/>
        </p:nvSpPr>
        <p:spPr>
          <a:xfrm>
            <a:off x="518300" y="3600000"/>
            <a:ext cx="3351800" cy="16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171450" indent="-171450" algn="l">
              <a:spcBef>
                <a:spcPts val="0"/>
              </a:spcBef>
              <a:spcAft>
                <a:spcPts val="0"/>
              </a:spcAft>
              <a:buClr>
                <a:srgbClr val="FF452C"/>
              </a:buClr>
              <a:buFont typeface="Arial" panose="020B0604020202020204" pitchFamily="34" charset="0"/>
              <a:buChar char="•"/>
            </a:pPr>
            <a:r>
              <a:rPr lang="ru-RU" sz="1100" b="0" dirty="0">
                <a:solidFill>
                  <a:srgbClr val="000000"/>
                </a:solidFill>
                <a:latin typeface="Arial"/>
                <a:cs typeface="Arial"/>
              </a:rPr>
              <a:t>Самостоятельное планирование digital in-store кампаний: сети, география, тип инвентаря</a:t>
            </a:r>
            <a:endParaRPr lang="ru-RU" sz="1200" dirty="0"/>
          </a:p>
          <a:p>
            <a:pPr marL="171450" indent="-171450" algn="l">
              <a:spcBef>
                <a:spcPts val="500"/>
              </a:spcBef>
              <a:spcAft>
                <a:spcPts val="0"/>
              </a:spcAft>
              <a:buClr>
                <a:srgbClr val="FF452C"/>
              </a:buClr>
              <a:buFont typeface="Arial" panose="020B0604020202020204" pitchFamily="34" charset="0"/>
              <a:buChar char="•"/>
            </a:pPr>
            <a:r>
              <a:rPr lang="ru-RU" sz="1100" b="0" dirty="0">
                <a:solidFill>
                  <a:srgbClr val="000000"/>
                </a:solidFill>
                <a:latin typeface="Arial"/>
                <a:cs typeface="Arial"/>
              </a:rPr>
              <a:t>Расчет OTS, охвата и частоты до запуска</a:t>
            </a:r>
            <a:endParaRPr lang="ru-RU" sz="1200" dirty="0"/>
          </a:p>
          <a:p>
            <a:pPr marL="171450" indent="-171450" algn="l">
              <a:spcBef>
                <a:spcPts val="500"/>
              </a:spcBef>
              <a:spcAft>
                <a:spcPts val="0"/>
              </a:spcAft>
              <a:buClr>
                <a:srgbClr val="FF452C"/>
              </a:buClr>
              <a:buFont typeface="Arial" panose="020B0604020202020204" pitchFamily="34" charset="0"/>
              <a:buChar char="•"/>
            </a:pPr>
            <a:r>
              <a:rPr lang="ru-RU" sz="1100" b="0" dirty="0">
                <a:solidFill>
                  <a:srgbClr val="000000"/>
                </a:solidFill>
                <a:latin typeface="Arial"/>
                <a:cs typeface="Arial"/>
              </a:rPr>
              <a:t>~50 тыс. экранов и КСО, радио в 25,5 тыс. магазинов Пятерочки, Перекрестка и Чижика</a:t>
            </a:r>
            <a:endParaRPr lang="ru-RU" sz="1200" dirty="0"/>
          </a:p>
        </p:txBody>
      </p:sp>
      <p:sp>
        <p:nvSpPr>
          <p:cNvPr id="1086" name="ADS 1086"/>
          <p:cNvSpPr/>
          <p:nvPr/>
        </p:nvSpPr>
        <p:spPr>
          <a:xfrm>
            <a:off x="518300" y="5250000"/>
            <a:ext cx="3351800" cy="680000"/>
          </a:xfrm>
          <a:prstGeom prst="roundRect">
            <a:avLst>
              <a:gd name="adj" fmla="val 12000"/>
            </a:avLst>
          </a:prstGeom>
          <a:solidFill>
            <a:srgbClr val="FFE9E5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87" name="ADS 1087"/>
          <p:cNvSpPr txBox="1"/>
          <p:nvPr/>
        </p:nvSpPr>
        <p:spPr>
          <a:xfrm>
            <a:off x="618300" y="5290000"/>
            <a:ext cx="3151800" cy="6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FF452C"/>
                </a:solidFill>
                <a:latin typeface="Arial"/>
                <a:cs typeface="Arial"/>
              </a:rPr>
              <a:t>Ответ Magnit ADS</a:t>
            </a:r>
            <a:endParaRPr lang="ru-RU" sz="1200" dirty="0"/>
          </a:p>
          <a:p>
            <a:pPr marL="0" indent="0" algn="l">
              <a:spcBef>
                <a:spcPts val="10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Self-service кабинет для МСБ и агентств, таргетинг и фотофиксация indoor</a:t>
            </a:r>
            <a:endParaRPr lang="ru-RU" sz="1200" dirty="0"/>
          </a:p>
        </p:txBody>
      </p:sp>
      <p:sp>
        <p:nvSpPr>
          <p:cNvPr id="1088" name="Competitor card 2"/>
          <p:cNvSpPr/>
          <p:nvPr/>
        </p:nvSpPr>
        <p:spPr>
          <a:xfrm>
            <a:off x="4270100" y="1000000"/>
            <a:ext cx="3651800" cy="508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89" name="ADS 1089"/>
          <p:cNvSpPr txBox="1"/>
          <p:nvPr/>
        </p:nvSpPr>
        <p:spPr>
          <a:xfrm>
            <a:off x="4420100" y="1120000"/>
            <a:ext cx="33518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dirty="0">
                <a:solidFill>
                  <a:srgbClr val="FF452C"/>
                </a:solidFill>
                <a:latin typeface="Arial"/>
                <a:cs typeface="Arial"/>
              </a:rPr>
              <a:t>Ozon × VK: покупки в соцсети</a:t>
            </a:r>
            <a:endParaRPr lang="ru-RU" sz="1200" dirty="0"/>
          </a:p>
        </p:txBody>
      </p:sp>
      <p:sp>
        <p:nvSpPr>
          <p:cNvPr id="1090" name="ADS 1090"/>
          <p:cNvSpPr txBox="1"/>
          <p:nvPr/>
        </p:nvSpPr>
        <p:spPr>
          <a:xfrm>
            <a:off x="4420100" y="1420000"/>
            <a:ext cx="33518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7F7F7F"/>
                </a:solidFill>
                <a:latin typeface="Arial"/>
                <a:cs typeface="Arial"/>
              </a:rPr>
              <a:t>Интеграция с октября 2024</a:t>
            </a:r>
            <a:endParaRPr lang="ru-RU" sz="1200" dirty="0"/>
          </a:p>
        </p:txBody>
      </p:sp>
      <p:sp>
        <p:nvSpPr>
          <p:cNvPr id="1091" name="ADS 1091"/>
          <p:cNvSpPr/>
          <p:nvPr/>
        </p:nvSpPr>
        <p:spPr>
          <a:xfrm>
            <a:off x="4420100" y="1640000"/>
            <a:ext cx="3351800" cy="1830000"/>
          </a:xfrm>
          <a:prstGeom prst="roundRect">
            <a:avLst>
              <a:gd name="adj" fmla="val 5000"/>
            </a:avLst>
          </a:prstGeom>
          <a:solidFill>
            <a:srgbClr val="F7F7F7"/>
          </a:solidFill>
          <a:ln w="9525">
            <a:solidFill>
              <a:srgbClr val="BFBFBF"/>
            </a:solidFill>
            <a:prstDash val="dash"/>
          </a:ln>
        </p:spPr>
        <p:txBody>
          <a:bodyPr wrap="square" lIns="90000" tIns="0" rIns="9000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 lang="ru-RU" sz="1200" dirty="0"/>
          </a:p>
        </p:txBody>
      </p:sp>
      <p:sp>
        <p:nvSpPr>
          <p:cNvPr id="1092" name="ADS 1092"/>
          <p:cNvSpPr txBox="1"/>
          <p:nvPr/>
        </p:nvSpPr>
        <p:spPr>
          <a:xfrm>
            <a:off x="4420100" y="3600000"/>
            <a:ext cx="3351800" cy="16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171450" indent="-171450" algn="l">
              <a:spcBef>
                <a:spcPts val="0"/>
              </a:spcBef>
              <a:spcAft>
                <a:spcPts val="0"/>
              </a:spcAft>
              <a:buClr>
                <a:srgbClr val="FF452C"/>
              </a:buClr>
              <a:buFont typeface="Arial" panose="020B0604020202020204" pitchFamily="34" charset="0"/>
              <a:buChar char="•"/>
            </a:pPr>
            <a:r>
              <a:rPr lang="ru-RU" sz="1100" b="0" dirty="0">
                <a:solidFill>
                  <a:srgbClr val="000000"/>
                </a:solidFill>
                <a:latin typeface="Arial"/>
                <a:cs typeface="Arial"/>
              </a:rPr>
              <a:t>Товары продавцов Ozon в ленте, сообществах, поиске и VK Маркете; заказ и оплата внутри VK</a:t>
            </a:r>
            <a:endParaRPr lang="ru-RU" sz="1200" dirty="0"/>
          </a:p>
          <a:p>
            <a:pPr marL="171450" indent="-171450" algn="l">
              <a:spcBef>
                <a:spcPts val="500"/>
              </a:spcBef>
              <a:spcAft>
                <a:spcPts val="0"/>
              </a:spcAft>
              <a:buClr>
                <a:srgbClr val="FF452C"/>
              </a:buClr>
              <a:buFont typeface="Arial" panose="020B0604020202020204" pitchFamily="34" charset="0"/>
              <a:buChar char="•"/>
            </a:pPr>
            <a:r>
              <a:rPr lang="ru-RU" sz="1100" b="0" dirty="0">
                <a:solidFill>
                  <a:srgbClr val="000000"/>
                </a:solidFill>
                <a:latin typeface="Arial"/>
                <a:cs typeface="Arial"/>
              </a:rPr>
              <a:t>С февраля 2026 ИИ распознает товары в клипах и ставит ссылку на карточку</a:t>
            </a:r>
            <a:endParaRPr lang="ru-RU" sz="1200" dirty="0"/>
          </a:p>
          <a:p>
            <a:pPr marL="171450" indent="-171450" algn="l">
              <a:spcBef>
                <a:spcPts val="500"/>
              </a:spcBef>
              <a:spcAft>
                <a:spcPts val="0"/>
              </a:spcAft>
              <a:buClr>
                <a:srgbClr val="FF452C"/>
              </a:buClr>
              <a:buFont typeface="Arial" panose="020B0604020202020204" pitchFamily="34" charset="0"/>
              <a:buChar char="•"/>
            </a:pPr>
            <a:r>
              <a:rPr lang="ru-RU" sz="1100" b="0" dirty="0">
                <a:solidFill>
                  <a:srgbClr val="000000"/>
                </a:solidFill>
                <a:latin typeface="Arial"/>
                <a:cs typeface="Arial"/>
              </a:rPr>
              <a:t>Конверсия из просмотра в карточку товара за полгода пилота выросла втрое</a:t>
            </a:r>
            <a:endParaRPr lang="ru-RU" sz="1200" dirty="0"/>
          </a:p>
        </p:txBody>
      </p:sp>
      <p:sp>
        <p:nvSpPr>
          <p:cNvPr id="1093" name="ADS 1093"/>
          <p:cNvSpPr/>
          <p:nvPr/>
        </p:nvSpPr>
        <p:spPr>
          <a:xfrm>
            <a:off x="4420100" y="5250000"/>
            <a:ext cx="3351800" cy="680000"/>
          </a:xfrm>
          <a:prstGeom prst="roundRect">
            <a:avLst>
              <a:gd name="adj" fmla="val 12000"/>
            </a:avLst>
          </a:prstGeom>
          <a:solidFill>
            <a:srgbClr val="FFE9E5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94" name="ADS 1094"/>
          <p:cNvSpPr txBox="1"/>
          <p:nvPr/>
        </p:nvSpPr>
        <p:spPr>
          <a:xfrm>
            <a:off x="4520100" y="5290000"/>
            <a:ext cx="3151800" cy="6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FF452C"/>
                </a:solidFill>
                <a:latin typeface="Arial"/>
                <a:cs typeface="Arial"/>
              </a:rPr>
              <a:t>Ответ Magnit ADS</a:t>
            </a:r>
            <a:endParaRPr lang="ru-RU" sz="1200" dirty="0"/>
          </a:p>
          <a:p>
            <a:pPr marL="0" indent="0" algn="l">
              <a:spcBef>
                <a:spcPts val="10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Тестируем shoppable-механики с внешними платформами</a:t>
            </a:r>
            <a:endParaRPr lang="ru-RU" sz="1200" dirty="0"/>
          </a:p>
        </p:txBody>
      </p:sp>
      <p:sp>
        <p:nvSpPr>
          <p:cNvPr id="1095" name="Competitor card 3"/>
          <p:cNvSpPr/>
          <p:nvPr/>
        </p:nvSpPr>
        <p:spPr>
          <a:xfrm>
            <a:off x="8171900" y="1000000"/>
            <a:ext cx="3651800" cy="508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96" name="ADS 1096"/>
          <p:cNvSpPr txBox="1"/>
          <p:nvPr/>
        </p:nvSpPr>
        <p:spPr>
          <a:xfrm>
            <a:off x="8321900" y="1120000"/>
            <a:ext cx="33518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dirty="0">
                <a:solidFill>
                  <a:srgbClr val="FF452C"/>
                </a:solidFill>
                <a:latin typeface="Arial"/>
                <a:cs typeface="Arial"/>
              </a:rPr>
              <a:t>Wildberries: Wibes</a:t>
            </a:r>
            <a:endParaRPr lang="ru-RU" sz="1200" dirty="0"/>
          </a:p>
        </p:txBody>
      </p:sp>
      <p:sp>
        <p:nvSpPr>
          <p:cNvPr id="1097" name="ADS 1097"/>
          <p:cNvSpPr txBox="1"/>
          <p:nvPr/>
        </p:nvSpPr>
        <p:spPr>
          <a:xfrm>
            <a:off x="8321900" y="1420000"/>
            <a:ext cx="33518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7F7F7F"/>
                </a:solidFill>
                <a:latin typeface="Arial"/>
                <a:cs typeface="Arial"/>
              </a:rPr>
              <a:t>Видеоплатформа с марта 2025</a:t>
            </a:r>
            <a:endParaRPr lang="ru-RU" sz="1200" dirty="0"/>
          </a:p>
        </p:txBody>
      </p:sp>
      <p:sp>
        <p:nvSpPr>
          <p:cNvPr id="1098" name="ADS 1098"/>
          <p:cNvSpPr/>
          <p:nvPr/>
        </p:nvSpPr>
        <p:spPr>
          <a:xfrm>
            <a:off x="8321900" y="1640000"/>
            <a:ext cx="3351800" cy="1830000"/>
          </a:xfrm>
          <a:prstGeom prst="roundRect">
            <a:avLst>
              <a:gd name="adj" fmla="val 5000"/>
            </a:avLst>
          </a:prstGeom>
          <a:solidFill>
            <a:srgbClr val="F7F7F7"/>
          </a:solidFill>
          <a:ln w="9525">
            <a:solidFill>
              <a:srgbClr val="BFBFBF"/>
            </a:solidFill>
            <a:prstDash val="dash"/>
          </a:ln>
        </p:spPr>
        <p:txBody>
          <a:bodyPr wrap="square" lIns="90000" tIns="0" rIns="9000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 lang="ru-RU" sz="1200" dirty="0"/>
          </a:p>
        </p:txBody>
      </p:sp>
      <p:sp>
        <p:nvSpPr>
          <p:cNvPr id="1099" name="ADS 1099"/>
          <p:cNvSpPr txBox="1"/>
          <p:nvPr/>
        </p:nvSpPr>
        <p:spPr>
          <a:xfrm>
            <a:off x="8321900" y="3600000"/>
            <a:ext cx="3351800" cy="16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171450" indent="-171450" algn="l">
              <a:spcBef>
                <a:spcPts val="0"/>
              </a:spcBef>
              <a:spcAft>
                <a:spcPts val="0"/>
              </a:spcAft>
              <a:buClr>
                <a:srgbClr val="FF452C"/>
              </a:buClr>
              <a:buFont typeface="Arial" panose="020B0604020202020204" pitchFamily="34" charset="0"/>
              <a:buChar char="•"/>
            </a:pPr>
            <a:r>
              <a:rPr lang="ru-RU" sz="1100" b="0" dirty="0">
                <a:solidFill>
                  <a:srgbClr val="000000"/>
                </a:solidFill>
                <a:latin typeface="Arial"/>
                <a:cs typeface="Arial"/>
              </a:rPr>
              <a:t>Короткие вертикальные видео до 90 секунд от селлеров и блогеров</a:t>
            </a:r>
            <a:endParaRPr lang="ru-RU" sz="1200" dirty="0"/>
          </a:p>
          <a:p>
            <a:pPr marL="171450" indent="-171450" algn="l">
              <a:spcBef>
                <a:spcPts val="500"/>
              </a:spcBef>
              <a:spcAft>
                <a:spcPts val="0"/>
              </a:spcAft>
              <a:buClr>
                <a:srgbClr val="FF452C"/>
              </a:buClr>
              <a:buFont typeface="Arial" panose="020B0604020202020204" pitchFamily="34" charset="0"/>
              <a:buChar char="•"/>
            </a:pPr>
            <a:r>
              <a:rPr lang="ru-RU" sz="1100" b="0" dirty="0">
                <a:solidFill>
                  <a:srgbClr val="000000"/>
                </a:solidFill>
                <a:latin typeface="Arial"/>
                <a:cs typeface="Arial"/>
              </a:rPr>
              <a:t>Товар добавляется в корзину Wildberries прямо из ролика</a:t>
            </a:r>
            <a:endParaRPr lang="ru-RU" sz="1200" dirty="0"/>
          </a:p>
          <a:p>
            <a:pPr marL="171450" indent="-171450" algn="l">
              <a:spcBef>
                <a:spcPts val="500"/>
              </a:spcBef>
              <a:spcAft>
                <a:spcPts val="0"/>
              </a:spcAft>
              <a:buClr>
                <a:srgbClr val="FF452C"/>
              </a:buClr>
              <a:buFont typeface="Arial" panose="020B0604020202020204" pitchFamily="34" charset="0"/>
              <a:buChar char="•"/>
            </a:pPr>
            <a:r>
              <a:rPr lang="ru-RU" sz="1100" b="0" dirty="0">
                <a:solidFill>
                  <a:srgbClr val="000000"/>
                </a:solidFill>
                <a:latin typeface="Arial"/>
                <a:cs typeface="Arial"/>
              </a:rPr>
              <a:t>Контент и покупка замкнуты внутри экосистемы маркетплейса</a:t>
            </a:r>
            <a:endParaRPr lang="ru-RU" sz="1200" dirty="0"/>
          </a:p>
        </p:txBody>
      </p:sp>
      <p:sp>
        <p:nvSpPr>
          <p:cNvPr id="1100" name="ADS 1100"/>
          <p:cNvSpPr/>
          <p:nvPr/>
        </p:nvSpPr>
        <p:spPr>
          <a:xfrm>
            <a:off x="8321900" y="5250000"/>
            <a:ext cx="3351800" cy="680000"/>
          </a:xfrm>
          <a:prstGeom prst="roundRect">
            <a:avLst>
              <a:gd name="adj" fmla="val 12000"/>
            </a:avLst>
          </a:prstGeom>
          <a:solidFill>
            <a:srgbClr val="FFE9E5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101" name="ADS 1101"/>
          <p:cNvSpPr txBox="1"/>
          <p:nvPr/>
        </p:nvSpPr>
        <p:spPr>
          <a:xfrm>
            <a:off x="8421900" y="5290000"/>
            <a:ext cx="3151800" cy="6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FF452C"/>
                </a:solidFill>
                <a:latin typeface="Arial"/>
                <a:cs typeface="Arial"/>
              </a:rPr>
              <a:t>Ответ Magnit ADS</a:t>
            </a:r>
            <a:endParaRPr lang="ru-RU" sz="1200" dirty="0"/>
          </a:p>
          <a:p>
            <a:pPr marL="0" indent="0" algn="l">
              <a:spcBef>
                <a:spcPts val="10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Контент-завод: UGC в приложении Магнит и внешних соцсетях</a:t>
            </a:r>
            <a:endParaRPr lang="ru-RU" sz="1200" dirty="0"/>
          </a:p>
        </p:txBody>
      </p:sp>
      <p:pic>
        <p:nvPicPr>
          <p:cNvPr id="5" name="Picture 2" descr="Х5 Media открыл рекламный кабинет в формате Friends &amp; Family | Маркетинг |  Новости | AdIndex.ru">
            <a:extLst>
              <a:ext uri="{FF2B5EF4-FFF2-40B4-BE49-F238E27FC236}">
                <a16:creationId xmlns:a16="http://schemas.microsoft.com/office/drawing/2014/main" id="{87911579-97BE-BD38-2127-42374DBE3FB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2631"/>
          <a:stretch>
            <a:fillRect/>
          </a:stretch>
        </p:blipFill>
        <p:spPr bwMode="auto">
          <a:xfrm>
            <a:off x="518301" y="1640000"/>
            <a:ext cx="3351799" cy="1830000"/>
          </a:xfrm>
          <a:prstGeom prst="roundRect">
            <a:avLst>
              <a:gd name="adj" fmla="val 2942"/>
            </a:avLst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0" name="Picture 2" descr="ВКонтакте (ВК) связала товары из видео в ленте с карточками товаров на  маркетплейсах">
            <a:extLst>
              <a:ext uri="{FF2B5EF4-FFF2-40B4-BE49-F238E27FC236}">
                <a16:creationId xmlns:a16="http://schemas.microsoft.com/office/drawing/2014/main" id="{F7628572-F29B-AE88-1F00-8483713BCE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32815" y="1629063"/>
            <a:ext cx="2726370" cy="18518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Wibes: как работает видеоплатформа от Wildberries">
            <a:extLst>
              <a:ext uri="{FF2B5EF4-FFF2-40B4-BE49-F238E27FC236}">
                <a16:creationId xmlns:a16="http://schemas.microsoft.com/office/drawing/2014/main" id="{AE6DE4AA-EE00-2E43-2DB6-694075E1FC6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427" b="2817"/>
          <a:stretch>
            <a:fillRect/>
          </a:stretch>
        </p:blipFill>
        <p:spPr bwMode="auto">
          <a:xfrm>
            <a:off x="9009177" y="1677087"/>
            <a:ext cx="1977245" cy="1755825"/>
          </a:xfrm>
          <a:prstGeom prst="roundRect">
            <a:avLst>
              <a:gd name="adj" fmla="val 5094"/>
            </a:avLst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3801521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056059-17AC-0E22-6608-13D1F495741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33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248931F-8DCA-B7A7-C277-09DE317B59C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Единая рекламная платформа: весь инвентарь экосистемы в одном технологическом контуре</a:t>
            </a:r>
          </a:p>
        </p:txBody>
      </p:sp>
      <p:sp>
        <p:nvSpPr>
          <p:cNvPr id="200" name="Shape 200"/>
          <p:cNvSpPr/>
          <p:nvPr/>
        </p:nvSpPr>
        <p:spPr>
          <a:xfrm>
            <a:off x="36830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1" name="Shape 201"/>
          <p:cNvSpPr txBox="1"/>
          <p:nvPr/>
        </p:nvSpPr>
        <p:spPr>
          <a:xfrm>
            <a:off x="52070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Инвентарь</a:t>
            </a:r>
          </a:p>
        </p:txBody>
      </p:sp>
      <p:sp>
        <p:nvSpPr>
          <p:cNvPr id="202" name="Shape 202"/>
          <p:cNvSpPr txBox="1"/>
          <p:nvPr/>
        </p:nvSpPr>
        <p:spPr>
          <a:xfrm>
            <a:off x="52070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Все типы в одной платформе</a:t>
            </a:r>
          </a:p>
        </p:txBody>
      </p:sp>
      <p:sp>
        <p:nvSpPr>
          <p:cNvPr id="203" name="Shape 203"/>
          <p:cNvSpPr/>
          <p:nvPr/>
        </p:nvSpPr>
        <p:spPr>
          <a:xfrm>
            <a:off x="67310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4" name="Shape 204"/>
          <p:cNvSpPr txBox="1"/>
          <p:nvPr/>
        </p:nvSpPr>
        <p:spPr>
          <a:xfrm>
            <a:off x="54610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b="1" dirty="0">
                <a:solidFill>
                  <a:srgbClr val="000000"/>
                </a:solidFill>
              </a:rPr>
              <a:t>APP и web:</a:t>
            </a:r>
            <a:r>
              <a:rPr lang="ru-RU" sz="1400" dirty="0">
                <a:solidFill>
                  <a:srgbClr val="000000"/>
                </a:solidFill>
              </a:rPr>
              <a:t> баннеры, сторис, полки, карточки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b="1" dirty="0">
                <a:solidFill>
                  <a:srgbClr val="000000"/>
                </a:solidFill>
              </a:rPr>
              <a:t>In-store:</a:t>
            </a:r>
            <a:r>
              <a:rPr lang="ru-RU" sz="1400" dirty="0">
                <a:solidFill>
                  <a:srgbClr val="000000"/>
                </a:solidFill>
              </a:rPr>
              <a:t> КСО, шелф-баннеры, фасадные и ТВ-экраны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b="1" dirty="0">
                <a:solidFill>
                  <a:srgbClr val="000000"/>
                </a:solidFill>
              </a:rPr>
              <a:t>Внешний:</a:t>
            </a:r>
            <a:r>
              <a:rPr lang="ru-RU" sz="1400" dirty="0">
                <a:solidFill>
                  <a:srgbClr val="000000"/>
                </a:solidFill>
              </a:rPr>
              <a:t> площадки Рунета, indoor и outdoor, блогеры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Новые типы инвентаря подключаются быстро</a:t>
            </a:r>
          </a:p>
        </p:txBody>
      </p:sp>
      <p:sp>
        <p:nvSpPr>
          <p:cNvPr id="205" name="Shape 205"/>
          <p:cNvSpPr/>
          <p:nvPr/>
        </p:nvSpPr>
        <p:spPr>
          <a:xfrm>
            <a:off x="328295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6" name="Shape 206"/>
          <p:cNvSpPr txBox="1"/>
          <p:nvPr/>
        </p:nvSpPr>
        <p:spPr>
          <a:xfrm>
            <a:off x="343535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DMP</a:t>
            </a:r>
          </a:p>
        </p:txBody>
      </p:sp>
      <p:sp>
        <p:nvSpPr>
          <p:cNvPr id="207" name="Shape 207"/>
          <p:cNvSpPr txBox="1"/>
          <p:nvPr/>
        </p:nvSpPr>
        <p:spPr>
          <a:xfrm>
            <a:off x="343535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Данные о покупателе</a:t>
            </a:r>
          </a:p>
        </p:txBody>
      </p:sp>
      <p:sp>
        <p:nvSpPr>
          <p:cNvPr id="208" name="Shape 208"/>
          <p:cNvSpPr/>
          <p:nvPr/>
        </p:nvSpPr>
        <p:spPr>
          <a:xfrm>
            <a:off x="358775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9" name="Shape 209"/>
          <p:cNvSpPr txBox="1"/>
          <p:nvPr/>
        </p:nvSpPr>
        <p:spPr>
          <a:xfrm>
            <a:off x="346075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Data-интерфейс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1st–3rd party данные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b="1" dirty="0">
                <a:solidFill>
                  <a:srgbClr val="000000"/>
                </a:solidFill>
              </a:rPr>
              <a:t>AI:</a:t>
            </a:r>
            <a:r>
              <a:rPr lang="ru-RU" sz="1400" dirty="0">
                <a:solidFill>
                  <a:srgbClr val="000000"/>
                </a:solidFill>
              </a:rPr>
              <a:t> предикторы конверсии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b="1" dirty="0">
                <a:solidFill>
                  <a:srgbClr val="000000"/>
                </a:solidFill>
              </a:rPr>
              <a:t>AI:</a:t>
            </a:r>
            <a:r>
              <a:rPr lang="ru-RU" sz="1400" dirty="0">
                <a:solidFill>
                  <a:srgbClr val="000000"/>
                </a:solidFill>
              </a:rPr>
              <a:t> таргетинг аудиторий</a:t>
            </a:r>
          </a:p>
        </p:txBody>
      </p:sp>
      <p:sp>
        <p:nvSpPr>
          <p:cNvPr id="210" name="Shape 210"/>
          <p:cNvSpPr/>
          <p:nvPr/>
        </p:nvSpPr>
        <p:spPr>
          <a:xfrm>
            <a:off x="619760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1" name="Shape 211"/>
          <p:cNvSpPr txBox="1"/>
          <p:nvPr/>
        </p:nvSpPr>
        <p:spPr>
          <a:xfrm>
            <a:off x="635000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Ad server</a:t>
            </a:r>
          </a:p>
        </p:txBody>
      </p:sp>
      <p:sp>
        <p:nvSpPr>
          <p:cNvPr id="212" name="Shape 212"/>
          <p:cNvSpPr txBox="1"/>
          <p:nvPr/>
        </p:nvSpPr>
        <p:spPr>
          <a:xfrm>
            <a:off x="635000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Показ и аукцион</a:t>
            </a:r>
          </a:p>
        </p:txBody>
      </p:sp>
      <p:sp>
        <p:nvSpPr>
          <p:cNvPr id="213" name="Shape 213"/>
          <p:cNvSpPr/>
          <p:nvPr/>
        </p:nvSpPr>
        <p:spPr>
          <a:xfrm>
            <a:off x="650240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4" name="Shape 214"/>
          <p:cNvSpPr txBox="1"/>
          <p:nvPr/>
        </p:nvSpPr>
        <p:spPr>
          <a:xfrm>
            <a:off x="637540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Хранение креативов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Ads exchange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Биддинг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b="1" dirty="0">
                <a:solidFill>
                  <a:srgbClr val="000000"/>
                </a:solidFill>
              </a:rPr>
              <a:t>AI:</a:t>
            </a:r>
            <a:r>
              <a:rPr lang="ru-RU" sz="1400" dirty="0">
                <a:solidFill>
                  <a:srgbClr val="000000"/>
                </a:solidFill>
              </a:rPr>
              <a:t> создание креативов</a:t>
            </a:r>
          </a:p>
        </p:txBody>
      </p:sp>
      <p:sp>
        <p:nvSpPr>
          <p:cNvPr id="215" name="Shape 215"/>
          <p:cNvSpPr/>
          <p:nvPr/>
        </p:nvSpPr>
        <p:spPr>
          <a:xfrm>
            <a:off x="911225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6" name="Shape 216"/>
          <p:cNvSpPr txBox="1"/>
          <p:nvPr/>
        </p:nvSpPr>
        <p:spPr>
          <a:xfrm>
            <a:off x="926465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Analytics</a:t>
            </a:r>
          </a:p>
        </p:txBody>
      </p:sp>
      <p:sp>
        <p:nvSpPr>
          <p:cNvPr id="217" name="Shape 217"/>
          <p:cNvSpPr txBox="1"/>
          <p:nvPr/>
        </p:nvSpPr>
        <p:spPr>
          <a:xfrm>
            <a:off x="926465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Измерение эффекта</a:t>
            </a:r>
          </a:p>
        </p:txBody>
      </p:sp>
      <p:sp>
        <p:nvSpPr>
          <p:cNvPr id="218" name="Shape 218"/>
          <p:cNvSpPr/>
          <p:nvPr/>
        </p:nvSpPr>
        <p:spPr>
          <a:xfrm>
            <a:off x="941705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9" name="Shape 219"/>
          <p:cNvSpPr txBox="1"/>
          <p:nvPr/>
        </p:nvSpPr>
        <p:spPr>
          <a:xfrm>
            <a:off x="929005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Матчинг пользователей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Логирование показов и кликов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Модуль sales lift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b="1" dirty="0">
                <a:solidFill>
                  <a:srgbClr val="000000"/>
                </a:solidFill>
              </a:rPr>
              <a:t>AI:</a:t>
            </a:r>
            <a:r>
              <a:rPr lang="ru-RU" sz="1400" dirty="0">
                <a:solidFill>
                  <a:srgbClr val="000000"/>
                </a:solidFill>
              </a:rPr>
              <a:t> инсайты по данным</a:t>
            </a:r>
          </a:p>
        </p:txBody>
      </p:sp>
    </p:spTree>
    <p:extLst>
      <p:ext uri="{BB962C8B-B14F-4D97-AF65-F5344CB8AC3E}">
        <p14:creationId xmlns:p14="http://schemas.microsoft.com/office/powerpoint/2010/main" val="190000783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F24ABF6-6C43-16EC-7903-593D29D0BA3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34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D61E654-5F65-A4D3-44C6-50BD96A0DF9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Полноценная рекламная платформа менее чем за год: от первой команды до коммерческого запуска</a:t>
            </a:r>
          </a:p>
        </p:txBody>
      </p:sp>
      <p:sp>
        <p:nvSpPr>
          <p:cNvPr id="200" name="Shape 200"/>
          <p:cNvSpPr/>
          <p:nvPr/>
        </p:nvSpPr>
        <p:spPr>
          <a:xfrm>
            <a:off x="36830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1" name="Shape 201"/>
          <p:cNvSpPr txBox="1"/>
          <p:nvPr/>
        </p:nvSpPr>
        <p:spPr>
          <a:xfrm>
            <a:off x="520700" y="1219200"/>
            <a:ext cx="240665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Продуктовый запуск</a:t>
            </a:r>
          </a:p>
        </p:txBody>
      </p:sp>
      <p:sp>
        <p:nvSpPr>
          <p:cNvPr id="202" name="Shape 202"/>
          <p:cNvSpPr txBox="1"/>
          <p:nvPr/>
        </p:nvSpPr>
        <p:spPr>
          <a:xfrm>
            <a:off x="520700" y="1803400"/>
            <a:ext cx="2406650" cy="558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3200" b="1" dirty="0">
                <a:solidFill>
                  <a:srgbClr val="000000"/>
                </a:solidFill>
              </a:rPr>
              <a:t>6 мес.</a:t>
            </a:r>
          </a:p>
        </p:txBody>
      </p:sp>
      <p:sp>
        <p:nvSpPr>
          <p:cNvPr id="203" name="Shape 203"/>
          <p:cNvSpPr txBox="1"/>
          <p:nvPr/>
        </p:nvSpPr>
        <p:spPr>
          <a:xfrm>
            <a:off x="520700" y="2387600"/>
            <a:ext cx="240665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100" dirty="0">
                <a:solidFill>
                  <a:srgbClr val="595959"/>
                </a:solidFill>
              </a:rPr>
              <a:t>от первой команды до основных модулей</a:t>
            </a:r>
          </a:p>
        </p:txBody>
      </p:sp>
      <p:sp>
        <p:nvSpPr>
          <p:cNvPr id="204" name="Shape 204"/>
          <p:cNvSpPr/>
          <p:nvPr/>
        </p:nvSpPr>
        <p:spPr>
          <a:xfrm>
            <a:off x="673100" y="29210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5" name="Shape 205"/>
          <p:cNvSpPr txBox="1"/>
          <p:nvPr/>
        </p:nvSpPr>
        <p:spPr>
          <a:xfrm>
            <a:off x="546100" y="3073400"/>
            <a:ext cx="2355850" cy="292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8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b="1" dirty="0">
                <a:solidFill>
                  <a:srgbClr val="000000"/>
                </a:solidFill>
              </a:rPr>
              <a:t>01.09.2025</a:t>
            </a:r>
            <a:r>
              <a:rPr lang="ru-RU" sz="1400" dirty="0">
                <a:solidFill>
                  <a:srgbClr val="000000"/>
                </a:solidFill>
              </a:rPr>
              <a:t> — укомплектована первая команда</a:t>
            </a:r>
          </a:p>
          <a:p>
            <a:pPr marL="171450" indent="-171450" algn="l">
              <a:spcBef>
                <a:spcPts val="8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b="1" dirty="0">
                <a:solidFill>
                  <a:srgbClr val="000000"/>
                </a:solidFill>
              </a:rPr>
              <a:t>13.10.2025</a:t>
            </a:r>
            <a:r>
              <a:rPr lang="ru-RU" sz="1400" dirty="0">
                <a:solidFill>
                  <a:srgbClr val="000000"/>
                </a:solidFill>
              </a:rPr>
              <a:t> — готовы требования, начался первый спринт</a:t>
            </a:r>
          </a:p>
          <a:p>
            <a:pPr marL="171450" indent="-171450" algn="l">
              <a:spcBef>
                <a:spcPts val="8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b="1" dirty="0">
                <a:solidFill>
                  <a:srgbClr val="000000"/>
                </a:solidFill>
              </a:rPr>
              <a:t>01.03.2026</a:t>
            </a:r>
            <a:r>
              <a:rPr lang="ru-RU" sz="1400" dirty="0">
                <a:solidFill>
                  <a:srgbClr val="000000"/>
                </a:solidFill>
              </a:rPr>
              <a:t> — готовы основные модули</a:t>
            </a:r>
          </a:p>
        </p:txBody>
      </p:sp>
      <p:sp>
        <p:nvSpPr>
          <p:cNvPr id="206" name="Shape 206"/>
          <p:cNvSpPr/>
          <p:nvPr/>
        </p:nvSpPr>
        <p:spPr>
          <a:xfrm>
            <a:off x="328295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7" name="Shape 207"/>
          <p:cNvSpPr txBox="1"/>
          <p:nvPr/>
        </p:nvSpPr>
        <p:spPr>
          <a:xfrm>
            <a:off x="3435350" y="1219200"/>
            <a:ext cx="240665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Коммерческий запуск</a:t>
            </a:r>
          </a:p>
        </p:txBody>
      </p:sp>
      <p:sp>
        <p:nvSpPr>
          <p:cNvPr id="208" name="Shape 208"/>
          <p:cNvSpPr txBox="1"/>
          <p:nvPr/>
        </p:nvSpPr>
        <p:spPr>
          <a:xfrm>
            <a:off x="3435350" y="1803400"/>
            <a:ext cx="2406650" cy="558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3200" b="1" dirty="0">
                <a:solidFill>
                  <a:srgbClr val="000000"/>
                </a:solidFill>
              </a:rPr>
              <a:t>8 мес.</a:t>
            </a:r>
          </a:p>
        </p:txBody>
      </p:sp>
      <p:sp>
        <p:nvSpPr>
          <p:cNvPr id="209" name="Shape 209"/>
          <p:cNvSpPr txBox="1"/>
          <p:nvPr/>
        </p:nvSpPr>
        <p:spPr>
          <a:xfrm>
            <a:off x="3435350" y="2387600"/>
            <a:ext cx="240665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100" dirty="0">
                <a:solidFill>
                  <a:srgbClr val="595959"/>
                </a:solidFill>
              </a:rPr>
              <a:t>до массового перехода на новую платформу</a:t>
            </a:r>
          </a:p>
        </p:txBody>
      </p:sp>
      <p:sp>
        <p:nvSpPr>
          <p:cNvPr id="210" name="Shape 210"/>
          <p:cNvSpPr/>
          <p:nvPr/>
        </p:nvSpPr>
        <p:spPr>
          <a:xfrm>
            <a:off x="3587750" y="29210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1" name="Shape 211"/>
          <p:cNvSpPr txBox="1"/>
          <p:nvPr/>
        </p:nvSpPr>
        <p:spPr>
          <a:xfrm>
            <a:off x="3460750" y="3073400"/>
            <a:ext cx="2355850" cy="292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8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b="1" dirty="0">
                <a:solidFill>
                  <a:srgbClr val="000000"/>
                </a:solidFill>
              </a:rPr>
              <a:t>27.03.2026</a:t>
            </a:r>
            <a:r>
              <a:rPr lang="ru-RU" sz="1400" dirty="0">
                <a:solidFill>
                  <a:srgbClr val="000000"/>
                </a:solidFill>
              </a:rPr>
              <a:t> — первый продуктивный показ</a:t>
            </a:r>
          </a:p>
          <a:p>
            <a:pPr marL="171450" indent="-171450" algn="l">
              <a:spcBef>
                <a:spcPts val="8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b="1" dirty="0">
                <a:solidFill>
                  <a:srgbClr val="000000"/>
                </a:solidFill>
              </a:rPr>
              <a:t>20.04.2026</a:t>
            </a:r>
            <a:r>
              <a:rPr lang="ru-RU" sz="1400" dirty="0">
                <a:solidFill>
                  <a:srgbClr val="000000"/>
                </a:solidFill>
              </a:rPr>
              <a:t> — массовый переход трафик-менеджеров</a:t>
            </a:r>
          </a:p>
          <a:p>
            <a:pPr marL="171450" indent="-171450" algn="l">
              <a:spcBef>
                <a:spcPts val="8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Впереди — настройка платформы и обучение</a:t>
            </a:r>
          </a:p>
        </p:txBody>
      </p:sp>
      <p:sp>
        <p:nvSpPr>
          <p:cNvPr id="212" name="Shape 212"/>
          <p:cNvSpPr/>
          <p:nvPr/>
        </p:nvSpPr>
        <p:spPr>
          <a:xfrm>
            <a:off x="619760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3" name="Shape 213"/>
          <p:cNvSpPr txBox="1"/>
          <p:nvPr/>
        </p:nvSpPr>
        <p:spPr>
          <a:xfrm>
            <a:off x="6350000" y="1219200"/>
            <a:ext cx="240665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Ближайший конкурент</a:t>
            </a:r>
          </a:p>
        </p:txBody>
      </p:sp>
      <p:sp>
        <p:nvSpPr>
          <p:cNvPr id="214" name="Shape 214"/>
          <p:cNvSpPr txBox="1"/>
          <p:nvPr/>
        </p:nvSpPr>
        <p:spPr>
          <a:xfrm>
            <a:off x="6350000" y="1803400"/>
            <a:ext cx="2406650" cy="558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3200" b="1" dirty="0">
                <a:solidFill>
                  <a:srgbClr val="000000"/>
                </a:solidFill>
              </a:rPr>
              <a:t>4 года</a:t>
            </a:r>
            <a:endParaRPr lang="ru-RU" sz="1600" b="1" dirty="0">
              <a:solidFill>
                <a:srgbClr val="000000"/>
              </a:solidFill>
            </a:endParaRPr>
          </a:p>
        </p:txBody>
      </p:sp>
      <p:sp>
        <p:nvSpPr>
          <p:cNvPr id="215" name="Shape 215"/>
          <p:cNvSpPr txBox="1"/>
          <p:nvPr/>
        </p:nvSpPr>
        <p:spPr>
          <a:xfrm>
            <a:off x="6350000" y="2387600"/>
            <a:ext cx="240665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100" dirty="0">
                <a:solidFill>
                  <a:srgbClr val="595959"/>
                </a:solidFill>
              </a:rPr>
              <a:t>строит собственную рекламную платформу</a:t>
            </a:r>
          </a:p>
        </p:txBody>
      </p:sp>
      <p:sp>
        <p:nvSpPr>
          <p:cNvPr id="216" name="Shape 216"/>
          <p:cNvSpPr/>
          <p:nvPr/>
        </p:nvSpPr>
        <p:spPr>
          <a:xfrm>
            <a:off x="6502400" y="29210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7" name="Shape 217"/>
          <p:cNvSpPr txBox="1"/>
          <p:nvPr/>
        </p:nvSpPr>
        <p:spPr>
          <a:xfrm>
            <a:off x="6375400" y="3073400"/>
            <a:ext cx="2355850" cy="292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8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Magnit ADS прошел путь до коммерческого запуска в шесть раз быстрее</a:t>
            </a:r>
          </a:p>
        </p:txBody>
      </p:sp>
      <p:sp>
        <p:nvSpPr>
          <p:cNvPr id="218" name="Shape 218"/>
          <p:cNvSpPr/>
          <p:nvPr/>
        </p:nvSpPr>
        <p:spPr>
          <a:xfrm>
            <a:off x="911225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9" name="Shape 219"/>
          <p:cNvSpPr txBox="1"/>
          <p:nvPr/>
        </p:nvSpPr>
        <p:spPr>
          <a:xfrm>
            <a:off x="9264650" y="1219200"/>
            <a:ext cx="240665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Яндекс и другие игроки</a:t>
            </a:r>
          </a:p>
        </p:txBody>
      </p:sp>
      <p:sp>
        <p:nvSpPr>
          <p:cNvPr id="220" name="Shape 220"/>
          <p:cNvSpPr txBox="1"/>
          <p:nvPr/>
        </p:nvSpPr>
        <p:spPr>
          <a:xfrm>
            <a:off x="9264650" y="1803400"/>
            <a:ext cx="2406650" cy="558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3200" b="1" dirty="0">
                <a:solidFill>
                  <a:srgbClr val="000000"/>
                </a:solidFill>
              </a:rPr>
              <a:t>10+ лет</a:t>
            </a:r>
          </a:p>
        </p:txBody>
      </p:sp>
      <p:sp>
        <p:nvSpPr>
          <p:cNvPr id="221" name="Shape 221"/>
          <p:cNvSpPr txBox="1"/>
          <p:nvPr/>
        </p:nvSpPr>
        <p:spPr>
          <a:xfrm>
            <a:off x="9264650" y="2387600"/>
            <a:ext cx="240665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100" dirty="0">
                <a:solidFill>
                  <a:srgbClr val="595959"/>
                </a:solidFill>
              </a:rPr>
              <a:t>формировались рекламные платформы</a:t>
            </a:r>
          </a:p>
        </p:txBody>
      </p:sp>
      <p:sp>
        <p:nvSpPr>
          <p:cNvPr id="222" name="Shape 222"/>
          <p:cNvSpPr/>
          <p:nvPr/>
        </p:nvSpPr>
        <p:spPr>
          <a:xfrm>
            <a:off x="9417050" y="29210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23" name="Shape 223"/>
          <p:cNvSpPr txBox="1"/>
          <p:nvPr/>
        </p:nvSpPr>
        <p:spPr>
          <a:xfrm>
            <a:off x="9290050" y="3073400"/>
            <a:ext cx="2355850" cy="292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8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Все инструменты Magnit ADS сразу объединены в общий технологический и коммерческий контур</a:t>
            </a:r>
          </a:p>
        </p:txBody>
      </p:sp>
    </p:spTree>
    <p:extLst>
      <p:ext uri="{BB962C8B-B14F-4D97-AF65-F5344CB8AC3E}">
        <p14:creationId xmlns:p14="http://schemas.microsoft.com/office/powerpoint/2010/main" val="409960239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056059-17AC-0E22-6608-13D1F495741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35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248931F-8DCA-B7A7-C277-09DE317B59C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Конкурентное преимущество Magnit ADS — данные о покупателе в аукционе и ранжировании</a:t>
            </a:r>
          </a:p>
        </p:txBody>
      </p:sp>
      <p:sp>
        <p:nvSpPr>
          <p:cNvPr id="200" name="Shape 200"/>
          <p:cNvSpPr/>
          <p:nvPr/>
        </p:nvSpPr>
        <p:spPr>
          <a:xfrm>
            <a:off x="36830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1" name="Shape 201"/>
          <p:cNvSpPr txBox="1"/>
          <p:nvPr/>
        </p:nvSpPr>
        <p:spPr>
          <a:xfrm>
            <a:off x="52070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Аудитория и сегменты</a:t>
            </a:r>
          </a:p>
        </p:txBody>
      </p:sp>
      <p:sp>
        <p:nvSpPr>
          <p:cNvPr id="202" name="Shape 202"/>
          <p:cNvSpPr txBox="1"/>
          <p:nvPr/>
        </p:nvSpPr>
        <p:spPr>
          <a:xfrm>
            <a:off x="52070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Кто покупатель</a:t>
            </a:r>
          </a:p>
        </p:txBody>
      </p:sp>
      <p:sp>
        <p:nvSpPr>
          <p:cNvPr id="203" name="Shape 203"/>
          <p:cNvSpPr/>
          <p:nvPr/>
        </p:nvSpPr>
        <p:spPr>
          <a:xfrm>
            <a:off x="67310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4" name="Shape 204"/>
          <p:cNvSpPr txBox="1"/>
          <p:nvPr/>
        </p:nvSpPr>
        <p:spPr>
          <a:xfrm>
            <a:off x="54610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Сегменты покупателей экосистемы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1st–3rd party данные в DMP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AI-таргетинг аудиторий</a:t>
            </a:r>
          </a:p>
        </p:txBody>
      </p:sp>
      <p:sp>
        <p:nvSpPr>
          <p:cNvPr id="205" name="Shape 205"/>
          <p:cNvSpPr/>
          <p:nvPr/>
        </p:nvSpPr>
        <p:spPr>
          <a:xfrm>
            <a:off x="328295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6" name="Shape 206"/>
          <p:cNvSpPr txBox="1"/>
          <p:nvPr/>
        </p:nvSpPr>
        <p:spPr>
          <a:xfrm>
            <a:off x="343535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Поведение и интересы</a:t>
            </a:r>
          </a:p>
        </p:txBody>
      </p:sp>
      <p:sp>
        <p:nvSpPr>
          <p:cNvPr id="207" name="Shape 207"/>
          <p:cNvSpPr txBox="1"/>
          <p:nvPr/>
        </p:nvSpPr>
        <p:spPr>
          <a:xfrm>
            <a:off x="343535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Что ему интересно</a:t>
            </a:r>
          </a:p>
        </p:txBody>
      </p:sp>
      <p:sp>
        <p:nvSpPr>
          <p:cNvPr id="208" name="Shape 208"/>
          <p:cNvSpPr/>
          <p:nvPr/>
        </p:nvSpPr>
        <p:spPr>
          <a:xfrm>
            <a:off x="358775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9" name="Shape 209"/>
          <p:cNvSpPr txBox="1"/>
          <p:nvPr/>
        </p:nvSpPr>
        <p:spPr>
          <a:xfrm>
            <a:off x="346075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Поведение и интересы покупателя в экосистеме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Триггеры и акции — </a:t>
            </a:r>
            <a:r>
              <a:rPr lang="ru-RU" sz="1400" b="1" dirty="0">
                <a:solidFill>
                  <a:srgbClr val="000000"/>
                </a:solidFill>
              </a:rPr>
              <a:t>Q1 2027</a:t>
            </a:r>
          </a:p>
        </p:txBody>
      </p:sp>
      <p:sp>
        <p:nvSpPr>
          <p:cNvPr id="210" name="Shape 210"/>
          <p:cNvSpPr/>
          <p:nvPr/>
        </p:nvSpPr>
        <p:spPr>
          <a:xfrm>
            <a:off x="619760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1" name="Shape 211"/>
          <p:cNvSpPr txBox="1"/>
          <p:nvPr/>
        </p:nvSpPr>
        <p:spPr>
          <a:xfrm>
            <a:off x="635000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Контекст</a:t>
            </a:r>
          </a:p>
        </p:txBody>
      </p:sp>
      <p:sp>
        <p:nvSpPr>
          <p:cNvPr id="212" name="Shape 212"/>
          <p:cNvSpPr txBox="1"/>
          <p:nvPr/>
        </p:nvSpPr>
        <p:spPr>
          <a:xfrm>
            <a:off x="635000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Где и когда</a:t>
            </a:r>
          </a:p>
        </p:txBody>
      </p:sp>
      <p:sp>
        <p:nvSpPr>
          <p:cNvPr id="213" name="Shape 213"/>
          <p:cNvSpPr/>
          <p:nvPr/>
        </p:nvSpPr>
        <p:spPr>
          <a:xfrm>
            <a:off x="650240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4" name="Shape 214"/>
          <p:cNvSpPr txBox="1"/>
          <p:nvPr/>
        </p:nvSpPr>
        <p:spPr>
          <a:xfrm>
            <a:off x="637540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Время, локация, погода, ситуация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Супергео и остатки — </a:t>
            </a:r>
            <a:r>
              <a:rPr lang="ru-RU" sz="1400" b="1" dirty="0">
                <a:solidFill>
                  <a:srgbClr val="000000"/>
                </a:solidFill>
              </a:rPr>
              <a:t>Q4 2026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Внешние данные — </a:t>
            </a:r>
            <a:r>
              <a:rPr lang="ru-RU" sz="1400" b="1" dirty="0">
                <a:solidFill>
                  <a:srgbClr val="000000"/>
                </a:solidFill>
              </a:rPr>
              <a:t>Q2 2027</a:t>
            </a:r>
          </a:p>
        </p:txBody>
      </p:sp>
      <p:sp>
        <p:nvSpPr>
          <p:cNvPr id="215" name="Shape 215"/>
          <p:cNvSpPr/>
          <p:nvPr/>
        </p:nvSpPr>
        <p:spPr>
          <a:xfrm>
            <a:off x="911225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6" name="Shape 216"/>
          <p:cNvSpPr txBox="1"/>
          <p:nvPr/>
        </p:nvSpPr>
        <p:spPr>
          <a:xfrm>
            <a:off x="926465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Цели и ставки</a:t>
            </a:r>
          </a:p>
        </p:txBody>
      </p:sp>
      <p:sp>
        <p:nvSpPr>
          <p:cNvPr id="217" name="Shape 217"/>
          <p:cNvSpPr txBox="1"/>
          <p:nvPr/>
        </p:nvSpPr>
        <p:spPr>
          <a:xfrm>
            <a:off x="926465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Что нужно рекламодателю</a:t>
            </a:r>
          </a:p>
        </p:txBody>
      </p:sp>
      <p:sp>
        <p:nvSpPr>
          <p:cNvPr id="218" name="Shape 218"/>
          <p:cNvSpPr/>
          <p:nvPr/>
        </p:nvSpPr>
        <p:spPr>
          <a:xfrm>
            <a:off x="941705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9" name="Shape 219"/>
          <p:cNvSpPr txBox="1"/>
          <p:nvPr/>
        </p:nvSpPr>
        <p:spPr>
          <a:xfrm>
            <a:off x="929005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Цели рекламодателя и ставки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ML-модель и бизнес-правила определяют показ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Аукцион — </a:t>
            </a:r>
            <a:r>
              <a:rPr lang="ru-RU" sz="1400" b="1" dirty="0">
                <a:solidFill>
                  <a:srgbClr val="000000"/>
                </a:solidFill>
              </a:rPr>
              <a:t>Q4 2026</a:t>
            </a:r>
            <a:r>
              <a:rPr lang="ru-RU" sz="1400" dirty="0">
                <a:solidFill>
                  <a:srgbClr val="000000"/>
                </a:solidFill>
              </a:rPr>
              <a:t>, автостратегии — </a:t>
            </a:r>
            <a:r>
              <a:rPr lang="ru-RU" sz="1400" b="1" dirty="0">
                <a:solidFill>
                  <a:srgbClr val="000000"/>
                </a:solidFill>
              </a:rPr>
              <a:t>Q1 2027</a:t>
            </a:r>
          </a:p>
        </p:txBody>
      </p:sp>
    </p:spTree>
    <p:extLst>
      <p:ext uri="{BB962C8B-B14F-4D97-AF65-F5344CB8AC3E}">
        <p14:creationId xmlns:p14="http://schemas.microsoft.com/office/powerpoint/2010/main" val="190000783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92DAC0F-A039-A254-0652-BA59CF6C7EF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ru-RU" sz="900" dirty="0">
                <a:solidFill>
                  <a:srgbClr val="6E6E6E"/>
                </a:solidFill>
              </a:rPr>
              <a:t>Сроки — презентация ADTECH, октябрь 2026. Описание изменений — рабочая трактовка на основе стратегии Magnit AdTech 2026–2031, требует подтверждения продуктовой командой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E9BE670-CA70-08AE-0F3A-5E118D01205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36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24A033E-567B-C7C9-F6E1-C6AC1813096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Данные платформы: шесть новых источников сигналов для таргетинга и аукциона до Q2 2027</a:t>
            </a:r>
          </a:p>
        </p:txBody>
      </p:sp>
      <p:sp>
        <p:nvSpPr>
          <p:cNvPr id="300" name="Shape 300"/>
          <p:cNvSpPr txBox="1"/>
          <p:nvPr/>
        </p:nvSpPr>
        <p:spPr>
          <a:xfrm>
            <a:off x="368300" y="1016000"/>
            <a:ext cx="11457432" cy="304800"/>
          </a:xfrm>
          <a:prstGeom prst="rect">
            <a:avLst/>
          </a:prstGeom>
          <a:noFill/>
        </p:spPr>
        <p:txBody>
          <a:bodyPr wrap="square" lIns="91440" tIns="0" rIns="0" bIns="0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Дорожная карта: данные</a:t>
            </a:r>
          </a:p>
        </p:txBody>
      </p:sp>
      <p:graphicFrame>
        <p:nvGraphicFramePr>
          <p:cNvPr id="301" name="Table 301"/>
          <p:cNvGraphicFramePr>
            <a:graphicFrameLocks noGrp="1"/>
          </p:cNvGraphicFramePr>
          <p:nvPr/>
        </p:nvGraphicFramePr>
        <p:xfrm>
          <a:off x="368300" y="1397000"/>
          <a:ext cx="11457432" cy="3381000"/>
        </p:xfrm>
        <a:graphic>
          <a:graphicData uri="http://schemas.openxmlformats.org/drawingml/2006/table">
            <a:tbl>
              <a:tblPr firstRow="1"/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754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4223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Изменение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Срок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Что меняется в продукте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Что это дает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00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Супергео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Q4 2026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Таргетинг с точностью до магазина и зоны доставки вместо города или региона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Локальные кампании под конкретные торговые точки и радиус вокруг них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00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Остатки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Q4 2026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Аукцион учитывает наличие товара в магазине и в зоне доставки покупателя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Реклама не показывается, когда товара нет: рекламный бюджет не расходуется впустую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00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Триггеры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Q1 2027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Показ по событию в реальном времени: поиск, просмотр категории, добавление в корзину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Контакт в момент готовности к покупке; без триггера работают модели исторического спроса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00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Контекст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Q1 2027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В ранжирование добавляются время, локация, погода и ситуация покупки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Сообщение подбирается под момент: погода, время суток, формат магазина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00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Акции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Q1 2027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Платформа получает данные о промо и ценах поставщика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Реклама синхронизируется с промо и усиливает его эффект на продажи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00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Внешние данные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Q2 2027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Обмен сегментами DMP с внешними площадками и SSP, подключение 2nd и 3rd party данных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Более широкие сегменты и запуск кампаний на внешнем трафике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5159769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92DAC0F-A039-A254-0652-BA59CF6C7EF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ru-RU" sz="900" dirty="0">
                <a:solidFill>
                  <a:srgbClr val="6E6E6E"/>
                </a:solidFill>
              </a:rPr>
              <a:t>Сроки — презентация ADTECH, октябрь 2026. Описание изменений — рабочая трактовка на основе стратегии Magnit AdTech 2026–2031, требует подтверждения продуктовой командой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E9BE670-CA70-08AE-0F3A-5E118D01205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37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24A033E-567B-C7C9-F6E1-C6AC1813096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Функции платформы: аукцион, автоматизация кампаний и управляемый in-store до Q2 2027</a:t>
            </a:r>
          </a:p>
        </p:txBody>
      </p:sp>
      <p:sp>
        <p:nvSpPr>
          <p:cNvPr id="300" name="Shape 300"/>
          <p:cNvSpPr txBox="1"/>
          <p:nvPr/>
        </p:nvSpPr>
        <p:spPr>
          <a:xfrm>
            <a:off x="368300" y="1016000"/>
            <a:ext cx="11457432" cy="304800"/>
          </a:xfrm>
          <a:prstGeom prst="rect">
            <a:avLst/>
          </a:prstGeom>
          <a:noFill/>
        </p:spPr>
        <p:txBody>
          <a:bodyPr wrap="square" lIns="91440" tIns="0" rIns="0" bIns="0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Дорожная карта: функции</a:t>
            </a:r>
          </a:p>
        </p:txBody>
      </p:sp>
      <p:graphicFrame>
        <p:nvGraphicFramePr>
          <p:cNvPr id="301" name="Table 301"/>
          <p:cNvGraphicFramePr>
            <a:graphicFrameLocks noGrp="1"/>
          </p:cNvGraphicFramePr>
          <p:nvPr/>
        </p:nvGraphicFramePr>
        <p:xfrm>
          <a:off x="368300" y="1397000"/>
          <a:ext cx="11457432" cy="3381000"/>
        </p:xfrm>
        <a:graphic>
          <a:graphicData uri="http://schemas.openxmlformats.org/drawingml/2006/table">
            <a:tbl>
              <a:tblPr firstRow="1"/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754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4223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Изменение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Срок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Что меняется в продукте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Что это дает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00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Аукцион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Q4 2026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Переход от ручного квотирования к аукциону по всем медийным и перформанс-размещениям; модели CPM, CPC, CPA, CPO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Прозрачная конкуренция за показ с учетом ставки, релевантности и маржи бренда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00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Агентские аккаунты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Q4 2026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Кабинет агентства: несколько рекламодателей в одном аккаунте, единый прайс, быстрый запуск кампаний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Агентства сами ведут кампании клиентов; растут продажи не поставщикам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00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ИИ-ассистент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Q1 2027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Помощник в кабинете: подбор оффера и аудитории, генерация креативов, сводка результатов кампании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Быстрее запуск кампаний и меньше ручной работы менеджеров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00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Автостратегии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Q1 2027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Автоматическое управление ставками под цель рекламодателя: охват, клики или заказы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Рекламодатель задает цель и бюджет, платформа сама оптимизирует ставки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00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Таргетинг indoor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Q1 2027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Показ на экранах в магазине по аудитории, времени и локации; QR-коды и персональные офферы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In-store становится управляемым каналом и основой для performance-инвентаря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00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Фотофиксация indoor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Q2 2027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Система контроля показов на экранах и фотоотчет для рекламодателя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Подтверждение размещения — условие продажи нового in-store инвентаря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5159769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056059-17AC-0E22-6608-13D1F495741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38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248931F-8DCA-B7A7-C277-09DE317B59C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AdTech — горизонтальный партнер Коммерции форматов: зоны разделены по типам бюджетов</a:t>
            </a:r>
          </a:p>
        </p:txBody>
      </p:sp>
      <p:sp>
        <p:nvSpPr>
          <p:cNvPr id="200" name="Shape 200"/>
          <p:cNvSpPr/>
          <p:nvPr/>
        </p:nvSpPr>
        <p:spPr>
          <a:xfrm>
            <a:off x="36830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1" name="Shape 201"/>
          <p:cNvSpPr txBox="1"/>
          <p:nvPr/>
        </p:nvSpPr>
        <p:spPr>
          <a:xfrm>
            <a:off x="52070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Трейд-бюджеты</a:t>
            </a:r>
          </a:p>
        </p:txBody>
      </p:sp>
      <p:sp>
        <p:nvSpPr>
          <p:cNvPr id="202" name="Shape 202"/>
          <p:cNvSpPr txBox="1"/>
          <p:nvPr/>
        </p:nvSpPr>
        <p:spPr>
          <a:xfrm>
            <a:off x="52070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Отвечает Коммерция форматов</a:t>
            </a:r>
          </a:p>
        </p:txBody>
      </p:sp>
      <p:sp>
        <p:nvSpPr>
          <p:cNvPr id="203" name="Shape 203"/>
          <p:cNvSpPr/>
          <p:nvPr/>
        </p:nvSpPr>
        <p:spPr>
          <a:xfrm>
            <a:off x="67310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4" name="Shape 204"/>
          <p:cNvSpPr txBox="1"/>
          <p:nvPr/>
        </p:nvSpPr>
        <p:spPr>
          <a:xfrm>
            <a:off x="54610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Объем инвестиций определяется в переговорах по коммерческим условиям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AdTech обеспечивает инвентарь, execution и трекинг продаж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KPI Коммерции — </a:t>
            </a:r>
            <a:r>
              <a:rPr lang="ru-RU" sz="1400" b="1" dirty="0">
                <a:solidFill>
                  <a:srgbClr val="000000"/>
                </a:solidFill>
              </a:rPr>
              <a:t>абсолютный прирост</a:t>
            </a:r>
            <a:r>
              <a:rPr lang="ru-RU" sz="1400" dirty="0">
                <a:solidFill>
                  <a:srgbClr val="000000"/>
                </a:solidFill>
              </a:rPr>
              <a:t> трейд-бюджетов</a:t>
            </a:r>
          </a:p>
        </p:txBody>
      </p:sp>
      <p:sp>
        <p:nvSpPr>
          <p:cNvPr id="205" name="Shape 205"/>
          <p:cNvSpPr/>
          <p:nvPr/>
        </p:nvSpPr>
        <p:spPr>
          <a:xfrm>
            <a:off x="328295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6" name="Shape 206"/>
          <p:cNvSpPr txBox="1"/>
          <p:nvPr/>
        </p:nvSpPr>
        <p:spPr>
          <a:xfrm>
            <a:off x="343535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Бренд-бюджеты</a:t>
            </a:r>
          </a:p>
        </p:txBody>
      </p:sp>
      <p:sp>
        <p:nvSpPr>
          <p:cNvPr id="207" name="Shape 207"/>
          <p:cNvSpPr txBox="1"/>
          <p:nvPr/>
        </p:nvSpPr>
        <p:spPr>
          <a:xfrm>
            <a:off x="343535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Отвечает AdTech через RMN</a:t>
            </a:r>
          </a:p>
        </p:txBody>
      </p:sp>
      <p:sp>
        <p:nvSpPr>
          <p:cNvPr id="208" name="Shape 208"/>
          <p:cNvSpPr/>
          <p:nvPr/>
        </p:nvSpPr>
        <p:spPr>
          <a:xfrm>
            <a:off x="358775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9" name="Shape 209"/>
          <p:cNvSpPr txBox="1"/>
          <p:nvPr/>
        </p:nvSpPr>
        <p:spPr>
          <a:xfrm>
            <a:off x="346075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Retail Media Network — </a:t>
            </a:r>
            <a:r>
              <a:rPr lang="ru-RU" sz="1400" b="1" dirty="0">
                <a:solidFill>
                  <a:srgbClr val="000000"/>
                </a:solidFill>
              </a:rPr>
              <a:t>отдельное ЮЛ</a:t>
            </a:r>
            <a:r>
              <a:rPr lang="ru-RU" sz="1400" dirty="0">
                <a:solidFill>
                  <a:srgbClr val="000000"/>
                </a:solidFill>
              </a:rPr>
              <a:t>, не связанное с трейд-маркетингом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Альтернатива охватной рекламе: TV, OOH, digital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Контакт с покупателем в момент выбора: digital и in-store</a:t>
            </a:r>
          </a:p>
        </p:txBody>
      </p:sp>
      <p:sp>
        <p:nvSpPr>
          <p:cNvPr id="210" name="Shape 210"/>
          <p:cNvSpPr/>
          <p:nvPr/>
        </p:nvSpPr>
        <p:spPr>
          <a:xfrm>
            <a:off x="619760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1" name="Shape 211"/>
          <p:cNvSpPr txBox="1"/>
          <p:nvPr/>
        </p:nvSpPr>
        <p:spPr>
          <a:xfrm>
            <a:off x="635000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Не поставщики</a:t>
            </a:r>
          </a:p>
        </p:txBody>
      </p:sp>
      <p:sp>
        <p:nvSpPr>
          <p:cNvPr id="212" name="Shape 212"/>
          <p:cNvSpPr txBox="1"/>
          <p:nvPr/>
        </p:nvSpPr>
        <p:spPr>
          <a:xfrm>
            <a:off x="635000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Отвечает AdTech</a:t>
            </a:r>
          </a:p>
        </p:txBody>
      </p:sp>
      <p:sp>
        <p:nvSpPr>
          <p:cNvPr id="213" name="Shape 213"/>
          <p:cNvSpPr/>
          <p:nvPr/>
        </p:nvSpPr>
        <p:spPr>
          <a:xfrm>
            <a:off x="650240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4" name="Shape 214"/>
          <p:cNvSpPr txBox="1"/>
          <p:nvPr/>
        </p:nvSpPr>
        <p:spPr>
          <a:xfrm>
            <a:off x="637540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Прямые продажи внешним рекламодателям и агентствам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Кабинет с единым ценообразованием и быстрым запуском кампаний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Выручка распределяется по форматам по принадлежности инвентаря</a:t>
            </a:r>
          </a:p>
        </p:txBody>
      </p:sp>
      <p:sp>
        <p:nvSpPr>
          <p:cNvPr id="215" name="Shape 215"/>
          <p:cNvSpPr/>
          <p:nvPr/>
        </p:nvSpPr>
        <p:spPr>
          <a:xfrm>
            <a:off x="911225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6" name="Shape 216"/>
          <p:cNvSpPr txBox="1"/>
          <p:nvPr/>
        </p:nvSpPr>
        <p:spPr>
          <a:xfrm>
            <a:off x="926465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SMB и интерком</a:t>
            </a:r>
          </a:p>
        </p:txBody>
      </p:sp>
      <p:sp>
        <p:nvSpPr>
          <p:cNvPr id="217" name="Shape 217"/>
          <p:cNvSpPr txBox="1"/>
          <p:nvPr/>
        </p:nvSpPr>
        <p:spPr>
          <a:xfrm>
            <a:off x="926465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AdTech обеспечивает инвентарь</a:t>
            </a:r>
          </a:p>
        </p:txBody>
      </p:sp>
      <p:sp>
        <p:nvSpPr>
          <p:cNvPr id="218" name="Shape 218"/>
          <p:cNvSpPr/>
          <p:nvPr/>
        </p:nvSpPr>
        <p:spPr>
          <a:xfrm>
            <a:off x="941705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9" name="Shape 219"/>
          <p:cNvSpPr txBox="1"/>
          <p:nvPr/>
        </p:nvSpPr>
        <p:spPr>
          <a:xfrm>
            <a:off x="929005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b="1" dirty="0">
                <a:solidFill>
                  <a:srgbClr val="000000"/>
                </a:solidFill>
              </a:rPr>
              <a:t>Self-service</a:t>
            </a:r>
            <a:r>
              <a:rPr lang="ru-RU" sz="1400" dirty="0">
                <a:solidFill>
                  <a:srgbClr val="000000"/>
                </a:solidFill>
              </a:rPr>
              <a:t> кабинет открывает доступ к малым поставщикам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Операционный инвентарь для интеркома и маркетинга форматов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Вся рекламная выручка аллоцируется на форматы</a:t>
            </a:r>
          </a:p>
        </p:txBody>
      </p:sp>
    </p:spTree>
    <p:extLst>
      <p:ext uri="{BB962C8B-B14F-4D97-AF65-F5344CB8AC3E}">
        <p14:creationId xmlns:p14="http://schemas.microsoft.com/office/powerpoint/2010/main" val="190000783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92DAC0F-A039-A254-0652-BA59CF6C7EF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ru-RU" sz="900" dirty="0">
                <a:solidFill>
                  <a:srgbClr val="6E6E6E"/>
                </a:solidFill>
              </a:rPr>
              <a:t>R — исполнитель, A — ответственный за результат, C — консультант, I — наблюдатель. Источник: «Роль Магнит AdTech в 2027+», июль 2026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E9BE670-CA70-08AE-0F3A-5E118D01205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39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24A033E-567B-C7C9-F6E1-C6AC1813096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Зона ответственности: AdTech отвечает за инвентарь, эффективность и execution, категории — за трейд-бюджеты</a:t>
            </a:r>
          </a:p>
        </p:txBody>
      </p:sp>
      <p:sp>
        <p:nvSpPr>
          <p:cNvPr id="300" name="Shape 300"/>
          <p:cNvSpPr txBox="1"/>
          <p:nvPr/>
        </p:nvSpPr>
        <p:spPr>
          <a:xfrm>
            <a:off x="368300" y="1016000"/>
            <a:ext cx="7112000" cy="304800"/>
          </a:xfrm>
          <a:prstGeom prst="rect">
            <a:avLst/>
          </a:prstGeom>
          <a:noFill/>
        </p:spPr>
        <p:txBody>
          <a:bodyPr wrap="square" lIns="91440" tIns="0" rIns="0" bIns="0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RACI по рекламной выручке и инвентарю</a:t>
            </a:r>
          </a:p>
        </p:txBody>
      </p:sp>
      <p:graphicFrame>
        <p:nvGraphicFramePr>
          <p:cNvPr id="301" name="Table 301"/>
          <p:cNvGraphicFramePr>
            <a:graphicFrameLocks noGrp="1"/>
          </p:cNvGraphicFramePr>
          <p:nvPr/>
        </p:nvGraphicFramePr>
        <p:xfrm>
          <a:off x="368300" y="1397000"/>
          <a:ext cx="7114032" cy="2643000"/>
        </p:xfrm>
        <a:graphic>
          <a:graphicData uri="http://schemas.openxmlformats.org/drawingml/2006/table">
            <a:tbl>
              <a:tblPr firstRow="1"/>
              <a:tblGrid>
                <a:gridCol w="2926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992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Зона ответственности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R и A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C и I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Рекламная выручка от поставщиков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Категории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Финансы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00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Выручка от не поставщиков и бренд-бюджеты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AdTech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Финансы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00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Расширение инвентаря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AdTech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FoodTech, М+, FinTech, операционный маркетинг, категории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00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Эффективность инвентаря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AdTech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FoodTech, М+, FinTech, операционный маркетинг, категории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Execution рекламных кампаний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AdTech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Финансы, FoodTech, М+, FinTech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02" name="Shape 302"/>
          <p:cNvSpPr txBox="1"/>
          <p:nvPr/>
        </p:nvSpPr>
        <p:spPr>
          <a:xfrm>
            <a:off x="7823200" y="1016000"/>
            <a:ext cx="4000500" cy="50800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За что отвечает AdTech</a:t>
            </a:r>
          </a:p>
          <a:p>
            <a:pPr marL="171450" indent="-171450">
              <a:spcBef>
                <a:spcPts val="9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Инвентарь:</a:t>
            </a:r>
            <a:r>
              <a:rPr lang="ru-RU" sz="1200" dirty="0">
                <a:solidFill>
                  <a:srgbClr val="000000"/>
                </a:solidFill>
              </a:rPr>
              <a:t> новые рекламные места и инструменты — медиа, перформанс, socialcom</a:t>
            </a:r>
          </a:p>
          <a:p>
            <a:pPr marL="171450" indent="-171450">
              <a:spcBef>
                <a:spcPts val="9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Эффективность:</a:t>
            </a:r>
            <a:r>
              <a:rPr lang="ru-RU" sz="1200" dirty="0">
                <a:solidFill>
                  <a:srgbClr val="000000"/>
                </a:solidFill>
              </a:rPr>
              <a:t> рост результативности рекламы за счет данных и аналитики</a:t>
            </a:r>
          </a:p>
          <a:p>
            <a:pPr marL="171450" indent="-171450">
              <a:spcBef>
                <a:spcPts val="9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Execution:</a:t>
            </a:r>
            <a:r>
              <a:rPr lang="ru-RU" sz="1200" dirty="0">
                <a:solidFill>
                  <a:srgbClr val="000000"/>
                </a:solidFill>
              </a:rPr>
              <a:t> все кампании от медиаплана до отчетности и ОРД</a:t>
            </a:r>
          </a:p>
          <a:p>
            <a:pPr marL="171450" indent="-171450">
              <a:spcBef>
                <a:spcPts val="9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Продажи:</a:t>
            </a:r>
            <a:r>
              <a:rPr lang="ru-RU" sz="1200" dirty="0">
                <a:solidFill>
                  <a:srgbClr val="000000"/>
                </a:solidFill>
              </a:rPr>
              <a:t> медиакит и прайсинг, внешние рекламодатели, агентства, партнерства</a:t>
            </a:r>
          </a:p>
          <a:p>
            <a:pPr marL="0" indent="0">
              <a:spcBef>
                <a:spcPts val="120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За что не отвечает</a:t>
            </a:r>
          </a:p>
          <a:p>
            <a:pPr marL="171450" indent="-171450">
              <a:spcBef>
                <a:spcPts val="9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Объем трейд-бюджетов:</a:t>
            </a:r>
            <a:r>
              <a:rPr lang="ru-RU" sz="1200" dirty="0">
                <a:solidFill>
                  <a:srgbClr val="000000"/>
                </a:solidFill>
              </a:rPr>
              <a:t> инвестиции поставщиков в рамках коммерческих условий — зона Коммерции форматов</a:t>
            </a:r>
          </a:p>
          <a:p>
            <a:pPr marL="171450" indent="-171450">
              <a:spcBef>
                <a:spcPts val="9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Единый КПЭ:</a:t>
            </a:r>
            <a:r>
              <a:rPr lang="ru-RU" sz="1200" dirty="0">
                <a:solidFill>
                  <a:srgbClr val="000000"/>
                </a:solidFill>
              </a:rPr>
              <a:t> у AdTech и категорий общая цель на рост рекламной выручки и инвентаря</a:t>
            </a:r>
          </a:p>
        </p:txBody>
      </p:sp>
    </p:spTree>
    <p:extLst>
      <p:ext uri="{BB962C8B-B14F-4D97-AF65-F5344CB8AC3E}">
        <p14:creationId xmlns:p14="http://schemas.microsoft.com/office/powerpoint/2010/main" val="551597692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0a3UHfhn1pAsh6QBFs5UIA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PrZTV8eULbt7VG2VsnhL6w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nSr7oWst2r6HESSQlqK3KQ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cupNtV6plIGmhMD0lqp1Ng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uGLMbzgyooDVuESNMqXbhQ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ohhHhRUfd.EyaXFhRTxKIg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upwoZSJGcdwQXrvmnYs6hQ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4.a803zSypTgeXK_ZO3_iQ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VkQj1hyP0kIqFkyHi73pPg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gJcgp27EmOcptahNdBbaSA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pAmW_ZlMuPnItWT4w29m3A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sOiCsB21IViBk0X0pKqFnw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pmlM6cSJdvhrFj268TIeSA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j7j2fjdxQUmkIn_fQ_N7Mg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m.9T4wFTTOfhEqZtpG11IQ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OZT.O8WYus4wrJpw2Jcd8w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wuFnZ7iwEquVKljgOXvXiA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VnTyGu6jF43sjMyU.c.TDg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QB1HXxbZMkYPYm.cJYrDBw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UTPC_h1.Y82YV6sl5K6CNw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tGBprxKuLqXXISPio1iUhQ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5UYQbZU1a22wlqjEL0GHfg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X2c8dvgVOK2aqHBvsduo9Q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uBpuwd9HQ6svUbC2vkfxUg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iEyJlpaMR_UApzHka.giQg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cmvyL3PuwCijBQDu57PBYw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A_y7S1cuJ0o_fUu_R37FUg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6f12l8Uvk1C9V6xo_kDp.A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AVxy.glcdTgg.6rN.HbW_Q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ReQv5Siv6P2qkVuDkFlGiQ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94U0jH9IHYzOk3EcycC1rA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WCQwIxEQ0DmEvCNNNnUZ4w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a9TtRRIDy.E_8ES49IlLpg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wQBz9xZtYdbwYi1rd57d_A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6rW5Ckk9IIya3eUOXNw.RQ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D3QWbWfLavtgk2DAlFNdAg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lII_pyn_25DkfVeRnNuH7Q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7.gwHrjKO5yQqai8n5UoZA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CUNYE_lb4cyWhvXk0PC3Xg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dRul88uh9SY3YI5i2zgncQ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sq4nm.UWOJWCaSrha5kdgw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Wj3Gu4FKbpgJvtxx4n3bJA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LmVSZpIFihVlKPUswbckkw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gqXHYkLK79loizqc5Jj2Rw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l_PWx_VRCtrcrubJ3s5b8g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Lz9bTGNbQ2Q8YaWxXD.Opw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J.nO.nCM8fKPbiPC9uC28Q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comaLCwjdrSENiUBRcp89Q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yDty7mdTO3LWWBVsemF3gg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eijC3UMNQN7JNQ99vZPOvw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7_Тема Office">
  <a:themeElements>
    <a:clrScheme name="Пользовательские 5">
      <a:dk1>
        <a:srgbClr val="000000"/>
      </a:dk1>
      <a:lt1>
        <a:srgbClr val="FFFFFF"/>
      </a:lt1>
      <a:dk2>
        <a:srgbClr val="FF452C"/>
      </a:dk2>
      <a:lt2>
        <a:srgbClr val="FFFEFF"/>
      </a:lt2>
      <a:accent1>
        <a:srgbClr val="FF452C"/>
      </a:accent1>
      <a:accent2>
        <a:srgbClr val="999999"/>
      </a:accent2>
      <a:accent3>
        <a:srgbClr val="FEA296"/>
      </a:accent3>
      <a:accent4>
        <a:srgbClr val="CCCCCC"/>
      </a:accent4>
      <a:accent5>
        <a:srgbClr val="FE7460"/>
      </a:accent5>
      <a:accent6>
        <a:srgbClr val="E4E4E4"/>
      </a:accent6>
      <a:hlink>
        <a:srgbClr val="0963FA"/>
      </a:hlink>
      <a:folHlink>
        <a:srgbClr val="9FD1F9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 algn="l">
          <a:defRPr sz="14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55813DC4-6E6A-334C-8A92-F7C8F4D76641}">
  <we:reference id="wa200010001" version="1.0.0.1" store="en-US" storeType="OMEX"/>
  <we:alternateReferences>
    <we:reference id="wa200010001" version="1.0.0.1" store="en-US" storeType="OMEX"/>
  </we:alternateReferences>
  <we:properties>
    <we:property name="claude.fileId" value="&quot;6e2f2751-92b3-472b-badd-636cf7a347c8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1721</TotalTime>
  <Words>7072</Words>
  <Application>Microsoft Macintosh PowerPoint</Application>
  <PresentationFormat>Widescreen</PresentationFormat>
  <Paragraphs>1278</Paragraphs>
  <Slides>39</Slides>
  <Notes>6</Notes>
  <HiddenSlides>0</HiddenSlides>
  <MMClips>0</MMClips>
  <ScaleCrop>false</ScaleCrop>
  <HeadingPairs>
    <vt:vector size="8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2</vt:i4>
      </vt:variant>
      <vt:variant>
        <vt:lpstr>Slide Titles</vt:lpstr>
      </vt:variant>
      <vt:variant>
        <vt:i4>39</vt:i4>
      </vt:variant>
    </vt:vector>
  </HeadingPairs>
  <TitlesOfParts>
    <vt:vector size="44" baseType="lpstr">
      <vt:lpstr>Arial</vt:lpstr>
      <vt:lpstr>Calibri</vt:lpstr>
      <vt:lpstr>7_Тема Office</vt:lpstr>
      <vt:lpstr>think-cell Slide</vt:lpstr>
      <vt:lpstr>Слайд think-cell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Бабкин Денис Владимирович</dc:creator>
  <cp:keywords/>
  <dc:description/>
  <cp:lastModifiedBy>Бабкин Денис Владимирович</cp:lastModifiedBy>
  <cp:revision>16</cp:revision>
  <dcterms:created xsi:type="dcterms:W3CDTF">2026-10-05T11:53:56Z</dcterms:created>
  <dcterms:modified xsi:type="dcterms:W3CDTF">2026-10-14T10:38:55Z</dcterms:modified>
  <cp:category/>
</cp:coreProperties>
</file>