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7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tags/tag14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charts/chart15.xml" ContentType="application/vnd.openxmlformats-officedocument.drawingml.chart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345" r:id="rId2"/>
    <p:sldId id="548" r:id="rId3"/>
    <p:sldId id="2147480845" r:id="rId4"/>
    <p:sldId id="2147480846" r:id="rId5"/>
    <p:sldId id="2147480847" r:id="rId6"/>
    <p:sldId id="2147480848" r:id="rId7"/>
    <p:sldId id="2147480849" r:id="rId8"/>
    <p:sldId id="2147480850" r:id="rId9"/>
    <p:sldId id="549" r:id="rId10"/>
    <p:sldId id="550" r:id="rId11"/>
    <p:sldId id="539" r:id="rId12"/>
    <p:sldId id="507" r:id="rId13"/>
    <p:sldId id="508" r:id="rId14"/>
    <p:sldId id="537" r:id="rId15"/>
    <p:sldId id="441" r:id="rId16"/>
    <p:sldId id="509" r:id="rId17"/>
    <p:sldId id="545" r:id="rId18"/>
    <p:sldId id="460" r:id="rId19"/>
    <p:sldId id="511" r:id="rId20"/>
    <p:sldId id="530" r:id="rId21"/>
    <p:sldId id="531" r:id="rId22"/>
    <p:sldId id="514" r:id="rId23"/>
    <p:sldId id="515" r:id="rId24"/>
    <p:sldId id="516" r:id="rId25"/>
    <p:sldId id="546" r:id="rId27"/>
    <p:sldId id="532" r:id="rId28"/>
    <p:sldId id="533" r:id="rId29"/>
    <p:sldId id="365" r:id="rId31"/>
    <p:sldId id="2147480854" r:id="rId69"/>
    <p:sldId id="538" r:id="rId32"/>
    <p:sldId id="412" r:id="rId33"/>
    <p:sldId id="541" r:id="rId34"/>
    <p:sldId id="433" r:id="rId36"/>
    <p:sldId id="366" r:id="rId37"/>
    <p:sldId id="404" r:id="rId38"/>
    <p:sldId id="483" r:id="rId39"/>
    <p:sldId id="475" r:id="rId41"/>
    <p:sldId id="506" r:id="rId42"/>
    <p:sldId id="543" r:id="rId44"/>
    <p:sldId id="484" r:id="rId45"/>
    <p:sldId id="542" r:id="rId46"/>
    <p:sldId id="468" r:id="rId47"/>
    <p:sldId id="547" r:id="rId48"/>
    <p:sldId id="2147480839" r:id="rId49"/>
    <p:sldId id="2147480841" r:id="rId50"/>
    <p:sldId id="2147480842" r:id="rId51"/>
    <p:sldId id="2147480844" r:id="rId52"/>
    <p:sldId id="430" r:id="rId53"/>
    <p:sldId id="535" r:id="rId30"/>
    <p:sldId id="489" r:id="rId43"/>
    <p:sldId id="2147480851" r:id="rId66"/>
    <p:sldId id="432" r:id="rId40"/>
    <p:sldId id="421" r:id="rId57"/>
    <p:sldId id="422" r:id="rId58"/>
    <p:sldId id="2147480852" r:id="rId67"/>
    <p:sldId id="424" r:id="rId59"/>
    <p:sldId id="528" r:id="rId60"/>
    <p:sldId id="411" r:id="rId54"/>
    <p:sldId id="408" r:id="rId55"/>
    <p:sldId id="427" r:id="rId56"/>
    <p:sldId id="415" r:id="rId35"/>
    <p:sldId id="2147480853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6487.9237250430288</c:v>
                </c:pt>
                <c:pt idx="3">
                  <c:v>7499.4580797954914</c:v>
                </c:pt>
                <c:pt idx="4">
                  <c:v>7843.2875487168258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8-4742-908C-CB4B4A0E9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28-4742-908C-CB4B4A0E9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rgbClr val="FF452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343.82946892133441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28-4742-908C-CB4B4A0E95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28-4742-908C-CB4B4A0E95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28-4742-908C-CB4B4A0E95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28-4742-908C-CB4B4A0E95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28-4742-908C-CB4B4A0E95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28-4742-908C-CB4B4A0E95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28-4742-908C-CB4B4A0E9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28-4742-908C-CB4B4A0E9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511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tags" Target="../tags/tag39.xml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tags" Target="../tags/tag38.xml"/><Relationship Id="rId33" Type="http://schemas.openxmlformats.org/officeDocument/2006/relationships/tags" Target="../tags/tag4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tags" Target="../tags/tag42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tags" Target="../tags/tag37.xml"/><Relationship Id="rId32" Type="http://schemas.openxmlformats.org/officeDocument/2006/relationships/tags" Target="../tags/tag45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tags" Target="../tags/tag36.xml"/><Relationship Id="rId28" Type="http://schemas.openxmlformats.org/officeDocument/2006/relationships/tags" Target="../tags/tag41.xml"/><Relationship Id="rId36" Type="http://schemas.openxmlformats.org/officeDocument/2006/relationships/chart" Target="../charts/chart4.xml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31" Type="http://schemas.openxmlformats.org/officeDocument/2006/relationships/tags" Target="../tags/tag44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tags" Target="../tags/tag35.xml"/><Relationship Id="rId27" Type="http://schemas.openxmlformats.org/officeDocument/2006/relationships/tags" Target="../tags/tag40.xml"/><Relationship Id="rId30" Type="http://schemas.openxmlformats.org/officeDocument/2006/relationships/tags" Target="../tags/tag43.xml"/><Relationship Id="rId35" Type="http://schemas.openxmlformats.org/officeDocument/2006/relationships/chart" Target="../charts/chart3.xml"/><Relationship Id="rId8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9" Type="http://schemas.openxmlformats.org/officeDocument/2006/relationships/tags" Target="../tags/tag86.xml"/><Relationship Id="rId21" Type="http://schemas.openxmlformats.org/officeDocument/2006/relationships/tags" Target="../tags/tag68.xml"/><Relationship Id="rId34" Type="http://schemas.openxmlformats.org/officeDocument/2006/relationships/tags" Target="../tags/tag81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50" Type="http://schemas.openxmlformats.org/officeDocument/2006/relationships/tags" Target="../tags/tag97.xml"/><Relationship Id="rId55" Type="http://schemas.openxmlformats.org/officeDocument/2006/relationships/chart" Target="../charts/chart5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tags" Target="../tags/tag76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53" Type="http://schemas.openxmlformats.org/officeDocument/2006/relationships/oleObject" Target="../embeddings/oleObject10.bin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image" Target="../media/image7.emf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tags" Target="../tags/tag137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oleObject" Target="../embeddings/oleObject11.bin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tags" Target="../tags/tag138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chart" Target="../charts/chart7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8.emf"/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169.xml"/><Relationship Id="rId21" Type="http://schemas.openxmlformats.org/officeDocument/2006/relationships/tags" Target="../tags/tag164.xml"/><Relationship Id="rId42" Type="http://schemas.openxmlformats.org/officeDocument/2006/relationships/tags" Target="../tags/tag185.xml"/><Relationship Id="rId47" Type="http://schemas.openxmlformats.org/officeDocument/2006/relationships/tags" Target="../tags/tag190.xml"/><Relationship Id="rId63" Type="http://schemas.openxmlformats.org/officeDocument/2006/relationships/tags" Target="../tags/tag206.xml"/><Relationship Id="rId68" Type="http://schemas.openxmlformats.org/officeDocument/2006/relationships/tags" Target="../tags/tag211.xml"/><Relationship Id="rId84" Type="http://schemas.openxmlformats.org/officeDocument/2006/relationships/tags" Target="../tags/tag227.xml"/><Relationship Id="rId89" Type="http://schemas.openxmlformats.org/officeDocument/2006/relationships/tags" Target="../tags/tag232.xml"/><Relationship Id="rId16" Type="http://schemas.openxmlformats.org/officeDocument/2006/relationships/tags" Target="../tags/tag159.xml"/><Relationship Id="rId11" Type="http://schemas.openxmlformats.org/officeDocument/2006/relationships/tags" Target="../tags/tag154.xml"/><Relationship Id="rId32" Type="http://schemas.openxmlformats.org/officeDocument/2006/relationships/tags" Target="../tags/tag175.xml"/><Relationship Id="rId37" Type="http://schemas.openxmlformats.org/officeDocument/2006/relationships/tags" Target="../tags/tag180.xml"/><Relationship Id="rId53" Type="http://schemas.openxmlformats.org/officeDocument/2006/relationships/tags" Target="../tags/tag196.xml"/><Relationship Id="rId58" Type="http://schemas.openxmlformats.org/officeDocument/2006/relationships/tags" Target="../tags/tag201.xml"/><Relationship Id="rId74" Type="http://schemas.openxmlformats.org/officeDocument/2006/relationships/tags" Target="../tags/tag217.xml"/><Relationship Id="rId79" Type="http://schemas.openxmlformats.org/officeDocument/2006/relationships/tags" Target="../tags/tag222.xml"/><Relationship Id="rId5" Type="http://schemas.openxmlformats.org/officeDocument/2006/relationships/tags" Target="../tags/tag148.xml"/><Relationship Id="rId90" Type="http://schemas.openxmlformats.org/officeDocument/2006/relationships/tags" Target="../tags/tag233.xml"/><Relationship Id="rId95" Type="http://schemas.openxmlformats.org/officeDocument/2006/relationships/oleObject" Target="../embeddings/oleObject14.bin"/><Relationship Id="rId22" Type="http://schemas.openxmlformats.org/officeDocument/2006/relationships/tags" Target="../tags/tag165.xml"/><Relationship Id="rId27" Type="http://schemas.openxmlformats.org/officeDocument/2006/relationships/tags" Target="../tags/tag170.xml"/><Relationship Id="rId43" Type="http://schemas.openxmlformats.org/officeDocument/2006/relationships/tags" Target="../tags/tag186.xml"/><Relationship Id="rId48" Type="http://schemas.openxmlformats.org/officeDocument/2006/relationships/tags" Target="../tags/tag191.xml"/><Relationship Id="rId64" Type="http://schemas.openxmlformats.org/officeDocument/2006/relationships/tags" Target="../tags/tag207.xml"/><Relationship Id="rId69" Type="http://schemas.openxmlformats.org/officeDocument/2006/relationships/tags" Target="../tags/tag212.xml"/><Relationship Id="rId80" Type="http://schemas.openxmlformats.org/officeDocument/2006/relationships/tags" Target="../tags/tag223.xml"/><Relationship Id="rId85" Type="http://schemas.openxmlformats.org/officeDocument/2006/relationships/tags" Target="../tags/tag228.xml"/><Relationship Id="rId3" Type="http://schemas.openxmlformats.org/officeDocument/2006/relationships/tags" Target="../tags/tag146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5" Type="http://schemas.openxmlformats.org/officeDocument/2006/relationships/tags" Target="../tags/tag168.xml"/><Relationship Id="rId33" Type="http://schemas.openxmlformats.org/officeDocument/2006/relationships/tags" Target="../tags/tag176.xml"/><Relationship Id="rId38" Type="http://schemas.openxmlformats.org/officeDocument/2006/relationships/tags" Target="../tags/tag181.xml"/><Relationship Id="rId46" Type="http://schemas.openxmlformats.org/officeDocument/2006/relationships/tags" Target="../tags/tag189.xml"/><Relationship Id="rId59" Type="http://schemas.openxmlformats.org/officeDocument/2006/relationships/tags" Target="../tags/tag202.xml"/><Relationship Id="rId67" Type="http://schemas.openxmlformats.org/officeDocument/2006/relationships/tags" Target="../tags/tag210.xml"/><Relationship Id="rId20" Type="http://schemas.openxmlformats.org/officeDocument/2006/relationships/tags" Target="../tags/tag163.xml"/><Relationship Id="rId41" Type="http://schemas.openxmlformats.org/officeDocument/2006/relationships/tags" Target="../tags/tag184.xml"/><Relationship Id="rId54" Type="http://schemas.openxmlformats.org/officeDocument/2006/relationships/tags" Target="../tags/tag197.xml"/><Relationship Id="rId62" Type="http://schemas.openxmlformats.org/officeDocument/2006/relationships/tags" Target="../tags/tag205.xml"/><Relationship Id="rId70" Type="http://schemas.openxmlformats.org/officeDocument/2006/relationships/tags" Target="../tags/tag213.xml"/><Relationship Id="rId75" Type="http://schemas.openxmlformats.org/officeDocument/2006/relationships/tags" Target="../tags/tag218.xml"/><Relationship Id="rId83" Type="http://schemas.openxmlformats.org/officeDocument/2006/relationships/tags" Target="../tags/tag226.xml"/><Relationship Id="rId88" Type="http://schemas.openxmlformats.org/officeDocument/2006/relationships/tags" Target="../tags/tag231.xml"/><Relationship Id="rId91" Type="http://schemas.openxmlformats.org/officeDocument/2006/relationships/tags" Target="../tags/tag234.xml"/><Relationship Id="rId96" Type="http://schemas.openxmlformats.org/officeDocument/2006/relationships/image" Target="../media/image4.emf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5" Type="http://schemas.openxmlformats.org/officeDocument/2006/relationships/tags" Target="../tags/tag158.xml"/><Relationship Id="rId23" Type="http://schemas.openxmlformats.org/officeDocument/2006/relationships/tags" Target="../tags/tag166.xml"/><Relationship Id="rId28" Type="http://schemas.openxmlformats.org/officeDocument/2006/relationships/tags" Target="../tags/tag171.xml"/><Relationship Id="rId36" Type="http://schemas.openxmlformats.org/officeDocument/2006/relationships/tags" Target="../tags/tag179.xml"/><Relationship Id="rId49" Type="http://schemas.openxmlformats.org/officeDocument/2006/relationships/tags" Target="../tags/tag192.xml"/><Relationship Id="rId57" Type="http://schemas.openxmlformats.org/officeDocument/2006/relationships/tags" Target="../tags/tag200.xml"/><Relationship Id="rId10" Type="http://schemas.openxmlformats.org/officeDocument/2006/relationships/tags" Target="../tags/tag153.xml"/><Relationship Id="rId31" Type="http://schemas.openxmlformats.org/officeDocument/2006/relationships/tags" Target="../tags/tag174.xml"/><Relationship Id="rId44" Type="http://schemas.openxmlformats.org/officeDocument/2006/relationships/tags" Target="../tags/tag187.xml"/><Relationship Id="rId52" Type="http://schemas.openxmlformats.org/officeDocument/2006/relationships/tags" Target="../tags/tag195.xml"/><Relationship Id="rId60" Type="http://schemas.openxmlformats.org/officeDocument/2006/relationships/tags" Target="../tags/tag203.xml"/><Relationship Id="rId65" Type="http://schemas.openxmlformats.org/officeDocument/2006/relationships/tags" Target="../tags/tag208.xml"/><Relationship Id="rId73" Type="http://schemas.openxmlformats.org/officeDocument/2006/relationships/tags" Target="../tags/tag216.xml"/><Relationship Id="rId78" Type="http://schemas.openxmlformats.org/officeDocument/2006/relationships/tags" Target="../tags/tag221.xml"/><Relationship Id="rId81" Type="http://schemas.openxmlformats.org/officeDocument/2006/relationships/tags" Target="../tags/tag224.xml"/><Relationship Id="rId86" Type="http://schemas.openxmlformats.org/officeDocument/2006/relationships/tags" Target="../tags/tag229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9" Type="http://schemas.openxmlformats.org/officeDocument/2006/relationships/tags" Target="../tags/tag182.xml"/><Relationship Id="rId34" Type="http://schemas.openxmlformats.org/officeDocument/2006/relationships/tags" Target="../tags/tag177.xml"/><Relationship Id="rId50" Type="http://schemas.openxmlformats.org/officeDocument/2006/relationships/tags" Target="../tags/tag193.xml"/><Relationship Id="rId55" Type="http://schemas.openxmlformats.org/officeDocument/2006/relationships/tags" Target="../tags/tag198.xml"/><Relationship Id="rId76" Type="http://schemas.openxmlformats.org/officeDocument/2006/relationships/tags" Target="../tags/tag219.xml"/><Relationship Id="rId97" Type="http://schemas.openxmlformats.org/officeDocument/2006/relationships/chart" Target="../charts/chart13.xml"/><Relationship Id="rId7" Type="http://schemas.openxmlformats.org/officeDocument/2006/relationships/tags" Target="../tags/tag150.xml"/><Relationship Id="rId71" Type="http://schemas.openxmlformats.org/officeDocument/2006/relationships/tags" Target="../tags/tag214.xml"/><Relationship Id="rId92" Type="http://schemas.openxmlformats.org/officeDocument/2006/relationships/tags" Target="../tags/tag235.xml"/><Relationship Id="rId2" Type="http://schemas.openxmlformats.org/officeDocument/2006/relationships/tags" Target="../tags/tag145.xml"/><Relationship Id="rId29" Type="http://schemas.openxmlformats.org/officeDocument/2006/relationships/tags" Target="../tags/tag172.xml"/><Relationship Id="rId24" Type="http://schemas.openxmlformats.org/officeDocument/2006/relationships/tags" Target="../tags/tag167.xml"/><Relationship Id="rId40" Type="http://schemas.openxmlformats.org/officeDocument/2006/relationships/tags" Target="../tags/tag183.xml"/><Relationship Id="rId45" Type="http://schemas.openxmlformats.org/officeDocument/2006/relationships/tags" Target="../tags/tag188.xml"/><Relationship Id="rId66" Type="http://schemas.openxmlformats.org/officeDocument/2006/relationships/tags" Target="../tags/tag209.xml"/><Relationship Id="rId87" Type="http://schemas.openxmlformats.org/officeDocument/2006/relationships/tags" Target="../tags/tag230.xml"/><Relationship Id="rId61" Type="http://schemas.openxmlformats.org/officeDocument/2006/relationships/tags" Target="../tags/tag204.xml"/><Relationship Id="rId82" Type="http://schemas.openxmlformats.org/officeDocument/2006/relationships/tags" Target="../tags/tag225.xml"/><Relationship Id="rId19" Type="http://schemas.openxmlformats.org/officeDocument/2006/relationships/tags" Target="../tags/tag162.xml"/><Relationship Id="rId14" Type="http://schemas.openxmlformats.org/officeDocument/2006/relationships/tags" Target="../tags/tag157.xml"/><Relationship Id="rId30" Type="http://schemas.openxmlformats.org/officeDocument/2006/relationships/tags" Target="../tags/tag173.xml"/><Relationship Id="rId35" Type="http://schemas.openxmlformats.org/officeDocument/2006/relationships/tags" Target="../tags/tag178.xml"/><Relationship Id="rId56" Type="http://schemas.openxmlformats.org/officeDocument/2006/relationships/tags" Target="../tags/tag199.xml"/><Relationship Id="rId77" Type="http://schemas.openxmlformats.org/officeDocument/2006/relationships/tags" Target="../tags/tag220.xml"/><Relationship Id="rId8" Type="http://schemas.openxmlformats.org/officeDocument/2006/relationships/tags" Target="../tags/tag151.xml"/><Relationship Id="rId51" Type="http://schemas.openxmlformats.org/officeDocument/2006/relationships/tags" Target="../tags/tag194.xml"/><Relationship Id="rId72" Type="http://schemas.openxmlformats.org/officeDocument/2006/relationships/tags" Target="../tags/tag215.xml"/><Relationship Id="rId93" Type="http://schemas.openxmlformats.org/officeDocument/2006/relationships/tags" Target="../tags/tag236.xml"/><Relationship Id="rId98" Type="http://schemas.openxmlformats.org/officeDocument/2006/relationships/chart" Target="../charts/chart1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3" Type="http://schemas.openxmlformats.org/officeDocument/2006/relationships/tags" Target="../tags/tag239.xml"/><Relationship Id="rId21" Type="http://schemas.openxmlformats.org/officeDocument/2006/relationships/image" Target="../media/image4.emf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oleObject" Target="../embeddings/oleObject15.bin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10" Type="http://schemas.openxmlformats.org/officeDocument/2006/relationships/tags" Target="../tags/tag246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chart" Target="../charts/chart15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tags" Target="../tags/tag280.xml"/><Relationship Id="rId21" Type="http://schemas.openxmlformats.org/officeDocument/2006/relationships/tags" Target="../tags/tag275.xml"/><Relationship Id="rId42" Type="http://schemas.openxmlformats.org/officeDocument/2006/relationships/tags" Target="../tags/tag296.xml"/><Relationship Id="rId47" Type="http://schemas.openxmlformats.org/officeDocument/2006/relationships/tags" Target="../tags/tag301.xml"/><Relationship Id="rId63" Type="http://schemas.openxmlformats.org/officeDocument/2006/relationships/tags" Target="../tags/tag317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9" Type="http://schemas.openxmlformats.org/officeDocument/2006/relationships/tags" Target="../tags/tag283.xml"/><Relationship Id="rId11" Type="http://schemas.openxmlformats.org/officeDocument/2006/relationships/tags" Target="../tags/tag265.xml"/><Relationship Id="rId24" Type="http://schemas.openxmlformats.org/officeDocument/2006/relationships/tags" Target="../tags/tag278.xml"/><Relationship Id="rId32" Type="http://schemas.openxmlformats.org/officeDocument/2006/relationships/tags" Target="../tags/tag286.xml"/><Relationship Id="rId37" Type="http://schemas.openxmlformats.org/officeDocument/2006/relationships/tags" Target="../tags/tag291.xml"/><Relationship Id="rId40" Type="http://schemas.openxmlformats.org/officeDocument/2006/relationships/tags" Target="../tags/tag294.xml"/><Relationship Id="rId45" Type="http://schemas.openxmlformats.org/officeDocument/2006/relationships/tags" Target="../tags/tag299.xml"/><Relationship Id="rId53" Type="http://schemas.openxmlformats.org/officeDocument/2006/relationships/tags" Target="../tags/tag307.xml"/><Relationship Id="rId58" Type="http://schemas.openxmlformats.org/officeDocument/2006/relationships/tags" Target="../tags/tag312.xml"/><Relationship Id="rId66" Type="http://schemas.openxmlformats.org/officeDocument/2006/relationships/tags" Target="../tags/tag320.xml"/><Relationship Id="rId5" Type="http://schemas.openxmlformats.org/officeDocument/2006/relationships/tags" Target="../tags/tag259.xml"/><Relationship Id="rId61" Type="http://schemas.openxmlformats.org/officeDocument/2006/relationships/tags" Target="../tags/tag315.xml"/><Relationship Id="rId19" Type="http://schemas.openxmlformats.org/officeDocument/2006/relationships/tags" Target="../tags/tag273.xml"/><Relationship Id="rId14" Type="http://schemas.openxmlformats.org/officeDocument/2006/relationships/tags" Target="../tags/tag268.xml"/><Relationship Id="rId22" Type="http://schemas.openxmlformats.org/officeDocument/2006/relationships/tags" Target="../tags/tag276.xml"/><Relationship Id="rId27" Type="http://schemas.openxmlformats.org/officeDocument/2006/relationships/tags" Target="../tags/tag281.xml"/><Relationship Id="rId30" Type="http://schemas.openxmlformats.org/officeDocument/2006/relationships/tags" Target="../tags/tag284.xml"/><Relationship Id="rId35" Type="http://schemas.openxmlformats.org/officeDocument/2006/relationships/tags" Target="../tags/tag289.xml"/><Relationship Id="rId43" Type="http://schemas.openxmlformats.org/officeDocument/2006/relationships/tags" Target="../tags/tag297.xml"/><Relationship Id="rId48" Type="http://schemas.openxmlformats.org/officeDocument/2006/relationships/tags" Target="../tags/tag302.xml"/><Relationship Id="rId56" Type="http://schemas.openxmlformats.org/officeDocument/2006/relationships/tags" Target="../tags/tag310.xml"/><Relationship Id="rId64" Type="http://schemas.openxmlformats.org/officeDocument/2006/relationships/tags" Target="../tags/tag318.xml"/><Relationship Id="rId69" Type="http://schemas.openxmlformats.org/officeDocument/2006/relationships/notesSlide" Target="../notesSlides/notesSlide12.xml"/><Relationship Id="rId8" Type="http://schemas.openxmlformats.org/officeDocument/2006/relationships/tags" Target="../tags/tag262.xml"/><Relationship Id="rId51" Type="http://schemas.openxmlformats.org/officeDocument/2006/relationships/tags" Target="../tags/tag305.xml"/><Relationship Id="rId72" Type="http://schemas.openxmlformats.org/officeDocument/2006/relationships/chart" Target="../charts/chart16.xml"/><Relationship Id="rId3" Type="http://schemas.openxmlformats.org/officeDocument/2006/relationships/tags" Target="../tags/tag257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5" Type="http://schemas.openxmlformats.org/officeDocument/2006/relationships/tags" Target="../tags/tag279.xml"/><Relationship Id="rId33" Type="http://schemas.openxmlformats.org/officeDocument/2006/relationships/tags" Target="../tags/tag287.xml"/><Relationship Id="rId38" Type="http://schemas.openxmlformats.org/officeDocument/2006/relationships/tags" Target="../tags/tag292.xml"/><Relationship Id="rId46" Type="http://schemas.openxmlformats.org/officeDocument/2006/relationships/tags" Target="../tags/tag300.xml"/><Relationship Id="rId59" Type="http://schemas.openxmlformats.org/officeDocument/2006/relationships/tags" Target="../tags/tag313.xml"/><Relationship Id="rId67" Type="http://schemas.openxmlformats.org/officeDocument/2006/relationships/tags" Target="../tags/tag321.xml"/><Relationship Id="rId20" Type="http://schemas.openxmlformats.org/officeDocument/2006/relationships/tags" Target="../tags/tag274.xml"/><Relationship Id="rId41" Type="http://schemas.openxmlformats.org/officeDocument/2006/relationships/tags" Target="../tags/tag295.xml"/><Relationship Id="rId54" Type="http://schemas.openxmlformats.org/officeDocument/2006/relationships/tags" Target="../tags/tag308.xml"/><Relationship Id="rId62" Type="http://schemas.openxmlformats.org/officeDocument/2006/relationships/tags" Target="../tags/tag316.xml"/><Relationship Id="rId70" Type="http://schemas.openxmlformats.org/officeDocument/2006/relationships/oleObject" Target="../embeddings/oleObject16.bin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5" Type="http://schemas.openxmlformats.org/officeDocument/2006/relationships/tags" Target="../tags/tag269.xml"/><Relationship Id="rId23" Type="http://schemas.openxmlformats.org/officeDocument/2006/relationships/tags" Target="../tags/tag277.xml"/><Relationship Id="rId28" Type="http://schemas.openxmlformats.org/officeDocument/2006/relationships/tags" Target="../tags/tag282.xml"/><Relationship Id="rId36" Type="http://schemas.openxmlformats.org/officeDocument/2006/relationships/tags" Target="../tags/tag290.xml"/><Relationship Id="rId49" Type="http://schemas.openxmlformats.org/officeDocument/2006/relationships/tags" Target="../tags/tag303.xml"/><Relationship Id="rId57" Type="http://schemas.openxmlformats.org/officeDocument/2006/relationships/tags" Target="../tags/tag311.xml"/><Relationship Id="rId10" Type="http://schemas.openxmlformats.org/officeDocument/2006/relationships/tags" Target="../tags/tag264.xml"/><Relationship Id="rId31" Type="http://schemas.openxmlformats.org/officeDocument/2006/relationships/tags" Target="../tags/tag285.xml"/><Relationship Id="rId44" Type="http://schemas.openxmlformats.org/officeDocument/2006/relationships/tags" Target="../tags/tag298.xml"/><Relationship Id="rId52" Type="http://schemas.openxmlformats.org/officeDocument/2006/relationships/tags" Target="../tags/tag306.xml"/><Relationship Id="rId60" Type="http://schemas.openxmlformats.org/officeDocument/2006/relationships/tags" Target="../tags/tag314.xml"/><Relationship Id="rId65" Type="http://schemas.openxmlformats.org/officeDocument/2006/relationships/tags" Target="../tags/tag319.xml"/><Relationship Id="rId73" Type="http://schemas.openxmlformats.org/officeDocument/2006/relationships/chart" Target="../charts/chart17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9" Type="http://schemas.openxmlformats.org/officeDocument/2006/relationships/tags" Target="../tags/tag293.xml"/><Relationship Id="rId34" Type="http://schemas.openxmlformats.org/officeDocument/2006/relationships/tags" Target="../tags/tag288.xml"/><Relationship Id="rId50" Type="http://schemas.openxmlformats.org/officeDocument/2006/relationships/tags" Target="../tags/tag304.xml"/><Relationship Id="rId55" Type="http://schemas.openxmlformats.org/officeDocument/2006/relationships/tags" Target="../tags/tag309.xml"/><Relationship Id="rId7" Type="http://schemas.openxmlformats.org/officeDocument/2006/relationships/tags" Target="../tags/tag261.xml"/><Relationship Id="rId71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ru-RU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5019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</a:t>
            </a:r>
            <a:r>
              <a:rPr lang="en-US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</a:t>
            </a: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Расшифровка:</a:t>
            </a: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</a:t>
            </a:r>
            <a:r>
              <a:rPr lang="en-US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instore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3224118588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lang="ru-RU" kumimoji="0" sz="9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6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5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431837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19361"/>
              </p:ext>
            </p:extLst>
          </p:nvPr>
        </p:nvGraphicFramePr>
        <p:xfrm>
          <a:off x="6393164" y="2801837"/>
          <a:ext cx="5434661" cy="32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триггеры по Магнит </a:t>
            </a:r>
            <a:r>
              <a:rPr lang="en-US"/>
              <a:t>AdTech</a:t>
            </a:r>
            <a:r>
              <a:rPr lang="ru-RU"/>
              <a:t> на 2027 год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Четыре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(+18%), полный год нового прайса и in-store оборудования 2026 г.,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Прирост Net Revenue для форматов 2 272 млн руб.: </a:t>
            </a:r>
            <a:r>
              <a:rPr lang="ru-RU" sz="1200">
                <a:solidFill>
                  <a:srgbClr val="000000"/>
                </a:solidFill>
              </a:rPr>
              <a:t>прирост выручки 4 243 за вычетом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Превышение таргета 2 000 на 272 млн руб.: </a:t>
            </a:r>
            <a:r>
              <a:rPr lang="ru-RU" sz="1200">
                <a:solidFill>
                  <a:srgbClr val="000000"/>
                </a:solidFill>
              </a:rPr>
              <a:t>запуск Content factory и финальные корректировки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таргета, с учётом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Net </a:t>
            </a:r>
            <a:r>
              <a:rPr lang="en-US" sz="1200" b="1">
                <a:solidFill>
                  <a:srgbClr val="000000"/>
                </a:solidFill>
              </a:rPr>
              <a:t>Revenue</a:t>
            </a:r>
            <a:r>
              <a:rPr lang="ru-RU" sz="1200" b="1">
                <a:solidFill>
                  <a:srgbClr val="000000"/>
                </a:solidFill>
              </a:rPr>
              <a:t> +3 152 млн руб. (+33%) </a:t>
            </a:r>
            <a:r>
              <a:rPr lang="ru-RU" sz="1200">
                <a:solidFill>
                  <a:srgbClr val="000000"/>
                </a:solidFill>
              </a:rPr>
              <a:t>при росте выручки на 4 243 млн руб.; COGS (+1 091) растёт пропорционально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дают APP и In-</a:t>
            </a:r>
            <a:r>
              <a:rPr lang="en-US" sz="1200" b="1">
                <a:solidFill>
                  <a:srgbClr val="000000"/>
                </a:solidFill>
              </a:rPr>
              <a:t>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 и оборудования, введённого в 2026 г., рост DAC на 18%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endParaRPr lang="ru-RU" sz="1200">
              <a:solidFill>
                <a:srgbClr val="000000"/>
              </a:solidFill>
            </a:endParaRP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 </a:t>
            </a:r>
            <a:r>
              <a:rPr lang="ru-RU" sz="1200">
                <a:solidFill>
                  <a:srgbClr val="000000"/>
                </a:solidFill>
              </a:rPr>
              <a:t>(2 272 − OPEX 1 772) — на уровне </a:t>
            </a:r>
            <a:r>
              <a:rPr lang="en-US" sz="1200">
                <a:solidFill>
                  <a:srgbClr val="000000"/>
                </a:solidFill>
              </a:rPr>
              <a:t>top-down</a:t>
            </a: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2 272 млн руб. —</a:t>
            </a:r>
            <a:r>
              <a:rPr lang="ru-RU" sz="1200" b="1">
                <a:solidFill>
                  <a:srgbClr val="000000"/>
                </a:solidFill>
              </a:rPr>
              <a:t> </a:t>
            </a:r>
            <a:r>
              <a:rPr lang="ru-RU" sz="1200">
                <a:solidFill>
                  <a:srgbClr val="000000"/>
                </a:solidFill>
              </a:rPr>
              <a:t>может быть достигнуто только в случае, если форматы не утилизируют весь рекламный инвентарь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en-US" sz="1200" b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200" b="1"/>
              <a:t>4 243 </a:t>
            </a:r>
            <a:r>
              <a:rPr lang="ru-RU" sz="1400" b="1"/>
              <a:t>млн руб. 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мес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инфлюенс-маркетинг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traditional digital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</a:t>
            </a:r>
            <a:r>
              <a:rPr lang="en-US">
                <a:solidFill>
                  <a:srgbClr val="6E6E6E"/>
                </a:solidFill>
              </a:rPr>
              <a:t>: Ads Market Calc (</a:t>
            </a:r>
            <a:r>
              <a:rPr lang="ru-RU">
                <a:solidFill>
                  <a:srgbClr val="6E6E6E"/>
                </a:solidFill>
              </a:rPr>
              <a:t>внутренняя оценка рынка</a:t>
            </a:r>
            <a:r>
              <a:rPr lang="en-US">
                <a:solidFill>
                  <a:srgbClr val="6E6E6E"/>
                </a:solidFill>
              </a:rPr>
              <a:t>), WPP Media </a:t>
            </a:r>
            <a:r>
              <a:rPr lang="ru-RU">
                <a:solidFill>
                  <a:srgbClr val="6E6E6E"/>
                </a:solidFill>
              </a:rPr>
              <a:t>через </a:t>
            </a:r>
            <a:r>
              <a:rPr lang="en-US">
                <a:solidFill>
                  <a:srgbClr val="6E6E6E"/>
                </a:solidFill>
              </a:rPr>
              <a:t>Sostav</a:t>
            </a:r>
            <a:r>
              <a:rPr lang="ru-RU">
                <a:solidFill>
                  <a:srgbClr val="6E6E6E"/>
                </a:solidFill>
              </a:rPr>
              <a:t> (2025), Авито Реклама и</a:t>
            </a:r>
            <a:r>
              <a:rPr lang="en-US">
                <a:solidFill>
                  <a:srgbClr val="6E6E6E"/>
                </a:solidFill>
              </a:rPr>
              <a:t> Soloway (</a:t>
            </a:r>
            <a:r>
              <a:rPr lang="ru-RU">
                <a:solidFill>
                  <a:srgbClr val="6E6E6E"/>
                </a:solidFill>
              </a:rPr>
              <a:t>сентябрь 2026), НРА, внутреннее исследование</a:t>
            </a:r>
            <a:r>
              <a:rPr lang="en-US">
                <a:solidFill>
                  <a:srgbClr val="6E6E6E"/>
                </a:solidFill>
              </a:rPr>
              <a:t> Magnit ADS. </a:t>
            </a:r>
            <a:r>
              <a:rPr lang="ru-RU">
                <a:solidFill>
                  <a:srgbClr val="6E6E6E"/>
                </a:solidFill>
              </a:rPr>
              <a:t>Гипотезы — экспертная оценка</a:t>
            </a:r>
            <a:r>
              <a:rPr lang="en-US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 смещаются к транзакции: у места покупки растет роль перформанса, в начале пути — охватных медиа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Драйверы роста, P&amp;L, сезонность, сверка со стратегией и пререквизиты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мес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RMN (+850) — более половины превышения: </a:t>
            </a:r>
            <a:r>
              <a:rPr lang="ru-RU" sz="1200">
                <a:solidFill>
                  <a:srgbClr val="000000"/>
                </a:solidFill>
              </a:rPr>
              <a:t>направление не закладывалось в стратегию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DMP + Online +537 к стратегии: </a:t>
            </a:r>
            <a:r>
              <a:rPr lang="ru-RU" sz="1200">
                <a:solidFill>
                  <a:srgbClr val="000000"/>
                </a:solidFill>
              </a:rPr>
              <a:t>в основном новые площадки — </a:t>
            </a:r>
            <a:r>
              <a:rPr lang="en-US" sz="1200">
                <a:solidFill>
                  <a:srgbClr val="000000"/>
                </a:solidFill>
              </a:rPr>
              <a:t>SmartTV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ru-RU" sz="1200">
                <a:solidFill>
                  <a:srgbClr val="000000"/>
                </a:solidFill>
              </a:rPr>
              <a:t>Авито</a:t>
            </a:r>
            <a:r>
              <a:rPr lang="ru-RU" sz="1200">
                <a:solidFill>
                  <a:srgbClr val="000000"/>
                </a:solidFill>
              </a:rPr>
              <a:t>, маркетплейсы (420)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</a:t>
            </a:r>
            <a:r>
              <a:rPr lang="en-US" sz="1200" b="1">
                <a:solidFill>
                  <a:srgbClr val="000000"/>
                </a:solidFill>
              </a:rPr>
              <a:t>store</a:t>
            </a:r>
            <a:r>
              <a:rPr lang="ru-RU" sz="1200" b="1">
                <a:solidFill>
                  <a:srgbClr val="000000"/>
                </a:solidFill>
              </a:rPr>
              <a:t> на 490 ниже стратегии: </a:t>
            </a:r>
            <a:r>
              <a:rPr lang="ru-RU" sz="1200">
                <a:solidFill>
                  <a:srgbClr val="000000"/>
                </a:solidFill>
              </a:rPr>
              <a:t>консервативная оценка дохода на устройство после расширения парка, в первую очередь по КСО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с COGS выше стратегии на 748: </a:t>
            </a:r>
            <a:r>
              <a:rPr lang="ru-RU" sz="1200">
                <a:solidFill>
                  <a:srgbClr val="000000"/>
                </a:solidFill>
              </a:rPr>
              <a:t>в основном Marketing (+742) — закупка трафика DMP и агентские вознаграждения, которые напрямую связаны с ростом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+18%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</a:t>
            </a:r>
            <a:r>
              <a:rPr lang="en-US" sz="1200">
                <a:solidFill>
                  <a:srgbClr val="000000"/>
                </a:solidFill>
              </a:rPr>
              <a:t> GMV (</a:t>
            </a:r>
            <a:r>
              <a:rPr lang="en-US" sz="1200">
                <a:solidFill>
                  <a:srgbClr val="000000"/>
                </a:solidFill>
              </a:rPr>
              <a:t>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>
                <a:solidFill>
                  <a:srgbClr val="000000"/>
                </a:solidFill>
              </a:rPr>
              <a:t>5 + 5</a:t>
            </a:r>
            <a:r>
              <a:rPr lang="ru-RU" sz="140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Введено </a:t>
            </a:r>
            <a:r>
              <a:rPr lang="ru-RU" sz="1400" b="1">
                <a:solidFill>
                  <a:srgbClr val="000000"/>
                </a:solidFill>
              </a:rPr>
              <a:t>2 725</a:t>
            </a:r>
            <a:r>
              <a:rPr lang="ru-RU" sz="1400">
                <a:solidFill>
                  <a:srgbClr val="000000"/>
                </a:solidFill>
              </a:rPr>
              <a:t> шелф-баннеров и </a:t>
            </a:r>
            <a:r>
              <a:rPr lang="ru-RU" sz="1400" b="1">
                <a:solidFill>
                  <a:srgbClr val="000000"/>
                </a:solidFill>
              </a:rPr>
              <a:t>831</a:t>
            </a:r>
            <a:r>
              <a:rPr lang="ru-RU" sz="140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Еще </a:t>
            </a:r>
            <a:r>
              <a:rPr lang="ru-RU" sz="1400" b="1">
                <a:solidFill>
                  <a:srgbClr val="000000"/>
                </a:solidFill>
              </a:rPr>
              <a:t>3 250</a:t>
            </a:r>
            <a:r>
              <a:rPr lang="ru-RU" sz="1400">
                <a:solidFill>
                  <a:srgbClr val="000000"/>
                </a:solidFill>
              </a:rPr>
              <a:t> шелф-баннеров, </a:t>
            </a:r>
            <a:r>
              <a:rPr lang="ru-RU" sz="1400" b="1">
                <a:solidFill>
                  <a:srgbClr val="000000"/>
                </a:solidFill>
              </a:rPr>
              <a:t>428</a:t>
            </a:r>
            <a:r>
              <a:rPr lang="ru-RU" sz="1400">
                <a:solidFill>
                  <a:srgbClr val="000000"/>
                </a:solidFill>
              </a:rPr>
              <a:t> фасадных экранов, </a:t>
            </a:r>
            <a:r>
              <a:rPr lang="ru-RU" sz="1400" b="1">
                <a:solidFill>
                  <a:srgbClr val="000000"/>
                </a:solidFill>
              </a:rPr>
              <a:t>20</a:t>
            </a:r>
            <a:r>
              <a:rPr lang="ru-RU" sz="140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ИТ-закупки 31: </a:t>
            </a:r>
            <a:r>
              <a:rPr lang="ru-RU" sz="1200">
                <a:solidFill>
                  <a:srgbClr val="000000"/>
                </a:solidFill>
              </a:rPr>
              <a:t>техника под найм 30 человек (14), AI-инструменты (11), Optimacros (5)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 из центрального маркетинга в контур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таргета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lang="ru-RU" kumimoji="0" sz="1400" b="1" i="0" u="none" strike="noStrike" kern="1200" cap="none" spc="0" normalizeH="0" baseline="3000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lang="en-US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lang="en-US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конец года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In-store: парк вырастет до 81,4 тыс. устройств за счет шелф-баннеров и фасадных экранов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Парк In-store по типам оборудования, ед.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191000"/>
        </p:xfrm>
        <a:graphic>
          <a:graphicData uri="http://schemas.openxmlformats.org/drawingml/2006/table">
            <a:tbl>
              <a:tblPr firstRow="1"/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+3 250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+428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77 721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81 419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+3 698</a:t>
                      </a:r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КСО:</a:t>
            </a:r>
            <a:r>
              <a:rPr lang="ru-RU" sz="1200">
                <a:solidFill>
                  <a:srgbClr val="000000"/>
                </a:solidFill>
              </a:rPr>
              <a:t> 40,5 тыс. устройств, введенных в Q4 2026, работают весь год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Шелф-баннеры:</a:t>
            </a:r>
            <a:r>
              <a:rPr lang="ru-RU" sz="1200">
                <a:solidFill>
                  <a:srgbClr val="000000"/>
                </a:solidFill>
              </a:rPr>
              <a:t> парк вырастет в 2,2 раза, до 6,0 тыс.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Фасадные экраны:</a:t>
            </a:r>
            <a:r>
              <a:rPr lang="ru-RU" sz="1200">
                <a:solidFill>
                  <a:srgbClr val="000000"/>
                </a:solidFill>
              </a:rPr>
              <a:t> +428, до 1,7 тыс.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для монетизации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Платформа:</a:t>
            </a:r>
            <a:r>
              <a:rPr lang="ru-RU" sz="1200">
                <a:solidFill>
                  <a:srgbClr val="000000"/>
                </a:solidFill>
              </a:rPr>
              <a:t> весь in-store инвентарь подключен к единой рекламной платформе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Медиаконтент:</a:t>
            </a:r>
            <a:r>
              <a:rPr lang="ru-RU" sz="1200">
                <a:solidFill>
                  <a:srgbClr val="000000"/>
                </a:solidFill>
              </a:rPr>
              <a:t> запуск целевой системы управления медиаконтентом в 2027 г.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Эффективная монетизация = рекламные технологии + рост трафика и покрытия сценариев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Расширение инвентаря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40+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новых рекламных digital-форматов за 2025 г.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рекламные места и инструменты внутри и за пределами экосистемы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Рекламные показы растут </a:t>
            </a:r>
            <a:r>
              <a:rPr lang="ru-RU" sz="1400" b="1">
                <a:solidFill>
                  <a:srgbClr val="000000"/>
                </a:solidFill>
              </a:rPr>
              <a:t>в 1,5 раза</a:t>
            </a:r>
            <a:r>
              <a:rPr lang="ru-RU" sz="1400">
                <a:solidFill>
                  <a:srgbClr val="000000"/>
                </a:solidFill>
              </a:rPr>
              <a:t> год к году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Дикси, Азбуки Вкуса и внешних площадок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Эффективность рекламы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30+ млрд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рекламных показов в год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и ML-ранжирование вместо ручного квотирования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Данные о покупателе: аудитории, поведение, контекст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Оценка влияния рекламы на РТО: sales lift, ROI и ROAS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Сервис и продажи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ТОП-1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в ритейле в рейтинге AdIndex 2026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Full-service</a:t>
            </a:r>
            <a:r>
              <a:rPr lang="ru-RU" sz="1400">
                <a:solidFill>
                  <a:srgbClr val="000000"/>
                </a:solidFill>
              </a:rPr>
              <a:t> для топ-поставщиков с соблюдением SLA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для SMB и агентств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Единый медиакит, прайсинг и отчетность по всем кампаниям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Ценность для группы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~50%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инвентаря работает на внутренний маркетинг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зависит от роста аудитории экосистемы и покрытия пользовательских сценариев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выход за пределы собственного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Что дальше: потенциал 30+ млрд руб. внутреннего инвентаря и выход на внешний рынок рекламы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 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30+ млрд руб.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Потенциал растет вместе с аудиторией экосистемы и покрытием сценариев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рынок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не ограничен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Не только монетизация собственного трафика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Борьба за бюджеты на внешних площадках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о покупателях масштабируются для подключения внешнего трафика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Performance в in-store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Новое направление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магазинах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indoor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Фотофиксация indoor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UGC и RMN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Новые направления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UGC-продвижение в соцсетях и ленте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бренд-бюджеты поставщиков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Четыре драйвера роста 2027: аудитория, новый прайс, in-store инвентарь,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Показы AdTech: </a:t>
            </a:r>
            <a:r>
              <a:rPr lang="ru-RU" sz="1400" b="1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>
                <a:solidFill>
                  <a:srgbClr val="000000"/>
                </a:solidFill>
              </a:rPr>
              <a:t>2 033 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>
                <a:solidFill>
                  <a:srgbClr val="000000"/>
                </a:solidFill>
              </a:rPr>
              <a:t>264 → 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Модальное окно: </a:t>
            </a:r>
            <a:r>
              <a:rPr lang="ru-RU" sz="1400" b="1">
                <a:solidFill>
                  <a:srgbClr val="000000"/>
                </a:solidFill>
              </a:rPr>
              <a:t>600 → 1 000 руб.</a:t>
            </a:r>
            <a:r>
              <a:rPr lang="ru-RU" sz="140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>
                <a:solidFill>
                  <a:srgbClr val="000000"/>
                </a:solidFill>
              </a:rPr>
              <a:t>68 → 86 тыс. руб.</a:t>
            </a:r>
            <a:r>
              <a:rPr lang="ru-RU" sz="140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70 → 100 тыс. руб.</a:t>
            </a:r>
            <a:r>
              <a:rPr lang="ru-RU" sz="140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In-store инвентарь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81,4 </a:t>
            </a:r>
            <a:r>
              <a:rPr lang="ru-RU" sz="1400" b="1">
                <a:solidFill>
                  <a:srgbClr val="000000"/>
                </a:solidFill>
              </a:rPr>
              <a:t>тыс.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Парк устройств (+84% </a:t>
            </a:r>
            <a:r>
              <a:rPr lang="en-US" sz="1100">
                <a:solidFill>
                  <a:srgbClr val="595959"/>
                </a:solidFill>
              </a:rPr>
              <a:t>vs </a:t>
            </a:r>
            <a:r>
              <a:rPr lang="ru-RU" sz="1100">
                <a:solidFill>
                  <a:srgbClr val="595959"/>
                </a:solidFill>
              </a:rPr>
              <a:t>среднемесячный парк 2026)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Парк: </a:t>
            </a:r>
            <a:r>
              <a:rPr lang="ru-RU" sz="1400" b="1">
                <a:solidFill>
                  <a:srgbClr val="000000"/>
                </a:solidFill>
              </a:rPr>
              <a:t>44,7 тыс. → 81,4 тыс.</a:t>
            </a:r>
            <a:r>
              <a:rPr lang="ru-RU" sz="1400">
                <a:solidFill>
                  <a:srgbClr val="000000"/>
                </a:solidFill>
              </a:rPr>
              <a:t> устройств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Шелф</a:t>
            </a:r>
            <a:r>
              <a:rPr lang="ru-RU" sz="1400">
                <a:solidFill>
                  <a:srgbClr val="000000"/>
                </a:solidFill>
              </a:rPr>
              <a:t>-баннеры: </a:t>
            </a:r>
            <a:r>
              <a:rPr lang="ru-RU" sz="1400" b="1">
                <a:solidFill>
                  <a:srgbClr val="000000"/>
                </a:solidFill>
              </a:rPr>
              <a:t>2,8 → 6,0 тыс.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Фасадные экраны: </a:t>
            </a:r>
            <a:r>
              <a:rPr lang="ru-RU" sz="1400" b="1">
                <a:solidFill>
                  <a:srgbClr val="000000"/>
                </a:solidFill>
              </a:rPr>
              <a:t>1,2 → 1,7 тыс.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новых направления: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бренд-бюджеты</a:t>
            </a:r>
            <a:r>
              <a:rPr lang="ru-RU" sz="1400">
                <a:solidFill>
                  <a:srgbClr val="000000"/>
                </a:solidFill>
              </a:rPr>
              <a:t> поставщиков через отдельное ЮЛ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150 креаторов, 569 млн</a:t>
            </a:r>
            <a:r>
              <a:rPr lang="ru-RU" sz="1400">
                <a:solidFill>
                  <a:srgbClr val="000000"/>
                </a:solidFill>
              </a:rPr>
              <a:t>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DMP: новые площадки —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12665</Words>
  <Application>Microsoft Macintosh PowerPoint</Application>
  <PresentationFormat>Widescreen</PresentationFormat>
  <Paragraphs>2885</Paragraphs>
  <Slides>59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39</cp:revision>
  <dcterms:created xsi:type="dcterms:W3CDTF">2026-10-05T11:53:56Z</dcterms:created>
  <dcterms:modified xsi:type="dcterms:W3CDTF">2026-10-17T09:43:59Z</dcterms:modified>
  <cp:category/>
</cp:coreProperties>
</file>