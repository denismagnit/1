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charts/chart3.xml" ContentType="application/vnd.openxmlformats-officedocument.drawingml.chart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100.xml" ContentType="application/vnd.openxmlformats-officedocument.presentationml.tags+xml"/>
  <Override PartName="/ppt/notesSlides/notesSlide4.xml" ContentType="application/vnd.openxmlformats-officedocument.presentationml.notesSlide+xml"/>
  <Override PartName="/ppt/charts/chart6.xml" ContentType="application/vnd.openxmlformats-officedocument.drawingml.chart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0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4.xml" ContentType="application/vnd.openxmlformats-officedocument.presentationml.slide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charts/chart10.xml" ContentType="application/vnd.openxmlformats-officedocument.drawingml.chart+xml"/>
  <Override PartName="/ppt/tags/tag105.xml" ContentType="application/vnd.openxmlformats-officedocument.presentationml.tags+xml"/>
  <Override PartName="/ppt/charts/chart11.xml" ContentType="application/vnd.openxmlformats-officedocument.drawingml.chart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charts/chart12.xml" ContentType="application/vnd.openxmlformats-officedocument.drawingml.chart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charts/chart13.xml" ContentType="application/vnd.openxmlformats-officedocument.drawingml.chart+xml"/>
  <Override PartName="/ppt/slides/slide45.xml" ContentType="application/vnd.openxmlformats-officedocument.presentationml.slid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charts/chart14.xml" ContentType="application/vnd.openxmlformats-officedocument.drawingml.chart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charts/chart15.xml" ContentType="application/vnd.openxmlformats-officedocument.drawingml.chart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charts/chart16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5"/>
  </p:notesMasterIdLst>
  <p:sldIdLst>
    <p:sldId id="345" r:id="rId2"/>
    <p:sldId id="476" r:id="rId3"/>
    <p:sldId id="503" r:id="rId50"/>
    <p:sldId id="504" r:id="rId51"/>
    <p:sldId id="441" r:id="rId5"/>
    <p:sldId id="473" r:id="rId6"/>
    <p:sldId id="488" r:id="rId7"/>
    <p:sldId id="460" r:id="rId8"/>
    <p:sldId id="497" r:id="rId9"/>
    <p:sldId id="498" r:id="rId10"/>
    <p:sldId id="499" r:id="rId11"/>
    <p:sldId id="500" r:id="rId12"/>
    <p:sldId id="437" r:id="rId13"/>
    <p:sldId id="474" r:id="rId14"/>
    <p:sldId id="471" r:id="rId15"/>
    <p:sldId id="495" r:id="rId16"/>
    <p:sldId id="501" r:id="rId17"/>
    <p:sldId id="502" r:id="rId18"/>
    <p:sldId id="479" r:id="rId19"/>
    <p:sldId id="365" r:id="rId20"/>
    <p:sldId id="480" r:id="rId21"/>
    <p:sldId id="412" r:id="rId22"/>
    <p:sldId id="469" r:id="rId23"/>
    <p:sldId id="415" r:id="rId24"/>
    <p:sldId id="433" r:id="rId25"/>
    <p:sldId id="366" r:id="rId26"/>
    <p:sldId id="487" r:id="rId27"/>
    <p:sldId id="404" r:id="rId28"/>
    <p:sldId id="483" r:id="rId29"/>
    <p:sldId id="432" r:id="rId30"/>
    <p:sldId id="475" r:id="rId31"/>
    <p:sldId id="489" r:id="rId32"/>
    <p:sldId id="481" r:id="rId33"/>
    <p:sldId id="484" r:id="rId34"/>
    <p:sldId id="405" r:id="rId35"/>
    <p:sldId id="468" r:id="rId36"/>
    <p:sldId id="430" r:id="rId37"/>
    <p:sldId id="411" r:id="rId38"/>
    <p:sldId id="408" r:id="rId39"/>
    <p:sldId id="427" r:id="rId40"/>
    <p:sldId id="421" r:id="rId41"/>
    <p:sldId id="422" r:id="rId42"/>
    <p:sldId id="424" r:id="rId43"/>
    <p:sldId id="425" r:id="rId44"/>
  </p:sldIdLst>
  <p:sldSz cx="12192000" cy="6858000"/>
  <p:notesSz cx="6858000" cy="9144000"/>
  <p:defaultTextStyle>
    <a:defPPr>
      <a:defRPr lang="en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10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1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12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13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4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5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6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Binary_Worksheet_fcf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9827222115569207E-3"/>
          <c:y val="6.7039106145251395E-2"/>
          <c:w val="0.98003455557688612"/>
          <c:h val="0.8659217877094972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466</c:v>
                </c:pt>
                <c:pt idx="1">
                  <c:v>594.97</c:v>
                </c:pt>
                <c:pt idx="2">
                  <c:v>718.49</c:v>
                </c:pt>
                <c:pt idx="3">
                  <c:v>843.46</c:v>
                </c:pt>
                <c:pt idx="4">
                  <c:v>965.74</c:v>
                </c:pt>
                <c:pt idx="5">
                  <c:v>1090.33</c:v>
                </c:pt>
                <c:pt idx="6">
                  <c:v>1199.3630000000001</c:v>
                </c:pt>
                <c:pt idx="7">
                  <c:v>1319</c:v>
                </c:pt>
                <c:pt idx="8">
                  <c:v>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3CA-8A46-ACF5-F745320F6151}"/>
            </c:ext>
          </c:extLst>
        </c:ser>
        <c:ser>
          <c:idx val="1"/>
          <c:order val="1"/>
          <c:spPr>
            <a:solidFill>
              <a:schemeClr val="tx2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0">
                  <c:v>185</c:v>
                </c:pt>
                <c:pt idx="1">
                  <c:v>388</c:v>
                </c:pt>
                <c:pt idx="2">
                  <c:v>582</c:v>
                </c:pt>
                <c:pt idx="3">
                  <c:v>890</c:v>
                </c:pt>
                <c:pt idx="4">
                  <c:v>1199.9999999999998</c:v>
                </c:pt>
                <c:pt idx="5">
                  <c:v>1565</c:v>
                </c:pt>
                <c:pt idx="6">
                  <c:v>1967.0000000000002</c:v>
                </c:pt>
                <c:pt idx="7">
                  <c:v>2389</c:v>
                </c:pt>
                <c:pt idx="8">
                  <c:v>2601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3CA-8A46-ACF5-F745320F6151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53CA-8A46-ACF5-F745320F6151}"/>
                </c:ext>
              </c:extLst>
            </c:dLbl>
            <c:dLbl>
              <c:idx val="1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53CA-8A46-ACF5-F745320F6151}"/>
                </c:ext>
              </c:extLst>
            </c:dLbl>
            <c:dLbl>
              <c:idx val="2"/>
              <c:layout>
                <c:manualLayout>
                  <c:x val="3.7051257439047802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53CA-8A46-ACF5-F745320F6151}"/>
                </c:ext>
              </c:extLst>
            </c:dLbl>
            <c:dLbl>
              <c:idx val="3"/>
              <c:layout>
                <c:manualLayout>
                  <c:x val="3.7051257439047802E-2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D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Sheet1!$A$3:$I$3</c:f>
              <c:numCache>
                <c:formatCode>General</c:formatCode>
                <c:ptCount val="9"/>
                <c:pt idx="0">
                  <c:v>18</c:v>
                </c:pt>
                <c:pt idx="1">
                  <c:v>46</c:v>
                </c:pt>
                <c:pt idx="2">
                  <c:v>57</c:v>
                </c:pt>
                <c:pt idx="3">
                  <c:v>74</c:v>
                </c:pt>
                <c:pt idx="4">
                  <c:v>93</c:v>
                </c:pt>
                <c:pt idx="5">
                  <c:v>116</c:v>
                </c:pt>
                <c:pt idx="6">
                  <c:v>145</c:v>
                </c:pt>
                <c:pt idx="7">
                  <c:v>181</c:v>
                </c:pt>
                <c:pt idx="8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3CA-8A46-ACF5-F745320F6151}"/>
            </c:ext>
          </c:extLst>
        </c:ser>
        <c:ser>
          <c:idx val="3"/>
          <c:order val="3"/>
          <c:spPr>
            <a:solidFill>
              <a:srgbClr val="9DB1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53CA-8A46-ACF5-F745320F6151}"/>
                </c:ext>
              </c:extLst>
            </c:dLbl>
            <c:dLbl>
              <c:idx val="1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53CA-8A46-ACF5-F745320F6151}"/>
                </c:ext>
              </c:extLst>
            </c:dLbl>
            <c:dLbl>
              <c:idx val="2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Sheet1!$A$4:$I$4</c:f>
              <c:numCache>
                <c:formatCode>General</c:formatCode>
                <c:ptCount val="9"/>
                <c:pt idx="0">
                  <c:v>219</c:v>
                </c:pt>
                <c:pt idx="1">
                  <c:v>263</c:v>
                </c:pt>
                <c:pt idx="2">
                  <c:v>302</c:v>
                </c:pt>
                <c:pt idx="3">
                  <c:v>340</c:v>
                </c:pt>
                <c:pt idx="4">
                  <c:v>374</c:v>
                </c:pt>
                <c:pt idx="5">
                  <c:v>411</c:v>
                </c:pt>
                <c:pt idx="6">
                  <c:v>452</c:v>
                </c:pt>
                <c:pt idx="7">
                  <c:v>498</c:v>
                </c:pt>
                <c:pt idx="8">
                  <c:v>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53CA-8A46-ACF5-F745320F6151}"/>
            </c:ext>
          </c:extLst>
        </c:ser>
        <c:ser>
          <c:idx val="4"/>
          <c:order val="4"/>
          <c:spPr>
            <a:solidFill>
              <a:srgbClr val="4C6C9C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53CA-8A46-ACF5-F745320F6151}"/>
                </c:ext>
              </c:extLst>
            </c:dLbl>
            <c:dLbl>
              <c:idx val="1"/>
              <c:layout>
                <c:manualLayout>
                  <c:x val="4.2042618544826264E-2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53CA-8A46-ACF5-F745320F6151}"/>
                </c:ext>
              </c:extLst>
            </c:dLbl>
            <c:dLbl>
              <c:idx val="3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53CA-8A46-ACF5-F745320F6151}"/>
                </c:ext>
              </c:extLst>
            </c:dLbl>
            <c:dLbl>
              <c:idx val="4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53CA-8A46-ACF5-F745320F6151}"/>
                </c:ext>
              </c:extLst>
            </c:dLbl>
            <c:dLbl>
              <c:idx val="5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53CA-8A46-ACF5-F745320F6151}"/>
                </c:ext>
              </c:extLst>
            </c:dLbl>
            <c:dLbl>
              <c:idx val="6"/>
              <c:layout>
                <c:manualLayout>
                  <c:x val="0"/>
                  <c:y val="-1.5961691939345571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53CA-8A46-ACF5-F745320F6151}"/>
                </c:ext>
              </c:extLst>
            </c:dLbl>
            <c:dLbl>
              <c:idx val="7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53CA-8A46-ACF5-F745320F6151}"/>
                </c:ext>
              </c:extLst>
            </c:dLbl>
            <c:dLbl>
              <c:idx val="8"/>
              <c:layout>
                <c:manualLayout>
                  <c:x val="0"/>
                  <c:y val="-1.1971268954509178E-3"/>
                </c:manualLayout>
              </c:layout>
              <c:numFmt formatCode="[&gt;=1000]#&quot; &quot;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53CA-8A46-ACF5-F745320F615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Sheet1!$A$5:$I$5</c:f>
              <c:numCache>
                <c:formatCode>General</c:formatCode>
                <c:ptCount val="9"/>
                <c:pt idx="0">
                  <c:v>103.39999999999998</c:v>
                </c:pt>
                <c:pt idx="1">
                  <c:v>139.79999999999995</c:v>
                </c:pt>
                <c:pt idx="2">
                  <c:v>173.5</c:v>
                </c:pt>
                <c:pt idx="3">
                  <c:v>198.19999999999982</c:v>
                </c:pt>
                <c:pt idx="4">
                  <c:v>224</c:v>
                </c:pt>
                <c:pt idx="5">
                  <c:v>245.69999999999982</c:v>
                </c:pt>
                <c:pt idx="6">
                  <c:v>266.5</c:v>
                </c:pt>
                <c:pt idx="7">
                  <c:v>290</c:v>
                </c:pt>
                <c:pt idx="8">
                  <c:v>317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2-53CA-8A46-ACF5-F745320F61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948984816"/>
        <c:axId val="1"/>
      </c:barChart>
      <c:catAx>
        <c:axId val="194898481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14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94898481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pattFill prst="ltUpDiag">
                <a:fgClr>
                  <a:srgbClr val="BFBFBF"/>
                </a:fgClr>
                <a:bgClr>
                  <a:srgbClr val="FFFFFF"/>
                </a:bgClr>
              </a:patt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FB8-ED43-81D5-18174E4D4C0E}"/>
              </c:ext>
            </c:extLst>
          </c:dPt>
          <c:dPt>
            <c:idx val="2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FB8-ED43-81D5-18174E4D4C0E}"/>
              </c:ext>
            </c:extLst>
          </c:dPt>
          <c:dLbls>
            <c:numFmt formatCode="[&gt;=1000]#&quot; &quot;##0;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2025</c:v>
              </c:pt>
              <c:pt idx="1">
                <c:v>2026E</c:v>
              </c:pt>
              <c:pt idx="2">
                <c:v>2027E</c:v>
              </c:pt>
            </c:strLit>
          </c:cat>
          <c:val>
            <c:numLit>
              <c:formatCode>General</c:formatCode>
              <c:ptCount val="3"/>
              <c:pt idx="0">
                <c:v>582</c:v>
              </c:pt>
              <c:pt idx="1">
                <c:v>890</c:v>
              </c:pt>
              <c:pt idx="2">
                <c:v>1200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0FB8-ED43-81D5-18174E4D4C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1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195121951219513E-2"/>
          <c:y val="2.9229904440697022E-2"/>
          <c:w val="0.97560975609756095"/>
          <c:h val="0.9415401911186059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5"/>
            </a:solidFill>
            <a:ln>
              <a:noFill/>
            </a:ln>
          </c:spPr>
          <c:invertIfNegative val="0"/>
          <c:val>
            <c:numRef>
              <c:f>Sheet1!$A$1:$E$1</c:f>
              <c:numCache>
                <c:formatCode>General</c:formatCode>
                <c:ptCount val="5"/>
                <c:pt idx="0">
                  <c:v>8633.7868781419966</c:v>
                </c:pt>
                <c:pt idx="1">
                  <c:v>11643</c:v>
                </c:pt>
                <c:pt idx="2">
                  <c:v>15776.806859268567</c:v>
                </c:pt>
                <c:pt idx="3">
                  <c:v>21753.045333544404</c:v>
                </c:pt>
                <c:pt idx="4">
                  <c:v>30514.489672349213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1A-3343-B2A0-419CA258ECA4}"/>
            </c:ext>
          </c:extLst>
        </c:ser>
        <c:ser>
          <c:idx val="1"/>
          <c:order val="1"/>
          <c:spPr>
            <a:solidFill>
              <a:schemeClr val="accent4"/>
            </a:solidFill>
            <a:ln>
              <a:noFill/>
            </a:ln>
          </c:spPr>
          <c:invertIfNegative val="0"/>
          <c:val>
            <c:numRef>
              <c:f>Sheet1!$A$2:$E$2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2057.8443729480714</c:v>
                </c:pt>
                <c:pt idx="3">
                  <c:v>5304.6178601648899</c:v>
                </c:pt>
                <c:pt idx="4">
                  <c:v>10450.717388401339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1A-3343-B2A0-419CA258ECA4}"/>
            </c:ext>
          </c:extLst>
        </c:ser>
        <c:ser>
          <c:idx val="2"/>
          <c:order val="2"/>
          <c:spPr>
            <a:solidFill>
              <a:schemeClr val="accent3"/>
            </a:solidFill>
            <a:ln>
              <a:noFill/>
            </a:ln>
          </c:spPr>
          <c:invertIfNegative val="0"/>
          <c:val>
            <c:numRef>
              <c:f>Sheet1!$A$3:$E$3</c:f>
              <c:numCache>
                <c:formatCode>General</c:formatCode>
                <c:ptCount val="5"/>
                <c:pt idx="0">
                  <c:v>2451.552795031057</c:v>
                </c:pt>
                <c:pt idx="1">
                  <c:v>3947</c:v>
                </c:pt>
                <c:pt idx="2">
                  <c:v>3947</c:v>
                </c:pt>
                <c:pt idx="3">
                  <c:v>3947</c:v>
                </c:pt>
                <c:pt idx="4">
                  <c:v>3947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31A-3343-B2A0-419CA258ECA4}"/>
            </c:ext>
          </c:extLst>
        </c:ser>
        <c:ser>
          <c:idx val="3"/>
          <c:order val="3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Sheet1!$A$4:$E$4</c:f>
              <c:numCache>
                <c:formatCode>General</c:formatCode>
                <c:ptCount val="5"/>
                <c:pt idx="0">
                  <c:v>3986.8852459016398</c:v>
                </c:pt>
                <c:pt idx="1">
                  <c:v>4864</c:v>
                </c:pt>
                <c:pt idx="2">
                  <c:v>5766.909677679887</c:v>
                </c:pt>
                <c:pt idx="3">
                  <c:v>6837.4274733795137</c:v>
                </c:pt>
                <c:pt idx="4">
                  <c:v>8106.6666666666642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E31A-3343-B2A0-419CA258ECA4}"/>
            </c:ext>
          </c:extLst>
        </c:ser>
        <c:ser>
          <c:idx val="4"/>
          <c:order val="4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Sheet1!$A$5:$E$5</c:f>
              <c:numCache>
                <c:formatCode>General</c:formatCode>
                <c:ptCount val="5"/>
                <c:pt idx="0">
                  <c:v>2195.3488372093034</c:v>
                </c:pt>
                <c:pt idx="1">
                  <c:v>2832</c:v>
                </c:pt>
                <c:pt idx="2">
                  <c:v>4005.0528086406048</c:v>
                </c:pt>
                <c:pt idx="3">
                  <c:v>5664</c:v>
                </c:pt>
                <c:pt idx="4">
                  <c:v>8010.1056172812096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31A-3343-B2A0-419CA258EC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32353456"/>
        <c:axId val="1"/>
      </c:barChart>
      <c:catAx>
        <c:axId val="5323534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1028.979344698426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23534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APP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153.9</c:v>
              </c:pt>
              <c:pt idx="1">
                <c:v>384.8</c:v>
              </c:pt>
              <c:pt idx="2">
                <c:v>538.70000000000005</c:v>
              </c:pt>
              <c:pt idx="3">
                <c:v>538.70000000000005</c:v>
              </c:pt>
              <c:pt idx="4">
                <c:v>538.70000000000005</c:v>
              </c:pt>
              <c:pt idx="5">
                <c:v>538.70000000000005</c:v>
              </c:pt>
              <c:pt idx="6">
                <c:v>538.70000000000005</c:v>
              </c:pt>
              <c:pt idx="7">
                <c:v>615.70000000000005</c:v>
              </c:pt>
              <c:pt idx="8">
                <c:v>615.70000000000005</c:v>
              </c:pt>
              <c:pt idx="9">
                <c:v>846.6</c:v>
              </c:pt>
              <c:pt idx="10">
                <c:v>1077.5</c:v>
              </c:pt>
              <c:pt idx="11">
                <c:v>1308.4000000000001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2E3-434A-A5FC-A576C250FEB4}"/>
            </c:ext>
          </c:extLst>
        </c:ser>
        <c:ser>
          <c:idx val="1"/>
          <c:order val="1"/>
          <c:tx>
            <c:v>In-store</c:v>
          </c:tx>
          <c:spPr>
            <a:solidFill>
              <a:srgbClr val="A6A6A6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78.599999999999994</c:v>
              </c:pt>
              <c:pt idx="1">
                <c:v>196.5</c:v>
              </c:pt>
              <c:pt idx="2">
                <c:v>275.2</c:v>
              </c:pt>
              <c:pt idx="3">
                <c:v>275.10000000000002</c:v>
              </c:pt>
              <c:pt idx="4">
                <c:v>275.2</c:v>
              </c:pt>
              <c:pt idx="5">
                <c:v>275.2</c:v>
              </c:pt>
              <c:pt idx="6">
                <c:v>275.2</c:v>
              </c:pt>
              <c:pt idx="7">
                <c:v>314.39999999999998</c:v>
              </c:pt>
              <c:pt idx="8">
                <c:v>314.39999999999998</c:v>
              </c:pt>
              <c:pt idx="9">
                <c:v>432.4</c:v>
              </c:pt>
              <c:pt idx="10">
                <c:v>550.29999999999995</c:v>
              </c:pt>
              <c:pt idx="11">
                <c:v>668.3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2E3-434A-A5FC-A576C250FEB4}"/>
            </c:ext>
          </c:extLst>
        </c:ser>
        <c:ser>
          <c:idx val="2"/>
          <c:order val="2"/>
          <c:tx>
            <c:v>DMP, RMN, CF</c:v>
          </c:tx>
          <c:spPr>
            <a:solidFill>
              <a:srgbClr val="BFBFBF"/>
            </a:solidFill>
            <a:ln>
              <a:noFill/>
            </a:ln>
          </c:spPr>
          <c:invertIfNegative val="1"/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57</c:v>
              </c:pt>
              <c:pt idx="1">
                <c:v>142.5</c:v>
              </c:pt>
              <c:pt idx="2">
                <c:v>199.5</c:v>
              </c:pt>
              <c:pt idx="3">
                <c:v>199.5</c:v>
              </c:pt>
              <c:pt idx="4">
                <c:v>199.5</c:v>
              </c:pt>
              <c:pt idx="5">
                <c:v>199.5</c:v>
              </c:pt>
              <c:pt idx="6">
                <c:v>199.5</c:v>
              </c:pt>
              <c:pt idx="7">
                <c:v>228</c:v>
              </c:pt>
              <c:pt idx="8">
                <c:v>228</c:v>
              </c:pt>
              <c:pt idx="9">
                <c:v>313.60000000000002</c:v>
              </c:pt>
              <c:pt idx="10">
                <c:v>399.1</c:v>
              </c:pt>
              <c:pt idx="11">
                <c:v>484.6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2E3-434A-A5FC-A576C250FEB4}"/>
            </c:ext>
          </c:extLst>
        </c:ser>
        <c:ser>
          <c:idx val="3"/>
          <c:order val="3"/>
          <c:tx>
            <c:v>Totals</c:v>
          </c:tx>
          <c:spPr>
            <a:noFill/>
            <a:ln>
              <a:noFill/>
            </a:ln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595959"/>
                    </a:solidFill>
                    <a:latin typeface="Arial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12"/>
              <c:pt idx="0">
                <c:v>янв</c:v>
              </c:pt>
              <c:pt idx="1">
                <c:v>фев</c:v>
              </c:pt>
              <c:pt idx="2">
                <c:v>мар</c:v>
              </c:pt>
              <c:pt idx="3">
                <c:v>апр</c:v>
              </c:pt>
              <c:pt idx="4">
                <c:v>май</c:v>
              </c:pt>
              <c:pt idx="5">
                <c:v>июн</c:v>
              </c:pt>
              <c:pt idx="6">
                <c:v>июл</c:v>
              </c:pt>
              <c:pt idx="7">
                <c:v>авг</c:v>
              </c:pt>
              <c:pt idx="8">
                <c:v>сен</c:v>
              </c:pt>
              <c:pt idx="9">
                <c:v>окт</c:v>
              </c:pt>
              <c:pt idx="10">
                <c:v>ноя</c:v>
              </c:pt>
              <c:pt idx="11">
                <c:v>дек</c:v>
              </c:pt>
            </c:strLit>
          </c:cat>
          <c:val>
            <c:numLit>
              <c:formatCode>General</c:formatCode>
              <c:ptCount val="12"/>
              <c:pt idx="0">
                <c:v>289.60000000000002</c:v>
              </c:pt>
              <c:pt idx="1">
                <c:v>723.9</c:v>
              </c:pt>
              <c:pt idx="2">
                <c:v>1013.4</c:v>
              </c:pt>
              <c:pt idx="3">
                <c:v>1013.4</c:v>
              </c:pt>
              <c:pt idx="4">
                <c:v>1013.4</c:v>
              </c:pt>
              <c:pt idx="5">
                <c:v>1013.4</c:v>
              </c:pt>
              <c:pt idx="6">
                <c:v>1013.4</c:v>
              </c:pt>
              <c:pt idx="7">
                <c:v>1158.2</c:v>
              </c:pt>
              <c:pt idx="8">
                <c:v>1158.2</c:v>
              </c:pt>
              <c:pt idx="9">
                <c:v>1592.5</c:v>
              </c:pt>
              <c:pt idx="10">
                <c:v>2026.9</c:v>
              </c:pt>
              <c:pt idx="11">
                <c:v>2461.1999999999998</c:v>
              </c:pt>
            </c:numLit>
          </c:val>
          <c:extLst>
            <c:ext xmlns:c16="http://schemas.microsoft.com/office/drawing/2014/chart" uri="{C3380CC4-5D6E-409C-BE32-E72D297353CC}">
              <c16:uniqueId val="{00000003-B2E3-434A-A5FC-A576C250FEB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31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legend>
      <c:legendPos val="t"/>
      <c:legendEntry>
        <c:idx val="3"/>
        <c:delete val="1"/>
      </c:legendEntry>
      <c:overlay val="0"/>
      <c:txPr>
        <a:bodyPr rot="0" vert="horz"/>
        <a:lstStyle/>
        <a:p>
          <a:pPr>
            <a:defRPr sz="1200" b="0">
              <a:solidFill>
                <a:srgbClr val="595959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12948.09</c:v>
              </c:pt>
              <c:pt idx="2">
                <c:v>13798.3</c:v>
              </c:pt>
              <c:pt idx="3">
                <c:v>14334.86</c:v>
              </c:pt>
              <c:pt idx="4">
                <c:v>14780.29</c:v>
              </c:pt>
              <c:pt idx="5">
                <c:v>14993.59</c:v>
              </c:pt>
              <c:pt idx="6">
                <c:v>14477.58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28E2-624C-8CB8-F1DBAF9DF3C4}"/>
            </c:ext>
          </c:extLst>
        </c:ser>
        <c:ser>
          <c:idx val="1"/>
          <c:order val="1"/>
          <c:tx>
            <c:v>Increase</c:v>
          </c:tx>
          <c:spPr>
            <a:solidFill>
              <a:srgbClr val="2E9E5B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850.21</c:v>
              </c:pt>
              <c:pt idx="2">
                <c:v>536.55999999999995</c:v>
              </c:pt>
              <c:pt idx="3">
                <c:v>445.43</c:v>
              </c:pt>
              <c:pt idx="4">
                <c:v>213.3</c:v>
              </c:pt>
              <c:pt idx="5">
                <c:v>62.32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8E2-624C-8CB8-F1DBAF9DF3C4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6">
                <c:v>578.33000000000004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8E2-624C-8CB8-F1DBAF9DF3C4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12948.09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28E2-624C-8CB8-F1DBAF9DF3C4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12 948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47CD-6C49-8B92-091A89458B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7CD-6C49-8B92-091A89458B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+537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47CD-6C49-8B92-091A89458B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+445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7CD-6C49-8B92-091A89458B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47CD-6C49-8B92-091A89458B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2E9E5B"/>
                        </a:solidFill>
                        <a:latin typeface="Arial"/>
                      </a:rPr>
                      <a:t>+62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CD-6C49-8B92-091A89458B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−578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47CD-6C49-8B92-091A89458B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47CD-6C49-8B92-091A89458B1F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Стратегия</c:v>
              </c:pt>
              <c:pt idx="1">
                <c:v>RMN</c:v>
              </c:pt>
              <c:pt idx="2">
                <c:v>DMP Online</c:v>
              </c:pt>
              <c:pt idx="3">
                <c:v>APP</c:v>
              </c:pt>
              <c:pt idx="4">
                <c:v>CF внешн.</c:v>
              </c:pt>
              <c:pt idx="5">
                <c:v>DMP Analyt.</c:v>
              </c:pt>
              <c:pt idx="6">
                <c:v>In-store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153.17920000000001</c:v>
              </c:pt>
              <c:pt idx="1">
                <c:v>153.17920000000001</c:v>
              </c:pt>
              <c:pt idx="2">
                <c:v>153.17920000000001</c:v>
              </c:pt>
              <c:pt idx="3">
                <c:v>153.17920000000001</c:v>
              </c:pt>
              <c:pt idx="4">
                <c:v>153.17920000000001</c:v>
              </c:pt>
              <c:pt idx="5">
                <c:v>153.17920000000001</c:v>
              </c:pt>
              <c:pt idx="6">
                <c:v>153.17920000000001</c:v>
              </c:pt>
              <c:pt idx="7">
                <c:v>153.17920000000001</c:v>
              </c:pt>
            </c:numLit>
          </c:val>
          <c:extLst>
            <c:ext xmlns:c16="http://schemas.microsoft.com/office/drawing/2014/chart" uri="{C3380CC4-5D6E-409C-BE32-E72D297353CC}">
              <c16:uniqueId val="{0000000D-28E2-624C-8CB8-F1DBAF9DF3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#,##0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0"/>
      </c:catAx>
      <c:valAx>
        <c:axId val="2"/>
        <c:scaling>
          <c:orientation val="minMax"/>
          <c:max val="192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10323.450000000001</c:v>
              </c:pt>
              <c:pt idx="2">
                <c:v>11824.28</c:v>
              </c:pt>
              <c:pt idx="3">
                <c:v>13309.03</c:v>
              </c:pt>
              <c:pt idx="4">
                <c:v>13922.03</c:v>
              </c:pt>
              <c:pt idx="5">
                <c:v>14179.68</c:v>
              </c:pt>
              <c:pt idx="6">
                <c:v>14392.98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05FB-C74E-AF9C-EE151BC377A8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1500.83</c:v>
              </c:pt>
              <c:pt idx="2">
                <c:v>1484.75</c:v>
              </c:pt>
              <c:pt idx="3">
                <c:v>613</c:v>
              </c:pt>
              <c:pt idx="4">
                <c:v>257.64999999999998</c:v>
              </c:pt>
              <c:pt idx="5">
                <c:v>213.3</c:v>
              </c:pt>
              <c:pt idx="6">
                <c:v>84.6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05FB-C74E-AF9C-EE151BC377A8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05FB-C74E-AF9C-EE151BC377A8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10323.450000000001</c:v>
              </c:pt>
              <c:pt idx="7">
                <c:v>14477.59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05FB-C74E-AF9C-EE151BC377A8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10 323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AD27-D940-853A-020BFC05B7F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AD27-D940-853A-020BFC05B7F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AD27-D940-853A-020BFC05B7F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+613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AD27-D940-853A-020BFC05B7F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+258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AD27-D940-853A-020BFC05B7F8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+213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AD27-D940-853A-020BFC05B7F8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AD27-D940-853A-020BFC05B7F8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14 478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AD27-D940-853A-020BFC05B7F8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 Online</c:v>
              </c:pt>
              <c:pt idx="4">
                <c:v>RMN</c:v>
              </c:pt>
              <c:pt idx="5">
                <c:v>CF внешн.</c:v>
              </c:pt>
              <c:pt idx="6">
                <c:v>DMP Analyt.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147.471</c:v>
              </c:pt>
              <c:pt idx="1">
                <c:v>147.471</c:v>
              </c:pt>
              <c:pt idx="2">
                <c:v>147.471</c:v>
              </c:pt>
              <c:pt idx="3">
                <c:v>147.471</c:v>
              </c:pt>
              <c:pt idx="4">
                <c:v>147.471</c:v>
              </c:pt>
              <c:pt idx="5">
                <c:v>147.471</c:v>
              </c:pt>
              <c:pt idx="6">
                <c:v>147.471</c:v>
              </c:pt>
              <c:pt idx="7">
                <c:v>147.471</c:v>
              </c:pt>
            </c:numLit>
          </c:val>
          <c:extLst>
            <c:ext xmlns:c16="http://schemas.microsoft.com/office/drawing/2014/chart" uri="{C3380CC4-5D6E-409C-BE32-E72D297353CC}">
              <c16:uniqueId val="{0000000D-05FB-C74E-AF9C-EE151BC377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83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FBFBF"/>
            </a:solidFill>
            <a:ln>
              <a:noFill/>
            </a:ln>
          </c:spPr>
          <c:invertIfNegative val="1"/>
          <c:dPt>
            <c:idx val="5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7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Pt>
            <c:idx val="8"/>
            <c:invertIfNegative val="1"/>
            <c:bubble3D val="0"/>
            <c:spPr>
              <a:solidFill>
                <a:srgbClr val="FF452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0F8-3448-B015-6E8DF631F16B}"/>
              </c:ext>
            </c:extLst>
          </c:dPt>
          <c:dLbls>
            <c:numFmt formatCode="&quot;+&quot;#,##0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9"/>
              <c:pt idx="0">
                <c:v>Other PEX</c:v>
              </c:pt>
              <c:pt idx="1">
                <c:v>Other OPEX</c:v>
              </c:pt>
              <c:pt idx="2">
                <c:v>PR/GR, исследования</c:v>
              </c:pt>
              <c:pt idx="3">
                <c:v>Маркетинг ВГО</c:v>
              </c:pt>
              <c:pt idx="4">
                <c:v>IT</c:v>
              </c:pt>
              <c:pt idx="5">
                <c:v>Креаторы</c:v>
              </c:pt>
              <c:pt idx="6">
                <c:v>PEX (ФОТ)</c:v>
              </c:pt>
              <c:pt idx="7">
                <c:v>Вознаграждения агентствам</c:v>
              </c:pt>
              <c:pt idx="8">
                <c:v>Закупка трафика DMP</c:v>
              </c:pt>
            </c:strLit>
          </c:cat>
          <c:val>
            <c:numLit>
              <c:formatCode>General</c:formatCode>
              <c:ptCount val="9"/>
              <c:pt idx="0">
                <c:v>8</c:v>
              </c:pt>
              <c:pt idx="1">
                <c:v>10</c:v>
              </c:pt>
              <c:pt idx="2">
                <c:v>16</c:v>
              </c:pt>
              <c:pt idx="3">
                <c:v>30</c:v>
              </c:pt>
              <c:pt idx="4">
                <c:v>34</c:v>
              </c:pt>
              <c:pt idx="5">
                <c:v>72</c:v>
              </c:pt>
              <c:pt idx="6">
                <c:v>316</c:v>
              </c:pt>
              <c:pt idx="7">
                <c:v>441</c:v>
              </c:pt>
              <c:pt idx="8">
                <c:v>489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F8-3448-B015-6E8DF631F1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0</c:v>
              </c:pt>
              <c:pt idx="1">
                <c:v>8084.69</c:v>
              </c:pt>
              <c:pt idx="2">
                <c:v>9585.52</c:v>
              </c:pt>
              <c:pt idx="3">
                <c:v>11070.27</c:v>
              </c:pt>
              <c:pt idx="4">
                <c:v>11190.93</c:v>
              </c:pt>
              <c:pt idx="5">
                <c:v>10874.64</c:v>
              </c:pt>
              <c:pt idx="6">
                <c:v>10841.14</c:v>
              </c:pt>
              <c:pt idx="7">
                <c:v>10823.46</c:v>
              </c:pt>
              <c:pt idx="8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CB36-7B4C-8030-856FD52DD8D6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1">
                <c:v>1500.83</c:v>
              </c:pt>
              <c:pt idx="2">
                <c:v>1484.75</c:v>
              </c:pt>
              <c:pt idx="3">
                <c:v>1168.56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CB36-7B4C-8030-856FD52DD8D6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4">
                <c:v>1047.9000000000001</c:v>
              </c:pt>
              <c:pt idx="5">
                <c:v>316.29000000000002</c:v>
              </c:pt>
              <c:pt idx="6">
                <c:v>33.5</c:v>
              </c:pt>
              <c:pt idx="7">
                <c:v>17.68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CB36-7B4C-8030-856FD52DD8D6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8084.69</c:v>
              </c:pt>
              <c:pt idx="8">
                <c:v>10823.45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CB36-7B4C-8030-856FD52DD8D6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8 085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6FA9-234B-8AE8-E9A014A8A0C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+1 501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FA9-234B-8AE8-E9A014A8A0C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+1 485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6FA9-234B-8AE8-E9A014A8A0C6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+1 169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FA9-234B-8AE8-E9A014A8A0C6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−1 048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6FA9-234B-8AE8-E9A014A8A0C6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−316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FA9-234B-8AE8-E9A014A8A0C6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−34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6FA9-234B-8AE8-E9A014A8A0C6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−18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6FA9-234B-8AE8-E9A014A8A0C6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10 823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6FA9-234B-8AE8-E9A014A8A0C6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9"/>
              <c:pt idx="0">
                <c:v>FC 2026</c:v>
              </c:pt>
              <c:pt idx="1">
                <c:v>APP</c:v>
              </c:pt>
              <c:pt idx="2">
                <c:v>In-store</c:v>
              </c:pt>
              <c:pt idx="3">
                <c:v>DMP, RMN, CF</c:v>
              </c:pt>
              <c:pt idx="4">
                <c:v>Marketing</c:v>
              </c:pt>
              <c:pt idx="5">
                <c:v>PEX</c:v>
              </c:pt>
              <c:pt idx="6">
                <c:v>IT</c:v>
              </c:pt>
              <c:pt idx="7">
                <c:v>Прочие</c:v>
              </c:pt>
              <c:pt idx="8">
                <c:v>BU 2027</c:v>
              </c:pt>
            </c:strLit>
          </c:cat>
          <c:val>
            <c:numLit>
              <c:formatCode>General</c:formatCode>
              <c:ptCount val="9"/>
              <c:pt idx="0">
                <c:v>123.9726</c:v>
              </c:pt>
              <c:pt idx="1">
                <c:v>123.9726</c:v>
              </c:pt>
              <c:pt idx="2">
                <c:v>123.9726</c:v>
              </c:pt>
              <c:pt idx="3">
                <c:v>123.9726</c:v>
              </c:pt>
              <c:pt idx="4">
                <c:v>123.9726</c:v>
              </c:pt>
              <c:pt idx="5">
                <c:v>123.9726</c:v>
              </c:pt>
              <c:pt idx="6">
                <c:v>123.9726</c:v>
              </c:pt>
              <c:pt idx="7">
                <c:v>123.9726</c:v>
              </c:pt>
              <c:pt idx="8">
                <c:v>123.9726</c:v>
              </c:pt>
            </c:numLit>
          </c:val>
          <c:extLst>
            <c:ext xmlns:c16="http://schemas.microsoft.com/office/drawing/2014/chart" uri="{C3380CC4-5D6E-409C-BE32-E72D297353CC}">
              <c16:uniqueId val="{0000000D-CB36-7B4C-8030-856FD52DD8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550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v>Base</c:v>
          </c:tx>
          <c:spPr>
            <a:noFill/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0</c:v>
              </c:pt>
              <c:pt idx="1">
                <c:v>1179.5999999999999</c:v>
              </c:pt>
              <c:pt idx="2">
                <c:v>1273.3999999999999</c:v>
              </c:pt>
              <c:pt idx="3">
                <c:v>1141.1999999999998</c:v>
              </c:pt>
              <c:pt idx="4">
                <c:v>1074.5999999999999</c:v>
              </c:pt>
              <c:pt idx="5">
                <c:v>1074.5999999999999</c:v>
              </c:pt>
              <c:pt idx="6">
                <c:v>1145.3999999999999</c:v>
              </c:pt>
              <c:pt idx="7">
                <c:v>0</c:v>
              </c:pt>
            </c:numLit>
          </c:val>
          <c:extLst>
            <c:ext xmlns:c16="http://schemas.microsoft.com/office/drawing/2014/chart" uri="{C3380CC4-5D6E-409C-BE32-E72D297353CC}">
              <c16:uniqueId val="{00000000-555E-9B44-A647-D1A58B1277AA}"/>
            </c:ext>
          </c:extLst>
        </c:ser>
        <c:ser>
          <c:idx val="1"/>
          <c:order val="1"/>
          <c:tx>
            <c:v>Increase</c:v>
          </c:tx>
          <c:spPr>
            <a:solidFill>
              <a:srgbClr val="FF452C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1">
                <c:v>113.3</c:v>
              </c:pt>
              <c:pt idx="5">
                <c:v>70.8</c:v>
              </c:pt>
              <c:pt idx="6">
                <c:v>5.0999999999999996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555E-9B44-A647-D1A58B1277AA}"/>
            </c:ext>
          </c:extLst>
        </c:ser>
        <c:ser>
          <c:idx val="2"/>
          <c:order val="2"/>
          <c:tx>
            <c:v>Decrease</c:v>
          </c:tx>
          <c:spPr>
            <a:solidFill>
              <a:srgbClr val="59595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2">
                <c:v>19.5</c:v>
              </c:pt>
              <c:pt idx="3">
                <c:v>132.19999999999999</c:v>
              </c:pt>
              <c:pt idx="4">
                <c:v>66.599999999999994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555E-9B44-A647-D1A58B1277AA}"/>
            </c:ext>
          </c:extLst>
        </c:ser>
        <c:ser>
          <c:idx val="3"/>
          <c:order val="3"/>
          <c:tx>
            <c:v>Total</c:v>
          </c:tx>
          <c:spPr>
            <a:solidFill>
              <a:srgbClr val="999999"/>
            </a:solidFill>
            <a:ln>
              <a:noFill/>
            </a:ln>
          </c:spPr>
          <c:invertIfNegative val="1"/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1179.5999999999999</c:v>
              </c:pt>
              <c:pt idx="7">
                <c:v>1150.4999999999998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555E-9B44-A647-D1A58B1277AA}"/>
            </c:ext>
          </c:extLst>
        </c:ser>
        <c:ser>
          <c:idx val="4"/>
          <c:order val="4"/>
          <c:tx>
            <c:v>Labels</c:v>
          </c:tx>
          <c:spPr>
            <a:noFill/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1 180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55E-9B44-A647-D1A58B1277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+113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55E-9B44-A647-D1A58B1277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555E-9B44-A647-D1A58B1277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−132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55E-9B44-A647-D1A58B1277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595959"/>
                        </a:solidFill>
                        <a:latin typeface="Arial"/>
                      </a:rPr>
                      <a:t>−67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55E-9B44-A647-D1A58B1277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+71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55E-9B44-A647-D1A58B1277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400" b="0">
                        <a:solidFill>
                          <a:srgbClr val="FF452C"/>
                        </a:solidFill>
                        <a:latin typeface="Arial"/>
                      </a:rPr>
                      <a:t>+5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55E-9B44-A647-D1A58B1277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400" b="1">
                        <a:solidFill>
                          <a:srgbClr val="999999"/>
                        </a:solidFill>
                        <a:latin typeface="Arial"/>
                      </a:rPr>
                      <a:t>1 151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55E-9B44-A647-D1A58B1277AA}"/>
                </c:ext>
              </c:extLst>
            </c:dLbl>
            <c:spPr>
              <a:noFill/>
              <a:ln>
                <a:noFill/>
              </a:ln>
              <a:effectLst/>
            </c:sp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8"/>
              <c:pt idx="0">
                <c:v>FC 2026</c:v>
              </c:pt>
              <c:pt idx="1">
                <c:v>ФОТ разработки</c:v>
              </c:pt>
              <c:pt idx="2">
                <c:v>IT ПО и техника</c:v>
              </c:pt>
              <c:pt idx="3">
                <c:v>Фасады ТТ</c:v>
              </c:pt>
              <c:pt idx="4">
                <c:v>Медиа с КСО</c:v>
              </c:pt>
              <c:pt idx="5">
                <c:v>Фасад БФ</c:v>
              </c:pt>
              <c:pt idx="6">
                <c:v>Система медиа</c:v>
              </c:pt>
              <c:pt idx="7">
                <c:v>BU 2027</c:v>
              </c:pt>
            </c:strLit>
          </c:cat>
          <c:val>
            <c:numLit>
              <c:formatCode>General</c:formatCode>
              <c:ptCount val="8"/>
              <c:pt idx="0">
                <c:v>12.928999999999998</c:v>
              </c:pt>
              <c:pt idx="1">
                <c:v>12.928999999999998</c:v>
              </c:pt>
              <c:pt idx="2">
                <c:v>12.928999999999998</c:v>
              </c:pt>
              <c:pt idx="3">
                <c:v>12.928999999999998</c:v>
              </c:pt>
              <c:pt idx="4">
                <c:v>12.928999999999998</c:v>
              </c:pt>
              <c:pt idx="5">
                <c:v>12.928999999999998</c:v>
              </c:pt>
              <c:pt idx="6">
                <c:v>12.928999999999998</c:v>
              </c:pt>
              <c:pt idx="7">
                <c:v>12.928999999999998</c:v>
              </c:pt>
            </c:numLit>
          </c:val>
          <c:extLst>
            <c:ext xmlns:c16="http://schemas.microsoft.com/office/drawing/2014/chart" uri="{C3380CC4-5D6E-409C-BE32-E72D297353CC}">
              <c16:uniqueId val="{0000000C-555E-9B44-A647-D1A58B1277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BFBFBF"/>
            </a:solidFill>
          </a:ln>
        </c:spPr>
        <c:txPr>
          <a:bodyPr rot="0" vert="horz"/>
          <a:lstStyle/>
          <a:p>
            <a:pPr>
              <a:defRPr sz="1100" b="0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tickLblSkip val="1"/>
        <c:noMultiLvlLbl val="1"/>
      </c:catAx>
      <c:valAx>
        <c:axId val="2"/>
        <c:scaling>
          <c:orientation val="minMax"/>
          <c:max val="1620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584022038567495"/>
          <c:w val="0.97608095676172957"/>
          <c:h val="0.367768595041322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685950413223143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22F-448E-A1B0-E7F88344D493}"/>
                </c:ext>
              </c:extLst>
            </c:dLbl>
            <c:dLbl>
              <c:idx val="1"/>
              <c:layout>
                <c:manualLayout>
                  <c:x val="0"/>
                  <c:y val="-0.28512396694214875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22F-448E-A1B0-E7F88344D493}"/>
                </c:ext>
              </c:extLst>
            </c:dLbl>
            <c:dLbl>
              <c:idx val="2"/>
              <c:layout>
                <c:manualLayout>
                  <c:x val="0"/>
                  <c:y val="-0.26308539944903581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22F-448E-A1B0-E7F88344D49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-1242</c:v>
                </c:pt>
                <c:pt idx="1">
                  <c:v>-1302</c:v>
                </c:pt>
                <c:pt idx="2">
                  <c:v>-1151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2F-448E-A1B0-E7F88344D4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90006992"/>
        <c:axId val="1"/>
      </c:barChart>
      <c:catAx>
        <c:axId val="690006992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1300"/>
        </c:scaling>
        <c:delete val="1"/>
        <c:axPos val="l"/>
        <c:numFmt formatCode="General" sourceLinked="1"/>
        <c:majorTickMark val="out"/>
        <c:minorTickMark val="none"/>
        <c:tickLblPos val="nextTo"/>
        <c:crossAx val="6900069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37244201909959074"/>
          <c:w val="0.97608095676172957"/>
          <c:h val="0.3642564802182810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12960436562074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E6B-48F3-AB22-184B70C78D0E}"/>
                </c:ext>
              </c:extLst>
            </c:dLbl>
            <c:dLbl>
              <c:idx val="1"/>
              <c:layout>
                <c:manualLayout>
                  <c:x val="0"/>
                  <c:y val="-0.29058663028649384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E6B-48F3-AB22-184B70C78D0E}"/>
                </c:ext>
              </c:extLst>
            </c:dLbl>
            <c:dLbl>
              <c:idx val="2"/>
              <c:layout>
                <c:manualLayout>
                  <c:x val="0"/>
                  <c:y val="-0.29058663028649384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E6B-48F3-AB22-184B70C78D0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485</c:v>
                </c:pt>
                <c:pt idx="1">
                  <c:v>500</c:v>
                </c:pt>
                <c:pt idx="2">
                  <c:v>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6B-48F3-AB22-184B70C78D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4954976"/>
        <c:axId val="1"/>
      </c:barChart>
      <c:catAx>
        <c:axId val="96495497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96495497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620689655172414"/>
          <c:w val="0.97608095676172957"/>
          <c:h val="0.3668965517241379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5655172413793104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D58D-47E9-ADDD-7D5C1888924C}"/>
                </c:ext>
              </c:extLst>
            </c:dLbl>
            <c:dLbl>
              <c:idx val="1"/>
              <c:layout>
                <c:manualLayout>
                  <c:x val="0"/>
                  <c:y val="-0.25655172413793104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D58D-47E9-ADDD-7D5C1888924C}"/>
                </c:ext>
              </c:extLst>
            </c:dLbl>
            <c:dLbl>
              <c:idx val="2"/>
              <c:layout>
                <c:manualLayout>
                  <c:x val="0"/>
                  <c:y val="-0.28413793103448276"/>
                </c:manualLayout>
              </c:layout>
              <c:numFmt formatCode="0;&quot;−&quot;# 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D58D-47E9-ADDD-7D5C1888924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-1702</c:v>
                </c:pt>
                <c:pt idx="1">
                  <c:v>-1500</c:v>
                </c:pt>
                <c:pt idx="2">
                  <c:v>-1771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58D-47E9-ADDD-7D5C188892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15477056"/>
        <c:axId val="1"/>
      </c:barChart>
      <c:catAx>
        <c:axId val="715477056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1771"/>
        </c:scaling>
        <c:delete val="1"/>
        <c:axPos val="l"/>
        <c:numFmt formatCode="General" sourceLinked="1"/>
        <c:majorTickMark val="out"/>
        <c:minorTickMark val="none"/>
        <c:tickLblPos val="nextTo"/>
        <c:crossAx val="7154770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33828996282527879"/>
          <c:w val="0.97608095676172957"/>
          <c:h val="0.4225526641883519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DFE5E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8500619578686492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645-4D13-8FDC-64CEDB0401D4}"/>
                </c:ext>
              </c:extLst>
            </c:dLbl>
            <c:dLbl>
              <c:idx val="1"/>
              <c:layout>
                <c:manualLayout>
                  <c:x val="0"/>
                  <c:y val="-0.28500619578686492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645-4D13-8FDC-64CEDB0401D4}"/>
                </c:ext>
              </c:extLst>
            </c:dLbl>
            <c:dLbl>
              <c:idx val="2"/>
              <c:layout>
                <c:manualLayout>
                  <c:x val="0"/>
                  <c:y val="-0.31102850061957871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645-4D13-8FDC-64CEDB0401D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2187</c:v>
                </c:pt>
                <c:pt idx="1">
                  <c:v>2000</c:v>
                </c:pt>
                <c:pt idx="2">
                  <c:v>2271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645-4D13-8FDC-64CEDB0401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964938752"/>
        <c:axId val="1"/>
      </c:barChart>
      <c:catAx>
        <c:axId val="96493875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7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9649387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0322580645161285E-2"/>
          <c:y val="0.13129251700680272"/>
          <c:w val="0.8193548387096774"/>
          <c:h val="0.7374149659863945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7210884353741495E-3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E74-4105-BEF4-E28D08D778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74-4105-BEF4-E28D08D778A1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2.7210884353741495E-3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E74-4105-BEF4-E28D08D778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E74-4105-BEF4-E28D08D778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85446559"/>
        <c:axId val="1"/>
      </c:barChart>
      <c:catAx>
        <c:axId val="8854465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54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854465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344141635170081E-2"/>
          <c:y val="0.12730870712401055"/>
          <c:w val="0.97931171672965989"/>
          <c:h val="0.7453825857519789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AE93-48FE-8A08-6448299FD79D}"/>
              </c:ext>
            </c:extLst>
          </c:dPt>
          <c:dPt>
            <c:idx val="8"/>
            <c:invertIfNegative val="0"/>
            <c:bubble3D val="0"/>
            <c:spPr>
              <a:solidFill>
                <a:srgbClr val="80808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E93-48FE-8A08-6448299FD79D}"/>
              </c:ext>
            </c:extLst>
          </c:dPt>
          <c:dLbls>
            <c:dLbl>
              <c:idx val="0"/>
              <c:layout>
                <c:manualLayout>
                  <c:x val="0"/>
                  <c:y val="-0.31200527704485487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E93-48FE-8A08-6448299FD79D}"/>
                </c:ext>
              </c:extLst>
            </c:dLbl>
            <c:dLbl>
              <c:idx val="8"/>
              <c:layout>
                <c:manualLayout>
                  <c:x val="0"/>
                  <c:y val="-0.39841688654353563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E93-48FE-8A08-6448299FD79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Sheet1!$A$1:$I$1</c:f>
              <c:numCache>
                <c:formatCode>General</c:formatCode>
                <c:ptCount val="9"/>
                <c:pt idx="0">
                  <c:v>9443</c:v>
                </c:pt>
                <c:pt idx="1">
                  <c:v>9443</c:v>
                </c:pt>
                <c:pt idx="2">
                  <c:v>10944</c:v>
                </c:pt>
                <c:pt idx="3">
                  <c:v>12429</c:v>
                </c:pt>
                <c:pt idx="4">
                  <c:v>13042</c:v>
                </c:pt>
                <c:pt idx="5">
                  <c:v>13300</c:v>
                </c:pt>
                <c:pt idx="6">
                  <c:v>13513</c:v>
                </c:pt>
                <c:pt idx="7">
                  <c:v>12595</c:v>
                </c:pt>
                <c:pt idx="8">
                  <c:v>12595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E93-48FE-8A08-6448299FD79D}"/>
            </c:ext>
          </c:extLst>
        </c:ser>
        <c:ser>
          <c:idx val="1"/>
          <c:order val="1"/>
          <c:spPr>
            <a:solidFill>
              <a:srgbClr val="FF452C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59595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E93-48FE-8A08-6448299FD79D}"/>
              </c:ext>
            </c:extLst>
          </c:dPt>
          <c:dLbls>
            <c:dLbl>
              <c:idx val="1"/>
              <c:layout>
                <c:manualLayout>
                  <c:x val="0"/>
                  <c:y val="-1.9788918205804751E-3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E93-48FE-8A08-6448299FD79D}"/>
                </c:ext>
              </c:extLst>
            </c:dLbl>
            <c:dLbl>
              <c:idx val="2"/>
              <c:layout>
                <c:manualLayout>
                  <c:x val="0"/>
                  <c:y val="-1.9788918205804751E-3"/>
                </c:manualLayout>
              </c:layout>
              <c:numFmt formatCode="[&gt;=1000]# ##0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AE93-48FE-8A08-6448299FD79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Sheet1!$A$2:$I$2</c:f>
              <c:numCache>
                <c:formatCode>General</c:formatCode>
                <c:ptCount val="9"/>
                <c:pt idx="1">
                  <c:v>1501</c:v>
                </c:pt>
                <c:pt idx="2">
                  <c:v>1485</c:v>
                </c:pt>
                <c:pt idx="3">
                  <c:v>613</c:v>
                </c:pt>
                <c:pt idx="4">
                  <c:v>258</c:v>
                </c:pt>
                <c:pt idx="5">
                  <c:v>213</c:v>
                </c:pt>
                <c:pt idx="6">
                  <c:v>85</c:v>
                </c:pt>
                <c:pt idx="7">
                  <c:v>1002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93-48FE-8A08-6448299FD7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85416607"/>
        <c:axId val="1"/>
      </c:barChart>
      <c:catAx>
        <c:axId val="88541660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59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88541660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1959521619135235E-2"/>
          <c:y val="0.26584022038567495"/>
          <c:w val="0.97608095676172957"/>
          <c:h val="0.3677685950413223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7685950413223143"/>
                </c:manualLayout>
              </c:layout>
              <c:numFmt formatCode="0;&quot;−&quot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111-4F00-A000-00000000F0CF}"/>
                </c:ext>
              </c:extLst>
            </c:dLbl>
            <c:dLbl>
              <c:idx val="1"/>
              <c:layout>
                <c:manualLayout>
                  <c:x val="0"/>
                  <c:y val="-0.28512396694214875"/>
                </c:manualLayout>
              </c:layout>
              <c:numFmt formatCode="0;&quot;−&quot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111-4F00-A000-00000000F0CF}"/>
                </c:ext>
              </c:extLst>
            </c:dLbl>
            <c:dLbl>
              <c:idx val="2"/>
              <c:layout>
                <c:manualLayout>
                  <c:x val="0"/>
                  <c:y val="-0.26308539944903581"/>
                </c:manualLayout>
              </c:layout>
              <c:numFmt formatCode="0;&quot;−&quot;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111-4F00-A000-00000000F0C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-758</c:v>
                </c:pt>
                <c:pt idx="1">
                  <c:v>-802</c:v>
                </c:pt>
                <c:pt idx="2">
                  <c:v>-651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111-4F00-A000-00000000F0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90006992"/>
        <c:axId val="1"/>
      </c:barChart>
      <c:catAx>
        <c:axId val="690006992"/>
        <c:scaling>
          <c:orientation val="minMax"/>
        </c:scaling>
        <c:delete val="0"/>
        <c:axPos val="t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1300"/>
        </c:scaling>
        <c:delete val="1"/>
        <c:axPos val="l"/>
        <c:numFmt formatCode="General" sourceLinked="1"/>
        <c:majorTickMark val="out"/>
        <c:minorTickMark val="none"/>
        <c:tickLblPos val="nextTo"/>
        <c:crossAx val="6900069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drawings/_rels/vmlDrawing1.vml.rels><?xml version="1.0" encoding="UTF-8" standalone="yes"?>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509E16-A88B-8B44-9AED-5D26A22D5264}" type="datetimeFigureOut">
              <a:rPr lang="en-RU" smtClean="0"/>
              <a:t>16.10.2026</a:t>
            </a:fld>
            <a:endParaRPr lang="en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19F212-A752-C14B-A109-423296A66E50}" type="slidenum">
              <a:rPr lang="en-RU" smtClean="0"/>
              <a:t>‹#›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37195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19F212-A752-C14B-A109-423296A66E50}" type="slidenum">
              <a:rPr lang="en-RU" smtClean="0"/>
              <a:t>27</a:t>
            </a:fld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3614187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3D7615-9D8D-4AFB-A858-D9C1AB35B54F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23323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Обложка">
    <p:bg>
      <p:bgPr>
        <a:solidFill>
          <a:srgbClr val="091E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A352461-ED9D-49E8-A227-4BE396B7B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352461-ED9D-49E8-A227-4BE396B7B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5C9D1B3-9449-1E35-A4F9-B27E63F23C3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Текст 8">
            <a:extLst>
              <a:ext uri="{FF2B5EF4-FFF2-40B4-BE49-F238E27FC236}">
                <a16:creationId xmlns:a16="http://schemas.microsoft.com/office/drawing/2014/main" id="{77C6AA7E-B9EC-D689-A34D-26514F873C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65324" y="6039859"/>
            <a:ext cx="4383751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Дата. Шрифт </a:t>
            </a:r>
            <a:r>
              <a:rPr lang="en" dirty="0"/>
              <a:t>Arial Regular 12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2E6B423-8860-5583-7550-8185EF9884D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0862" y="5684181"/>
            <a:ext cx="2631725" cy="822101"/>
          </a:xfrm>
          <a:prstGeom prst="rect">
            <a:avLst/>
          </a:prstGeom>
        </p:spPr>
      </p:pic>
      <p:sp>
        <p:nvSpPr>
          <p:cNvPr id="7" name="Текст 5">
            <a:extLst>
              <a:ext uri="{FF2B5EF4-FFF2-40B4-BE49-F238E27FC236}">
                <a16:creationId xmlns:a16="http://schemas.microsoft.com/office/drawing/2014/main" id="{1661DD3A-AD3B-4577-8E6F-0575534B65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1514475"/>
            <a:ext cx="11098211" cy="2095500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baseline="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Заголовок</a:t>
            </a:r>
            <a:r>
              <a:rPr lang="en-US" dirty="0"/>
              <a:t> </a:t>
            </a:r>
            <a:r>
              <a:rPr lang="ru-RU" dirty="0"/>
              <a:t>презентации</a:t>
            </a:r>
          </a:p>
          <a:p>
            <a:r>
              <a:rPr lang="ru-RU" dirty="0"/>
              <a:t>в несколько строк</a:t>
            </a:r>
          </a:p>
          <a:p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50</a:t>
            </a:r>
          </a:p>
        </p:txBody>
      </p:sp>
      <p:sp>
        <p:nvSpPr>
          <p:cNvPr id="8" name="Текст 5">
            <a:extLst>
              <a:ext uri="{FF2B5EF4-FFF2-40B4-BE49-F238E27FC236}">
                <a16:creationId xmlns:a16="http://schemas.microsoft.com/office/drawing/2014/main" id="{EFFB686D-4A94-40E6-894F-ABB96ADE7A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0864" y="3827102"/>
            <a:ext cx="5484812" cy="126089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defRPr sz="1800" b="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Имя Фамилия </a:t>
            </a:r>
            <a:br>
              <a:rPr lang="en-US" dirty="0"/>
            </a:br>
            <a:r>
              <a:rPr lang="ru-RU" dirty="0"/>
              <a:t>Шрифт </a:t>
            </a:r>
            <a:r>
              <a:rPr lang="en-US" dirty="0"/>
              <a:t>Arial Regular </a:t>
            </a:r>
            <a:r>
              <a:rPr lang="ru-RU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3553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Внутренняя страница_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54D6B520-E496-4DE7-A7EA-039CB24155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D6B520-E496-4DE7-A7EA-039CB24155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Текст 3">
            <a:extLst>
              <a:ext uri="{FF2B5EF4-FFF2-40B4-BE49-F238E27FC236}">
                <a16:creationId xmlns:a16="http://schemas.microsoft.com/office/drawing/2014/main" id="{F4EADE36-7228-4328-B953-053A78FFB65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19251" y="6238124"/>
            <a:ext cx="9277350" cy="391275"/>
          </a:xfrm>
          <a:prstGeom prst="rect">
            <a:avLst/>
          </a:prstGeom>
        </p:spPr>
        <p:txBody>
          <a:bodyPr lIns="0" t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Сноска. Шрифт </a:t>
            </a:r>
            <a:r>
              <a:rPr lang="en-US" dirty="0"/>
              <a:t>Arial Regular </a:t>
            </a:r>
            <a:r>
              <a:rPr lang="ru-RU" dirty="0"/>
              <a:t>9</a:t>
            </a: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B17D90FF-1B5F-46FE-8880-4FF59512C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5">
            <a:extLst>
              <a:ext uri="{FF2B5EF4-FFF2-40B4-BE49-F238E27FC236}">
                <a16:creationId xmlns:a16="http://schemas.microsoft.com/office/drawing/2014/main" id="{AC2FBA2D-C41D-4879-85FA-C8B9BDB2A7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176" y="225092"/>
            <a:ext cx="10594970" cy="660733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90000"/>
              </a:lnSpc>
              <a:spcBef>
                <a:spcPts val="0"/>
              </a:spcBef>
              <a:defRPr sz="24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ru-RU" dirty="0"/>
              <a:t>Заголовок слайда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br>
              <a:rPr lang="ru-RU" dirty="0"/>
            </a:br>
            <a:r>
              <a:rPr lang="ru-RU" dirty="0"/>
              <a:t>Шрифт </a:t>
            </a:r>
            <a:r>
              <a:rPr lang="en" dirty="0"/>
              <a:t>Arial Bold </a:t>
            </a:r>
            <a:r>
              <a:rPr lang="ru-RU" dirty="0"/>
              <a:t>24</a:t>
            </a:r>
          </a:p>
        </p:txBody>
      </p:sp>
      <p:pic>
        <p:nvPicPr>
          <p:cNvPr id="5" name="Google Shape;329;p48">
            <a:extLst>
              <a:ext uri="{FF2B5EF4-FFF2-40B4-BE49-F238E27FC236}">
                <a16:creationId xmlns:a16="http://schemas.microsoft.com/office/drawing/2014/main" id="{C2310AFE-C757-48FC-8C89-768B12B79D26}"/>
              </a:ext>
            </a:extLst>
          </p:cNvPr>
          <p:cNvPicPr preferRelativeResize="0"/>
          <p:nvPr userDrawn="1"/>
        </p:nvPicPr>
        <p:blipFill rotWithShape="1">
          <a:blip r:embed="rId5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74354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1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0275F-82EB-4AF8-93F2-E32D2E3F4A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6" progId="TCLayout.ActiveDocument.1">
                  <p:embed/>
                </p:oleObj>
              </mc:Choice>
              <mc:Fallback>
                <p:oleObj name="think-cell Slide" r:id="rId5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0275F-82EB-4AF8-93F2-E32D2E3F4A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C4ABD1C-F459-2C26-F2B9-9BA713F07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55362" y="6362700"/>
            <a:ext cx="485775" cy="2667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27D41D6-7756-D84E-A787-9DAD2BF0F149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C2BBA4-A98A-7E39-4BDE-05CCE10298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4175" y="6260830"/>
            <a:ext cx="1179870" cy="368569"/>
          </a:xfrm>
          <a:prstGeom prst="rect">
            <a:avLst/>
          </a:prstGeom>
        </p:spPr>
      </p:pic>
      <p:pic>
        <p:nvPicPr>
          <p:cNvPr id="6" name="Google Shape;329;p48">
            <a:extLst>
              <a:ext uri="{FF2B5EF4-FFF2-40B4-BE49-F238E27FC236}">
                <a16:creationId xmlns:a16="http://schemas.microsoft.com/office/drawing/2014/main" id="{E1B4E335-9445-4D22-A1BC-8334344EE35A}"/>
              </a:ext>
            </a:extLst>
          </p:cNvPr>
          <p:cNvPicPr preferRelativeResize="0"/>
          <p:nvPr userDrawn="1"/>
        </p:nvPicPr>
        <p:blipFill rotWithShape="1">
          <a:blip r:embed="rId8">
            <a:alphaModFix/>
          </a:blip>
          <a:srcRect t="32015" b="29633"/>
          <a:stretch/>
        </p:blipFill>
        <p:spPr>
          <a:xfrm>
            <a:off x="10959145" y="210404"/>
            <a:ext cx="868680" cy="3331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0710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74" r:id="rId2"/>
  </p:sldLayoutIdLst>
  <p:hf hdr="0" ft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354" rtl="0" eaLnBrk="1" latinLnBrk="0" hangingPunct="1">
        <a:lnSpc>
          <a:spcPct val="90000"/>
        </a:lnSpc>
        <a:spcBef>
          <a:spcPts val="1000"/>
        </a:spcBef>
        <a:buFontTx/>
        <a:buNone/>
        <a:defRPr sz="20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78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indent="0" algn="l" defTabSz="914354" rtl="0" eaLnBrk="1" latinLnBrk="0" hangingPunct="1">
        <a:lnSpc>
          <a:spcPct val="90000"/>
        </a:lnSpc>
        <a:spcBef>
          <a:spcPts val="500"/>
        </a:spcBef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4" orient="horz" pos="4156">
          <p15:clr>
            <a:srgbClr val="F26B43"/>
          </p15:clr>
        </p15:guide>
        <p15:guide id="5" orient="horz" pos="323">
          <p15:clr>
            <a:srgbClr val="F26B43"/>
          </p15:clr>
        </p15:guide>
        <p15:guide id="7" pos="1148">
          <p15:clr>
            <a:srgbClr val="F26B43"/>
          </p15:clr>
        </p15:guide>
        <p15:guide id="8" pos="1236">
          <p15:clr>
            <a:srgbClr val="F26B43"/>
          </p15:clr>
        </p15:guide>
        <p15:guide id="10" pos="2032">
          <p15:clr>
            <a:srgbClr val="F26B43"/>
          </p15:clr>
        </p15:guide>
        <p15:guide id="11" pos="2120">
          <p15:clr>
            <a:srgbClr val="F26B43"/>
          </p15:clr>
        </p15:guide>
        <p15:guide id="13" pos="2916">
          <p15:clr>
            <a:srgbClr val="F26B43"/>
          </p15:clr>
        </p15:guide>
        <p15:guide id="14" pos="3004">
          <p15:clr>
            <a:srgbClr val="F26B43"/>
          </p15:clr>
        </p15:guide>
        <p15:guide id="16" pos="3802">
          <p15:clr>
            <a:srgbClr val="F26B43"/>
          </p15:clr>
        </p15:guide>
        <p15:guide id="17" pos="7338">
          <p15:clr>
            <a:srgbClr val="F26B43"/>
          </p15:clr>
        </p15:guide>
        <p15:guide id="19" pos="6538">
          <p15:clr>
            <a:srgbClr val="F26B43"/>
          </p15:clr>
        </p15:guide>
        <p15:guide id="20" pos="6452">
          <p15:clr>
            <a:srgbClr val="F26B43"/>
          </p15:clr>
        </p15:guide>
        <p15:guide id="22" pos="5656">
          <p15:clr>
            <a:srgbClr val="F26B43"/>
          </p15:clr>
        </p15:guide>
        <p15:guide id="23" pos="5568">
          <p15:clr>
            <a:srgbClr val="F26B43"/>
          </p15:clr>
        </p15:guide>
        <p15:guide id="25" pos="4770">
          <p15:clr>
            <a:srgbClr val="F26B43"/>
          </p15:clr>
        </p15:guide>
        <p15:guide id="26" pos="4684">
          <p15:clr>
            <a:srgbClr val="F26B43"/>
          </p15:clr>
        </p15:guide>
        <p15:guide id="28" pos="3888">
          <p15:clr>
            <a:srgbClr val="F26B43"/>
          </p15:clr>
        </p15:guide>
        <p15:guide id="39" orient="horz" pos="39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tags" Target="../tags/tag18.xml"/><Relationship Id="rId18" Type="http://schemas.openxmlformats.org/officeDocument/2006/relationships/tags" Target="../tags/tag23.xml"/><Relationship Id="rId26" Type="http://schemas.openxmlformats.org/officeDocument/2006/relationships/tags" Target="../tags/tag31.xml"/><Relationship Id="rId39" Type="http://schemas.openxmlformats.org/officeDocument/2006/relationships/tags" Target="../tags/tag44.xml"/><Relationship Id="rId21" Type="http://schemas.openxmlformats.org/officeDocument/2006/relationships/tags" Target="../tags/tag26.xml"/><Relationship Id="rId34" Type="http://schemas.openxmlformats.org/officeDocument/2006/relationships/tags" Target="../tags/tag39.xml"/><Relationship Id="rId42" Type="http://schemas.openxmlformats.org/officeDocument/2006/relationships/tags" Target="../tags/tag47.xml"/><Relationship Id="rId47" Type="http://schemas.openxmlformats.org/officeDocument/2006/relationships/tags" Target="../tags/tag52.xml"/><Relationship Id="rId50" Type="http://schemas.openxmlformats.org/officeDocument/2006/relationships/tags" Target="../tags/tag55.xml"/><Relationship Id="rId55" Type="http://schemas.openxmlformats.org/officeDocument/2006/relationships/chart" Target="../charts/chart1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6" Type="http://schemas.openxmlformats.org/officeDocument/2006/relationships/tags" Target="../tags/tag21.xml"/><Relationship Id="rId29" Type="http://schemas.openxmlformats.org/officeDocument/2006/relationships/tags" Target="../tags/tag34.xml"/><Relationship Id="rId11" Type="http://schemas.openxmlformats.org/officeDocument/2006/relationships/tags" Target="../tags/tag16.xml"/><Relationship Id="rId24" Type="http://schemas.openxmlformats.org/officeDocument/2006/relationships/tags" Target="../tags/tag29.xml"/><Relationship Id="rId32" Type="http://schemas.openxmlformats.org/officeDocument/2006/relationships/tags" Target="../tags/tag37.xml"/><Relationship Id="rId37" Type="http://schemas.openxmlformats.org/officeDocument/2006/relationships/tags" Target="../tags/tag42.xml"/><Relationship Id="rId40" Type="http://schemas.openxmlformats.org/officeDocument/2006/relationships/tags" Target="../tags/tag45.xml"/><Relationship Id="rId45" Type="http://schemas.openxmlformats.org/officeDocument/2006/relationships/tags" Target="../tags/tag50.xml"/><Relationship Id="rId53" Type="http://schemas.openxmlformats.org/officeDocument/2006/relationships/oleObject" Target="../embeddings/oleObject5.bin"/><Relationship Id="rId5" Type="http://schemas.openxmlformats.org/officeDocument/2006/relationships/tags" Target="../tags/tag10.xml"/><Relationship Id="rId10" Type="http://schemas.openxmlformats.org/officeDocument/2006/relationships/tags" Target="../tags/tag15.xml"/><Relationship Id="rId19" Type="http://schemas.openxmlformats.org/officeDocument/2006/relationships/tags" Target="../tags/tag24.xml"/><Relationship Id="rId31" Type="http://schemas.openxmlformats.org/officeDocument/2006/relationships/tags" Target="../tags/tag36.xml"/><Relationship Id="rId44" Type="http://schemas.openxmlformats.org/officeDocument/2006/relationships/tags" Target="../tags/tag49.xml"/><Relationship Id="rId52" Type="http://schemas.openxmlformats.org/officeDocument/2006/relationships/slideLayout" Target="../slideLayouts/slideLayout2.xml"/><Relationship Id="rId4" Type="http://schemas.openxmlformats.org/officeDocument/2006/relationships/tags" Target="../tags/tag9.xml"/><Relationship Id="rId9" Type="http://schemas.openxmlformats.org/officeDocument/2006/relationships/tags" Target="../tags/tag14.xml"/><Relationship Id="rId14" Type="http://schemas.openxmlformats.org/officeDocument/2006/relationships/tags" Target="../tags/tag19.xml"/><Relationship Id="rId22" Type="http://schemas.openxmlformats.org/officeDocument/2006/relationships/tags" Target="../tags/tag27.xml"/><Relationship Id="rId27" Type="http://schemas.openxmlformats.org/officeDocument/2006/relationships/tags" Target="../tags/tag32.xml"/><Relationship Id="rId30" Type="http://schemas.openxmlformats.org/officeDocument/2006/relationships/tags" Target="../tags/tag35.xml"/><Relationship Id="rId35" Type="http://schemas.openxmlformats.org/officeDocument/2006/relationships/tags" Target="../tags/tag40.xml"/><Relationship Id="rId43" Type="http://schemas.openxmlformats.org/officeDocument/2006/relationships/tags" Target="../tags/tag48.xml"/><Relationship Id="rId48" Type="http://schemas.openxmlformats.org/officeDocument/2006/relationships/tags" Target="../tags/tag53.xml"/><Relationship Id="rId8" Type="http://schemas.openxmlformats.org/officeDocument/2006/relationships/tags" Target="../tags/tag13.xml"/><Relationship Id="rId51" Type="http://schemas.openxmlformats.org/officeDocument/2006/relationships/tags" Target="../tags/tag56.xml"/><Relationship Id="rId3" Type="http://schemas.openxmlformats.org/officeDocument/2006/relationships/tags" Target="../tags/tag8.xml"/><Relationship Id="rId12" Type="http://schemas.openxmlformats.org/officeDocument/2006/relationships/tags" Target="../tags/tag17.xml"/><Relationship Id="rId17" Type="http://schemas.openxmlformats.org/officeDocument/2006/relationships/tags" Target="../tags/tag22.xml"/><Relationship Id="rId25" Type="http://schemas.openxmlformats.org/officeDocument/2006/relationships/tags" Target="../tags/tag30.xml"/><Relationship Id="rId33" Type="http://schemas.openxmlformats.org/officeDocument/2006/relationships/tags" Target="../tags/tag38.xml"/><Relationship Id="rId38" Type="http://schemas.openxmlformats.org/officeDocument/2006/relationships/tags" Target="../tags/tag43.xml"/><Relationship Id="rId46" Type="http://schemas.openxmlformats.org/officeDocument/2006/relationships/tags" Target="../tags/tag51.xml"/><Relationship Id="rId20" Type="http://schemas.openxmlformats.org/officeDocument/2006/relationships/tags" Target="../tags/tag25.xml"/><Relationship Id="rId41" Type="http://schemas.openxmlformats.org/officeDocument/2006/relationships/tags" Target="../tags/tag46.xml"/><Relationship Id="rId54" Type="http://schemas.openxmlformats.org/officeDocument/2006/relationships/image" Target="../media/image7.emf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5" Type="http://schemas.openxmlformats.org/officeDocument/2006/relationships/tags" Target="../tags/tag20.xml"/><Relationship Id="rId23" Type="http://schemas.openxmlformats.org/officeDocument/2006/relationships/tags" Target="../tags/tag28.xml"/><Relationship Id="rId28" Type="http://schemas.openxmlformats.org/officeDocument/2006/relationships/tags" Target="../tags/tag33.xml"/><Relationship Id="rId36" Type="http://schemas.openxmlformats.org/officeDocument/2006/relationships/tags" Target="../tags/tag41.xml"/><Relationship Id="rId49" Type="http://schemas.openxmlformats.org/officeDocument/2006/relationships/tags" Target="../tags/tag5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69.xml"/><Relationship Id="rId18" Type="http://schemas.openxmlformats.org/officeDocument/2006/relationships/tags" Target="../tags/tag74.xml"/><Relationship Id="rId26" Type="http://schemas.openxmlformats.org/officeDocument/2006/relationships/tags" Target="../tags/tag82.xml"/><Relationship Id="rId39" Type="http://schemas.openxmlformats.org/officeDocument/2006/relationships/tags" Target="../tags/tag95.xml"/><Relationship Id="rId21" Type="http://schemas.openxmlformats.org/officeDocument/2006/relationships/tags" Target="../tags/tag77.xml"/><Relationship Id="rId34" Type="http://schemas.openxmlformats.org/officeDocument/2006/relationships/tags" Target="../tags/tag90.xml"/><Relationship Id="rId42" Type="http://schemas.openxmlformats.org/officeDocument/2006/relationships/oleObject" Target="../embeddings/oleObject6.bin"/><Relationship Id="rId7" Type="http://schemas.openxmlformats.org/officeDocument/2006/relationships/tags" Target="../tags/tag63.xml"/><Relationship Id="rId2" Type="http://schemas.openxmlformats.org/officeDocument/2006/relationships/tags" Target="../tags/tag58.xml"/><Relationship Id="rId16" Type="http://schemas.openxmlformats.org/officeDocument/2006/relationships/tags" Target="../tags/tag72.xml"/><Relationship Id="rId20" Type="http://schemas.openxmlformats.org/officeDocument/2006/relationships/tags" Target="../tags/tag76.xml"/><Relationship Id="rId29" Type="http://schemas.openxmlformats.org/officeDocument/2006/relationships/tags" Target="../tags/tag85.xml"/><Relationship Id="rId41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11" Type="http://schemas.openxmlformats.org/officeDocument/2006/relationships/tags" Target="../tags/tag67.xml"/><Relationship Id="rId24" Type="http://schemas.openxmlformats.org/officeDocument/2006/relationships/tags" Target="../tags/tag80.xml"/><Relationship Id="rId32" Type="http://schemas.openxmlformats.org/officeDocument/2006/relationships/tags" Target="../tags/tag88.xml"/><Relationship Id="rId37" Type="http://schemas.openxmlformats.org/officeDocument/2006/relationships/tags" Target="../tags/tag93.xml"/><Relationship Id="rId40" Type="http://schemas.openxmlformats.org/officeDocument/2006/relationships/tags" Target="../tags/tag96.xml"/><Relationship Id="rId5" Type="http://schemas.openxmlformats.org/officeDocument/2006/relationships/tags" Target="../tags/tag61.xml"/><Relationship Id="rId15" Type="http://schemas.openxmlformats.org/officeDocument/2006/relationships/tags" Target="../tags/tag71.xml"/><Relationship Id="rId23" Type="http://schemas.openxmlformats.org/officeDocument/2006/relationships/tags" Target="../tags/tag79.xml"/><Relationship Id="rId28" Type="http://schemas.openxmlformats.org/officeDocument/2006/relationships/tags" Target="../tags/tag84.xml"/><Relationship Id="rId36" Type="http://schemas.openxmlformats.org/officeDocument/2006/relationships/tags" Target="../tags/tag92.xml"/><Relationship Id="rId10" Type="http://schemas.openxmlformats.org/officeDocument/2006/relationships/tags" Target="../tags/tag66.xml"/><Relationship Id="rId19" Type="http://schemas.openxmlformats.org/officeDocument/2006/relationships/tags" Target="../tags/tag75.xml"/><Relationship Id="rId31" Type="http://schemas.openxmlformats.org/officeDocument/2006/relationships/tags" Target="../tags/tag87.xml"/><Relationship Id="rId44" Type="http://schemas.openxmlformats.org/officeDocument/2006/relationships/chart" Target="../charts/chart3.xml"/><Relationship Id="rId4" Type="http://schemas.openxmlformats.org/officeDocument/2006/relationships/tags" Target="../tags/tag60.xml"/><Relationship Id="rId9" Type="http://schemas.openxmlformats.org/officeDocument/2006/relationships/tags" Target="../tags/tag65.xml"/><Relationship Id="rId14" Type="http://schemas.openxmlformats.org/officeDocument/2006/relationships/tags" Target="../tags/tag70.xml"/><Relationship Id="rId22" Type="http://schemas.openxmlformats.org/officeDocument/2006/relationships/tags" Target="../tags/tag78.xml"/><Relationship Id="rId27" Type="http://schemas.openxmlformats.org/officeDocument/2006/relationships/tags" Target="../tags/tag83.xml"/><Relationship Id="rId30" Type="http://schemas.openxmlformats.org/officeDocument/2006/relationships/tags" Target="../tags/tag86.xml"/><Relationship Id="rId35" Type="http://schemas.openxmlformats.org/officeDocument/2006/relationships/tags" Target="../tags/tag91.xml"/><Relationship Id="rId43" Type="http://schemas.openxmlformats.org/officeDocument/2006/relationships/image" Target="../media/image8.emf"/><Relationship Id="rId8" Type="http://schemas.openxmlformats.org/officeDocument/2006/relationships/tags" Target="../tags/tag64.xml"/><Relationship Id="rId3" Type="http://schemas.openxmlformats.org/officeDocument/2006/relationships/tags" Target="../tags/tag59.xml"/><Relationship Id="rId12" Type="http://schemas.openxmlformats.org/officeDocument/2006/relationships/tags" Target="../tags/tag68.xml"/><Relationship Id="rId17" Type="http://schemas.openxmlformats.org/officeDocument/2006/relationships/tags" Target="../tags/tag73.xml"/><Relationship Id="rId25" Type="http://schemas.openxmlformats.org/officeDocument/2006/relationships/tags" Target="../tags/tag81.xml"/><Relationship Id="rId33" Type="http://schemas.openxmlformats.org/officeDocument/2006/relationships/tags" Target="../tags/tag89.xml"/><Relationship Id="rId38" Type="http://schemas.openxmlformats.org/officeDocument/2006/relationships/tags" Target="../tags/tag9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7.xml"/><Relationship Id="rId4" Type="http://schemas.openxmlformats.org/officeDocument/2006/relationships/image" Target="../media/image9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8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9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0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1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4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2.emf"/><Relationship Id="rId3" Type="http://schemas.openxmlformats.org/officeDocument/2006/relationships/tags" Target="../tags/tag103.xml"/><Relationship Id="rId7" Type="http://schemas.openxmlformats.org/officeDocument/2006/relationships/tags" Target="../tags/tag104.xml"/><Relationship Id="rId12" Type="http://schemas.openxmlformats.org/officeDocument/2006/relationships/oleObject" Target="../embeddings/oleObject9.bin"/><Relationship Id="rId17" Type="http://schemas.openxmlformats.org/officeDocument/2006/relationships/chart" Target="../charts/chart10.xml"/><Relationship Id="rId2" Type="http://schemas.openxmlformats.org/officeDocument/2006/relationships/tags" Target="../tags/tag105.xml"/><Relationship Id="rId16" Type="http://schemas.openxmlformats.org/officeDocument/2006/relationships/chart" Target="../charts/chart11.xml"/><Relationship Id="rId1" Type="http://schemas.openxmlformats.org/officeDocument/2006/relationships/vmlDrawing" Target="../drawings/vmlDrawing1.vml"/><Relationship Id="rId6" Type="http://schemas.openxmlformats.org/officeDocument/2006/relationships/tags" Target="../tags/tag106.xml"/><Relationship Id="rId5" Type="http://schemas.openxmlformats.org/officeDocument/2006/relationships/tags" Target="../tags/tag107.xml"/><Relationship Id="rId15" Type="http://schemas.openxmlformats.org/officeDocument/2006/relationships/chart" Target="../charts/chart1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08.xml"/><Relationship Id="rId9" Type="http://schemas.openxmlformats.org/officeDocument/2006/relationships/tags" Target="../tags/tag109.xml"/><Relationship Id="rId14" Type="http://schemas.openxmlformats.org/officeDocument/2006/relationships/chart" Target="../charts/chart13.xml"/><Relationship Id="rId90" Type="http://schemas.openxmlformats.org/officeDocument/2006/relationships/chart" Target="../charts/chart16.xml"/></Relationships>
</file>

<file path=ppt/slides/_rels/slide45.xml.rels><?xml version="1.0" encoding="UTF-8" standalone="yes"?>
<Relationships xmlns="http://schemas.openxmlformats.org/package/2006/relationships"><Relationship Id="rId13" Type="http://schemas.openxmlformats.org/officeDocument/2006/relationships/tags" Target="../tags/tag110.xml"/><Relationship Id="rId18" Type="http://schemas.openxmlformats.org/officeDocument/2006/relationships/tags" Target="../tags/tag111.xml"/><Relationship Id="rId26" Type="http://schemas.openxmlformats.org/officeDocument/2006/relationships/tags" Target="../tags/tag112.xml"/><Relationship Id="rId39" Type="http://schemas.openxmlformats.org/officeDocument/2006/relationships/image" Target="../media/image3.emf"/><Relationship Id="rId21" Type="http://schemas.openxmlformats.org/officeDocument/2006/relationships/tags" Target="../tags/tag113.xml"/><Relationship Id="rId34" Type="http://schemas.openxmlformats.org/officeDocument/2006/relationships/tags" Target="../tags/tag114.xml"/><Relationship Id="rId7" Type="http://schemas.openxmlformats.org/officeDocument/2006/relationships/tags" Target="../tags/tag115.xml"/><Relationship Id="rId2" Type="http://schemas.openxmlformats.org/officeDocument/2006/relationships/tags" Target="../tags/tag116.xml"/><Relationship Id="rId16" Type="http://schemas.openxmlformats.org/officeDocument/2006/relationships/tags" Target="../tags/tag117.xml"/><Relationship Id="rId20" Type="http://schemas.openxmlformats.org/officeDocument/2006/relationships/tags" Target="../tags/tag118.xml"/><Relationship Id="rId29" Type="http://schemas.openxmlformats.org/officeDocument/2006/relationships/tags" Target="../tags/tag119.xml"/><Relationship Id="rId41" Type="http://schemas.openxmlformats.org/officeDocument/2006/relationships/chart" Target="../charts/chart14.xml"/><Relationship Id="rId1" Type="http://schemas.openxmlformats.org/officeDocument/2006/relationships/vmlDrawing" Target="../drawings/vmlDrawing2.vml"/><Relationship Id="rId6" Type="http://schemas.openxmlformats.org/officeDocument/2006/relationships/tags" Target="../tags/tag120.xml"/><Relationship Id="rId11" Type="http://schemas.openxmlformats.org/officeDocument/2006/relationships/tags" Target="../tags/tag121.xml"/><Relationship Id="rId24" Type="http://schemas.openxmlformats.org/officeDocument/2006/relationships/tags" Target="../tags/tag122.xml"/><Relationship Id="rId32" Type="http://schemas.openxmlformats.org/officeDocument/2006/relationships/tags" Target="../tags/tag123.xml"/><Relationship Id="rId40" Type="http://schemas.openxmlformats.org/officeDocument/2006/relationships/chart" Target="../charts/chart15.xml"/><Relationship Id="rId5" Type="http://schemas.openxmlformats.org/officeDocument/2006/relationships/tags" Target="../tags/tag124.xml"/><Relationship Id="rId15" Type="http://schemas.openxmlformats.org/officeDocument/2006/relationships/tags" Target="../tags/tag125.xml"/><Relationship Id="rId23" Type="http://schemas.openxmlformats.org/officeDocument/2006/relationships/tags" Target="../tags/tag126.xml"/><Relationship Id="rId28" Type="http://schemas.openxmlformats.org/officeDocument/2006/relationships/tags" Target="../tags/tag127.xml"/><Relationship Id="rId36" Type="http://schemas.openxmlformats.org/officeDocument/2006/relationships/slideLayout" Target="../slideLayouts/slideLayout2.xml"/><Relationship Id="rId10" Type="http://schemas.openxmlformats.org/officeDocument/2006/relationships/tags" Target="../tags/tag128.xml"/><Relationship Id="rId19" Type="http://schemas.openxmlformats.org/officeDocument/2006/relationships/tags" Target="../tags/tag129.xml"/><Relationship Id="rId31" Type="http://schemas.openxmlformats.org/officeDocument/2006/relationships/tags" Target="../tags/tag130.xml"/><Relationship Id="rId4" Type="http://schemas.openxmlformats.org/officeDocument/2006/relationships/tags" Target="../tags/tag131.xml"/><Relationship Id="rId9" Type="http://schemas.openxmlformats.org/officeDocument/2006/relationships/tags" Target="../tags/tag132.xml"/><Relationship Id="rId14" Type="http://schemas.openxmlformats.org/officeDocument/2006/relationships/tags" Target="../tags/tag133.xml"/><Relationship Id="rId22" Type="http://schemas.openxmlformats.org/officeDocument/2006/relationships/tags" Target="../tags/tag134.xml"/><Relationship Id="rId27" Type="http://schemas.openxmlformats.org/officeDocument/2006/relationships/tags" Target="../tags/tag135.xml"/><Relationship Id="rId30" Type="http://schemas.openxmlformats.org/officeDocument/2006/relationships/tags" Target="../tags/tag136.xml"/><Relationship Id="rId35" Type="http://schemas.openxmlformats.org/officeDocument/2006/relationships/tags" Target="../tags/tag137.xml"/><Relationship Id="rId8" Type="http://schemas.openxmlformats.org/officeDocument/2006/relationships/tags" Target="../tags/tag138.xml"/><Relationship Id="rId3" Type="http://schemas.openxmlformats.org/officeDocument/2006/relationships/tags" Target="../tags/tag139.xml"/><Relationship Id="rId12" Type="http://schemas.openxmlformats.org/officeDocument/2006/relationships/tags" Target="../tags/tag140.xml"/><Relationship Id="rId17" Type="http://schemas.openxmlformats.org/officeDocument/2006/relationships/tags" Target="../tags/tag141.xml"/><Relationship Id="rId25" Type="http://schemas.openxmlformats.org/officeDocument/2006/relationships/tags" Target="../tags/tag142.xml"/><Relationship Id="rId33" Type="http://schemas.openxmlformats.org/officeDocument/2006/relationships/tags" Target="../tags/tag143.xml"/><Relationship Id="rId38" Type="http://schemas.openxmlformats.org/officeDocument/2006/relationships/oleObject" Target="../embeddings/oleObject1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Магнит </a:t>
            </a: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AdTech</a:t>
            </a:r>
            <a:endParaRPr kumimoji="0" lang="ru-RU" sz="5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sym typeface="Arial"/>
            </a:endParaRPr>
          </a:p>
          <a:p>
            <a:pPr marL="0" marR="0" lvl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sym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Людмила </a:t>
            </a:r>
            <a:r>
              <a:rPr lang="ru-RU" dirty="0" err="1"/>
              <a:t>Марлье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5121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Ads Market Calc (внутренняя оценка рынка Magnit ADS). Все финансовые показатели — млн руб. без НДС, сравнение с FC 2026 и стратегией 2027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Executive Summary: бюджет Magnit </a:t>
            </a:r>
            <a:r>
              <a:rPr lang="en-US" dirty="0"/>
              <a:t>ADS</a:t>
            </a:r>
            <a:r>
              <a:rPr lang="ru-RU" dirty="0"/>
              <a:t> 2027</a:t>
            </a:r>
          </a:p>
        </p:txBody>
      </p:sp>
      <p:sp>
        <p:nvSpPr>
          <p:cNvPr id="100" name="Shape 100"/>
          <p:cNvSpPr/>
          <p:nvPr/>
        </p:nvSpPr>
        <p:spPr>
          <a:xfrm>
            <a:off x="3683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14 478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+12% к стратегии</a:t>
            </a:r>
          </a:p>
        </p:txBody>
      </p:sp>
      <p:sp>
        <p:nvSpPr>
          <p:cNvPr id="101" name="Shape 101"/>
          <p:cNvSpPr/>
          <p:nvPr/>
        </p:nvSpPr>
        <p:spPr>
          <a:xfrm>
            <a:off x="32702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10 823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EBITDA,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+34% к FC 2026</a:t>
            </a:r>
          </a:p>
        </p:txBody>
      </p:sp>
      <p:sp>
        <p:nvSpPr>
          <p:cNvPr id="102" name="Shape 102"/>
          <p:cNvSpPr/>
          <p:nvPr/>
        </p:nvSpPr>
        <p:spPr>
          <a:xfrm>
            <a:off x="617220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1 151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CAPEX,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−2% к FC 2026  ·  −7% к стратегии</a:t>
            </a:r>
          </a:p>
        </p:txBody>
      </p:sp>
      <p:sp>
        <p:nvSpPr>
          <p:cNvPr id="103" name="Shape 103"/>
          <p:cNvSpPr/>
          <p:nvPr/>
        </p:nvSpPr>
        <p:spPr>
          <a:xfrm>
            <a:off x="9074150" y="965200"/>
            <a:ext cx="2749550" cy="10668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127000" tIns="101600" rIns="127000" bIns="12700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2600" b="1" dirty="0">
                <a:solidFill>
                  <a:srgbClr val="FF452C"/>
                </a:solidFill>
              </a:rPr>
              <a:t>9 673</a:t>
            </a:r>
          </a:p>
          <a:p>
            <a:pPr marL="0" indent="0" algn="l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FCF, млн руб.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+40% к FC 2026  ·  +11% к стратегии</a:t>
            </a:r>
          </a:p>
        </p:txBody>
      </p:sp>
      <p:sp>
        <p:nvSpPr>
          <p:cNvPr id="104" name="Shape 104"/>
          <p:cNvSpPr txBox="1"/>
          <p:nvPr/>
        </p:nvSpPr>
        <p:spPr>
          <a:xfrm>
            <a:off x="368300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Стратегия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6" name="Shape 106"/>
          <p:cNvSpPr txBox="1"/>
          <p:nvPr/>
        </p:nvSpPr>
        <p:spPr>
          <a:xfrm>
            <a:off x="368300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Рынок Retail Media вырастет до </a:t>
            </a:r>
            <a:r>
              <a:rPr lang="ru-RU" sz="1400" b="1" dirty="0">
                <a:solidFill>
                  <a:srgbClr val="000000"/>
                </a:solidFill>
              </a:rPr>
              <a:t>1,2 трлн руб.</a:t>
            </a:r>
            <a:r>
              <a:rPr lang="ru-RU" sz="1400" dirty="0">
                <a:solidFill>
                  <a:srgbClr val="000000"/>
                </a:solidFill>
              </a:rPr>
              <a:t> в 2027 г. (+35%), это 42% рекламного рынка</a:t>
            </a:r>
            <a:r>
              <a:rPr lang="ru-RU" sz="1400" baseline="30000" dirty="0">
                <a:solidFill>
                  <a:srgbClr val="000000"/>
                </a:solidFill>
              </a:rPr>
              <a:t>1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растёт быстрее рынка: </a:t>
            </a:r>
            <a:r>
              <a:rPr lang="ru-RU" sz="1400" b="1" dirty="0">
                <a:solidFill>
                  <a:srgbClr val="000000"/>
                </a:solidFill>
              </a:rPr>
              <a:t>+40%</a:t>
            </a:r>
            <a:r>
              <a:rPr lang="ru-RU" sz="1400" dirty="0">
                <a:solidFill>
                  <a:srgbClr val="000000"/>
                </a:solidFill>
              </a:rPr>
              <a:t>, доля в Retail Media около 1,2%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Драйверы: аудитория приложения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новый прайс с 09.2026, рост RMN и запуск Content factory</a:t>
            </a:r>
          </a:p>
        </p:txBody>
      </p:sp>
      <p:sp>
        <p:nvSpPr>
          <p:cNvPr id="107" name="Shape 107"/>
          <p:cNvSpPr txBox="1"/>
          <p:nvPr/>
        </p:nvSpPr>
        <p:spPr>
          <a:xfrm>
            <a:off x="4271433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</a:t>
            </a:r>
          </a:p>
        </p:txBody>
      </p:sp>
      <p:sp>
        <p:nvSpPr>
          <p:cNvPr id="108" name="Shape 108"/>
          <p:cNvSpPr/>
          <p:nvPr/>
        </p:nvSpPr>
        <p:spPr>
          <a:xfrm>
            <a:off x="4271433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09" name="Shape 109"/>
          <p:cNvSpPr txBox="1"/>
          <p:nvPr/>
        </p:nvSpPr>
        <p:spPr>
          <a:xfrm>
            <a:off x="4271433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выше стратегии на </a:t>
            </a:r>
            <a:r>
              <a:rPr lang="ru-RU" sz="1400" b="1" dirty="0">
                <a:solidFill>
                  <a:srgbClr val="000000"/>
                </a:solidFill>
              </a:rPr>
              <a:t>1 529 млн руб.</a:t>
            </a:r>
            <a:r>
              <a:rPr lang="ru-RU" sz="1400" dirty="0">
                <a:solidFill>
                  <a:srgbClr val="000000"/>
                </a:solidFill>
              </a:rPr>
              <a:t>: RMN +850, DMP+Online +537, APP +445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годовой выручки приходится на Q4: сезонность цен и рост аудитории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OPEX растёт на </a:t>
            </a:r>
            <a:r>
              <a:rPr lang="ru-RU" sz="1400" b="1" dirty="0">
                <a:solidFill>
                  <a:srgbClr val="000000"/>
                </a:solidFill>
              </a:rPr>
              <a:t>1 415 млн руб.</a:t>
            </a:r>
            <a:r>
              <a:rPr lang="ru-RU" sz="1400" dirty="0">
                <a:solidFill>
                  <a:srgbClr val="000000"/>
                </a:solidFill>
              </a:rPr>
              <a:t> (+63%); 71% прироста — расходы, привязанные к выручке: трафик DMP, агентства, креаторы</a:t>
            </a:r>
          </a:p>
        </p:txBody>
      </p:sp>
      <p:sp>
        <p:nvSpPr>
          <p:cNvPr id="110" name="Shape 110"/>
          <p:cNvSpPr txBox="1"/>
          <p:nvPr/>
        </p:nvSpPr>
        <p:spPr>
          <a:xfrm>
            <a:off x="8174567" y="2260600"/>
            <a:ext cx="3649133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и FCF</a:t>
            </a:r>
          </a:p>
        </p:txBody>
      </p:sp>
      <p:sp>
        <p:nvSpPr>
          <p:cNvPr id="111" name="Shape 111"/>
          <p:cNvSpPr/>
          <p:nvPr/>
        </p:nvSpPr>
        <p:spPr>
          <a:xfrm>
            <a:off x="8174567" y="2590800"/>
            <a:ext cx="3649133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174567" y="2717800"/>
            <a:ext cx="3649133" cy="342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AT Platform: </a:t>
            </a:r>
            <a:r>
              <a:rPr lang="ru-RU" sz="1400" b="1" dirty="0">
                <a:solidFill>
                  <a:srgbClr val="000000"/>
                </a:solidFill>
              </a:rPr>
              <a:t>541 млн руб.</a:t>
            </a:r>
            <a:r>
              <a:rPr lang="ru-RU" sz="1400" dirty="0">
                <a:solidFill>
                  <a:srgbClr val="000000"/>
                </a:solidFill>
              </a:rPr>
              <a:t> (+94), из них 510 — капитализация ФОТ разработки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In-store: </a:t>
            </a:r>
            <a:r>
              <a:rPr lang="ru-RU" sz="1400" b="1" dirty="0">
                <a:solidFill>
                  <a:srgbClr val="000000"/>
                </a:solidFill>
              </a:rPr>
              <a:t>610 млн руб.</a:t>
            </a:r>
            <a:r>
              <a:rPr lang="ru-RU" sz="1400" dirty="0">
                <a:solidFill>
                  <a:srgbClr val="000000"/>
                </a:solidFill>
              </a:rPr>
              <a:t> (−123), в т.ч. система управления медиаконтентом 438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FCF </a:t>
            </a:r>
            <a:r>
              <a:rPr lang="ru-RU" sz="1400" b="1" dirty="0">
                <a:solidFill>
                  <a:srgbClr val="000000"/>
                </a:solidFill>
              </a:rPr>
              <a:t>9 673 млн руб.</a:t>
            </a:r>
            <a:r>
              <a:rPr lang="ru-RU" sz="1400" dirty="0">
                <a:solidFill>
                  <a:srgbClr val="000000"/>
                </a:solidFill>
              </a:rPr>
              <a:t> — на 962 млн руб. выше стратегии</a:t>
            </a:r>
          </a:p>
        </p:txBody>
      </p:sp>
    </p:spTree>
    <p:extLst>
      <p:ext uri="{BB962C8B-B14F-4D97-AF65-F5344CB8AC3E}">
        <p14:creationId xmlns:p14="http://schemas.microsoft.com/office/powerpoint/2010/main" val="2133717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01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Стратегия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Рынок, тренды, конкуренты, драйверы роста и роль </a:t>
            </a:r>
            <a:r>
              <a:rPr lang="en-US" dirty="0"/>
              <a:t>Magnit ADS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997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6" name="think-cell data - do not delete" hidden="1">
            <a:extLst>
              <a:ext uri="{FF2B5EF4-FFF2-40B4-BE49-F238E27FC236}">
                <a16:creationId xmlns:a16="http://schemas.microsoft.com/office/drawing/2014/main" id="{F8FF028A-1381-5A7F-B2CA-5D03642832C3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7772400" imgH="10058400" progId="TCLayout.ActiveDocument.1">
                  <p:embed/>
                </p:oleObj>
              </mc:Choice>
              <mc:Fallback>
                <p:oleObj name="think-cell Slide" r:id="rId53" imgW="7772400" imgH="10058400" progId="TCLayout.ActiveDocument.1">
                  <p:embed/>
                  <p:pic>
                    <p:nvPicPr>
                      <p:cNvPr id="15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FF028A-1381-5A7F-B2CA-5D0364283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17FBD44-1456-A977-6CF8-CB4EB919A6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анализ </a:t>
            </a:r>
            <a:r>
              <a:rPr lang="en-US" dirty="0">
                <a:solidFill>
                  <a:srgbClr val="6E6E6E"/>
                </a:solidFill>
              </a:rPr>
              <a:t>Magnit ADS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C19635D-8E1C-0B52-900F-0C1F16862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4B63B9-8C5B-1357-2088-05DBFD13FE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tabLst>
                <a:tab pos="7554913" algn="l"/>
              </a:tabLst>
            </a:pPr>
            <a:r>
              <a:rPr lang="ru-RU" dirty="0"/>
              <a:t>Рынок ритейл медиа опережает темпы роста </a:t>
            </a:r>
            <a:br>
              <a:rPr lang="en-US" dirty="0"/>
            </a:br>
            <a:r>
              <a:rPr lang="ru-RU" dirty="0"/>
              <a:t>традиционного </a:t>
            </a:r>
            <a:r>
              <a:rPr lang="en-US" dirty="0"/>
              <a:t>digital +</a:t>
            </a:r>
            <a:r>
              <a:rPr lang="ru-RU" dirty="0"/>
              <a:t>50% </a:t>
            </a:r>
            <a:r>
              <a:rPr lang="en-US" dirty="0"/>
              <a:t>vs. +15%</a:t>
            </a:r>
            <a:r>
              <a:rPr lang="ru-RU" dirty="0"/>
              <a:t> </a:t>
            </a:r>
            <a:r>
              <a:rPr lang="en-US" dirty="0"/>
              <a:t>YoY</a:t>
            </a:r>
            <a:endParaRPr lang="ru-RU" dirty="0"/>
          </a:p>
        </p:txBody>
      </p:sp>
      <p:sp>
        <p:nvSpPr>
          <p:cNvPr id="81" name="Скругленный прямоугольник 80">
            <a:extLst>
              <a:ext uri="{FF2B5EF4-FFF2-40B4-BE49-F238E27FC236}">
                <a16:creationId xmlns:a16="http://schemas.microsoft.com/office/drawing/2014/main" id="{3FE6C233-CDF2-C619-78E9-FCF0BD9F590D}"/>
              </a:ext>
            </a:extLst>
          </p:cNvPr>
          <p:cNvSpPr/>
          <p:nvPr/>
        </p:nvSpPr>
        <p:spPr>
          <a:xfrm>
            <a:off x="3144838" y="1922463"/>
            <a:ext cx="5356978" cy="4132472"/>
          </a:xfrm>
          <a:prstGeom prst="roundRect">
            <a:avLst>
              <a:gd name="adj" fmla="val 3785"/>
            </a:avLst>
          </a:prstGeom>
          <a:pattFill prst="pct5">
            <a:fgClr>
              <a:schemeClr val="accent2"/>
            </a:fgClr>
            <a:bgClr>
              <a:schemeClr val="bg1"/>
            </a:bgClr>
          </a:patt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89805283-56FC-2FDC-FB28-F0F724A75FF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295275" y="2001838"/>
          <a:ext cx="8269288" cy="397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  <p:cxnSp>
        <p:nvCxnSpPr>
          <p:cNvPr id="86" name="Прямая соединительная линия 85">
            <a:extLst>
              <a:ext uri="{FF2B5EF4-FFF2-40B4-BE49-F238E27FC236}">
                <a16:creationId xmlns:a16="http://schemas.microsoft.com/office/drawing/2014/main" id="{2FA4329D-252B-2951-C982-13B48FACC73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H="1">
            <a:off x="962025" y="508317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Прямая соединительная линия 86">
            <a:extLst>
              <a:ext uri="{FF2B5EF4-FFF2-40B4-BE49-F238E27FC236}">
                <a16:creationId xmlns:a16="http://schemas.microsoft.com/office/drawing/2014/main" id="{055F50E7-D79B-C8F4-9D10-8236FC68C102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H="1">
            <a:off x="2763838" y="48228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Прямая соединительная линия 82">
            <a:extLst>
              <a:ext uri="{FF2B5EF4-FFF2-40B4-BE49-F238E27FC236}">
                <a16:creationId xmlns:a16="http://schemas.microsoft.com/office/drawing/2014/main" id="{48F74465-AEAD-D05F-97BB-FECD2280C61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962025" y="52705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Прямая соединительная линия 87">
            <a:extLst>
              <a:ext uri="{FF2B5EF4-FFF2-40B4-BE49-F238E27FC236}">
                <a16:creationId xmlns:a16="http://schemas.microsoft.com/office/drawing/2014/main" id="{A1164671-863E-D82D-88C9-EEB4423B504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 flipH="1">
            <a:off x="1862138" y="4800600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Прямая соединительная линия 83">
            <a:extLst>
              <a:ext uri="{FF2B5EF4-FFF2-40B4-BE49-F238E27FC236}">
                <a16:creationId xmlns:a16="http://schemas.microsoft.com/office/drawing/2014/main" id="{A2A4C693-B523-065D-1A1A-489C19CC29AE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 flipH="1">
            <a:off x="1862138" y="5038725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Прямая соединительная линия 84">
            <a:extLst>
              <a:ext uri="{FF2B5EF4-FFF2-40B4-BE49-F238E27FC236}">
                <a16:creationId xmlns:a16="http://schemas.microsoft.com/office/drawing/2014/main" id="{44142CF4-B431-86DE-C756-46E0D49EA1A9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 flipH="1">
            <a:off x="3663950" y="4525963"/>
            <a:ext cx="650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789419B5-90A7-7B49-374C-52A659B6855F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679450" y="5256213"/>
            <a:ext cx="296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F6BD3966-E773-4F1B-9C26-C0DF250422BC}" type="datetime'''''''''''''''''''''''''''''''''''''''1''''8''''5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5" name="Прямоугольник 94">
            <a:extLst>
              <a:ext uri="{FF2B5EF4-FFF2-40B4-BE49-F238E27FC236}">
                <a16:creationId xmlns:a16="http://schemas.microsoft.com/office/drawing/2014/main" id="{AC08CAAF-C412-2790-D1B8-DD4A357E0B92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6019800" y="4168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F2DB5B5-629C-4E6F-AA63-2E59BA6B7C2C}" type="datetime'''1''''.''''''''''''''''''''''''''9''''''''6''''''''7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1.967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1" name="Прямоугольник 120">
            <a:extLst>
              <a:ext uri="{FF2B5EF4-FFF2-40B4-BE49-F238E27FC236}">
                <a16:creationId xmlns:a16="http://schemas.microsoft.com/office/drawing/2014/main" id="{A189098B-C67C-37C4-C40D-502331A883BC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24542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6F17BB1-725B-4AB1-8BDE-9C719FC362B7}" type="datetime'''''''''''''''2''''''''''''''''''0''25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E3749B98-0EB1-40BD-7FF2-4EDE99B0DF52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155257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8DD0D6D-99A6-4C8E-9F94-CA67EC9A751E}" type="datetime'''''2''''''''''''''''''''''''''''''''''''0''''2''''''''''''4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10F8E654-1CB9-F127-D245-2700E03EEE23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335438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1E25AE9-94C6-423C-B843-CB5A0BD8FFD9}" type="datetime'''''''''''''''''''''2''0''''''''''''''''''''''''''2''''6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EFDBA62-534F-1768-3AAF-6A3DD149DD04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322763" y="4148138"/>
            <a:ext cx="212725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B1F90E4-F2C5-494F-8A98-F9E5E1A5544C}" type="datetime'''9''''''''''''''''''''3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843603AB-4FFB-E057-AB25-F7E1DAAD2018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4217988" y="4581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C2CE3581-4895-47F2-B6B1-B66A6C23D730}" type="datetime'''''''''1''''''''.2''''''''''''''''''''''''''''''00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1.200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9" name="Прямоугольник 118">
            <a:extLst>
              <a:ext uri="{FF2B5EF4-FFF2-40B4-BE49-F238E27FC236}">
                <a16:creationId xmlns:a16="http://schemas.microsoft.com/office/drawing/2014/main" id="{B57FBE82-5B07-F580-6C82-0BBE443B6BBF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54500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1EA796C-98BB-4198-8852-684A3CBC30CB}" type="datetime'''''''''''''''''''''''''''''''''''''''''''''''2''''''027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2027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22FEEC8-00EF-6D60-0B4A-99A1319DAA44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5186363" y="3811588"/>
            <a:ext cx="285750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86FDB48-789B-40A2-91AF-8329A43D4132}" type="datetime'''''''''''''''1''''''1''''''''''6''''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116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0B380E6A-C981-83A6-F38C-DAD29817B015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5118100" y="4375150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E1C3567-C4AB-4513-8D2A-F1266E5196F0}" type="datetime'''''''1''''.''''''''5''''''''''''''6''5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1.565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93" name="Прямоугольник 92">
            <a:extLst>
              <a:ext uri="{FF2B5EF4-FFF2-40B4-BE49-F238E27FC236}">
                <a16:creationId xmlns:a16="http://schemas.microsoft.com/office/drawing/2014/main" id="{8E5CAA84-9A45-B6AE-A8A1-D9CF35AE2EF3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5118100" y="526573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B12687-88CD-4F15-9043-2C78B3CDB411}" type="datetime'''1''''.''''''''0''''''''''''''''''9''''''0''''''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1.090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0" name="Прямоугольник 119">
            <a:extLst>
              <a:ext uri="{FF2B5EF4-FFF2-40B4-BE49-F238E27FC236}">
                <a16:creationId xmlns:a16="http://schemas.microsoft.com/office/drawing/2014/main" id="{F3E25EB1-779C-F3CA-17BC-C36D8E7AF4B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51546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D04747FA-DE9D-45A5-953A-2AEFD6268936}" type="datetime'''''''''''2''''''''''0''''''2''''''''''''''8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2028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DA03590A-3DFA-B4E9-EEFA-03D9794B5303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6083300" y="346075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AAF0BBA2-737D-4909-999B-D1E77F0A001D}" type="datetime'''''1''''''''4''''''''''''''''''''''''''''''''''''5''''''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145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37A0F702-F529-2786-4832-33216D79DA1A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65246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52FA7EF-9394-490C-A75C-06F2501ACBFB}" type="datetime'''''2''''''''''''''''''0''''''''2''''''''''''3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2023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6" name="Прямоугольник 95">
            <a:extLst>
              <a:ext uri="{FF2B5EF4-FFF2-40B4-BE49-F238E27FC236}">
                <a16:creationId xmlns:a16="http://schemas.microsoft.com/office/drawing/2014/main" id="{686B165A-29A7-1BA6-BA59-3983337A1AEA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6019800" y="5229225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DFF384B-6465-4053-8A74-D01917CE9C42}" type="datetime'''''''''''1''''''''''.''''''''1''''''''''''''''''''9''9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1.199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D70AA019-30F2-CBCA-1EBA-60966CF7D805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6056313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96F8F263-9D2E-47A7-8484-8ADFBF516155}" type="datetime'''''''2''''0''''''''''''''''''''''''2''''''9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2029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D12DD7B7-4EFA-CC2F-764A-EA914B7775C7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6983413" y="3086100"/>
            <a:ext cx="296863" cy="1651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B626F2F-D19B-46DF-ADB0-497547E72B0F}" type="datetime'''''1''''''''''''''''''''''''''8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181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34FDC6EE-4B96-1E71-FFD5-A04ADDC7125D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6919913" y="394652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8F207945-82E0-4028-BFC5-064A380A7C4F}" type="datetime'2''''''''''''''''''''''''''''''''.3''''''''8''''''''''9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2.389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C078F7D8-3AD0-FFC9-55A8-7881008D76C9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6919913" y="5187950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E1B89EA2-3064-4B5D-8A9E-EAF63BC3BCA4}" type="datetime'''''''''''''1.''''''''''''''''''''''''''3''''1''''''''''9''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1.319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A74B0002-E528-8D1D-A91E-03ED16747C02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6956425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B2CF1971-B2B1-4835-A593-87C564B54C07}" type="datetime'''''2''''''''''''''0''3''''''''''''''''''0''''''''''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2030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DCEEFDB2-9977-3ECC-E2F3-30E2D59A8579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820025" y="3787775"/>
            <a:ext cx="423863" cy="165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9E188162-E3C8-4F0B-B76B-DC1ADA999185}" type="datetime'''''2''''''.''''''6''''''''''''''''''0''''1''''''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2.601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93D1405F-AF7F-7EBB-BBD6-55D372323F43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7820025" y="5145088"/>
            <a:ext cx="423863" cy="165100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67D79810-81F6-4FA4-BBFC-29395BA405A3}" type="datetime'''''''''''''''''1''''''''''''.4''5''''''''''''''''''''''1'">
              <a:rPr lang="ru-RU" altLang="en-US" sz="1200" smtClean="0">
                <a:solidFill>
                  <a:srgbClr val="000000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1.451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5F588EE3-6110-E1DA-AF72-D5E8C1E4479C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7856538" y="57642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lvl="0" algn="ctr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E5153A0-D1AD-4B20-A840-54D6A05ECE4A}" type="datetime'''''''''2''''''''''''0''''3''''''''''''1'''''''''">
              <a:rPr lang="ru-RU" altLang="en-US" sz="120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2031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7" name="Прямоугольник 96">
            <a:extLst>
              <a:ext uri="{FF2B5EF4-FFF2-40B4-BE49-F238E27FC236}">
                <a16:creationId xmlns:a16="http://schemas.microsoft.com/office/drawing/2014/main" id="{B45FA084-58CB-1C16-1A9E-F90B4012E6F6}"/>
              </a:ext>
            </a:extLst>
          </p:cNvPr>
          <p:cNvSpPr/>
          <p:nvPr>
            <p:custDataLst>
              <p:tags r:id="rId32"/>
            </p:custDataLst>
          </p:nvPr>
        </p:nvSpPr>
        <p:spPr bwMode="gray">
          <a:xfrm>
            <a:off x="679450" y="4859338"/>
            <a:ext cx="296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3E38530A-A097-4C59-84D8-BCE574108824}" type="datetime'''''''9''''''''''''9''''''''''''''''''''''''''1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991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8" name="Прямоугольник 97">
            <a:extLst>
              <a:ext uri="{FF2B5EF4-FFF2-40B4-BE49-F238E27FC236}">
                <a16:creationId xmlns:a16="http://schemas.microsoft.com/office/drawing/2014/main" id="{B03325F5-CFB4-E9EB-C059-68FE65946F33}"/>
              </a:ext>
            </a:extLst>
          </p:cNvPr>
          <p:cNvSpPr/>
          <p:nvPr>
            <p:custDataLst>
              <p:tags r:id="rId33"/>
            </p:custDataLst>
          </p:nvPr>
        </p:nvSpPr>
        <p:spPr bwMode="gray">
          <a:xfrm>
            <a:off x="1516063" y="4564063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1B6B2A2-80E8-41AF-9294-3D9780020353}" type="datetime'''1''''''''''''''''''''''.4''''''''''''''''''''32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1.432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42B9F10C-F061-1741-0B94-5CE291FBA06F}"/>
              </a:ext>
            </a:extLst>
          </p:cNvPr>
          <p:cNvSpPr/>
          <p:nvPr>
            <p:custDataLst>
              <p:tags r:id="rId34"/>
            </p:custDataLst>
          </p:nvPr>
        </p:nvSpPr>
        <p:spPr bwMode="gray">
          <a:xfrm>
            <a:off x="2417763" y="4294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7493CC3-4EFB-46CE-9207-33FB037D843B}" type="datetime'''''''''''''1''''''.8''''''''''''33''''''''''''''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1.833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B506D63F-1A2E-8F77-3CA0-95F141AB3544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3317875" y="39512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D72B16F-3706-4979-B07F-5A31356F2F4B}" type="datetime'''''''''2''''.34''6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2.346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CD08CD25-9894-9330-8913-AC930F5D2CBE}"/>
              </a:ext>
            </a:extLst>
          </p:cNvPr>
          <p:cNvSpPr/>
          <p:nvPr>
            <p:custDataLst>
              <p:tags r:id="rId36"/>
            </p:custDataLst>
          </p:nvPr>
        </p:nvSpPr>
        <p:spPr bwMode="gray">
          <a:xfrm>
            <a:off x="4217988" y="36083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4EB1E10-03EA-44C5-8223-06A178B48676}" type="datetime'''''''''''''''''''''''''''''''''''''''''''''2.8''5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2.857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2" name="Прямоугольник 101">
            <a:extLst>
              <a:ext uri="{FF2B5EF4-FFF2-40B4-BE49-F238E27FC236}">
                <a16:creationId xmlns:a16="http://schemas.microsoft.com/office/drawing/2014/main" id="{8DF5A422-F584-7BF4-8896-4D6D1E454CD8}"/>
              </a:ext>
            </a:extLst>
          </p:cNvPr>
          <p:cNvSpPr/>
          <p:nvPr>
            <p:custDataLst>
              <p:tags r:id="rId37"/>
            </p:custDataLst>
          </p:nvPr>
        </p:nvSpPr>
        <p:spPr bwMode="gray">
          <a:xfrm>
            <a:off x="5118100" y="3225800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F234250C-68B1-4A90-A37A-9D09B0FE0F55}" type="datetime'''''''''''''''''''''''3''.''''''4''''''''''''''''2''8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3.428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61C359B3-3830-D4D8-36AB-790982E22B02}"/>
              </a:ext>
            </a:extLst>
          </p:cNvPr>
          <p:cNvSpPr/>
          <p:nvPr>
            <p:custDataLst>
              <p:tags r:id="rId38"/>
            </p:custDataLst>
          </p:nvPr>
        </p:nvSpPr>
        <p:spPr bwMode="gray">
          <a:xfrm>
            <a:off x="6019800" y="2822575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C6235F97-AB89-4ECE-A1AD-FC4760EFE21D}" type="datetime'''4''''''''.''0''''''3''''''0''''''''''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4.030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08DC9B03-86BD-683C-46A0-53C82FBC1013}"/>
              </a:ext>
            </a:extLst>
          </p:cNvPr>
          <p:cNvSpPr/>
          <p:nvPr>
            <p:custDataLst>
              <p:tags r:id="rId39"/>
            </p:custDataLst>
          </p:nvPr>
        </p:nvSpPr>
        <p:spPr bwMode="gray">
          <a:xfrm>
            <a:off x="6919913" y="238918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2FD1A78B-907A-48CC-82B6-3047BFD06CD9}" type="datetime'''''''''''''''''''4''''''''''''''''.''''''''''''677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4.677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4546A23-0E05-0A4A-0F19-4D90415CB852}"/>
              </a:ext>
            </a:extLst>
          </p:cNvPr>
          <p:cNvSpPr/>
          <p:nvPr>
            <p:custDataLst>
              <p:tags r:id="rId40"/>
            </p:custDataLst>
          </p:nvPr>
        </p:nvSpPr>
        <p:spPr bwMode="gray">
          <a:xfrm>
            <a:off x="7820025" y="2078038"/>
            <a:ext cx="423863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7CA062F8-1C21-43AC-A8F7-0A6AB0EAC780}" type="datetime'5''''''.''''''''''''''1''''4''''''''''''''''''''2'''">
              <a:rPr lang="ru-RU" altLang="en-US" sz="1200" b="1" smtClean="0">
                <a:solidFill>
                  <a:srgbClr val="000000"/>
                </a:solidFill>
              </a:rPr>
              <a:pPr lvl="0"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5.142</a:t>
            </a:fld>
            <a:endParaRPr kumimoji="0" lang="ru-RU" sz="1200" b="1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3A9B3E1D-88AC-D6F1-D8C1-10E2C0F29D7D}"/>
              </a:ext>
            </a:extLst>
          </p:cNvPr>
          <p:cNvSpPr/>
          <p:nvPr>
            <p:custDataLst>
              <p:tags r:id="rId41"/>
            </p:custDataLst>
          </p:nvPr>
        </p:nvSpPr>
        <p:spPr bwMode="gray">
          <a:xfrm>
            <a:off x="2481263" y="4460875"/>
            <a:ext cx="296863" cy="165100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D399564-6B85-4091-A9AA-378A364500E0}" type="datetime'''''''''1''''''''''''''7''''4'''''">
              <a:rPr lang="ru-RU" altLang="en-US" sz="1200" smtClean="0">
                <a:solidFill>
                  <a:srgbClr val="FFFFFF"/>
                </a:solidFill>
                <a:effectLst/>
              </a:rPr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174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  <a:sym typeface="Arial"/>
            </a:endParaRPr>
          </a:p>
        </p:txBody>
      </p:sp>
      <p:sp>
        <p:nvSpPr>
          <p:cNvPr id="122" name="Прямоугольник 121">
            <a:extLst>
              <a:ext uri="{FF2B5EF4-FFF2-40B4-BE49-F238E27FC236}">
                <a16:creationId xmlns:a16="http://schemas.microsoft.com/office/drawing/2014/main" id="{3647EDFC-DEE4-781D-5CA2-8013518A5388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363538" y="1508125"/>
            <a:ext cx="214313" cy="160338"/>
          </a:xfrm>
          <a:prstGeom prst="rect">
            <a:avLst/>
          </a:prstGeom>
          <a:solidFill>
            <a:srgbClr val="4C6C9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3" name="Прямоугольник 122">
            <a:extLst>
              <a:ext uri="{FF2B5EF4-FFF2-40B4-BE49-F238E27FC236}">
                <a16:creationId xmlns:a16="http://schemas.microsoft.com/office/drawing/2014/main" id="{5FC1E172-FD12-CAEA-69F7-F88AA396875B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2711450" y="1508125"/>
            <a:ext cx="214313" cy="160338"/>
          </a:xfrm>
          <a:prstGeom prst="rect">
            <a:avLst/>
          </a:prstGeom>
          <a:solidFill>
            <a:srgbClr val="9DB1C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4" name="Прямоугольник 123">
            <a:extLst>
              <a:ext uri="{FF2B5EF4-FFF2-40B4-BE49-F238E27FC236}">
                <a16:creationId xmlns:a16="http://schemas.microsoft.com/office/drawing/2014/main" id="{FF88AA73-836A-6C1B-4CFE-59037E80A3FC}"/>
              </a:ext>
            </a:extLst>
          </p:cNvPr>
          <p:cNvSpPr/>
          <p:nvPr>
            <p:custDataLst>
              <p:tags r:id="rId44"/>
            </p:custDataLst>
          </p:nvPr>
        </p:nvSpPr>
        <p:spPr bwMode="auto">
          <a:xfrm>
            <a:off x="3273425" y="1508125"/>
            <a:ext cx="214313" cy="1603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5" name="Прямоугольник 124">
            <a:extLst>
              <a:ext uri="{FF2B5EF4-FFF2-40B4-BE49-F238E27FC236}">
                <a16:creationId xmlns:a16="http://schemas.microsoft.com/office/drawing/2014/main" id="{69B194C7-79F6-88B3-1C84-4536828BA883}"/>
              </a:ext>
            </a:extLst>
          </p:cNvPr>
          <p:cNvSpPr/>
          <p:nvPr>
            <p:custDataLst>
              <p:tags r:id="rId45"/>
            </p:custDataLst>
          </p:nvPr>
        </p:nvSpPr>
        <p:spPr bwMode="auto">
          <a:xfrm>
            <a:off x="4256088" y="1508125"/>
            <a:ext cx="214313" cy="16033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6" name="Прямоугольник 125">
            <a:extLst>
              <a:ext uri="{FF2B5EF4-FFF2-40B4-BE49-F238E27FC236}">
                <a16:creationId xmlns:a16="http://schemas.microsoft.com/office/drawing/2014/main" id="{3E5C9A0A-F4A6-5924-F811-50A5B61711F9}"/>
              </a:ext>
            </a:extLst>
          </p:cNvPr>
          <p:cNvSpPr/>
          <p:nvPr>
            <p:custDataLst>
              <p:tags r:id="rId46"/>
            </p:custDataLst>
          </p:nvPr>
        </p:nvSpPr>
        <p:spPr bwMode="auto">
          <a:xfrm>
            <a:off x="5465763" y="1508125"/>
            <a:ext cx="214313" cy="160338"/>
          </a:xfrm>
          <a:prstGeom prst="rect">
            <a:avLst/>
          </a:prstGeom>
          <a:solidFill>
            <a:srgbClr val="DFE5E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27" name="Прямоугольник 126">
            <a:extLst>
              <a:ext uri="{FF2B5EF4-FFF2-40B4-BE49-F238E27FC236}">
                <a16:creationId xmlns:a16="http://schemas.microsoft.com/office/drawing/2014/main" id="{AA218D48-B8E7-8FA6-0267-050377CF6F37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628650" y="1503363"/>
            <a:ext cx="19812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59A698E8-021B-4086-AF75-CB8BD31FC29D}" type="datetime'''''Et''c. (''''i''''nc''l'' ''OO''H, Rad''''io,'' Pr''''ess)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Etc. (incl OOH, Radio, Press)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8" name="Прямоугольник 127">
            <a:extLst>
              <a:ext uri="{FF2B5EF4-FFF2-40B4-BE49-F238E27FC236}">
                <a16:creationId xmlns:a16="http://schemas.microsoft.com/office/drawing/2014/main" id="{76A7C27D-9D7D-620A-E3C7-E7349D65FE4A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976563" y="1503363"/>
            <a:ext cx="195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6738614D-788F-475E-906A-74DB5AB58DC2}" type="datetime'''''''''T''''''''''''''''''''V'''''''''''''">
              <a:rPr lang="ru-RU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TV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29" name="Прямоугольник 128">
            <a:extLst>
              <a:ext uri="{FF2B5EF4-FFF2-40B4-BE49-F238E27FC236}">
                <a16:creationId xmlns:a16="http://schemas.microsoft.com/office/drawing/2014/main" id="{DB658F56-02EB-A232-4970-C86C9B615312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3538538" y="1503363"/>
            <a:ext cx="6159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EBC019E4-7EB5-4708-93C1-FE271D75AB64}" type="datetime'''''I''nf''''l''u''''''''en''''''''c''''''''''''''e''''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Influence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0" name="Прямоугольник 129">
            <a:extLst>
              <a:ext uri="{FF2B5EF4-FFF2-40B4-BE49-F238E27FC236}">
                <a16:creationId xmlns:a16="http://schemas.microsoft.com/office/drawing/2014/main" id="{3671BBB8-A578-5411-8519-CE7F2F47C25E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4521200" y="1503363"/>
            <a:ext cx="842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0D941EAB-DBA2-44C4-8F90-B2AE9369BB38}" type="datetime'R''e''''''t''''''''''''''''''''''''ai''l'''' ''''Med''''ia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Retail Media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1" name="Прямоугольник 130">
            <a:extLst>
              <a:ext uri="{FF2B5EF4-FFF2-40B4-BE49-F238E27FC236}">
                <a16:creationId xmlns:a16="http://schemas.microsoft.com/office/drawing/2014/main" id="{D4296DA3-F9B2-D511-4A8F-A16C8EF9DFB8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5730875" y="1503363"/>
            <a:ext cx="11398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lv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</a:pPr>
            <a:fld id="{12333284-4378-4CF7-AB90-7EE2849552CC}" type="datetime'''T''r''ad''i''t''i''o''na''l'' ''d''i''gi''''t''''''''a''''l'">
              <a:rPr lang="en-US" altLang="en-US" sz="1200" smtClean="0">
                <a:solidFill>
                  <a:srgbClr val="000000"/>
                </a:solidFill>
              </a:rPr>
              <a:pPr lvl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</a:pPr>
              <a:t>Traditional digital</a:t>
            </a:fld>
            <a:endParaRPr kumimoji="0" lang="ru-RU" sz="1200" b="0" i="0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sym typeface="Arial"/>
            </a:endParaRPr>
          </a:p>
        </p:txBody>
      </p:sp>
      <p:sp>
        <p:nvSpPr>
          <p:cNvPr id="132" name="Прямоугольник: скругленные углы 462">
            <a:extLst>
              <a:ext uri="{FF2B5EF4-FFF2-40B4-BE49-F238E27FC236}">
                <a16:creationId xmlns:a16="http://schemas.microsoft.com/office/drawing/2014/main" id="{EB9F1138-819B-669A-733A-30E903FE7C18}"/>
              </a:ext>
            </a:extLst>
          </p:cNvPr>
          <p:cNvSpPr/>
          <p:nvPr/>
        </p:nvSpPr>
        <p:spPr>
          <a:xfrm>
            <a:off x="363538" y="1001900"/>
            <a:ext cx="8138477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Выручка основных сегментов рекламного рынка в РФ, </a:t>
            </a:r>
            <a:r>
              <a:rPr kumimoji="0" lang="ru-RU" sz="16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млрд руб.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6B96C9BD-EBAD-EC32-2044-E88BC73DB15A}"/>
              </a:ext>
            </a:extLst>
          </p:cNvPr>
          <p:cNvSpPr txBox="1"/>
          <p:nvPr/>
        </p:nvSpPr>
        <p:spPr>
          <a:xfrm>
            <a:off x="3292475" y="2032000"/>
            <a:ext cx="2293937" cy="226591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Индикативный прогноз</a:t>
            </a:r>
          </a:p>
        </p:txBody>
      </p:sp>
      <p:sp>
        <p:nvSpPr>
          <p:cNvPr id="134" name="Овал 133">
            <a:extLst>
              <a:ext uri="{FF2B5EF4-FFF2-40B4-BE49-F238E27FC236}">
                <a16:creationId xmlns:a16="http://schemas.microsoft.com/office/drawing/2014/main" id="{9BB0A294-90D7-3A6F-467C-967B714E5DBA}"/>
              </a:ext>
            </a:extLst>
          </p:cNvPr>
          <p:cNvSpPr/>
          <p:nvPr/>
        </p:nvSpPr>
        <p:spPr>
          <a:xfrm>
            <a:off x="563563" y="322738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+34%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5" name="Овал 134">
            <a:extLst>
              <a:ext uri="{FF2B5EF4-FFF2-40B4-BE49-F238E27FC236}">
                <a16:creationId xmlns:a16="http://schemas.microsoft.com/office/drawing/2014/main" id="{B5A2ACB7-DFCA-B167-2185-35EDB96C5D93}"/>
              </a:ext>
            </a:extLst>
          </p:cNvPr>
          <p:cNvSpPr/>
          <p:nvPr/>
        </p:nvSpPr>
        <p:spPr>
          <a:xfrm>
            <a:off x="7083425" y="1483326"/>
            <a:ext cx="542650" cy="206375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+X%</a:t>
            </a:r>
            <a:endParaRPr kumimoji="0" lang="ru-RU" sz="10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8AE5ABBA-2DBF-2962-E8BE-42D5BCE7D1BD}"/>
              </a:ext>
            </a:extLst>
          </p:cNvPr>
          <p:cNvSpPr txBox="1"/>
          <p:nvPr/>
        </p:nvSpPr>
        <p:spPr>
          <a:xfrm>
            <a:off x="7721600" y="1457829"/>
            <a:ext cx="760412" cy="257369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 CAGR</a:t>
            </a:r>
            <a:endParaRPr kumimoji="0" lang="ru-RU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37" name="Овал 136">
            <a:extLst>
              <a:ext uri="{FF2B5EF4-FFF2-40B4-BE49-F238E27FC236}">
                <a16:creationId xmlns:a16="http://schemas.microsoft.com/office/drawing/2014/main" id="{5176293A-74E7-4673-8EFC-C4B0BFD1EA5E}"/>
              </a:ext>
            </a:extLst>
          </p:cNvPr>
          <p:cNvSpPr/>
          <p:nvPr/>
        </p:nvSpPr>
        <p:spPr>
          <a:xfrm>
            <a:off x="1471613" y="2932113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+35%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8" name="Овал 137">
            <a:extLst>
              <a:ext uri="{FF2B5EF4-FFF2-40B4-BE49-F238E27FC236}">
                <a16:creationId xmlns:a16="http://schemas.microsoft.com/office/drawing/2014/main" id="{FF969D4B-CF07-1EE7-41C1-BBF66086D484}"/>
              </a:ext>
            </a:extLst>
          </p:cNvPr>
          <p:cNvSpPr/>
          <p:nvPr/>
        </p:nvSpPr>
        <p:spPr>
          <a:xfrm>
            <a:off x="2379663" y="2636838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4C6C9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4C6C9C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4C6C9C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39" name="Овал 138">
            <a:extLst>
              <a:ext uri="{FF2B5EF4-FFF2-40B4-BE49-F238E27FC236}">
                <a16:creationId xmlns:a16="http://schemas.microsoft.com/office/drawing/2014/main" id="{3C9768BD-18F9-1FA0-AB6D-38E3A1DE3758}"/>
              </a:ext>
            </a:extLst>
          </p:cNvPr>
          <p:cNvSpPr/>
          <p:nvPr/>
        </p:nvSpPr>
        <p:spPr>
          <a:xfrm>
            <a:off x="563563" y="355600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0" name="Овал 139">
            <a:extLst>
              <a:ext uri="{FF2B5EF4-FFF2-40B4-BE49-F238E27FC236}">
                <a16:creationId xmlns:a16="http://schemas.microsoft.com/office/drawing/2014/main" id="{0D290120-31A4-AF6F-E7EB-5602C4D69D5F}"/>
              </a:ext>
            </a:extLst>
          </p:cNvPr>
          <p:cNvSpPr/>
          <p:nvPr/>
        </p:nvSpPr>
        <p:spPr>
          <a:xfrm>
            <a:off x="1471613" y="32607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1" name="Овал 140">
            <a:extLst>
              <a:ext uri="{FF2B5EF4-FFF2-40B4-BE49-F238E27FC236}">
                <a16:creationId xmlns:a16="http://schemas.microsoft.com/office/drawing/2014/main" id="{9A5AE820-5EF5-E2F5-C855-9D378D4E32E2}"/>
              </a:ext>
            </a:extLst>
          </p:cNvPr>
          <p:cNvSpPr/>
          <p:nvPr/>
        </p:nvSpPr>
        <p:spPr>
          <a:xfrm>
            <a:off x="2379663" y="29654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9DB1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9DB1C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9DB1C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2" name="Овал 141">
            <a:extLst>
              <a:ext uri="{FF2B5EF4-FFF2-40B4-BE49-F238E27FC236}">
                <a16:creationId xmlns:a16="http://schemas.microsoft.com/office/drawing/2014/main" id="{AB7DFC92-B68F-59AB-21AC-2721C510E987}"/>
              </a:ext>
            </a:extLst>
          </p:cNvPr>
          <p:cNvSpPr/>
          <p:nvPr/>
        </p:nvSpPr>
        <p:spPr>
          <a:xfrm>
            <a:off x="563563" y="389096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+100%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3" name="Овал 142">
            <a:extLst>
              <a:ext uri="{FF2B5EF4-FFF2-40B4-BE49-F238E27FC236}">
                <a16:creationId xmlns:a16="http://schemas.microsoft.com/office/drawing/2014/main" id="{8DF1B26E-E10C-A705-A530-235A5CF0EBF6}"/>
              </a:ext>
            </a:extLst>
          </p:cNvPr>
          <p:cNvSpPr/>
          <p:nvPr/>
        </p:nvSpPr>
        <p:spPr>
          <a:xfrm>
            <a:off x="1471613" y="3595688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4" name="Овал 143">
            <a:extLst>
              <a:ext uri="{FF2B5EF4-FFF2-40B4-BE49-F238E27FC236}">
                <a16:creationId xmlns:a16="http://schemas.microsoft.com/office/drawing/2014/main" id="{D281B35C-86CA-2D49-E951-872DB96EB18F}"/>
              </a:ext>
            </a:extLst>
          </p:cNvPr>
          <p:cNvSpPr/>
          <p:nvPr/>
        </p:nvSpPr>
        <p:spPr>
          <a:xfrm>
            <a:off x="2379663" y="3300413"/>
            <a:ext cx="542650" cy="24277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</a:t>
            </a:r>
            <a:r>
              <a:rPr lang="ru-RU" sz="900" b="1" kern="0" dirty="0">
                <a:solidFill>
                  <a:srgbClr val="FFFFFF"/>
                </a:solidFill>
                <a:latin typeface="Arial"/>
                <a:sym typeface="Arial"/>
              </a:rPr>
              <a:t>30</a:t>
            </a: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5" name="Овал 144">
            <a:extLst>
              <a:ext uri="{FF2B5EF4-FFF2-40B4-BE49-F238E27FC236}">
                <a16:creationId xmlns:a16="http://schemas.microsoft.com/office/drawing/2014/main" id="{680DE674-D71B-DB96-C4E4-5132C719524E}"/>
              </a:ext>
            </a:extLst>
          </p:cNvPr>
          <p:cNvSpPr/>
          <p:nvPr/>
        </p:nvSpPr>
        <p:spPr>
          <a:xfrm>
            <a:off x="563563" y="423386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+270%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6" name="Овал 145">
            <a:extLst>
              <a:ext uri="{FF2B5EF4-FFF2-40B4-BE49-F238E27FC236}">
                <a16:creationId xmlns:a16="http://schemas.microsoft.com/office/drawing/2014/main" id="{CCC283A4-4E2E-253B-D2AD-0F433B44EB7E}"/>
              </a:ext>
            </a:extLst>
          </p:cNvPr>
          <p:cNvSpPr/>
          <p:nvPr/>
        </p:nvSpPr>
        <p:spPr>
          <a:xfrm>
            <a:off x="1471613" y="3938588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+110%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7" name="Овал 146">
            <a:extLst>
              <a:ext uri="{FF2B5EF4-FFF2-40B4-BE49-F238E27FC236}">
                <a16:creationId xmlns:a16="http://schemas.microsoft.com/office/drawing/2014/main" id="{8803AED3-4384-512A-7C57-873F7CB7F42E}"/>
              </a:ext>
            </a:extLst>
          </p:cNvPr>
          <p:cNvSpPr/>
          <p:nvPr/>
        </p:nvSpPr>
        <p:spPr>
          <a:xfrm>
            <a:off x="2379663" y="3643313"/>
            <a:ext cx="542650" cy="242778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+50%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8" name="Овал 147">
            <a:extLst>
              <a:ext uri="{FF2B5EF4-FFF2-40B4-BE49-F238E27FC236}">
                <a16:creationId xmlns:a16="http://schemas.microsoft.com/office/drawing/2014/main" id="{8387556B-8702-8BA0-4284-27664B72A334}"/>
              </a:ext>
            </a:extLst>
          </p:cNvPr>
          <p:cNvSpPr/>
          <p:nvPr/>
        </p:nvSpPr>
        <p:spPr>
          <a:xfrm>
            <a:off x="563563" y="456882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+19%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49" name="Овал 148">
            <a:extLst>
              <a:ext uri="{FF2B5EF4-FFF2-40B4-BE49-F238E27FC236}">
                <a16:creationId xmlns:a16="http://schemas.microsoft.com/office/drawing/2014/main" id="{C8266C2A-4FE5-937C-8C7E-155BB01EA5BE}"/>
              </a:ext>
            </a:extLst>
          </p:cNvPr>
          <p:cNvSpPr/>
          <p:nvPr/>
        </p:nvSpPr>
        <p:spPr>
          <a:xfrm>
            <a:off x="1471613" y="4273550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+28%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0" name="Овал 149">
            <a:extLst>
              <a:ext uri="{FF2B5EF4-FFF2-40B4-BE49-F238E27FC236}">
                <a16:creationId xmlns:a16="http://schemas.microsoft.com/office/drawing/2014/main" id="{3E43B528-3EC0-35E9-3A4B-8DD866D4308F}"/>
              </a:ext>
            </a:extLst>
          </p:cNvPr>
          <p:cNvSpPr/>
          <p:nvPr/>
        </p:nvSpPr>
        <p:spPr>
          <a:xfrm>
            <a:off x="2379663" y="3978275"/>
            <a:ext cx="542650" cy="242778"/>
          </a:xfrm>
          <a:prstGeom prst="ellipse">
            <a:avLst/>
          </a:prstGeom>
          <a:solidFill>
            <a:schemeClr val="bg1"/>
          </a:solidFill>
          <a:ln w="12700">
            <a:solidFill>
              <a:srgbClr val="DFE5E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+21%</a:t>
            </a:r>
            <a:endParaRPr kumimoji="0" lang="ru-RU" sz="9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54774214-B187-CD67-E0FA-280DC69C67F5}"/>
              </a:ext>
            </a:extLst>
          </p:cNvPr>
          <p:cNvSpPr txBox="1"/>
          <p:nvPr/>
        </p:nvSpPr>
        <p:spPr>
          <a:xfrm>
            <a:off x="146050" y="2427288"/>
            <a:ext cx="1289594" cy="688256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0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Быстрорастущие</a:t>
            </a:r>
            <a:r>
              <a:rPr kumimoji="0" lang="ru-RU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сегменты, замещающие </a:t>
            </a:r>
            <a:r>
              <a:rPr kumimoji="0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traditional digital</a:t>
            </a:r>
            <a:endParaRPr kumimoji="0" lang="ru-RU" sz="10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52" name="Левая фигурная скобка 451">
            <a:extLst>
              <a:ext uri="{FF2B5EF4-FFF2-40B4-BE49-F238E27FC236}">
                <a16:creationId xmlns:a16="http://schemas.microsoft.com/office/drawing/2014/main" id="{47B408AC-EF5B-EAD6-E5E0-0F1CACD09953}"/>
              </a:ext>
            </a:extLst>
          </p:cNvPr>
          <p:cNvSpPr/>
          <p:nvPr/>
        </p:nvSpPr>
        <p:spPr>
          <a:xfrm>
            <a:off x="331788" y="3925888"/>
            <a:ext cx="149547" cy="590659"/>
          </a:xfrm>
          <a:prstGeom prst="leftBrac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ru-RU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cxnSp>
        <p:nvCxnSpPr>
          <p:cNvPr id="153" name="Соединитель: уступ 41">
            <a:extLst>
              <a:ext uri="{FF2B5EF4-FFF2-40B4-BE49-F238E27FC236}">
                <a16:creationId xmlns:a16="http://schemas.microsoft.com/office/drawing/2014/main" id="{6008DFB5-F10B-BB98-7543-E46C96ECB806}"/>
              </a:ext>
            </a:extLst>
          </p:cNvPr>
          <p:cNvCxnSpPr>
            <a:cxnSpLocks/>
            <a:endCxn id="152" idx="1"/>
          </p:cNvCxnSpPr>
          <p:nvPr/>
        </p:nvCxnSpPr>
        <p:spPr>
          <a:xfrm rot="16200000" flipH="1">
            <a:off x="-277431" y="3611999"/>
            <a:ext cx="1095192" cy="123246"/>
          </a:xfrm>
          <a:prstGeom prst="bentConnector2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Прямоугольник: скругленные углы 462">
            <a:extLst>
              <a:ext uri="{FF2B5EF4-FFF2-40B4-BE49-F238E27FC236}">
                <a16:creationId xmlns:a16="http://schemas.microsoft.com/office/drawing/2014/main" id="{DCB1416A-1512-6232-F56E-342927FE1AF8}"/>
              </a:ext>
            </a:extLst>
          </p:cNvPr>
          <p:cNvSpPr/>
          <p:nvPr/>
        </p:nvSpPr>
        <p:spPr>
          <a:xfrm>
            <a:off x="8680992" y="1001900"/>
            <a:ext cx="3146833" cy="3394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ru-RU" sz="1600" b="1" kern="0" dirty="0">
                <a:solidFill>
                  <a:sysClr val="windowText" lastClr="000000"/>
                </a:solidFill>
                <a:latin typeface="Arial"/>
                <a:sym typeface="Arial"/>
              </a:rPr>
              <a:t>Комментарии</a:t>
            </a:r>
            <a:endParaRPr kumimoji="0" lang="ru-RU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4596DD25-5FFC-7149-B150-9F36CA0AD1AE}"/>
              </a:ext>
            </a:extLst>
          </p:cNvPr>
          <p:cNvSpPr txBox="1"/>
          <p:nvPr/>
        </p:nvSpPr>
        <p:spPr>
          <a:xfrm>
            <a:off x="8682038" y="1432714"/>
            <a:ext cx="3145787" cy="3704467"/>
          </a:xfrm>
          <a:prstGeom prst="rect">
            <a:avLst/>
          </a:prstGeom>
          <a:noFill/>
        </p:spPr>
        <p:txBody>
          <a:bodyPr wrap="square" lIns="0" tIns="36000" rIns="36000" bIns="36000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Ключевым драйвером рынка является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Retail Media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с высокой долей 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e-com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Ozon &amp; WB 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90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%</a:t>
            </a:r>
            <a:r>
              <a:rPr kumimoji="0" lang="ru-RU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+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)</a:t>
            </a:r>
            <a:endParaRPr lang="ru-RU" sz="14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lang="ru-RU" sz="1400" dirty="0">
                <a:solidFill>
                  <a:srgbClr val="000000"/>
                </a:solidFill>
              </a:rPr>
              <a:t>Позиция Magnit </a:t>
            </a:r>
            <a:r>
              <a:rPr lang="ru-RU" sz="1400" dirty="0" err="1">
                <a:solidFill>
                  <a:srgbClr val="000000"/>
                </a:solidFill>
              </a:rPr>
              <a:t>AdTech</a:t>
            </a:r>
            <a:r>
              <a:rPr lang="ru-RU" sz="1400" dirty="0">
                <a:solidFill>
                  <a:srgbClr val="000000"/>
                </a:solidFill>
              </a:rPr>
              <a:t> в 2027 г.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всем рекламном рынке: 0,5% (0,4% в 2026 г.)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Aft>
                <a:spcPts val="1200"/>
              </a:spcAft>
              <a:buClr>
                <a:srgbClr val="000000"/>
              </a:buClr>
              <a:buSzTx/>
              <a:buFont typeface="+mj-lt"/>
              <a:buAutoNum type="arabicPeriod"/>
              <a:tabLst/>
              <a:defRPr/>
            </a:pPr>
            <a:r>
              <a:rPr kumimoji="0" lang="ru-RU" sz="140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/>
                <a:cs typeface="Arial"/>
                <a:sym typeface="Arial"/>
              </a:rPr>
              <a:t>Вторым крупным рекламным рынком по темпам роста является </a:t>
            </a: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Influence</a:t>
            </a:r>
            <a:r>
              <a:rPr kumimoji="0" lang="ru-RU" sz="1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-маркетинг, который растет +30% </a:t>
            </a:r>
            <a:r>
              <a:rPr lang="en-US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YoY</a:t>
            </a:r>
            <a:r>
              <a:rPr lang="ru-RU" sz="1400" b="1" kern="0" dirty="0">
                <a:solidFill>
                  <a:schemeClr val="tx2"/>
                </a:solidFill>
                <a:latin typeface="Arial"/>
                <a:cs typeface="Arial"/>
                <a:sym typeface="Arial"/>
              </a:rPr>
              <a:t>, </a:t>
            </a:r>
            <a:r>
              <a:rPr lang="ru-RU" sz="1400" kern="0" dirty="0">
                <a:latin typeface="Arial"/>
                <a:cs typeface="Arial"/>
                <a:sym typeface="Arial"/>
              </a:rPr>
              <a:t>опережая по темпам роста традиционный </a:t>
            </a:r>
            <a:r>
              <a:rPr lang="en-US" sz="1400" kern="0" dirty="0">
                <a:latin typeface="Arial"/>
                <a:cs typeface="Arial"/>
                <a:sym typeface="Arial"/>
              </a:rPr>
              <a:t>digital (+15% YoY)</a:t>
            </a:r>
            <a:endParaRPr kumimoji="0" lang="en-US" sz="140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2906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30666E-5DDA-7C37-E83B-3CD387FA1F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19251" y="6212037"/>
            <a:ext cx="9277350" cy="498376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1. Оценка </a:t>
            </a:r>
            <a:r>
              <a:rPr lang="en" dirty="0">
                <a:solidFill>
                  <a:srgbClr val="6E6E6E"/>
                </a:solidFill>
              </a:rPr>
              <a:t>Magnit ADS, </a:t>
            </a:r>
            <a:r>
              <a:rPr lang="ru-RU" dirty="0">
                <a:solidFill>
                  <a:srgbClr val="6E6E6E"/>
                </a:solidFill>
              </a:rPr>
              <a:t>исходя из аналитических данных по «белым» инвестициям в </a:t>
            </a:r>
            <a:r>
              <a:rPr lang="ru-RU" dirty="0" err="1">
                <a:solidFill>
                  <a:srgbClr val="6E6E6E"/>
                </a:solidFill>
              </a:rPr>
              <a:t>инфлюенс</a:t>
            </a:r>
            <a:r>
              <a:rPr lang="ru-RU" dirty="0">
                <a:solidFill>
                  <a:srgbClr val="6E6E6E"/>
                </a:solidFill>
              </a:rPr>
              <a:t>-маркетинг и приблизительной оценки «серых» инвестиций без маркировки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2. АКАР, «Постмаркетинг» </a:t>
            </a:r>
          </a:p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Источники: Ads Market Calc (внутренняя оценка рынка), отчетность X5, Data Insight, стратегия Magnit </a:t>
            </a:r>
            <a:r>
              <a:rPr lang="ru-RU" dirty="0" err="1">
                <a:solidFill>
                  <a:srgbClr val="6E6E6E"/>
                </a:solidFill>
              </a:rPr>
              <a:t>AdTech</a:t>
            </a:r>
            <a:r>
              <a:rPr lang="ru-RU" dirty="0">
                <a:solidFill>
                  <a:srgbClr val="6E6E6E"/>
                </a:solidFill>
              </a:rPr>
              <a:t> 2026-2031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— 42% рекламного рынка 2027 г.: Magnit ADS растёт на внутреннем и внешнем инвентаре</a:t>
            </a:r>
          </a:p>
        </p:txBody>
      </p:sp>
      <p:sp>
        <p:nvSpPr>
          <p:cNvPr id="1001" name="ES market card"/>
          <p:cNvSpPr/>
          <p:nvPr/>
        </p:nvSpPr>
        <p:spPr>
          <a:xfrm>
            <a:off x="368300" y="911225"/>
            <a:ext cx="3600000" cy="508000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2" name="ADS 1002"/>
          <p:cNvSpPr txBox="1"/>
          <p:nvPr/>
        </p:nvSpPr>
        <p:spPr>
          <a:xfrm>
            <a:off x="528300" y="1041225"/>
            <a:ext cx="328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Рынок и конкуренты</a:t>
            </a:r>
            <a:endParaRPr lang="ru-RU" sz="1200" dirty="0"/>
          </a:p>
        </p:txBody>
      </p:sp>
      <p:sp>
        <p:nvSpPr>
          <p:cNvPr id="1003" name="ADS 1003"/>
          <p:cNvSpPr/>
          <p:nvPr/>
        </p:nvSpPr>
        <p:spPr>
          <a:xfrm>
            <a:off x="528300" y="138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4" name="ADS 1004"/>
          <p:cNvSpPr/>
          <p:nvPr/>
        </p:nvSpPr>
        <p:spPr>
          <a:xfrm>
            <a:off x="5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5" name="ADS 1005"/>
          <p:cNvSpPr txBox="1"/>
          <p:nvPr/>
        </p:nvSpPr>
        <p:spPr>
          <a:xfrm>
            <a:off x="6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2,9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dirty="0">
                <a:solidFill>
                  <a:srgbClr val="7F7F7F"/>
                </a:solidFill>
                <a:latin typeface="Arial"/>
                <a:cs typeface="Arial"/>
              </a:rPr>
              <a:t>Прогноз </a:t>
            </a: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рекламного рынка в РФ 2027 г.</a:t>
            </a:r>
            <a:endParaRPr lang="ru-RU" sz="1200" dirty="0"/>
          </a:p>
        </p:txBody>
      </p:sp>
      <p:sp>
        <p:nvSpPr>
          <p:cNvPr id="1006" name="ADS 1006"/>
          <p:cNvSpPr/>
          <p:nvPr/>
        </p:nvSpPr>
        <p:spPr>
          <a:xfrm>
            <a:off x="2228300" y="1491225"/>
            <a:ext cx="1580000" cy="86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07" name="ADS 1007"/>
          <p:cNvSpPr txBox="1"/>
          <p:nvPr/>
        </p:nvSpPr>
        <p:spPr>
          <a:xfrm>
            <a:off x="2318300" y="1551225"/>
            <a:ext cx="140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1,2 трлн руб.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Retail Media 2027 - 42% рынка</a:t>
            </a:r>
            <a:endParaRPr lang="ru-RU" sz="1200" dirty="0"/>
          </a:p>
        </p:txBody>
      </p:sp>
      <p:sp>
        <p:nvSpPr>
          <p:cNvPr id="1008" name="ADS 1008"/>
          <p:cNvSpPr txBox="1"/>
          <p:nvPr/>
        </p:nvSpPr>
        <p:spPr>
          <a:xfrm>
            <a:off x="528300" y="2471225"/>
            <a:ext cx="328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Рост сегментов в 2027 г., YoY</a:t>
            </a:r>
            <a:endParaRPr lang="ru-RU" sz="1200" dirty="0"/>
          </a:p>
        </p:txBody>
      </p:sp>
      <p:sp>
        <p:nvSpPr>
          <p:cNvPr id="1009" name="ADS 1009"/>
          <p:cNvSpPr txBox="1"/>
          <p:nvPr/>
        </p:nvSpPr>
        <p:spPr>
          <a:xfrm>
            <a:off x="528300" y="275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Retail Media</a:t>
            </a:r>
            <a:endParaRPr lang="ru-RU" sz="1200" dirty="0"/>
          </a:p>
        </p:txBody>
      </p:sp>
      <p:sp>
        <p:nvSpPr>
          <p:cNvPr id="1010" name="ADS 1010"/>
          <p:cNvSpPr/>
          <p:nvPr/>
        </p:nvSpPr>
        <p:spPr>
          <a:xfrm>
            <a:off x="1778300" y="2791225"/>
            <a:ext cx="1510000" cy="18000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1" name="ADS 1011"/>
          <p:cNvSpPr txBox="1"/>
          <p:nvPr/>
        </p:nvSpPr>
        <p:spPr>
          <a:xfrm>
            <a:off x="3348300" y="275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+50%</a:t>
            </a:r>
            <a:endParaRPr lang="ru-RU" sz="1200" dirty="0"/>
          </a:p>
        </p:txBody>
      </p:sp>
      <p:sp>
        <p:nvSpPr>
          <p:cNvPr id="1012" name="ADS 1012"/>
          <p:cNvSpPr txBox="1"/>
          <p:nvPr/>
        </p:nvSpPr>
        <p:spPr>
          <a:xfrm>
            <a:off x="528300" y="308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Influence</a:t>
            </a:r>
            <a:endParaRPr lang="ru-RU" sz="1200" dirty="0"/>
          </a:p>
        </p:txBody>
      </p:sp>
      <p:sp>
        <p:nvSpPr>
          <p:cNvPr id="1013" name="ADS 1013"/>
          <p:cNvSpPr/>
          <p:nvPr/>
        </p:nvSpPr>
        <p:spPr>
          <a:xfrm>
            <a:off x="1778299" y="3121225"/>
            <a:ext cx="955069" cy="180000"/>
          </a:xfrm>
          <a:prstGeom prst="rect">
            <a:avLst/>
          </a:prstGeom>
          <a:solidFill>
            <a:srgbClr val="FEA296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4" name="ADS 1014"/>
          <p:cNvSpPr txBox="1"/>
          <p:nvPr/>
        </p:nvSpPr>
        <p:spPr>
          <a:xfrm>
            <a:off x="2800100" y="308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+30%</a:t>
            </a:r>
            <a:r>
              <a:rPr lang="ru-RU" sz="1000" b="1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</p:txBody>
      </p:sp>
      <p:sp>
        <p:nvSpPr>
          <p:cNvPr id="1015" name="ADS 1015"/>
          <p:cNvSpPr txBox="1"/>
          <p:nvPr/>
        </p:nvSpPr>
        <p:spPr>
          <a:xfrm>
            <a:off x="528300" y="3411225"/>
            <a:ext cx="125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Traditional digital</a:t>
            </a:r>
            <a:endParaRPr lang="ru-RU" sz="1200" dirty="0"/>
          </a:p>
        </p:txBody>
      </p:sp>
      <p:sp>
        <p:nvSpPr>
          <p:cNvPr id="1016" name="ADS 1016"/>
          <p:cNvSpPr/>
          <p:nvPr/>
        </p:nvSpPr>
        <p:spPr>
          <a:xfrm>
            <a:off x="1778300" y="3451225"/>
            <a:ext cx="453000" cy="180000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7" name="ADS 1017"/>
          <p:cNvSpPr txBox="1"/>
          <p:nvPr/>
        </p:nvSpPr>
        <p:spPr>
          <a:xfrm>
            <a:off x="2291300" y="3411225"/>
            <a:ext cx="46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+15%</a:t>
            </a:r>
            <a:endParaRPr lang="ru-RU" sz="1200" dirty="0"/>
          </a:p>
        </p:txBody>
      </p:sp>
      <p:sp>
        <p:nvSpPr>
          <p:cNvPr id="1018" name="ADS 1018"/>
          <p:cNvSpPr/>
          <p:nvPr/>
        </p:nvSpPr>
        <p:spPr>
          <a:xfrm>
            <a:off x="528300" y="3811225"/>
            <a:ext cx="32800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9" name="ADS 1019"/>
          <p:cNvSpPr txBox="1"/>
          <p:nvPr/>
        </p:nvSpPr>
        <p:spPr>
          <a:xfrm>
            <a:off x="528300" y="3901225"/>
            <a:ext cx="3280000" cy="2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Рынок традиционного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digital</a:t>
            </a: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 растет темпами медиаинфляции (+15% </a:t>
            </a:r>
            <a:r>
              <a:rPr lang="en-US" sz="1100" b="0" dirty="0">
                <a:solidFill>
                  <a:srgbClr val="000000"/>
                </a:solidFill>
                <a:latin typeface="Arial"/>
                <a:cs typeface="Arial"/>
              </a:rPr>
              <a:t>YoY)</a:t>
            </a:r>
            <a:endParaRPr lang="ru-RU" sz="1100" b="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Топ-150 рекламодателей сократили расходы на 11% - бюджеты уходят в каналы с доказуемым эффектом</a:t>
            </a:r>
            <a:r>
              <a:rPr lang="ru-RU" sz="1100" b="0" baseline="30000" dirty="0">
                <a:solidFill>
                  <a:srgbClr val="000000"/>
                </a:solidFill>
                <a:latin typeface="Arial"/>
                <a:cs typeface="Arial"/>
              </a:rPr>
              <a:t>1</a:t>
            </a:r>
            <a:endParaRPr lang="ru-RU" sz="1200" baseline="30000" dirty="0"/>
          </a:p>
          <a:p>
            <a:pPr marL="171450" indent="-171450" algn="l">
              <a:spcAft>
                <a:spcPts val="60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X5, Яндекс и маркетплейсы фокусируются на Retail Media; маркетплейсы уже заняли 90%+ рынка Retail Media</a:t>
            </a:r>
            <a:endParaRPr lang="ru-RU" sz="1200" dirty="0"/>
          </a:p>
        </p:txBody>
      </p:sp>
      <p:sp>
        <p:nvSpPr>
          <p:cNvPr id="1020" name="ES initiatives card"/>
          <p:cNvSpPr/>
          <p:nvPr/>
        </p:nvSpPr>
        <p:spPr>
          <a:xfrm>
            <a:off x="4218300" y="911225"/>
            <a:ext cx="76054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1" name="ADS 1021"/>
          <p:cNvSpPr txBox="1"/>
          <p:nvPr/>
        </p:nvSpPr>
        <p:spPr>
          <a:xfrm>
            <a:off x="4378300" y="1041225"/>
            <a:ext cx="72854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Ключевые драйверы рекламной выручки Magnit ADS в 2027 г.</a:t>
            </a:r>
            <a:endParaRPr lang="ru-RU" sz="1200" dirty="0"/>
          </a:p>
        </p:txBody>
      </p:sp>
      <p:sp>
        <p:nvSpPr>
          <p:cNvPr id="1022" name="ADS 1022"/>
          <p:cNvSpPr/>
          <p:nvPr/>
        </p:nvSpPr>
        <p:spPr>
          <a:xfrm>
            <a:off x="4378300" y="1381225"/>
            <a:ext cx="72854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3" name="ADS 1023"/>
          <p:cNvSpPr txBox="1"/>
          <p:nvPr/>
        </p:nvSpPr>
        <p:spPr>
          <a:xfrm>
            <a:off x="4378300" y="1451225"/>
            <a:ext cx="20000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инвентаря </a:t>
            </a:r>
            <a:endParaRPr lang="ru-RU" sz="1200" dirty="0"/>
          </a:p>
        </p:txBody>
      </p:sp>
      <p:sp>
        <p:nvSpPr>
          <p:cNvPr id="1024" name="ADS 1024"/>
          <p:cNvSpPr/>
          <p:nvPr/>
        </p:nvSpPr>
        <p:spPr>
          <a:xfrm>
            <a:off x="43783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Внутренний</a:t>
            </a:r>
            <a:endParaRPr lang="ru-RU" sz="1200" dirty="0"/>
          </a:p>
        </p:txBody>
      </p:sp>
      <p:sp>
        <p:nvSpPr>
          <p:cNvPr id="1025" name="ADS 1025"/>
          <p:cNvSpPr/>
          <p:nvPr/>
        </p:nvSpPr>
        <p:spPr>
          <a:xfrm>
            <a:off x="43783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6" name="ADS 1026"/>
          <p:cNvSpPr txBox="1"/>
          <p:nvPr/>
        </p:nvSpPr>
        <p:spPr>
          <a:xfrm>
            <a:off x="44583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Медиа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4 864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+22%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Наибольший объем, маржа 100%</a:t>
            </a:r>
            <a:endParaRPr lang="ru-RU" sz="1200" dirty="0"/>
          </a:p>
        </p:txBody>
      </p:sp>
      <p:sp>
        <p:nvSpPr>
          <p:cNvPr id="1027" name="ADS 1027"/>
          <p:cNvSpPr/>
          <p:nvPr/>
        </p:nvSpPr>
        <p:spPr>
          <a:xfrm>
            <a:off x="55892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28" name="ADS 1028"/>
          <p:cNvSpPr txBox="1"/>
          <p:nvPr/>
        </p:nvSpPr>
        <p:spPr>
          <a:xfrm>
            <a:off x="56692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Перформанс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2 832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+29%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Ключевая ставка 2027: аукцион в поиске и рекомендациях</a:t>
            </a:r>
            <a:endParaRPr lang="ru-RU" sz="1200" dirty="0"/>
          </a:p>
        </p:txBody>
      </p:sp>
      <p:sp>
        <p:nvSpPr>
          <p:cNvPr id="1029" name="ADS 1029"/>
          <p:cNvSpPr/>
          <p:nvPr/>
        </p:nvSpPr>
        <p:spPr>
          <a:xfrm>
            <a:off x="68001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0" name="ADS 1030"/>
          <p:cNvSpPr txBox="1"/>
          <p:nvPr/>
        </p:nvSpPr>
        <p:spPr>
          <a:xfrm>
            <a:off x="68801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In-store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3 931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+61%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Масштабируем самый перспективный инвентарь</a:t>
            </a:r>
            <a:endParaRPr lang="ru-RU" sz="1200" dirty="0"/>
          </a:p>
        </p:txBody>
      </p:sp>
      <p:sp>
        <p:nvSpPr>
          <p:cNvPr id="1031" name="ADS 1031"/>
          <p:cNvSpPr/>
          <p:nvPr/>
        </p:nvSpPr>
        <p:spPr>
          <a:xfrm>
            <a:off x="8121000" y="1721225"/>
            <a:ext cx="3542700" cy="250000"/>
          </a:xfrm>
          <a:prstGeom prst="roundRect">
            <a:avLst>
              <a:gd name="adj" fmla="val 3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Внешний</a:t>
            </a:r>
            <a:endParaRPr lang="ru-RU" sz="1200" dirty="0"/>
          </a:p>
        </p:txBody>
      </p:sp>
      <p:sp>
        <p:nvSpPr>
          <p:cNvPr id="1032" name="ADS 1032"/>
          <p:cNvSpPr/>
          <p:nvPr/>
        </p:nvSpPr>
        <p:spPr>
          <a:xfrm>
            <a:off x="93319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3" name="ADS 1033"/>
          <p:cNvSpPr txBox="1"/>
          <p:nvPr/>
        </p:nvSpPr>
        <p:spPr>
          <a:xfrm>
            <a:off x="94119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RMN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850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+43%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Бренд-бюджеты через внешнее ЮЛ с Дикси и Азбукой Вкуса</a:t>
            </a:r>
            <a:endParaRPr lang="ru-RU" sz="1200" dirty="0"/>
          </a:p>
        </p:txBody>
      </p:sp>
      <p:sp>
        <p:nvSpPr>
          <p:cNvPr id="1034" name="ADS 1034"/>
          <p:cNvSpPr/>
          <p:nvPr/>
        </p:nvSpPr>
        <p:spPr>
          <a:xfrm>
            <a:off x="105428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5" name="ADS 1035"/>
          <p:cNvSpPr txBox="1"/>
          <p:nvPr/>
        </p:nvSpPr>
        <p:spPr>
          <a:xfrm>
            <a:off x="106228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UGC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213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новое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Social commerce и контент-завод</a:t>
            </a:r>
            <a:endParaRPr lang="ru-RU" sz="1200" dirty="0"/>
          </a:p>
        </p:txBody>
      </p:sp>
      <p:sp>
        <p:nvSpPr>
          <p:cNvPr id="1036" name="ADS 1036"/>
          <p:cNvSpPr/>
          <p:nvPr/>
        </p:nvSpPr>
        <p:spPr>
          <a:xfrm>
            <a:off x="8121000" y="2051225"/>
            <a:ext cx="1120900" cy="188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37" name="ADS 1037"/>
          <p:cNvSpPr txBox="1"/>
          <p:nvPr/>
        </p:nvSpPr>
        <p:spPr>
          <a:xfrm>
            <a:off x="8201000" y="2141225"/>
            <a:ext cx="960900" cy="1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DMP + Online</a:t>
            </a:r>
            <a:endParaRPr lang="ru-RU" sz="1200" dirty="0"/>
          </a:p>
          <a:p>
            <a:pPr marL="0" indent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 b="1" dirty="0">
                <a:solidFill>
                  <a:srgbClr val="FF452C"/>
                </a:solidFill>
                <a:latin typeface="Arial"/>
                <a:cs typeface="Arial"/>
              </a:rPr>
              <a:t>1 787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млн руб. 2027</a:t>
            </a:r>
            <a:endParaRPr lang="ru-RU" sz="1200" dirty="0"/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+64%</a:t>
            </a:r>
            <a:endParaRPr lang="ru-RU" sz="1200" dirty="0"/>
          </a:p>
          <a:p>
            <a:pPr marL="0" indent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Данные Магнита </a:t>
            </a:r>
            <a:b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на внешних площадках</a:t>
            </a:r>
            <a:endParaRPr lang="ru-RU" sz="1200" dirty="0"/>
          </a:p>
        </p:txBody>
      </p:sp>
      <p:sp>
        <p:nvSpPr>
          <p:cNvPr id="1038" name="ADS 1038"/>
          <p:cNvSpPr txBox="1"/>
          <p:nvPr/>
        </p:nvSpPr>
        <p:spPr>
          <a:xfrm>
            <a:off x="4378300" y="4155825"/>
            <a:ext cx="16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 типам бюджета</a:t>
            </a:r>
            <a:endParaRPr lang="ru-RU" sz="1200" dirty="0"/>
          </a:p>
        </p:txBody>
      </p:sp>
      <p:sp>
        <p:nvSpPr>
          <p:cNvPr id="1040" name="ADS 1040"/>
          <p:cNvSpPr/>
          <p:nvPr/>
        </p:nvSpPr>
        <p:spPr>
          <a:xfrm>
            <a:off x="4378300" y="4441225"/>
            <a:ext cx="48636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1" name="ADS 1041"/>
          <p:cNvSpPr txBox="1"/>
          <p:nvPr/>
        </p:nvSpPr>
        <p:spPr>
          <a:xfrm>
            <a:off x="4498300" y="4531225"/>
            <a:ext cx="4635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13 414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Продаем через Коммерцию форматов; AdTech - сервисная функция: создает инвентарь, повышает его результативность, ведет кампании и отчетность</a:t>
            </a:r>
            <a:endParaRPr lang="ru-RU" sz="1200" dirty="0"/>
          </a:p>
        </p:txBody>
      </p:sp>
      <p:sp>
        <p:nvSpPr>
          <p:cNvPr id="1043" name="ADS 1043"/>
          <p:cNvSpPr/>
          <p:nvPr/>
        </p:nvSpPr>
        <p:spPr>
          <a:xfrm>
            <a:off x="9331900" y="4441225"/>
            <a:ext cx="2331800" cy="14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452C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4" name="ADS 1044"/>
          <p:cNvSpPr txBox="1"/>
          <p:nvPr/>
        </p:nvSpPr>
        <p:spPr>
          <a:xfrm>
            <a:off x="9446200" y="4531225"/>
            <a:ext cx="2103200" cy="14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  <a:p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000000"/>
                </a:solidFill>
                <a:latin typeface="Arial"/>
                <a:cs typeface="Arial"/>
              </a:rPr>
              <a:t>1 064 млн руб. 2027</a:t>
            </a:r>
            <a:endParaRPr lang="ru-RU" sz="1200" dirty="0"/>
          </a:p>
          <a:p>
            <a:pPr marL="0" indent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Через внешнее ЮЛ Магнит Маркета: охваты как альтернатива ТВ, OOH и digital</a:t>
            </a:r>
            <a:endParaRPr lang="ru-RU" sz="1200" dirty="0"/>
          </a:p>
        </p:txBody>
      </p:sp>
      <p:sp>
        <p:nvSpPr>
          <p:cNvPr id="5" name="Открывающая фигурная скобка 4">
            <a:extLst>
              <a:ext uri="{FF2B5EF4-FFF2-40B4-BE49-F238E27FC236}">
                <a16:creationId xmlns:a16="http://schemas.microsoft.com/office/drawing/2014/main" id="{58000670-BDE9-3BE9-B0FB-3C9E24723090}"/>
              </a:ext>
            </a:extLst>
          </p:cNvPr>
          <p:cNvSpPr/>
          <p:nvPr/>
        </p:nvSpPr>
        <p:spPr>
          <a:xfrm rot="16200000">
            <a:off x="6685101" y="1675161"/>
            <a:ext cx="249999" cy="48636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ткрывающая фигурная скобка 7">
            <a:extLst>
              <a:ext uri="{FF2B5EF4-FFF2-40B4-BE49-F238E27FC236}">
                <a16:creationId xmlns:a16="http://schemas.microsoft.com/office/drawing/2014/main" id="{74A3962A-9E63-C9E3-9261-3F329B6E46B6}"/>
              </a:ext>
            </a:extLst>
          </p:cNvPr>
          <p:cNvSpPr/>
          <p:nvPr/>
        </p:nvSpPr>
        <p:spPr>
          <a:xfrm rot="16200000">
            <a:off x="10372801" y="2941061"/>
            <a:ext cx="249999" cy="2331800"/>
          </a:xfrm>
          <a:prstGeom prst="leftBrace">
            <a:avLst>
              <a:gd name="adj1" fmla="val 40538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8608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E97DD0-DD89-B103-A00E-EEABC3FD28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E — прогноз. Доля AdTech = выручка AdTech / объём Retail Media. Источник: Ads Market Calc (внутренняя оценка рынка Magnit ADS), отчётность X5, Data Insight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0AF99F-E03A-625D-D459-F6FC0D9D8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62FE-4B9D-C536-072E-BEB6A9B93F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Retail Media в 2027 г. вырастет на 35%, до 1,2 трлн руб.;</a:t>
            </a:r>
            <a:br>
              <a:rPr lang="ru-RU" dirty="0"/>
            </a:br>
            <a:r>
              <a:rPr lang="ru-RU" dirty="0"/>
              <a:t>AdTech растёт быстрее рынка — на 40%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079500"/>
          <a:ext cx="5969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0" name="Shape 200"/>
          <p:cNvSpPr txBox="1"/>
          <p:nvPr/>
        </p:nvSpPr>
        <p:spPr>
          <a:xfrm>
            <a:off x="368300" y="10033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anchor="t">
            <a:noAutofit/>
          </a:bodyPr>
          <a:lstStyle/>
          <a:p>
            <a:r>
              <a:rPr lang="ru-RU" sz="1600" b="1" dirty="0">
                <a:solidFill>
                  <a:srgbClr val="000000"/>
                </a:solidFill>
              </a:rPr>
              <a:t>Объём рынка Retail Media в России, млрд руб.</a:t>
            </a:r>
          </a:p>
        </p:txBody>
      </p:sp>
      <p:sp>
        <p:nvSpPr>
          <p:cNvPr id="201" name="Shape 201"/>
          <p:cNvSpPr txBox="1"/>
          <p:nvPr/>
        </p:nvSpPr>
        <p:spPr>
          <a:xfrm>
            <a:off x="6604000" y="1016000"/>
            <a:ext cx="5219700" cy="50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Рынок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Рекламный рынок РФ: </a:t>
            </a:r>
            <a:r>
              <a:rPr lang="ru-RU" sz="1400" b="1" dirty="0">
                <a:solidFill>
                  <a:srgbClr val="000000"/>
                </a:solidFill>
              </a:rPr>
              <a:t>2,9 трлн руб.</a:t>
            </a:r>
            <a:r>
              <a:rPr lang="ru-RU" sz="1400" dirty="0">
                <a:solidFill>
                  <a:srgbClr val="000000"/>
                </a:solidFill>
              </a:rPr>
              <a:t> в 2027 г. (+22%)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— </a:t>
            </a:r>
            <a:r>
              <a:rPr lang="ru-RU" sz="1400" b="1" dirty="0">
                <a:solidFill>
                  <a:srgbClr val="000000"/>
                </a:solidFill>
              </a:rPr>
              <a:t>42%</a:t>
            </a:r>
            <a:r>
              <a:rPr lang="ru-RU" sz="1400" dirty="0">
                <a:solidFill>
                  <a:srgbClr val="000000"/>
                </a:solidFill>
              </a:rPr>
              <a:t> рынка и самый быстрорастущий сегмент; traditional digital растёт на 15%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Маркетплейсы занимают более 90% Retail Media; X5, Яндекс и маркетплейсы усиливают фокус на сегменте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Позиция Magnit AdTech в 2027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</a:t>
            </a:r>
            <a:r>
              <a:rPr lang="ru-RU" sz="1400" b="1" dirty="0">
                <a:solidFill>
                  <a:srgbClr val="000000"/>
                </a:solidFill>
              </a:rPr>
              <a:t>14,5 млрд руб.</a:t>
            </a:r>
            <a:r>
              <a:rPr lang="ru-RU" sz="1400" dirty="0">
                <a:solidFill>
                  <a:srgbClr val="000000"/>
                </a:solidFill>
              </a:rPr>
              <a:t> (+40%) — около 1,2% Retail Media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Доля во всём рекламном рынке: </a:t>
            </a:r>
            <a:r>
              <a:rPr lang="ru-RU" sz="1400" b="1" dirty="0">
                <a:solidFill>
                  <a:srgbClr val="000000"/>
                </a:solidFill>
              </a:rPr>
              <a:t>0,5%</a:t>
            </a:r>
            <a:r>
              <a:rPr lang="ru-RU" sz="1400" dirty="0">
                <a:solidFill>
                  <a:srgbClr val="000000"/>
                </a:solidFill>
              </a:rPr>
              <a:t> (0,4% в 2026 г.)</a:t>
            </a:r>
          </a:p>
        </p:txBody>
      </p:sp>
      <p:grpSp>
        <p:nvGrpSpPr>
          <p:cNvPr id="202" name="GrowthArrow f5 0"/>
          <p:cNvGrpSpPr/>
          <p:nvPr/>
        </p:nvGrpSpPr>
        <p:grpSpPr>
          <a:xfrm>
            <a:off x="1522720" y="2790994"/>
            <a:ext cx="1750080" cy="1041911"/>
            <a:chOff x="1522720" y="2790994"/>
            <a:chExt cx="1750080" cy="1041911"/>
          </a:xfrm>
        </p:grpSpPr>
        <p:cxnSp>
          <p:nvCxnSpPr>
            <p:cNvPr id="203" name="GrowthArrow f5 0 rise"/>
            <p:cNvCxnSpPr/>
            <p:nvPr/>
          </p:nvCxnSpPr>
          <p:spPr>
            <a:xfrm flipV="1">
              <a:off x="1522720" y="2915994"/>
              <a:ext cx="1" cy="91691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4" name="GrowthArrow f5 0 line"/>
            <p:cNvCxnSpPr/>
            <p:nvPr/>
          </p:nvCxnSpPr>
          <p:spPr>
            <a:xfrm>
              <a:off x="1522720" y="2915994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5" name="GrowthArrow f5 0 drop"/>
            <p:cNvCxnSpPr/>
            <p:nvPr/>
          </p:nvCxnSpPr>
          <p:spPr>
            <a:xfrm>
              <a:off x="3272800" y="2915994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06" name="GrowthArrow f5 0 label"/>
            <p:cNvSpPr txBox="1"/>
            <p:nvPr/>
          </p:nvSpPr>
          <p:spPr>
            <a:xfrm>
              <a:off x="2104560" y="2790994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+53%</a:t>
              </a:r>
            </a:p>
          </p:txBody>
        </p:sp>
      </p:grpSp>
      <p:grpSp>
        <p:nvGrpSpPr>
          <p:cNvPr id="207" name="GrowthArrow f5 1"/>
          <p:cNvGrpSpPr/>
          <p:nvPr/>
        </p:nvGrpSpPr>
        <p:grpSpPr>
          <a:xfrm>
            <a:off x="3432800" y="2074460"/>
            <a:ext cx="1750080" cy="1046534"/>
            <a:chOff x="3432800" y="2074460"/>
            <a:chExt cx="1750080" cy="1046534"/>
          </a:xfrm>
        </p:grpSpPr>
        <p:cxnSp>
          <p:nvCxnSpPr>
            <p:cNvPr id="208" name="GrowthArrow f5 1 rise"/>
            <p:cNvCxnSpPr/>
            <p:nvPr/>
          </p:nvCxnSpPr>
          <p:spPr>
            <a:xfrm flipV="1">
              <a:off x="3432800" y="2199460"/>
              <a:ext cx="1" cy="921534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09" name="GrowthArrow f5 1 line"/>
            <p:cNvCxnSpPr/>
            <p:nvPr/>
          </p:nvCxnSpPr>
          <p:spPr>
            <a:xfrm>
              <a:off x="3432800" y="2199460"/>
              <a:ext cx="175008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210" name="GrowthArrow f5 1 drop"/>
            <p:cNvCxnSpPr/>
            <p:nvPr/>
          </p:nvCxnSpPr>
          <p:spPr>
            <a:xfrm>
              <a:off x="5182880" y="2199460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211" name="GrowthArrow f5 1 label"/>
            <p:cNvSpPr txBox="1"/>
            <p:nvPr/>
          </p:nvSpPr>
          <p:spPr>
            <a:xfrm>
              <a:off x="4014640" y="2074460"/>
              <a:ext cx="5864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 dirty="0">
                  <a:solidFill>
                    <a:srgbClr val="000000"/>
                  </a:solidFill>
                  <a:latin typeface="Arial"/>
                </a:rPr>
                <a:t>+35%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8436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think-cell data - do not delete" hidden="1">
            <a:extLst>
              <a:ext uri="{FF2B5EF4-FFF2-40B4-BE49-F238E27FC236}">
                <a16:creationId xmlns:a16="http://schemas.microsoft.com/office/drawing/2014/main" id="{4910A7A2-3A49-6B6B-FA02-CFB97075C82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154309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42" imgW="7772400" imgH="10058400" progId="TCLayout.ActiveDocument.1">
                  <p:embed/>
                </p:oleObj>
              </mc:Choice>
              <mc:Fallback>
                <p:oleObj name="Слайд think-cell" r:id="rId42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1. </a:t>
            </a:r>
            <a:r>
              <a:rPr dirty="0" err="1">
                <a:solidFill>
                  <a:srgbClr val="6E6E6E"/>
                </a:solidFill>
              </a:rPr>
              <a:t>Доля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коммерческом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инвентаре</a:t>
            </a:r>
            <a:r>
              <a:rPr dirty="0">
                <a:solidFill>
                  <a:srgbClr val="6E6E6E"/>
                </a:solidFill>
              </a:rPr>
              <a:t> AdTech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учетом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эффекта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платформы</a:t>
            </a:r>
            <a:r>
              <a:rPr dirty="0">
                <a:solidFill>
                  <a:srgbClr val="6E6E6E"/>
                </a:solidFill>
              </a:rPr>
              <a:t>. 2026-2027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бюджет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рекламной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выручки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трейд-бюджетов</a:t>
            </a:r>
            <a:r>
              <a:rPr dirty="0">
                <a:solidFill>
                  <a:srgbClr val="6E6E6E"/>
                </a:solidFill>
              </a:rPr>
              <a:t> (APP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in-store), 2028-2030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 - </a:t>
            </a:r>
            <a:r>
              <a:rPr dirty="0" err="1">
                <a:solidFill>
                  <a:srgbClr val="6E6E6E"/>
                </a:solidFill>
              </a:rPr>
              <a:t>модель</a:t>
            </a:r>
            <a:r>
              <a:rPr dirty="0">
                <a:solidFill>
                  <a:srgbClr val="6E6E6E"/>
                </a:solidFill>
              </a:rPr>
              <a:t>; </a:t>
            </a:r>
            <a:r>
              <a:rPr dirty="0" err="1">
                <a:solidFill>
                  <a:srgbClr val="6E6E6E"/>
                </a:solidFill>
              </a:rPr>
              <a:t>без</a:t>
            </a:r>
            <a:r>
              <a:rPr dirty="0">
                <a:solidFill>
                  <a:srgbClr val="6E6E6E"/>
                </a:solidFill>
              </a:rPr>
              <a:t> RMN, UGC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DMP + Online. </a:t>
            </a:r>
            <a:r>
              <a:rPr dirty="0" err="1">
                <a:solidFill>
                  <a:srgbClr val="6E6E6E"/>
                </a:solidFill>
              </a:rPr>
              <a:t>Капасити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денежная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емкость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инвентаря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коммерческая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часть</a:t>
            </a:r>
            <a:r>
              <a:rPr dirty="0">
                <a:solidFill>
                  <a:srgbClr val="6E6E6E"/>
                </a:solidFill>
              </a:rPr>
              <a:t> AdTech + </a:t>
            </a:r>
            <a:r>
              <a:rPr dirty="0" err="1">
                <a:solidFill>
                  <a:srgbClr val="6E6E6E"/>
                </a:solidFill>
              </a:rPr>
              <a:t>квота</a:t>
            </a:r>
            <a:r>
              <a:rPr dirty="0">
                <a:solidFill>
                  <a:srgbClr val="6E6E6E"/>
                </a:solidFill>
              </a:rPr>
              <a:t> 50% </a:t>
            </a:r>
            <a:r>
              <a:rPr dirty="0" err="1">
                <a:solidFill>
                  <a:srgbClr val="6E6E6E"/>
                </a:solidFill>
              </a:rPr>
              <a:t>внутренних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заказчиков</a:t>
            </a:r>
            <a:r>
              <a:rPr dirty="0">
                <a:solidFill>
                  <a:srgbClr val="6E6E6E"/>
                </a:solidFill>
              </a:rPr>
              <a:t>.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 err="1"/>
              <a:t>Капасити</a:t>
            </a:r>
            <a:r>
              <a:rPr dirty="0"/>
              <a:t> </a:t>
            </a:r>
            <a:r>
              <a:rPr dirty="0" err="1"/>
              <a:t>инвентаря</a:t>
            </a:r>
            <a:r>
              <a:rPr dirty="0"/>
              <a:t> </a:t>
            </a:r>
            <a:r>
              <a:rPr dirty="0" err="1"/>
              <a:t>вырастет</a:t>
            </a:r>
            <a:r>
              <a:rPr dirty="0"/>
              <a:t> </a:t>
            </a:r>
            <a:r>
              <a:rPr dirty="0" err="1"/>
              <a:t>в</a:t>
            </a:r>
            <a:r>
              <a:rPr dirty="0"/>
              <a:t> 3,5 </a:t>
            </a:r>
            <a:r>
              <a:rPr dirty="0" err="1"/>
              <a:t>раза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~61 </a:t>
            </a:r>
            <a:r>
              <a:rPr dirty="0" err="1"/>
              <a:t>млрд</a:t>
            </a:r>
            <a:r>
              <a:rPr dirty="0"/>
              <a:t> </a:t>
            </a:r>
            <a:r>
              <a:rPr dirty="0" err="1"/>
              <a:t>руб</a:t>
            </a:r>
            <a:r>
              <a:rPr dirty="0"/>
              <a:t>. </a:t>
            </a:r>
            <a:r>
              <a:rPr dirty="0" err="1"/>
              <a:t>к</a:t>
            </a:r>
            <a:r>
              <a:rPr dirty="0"/>
              <a:t> 2030 </a:t>
            </a:r>
            <a:r>
              <a:rPr dirty="0" err="1"/>
              <a:t>г</a:t>
            </a:r>
            <a:r>
              <a:rPr dirty="0"/>
              <a:t>. </a:t>
            </a:r>
            <a:br>
              <a:rPr lang="en-US" dirty="0"/>
            </a:b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росте</a:t>
            </a:r>
            <a:r>
              <a:rPr dirty="0"/>
              <a:t> online GMV, DAC </a:t>
            </a:r>
            <a:r>
              <a:rPr dirty="0" err="1"/>
              <a:t>и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платформы</a:t>
            </a:r>
            <a:endParaRPr dirty="0"/>
          </a:p>
        </p:txBody>
      </p:sp>
      <p:sp>
        <p:nvSpPr>
          <p:cNvPr id="5" name="ADS bar 5"/>
          <p:cNvSpPr/>
          <p:nvPr/>
        </p:nvSpPr>
        <p:spPr>
          <a:xfrm>
            <a:off x="365760" y="1005840"/>
            <a:ext cx="8138160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Капасити рекламного инвентаря Магнита, млрд руб.</a:t>
            </a:r>
          </a:p>
        </p:txBody>
      </p:sp>
      <p:sp>
        <p:nvSpPr>
          <p:cNvPr id="6" name="ADS bar 6"/>
          <p:cNvSpPr/>
          <p:nvPr/>
        </p:nvSpPr>
        <p:spPr>
          <a:xfrm>
            <a:off x="8677656" y="1005840"/>
            <a:ext cx="3145536" cy="338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ru-RU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Комментарии</a:t>
            </a:r>
          </a:p>
        </p:txBody>
      </p:sp>
      <p:sp>
        <p:nvSpPr>
          <p:cNvPr id="10" name="ADS label 10"/>
          <p:cNvSpPr txBox="1"/>
          <p:nvPr/>
        </p:nvSpPr>
        <p:spPr>
          <a:xfrm>
            <a:off x="1955352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2026</a:t>
            </a:r>
            <a:endParaRPr lang="ru-RU" sz="1200" dirty="0"/>
          </a:p>
        </p:txBody>
      </p:sp>
      <p:sp>
        <p:nvSpPr>
          <p:cNvPr id="11" name="ADS label 11"/>
          <p:cNvSpPr txBox="1"/>
          <p:nvPr/>
        </p:nvSpPr>
        <p:spPr>
          <a:xfrm>
            <a:off x="1955352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3263676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2027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3263676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572000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2028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4572000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5880323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2029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880323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7188647" y="4598974"/>
            <a:ext cx="109728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2030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7188647" y="4781854"/>
            <a:ext cx="109728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 b="0" dirty="0">
                <a:solidFill>
                  <a:srgbClr val="7F7F7F"/>
                </a:solidFill>
                <a:latin typeface="Arial"/>
                <a:cs typeface="Arial"/>
              </a:rPr>
              <a:t>модель</a:t>
            </a:r>
            <a:endParaRPr lang="ru-RU" sz="1200" dirty="0"/>
          </a:p>
        </p:txBody>
      </p:sp>
      <p:sp>
        <p:nvSpPr>
          <p:cNvPr id="47" name="ADS line 47"/>
          <p:cNvSpPr/>
          <p:nvPr/>
        </p:nvSpPr>
        <p:spPr>
          <a:xfrm>
            <a:off x="365760" y="4992166"/>
            <a:ext cx="813816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8" name="ADS label 48"/>
          <p:cNvSpPr txBox="1"/>
          <p:nvPr/>
        </p:nvSpPr>
        <p:spPr>
          <a:xfrm>
            <a:off x="365760" y="5047030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Online GMV, млрд руб.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1955352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250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3263676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354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4572000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500</a:t>
            </a:r>
            <a:endParaRPr lang="ru-RU" sz="1200" dirty="0"/>
          </a:p>
        </p:txBody>
      </p:sp>
      <p:sp>
        <p:nvSpPr>
          <p:cNvPr id="52" name="ADS label 52"/>
          <p:cNvSpPr txBox="1"/>
          <p:nvPr/>
        </p:nvSpPr>
        <p:spPr>
          <a:xfrm>
            <a:off x="5880323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707</a:t>
            </a:r>
            <a:endParaRPr lang="ru-RU" sz="1200" dirty="0"/>
          </a:p>
        </p:txBody>
      </p:sp>
      <p:sp>
        <p:nvSpPr>
          <p:cNvPr id="53" name="ADS label 53"/>
          <p:cNvSpPr txBox="1"/>
          <p:nvPr/>
        </p:nvSpPr>
        <p:spPr>
          <a:xfrm>
            <a:off x="7188647" y="504703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1 000</a:t>
            </a:r>
            <a:endParaRPr lang="ru-RU" sz="1200" dirty="0"/>
          </a:p>
        </p:txBody>
      </p:sp>
      <p:sp>
        <p:nvSpPr>
          <p:cNvPr id="54" name="ADS label 54"/>
          <p:cNvSpPr txBox="1"/>
          <p:nvPr/>
        </p:nvSpPr>
        <p:spPr>
          <a:xfrm>
            <a:off x="365760" y="5266486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DAC, млн</a:t>
            </a:r>
            <a:endParaRPr lang="ru-RU" sz="1200" dirty="0"/>
          </a:p>
        </p:txBody>
      </p:sp>
      <p:sp>
        <p:nvSpPr>
          <p:cNvPr id="55" name="ADS label 55"/>
          <p:cNvSpPr txBox="1"/>
          <p:nvPr/>
        </p:nvSpPr>
        <p:spPr>
          <a:xfrm>
            <a:off x="1955352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</a:t>
            </a:r>
            <a:endParaRPr lang="ru-RU" sz="1200" dirty="0"/>
          </a:p>
        </p:txBody>
      </p:sp>
      <p:sp>
        <p:nvSpPr>
          <p:cNvPr id="56" name="ADS label 56"/>
          <p:cNvSpPr txBox="1"/>
          <p:nvPr/>
        </p:nvSpPr>
        <p:spPr>
          <a:xfrm>
            <a:off x="3263676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30</a:t>
            </a:r>
            <a:endParaRPr lang="ru-RU" sz="1200" dirty="0"/>
          </a:p>
        </p:txBody>
      </p:sp>
      <p:sp>
        <p:nvSpPr>
          <p:cNvPr id="57" name="ADS label 57"/>
          <p:cNvSpPr txBox="1"/>
          <p:nvPr/>
        </p:nvSpPr>
        <p:spPr>
          <a:xfrm>
            <a:off x="4572000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36</a:t>
            </a:r>
            <a:endParaRPr lang="ru-RU" sz="1200" dirty="0"/>
          </a:p>
        </p:txBody>
      </p:sp>
      <p:sp>
        <p:nvSpPr>
          <p:cNvPr id="58" name="ADS label 58"/>
          <p:cNvSpPr txBox="1"/>
          <p:nvPr/>
        </p:nvSpPr>
        <p:spPr>
          <a:xfrm>
            <a:off x="5880323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42</a:t>
            </a:r>
            <a:endParaRPr lang="ru-RU" sz="1200" dirty="0"/>
          </a:p>
        </p:txBody>
      </p:sp>
      <p:sp>
        <p:nvSpPr>
          <p:cNvPr id="59" name="ADS label 59"/>
          <p:cNvSpPr txBox="1"/>
          <p:nvPr/>
        </p:nvSpPr>
        <p:spPr>
          <a:xfrm>
            <a:off x="7188647" y="526648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50</a:t>
            </a:r>
            <a:endParaRPr lang="ru-RU" sz="1200" dirty="0"/>
          </a:p>
        </p:txBody>
      </p:sp>
      <p:sp>
        <p:nvSpPr>
          <p:cNvPr id="60" name="ADS label 60"/>
          <p:cNvSpPr txBox="1"/>
          <p:nvPr/>
        </p:nvSpPr>
        <p:spPr>
          <a:xfrm>
            <a:off x="365760" y="5485942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Индекс эффективности</a:t>
            </a:r>
            <a:endParaRPr lang="ru-RU" sz="1200" dirty="0"/>
          </a:p>
        </p:txBody>
      </p:sp>
      <p:sp>
        <p:nvSpPr>
          <p:cNvPr id="61" name="ADS label 61"/>
          <p:cNvSpPr txBox="1"/>
          <p:nvPr/>
        </p:nvSpPr>
        <p:spPr>
          <a:xfrm>
            <a:off x="1955352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2" name="ADS label 62"/>
          <p:cNvSpPr txBox="1"/>
          <p:nvPr/>
        </p:nvSpPr>
        <p:spPr>
          <a:xfrm>
            <a:off x="3263676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1,00</a:t>
            </a:r>
            <a:endParaRPr lang="ru-RU" sz="1200" dirty="0"/>
          </a:p>
        </p:txBody>
      </p:sp>
      <p:sp>
        <p:nvSpPr>
          <p:cNvPr id="63" name="ADS label 63"/>
          <p:cNvSpPr txBox="1"/>
          <p:nvPr/>
        </p:nvSpPr>
        <p:spPr>
          <a:xfrm>
            <a:off x="4572000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1,15</a:t>
            </a:r>
            <a:endParaRPr lang="ru-RU" sz="1200" dirty="0"/>
          </a:p>
        </p:txBody>
      </p:sp>
      <p:sp>
        <p:nvSpPr>
          <p:cNvPr id="64" name="ADS label 64"/>
          <p:cNvSpPr txBox="1"/>
          <p:nvPr/>
        </p:nvSpPr>
        <p:spPr>
          <a:xfrm>
            <a:off x="5880323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1,32</a:t>
            </a:r>
            <a:endParaRPr lang="ru-RU" sz="1200" dirty="0"/>
          </a:p>
        </p:txBody>
      </p:sp>
      <p:sp>
        <p:nvSpPr>
          <p:cNvPr id="65" name="ADS label 65"/>
          <p:cNvSpPr txBox="1"/>
          <p:nvPr/>
        </p:nvSpPr>
        <p:spPr>
          <a:xfrm>
            <a:off x="7188647" y="548594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1,52</a:t>
            </a:r>
            <a:endParaRPr lang="ru-RU" sz="1200" dirty="0"/>
          </a:p>
        </p:txBody>
      </p:sp>
      <p:sp>
        <p:nvSpPr>
          <p:cNvPr id="66" name="ADS label 66"/>
          <p:cNvSpPr txBox="1"/>
          <p:nvPr/>
        </p:nvSpPr>
        <p:spPr>
          <a:xfrm>
            <a:off x="365760" y="5705398"/>
            <a:ext cx="14173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1" dirty="0">
                <a:solidFill>
                  <a:srgbClr val="7F7F7F"/>
                </a:solidFill>
                <a:latin typeface="Arial"/>
                <a:cs typeface="Arial"/>
              </a:rPr>
              <a:t>Доля перформанса¹</a:t>
            </a:r>
            <a:endParaRPr lang="ru-RU" sz="1200" dirty="0"/>
          </a:p>
        </p:txBody>
      </p:sp>
      <p:sp>
        <p:nvSpPr>
          <p:cNvPr id="67" name="ADS label 67"/>
          <p:cNvSpPr txBox="1"/>
          <p:nvPr/>
        </p:nvSpPr>
        <p:spPr>
          <a:xfrm>
            <a:off x="1955352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25%</a:t>
            </a:r>
            <a:endParaRPr lang="ru-RU" sz="1200" dirty="0"/>
          </a:p>
        </p:txBody>
      </p:sp>
      <p:sp>
        <p:nvSpPr>
          <p:cNvPr id="68" name="ADS label 68"/>
          <p:cNvSpPr txBox="1"/>
          <p:nvPr/>
        </p:nvSpPr>
        <p:spPr>
          <a:xfrm>
            <a:off x="3263676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24%</a:t>
            </a:r>
            <a:endParaRPr lang="ru-RU" sz="1200" dirty="0"/>
          </a:p>
        </p:txBody>
      </p:sp>
      <p:sp>
        <p:nvSpPr>
          <p:cNvPr id="69" name="ADS label 69"/>
          <p:cNvSpPr txBox="1"/>
          <p:nvPr/>
        </p:nvSpPr>
        <p:spPr>
          <a:xfrm>
            <a:off x="4572000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29%</a:t>
            </a:r>
            <a:endParaRPr lang="ru-RU" sz="1200" dirty="0"/>
          </a:p>
        </p:txBody>
      </p:sp>
      <p:sp>
        <p:nvSpPr>
          <p:cNvPr id="70" name="ADS label 70"/>
          <p:cNvSpPr txBox="1"/>
          <p:nvPr/>
        </p:nvSpPr>
        <p:spPr>
          <a:xfrm>
            <a:off x="5880323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34%</a:t>
            </a:r>
            <a:endParaRPr lang="ru-RU" sz="1200" dirty="0"/>
          </a:p>
        </p:txBody>
      </p:sp>
      <p:sp>
        <p:nvSpPr>
          <p:cNvPr id="71" name="ADS label 71"/>
          <p:cNvSpPr txBox="1"/>
          <p:nvPr/>
        </p:nvSpPr>
        <p:spPr>
          <a:xfrm>
            <a:off x="7188647" y="570539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40%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8677656" y="1481328"/>
            <a:ext cx="3145536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Капасити x3,5: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с 17,3 до ~61 млрд руб. к 2030 г., половина - квота марком под задачи Магнита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Перформанс - главный драйвер: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online GMV растет с ~250 млрд до 1 трлн руб. (CAGR ~41%), доля перформанса в коммерческом инвентаре - с 25% до 40%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Медиа растет вместе с DAC: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25 млн сейчас, 30 млн в 2027 г. и 50 млн к 2030 г.</a:t>
            </a:r>
            <a:endParaRPr lang="ru-RU" sz="1200" dirty="0"/>
          </a:p>
          <a:p>
            <a:pPr marL="0" indent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+10-20% эффективности в год: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аукцион, пропускная способность трафика, ниже порог входа и весь инвентарь на одной платформе. Диапазон капасити 2030 г. - 53-69 млрд руб.</a:t>
            </a:r>
            <a:endParaRPr lang="ru-RU" sz="1200" dirty="0"/>
          </a:p>
        </p:txBody>
      </p:sp>
      <p:graphicFrame>
        <p:nvGraphicFramePr>
          <p:cNvPr id="233" name="Chart 3">
            <a:extLst>
              <a:ext uri="{FF2B5EF4-FFF2-40B4-BE49-F238E27FC236}">
                <a16:creationId xmlns:a16="http://schemas.microsoft.com/office/drawing/2014/main" id="{9953BAF5-CE52-3E78-AC90-30C36389EA2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2801063"/>
              </p:ext>
            </p:extLst>
          </p:nvPr>
        </p:nvGraphicFramePr>
        <p:xfrm>
          <a:off x="1752600" y="1684338"/>
          <a:ext cx="6769100" cy="2824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10" name="Прямоугольник 109">
            <a:extLst>
              <a:ext uri="{FF2B5EF4-FFF2-40B4-BE49-F238E27FC236}">
                <a16:creationId xmlns:a16="http://schemas.microsoft.com/office/drawing/2014/main" id="{29840F08-B37A-D886-007D-9CDEAF2FD293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6329363" y="284321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9FECD2DD-9403-45E2-AC5E-59DFDB47071C}" type="datetime'6'',''''''''''''''''8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B4A8A989-42C2-330C-2E92-14848CC0D2C1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235200" y="363855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1FA5-0663-4183-9A8B-86FE8D653DC6}" type="datetime'''''''2,''''''''''2'''''''''''''''''''''''''''''''''">
              <a:rPr lang="ru-RU" altLang="en-US" sz="12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2,2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3" name="Прямоугольник 152">
            <a:extLst>
              <a:ext uri="{FF2B5EF4-FFF2-40B4-BE49-F238E27FC236}">
                <a16:creationId xmlns:a16="http://schemas.microsoft.com/office/drawing/2014/main" id="{CADAD01D-766B-AFFF-FAF1-C00AFCE4218D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2366963" y="4154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24419B9-9340-4052-96FD-24DFC35ACB92}" type="datetime'''''''8'',''''''''''''''''''''6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99" name="Прямоугольник 98">
            <a:extLst>
              <a:ext uri="{FF2B5EF4-FFF2-40B4-BE49-F238E27FC236}">
                <a16:creationId xmlns:a16="http://schemas.microsoft.com/office/drawing/2014/main" id="{2B09566D-F1E0-F85F-7825-050C7276B42C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687763" y="3390900"/>
            <a:ext cx="255588" cy="165100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44ECA5F-BE1F-4E6F-8376-D85B84C3A409}" type="datetime'''''''''''''''''''''''''''''''''''''2'''',''''''''8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2,8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0" name="Прямоугольник 99">
            <a:extLst>
              <a:ext uri="{FF2B5EF4-FFF2-40B4-BE49-F238E27FC236}">
                <a16:creationId xmlns:a16="http://schemas.microsoft.com/office/drawing/2014/main" id="{37670F74-2BF8-8BFE-708B-BC6041AFF717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3687763" y="35575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11B083-6E98-4AA5-8DC4-B69A69E18E2F}" type="datetime'''''''''''''4,9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1" name="Прямоугольник 100">
            <a:extLst>
              <a:ext uri="{FF2B5EF4-FFF2-40B4-BE49-F238E27FC236}">
                <a16:creationId xmlns:a16="http://schemas.microsoft.com/office/drawing/2014/main" id="{A48E7BE2-7B78-5F80-1F31-8D628ABC6AFA}"/>
              </a:ext>
            </a:extLst>
          </p:cNvPr>
          <p:cNvSpPr/>
          <p:nvPr>
            <p:custDataLst>
              <p:tags r:id="rId8"/>
            </p:custDataLst>
          </p:nvPr>
        </p:nvSpPr>
        <p:spPr bwMode="gray">
          <a:xfrm>
            <a:off x="3687763" y="37496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ED98D99-B4A8-4F86-A355-BD9C94FAC476}" type="datetime'''''''''3'',''''''''9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3" name="Прямоугольник 102">
            <a:extLst>
              <a:ext uri="{FF2B5EF4-FFF2-40B4-BE49-F238E27FC236}">
                <a16:creationId xmlns:a16="http://schemas.microsoft.com/office/drawing/2014/main" id="{46B54562-FC34-6AB7-54A4-A4D9EBAF11B2}"/>
              </a:ext>
            </a:extLst>
          </p:cNvPr>
          <p:cNvSpPr/>
          <p:nvPr>
            <p:custDataLst>
              <p:tags r:id="rId9"/>
            </p:custDataLst>
          </p:nvPr>
        </p:nvSpPr>
        <p:spPr bwMode="gray">
          <a:xfrm>
            <a:off x="3651250" y="4089400"/>
            <a:ext cx="328613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4D13661-57F0-4247-969D-4A9AE9392AF9}" type="datetime'''''''''''''''1''''1'''''',''''''''6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11,6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4" name="Прямоугольник 103">
            <a:extLst>
              <a:ext uri="{FF2B5EF4-FFF2-40B4-BE49-F238E27FC236}">
                <a16:creationId xmlns:a16="http://schemas.microsoft.com/office/drawing/2014/main" id="{A5C0E79D-1D4C-04E0-F2BD-C9F002E5B0C9}"/>
              </a:ext>
            </a:extLst>
          </p:cNvPr>
          <p:cNvSpPr/>
          <p:nvPr>
            <p:custDataLst>
              <p:tags r:id="rId10"/>
            </p:custDataLst>
          </p:nvPr>
        </p:nvSpPr>
        <p:spPr bwMode="gray">
          <a:xfrm>
            <a:off x="5008563" y="30559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72D7F4C-3E81-409A-AAB3-2E8FAA6B6A49}" type="datetime'''''''''''''4,''''''''''''''0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05" name="Прямоугольник 104">
            <a:extLst>
              <a:ext uri="{FF2B5EF4-FFF2-40B4-BE49-F238E27FC236}">
                <a16:creationId xmlns:a16="http://schemas.microsoft.com/office/drawing/2014/main" id="{939D6CE9-F3C1-06CC-45AA-816DDE2C07D2}"/>
              </a:ext>
            </a:extLst>
          </p:cNvPr>
          <p:cNvSpPr/>
          <p:nvPr>
            <p:custDataLst>
              <p:tags r:id="rId11"/>
            </p:custDataLst>
          </p:nvPr>
        </p:nvSpPr>
        <p:spPr bwMode="gray">
          <a:xfrm>
            <a:off x="5008563" y="32686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098872D-0232-4FF0-A67E-701FD0E36CD4}" type="datetime'5'''''''''''''''''''''''''''''''''''',''''''''''''8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6" name="Прямоугольник 105">
            <a:extLst>
              <a:ext uri="{FF2B5EF4-FFF2-40B4-BE49-F238E27FC236}">
                <a16:creationId xmlns:a16="http://schemas.microsoft.com/office/drawing/2014/main" id="{066815E2-F41B-7AF6-1DF5-9B8BDB3E2739}"/>
              </a:ext>
            </a:extLst>
          </p:cNvPr>
          <p:cNvSpPr/>
          <p:nvPr>
            <p:custDataLst>
              <p:tags r:id="rId12"/>
            </p:custDataLst>
          </p:nvPr>
        </p:nvSpPr>
        <p:spPr bwMode="gray">
          <a:xfrm>
            <a:off x="5141913" y="347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D76CF59-E36E-48A3-BC7E-E33A27E607AF}" type="datetime'''''''''''3'''''''''''''''',''''''9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7" name="Прямоугольник 106">
            <a:extLst>
              <a:ext uri="{FF2B5EF4-FFF2-40B4-BE49-F238E27FC236}">
                <a16:creationId xmlns:a16="http://schemas.microsoft.com/office/drawing/2014/main" id="{1AD9CD2D-C49A-C344-3F92-572D39E64ABD}"/>
              </a:ext>
            </a:extLst>
          </p:cNvPr>
          <p:cNvSpPr/>
          <p:nvPr>
            <p:custDataLst>
              <p:tags r:id="rId13"/>
            </p:custDataLst>
          </p:nvPr>
        </p:nvSpPr>
        <p:spPr bwMode="gray">
          <a:xfrm>
            <a:off x="4876800" y="3611563"/>
            <a:ext cx="255588" cy="165100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468A904F-5BED-49A9-96AD-4205CDB0B445}" type="datetime'''''''''''''''''2'''''''''''''''''',''''1''''''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8" name="Прямоугольник 107">
            <a:extLst>
              <a:ext uri="{FF2B5EF4-FFF2-40B4-BE49-F238E27FC236}">
                <a16:creationId xmlns:a16="http://schemas.microsoft.com/office/drawing/2014/main" id="{645A5430-8DF3-CB1E-D90B-B152D7313FC7}"/>
              </a:ext>
            </a:extLst>
          </p:cNvPr>
          <p:cNvSpPr/>
          <p:nvPr>
            <p:custDataLst>
              <p:tags r:id="rId14"/>
            </p:custDataLst>
          </p:nvPr>
        </p:nvSpPr>
        <p:spPr bwMode="gray">
          <a:xfrm>
            <a:off x="4965700" y="399891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B0E44043-646A-4F9E-8362-08CDD1A9C838}" type="datetime'1''''''5'''''''''''''''''''''''''''''''',''8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15,8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9" name="Прямоугольник 108">
            <a:extLst>
              <a:ext uri="{FF2B5EF4-FFF2-40B4-BE49-F238E27FC236}">
                <a16:creationId xmlns:a16="http://schemas.microsoft.com/office/drawing/2014/main" id="{EE2292E0-47E4-A371-5C86-61C9E79E371B}"/>
              </a:ext>
            </a:extLst>
          </p:cNvPr>
          <p:cNvSpPr/>
          <p:nvPr>
            <p:custDataLst>
              <p:tags r:id="rId15"/>
            </p:custDataLst>
          </p:nvPr>
        </p:nvSpPr>
        <p:spPr bwMode="gray">
          <a:xfrm>
            <a:off x="6329363" y="2570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79F6B63-B563-43CC-A975-B274F374D8CE}" type="datetime'5'''''''''''',''''''''''''''7''''''''''''''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5,7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D1C5B7A1-AABA-2706-F1AE-819ADC23AF81}"/>
              </a:ext>
            </a:extLst>
          </p:cNvPr>
          <p:cNvSpPr/>
          <p:nvPr>
            <p:custDataLst>
              <p:tags r:id="rId16"/>
            </p:custDataLst>
          </p:nvPr>
        </p:nvSpPr>
        <p:spPr bwMode="gray">
          <a:xfrm>
            <a:off x="2500313" y="377348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6BD03B9-9134-43F5-94FB-0339891A262F}" type="datetime'''4,0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4,0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1" name="Прямоугольник 110">
            <a:extLst>
              <a:ext uri="{FF2B5EF4-FFF2-40B4-BE49-F238E27FC236}">
                <a16:creationId xmlns:a16="http://schemas.microsoft.com/office/drawing/2014/main" id="{2A37ED83-0562-CFFA-B2A1-33C2D17CD816}"/>
              </a:ext>
            </a:extLst>
          </p:cNvPr>
          <p:cNvSpPr/>
          <p:nvPr>
            <p:custDataLst>
              <p:tags r:id="rId17"/>
            </p:custDataLst>
          </p:nvPr>
        </p:nvSpPr>
        <p:spPr bwMode="gray">
          <a:xfrm>
            <a:off x="6329363" y="30781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BA996C4-BEBC-4E7C-87E4-80002E45CE1F}" type="datetime'''''''''3'''''''''''''''',''''9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2" name="Прямоугольник 111">
            <a:extLst>
              <a:ext uri="{FF2B5EF4-FFF2-40B4-BE49-F238E27FC236}">
                <a16:creationId xmlns:a16="http://schemas.microsoft.com/office/drawing/2014/main" id="{D03D5CB3-C4DA-1B86-7FF5-3FF22593DEF7}"/>
              </a:ext>
            </a:extLst>
          </p:cNvPr>
          <p:cNvSpPr/>
          <p:nvPr>
            <p:custDataLst>
              <p:tags r:id="rId18"/>
            </p:custDataLst>
          </p:nvPr>
        </p:nvSpPr>
        <p:spPr bwMode="gray">
          <a:xfrm>
            <a:off x="6329363" y="3279775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FB7EF19-8629-43F3-82B9-A2EDD520A0DE}" type="datetime'''''5'''''''''',3''''''''''''''''''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5,3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3" name="Прямоугольник 112">
            <a:extLst>
              <a:ext uri="{FF2B5EF4-FFF2-40B4-BE49-F238E27FC236}">
                <a16:creationId xmlns:a16="http://schemas.microsoft.com/office/drawing/2014/main" id="{05CD601C-DFA1-5989-FB5E-CE7173588610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6286500" y="38687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7D49689-D805-46B0-9B3F-FFA5518CB83C}" type="datetime'''''''''''2''''''''''''''1'''',''''''''''''''''''8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21,8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4" name="Прямоугольник 113">
            <a:extLst>
              <a:ext uri="{FF2B5EF4-FFF2-40B4-BE49-F238E27FC236}">
                <a16:creationId xmlns:a16="http://schemas.microsoft.com/office/drawing/2014/main" id="{C40FD1C6-4F86-25C6-3E2B-5221DE9556F0}"/>
              </a:ext>
            </a:extLst>
          </p:cNvPr>
          <p:cNvSpPr/>
          <p:nvPr>
            <p:custDataLst>
              <p:tags r:id="rId20"/>
            </p:custDataLst>
          </p:nvPr>
        </p:nvSpPr>
        <p:spPr bwMode="gray">
          <a:xfrm>
            <a:off x="7650163" y="1858963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8B7F64AC-566C-43CD-90C9-064389E0B80F}" type="datetime'8'''''''''''''''''''''''''''''''''''',''''''''''''''''''0'''''">
              <a:rPr lang="ru-RU" altLang="en-US" sz="1200" smtClean="0">
                <a:solidFill>
                  <a:schemeClr val="bg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8,0</a:t>
            </a:fld>
            <a:endParaRPr lang="ru-RU" sz="1200">
              <a:solidFill>
                <a:schemeClr val="bg1"/>
              </a:solidFill>
            </a:endParaRPr>
          </a:p>
        </p:txBody>
      </p:sp>
      <p:sp>
        <p:nvSpPr>
          <p:cNvPr id="115" name="Прямоугольник 114">
            <a:extLst>
              <a:ext uri="{FF2B5EF4-FFF2-40B4-BE49-F238E27FC236}">
                <a16:creationId xmlns:a16="http://schemas.microsoft.com/office/drawing/2014/main" id="{A7C422E4-E795-EB25-CCBB-0D7306F793AD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7650163" y="2209800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07288BFC-4A32-45D8-8A18-4324AFDDAA15}" type="datetime'''''''''''8'''''''''''''''''''''',''''''''1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8,1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6" name="Прямоугольник 115">
            <a:extLst>
              <a:ext uri="{FF2B5EF4-FFF2-40B4-BE49-F238E27FC236}">
                <a16:creationId xmlns:a16="http://schemas.microsoft.com/office/drawing/2014/main" id="{437F097B-314E-F274-F69B-ACD59A38F81E}"/>
              </a:ext>
            </a:extLst>
          </p:cNvPr>
          <p:cNvSpPr/>
          <p:nvPr>
            <p:custDataLst>
              <p:tags r:id="rId22"/>
            </p:custDataLst>
          </p:nvPr>
        </p:nvSpPr>
        <p:spPr bwMode="gray">
          <a:xfrm>
            <a:off x="7650163" y="2471738"/>
            <a:ext cx="255588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4B1A89E-E898-4040-8C86-25CF69E63B62}" type="datetime'''''''''''''''''''''''''''''3'''''''',9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3,9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7" name="Прямоугольник 116">
            <a:extLst>
              <a:ext uri="{FF2B5EF4-FFF2-40B4-BE49-F238E27FC236}">
                <a16:creationId xmlns:a16="http://schemas.microsoft.com/office/drawing/2014/main" id="{DDA19E67-C52D-5AF6-E6AD-05776E2BC5B3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7607300" y="2786063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4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43B683E-EF24-4C31-BFE6-D6E7D20E5961}" type="datetime'''''''''''''''''1''''''''''0'''''',''''''''''''5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18" name="Прямоугольник 117">
            <a:extLst>
              <a:ext uri="{FF2B5EF4-FFF2-40B4-BE49-F238E27FC236}">
                <a16:creationId xmlns:a16="http://schemas.microsoft.com/office/drawing/2014/main" id="{1F079E78-A4F4-E859-6C01-8A51AE7A86CF}"/>
              </a:ext>
            </a:extLst>
          </p:cNvPr>
          <p:cNvSpPr/>
          <p:nvPr>
            <p:custDataLst>
              <p:tags r:id="rId24"/>
            </p:custDataLst>
          </p:nvPr>
        </p:nvSpPr>
        <p:spPr bwMode="gray">
          <a:xfrm>
            <a:off x="7607300" y="36782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F187030-9A14-480E-B677-5D60EE76C806}" type="datetime'''''''''3''''''''''''''''''0'''',''''''''''''5'''''''''''">
              <a:rPr lang="ru-RU" altLang="en-US" sz="1200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30,5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D80E6BA-F74B-8DC6-FC93-266F7539FBE0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24100" y="3473450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E2AAB312-B8B3-495B-9DC1-0D51B14D0403}" type="datetime'''''''''''''''''1''''''7'''''''',''3''''''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17,3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9774F003-A8F7-30E8-DCC7-6FF1DB509686}"/>
              </a:ext>
            </a:extLst>
          </p:cNvPr>
          <p:cNvSpPr/>
          <p:nvPr>
            <p:custDataLst>
              <p:tags r:id="rId26"/>
            </p:custDataLst>
          </p:nvPr>
        </p:nvSpPr>
        <p:spPr bwMode="gray">
          <a:xfrm>
            <a:off x="3644900" y="322103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D27C4BF-7C88-4DC0-8E9D-2092A97321F2}" type="datetime'''''''''''''''''23,''''3''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23,3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0" name="Прямоугольник 89">
            <a:extLst>
              <a:ext uri="{FF2B5EF4-FFF2-40B4-BE49-F238E27FC236}">
                <a16:creationId xmlns:a16="http://schemas.microsoft.com/office/drawing/2014/main" id="{301CAE5D-539B-179C-04CA-1135E61C498B}"/>
              </a:ext>
            </a:extLst>
          </p:cNvPr>
          <p:cNvSpPr/>
          <p:nvPr>
            <p:custDataLst>
              <p:tags r:id="rId27"/>
            </p:custDataLst>
          </p:nvPr>
        </p:nvSpPr>
        <p:spPr bwMode="gray">
          <a:xfrm>
            <a:off x="4965700" y="28606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5FA89C5-E9E3-4EE8-A435-6B879000AA60}" type="datetime'''''''''''''''3''''''1'''''''''''''',''''''''6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31,6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1" name="Прямоугольник 90">
            <a:extLst>
              <a:ext uri="{FF2B5EF4-FFF2-40B4-BE49-F238E27FC236}">
                <a16:creationId xmlns:a16="http://schemas.microsoft.com/office/drawing/2014/main" id="{D8AD940B-3D0F-7F61-4D93-C9C70D5AB69C}"/>
              </a:ext>
            </a:extLst>
          </p:cNvPr>
          <p:cNvSpPr/>
          <p:nvPr>
            <p:custDataLst>
              <p:tags r:id="rId28"/>
            </p:custDataLst>
          </p:nvPr>
        </p:nvSpPr>
        <p:spPr bwMode="gray">
          <a:xfrm>
            <a:off x="6286500" y="2339975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AA3166AA-8725-48B0-A71B-B8A970E4821B}" type="datetime'''''''''''''''''''43'''',''''''''''''5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43,5</a:t>
            </a:fld>
            <a:endParaRPr lang="ru-RU" sz="1200" b="1">
              <a:solidFill>
                <a:schemeClr val="tx1"/>
              </a:solidFill>
            </a:endParaRPr>
          </a:p>
        </p:txBody>
      </p:sp>
      <p:sp>
        <p:nvSpPr>
          <p:cNvPr id="92" name="Прямоугольник 91">
            <a:extLst>
              <a:ext uri="{FF2B5EF4-FFF2-40B4-BE49-F238E27FC236}">
                <a16:creationId xmlns:a16="http://schemas.microsoft.com/office/drawing/2014/main" id="{7A670A87-C218-1521-EABE-D057C909CE00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7607300" y="1576388"/>
            <a:ext cx="339725" cy="1651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696B2E34-DDF8-4EF1-9824-19002BE197CA}" type="datetime'''''''''''''''''''6''''''''''''1'',''0'''''''''''''">
              <a:rPr lang="ru-RU" altLang="en-US" sz="1200" b="1" smtClean="0">
                <a:solidFill>
                  <a:schemeClr val="tx1"/>
                </a:solidFill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61,0</a:t>
            </a:fld>
            <a:endParaRPr lang="ru-RU" sz="1200" b="1" dirty="0">
              <a:solidFill>
                <a:schemeClr val="tx1"/>
              </a:solidFill>
            </a:endParaRPr>
          </a:p>
        </p:txBody>
      </p: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E2F64644-8C8C-DB30-6532-D46C2E9ADA98}"/>
              </a:ext>
            </a:extLst>
          </p:cNvPr>
          <p:cNvSpPr/>
          <p:nvPr>
            <p:custDataLst>
              <p:tags r:id="rId30"/>
            </p:custDataLst>
          </p:nvPr>
        </p:nvSpPr>
        <p:spPr bwMode="gray">
          <a:xfrm>
            <a:off x="2235200" y="3913188"/>
            <a:ext cx="255588" cy="165100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2225" tIns="0" rIns="22225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6DC2988-567E-4ACE-8AD6-8675A76AD7FB}" type="datetime'''''''''''''''''''''2'',''''''''''''''''''''5'''''''''''''''">
              <a:rPr lang="ru-RU" altLang="en-US" sz="1200" smtClean="0">
                <a:solidFill>
                  <a:schemeClr val="tx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2,5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215" name="Прямоугольник 214">
            <a:extLst>
              <a:ext uri="{FF2B5EF4-FFF2-40B4-BE49-F238E27FC236}">
                <a16:creationId xmlns:a16="http://schemas.microsoft.com/office/drawing/2014/main" id="{7E96CAE1-F0CE-8871-B5B4-577F1D73ECB6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25450" y="1549400"/>
            <a:ext cx="214313" cy="160338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6D6BDB5B-DEFF-3162-9E83-F386AA82E682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425450" y="1782763"/>
            <a:ext cx="214313" cy="160338"/>
          </a:xfrm>
          <a:prstGeom prst="rect">
            <a:avLst/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7" name="Прямоугольник 216">
            <a:extLst>
              <a:ext uri="{FF2B5EF4-FFF2-40B4-BE49-F238E27FC236}">
                <a16:creationId xmlns:a16="http://schemas.microsoft.com/office/drawing/2014/main" id="{6B5AC6D9-3D69-ED82-FB1B-310FA603358B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425450" y="2016125"/>
            <a:ext cx="214313" cy="160338"/>
          </a:xfrm>
          <a:prstGeom prst="rect">
            <a:avLst/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8" name="Прямоугольник 217">
            <a:extLst>
              <a:ext uri="{FF2B5EF4-FFF2-40B4-BE49-F238E27FC236}">
                <a16:creationId xmlns:a16="http://schemas.microsoft.com/office/drawing/2014/main" id="{C6F6F94E-7BB8-36DD-39EE-3C9FE1BEE39E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425450" y="2249488"/>
            <a:ext cx="214313" cy="160338"/>
          </a:xfrm>
          <a:prstGeom prst="rect">
            <a:avLst/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9" name="Прямоугольник 218">
            <a:extLst>
              <a:ext uri="{FF2B5EF4-FFF2-40B4-BE49-F238E27FC236}">
                <a16:creationId xmlns:a16="http://schemas.microsoft.com/office/drawing/2014/main" id="{4BECD3BA-B8AB-3779-3BD8-63FF494BC0F5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425450" y="2482850"/>
            <a:ext cx="214313" cy="160338"/>
          </a:xfrm>
          <a:prstGeom prst="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>
            <a:extLst>
              <a:ext uri="{FF2B5EF4-FFF2-40B4-BE49-F238E27FC236}">
                <a16:creationId xmlns:a16="http://schemas.microsoft.com/office/drawing/2014/main" id="{04DDE5D5-F312-EDF3-631B-D357B0D21CB9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690563" y="2478088"/>
            <a:ext cx="2741613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C533AACF-591A-4C4E-A8AA-EBBA888ACD06}" type="datetime'Квота'''' в''''н''''утренних зака''зчиков (марко''м'''''''')'">
              <a:rPr lang="ru-RU" altLang="en-US" sz="1200" smtClean="0">
                <a:solidFill>
                  <a:schemeClr val="tx1"/>
                </a:solidFill>
              </a:rPr>
              <a:pPr/>
              <a:t>Квота внутренних заказчиков (марком)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88" name="Прямоугольник 87">
            <a:extLst>
              <a:ext uri="{FF2B5EF4-FFF2-40B4-BE49-F238E27FC236}">
                <a16:creationId xmlns:a16="http://schemas.microsoft.com/office/drawing/2014/main" id="{6DB81C1F-DF1B-AE09-6D06-4B4BF9198BD6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690563" y="2244725"/>
            <a:ext cx="30559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47CE905-D730-492D-A851-454BBABBD888}" type="datetime'Эфф''''ект ''роста эффе''ктивно''сти платфор''м''''ы'''">
              <a:rPr lang="ru-RU" altLang="en-US" sz="1200" smtClean="0">
                <a:solidFill>
                  <a:schemeClr val="tx1"/>
                </a:solidFill>
              </a:rPr>
              <a:pPr/>
              <a:t>Эффект роста эффективности платформы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AA5D9B71-4077-46E6-C9EC-7AF4EF13A08F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690563" y="2011363"/>
            <a:ext cx="24606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DE6733FF-CC56-401F-9B4E-71ABF7507AEE}" type="datetime'''''In-''store - база ''(''от ''па''рка ''устр''ойств)'''''''">
              <a:rPr lang="ru-RU" altLang="en-US" sz="1200" smtClean="0">
                <a:solidFill>
                  <a:schemeClr val="tx1"/>
                </a:solidFill>
              </a:rPr>
              <a:pPr/>
              <a:t>In-store - база (от парка устройств)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427C304C-DB1E-0BAC-1700-E5C8D3605D96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690563" y="1778000"/>
            <a:ext cx="1584325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1F11B19B-EF2B-4CFF-9F62-C42C81467A52}" type="datetime'М''''''''''ед''''''''и''а'' - ''ба''за ''''(от'' ''D''''AC)'">
              <a:rPr lang="ru-RU" altLang="en-US" sz="1200" smtClean="0">
                <a:solidFill>
                  <a:schemeClr val="tx1"/>
                </a:solidFill>
              </a:rPr>
              <a:pPr/>
              <a:t>Медиа - база (от DAC)</a:t>
            </a:fld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E100D17F-939D-1B39-B1FC-F97AB4BA4575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690563" y="1544638"/>
            <a:ext cx="2509838" cy="18256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>
              <a:spcBef>
                <a:spcPct val="0"/>
              </a:spcBef>
              <a:spcAft>
                <a:spcPct val="0"/>
              </a:spcAft>
            </a:pPr>
            <a:fld id="{BDCF8F2A-87D5-4B2F-89AD-28D1043E5521}" type="datetime'Пе''''''рформ''а''''''нс ''-'' база (от on''l''''in''e ''GMV)'">
              <a:rPr lang="ru-RU" altLang="en-US" sz="1200" smtClean="0">
                <a:solidFill>
                  <a:schemeClr val="tx1"/>
                </a:solidFill>
              </a:rPr>
              <a:pPr/>
              <a:t>Перформанс - база (от online GMV)</a:t>
            </a:fld>
            <a:endParaRPr lang="ru-RU" sz="12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Источники</a:t>
            </a:r>
            <a:r>
              <a:rPr dirty="0">
                <a:solidFill>
                  <a:srgbClr val="6E6E6E"/>
                </a:solidFill>
              </a:rPr>
              <a:t>: Ads Market Calc (</a:t>
            </a:r>
            <a:r>
              <a:rPr dirty="0" err="1">
                <a:solidFill>
                  <a:srgbClr val="6E6E6E"/>
                </a:solidFill>
              </a:rPr>
              <a:t>внутренняя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рынка</a:t>
            </a:r>
            <a:r>
              <a:rPr dirty="0">
                <a:solidFill>
                  <a:srgbClr val="6E6E6E"/>
                </a:solidFill>
              </a:rPr>
              <a:t>), WPP Media </a:t>
            </a:r>
            <a:r>
              <a:rPr dirty="0" err="1">
                <a:solidFill>
                  <a:srgbClr val="6E6E6E"/>
                </a:solidFill>
              </a:rPr>
              <a:t>через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Sostav</a:t>
            </a:r>
            <a:r>
              <a:rPr dirty="0">
                <a:solidFill>
                  <a:srgbClr val="6E6E6E"/>
                </a:solidFill>
              </a:rPr>
              <a:t> (2025), Авито Реклама </a:t>
            </a:r>
            <a:r>
              <a:rPr dirty="0" err="1">
                <a:solidFill>
                  <a:srgbClr val="6E6E6E"/>
                </a:solidFill>
              </a:rPr>
              <a:t>и</a:t>
            </a:r>
            <a:r>
              <a:rPr dirty="0">
                <a:solidFill>
                  <a:srgbClr val="6E6E6E"/>
                </a:solidFill>
              </a:rPr>
              <a:t> Soloway (</a:t>
            </a:r>
            <a:r>
              <a:rPr dirty="0" err="1">
                <a:solidFill>
                  <a:srgbClr val="6E6E6E"/>
                </a:solidFill>
              </a:rPr>
              <a:t>сентябрь</a:t>
            </a:r>
            <a:r>
              <a:rPr dirty="0">
                <a:solidFill>
                  <a:srgbClr val="6E6E6E"/>
                </a:solidFill>
              </a:rPr>
              <a:t> 2026), НРА, </a:t>
            </a:r>
            <a:r>
              <a:rPr dirty="0" err="1">
                <a:solidFill>
                  <a:srgbClr val="6E6E6E"/>
                </a:solidFill>
              </a:rPr>
              <a:t>внутреннее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исследование</a:t>
            </a:r>
            <a:r>
              <a:rPr dirty="0">
                <a:solidFill>
                  <a:srgbClr val="6E6E6E"/>
                </a:solidFill>
              </a:rPr>
              <a:t> Magnit ADS. </a:t>
            </a:r>
            <a:r>
              <a:rPr dirty="0" err="1">
                <a:solidFill>
                  <a:srgbClr val="6E6E6E"/>
                </a:solidFill>
              </a:rPr>
              <a:t>Гипотезы</a:t>
            </a:r>
            <a:r>
              <a:rPr dirty="0">
                <a:solidFill>
                  <a:srgbClr val="6E6E6E"/>
                </a:solidFill>
              </a:rPr>
              <a:t> - </a:t>
            </a:r>
            <a:r>
              <a:rPr dirty="0" err="1">
                <a:solidFill>
                  <a:srgbClr val="6E6E6E"/>
                </a:solidFill>
              </a:rPr>
              <a:t>экспертная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оценка</a:t>
            </a:r>
            <a:r>
              <a:rPr dirty="0">
                <a:solidFill>
                  <a:srgbClr val="6E6E6E"/>
                </a:solidFill>
              </a:rPr>
              <a:t> Magnit ADS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FMCG-</a:t>
            </a:r>
            <a:r>
              <a:rPr lang="ru-RU" noProof="0" dirty="0"/>
              <a:t>бюджеты</a:t>
            </a:r>
            <a:r>
              <a:rPr dirty="0"/>
              <a:t> </a:t>
            </a:r>
            <a:r>
              <a:rPr lang="ru-RU" noProof="0" dirty="0"/>
              <a:t>смещаются к транзакции: у места покупки растет роль перформанса, в начале пути - охватных медиа</a:t>
            </a:r>
            <a:endParaRPr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24128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покупателя и инструменты FMCG-маркетинга</a:t>
            </a:r>
            <a:endParaRPr lang="ru-RU" sz="1200" dirty="0"/>
          </a:p>
        </p:txBody>
      </p:sp>
      <p:sp>
        <p:nvSpPr>
          <p:cNvPr id="6" name="ADS chip 6"/>
          <p:cNvSpPr/>
          <p:nvPr/>
        </p:nvSpPr>
        <p:spPr>
          <a:xfrm>
            <a:off x="36576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" name="ADS chiptxt 7"/>
          <p:cNvSpPr txBox="1"/>
          <p:nvPr/>
        </p:nvSpPr>
        <p:spPr>
          <a:xfrm>
            <a:off x="45720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Знание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 и DOOH, OLV, инфлюенсеры</a:t>
            </a:r>
            <a:endParaRPr lang="ru-RU" sz="1200" dirty="0"/>
          </a:p>
        </p:txBody>
      </p:sp>
      <p:sp>
        <p:nvSpPr>
          <p:cNvPr id="8" name="ADS chip 8"/>
          <p:cNvSpPr/>
          <p:nvPr/>
        </p:nvSpPr>
        <p:spPr>
          <a:xfrm>
            <a:off x="325755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chiptxt 9"/>
          <p:cNvSpPr txBox="1"/>
          <p:nvPr/>
        </p:nvSpPr>
        <p:spPr>
          <a:xfrm>
            <a:off x="334899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соцсети и UGC, персонализированные медиа в приложении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614934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24078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in-store у полки, ИИ-рекомендации, медиа в приложении ритейлера</a:t>
            </a:r>
            <a:endParaRPr lang="ru-RU" sz="1200" dirty="0"/>
          </a:p>
        </p:txBody>
      </p:sp>
      <p:sp>
        <p:nvSpPr>
          <p:cNvPr id="12" name="ADS chip 12"/>
          <p:cNvSpPr/>
          <p:nvPr/>
        </p:nvSpPr>
        <p:spPr>
          <a:xfrm>
            <a:off x="9041130" y="1280160"/>
            <a:ext cx="2782062" cy="713232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txt 13"/>
          <p:cNvSpPr txBox="1"/>
          <p:nvPr/>
        </p:nvSpPr>
        <p:spPr>
          <a:xfrm>
            <a:off x="9132570" y="1325880"/>
            <a:ext cx="2599182" cy="6217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Покупка и повтор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14" name="Freeform 13"/>
          <p:cNvSpPr/>
          <p:nvPr/>
        </p:nvSpPr>
        <p:spPr>
          <a:xfrm>
            <a:off x="365760" y="2121408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0"/>
                </a:moveTo>
                <a:lnTo>
                  <a:pt x="11457432" y="0"/>
                </a:lnTo>
                <a:lnTo>
                  <a:pt x="11457432" y="73152"/>
                </a:lnTo>
                <a:lnTo>
                  <a:pt x="0" y="457200"/>
                </a:lnTo>
                <a:close/>
              </a:path>
            </a:pathLst>
          </a:cu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365760" y="2615184"/>
            <a:ext cx="11457432" cy="457200"/>
          </a:xfrm>
          <a:custGeom>
            <a:avLst/>
            <a:gdLst/>
            <a:ahLst/>
            <a:cxnLst/>
            <a:rect l="l" t="t" r="r" b="b"/>
            <a:pathLst>
              <a:path w="11457432" h="457200">
                <a:moveTo>
                  <a:pt x="0" y="384048"/>
                </a:moveTo>
                <a:lnTo>
                  <a:pt x="11457432" y="0"/>
                </a:lnTo>
                <a:lnTo>
                  <a:pt x="11457432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DS label 16"/>
          <p:cNvSpPr txBox="1"/>
          <p:nvPr/>
        </p:nvSpPr>
        <p:spPr>
          <a:xfrm>
            <a:off x="457200" y="2157984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Охватные медиа: знание и интерес</a:t>
            </a:r>
            <a:endParaRPr lang="ru-RU" sz="1200" dirty="0"/>
          </a:p>
        </p:txBody>
      </p:sp>
      <p:sp>
        <p:nvSpPr>
          <p:cNvPr id="17" name="ADS label 17"/>
          <p:cNvSpPr txBox="1"/>
          <p:nvPr/>
        </p:nvSpPr>
        <p:spPr>
          <a:xfrm>
            <a:off x="6309360" y="2798064"/>
            <a:ext cx="539496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FFFF"/>
                </a:solidFill>
                <a:latin typeface="Arial"/>
                <a:cs typeface="Arial"/>
              </a:rPr>
              <a:t>Перформанс: конверсия у полки и в приложении</a:t>
            </a:r>
            <a:endParaRPr lang="ru-RU" sz="1200" dirty="0"/>
          </a:p>
        </p:txBody>
      </p:sp>
      <p:sp>
        <p:nvSpPr>
          <p:cNvPr id="18" name="ADS chip 18"/>
          <p:cNvSpPr/>
          <p:nvPr/>
        </p:nvSpPr>
        <p:spPr>
          <a:xfrm>
            <a:off x="36576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chiptxt 19"/>
          <p:cNvSpPr txBox="1"/>
          <p:nvPr/>
        </p:nvSpPr>
        <p:spPr>
          <a:xfrm>
            <a:off x="45720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Бренд-бюджеты ~60-80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ТВ, OOH, digital - выходим через RMN и ЮЛ Магнит Маркета</a:t>
            </a:r>
            <a:endParaRPr lang="ru-RU" sz="1200" dirty="0"/>
          </a:p>
        </p:txBody>
      </p:sp>
      <p:sp>
        <p:nvSpPr>
          <p:cNvPr id="20" name="ADS pink 20"/>
          <p:cNvSpPr/>
          <p:nvPr/>
        </p:nvSpPr>
        <p:spPr>
          <a:xfrm>
            <a:off x="6149340" y="3200400"/>
            <a:ext cx="5673852" cy="56692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1" name="ADS pinktxt 21"/>
          <p:cNvSpPr txBox="1"/>
          <p:nvPr/>
        </p:nvSpPr>
        <p:spPr>
          <a:xfrm>
            <a:off x="6240780" y="3246120"/>
            <a:ext cx="5490972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Трейд-бюджеты ~120-140 млрд руб. в год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 рамках коммерческих условий - у транзакции, через Коммерцию форматов</a:t>
            </a:r>
            <a:endParaRPr lang="ru-RU" sz="1200" dirty="0"/>
          </a:p>
        </p:txBody>
      </p:sp>
      <p:sp>
        <p:nvSpPr>
          <p:cNvPr id="22" name="ADS line 22"/>
          <p:cNvSpPr/>
          <p:nvPr/>
        </p:nvSpPr>
        <p:spPr>
          <a:xfrm>
            <a:off x="365760" y="3904487"/>
            <a:ext cx="114574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label 23"/>
          <p:cNvSpPr txBox="1"/>
          <p:nvPr/>
        </p:nvSpPr>
        <p:spPr>
          <a:xfrm>
            <a:off x="365760" y="3977639"/>
            <a:ext cx="114300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Гипотезы и что их подтверждает</a:t>
            </a:r>
            <a:endParaRPr lang="ru-RU" sz="1200" dirty="0"/>
          </a:p>
        </p:txBody>
      </p:sp>
      <p:sp>
        <p:nvSpPr>
          <p:cNvPr id="24" name="ADS card 24"/>
          <p:cNvSpPr/>
          <p:nvPr/>
        </p:nvSpPr>
        <p:spPr>
          <a:xfrm>
            <a:off x="36576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ADS head 25"/>
          <p:cNvSpPr txBox="1"/>
          <p:nvPr/>
        </p:nvSpPr>
        <p:spPr>
          <a:xfrm>
            <a:off x="53035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1</a:t>
            </a:r>
            <a:endParaRPr lang="ru-RU" sz="1200" dirty="0"/>
          </a:p>
        </p:txBody>
      </p:sp>
      <p:sp>
        <p:nvSpPr>
          <p:cNvPr id="26" name="ADS thesis 26"/>
          <p:cNvSpPr txBox="1"/>
          <p:nvPr/>
        </p:nvSpPr>
        <p:spPr>
          <a:xfrm>
            <a:off x="53035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Бюджеты идут туда, где виден эффект в продажах</a:t>
            </a:r>
            <a:endParaRPr lang="ru-RU" sz="1200" dirty="0"/>
          </a:p>
        </p:txBody>
      </p:sp>
      <p:sp>
        <p:nvSpPr>
          <p:cNvPr id="27" name="ADS line 27"/>
          <p:cNvSpPr/>
          <p:nvPr/>
        </p:nvSpPr>
        <p:spPr>
          <a:xfrm>
            <a:off x="53035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label 28"/>
          <p:cNvSpPr txBox="1"/>
          <p:nvPr/>
        </p:nvSpPr>
        <p:spPr>
          <a:xfrm>
            <a:off x="53035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Доля retail media в рекламном рынке РФ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19%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2023 г. и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42%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2027 г.; в мире commerce media обогнала ТВ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15,6%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рынка в 2025 г.</a:t>
            </a:r>
            <a:endParaRPr lang="ru-RU" sz="1200" dirty="0"/>
          </a:p>
        </p:txBody>
      </p:sp>
      <p:sp>
        <p:nvSpPr>
          <p:cNvPr id="29" name="ADS card 29"/>
          <p:cNvSpPr/>
          <p:nvPr/>
        </p:nvSpPr>
        <p:spPr>
          <a:xfrm>
            <a:off x="325755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head 30"/>
          <p:cNvSpPr txBox="1"/>
          <p:nvPr/>
        </p:nvSpPr>
        <p:spPr>
          <a:xfrm>
            <a:off x="342214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2</a:t>
            </a:r>
            <a:endParaRPr lang="ru-RU" sz="1200" dirty="0"/>
          </a:p>
        </p:txBody>
      </p:sp>
      <p:sp>
        <p:nvSpPr>
          <p:cNvPr id="31" name="ADS thesis 31"/>
          <p:cNvSpPr txBox="1"/>
          <p:nvPr/>
        </p:nvSpPr>
        <p:spPr>
          <a:xfrm>
            <a:off x="342214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Решение о покупке все чаще принимается в точке продаж</a:t>
            </a:r>
            <a:endParaRPr lang="ru-RU" sz="1200" dirty="0"/>
          </a:p>
        </p:txBody>
      </p:sp>
      <p:sp>
        <p:nvSpPr>
          <p:cNvPr id="32" name="ADS line 32"/>
          <p:cNvSpPr/>
          <p:nvPr/>
        </p:nvSpPr>
        <p:spPr>
          <a:xfrm>
            <a:off x="342214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label 33"/>
          <p:cNvSpPr txBox="1"/>
          <p:nvPr/>
        </p:nvSpPr>
        <p:spPr>
          <a:xfrm>
            <a:off x="342214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Каждый четвертый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покупатель узнает о новинке FMCG уже в магазине,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13%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впервые видят ее на полке</a:t>
            </a:r>
            <a:endParaRPr lang="ru-RU" sz="1200" dirty="0"/>
          </a:p>
        </p:txBody>
      </p:sp>
      <p:sp>
        <p:nvSpPr>
          <p:cNvPr id="34" name="ADS card 34"/>
          <p:cNvSpPr/>
          <p:nvPr/>
        </p:nvSpPr>
        <p:spPr>
          <a:xfrm>
            <a:off x="614934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5" name="ADS head 35"/>
          <p:cNvSpPr txBox="1"/>
          <p:nvPr/>
        </p:nvSpPr>
        <p:spPr>
          <a:xfrm>
            <a:off x="631393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3</a:t>
            </a:r>
            <a:endParaRPr lang="ru-RU" sz="1200" dirty="0"/>
          </a:p>
        </p:txBody>
      </p:sp>
      <p:sp>
        <p:nvSpPr>
          <p:cNvPr id="36" name="ADS thesis 36"/>
          <p:cNvSpPr txBox="1"/>
          <p:nvPr/>
        </p:nvSpPr>
        <p:spPr>
          <a:xfrm>
            <a:off x="631393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Медиаинфляция удорожает охват и требует доказательств</a:t>
            </a:r>
            <a:endParaRPr lang="ru-RU" sz="1200" dirty="0"/>
          </a:p>
        </p:txBody>
      </p:sp>
      <p:sp>
        <p:nvSpPr>
          <p:cNvPr id="37" name="ADS line 37"/>
          <p:cNvSpPr/>
          <p:nvPr/>
        </p:nvSpPr>
        <p:spPr>
          <a:xfrm>
            <a:off x="631393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8" name="ADS label 38"/>
          <p:cNvSpPr txBox="1"/>
          <p:nvPr/>
        </p:nvSpPr>
        <p:spPr>
          <a:xfrm>
            <a:off x="631393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 дорожает в среднем на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28%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в 2026 г., медиаинфляция -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20%+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: охватным бюджетам нужна измеримая альтернатива</a:t>
            </a:r>
            <a:endParaRPr lang="ru-RU" sz="1200" dirty="0"/>
          </a:p>
        </p:txBody>
      </p:sp>
      <p:sp>
        <p:nvSpPr>
          <p:cNvPr id="39" name="ADS card 39"/>
          <p:cNvSpPr/>
          <p:nvPr/>
        </p:nvSpPr>
        <p:spPr>
          <a:xfrm>
            <a:off x="9041130" y="4242816"/>
            <a:ext cx="278206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0" name="ADS head 40"/>
          <p:cNvSpPr txBox="1"/>
          <p:nvPr/>
        </p:nvSpPr>
        <p:spPr>
          <a:xfrm>
            <a:off x="9205722" y="4334256"/>
            <a:ext cx="245287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Гипотеза 4</a:t>
            </a:r>
            <a:endParaRPr lang="ru-RU" sz="1200" dirty="0"/>
          </a:p>
        </p:txBody>
      </p:sp>
      <p:sp>
        <p:nvSpPr>
          <p:cNvPr id="41" name="ADS thesis 41"/>
          <p:cNvSpPr txBox="1"/>
          <p:nvPr/>
        </p:nvSpPr>
        <p:spPr>
          <a:xfrm>
            <a:off x="9205722" y="4608576"/>
            <a:ext cx="2452878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Трейд - якорь, бренд - точка роста ритейл-медиа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9205722" y="5084064"/>
            <a:ext cx="2452878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205722" y="5157216"/>
            <a:ext cx="2452878" cy="8961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60-65%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маркетинговых бюджетов FMCG (~200 млрд руб.) - трейд у транзакции; бренд-бюджеты </a:t>
            </a: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60-80 млрд руб.</a:t>
            </a: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 - зона RMN</a:t>
            </a:r>
            <a:endParaRPr lang="ru-RU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анализ</a:t>
            </a:r>
            <a:r>
              <a:rPr dirty="0">
                <a:solidFill>
                  <a:srgbClr val="6E6E6E"/>
                </a:solidFill>
              </a:rPr>
              <a:t> Magnit ADS; KPI - </a:t>
            </a:r>
            <a:r>
              <a:rPr dirty="0" err="1">
                <a:solidFill>
                  <a:srgbClr val="6E6E6E"/>
                </a:solidFill>
              </a:rPr>
              <a:t>ключевые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метрики</a:t>
            </a:r>
            <a:r>
              <a:rPr dirty="0">
                <a:solidFill>
                  <a:srgbClr val="6E6E6E"/>
                </a:solidFill>
              </a:rPr>
              <a:t>, </a:t>
            </a:r>
            <a:r>
              <a:rPr dirty="0" err="1">
                <a:solidFill>
                  <a:srgbClr val="6E6E6E"/>
                </a:solidFill>
              </a:rPr>
              <a:t>по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которым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рекламодатель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оценивает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канал</a:t>
            </a:r>
            <a:endParaRPr dirty="0">
              <a:solidFill>
                <a:srgbClr val="6E6E6E"/>
              </a:solidFill>
            </a:endParaRP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Матрица </a:t>
            </a:r>
            <a:r>
              <a:rPr dirty="0" err="1"/>
              <a:t>каналов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воронке</a:t>
            </a:r>
            <a:r>
              <a:rPr dirty="0"/>
              <a:t>: Magnit ADS </a:t>
            </a:r>
            <a:r>
              <a:rPr dirty="0" err="1"/>
              <a:t>закрывает</a:t>
            </a:r>
            <a:r>
              <a:rPr dirty="0"/>
              <a:t> </a:t>
            </a:r>
            <a:r>
              <a:rPr dirty="0" err="1"/>
              <a:t>путь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покупателя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охвата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транзакции</a:t>
            </a:r>
            <a:r>
              <a:rPr lang="ru-RU" dirty="0"/>
              <a:t> на 360</a:t>
            </a:r>
            <a:r>
              <a:rPr lang="ru-RU" baseline="30000" dirty="0"/>
              <a:t>о</a:t>
            </a:r>
            <a:endParaRPr baseline="30000" dirty="0"/>
          </a:p>
        </p:txBody>
      </p:sp>
      <p:sp>
        <p:nvSpPr>
          <p:cNvPr id="5" name="ADS label 5"/>
          <p:cNvSpPr txBox="1"/>
          <p:nvPr/>
        </p:nvSpPr>
        <p:spPr>
          <a:xfrm>
            <a:off x="365760" y="1051560"/>
            <a:ext cx="4114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Канал</a:t>
            </a:r>
            <a:endParaRPr lang="ru-RU" sz="1200" dirty="0"/>
          </a:p>
        </p:txBody>
      </p:sp>
      <p:sp>
        <p:nvSpPr>
          <p:cNvPr id="6" name="ADS label 6"/>
          <p:cNvSpPr txBox="1"/>
          <p:nvPr/>
        </p:nvSpPr>
        <p:spPr>
          <a:xfrm>
            <a:off x="4709160" y="105156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Задача в воронке</a:t>
            </a:r>
            <a:endParaRPr lang="ru-RU" sz="1200" dirty="0"/>
          </a:p>
        </p:txBody>
      </p:sp>
      <p:sp>
        <p:nvSpPr>
          <p:cNvPr id="7" name="ADS label 7"/>
          <p:cNvSpPr txBox="1"/>
          <p:nvPr/>
        </p:nvSpPr>
        <p:spPr>
          <a:xfrm>
            <a:off x="6675120" y="1051560"/>
            <a:ext cx="27889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Инвентарь Magnit ADS</a:t>
            </a:r>
            <a:endParaRPr lang="ru-RU" sz="1200" dirty="0"/>
          </a:p>
        </p:txBody>
      </p:sp>
      <p:sp>
        <p:nvSpPr>
          <p:cNvPr id="8" name="ADS label 8"/>
          <p:cNvSpPr txBox="1"/>
          <p:nvPr/>
        </p:nvSpPr>
        <p:spPr>
          <a:xfrm>
            <a:off x="9601200" y="1051560"/>
            <a:ext cx="141732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Модель оплаты и KPI</a:t>
            </a:r>
            <a:endParaRPr lang="ru-RU" sz="1200" dirty="0"/>
          </a:p>
        </p:txBody>
      </p:sp>
      <p:sp>
        <p:nvSpPr>
          <p:cNvPr id="9" name="ADS label 9"/>
          <p:cNvSpPr txBox="1"/>
          <p:nvPr/>
        </p:nvSpPr>
        <p:spPr>
          <a:xfrm>
            <a:off x="11155680" y="1051560"/>
            <a:ext cx="667512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Бюджет</a:t>
            </a:r>
            <a:endParaRPr lang="ru-RU" sz="1200" dirty="0"/>
          </a:p>
        </p:txBody>
      </p:sp>
      <p:sp>
        <p:nvSpPr>
          <p:cNvPr id="10" name="ADS line 10"/>
          <p:cNvSpPr/>
          <p:nvPr/>
        </p:nvSpPr>
        <p:spPr>
          <a:xfrm>
            <a:off x="4709160" y="12984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Freeform 10"/>
          <p:cNvSpPr/>
          <p:nvPr/>
        </p:nvSpPr>
        <p:spPr>
          <a:xfrm>
            <a:off x="365759" y="1371600"/>
            <a:ext cx="4114801" cy="676655"/>
          </a:xfrm>
          <a:custGeom>
            <a:avLst/>
            <a:gdLst/>
            <a:ahLst/>
            <a:cxnLst/>
            <a:rect l="l" t="t" r="r" b="b"/>
            <a:pathLst>
              <a:path w="4114801" h="676655">
                <a:moveTo>
                  <a:pt x="0" y="0"/>
                </a:moveTo>
                <a:lnTo>
                  <a:pt x="4114801" y="0"/>
                </a:lnTo>
                <a:lnTo>
                  <a:pt x="3901440" y="676655"/>
                </a:lnTo>
                <a:lnTo>
                  <a:pt x="213361" y="676655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DS chiptxt 12"/>
          <p:cNvSpPr txBox="1"/>
          <p:nvPr/>
        </p:nvSpPr>
        <p:spPr>
          <a:xfrm>
            <a:off x="624840" y="1408176"/>
            <a:ext cx="35966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OOH / TV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охват и знание</a:t>
            </a:r>
            <a:endParaRPr lang="ru-RU" sz="1200" dirty="0"/>
          </a:p>
        </p:txBody>
      </p:sp>
      <p:sp>
        <p:nvSpPr>
          <p:cNvPr id="13" name="ADS label 13"/>
          <p:cNvSpPr txBox="1"/>
          <p:nvPr/>
        </p:nvSpPr>
        <p:spPr>
          <a:xfrm>
            <a:off x="4709160" y="13716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Знание бренда и широкий охват</a:t>
            </a:r>
            <a:endParaRPr lang="ru-RU" sz="1200" dirty="0"/>
          </a:p>
        </p:txBody>
      </p:sp>
      <p:sp>
        <p:nvSpPr>
          <p:cNvPr id="14" name="ADS label 14"/>
          <p:cNvSpPr txBox="1"/>
          <p:nvPr/>
        </p:nvSpPr>
        <p:spPr>
          <a:xfrm>
            <a:off x="6675120" y="13716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RMN: DOOH и внешние охватные площадки через ЮЛ Магнит Маркета, фасадные экраны</a:t>
            </a:r>
            <a:endParaRPr lang="ru-RU" sz="1200" dirty="0"/>
          </a:p>
        </p:txBody>
      </p:sp>
      <p:sp>
        <p:nvSpPr>
          <p:cNvPr id="15" name="ADS label 15"/>
          <p:cNvSpPr txBox="1"/>
          <p:nvPr/>
        </p:nvSpPr>
        <p:spPr>
          <a:xfrm>
            <a:off x="9601200" y="13716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CPM; охват, brand lift</a:t>
            </a:r>
            <a:endParaRPr lang="ru-RU" sz="1200" dirty="0"/>
          </a:p>
        </p:txBody>
      </p:sp>
      <p:sp>
        <p:nvSpPr>
          <p:cNvPr id="16" name="ADS label 16"/>
          <p:cNvSpPr txBox="1"/>
          <p:nvPr/>
        </p:nvSpPr>
        <p:spPr>
          <a:xfrm>
            <a:off x="11155680" y="13716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</a:t>
            </a:r>
            <a:endParaRPr lang="ru-RU" sz="1200" dirty="0"/>
          </a:p>
        </p:txBody>
      </p:sp>
      <p:sp>
        <p:nvSpPr>
          <p:cNvPr id="17" name="ADS line 17"/>
          <p:cNvSpPr/>
          <p:nvPr/>
        </p:nvSpPr>
        <p:spPr>
          <a:xfrm>
            <a:off x="4709160" y="20756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Freeform 17"/>
          <p:cNvSpPr/>
          <p:nvPr/>
        </p:nvSpPr>
        <p:spPr>
          <a:xfrm>
            <a:off x="579120" y="2103120"/>
            <a:ext cx="3688079" cy="676655"/>
          </a:xfrm>
          <a:custGeom>
            <a:avLst/>
            <a:gdLst/>
            <a:ahLst/>
            <a:cxnLst/>
            <a:rect l="l" t="t" r="r" b="b"/>
            <a:pathLst>
              <a:path w="3688079" h="676655">
                <a:moveTo>
                  <a:pt x="0" y="0"/>
                </a:moveTo>
                <a:lnTo>
                  <a:pt x="3688079" y="0"/>
                </a:lnTo>
                <a:lnTo>
                  <a:pt x="3474720" y="676655"/>
                </a:lnTo>
                <a:lnTo>
                  <a:pt x="213359" y="676655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DS chiptxt 19"/>
          <p:cNvSpPr txBox="1"/>
          <p:nvPr/>
        </p:nvSpPr>
        <p:spPr>
          <a:xfrm>
            <a:off x="838199" y="2139696"/>
            <a:ext cx="316992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классический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экраны, радио, КСО</a:t>
            </a:r>
            <a:endParaRPr lang="ru-RU" sz="1200" dirty="0"/>
          </a:p>
        </p:txBody>
      </p:sp>
      <p:sp>
        <p:nvSpPr>
          <p:cNvPr id="20" name="ADS label 20"/>
          <p:cNvSpPr txBox="1"/>
          <p:nvPr/>
        </p:nvSpPr>
        <p:spPr>
          <a:xfrm>
            <a:off x="4709160" y="210312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Напоминание в магазине, охват офлайн-трафика</a:t>
            </a:r>
            <a:endParaRPr lang="ru-RU" sz="1200" dirty="0"/>
          </a:p>
        </p:txBody>
      </p:sp>
      <p:sp>
        <p:nvSpPr>
          <p:cNvPr id="21" name="ADS label 21"/>
          <p:cNvSpPr txBox="1"/>
          <p:nvPr/>
        </p:nvSpPr>
        <p:spPr>
          <a:xfrm>
            <a:off x="6675120" y="210312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ТВ-панели, радио, КСО, дисплеи покупателя - 81 тыс. устройств в 2027 г.</a:t>
            </a:r>
            <a:endParaRPr lang="ru-RU" sz="1200" dirty="0"/>
          </a:p>
        </p:txBody>
      </p:sp>
      <p:sp>
        <p:nvSpPr>
          <p:cNvPr id="22" name="ADS label 22"/>
          <p:cNvSpPr txBox="1"/>
          <p:nvPr/>
        </p:nvSpPr>
        <p:spPr>
          <a:xfrm>
            <a:off x="9601200" y="210312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пакеты; OTS</a:t>
            </a:r>
            <a:endParaRPr lang="ru-RU" sz="1200" dirty="0"/>
          </a:p>
        </p:txBody>
      </p:sp>
      <p:sp>
        <p:nvSpPr>
          <p:cNvPr id="23" name="ADS label 23"/>
          <p:cNvSpPr txBox="1"/>
          <p:nvPr/>
        </p:nvSpPr>
        <p:spPr>
          <a:xfrm>
            <a:off x="11155680" y="210312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Трейд, бренд</a:t>
            </a:r>
            <a:endParaRPr lang="ru-RU" sz="1200" dirty="0"/>
          </a:p>
        </p:txBody>
      </p:sp>
      <p:sp>
        <p:nvSpPr>
          <p:cNvPr id="24" name="ADS line 24"/>
          <p:cNvSpPr/>
          <p:nvPr/>
        </p:nvSpPr>
        <p:spPr>
          <a:xfrm>
            <a:off x="4709160" y="280720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5" name="Freeform 24"/>
          <p:cNvSpPr/>
          <p:nvPr/>
        </p:nvSpPr>
        <p:spPr>
          <a:xfrm>
            <a:off x="792479" y="2834640"/>
            <a:ext cx="3261361" cy="676656"/>
          </a:xfrm>
          <a:custGeom>
            <a:avLst/>
            <a:gdLst/>
            <a:ahLst/>
            <a:cxnLst/>
            <a:rect l="l" t="t" r="r" b="b"/>
            <a:pathLst>
              <a:path w="3261361" h="676656">
                <a:moveTo>
                  <a:pt x="0" y="0"/>
                </a:moveTo>
                <a:lnTo>
                  <a:pt x="3261361" y="0"/>
                </a:lnTo>
                <a:lnTo>
                  <a:pt x="304800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C9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ADS chiptxt 26"/>
          <p:cNvSpPr txBox="1"/>
          <p:nvPr/>
        </p:nvSpPr>
        <p:spPr>
          <a:xfrm>
            <a:off x="1051559" y="2871216"/>
            <a:ext cx="274320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In-store у полки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шелф-баннеры, РИМ</a:t>
            </a:r>
            <a:endParaRPr lang="ru-RU" sz="1200" dirty="0"/>
          </a:p>
        </p:txBody>
      </p:sp>
      <p:sp>
        <p:nvSpPr>
          <p:cNvPr id="27" name="ADS label 27"/>
          <p:cNvSpPr txBox="1"/>
          <p:nvPr/>
        </p:nvSpPr>
        <p:spPr>
          <a:xfrm>
            <a:off x="4709160" y="283464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Переключение в момент выбора</a:t>
            </a:r>
            <a:endParaRPr lang="ru-RU" sz="1200" dirty="0"/>
          </a:p>
        </p:txBody>
      </p:sp>
      <p:sp>
        <p:nvSpPr>
          <p:cNvPr id="28" name="ADS label 28"/>
          <p:cNvSpPr txBox="1"/>
          <p:nvPr/>
        </p:nvSpPr>
        <p:spPr>
          <a:xfrm>
            <a:off x="6675120" y="283464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Шелф-баннеры, прайсчекеры, РИМ; аукцион за место на полке</a:t>
            </a:r>
            <a:endParaRPr lang="ru-RU" sz="1200" dirty="0"/>
          </a:p>
        </p:txBody>
      </p:sp>
      <p:sp>
        <p:nvSpPr>
          <p:cNvPr id="29" name="ADS label 29"/>
          <p:cNvSpPr txBox="1"/>
          <p:nvPr/>
        </p:nvSpPr>
        <p:spPr>
          <a:xfrm>
            <a:off x="9601200" y="283464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Пакеты, CPM; sales lift</a:t>
            </a:r>
            <a:endParaRPr lang="ru-RU" sz="1200" dirty="0"/>
          </a:p>
        </p:txBody>
      </p:sp>
      <p:sp>
        <p:nvSpPr>
          <p:cNvPr id="30" name="ADS label 30"/>
          <p:cNvSpPr txBox="1"/>
          <p:nvPr/>
        </p:nvSpPr>
        <p:spPr>
          <a:xfrm>
            <a:off x="11155680" y="283464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31" name="ADS line 31"/>
          <p:cNvSpPr/>
          <p:nvPr/>
        </p:nvSpPr>
        <p:spPr>
          <a:xfrm>
            <a:off x="4709160" y="353872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Freeform 31"/>
          <p:cNvSpPr/>
          <p:nvPr/>
        </p:nvSpPr>
        <p:spPr>
          <a:xfrm>
            <a:off x="1005839" y="3566160"/>
            <a:ext cx="2834641" cy="676656"/>
          </a:xfrm>
          <a:custGeom>
            <a:avLst/>
            <a:gdLst/>
            <a:ahLst/>
            <a:cxnLst/>
            <a:rect l="l" t="t" r="r" b="b"/>
            <a:pathLst>
              <a:path w="2834641" h="676656">
                <a:moveTo>
                  <a:pt x="0" y="0"/>
                </a:moveTo>
                <a:lnTo>
                  <a:pt x="2834641" y="0"/>
                </a:lnTo>
                <a:lnTo>
                  <a:pt x="2621281" y="676656"/>
                </a:lnTo>
                <a:lnTo>
                  <a:pt x="213360" y="676656"/>
                </a:lnTo>
                <a:close/>
              </a:path>
            </a:pathLst>
          </a:custGeom>
          <a:solidFill>
            <a:srgbClr val="FF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DS chiptxt 33"/>
          <p:cNvSpPr txBox="1"/>
          <p:nvPr/>
        </p:nvSpPr>
        <p:spPr>
          <a:xfrm>
            <a:off x="1264919" y="3602736"/>
            <a:ext cx="231648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Персонализированные медиа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404040"/>
                </a:solidFill>
                <a:latin typeface="Arial"/>
                <a:cs typeface="Arial"/>
              </a:rPr>
              <a:t>соцсети и медиа в приложении</a:t>
            </a:r>
            <a:endParaRPr lang="ru-RU" sz="1200" dirty="0"/>
          </a:p>
        </p:txBody>
      </p:sp>
      <p:sp>
        <p:nvSpPr>
          <p:cNvPr id="34" name="ADS label 34"/>
          <p:cNvSpPr txBox="1"/>
          <p:nvPr/>
        </p:nvSpPr>
        <p:spPr>
          <a:xfrm>
            <a:off x="4709160" y="356616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Интерес и рассмотрение по сегментам</a:t>
            </a:r>
            <a:endParaRPr lang="ru-RU" sz="1200" dirty="0"/>
          </a:p>
        </p:txBody>
      </p:sp>
      <p:sp>
        <p:nvSpPr>
          <p:cNvPr id="35" name="ADS label 35"/>
          <p:cNvSpPr txBox="1"/>
          <p:nvPr/>
        </p:nvSpPr>
        <p:spPr>
          <a:xfrm>
            <a:off x="6675120" y="356616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UGC-factory и соцсети, баннеры и сторис в приложении, сегменты DMP</a:t>
            </a:r>
            <a:endParaRPr lang="ru-RU" sz="1200" dirty="0"/>
          </a:p>
        </p:txBody>
      </p:sp>
      <p:sp>
        <p:nvSpPr>
          <p:cNvPr id="36" name="ADS label 36"/>
          <p:cNvSpPr txBox="1"/>
          <p:nvPr/>
        </p:nvSpPr>
        <p:spPr>
          <a:xfrm>
            <a:off x="9601200" y="356616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CPM, CPV; CTR, охват сегмента</a:t>
            </a:r>
            <a:endParaRPr lang="ru-RU" sz="1200" dirty="0"/>
          </a:p>
        </p:txBody>
      </p:sp>
      <p:sp>
        <p:nvSpPr>
          <p:cNvPr id="37" name="ADS label 37"/>
          <p:cNvSpPr txBox="1"/>
          <p:nvPr/>
        </p:nvSpPr>
        <p:spPr>
          <a:xfrm>
            <a:off x="11155680" y="356616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Бренд, трейд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4709160" y="427024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Freeform 38"/>
          <p:cNvSpPr/>
          <p:nvPr/>
        </p:nvSpPr>
        <p:spPr>
          <a:xfrm>
            <a:off x="1219199" y="4297680"/>
            <a:ext cx="2407921" cy="676656"/>
          </a:xfrm>
          <a:custGeom>
            <a:avLst/>
            <a:gdLst/>
            <a:ahLst/>
            <a:cxnLst/>
            <a:rect l="l" t="t" r="r" b="b"/>
            <a:pathLst>
              <a:path w="2407921" h="676656">
                <a:moveTo>
                  <a:pt x="0" y="0"/>
                </a:moveTo>
                <a:lnTo>
                  <a:pt x="2407921" y="0"/>
                </a:lnTo>
                <a:lnTo>
                  <a:pt x="2194561" y="676656"/>
                </a:lnTo>
                <a:lnTo>
                  <a:pt x="213361" y="676656"/>
                </a:lnTo>
                <a:close/>
              </a:path>
            </a:pathLst>
          </a:custGeom>
          <a:solidFill>
            <a:srgbClr val="FF7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DS chiptxt 40"/>
          <p:cNvSpPr txBox="1"/>
          <p:nvPr/>
        </p:nvSpPr>
        <p:spPr>
          <a:xfrm>
            <a:off x="1478280" y="4334256"/>
            <a:ext cx="1889759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ИИ-рекомендации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подбор под контекст покупателя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4709160" y="429768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Подбор товара под задачу покупателя</a:t>
            </a:r>
            <a:endParaRPr lang="ru-RU" sz="1200" dirty="0"/>
          </a:p>
        </p:txBody>
      </p:sp>
      <p:sp>
        <p:nvSpPr>
          <p:cNvPr id="42" name="ADS label 42"/>
          <p:cNvSpPr txBox="1"/>
          <p:nvPr/>
        </p:nvSpPr>
        <p:spPr>
          <a:xfrm>
            <a:off x="6675120" y="429768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Рекомендательные блоки, ИИ-ассистент, триггеры и контекст покупки</a:t>
            </a:r>
            <a:endParaRPr lang="ru-RU" sz="1200" dirty="0"/>
          </a:p>
        </p:txBody>
      </p:sp>
      <p:sp>
        <p:nvSpPr>
          <p:cNvPr id="43" name="ADS label 43"/>
          <p:cNvSpPr txBox="1"/>
          <p:nvPr/>
        </p:nvSpPr>
        <p:spPr>
          <a:xfrm>
            <a:off x="9601200" y="429768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CPA; конверсия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11155680" y="429768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45" name="ADS line 45"/>
          <p:cNvSpPr/>
          <p:nvPr/>
        </p:nvSpPr>
        <p:spPr>
          <a:xfrm>
            <a:off x="4709160" y="500176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6" name="Freeform 45"/>
          <p:cNvSpPr/>
          <p:nvPr/>
        </p:nvSpPr>
        <p:spPr>
          <a:xfrm>
            <a:off x="1432560" y="5029200"/>
            <a:ext cx="1981200" cy="676656"/>
          </a:xfrm>
          <a:custGeom>
            <a:avLst/>
            <a:gdLst/>
            <a:ahLst/>
            <a:cxnLst/>
            <a:rect l="l" t="t" r="r" b="b"/>
            <a:pathLst>
              <a:path w="1981200" h="676656">
                <a:moveTo>
                  <a:pt x="0" y="0"/>
                </a:moveTo>
                <a:lnTo>
                  <a:pt x="1981200" y="0"/>
                </a:lnTo>
                <a:lnTo>
                  <a:pt x="1767840" y="676656"/>
                </a:lnTo>
                <a:lnTo>
                  <a:pt x="213359" y="676656"/>
                </a:lnTo>
                <a:close/>
              </a:path>
            </a:pathLst>
          </a:custGeom>
          <a:solidFill>
            <a:srgbClr val="FF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ADS chiptxt 47"/>
          <p:cNvSpPr txBox="1"/>
          <p:nvPr/>
        </p:nvSpPr>
        <p:spPr>
          <a:xfrm>
            <a:off x="1691639" y="5065776"/>
            <a:ext cx="1463040" cy="6035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FFFF"/>
                </a:solidFill>
                <a:latin typeface="Arial"/>
                <a:cs typeface="Arial"/>
              </a:rPr>
              <a:t>Performance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850" b="0" dirty="0">
                <a:solidFill>
                  <a:srgbClr val="FFFFFF"/>
                </a:solidFill>
                <a:latin typeface="Arial"/>
                <a:cs typeface="Arial"/>
              </a:rPr>
              <a:t>поиск и рекомендации</a:t>
            </a:r>
            <a:endParaRPr lang="ru-RU" sz="1200" dirty="0"/>
          </a:p>
        </p:txBody>
      </p:sp>
      <p:sp>
        <p:nvSpPr>
          <p:cNvPr id="48" name="ADS label 48"/>
          <p:cNvSpPr txBox="1"/>
          <p:nvPr/>
        </p:nvSpPr>
        <p:spPr>
          <a:xfrm>
            <a:off x="4709160" y="5029200"/>
            <a:ext cx="173736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1" dirty="0">
                <a:solidFill>
                  <a:srgbClr val="000000"/>
                </a:solidFill>
                <a:latin typeface="Arial"/>
                <a:cs typeface="Arial"/>
              </a:rPr>
              <a:t>Покупка здесь и сейчас</a:t>
            </a:r>
            <a:endParaRPr lang="ru-RU" sz="1200" dirty="0"/>
          </a:p>
        </p:txBody>
      </p:sp>
      <p:sp>
        <p:nvSpPr>
          <p:cNvPr id="49" name="ADS label 49"/>
          <p:cNvSpPr txBox="1"/>
          <p:nvPr/>
        </p:nvSpPr>
        <p:spPr>
          <a:xfrm>
            <a:off x="6675120" y="5029200"/>
            <a:ext cx="2697479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Продвижение в поиске и рекомендациях, кэшбэк баллами М+</a:t>
            </a:r>
            <a:endParaRPr lang="ru-RU" sz="1200" dirty="0"/>
          </a:p>
        </p:txBody>
      </p:sp>
      <p:sp>
        <p:nvSpPr>
          <p:cNvPr id="50" name="ADS label 50"/>
          <p:cNvSpPr txBox="1"/>
          <p:nvPr/>
        </p:nvSpPr>
        <p:spPr>
          <a:xfrm>
            <a:off x="9601200" y="5029200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CPC, CPA, CPO; ROAS</a:t>
            </a:r>
            <a:endParaRPr lang="ru-RU" sz="1200" dirty="0"/>
          </a:p>
        </p:txBody>
      </p:sp>
      <p:sp>
        <p:nvSpPr>
          <p:cNvPr id="51" name="ADS label 51"/>
          <p:cNvSpPr txBox="1"/>
          <p:nvPr/>
        </p:nvSpPr>
        <p:spPr>
          <a:xfrm>
            <a:off x="11155680" y="5029200"/>
            <a:ext cx="57607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50" b="0" dirty="0">
                <a:solidFill>
                  <a:srgbClr val="000000"/>
                </a:solidFill>
                <a:latin typeface="Arial"/>
                <a:cs typeface="Arial"/>
              </a:rPr>
              <a:t>Трейд</a:t>
            </a:r>
            <a:endParaRPr lang="ru-RU" sz="1200" dirty="0"/>
          </a:p>
        </p:txBody>
      </p:sp>
      <p:sp>
        <p:nvSpPr>
          <p:cNvPr id="52" name="ADS line 52"/>
          <p:cNvSpPr/>
          <p:nvPr/>
        </p:nvSpPr>
        <p:spPr>
          <a:xfrm>
            <a:off x="4709160" y="5733288"/>
            <a:ext cx="711403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1619251" y="6238124"/>
            <a:ext cx="9277350" cy="391275"/>
          </a:xfrm>
        </p:spPr>
        <p:txBody>
          <a:bodyPr lIns="0" tIns="0"/>
          <a:lstStyle/>
          <a:p>
            <a:pPr>
              <a:spcBef>
                <a:spcPts val="0"/>
              </a:spcBef>
            </a:pPr>
            <a:r>
              <a:rPr lang="ru-RU" dirty="0">
                <a:solidFill>
                  <a:srgbClr val="6E6E6E"/>
                </a:solidFill>
              </a:rPr>
              <a:t>Источник: стратегия </a:t>
            </a:r>
            <a:r>
              <a:rPr lang="en" dirty="0">
                <a:solidFill>
                  <a:srgbClr val="6E6E6E"/>
                </a:solidFill>
              </a:rPr>
              <a:t>Magnit AdTech 2026-2031 (</a:t>
            </a:r>
            <a:r>
              <a:rPr lang="ru-RU" dirty="0">
                <a:solidFill>
                  <a:srgbClr val="6E6E6E"/>
                </a:solidFill>
              </a:rPr>
              <a:t>потенциал инвентаря М+ и </a:t>
            </a:r>
            <a:r>
              <a:rPr lang="en" dirty="0">
                <a:solidFill>
                  <a:srgbClr val="6E6E6E"/>
                </a:solidFill>
              </a:rPr>
              <a:t>DAC </a:t>
            </a:r>
            <a:r>
              <a:rPr lang="ru-RU" dirty="0">
                <a:solidFill>
                  <a:srgbClr val="6E6E6E"/>
                </a:solidFill>
              </a:rPr>
              <a:t>программы лояльности - оценка июня 2026 г.)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2050" y="6362699"/>
            <a:ext cx="485775" cy="266700"/>
          </a:xfrm>
        </p:spPr>
        <p:txBody>
          <a:bodyPr/>
          <a:lstStyle/>
          <a:p>
            <a:fld id="{527D41D6-7756-D84E-A787-9DAD2BF0F149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64176" y="225092"/>
            <a:ext cx="10594970" cy="660733"/>
          </a:xfrm>
        </p:spPr>
        <p:txBody>
          <a:bodyPr/>
          <a:lstStyle/>
          <a:p>
            <a:r>
              <a:rPr lang="ru-RU" dirty="0"/>
              <a:t>М+ как перформанс-инструмент: кешбэк баллами – </a:t>
            </a:r>
            <a:br>
              <a:rPr lang="en-US" dirty="0"/>
            </a:br>
            <a:r>
              <a:rPr lang="ru-RU" dirty="0"/>
              <a:t>оплата за покупку, а не за показ</a:t>
            </a:r>
          </a:p>
        </p:txBody>
      </p:sp>
      <p:sp>
        <p:nvSpPr>
          <p:cNvPr id="5" name="ADS card 5"/>
          <p:cNvSpPr/>
          <p:nvPr/>
        </p:nvSpPr>
        <p:spPr>
          <a:xfrm>
            <a:off x="365760" y="1024128"/>
            <a:ext cx="73152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" name="ADS head 6"/>
          <p:cNvSpPr txBox="1"/>
          <p:nvPr/>
        </p:nvSpPr>
        <p:spPr>
          <a:xfrm>
            <a:off x="548640" y="1152144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Как работает механика</a:t>
            </a:r>
            <a:endParaRPr lang="ru-RU" sz="1200" dirty="0"/>
          </a:p>
        </p:txBody>
      </p:sp>
      <p:sp>
        <p:nvSpPr>
          <p:cNvPr id="7" name="ADS thesis 7"/>
          <p:cNvSpPr txBox="1"/>
          <p:nvPr/>
        </p:nvSpPr>
        <p:spPr>
          <a:xfrm>
            <a:off x="548640" y="149961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Поставщик платит за покупку своего товара, а не за показ - это модель перформанса</a:t>
            </a:r>
            <a:endParaRPr lang="ru-RU" sz="1200" dirty="0"/>
          </a:p>
        </p:txBody>
      </p:sp>
      <p:sp>
        <p:nvSpPr>
          <p:cNvPr id="8" name="ADS line 8"/>
          <p:cNvSpPr/>
          <p:nvPr/>
        </p:nvSpPr>
        <p:spPr>
          <a:xfrm>
            <a:off x="548640" y="2011680"/>
            <a:ext cx="69494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" name="ADS label 9"/>
          <p:cNvSpPr txBox="1"/>
          <p:nvPr/>
        </p:nvSpPr>
        <p:spPr>
          <a:xfrm>
            <a:off x="548640" y="2084832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Путь от бюджета поставщика до повторной покупки</a:t>
            </a:r>
            <a:endParaRPr lang="ru-RU" sz="1200" dirty="0"/>
          </a:p>
        </p:txBody>
      </p:sp>
      <p:sp>
        <p:nvSpPr>
          <p:cNvPr id="10" name="ADS chip 10"/>
          <p:cNvSpPr/>
          <p:nvPr/>
        </p:nvSpPr>
        <p:spPr>
          <a:xfrm>
            <a:off x="548640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chiptxt 11"/>
          <p:cNvSpPr txBox="1"/>
          <p:nvPr/>
        </p:nvSpPr>
        <p:spPr>
          <a:xfrm>
            <a:off x="640080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Бюджет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повышенный кэшбэк баллами на SKU</a:t>
            </a:r>
            <a:endParaRPr lang="ru-RU" sz="1200" dirty="0"/>
          </a:p>
        </p:txBody>
      </p:sp>
      <p:sp>
        <p:nvSpPr>
          <p:cNvPr id="12" name="ADS arrow 12"/>
          <p:cNvSpPr/>
          <p:nvPr/>
        </p:nvSpPr>
        <p:spPr>
          <a:xfrm rot="5400000">
            <a:off x="1772107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chip 13"/>
          <p:cNvSpPr/>
          <p:nvPr/>
        </p:nvSpPr>
        <p:spPr>
          <a:xfrm>
            <a:off x="1982419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4" name="ADS chiptxt 14"/>
          <p:cNvSpPr txBox="1"/>
          <p:nvPr/>
        </p:nvSpPr>
        <p:spPr>
          <a:xfrm>
            <a:off x="2073859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Таргетинг М+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оффер по истории покупок в приложении и чеке</a:t>
            </a:r>
            <a:endParaRPr lang="ru-RU" sz="1200" dirty="0"/>
          </a:p>
        </p:txBody>
      </p:sp>
      <p:sp>
        <p:nvSpPr>
          <p:cNvPr id="15" name="ADS arrow 15"/>
          <p:cNvSpPr/>
          <p:nvPr/>
        </p:nvSpPr>
        <p:spPr>
          <a:xfrm rot="5400000">
            <a:off x="3205886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chip 16"/>
          <p:cNvSpPr/>
          <p:nvPr/>
        </p:nvSpPr>
        <p:spPr>
          <a:xfrm>
            <a:off x="3416198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7" name="ADS chiptxt 17"/>
          <p:cNvSpPr txBox="1"/>
          <p:nvPr/>
        </p:nvSpPr>
        <p:spPr>
          <a:xfrm>
            <a:off x="3507638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Покупка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онлайн или в магазине по карте М+</a:t>
            </a:r>
            <a:endParaRPr lang="ru-RU" sz="1200" dirty="0"/>
          </a:p>
        </p:txBody>
      </p:sp>
      <p:sp>
        <p:nvSpPr>
          <p:cNvPr id="18" name="ADS arrow 18"/>
          <p:cNvSpPr/>
          <p:nvPr/>
        </p:nvSpPr>
        <p:spPr>
          <a:xfrm rot="5400000">
            <a:off x="4639665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pink 19"/>
          <p:cNvSpPr/>
          <p:nvPr/>
        </p:nvSpPr>
        <p:spPr>
          <a:xfrm>
            <a:off x="4849977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0" name="ADS pinktxt 20"/>
          <p:cNvSpPr txBox="1"/>
          <p:nvPr/>
        </p:nvSpPr>
        <p:spPr>
          <a:xfrm>
            <a:off x="4941417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Начисление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только после покупки - оплата за результат</a:t>
            </a:r>
            <a:endParaRPr lang="ru-RU" sz="1200" dirty="0"/>
          </a:p>
        </p:txBody>
      </p:sp>
      <p:sp>
        <p:nvSpPr>
          <p:cNvPr id="21" name="ADS arrow 21"/>
          <p:cNvSpPr/>
          <p:nvPr/>
        </p:nvSpPr>
        <p:spPr>
          <a:xfrm rot="5400000">
            <a:off x="6073444" y="2798064"/>
            <a:ext cx="182880" cy="91440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2" name="ADS chip 22"/>
          <p:cNvSpPr/>
          <p:nvPr/>
        </p:nvSpPr>
        <p:spPr>
          <a:xfrm>
            <a:off x="6283756" y="2340864"/>
            <a:ext cx="1214323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3" name="ADS chiptxt 23"/>
          <p:cNvSpPr txBox="1"/>
          <p:nvPr/>
        </p:nvSpPr>
        <p:spPr>
          <a:xfrm>
            <a:off x="6375196" y="2386584"/>
            <a:ext cx="1031443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Списание баллов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покупатель возвращается в Магнит</a:t>
            </a:r>
            <a:endParaRPr lang="ru-RU" sz="1200" dirty="0"/>
          </a:p>
        </p:txBody>
      </p:sp>
      <p:sp>
        <p:nvSpPr>
          <p:cNvPr id="24" name="ADS label 24"/>
          <p:cNvSpPr txBox="1"/>
          <p:nvPr/>
        </p:nvSpPr>
        <p:spPr>
          <a:xfrm>
            <a:off x="548640" y="3511296"/>
            <a:ext cx="69494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Почему это перформанс-инструмент</a:t>
            </a:r>
            <a:endParaRPr lang="ru-RU" sz="1200" dirty="0"/>
          </a:p>
        </p:txBody>
      </p:sp>
      <p:sp>
        <p:nvSpPr>
          <p:cNvPr id="25" name="ADS chip 25"/>
          <p:cNvSpPr/>
          <p:nvPr/>
        </p:nvSpPr>
        <p:spPr>
          <a:xfrm>
            <a:off x="548640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chiptxt 26"/>
          <p:cNvSpPr txBox="1"/>
          <p:nvPr/>
        </p:nvSpPr>
        <p:spPr>
          <a:xfrm>
            <a:off x="658368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Оплата за результат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расходуется только на фактические покупки SKU - аналог CPA и CPO</a:t>
            </a:r>
            <a:endParaRPr lang="ru-RU" sz="1200" dirty="0"/>
          </a:p>
        </p:txBody>
      </p:sp>
      <p:sp>
        <p:nvSpPr>
          <p:cNvPr id="27" name="ADS chip 27"/>
          <p:cNvSpPr/>
          <p:nvPr/>
        </p:nvSpPr>
        <p:spPr>
          <a:xfrm>
            <a:off x="2901696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8" name="ADS chiptxt 28"/>
          <p:cNvSpPr txBox="1"/>
          <p:nvPr/>
        </p:nvSpPr>
        <p:spPr>
          <a:xfrm>
            <a:off x="3011424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Замкнутая аналитика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покупка привязана к ID лояльности: видим инкремент продаж и повтор онлайн и офлайн</a:t>
            </a:r>
            <a:endParaRPr lang="ru-RU" sz="1200" dirty="0"/>
          </a:p>
        </p:txBody>
      </p:sp>
      <p:sp>
        <p:nvSpPr>
          <p:cNvPr id="29" name="ADS chip 29"/>
          <p:cNvSpPr/>
          <p:nvPr/>
        </p:nvSpPr>
        <p:spPr>
          <a:xfrm>
            <a:off x="5254751" y="3767328"/>
            <a:ext cx="2243328" cy="100584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0" name="ADS chiptxt 30"/>
          <p:cNvSpPr txBox="1"/>
          <p:nvPr/>
        </p:nvSpPr>
        <p:spPr>
          <a:xfrm>
            <a:off x="5364480" y="3813048"/>
            <a:ext cx="2023871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Точный таргетинг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сегменты по чекам М+: новые покупатели, отток, кросс-категории</a:t>
            </a:r>
            <a:endParaRPr lang="ru-RU" sz="1200" dirty="0"/>
          </a:p>
        </p:txBody>
      </p:sp>
      <p:sp>
        <p:nvSpPr>
          <p:cNvPr id="31" name="ADS pink 31"/>
          <p:cNvSpPr/>
          <p:nvPr/>
        </p:nvSpPr>
        <p:spPr>
          <a:xfrm>
            <a:off x="548640" y="4901183"/>
            <a:ext cx="6949440" cy="621792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2" name="ADS pinktxt 32"/>
          <p:cNvSpPr txBox="1"/>
          <p:nvPr/>
        </p:nvSpPr>
        <p:spPr>
          <a:xfrm>
            <a:off x="640080" y="4946903"/>
            <a:ext cx="6766559" cy="53035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Эффект для поставщика - измеримый прирост продаж и новых покупателей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Магнита - рост трафика и частоты покупок без отдельного рекламного бюджета</a:t>
            </a:r>
            <a:endParaRPr lang="ru-RU" sz="1200" dirty="0"/>
          </a:p>
        </p:txBody>
      </p:sp>
      <p:sp>
        <p:nvSpPr>
          <p:cNvPr id="33" name="ADS card 33"/>
          <p:cNvSpPr/>
          <p:nvPr/>
        </p:nvSpPr>
        <p:spPr>
          <a:xfrm>
            <a:off x="7863840" y="1024128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head 34"/>
          <p:cNvSpPr txBox="1"/>
          <p:nvPr/>
        </p:nvSpPr>
        <p:spPr>
          <a:xfrm>
            <a:off x="8046719" y="1152144"/>
            <a:ext cx="359359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М+ в контуре AdTech</a:t>
            </a:r>
            <a:endParaRPr lang="ru-RU" sz="1200" dirty="0"/>
          </a:p>
        </p:txBody>
      </p:sp>
      <p:sp>
        <p:nvSpPr>
          <p:cNvPr id="35" name="ADS thesis 35"/>
          <p:cNvSpPr txBox="1"/>
          <p:nvPr/>
        </p:nvSpPr>
        <p:spPr>
          <a:xfrm>
            <a:off x="8046719" y="1499616"/>
            <a:ext cx="3593592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Монетизацию М+ ведет общий sales force AdTech</a:t>
            </a:r>
            <a:endParaRPr lang="ru-RU" sz="1200" dirty="0"/>
          </a:p>
        </p:txBody>
      </p:sp>
      <p:sp>
        <p:nvSpPr>
          <p:cNvPr id="36" name="ADS line 36"/>
          <p:cNvSpPr/>
          <p:nvPr/>
        </p:nvSpPr>
        <p:spPr>
          <a:xfrm>
            <a:off x="8046719" y="2011680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label 37"/>
          <p:cNvSpPr txBox="1"/>
          <p:nvPr/>
        </p:nvSpPr>
        <p:spPr>
          <a:xfrm>
            <a:off x="8046719" y="2084832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Масштаб</a:t>
            </a:r>
            <a:endParaRPr lang="ru-RU" sz="1200" dirty="0"/>
          </a:p>
        </p:txBody>
      </p:sp>
      <p:sp>
        <p:nvSpPr>
          <p:cNvPr id="38" name="ADS label 38"/>
          <p:cNvSpPr txBox="1"/>
          <p:nvPr/>
        </p:nvSpPr>
        <p:spPr>
          <a:xfrm>
            <a:off x="8046720" y="234086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~</a:t>
            </a:r>
            <a:r>
              <a:rPr lang="en-US" sz="2200" b="1" dirty="0">
                <a:solidFill>
                  <a:srgbClr val="FF452C"/>
                </a:solidFill>
                <a:latin typeface="Arial"/>
                <a:cs typeface="Arial"/>
              </a:rPr>
              <a:t>5,4</a:t>
            </a: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 млрд руб.</a:t>
            </a:r>
            <a:endParaRPr lang="ru-RU" sz="1200" dirty="0"/>
          </a:p>
        </p:txBody>
      </p:sp>
      <p:sp>
        <p:nvSpPr>
          <p:cNvPr id="39" name="ADS label 39"/>
          <p:cNvSpPr txBox="1"/>
          <p:nvPr/>
        </p:nvSpPr>
        <p:spPr>
          <a:xfrm>
            <a:off x="8046720" y="272491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потенциал инвентаря М+ (CRM / CVM) в 2026 г.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8046720" y="3118104"/>
            <a:ext cx="35935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200" b="1" dirty="0">
                <a:solidFill>
                  <a:srgbClr val="FF452C"/>
                </a:solidFill>
                <a:latin typeface="Arial"/>
                <a:cs typeface="Arial"/>
              </a:rPr>
              <a:t>20-25 млн</a:t>
            </a:r>
            <a:endParaRPr lang="ru-RU" sz="1200" dirty="0"/>
          </a:p>
        </p:txBody>
      </p:sp>
      <p:sp>
        <p:nvSpPr>
          <p:cNvPr id="41" name="ADS label 41"/>
          <p:cNvSpPr txBox="1"/>
          <p:nvPr/>
        </p:nvSpPr>
        <p:spPr>
          <a:xfrm>
            <a:off x="8046720" y="3502152"/>
            <a:ext cx="359359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DAC, которые пользуются программой лояльности</a:t>
            </a:r>
            <a:endParaRPr lang="ru-RU" sz="1200" dirty="0"/>
          </a:p>
        </p:txBody>
      </p:sp>
      <p:sp>
        <p:nvSpPr>
          <p:cNvPr id="42" name="ADS line 42"/>
          <p:cNvSpPr/>
          <p:nvPr/>
        </p:nvSpPr>
        <p:spPr>
          <a:xfrm>
            <a:off x="8046720" y="3968496"/>
            <a:ext cx="359359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3" name="ADS label 43"/>
          <p:cNvSpPr txBox="1"/>
          <p:nvPr/>
        </p:nvSpPr>
        <p:spPr>
          <a:xfrm>
            <a:off x="8046720" y="4041648"/>
            <a:ext cx="35935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Что делаем в 2027 г.</a:t>
            </a:r>
            <a:endParaRPr lang="ru-RU" sz="1200" dirty="0"/>
          </a:p>
        </p:txBody>
      </p:sp>
      <p:sp>
        <p:nvSpPr>
          <p:cNvPr id="44" name="ADS label 44"/>
          <p:cNvSpPr txBox="1"/>
          <p:nvPr/>
        </p:nvSpPr>
        <p:spPr>
          <a:xfrm>
            <a:off x="8046720" y="4315968"/>
            <a:ext cx="3593592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Реализуем условные бонусы на инвентаре М+ (кроме игр)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Включаем кэшбэк баллами в перформанс-пакеты вместе с поиском и in-store у полки</a:t>
            </a:r>
            <a:endParaRPr lang="ru-RU" sz="1200" dirty="0"/>
          </a:p>
          <a:p>
            <a:pPr marL="0" indent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•</a:t>
            </a: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 Продаем М+ единым оффером с другим инвентарем - кратный рост выручки г/г</a:t>
            </a:r>
            <a:endParaRPr lang="ru-RU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отчетность X5 (AdIndex, Oborot.ru), дайджест E-Retail Media АРИР за I кв. 2026, Sostav, Коммерсантъ, CNews, Data Insight, «Постмаркетинг»;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ysClr val="windowText" lastClr="000000"/>
                </a:solidFill>
              </a:rPr>
              <a:t>Retail Media </a:t>
            </a:r>
            <a:r>
              <a:rPr lang="ru-RU" dirty="0">
                <a:solidFill>
                  <a:sysClr val="windowText" lastClr="000000"/>
                </a:solidFill>
              </a:rPr>
              <a:t>находится в фокусе внимания ключевых </a:t>
            </a:r>
            <a:br>
              <a:rPr lang="ru-RU" dirty="0">
                <a:solidFill>
                  <a:sysClr val="windowText" lastClr="000000"/>
                </a:solidFill>
              </a:rPr>
            </a:br>
            <a:r>
              <a:rPr lang="en-US" dirty="0">
                <a:solidFill>
                  <a:sysClr val="windowText" lastClr="000000"/>
                </a:solidFill>
              </a:rPr>
              <a:t>AdTech</a:t>
            </a:r>
            <a:r>
              <a:rPr lang="ru-RU" dirty="0">
                <a:solidFill>
                  <a:sysClr val="windowText" lastClr="000000"/>
                </a:solidFill>
              </a:rPr>
              <a:t>-игроков на рынке РФ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299" y="1037230"/>
          <a:ext cx="11459526" cy="5012976"/>
        </p:xfrm>
        <a:graphic>
          <a:graphicData uri="http://schemas.openxmlformats.org/drawingml/2006/table">
            <a:tbl>
              <a:tblPr firstRow="1"/>
              <a:tblGrid>
                <a:gridCol w="1310376">
                  <a:extLst>
                    <a:ext uri="{9D8B030D-6E8A-4147-A177-3AD203B41FA5}">
                      <a16:colId xmlns:a16="http://schemas.microsoft.com/office/drawing/2014/main" val="3053660834"/>
                    </a:ext>
                  </a:extLst>
                </a:gridCol>
                <a:gridCol w="18833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3641">
                  <a:extLst>
                    <a:ext uri="{9D8B030D-6E8A-4147-A177-3AD203B41FA5}">
                      <a16:colId xmlns:a16="http://schemas.microsoft.com/office/drawing/2014/main" val="633549615"/>
                    </a:ext>
                  </a:extLst>
                </a:gridCol>
                <a:gridCol w="6082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376">
                <a:tc gridSpan="2">
                  <a:txBody>
                    <a:bodyPr/>
                    <a:lstStyle/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+mn-lt"/>
                        </a:rPr>
                        <a:t>Отрасль конкурента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tx2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Конкуренты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Оценка деятельности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520"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Ритейл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Retail Media Brick &amp; Mortar</a:t>
                      </a:r>
                      <a:r>
                        <a:rPr lang="ru-RU" sz="1200" b="1" dirty="0">
                          <a:solidFill>
                            <a:sysClr val="windowText" lastClr="000000"/>
                          </a:solidFill>
                        </a:rPr>
                        <a:t> / </a:t>
                      </a:r>
                      <a:r>
                        <a:rPr lang="en-US" sz="1200" b="1" dirty="0">
                          <a:solidFill>
                            <a:sysClr val="windowText" lastClr="000000"/>
                          </a:solidFill>
                        </a:rPr>
                        <a:t>e-grocery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Х5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Сбер (Сбер Маркет, Купер, Самокат)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Медленно наращивают потенциал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retail media </a:t>
                      </a:r>
                      <a:br>
                        <a:rPr lang="ru-RU" sz="1200" dirty="0">
                          <a:solidFill>
                            <a:sysClr val="windowText" lastClr="000000"/>
                          </a:solidFill>
                        </a:rPr>
                      </a:br>
                      <a:r>
                        <a:rPr lang="ru-RU" sz="1200" dirty="0">
                          <a:solidFill>
                            <a:sysClr val="windowText" lastClr="000000"/>
                          </a:solidFill>
                        </a:rPr>
                        <a:t>и развиваются параллельно с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</a:rPr>
                        <a:t>Magnit ADS</a:t>
                      </a:r>
                      <a:endParaRPr lang="ru-RU" sz="1200" kern="1200" dirty="0">
                        <a:solidFill>
                          <a:srgbClr val="000000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Прочие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Лента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ВкусВилл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Метро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Ашан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Имеют потенциал внедрения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white-label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решения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рекламной платформы от Магнит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ADS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520">
                <a:tc rowSpan="3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E-com &amp; 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Маркетплейсы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</a:t>
                      </a: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RWB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Реализовали потенциал рекламной платформы</a:t>
                      </a:r>
                      <a:endParaRPr lang="en-US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marL="171450" indent="-171450" algn="l">
                        <a:buFontTx/>
                        <a:buChar char="-"/>
                      </a:pP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: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Ozon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тестирует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</a:p>
                    <a:p>
                      <a:pPr marL="628628" lvl="1" indent="-171450" algn="l">
                        <a:buFontTx/>
                        <a:buChar char="-"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WB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развивает </a:t>
                      </a:r>
                      <a:r>
                        <a:rPr lang="en-US" sz="1200" dirty="0" err="1">
                          <a:solidFill>
                            <a:srgbClr val="000000"/>
                          </a:solidFill>
                          <a:latin typeface="Arial"/>
                        </a:rPr>
                        <a:t>Wibes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Традиционный </a:t>
                      </a: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rial"/>
                        </a:rPr>
                        <a:t>digital</a:t>
                      </a:r>
                      <a:endParaRPr lang="ru-RU" sz="12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Яндекс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Сфокусированы на развитии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retail media 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посредством подключения 30+ небольших ритейлеров (2025-2026 гг.)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520"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/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VK</a:t>
                      </a:r>
                      <a:endParaRPr lang="ru-RU" sz="12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Развивают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shoppable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-механики (в том числе с 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/>
                        </a:rPr>
                        <a:t>Magnit ADS)</a:t>
                      </a: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, </a:t>
                      </a:r>
                      <a:b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200" dirty="0">
                          <a:solidFill>
                            <a:srgbClr val="000000"/>
                          </a:solidFill>
                          <a:latin typeface="Arial"/>
                        </a:rPr>
                        <a:t>но имеют проблемы с качеством трафика и их низкой платежеспособностью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37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Источники: 1. АКАР (I кв. 2026), «Постмаркетинг» (1П 2026), консенсус-прогноз ADPASS, Easy Commerce, Data Insight, АРИР, разъяснения ФАС от 10.03 и 25.03.2026, Sostav, AdIndex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Магнит </a:t>
            </a:r>
            <a:r>
              <a:rPr lang="en-US" dirty="0"/>
              <a:t>ADS </a:t>
            </a:r>
            <a:r>
              <a:rPr lang="ru-RU" dirty="0"/>
              <a:t>внедряет в операционную практику ключевые тренды рекламного рынка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5325618"/>
              </p:ext>
            </p:extLst>
          </p:nvPr>
        </p:nvGraphicFramePr>
        <p:xfrm>
          <a:off x="367284" y="959020"/>
          <a:ext cx="11457432" cy="5121132"/>
        </p:xfrm>
        <a:graphic>
          <a:graphicData uri="http://schemas.openxmlformats.org/drawingml/2006/table">
            <a:tbl>
              <a:tblPr firstRow="1"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583"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Тренды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Изменения на рынке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600" b="1" dirty="0">
                          <a:solidFill>
                            <a:schemeClr val="tx2"/>
                          </a:solidFill>
                          <a:latin typeface="Arial"/>
                        </a:rPr>
                        <a:t>Инициативы Magnit ADS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7092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Оптимизация бюджетов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Топ-150 рекламодателей сократили расходы на 11% в 1П 2026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бюджеты не выделяют, текущие переводят в каналы с доказуемым эффектом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baseline="0" dirty="0">
                          <a:solidFill>
                            <a:srgbClr val="000000"/>
                          </a:solidFill>
                          <a:latin typeface="Arial"/>
                        </a:rPr>
                        <a:t>В рамках бренд-маркетинга все больше требуется демонстрация эффективности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Внедряем: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Кост-эффективные рекламные инструменты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Пост-кампейн аналитику для рекламодателя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Прозрачность рекламных инструментов и их верификация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Демонстрация рынку эффекта от инвестиций в ритейл медиа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Retail Media Network</a:t>
                      </a:r>
                      <a:endParaRPr lang="ru-RU" sz="110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проникновения </a:t>
                      </a:r>
                    </a:p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 в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Ключевые игроки внедряют ИИ: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личные рекламные кабинеты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На этапе прогнозирования эффектов от рекламных кампаний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При принятии решений о новых запусках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Запускаем: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ИИ-ассистента в личном кабинете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Авто-стратегии с помощью ИИ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AI-таргетинг аудиторий</a:t>
                      </a:r>
                    </a:p>
                    <a:p>
                      <a:pPr marL="171450" indent="-171450" algn="l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Генерацию креативов на платформе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7413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Развитие </a:t>
                      </a: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social commerce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Продолжается фундаментальный сдвиг внимания в пользу коротких видео, где также растет привычка покупать из соц. сетей (пример коллаборации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VK &amp; Ozon)</a:t>
                      </a:r>
                      <a:endParaRPr lang="ru-RU" sz="11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Бренды и платформы строят инициативы для развития механик социальной коммерции в социальных сетях: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контент-заводы от брендов</a:t>
                      </a:r>
                    </a:p>
                    <a:p>
                      <a:pPr marL="628628" lvl="1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инструменты отечественных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Фокусируемся на развитии инструментов вокруг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UGC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-продвижения, как во внешних соц. сетях, так и в приложении Магнит</a:t>
                      </a:r>
                    </a:p>
                    <a:p>
                      <a:pPr marL="171450" indent="-171450">
                        <a:spcAft>
                          <a:spcPts val="300"/>
                        </a:spcAft>
                        <a:buFontTx/>
                        <a:buChar char="-"/>
                      </a:pP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Тестируем 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</a:rPr>
                        <a:t>shoppable </a:t>
                      </a:r>
                      <a:r>
                        <a:rPr lang="ru-RU" sz="1100" dirty="0">
                          <a:solidFill>
                            <a:sysClr val="windowText" lastClr="000000"/>
                          </a:solidFill>
                        </a:rPr>
                        <a:t>механики с внешними платформами и развиваем привычку покупать из соц. сетей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20386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Рост роли омниканальной коммуникации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Помимо маркетплейсов появляются </a:t>
                      </a:r>
                      <a:r>
                        <a:rPr lang="en-US" sz="1100" dirty="0" err="1">
                          <a:solidFill>
                            <a:srgbClr val="000000"/>
                          </a:solidFill>
                          <a:latin typeface="Arial"/>
                        </a:rPr>
                        <a:t>ugc</a:t>
                      </a: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  <a:t>-</a:t>
                      </a: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игроки, банковский шоппинг, развиваются независимые ритейлеры, которые стремятся предлагать новые рекламные инструменты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300"/>
                        </a:spcAft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Стремимся аккумулировать инвентарь разных игроков с целью предложения омниканальных решений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26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6592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Три драйвера роста 2027: аудитория, новый прайс, новые направления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приложения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+18%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рост DAC: 24,8 → 29,3 млн в месяц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Показы AdTech: </a:t>
            </a:r>
            <a:r>
              <a:rPr lang="ru-RU" sz="1400" b="1" dirty="0">
                <a:solidFill>
                  <a:srgbClr val="000000"/>
                </a:solidFill>
              </a:rPr>
              <a:t>6,0 → 6,5 млрд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Перформанс-кампаний в месяц: </a:t>
            </a:r>
            <a:r>
              <a:rPr lang="ru-RU" sz="1400" b="1" dirty="0">
                <a:solidFill>
                  <a:srgbClr val="000000"/>
                </a:solidFill>
              </a:rPr>
              <a:t>2 033 → 2 270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Кампаний в сторис в месяц: </a:t>
            </a:r>
            <a:r>
              <a:rPr lang="ru-RU" sz="1400" b="1" dirty="0">
                <a:solidFill>
                  <a:srgbClr val="000000"/>
                </a:solidFill>
              </a:rPr>
              <a:t>264 → 313</a:t>
            </a:r>
          </a:p>
        </p:txBody>
      </p:sp>
      <p:sp>
        <p:nvSpPr>
          <p:cNvPr id="206" name="Shape 206"/>
          <p:cNvSpPr/>
          <p:nvPr/>
        </p:nvSpPr>
        <p:spPr>
          <a:xfrm>
            <a:off x="4258733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4411133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Новый прайс с 09.2026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4411133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+17%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4411133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средневзвешенный CPM: 499 → 582 руб.</a:t>
            </a:r>
          </a:p>
        </p:txBody>
      </p:sp>
      <p:sp>
        <p:nvSpPr>
          <p:cNvPr id="210" name="Shape 210"/>
          <p:cNvSpPr/>
          <p:nvPr/>
        </p:nvSpPr>
        <p:spPr>
          <a:xfrm>
            <a:off x="4563533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4436533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Модальное окно: </a:t>
            </a:r>
            <a:r>
              <a:rPr lang="ru-RU" sz="1400" b="1" dirty="0">
                <a:solidFill>
                  <a:srgbClr val="000000"/>
                </a:solidFill>
              </a:rPr>
              <a:t>600 → 1 000 руб.</a:t>
            </a:r>
            <a:r>
              <a:rPr lang="ru-RU" sz="1400" dirty="0">
                <a:solidFill>
                  <a:srgbClr val="000000"/>
                </a:solidFill>
              </a:rPr>
              <a:t> CPM, QR-карта: 450 → 600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Чек перформанс-кампании: </a:t>
            </a:r>
            <a:r>
              <a:rPr lang="ru-RU" sz="1400" b="1" dirty="0">
                <a:solidFill>
                  <a:srgbClr val="000000"/>
                </a:solidFill>
              </a:rPr>
              <a:t>68 → 86 тыс. руб.</a:t>
            </a:r>
            <a:r>
              <a:rPr lang="ru-RU" sz="1400" dirty="0">
                <a:solidFill>
                  <a:srgbClr val="000000"/>
                </a:solidFill>
              </a:rPr>
              <a:t> (+26%)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70 → 100 тыс. руб.</a:t>
            </a:r>
            <a:r>
              <a:rPr lang="ru-RU" sz="1400" dirty="0">
                <a:solidFill>
                  <a:srgbClr val="000000"/>
                </a:solidFill>
              </a:rPr>
              <a:t> за день</a:t>
            </a:r>
          </a:p>
        </p:txBody>
      </p:sp>
      <p:sp>
        <p:nvSpPr>
          <p:cNvPr id="218" name="Shape 218"/>
          <p:cNvSpPr/>
          <p:nvPr/>
        </p:nvSpPr>
        <p:spPr>
          <a:xfrm>
            <a:off x="8149166" y="1016000"/>
            <a:ext cx="3687233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8301566" y="1219200"/>
            <a:ext cx="3382433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Новые направления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8301566" y="1803400"/>
            <a:ext cx="3382433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1 484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8301566" y="2387600"/>
            <a:ext cx="3382433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млн руб.: RMN, Content factory, расширение DMP</a:t>
            </a:r>
          </a:p>
        </p:txBody>
      </p:sp>
      <p:sp>
        <p:nvSpPr>
          <p:cNvPr id="222" name="Shape 222"/>
          <p:cNvSpPr/>
          <p:nvPr/>
        </p:nvSpPr>
        <p:spPr>
          <a:xfrm>
            <a:off x="8453966" y="2921000"/>
            <a:ext cx="3077633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8326966" y="3073400"/>
            <a:ext cx="3331633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213 млн руб.</a:t>
            </a:r>
            <a:r>
              <a:rPr lang="ru-RU" sz="1400" dirty="0">
                <a:solidFill>
                  <a:srgbClr val="000000"/>
                </a:solidFill>
              </a:rPr>
              <a:t>, 150 креаторов, 569 млн просмотров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DMP: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389307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D4EDF462-AABE-F9F0-5274-88E2E9AEA2D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EDF462-AABE-F9F0-5274-88E2E9AEA2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Shape 210">
            <a:extLst>
              <a:ext uri="{FF2B5EF4-FFF2-40B4-BE49-F238E27FC236}">
                <a16:creationId xmlns:a16="http://schemas.microsoft.com/office/drawing/2014/main" id="{97F971B1-EA94-F5C4-5525-808B0B0C6D57}"/>
              </a:ext>
            </a:extLst>
          </p:cNvPr>
          <p:cNvSpPr/>
          <p:nvPr/>
        </p:nvSpPr>
        <p:spPr>
          <a:xfrm>
            <a:off x="61934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8" name="Shape 205">
            <a:extLst>
              <a:ext uri="{FF2B5EF4-FFF2-40B4-BE49-F238E27FC236}">
                <a16:creationId xmlns:a16="http://schemas.microsoft.com/office/drawing/2014/main" id="{C612035D-FF8B-A088-5B28-F10A02F6CB10}"/>
              </a:ext>
            </a:extLst>
          </p:cNvPr>
          <p:cNvSpPr/>
          <p:nvPr/>
        </p:nvSpPr>
        <p:spPr>
          <a:xfrm>
            <a:off x="61976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Инициативы Magnit ADS: максимизируем внутренний инвентарь Магнит, развиваем внешний и стремимся к росту маржинальности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Внутренний: медиа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4 864 млн руб. 2027  ·  +22%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/>
              <a:t>В 2027 г. в рамках медиа-инвентаря будет задействован максимальный потенциал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05" name="Shape 205"/>
          <p:cNvSpPr/>
          <p:nvPr/>
        </p:nvSpPr>
        <p:spPr>
          <a:xfrm>
            <a:off x="32829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28295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ru-RU" sz="1600" b="1" dirty="0">
                <a:solidFill>
                  <a:srgbClr val="FF452C"/>
                </a:solidFill>
              </a:rPr>
              <a:t>перформанс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2 832 млн руб. 2027  ·  +29%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/>
              <a:t>Среднесрочный рост рекламной выручки </a:t>
            </a:r>
            <a:r>
              <a:rPr lang="ru-RU" sz="1400" dirty="0"/>
              <a:t>за счет развития аукционных механик в поиске и рекомендациях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0" name="Shape 210"/>
          <p:cNvSpPr/>
          <p:nvPr/>
        </p:nvSpPr>
        <p:spPr>
          <a:xfrm>
            <a:off x="364176" y="5008995"/>
            <a:ext cx="5630224" cy="1178684"/>
          </a:xfrm>
          <a:prstGeom prst="roundRect">
            <a:avLst>
              <a:gd name="adj" fmla="val 12789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197600" y="1632115"/>
            <a:ext cx="27114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ru-RU" sz="1600" b="1" dirty="0">
                <a:solidFill>
                  <a:srgbClr val="FF452C"/>
                </a:solidFill>
              </a:rPr>
              <a:t>Внутренний: </a:t>
            </a:r>
            <a:br>
              <a:rPr lang="ru-RU" sz="1600" b="1" dirty="0">
                <a:solidFill>
                  <a:srgbClr val="FF452C"/>
                </a:solidFill>
              </a:rPr>
            </a:br>
            <a:r>
              <a:rPr lang="en-US" sz="1600" b="1" dirty="0">
                <a:solidFill>
                  <a:srgbClr val="FF452C"/>
                </a:solidFill>
              </a:rPr>
              <a:t>digital </a:t>
            </a:r>
            <a:r>
              <a:rPr lang="ru-RU" sz="1600" b="1" dirty="0">
                <a:solidFill>
                  <a:srgbClr val="FF452C"/>
                </a:solidFill>
              </a:rPr>
              <a:t>In-</a:t>
            </a:r>
            <a:r>
              <a:rPr lang="ru-RU" sz="1600" b="1" dirty="0" err="1">
                <a:solidFill>
                  <a:srgbClr val="FF452C"/>
                </a:solidFill>
              </a:rPr>
              <a:t>store</a:t>
            </a:r>
            <a:endParaRPr lang="ru-RU" sz="1600" b="1" dirty="0">
              <a:solidFill>
                <a:srgbClr val="FF452C"/>
              </a:solidFill>
            </a:endParaRPr>
          </a:p>
        </p:txBody>
      </p:sp>
      <p:sp>
        <p:nvSpPr>
          <p:cNvPr id="212" name="Shape 212"/>
          <p:cNvSpPr txBox="1"/>
          <p:nvPr/>
        </p:nvSpPr>
        <p:spPr>
          <a:xfrm>
            <a:off x="635000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3 931 млн руб. 2027 ·  +61%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6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ysClr val="windowText" lastClr="000000"/>
                </a:solidFill>
              </a:rPr>
              <a:t>Ищем эффективную конфигурацию оборудования </a:t>
            </a:r>
            <a:r>
              <a:rPr lang="ru-RU" sz="1400" dirty="0">
                <a:solidFill>
                  <a:sysClr val="windowText" lastClr="000000"/>
                </a:solidFill>
              </a:rPr>
              <a:t>с целью удержания высокой утилизации и рыночной стоимости инвентаря</a:t>
            </a:r>
            <a:endParaRPr lang="ru-RU" sz="1400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/>
          <p:nvPr/>
        </p:nvSpPr>
        <p:spPr>
          <a:xfrm>
            <a:off x="9112250" y="1492415"/>
            <a:ext cx="2711450" cy="336417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632115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2051215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2 851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2388147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494393"/>
            <a:ext cx="2355850" cy="23622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RMN:</a:t>
            </a:r>
            <a:r>
              <a:rPr lang="ru-RU" sz="1400" dirty="0">
                <a:solidFill>
                  <a:srgbClr val="000000"/>
                </a:solidFill>
              </a:rPr>
              <a:t> бренд-бюджеты поставщиков через внешнее ЮЛ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Social commerce:</a:t>
            </a:r>
            <a:r>
              <a:rPr lang="ru-RU" sz="1400" dirty="0">
                <a:solidFill>
                  <a:srgbClr val="000000"/>
                </a:solidFill>
              </a:rPr>
              <a:t> </a:t>
            </a:r>
            <a:br>
              <a:rPr lang="en-US" sz="1400" dirty="0">
                <a:solidFill>
                  <a:srgbClr val="000000"/>
                </a:solidFill>
              </a:rPr>
            </a:br>
            <a:r>
              <a:rPr lang="en-US" sz="1400" dirty="0">
                <a:solidFill>
                  <a:srgbClr val="000000"/>
                </a:solidFill>
              </a:rPr>
              <a:t>UGC-</a:t>
            </a:r>
            <a:r>
              <a:rPr lang="ru-RU" sz="1400" dirty="0" err="1">
                <a:solidFill>
                  <a:srgbClr val="000000"/>
                </a:solidFill>
              </a:rPr>
              <a:t>factory</a:t>
            </a:r>
            <a:r>
              <a:rPr lang="en-US" sz="1400" dirty="0">
                <a:solidFill>
                  <a:srgbClr val="000000"/>
                </a:solidFill>
              </a:rPr>
              <a:t> (</a:t>
            </a:r>
            <a:r>
              <a:rPr lang="ru-RU" sz="1400" dirty="0">
                <a:solidFill>
                  <a:srgbClr val="000000"/>
                </a:solidFill>
              </a:rPr>
              <a:t>развиваем инвентарь во внешних соц. сетях)</a:t>
            </a:r>
          </a:p>
          <a:p>
            <a:pPr marL="171450" indent="-171450" algn="l">
              <a:spcBef>
                <a:spcPts val="6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DMP + Online:</a:t>
            </a:r>
            <a:r>
              <a:rPr lang="ru-RU" sz="1400" dirty="0">
                <a:solidFill>
                  <a:srgbClr val="000000"/>
                </a:solidFill>
              </a:rPr>
              <a:t> данные Магнита на внешних площадках</a:t>
            </a:r>
          </a:p>
        </p:txBody>
      </p:sp>
      <p:sp>
        <p:nvSpPr>
          <p:cNvPr id="10" name="Shape 206">
            <a:extLst>
              <a:ext uri="{FF2B5EF4-FFF2-40B4-BE49-F238E27FC236}">
                <a16:creationId xmlns:a16="http://schemas.microsoft.com/office/drawing/2014/main" id="{3061C705-AABB-0B0F-02FC-B4B84DDC17C8}"/>
              </a:ext>
            </a:extLst>
          </p:cNvPr>
          <p:cNvSpPr txBox="1"/>
          <p:nvPr/>
        </p:nvSpPr>
        <p:spPr>
          <a:xfrm>
            <a:off x="6984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ИТ-Инфраструктура</a:t>
            </a:r>
          </a:p>
        </p:txBody>
      </p:sp>
      <p:sp>
        <p:nvSpPr>
          <p:cNvPr id="11" name="Shape 209">
            <a:extLst>
              <a:ext uri="{FF2B5EF4-FFF2-40B4-BE49-F238E27FC236}">
                <a16:creationId xmlns:a16="http://schemas.microsoft.com/office/drawing/2014/main" id="{76B62D15-F1ED-56A2-0AB3-5154FC49F9A6}"/>
              </a:ext>
            </a:extLst>
          </p:cNvPr>
          <p:cNvSpPr txBox="1"/>
          <p:nvPr/>
        </p:nvSpPr>
        <p:spPr>
          <a:xfrm>
            <a:off x="546100" y="5401374"/>
            <a:ext cx="4257912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Аукционные механики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личного кабинета рекламодателя</a:t>
            </a:r>
          </a:p>
        </p:txBody>
      </p:sp>
      <p:sp>
        <p:nvSpPr>
          <p:cNvPr id="16" name="Shape 206">
            <a:extLst>
              <a:ext uri="{FF2B5EF4-FFF2-40B4-BE49-F238E27FC236}">
                <a16:creationId xmlns:a16="http://schemas.microsoft.com/office/drawing/2014/main" id="{DE871A07-EC9A-2E73-597B-2DD41793E660}"/>
              </a:ext>
            </a:extLst>
          </p:cNvPr>
          <p:cNvSpPr txBox="1"/>
          <p:nvPr/>
        </p:nvSpPr>
        <p:spPr>
          <a:xfrm>
            <a:off x="6527754" y="5058473"/>
            <a:ext cx="5020624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Коммерческие процессы</a:t>
            </a:r>
          </a:p>
        </p:txBody>
      </p:sp>
      <p:sp>
        <p:nvSpPr>
          <p:cNvPr id="17" name="Shape 209">
            <a:extLst>
              <a:ext uri="{FF2B5EF4-FFF2-40B4-BE49-F238E27FC236}">
                <a16:creationId xmlns:a16="http://schemas.microsoft.com/office/drawing/2014/main" id="{49945798-9E96-F56A-BB1C-69A2B9CCAE9D}"/>
              </a:ext>
            </a:extLst>
          </p:cNvPr>
          <p:cNvSpPr txBox="1"/>
          <p:nvPr/>
        </p:nvSpPr>
        <p:spPr>
          <a:xfrm>
            <a:off x="6375400" y="5401374"/>
            <a:ext cx="5295900" cy="6902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Внедрение в процессы внешнего юр. лица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Развитие поддержки и операционной деятельности</a:t>
            </a:r>
          </a:p>
          <a:p>
            <a:pPr marL="285750" indent="-285750">
              <a:spcBef>
                <a:spcPts val="300"/>
              </a:spcBef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Улучшение коммерческих процессов</a:t>
            </a:r>
          </a:p>
        </p:txBody>
      </p:sp>
      <p:sp>
        <p:nvSpPr>
          <p:cNvPr id="2" name="Открывающая квадратная скобка 1">
            <a:extLst>
              <a:ext uri="{FF2B5EF4-FFF2-40B4-BE49-F238E27FC236}">
                <a16:creationId xmlns:a16="http://schemas.microsoft.com/office/drawing/2014/main" id="{2F6F0D75-37D5-2A0F-08FB-9761457DF828}"/>
              </a:ext>
            </a:extLst>
          </p:cNvPr>
          <p:cNvSpPr/>
          <p:nvPr/>
        </p:nvSpPr>
        <p:spPr>
          <a:xfrm rot="5400000">
            <a:off x="4555710" y="-3069317"/>
            <a:ext cx="161803" cy="8544873"/>
          </a:xfrm>
          <a:prstGeom prst="leftBracket">
            <a:avLst>
              <a:gd name="adj" fmla="val 753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32BA71B-DACB-F3D0-372B-25B4135F244F}"/>
              </a:ext>
            </a:extLst>
          </p:cNvPr>
          <p:cNvSpPr/>
          <p:nvPr/>
        </p:nvSpPr>
        <p:spPr>
          <a:xfrm>
            <a:off x="3282950" y="928029"/>
            <a:ext cx="2711450" cy="38549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b="1" dirty="0"/>
              <a:t>90%+ </a:t>
            </a:r>
            <a:r>
              <a:rPr lang="ru-RU" sz="1200" dirty="0"/>
              <a:t>маржинальность инвентаря</a:t>
            </a:r>
          </a:p>
          <a:p>
            <a:pPr algn="ctr"/>
            <a:r>
              <a:rPr lang="ru-RU" sz="800" i="1" dirty="0"/>
              <a:t>Необходим фокус Коммерции на </a:t>
            </a:r>
            <a:r>
              <a:rPr lang="en-US" sz="800" i="1" dirty="0"/>
              <a:t>AdTech</a:t>
            </a:r>
            <a:endParaRPr lang="ru-RU" sz="800" i="1" dirty="0"/>
          </a:p>
        </p:txBody>
      </p:sp>
    </p:spTree>
    <p:extLst>
      <p:ext uri="{BB962C8B-B14F-4D97-AF65-F5344CB8AC3E}">
        <p14:creationId xmlns:p14="http://schemas.microsoft.com/office/powerpoint/2010/main" val="1936484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5" name="think-cell data - do not delete" hidden="1">
            <a:extLst>
              <a:ext uri="{FF2B5EF4-FFF2-40B4-BE49-F238E27FC236}">
                <a16:creationId xmlns:a16="http://schemas.microsoft.com/office/drawing/2014/main" id="{B667F642-A6DC-FB4B-0CF2-C06CB38BC467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4771059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Слайд think-cell" r:id="rId3" imgW="7772400" imgH="10058400" progId="TCLayout.ActiveDocument.1">
                  <p:embed/>
                </p:oleObj>
              </mc:Choice>
              <mc:Fallback>
                <p:oleObj name="Слайд think-cell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58E3ACAA-D0DB-85FC-1715-5DF10349E27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pPr>
              <a:spcBef>
                <a:spcPts val="0"/>
              </a:spcBef>
            </a:pPr>
            <a:r>
              <a:rPr dirty="0">
                <a:solidFill>
                  <a:srgbClr val="6E6E6E"/>
                </a:solidFill>
              </a:rPr>
              <a:t>КУ - </a:t>
            </a:r>
            <a:r>
              <a:rPr dirty="0" err="1">
                <a:solidFill>
                  <a:srgbClr val="6E6E6E"/>
                </a:solidFill>
              </a:rPr>
              <a:t>коммерческие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условия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с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поставщиками</a:t>
            </a:r>
            <a:r>
              <a:rPr dirty="0">
                <a:solidFill>
                  <a:srgbClr val="6E6E6E"/>
                </a:solidFill>
              </a:rPr>
              <a:t>. </a:t>
            </a:r>
            <a:r>
              <a:rPr dirty="0" err="1">
                <a:solidFill>
                  <a:srgbClr val="6E6E6E"/>
                </a:solidFill>
              </a:rPr>
              <a:t>Источник</a:t>
            </a:r>
            <a:r>
              <a:rPr dirty="0">
                <a:solidFill>
                  <a:srgbClr val="6E6E6E"/>
                </a:solidFill>
              </a:rPr>
              <a:t>: </a:t>
            </a:r>
            <a:r>
              <a:rPr dirty="0" err="1">
                <a:solidFill>
                  <a:srgbClr val="6E6E6E"/>
                </a:solidFill>
              </a:rPr>
              <a:t>инициативы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руководителей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направлений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Магнит</a:t>
            </a:r>
            <a:r>
              <a:rPr dirty="0">
                <a:solidFill>
                  <a:srgbClr val="6E6E6E"/>
                </a:solidFill>
              </a:rPr>
              <a:t> </a:t>
            </a:r>
            <a:r>
              <a:rPr dirty="0" err="1">
                <a:solidFill>
                  <a:srgbClr val="6E6E6E"/>
                </a:solidFill>
              </a:rPr>
              <a:t>на</a:t>
            </a:r>
            <a:r>
              <a:rPr dirty="0">
                <a:solidFill>
                  <a:srgbClr val="6E6E6E"/>
                </a:solidFill>
              </a:rPr>
              <a:t> 2027+ </a:t>
            </a:r>
            <a:r>
              <a:rPr dirty="0" err="1">
                <a:solidFill>
                  <a:srgbClr val="6E6E6E"/>
                </a:solidFill>
              </a:rPr>
              <a:t>гг</a:t>
            </a:r>
            <a:r>
              <a:rPr dirty="0">
                <a:solidFill>
                  <a:srgbClr val="6E6E6E"/>
                </a:solidFill>
              </a:rPr>
              <a:t>.</a:t>
            </a:r>
            <a:endParaRPr lang="ru-RU" dirty="0">
              <a:solidFill>
                <a:srgbClr val="6E6E6E"/>
              </a:solidFill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582B94-C19A-6A94-2EAE-E497942D38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11134C-94AC-F253-DD37-FB977A432E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Объединяем управление маркетинговым инвентарем Магнита в AdTech и забираем весь остаточный рекламный инструментарий</a:t>
            </a:r>
          </a:p>
        </p:txBody>
      </p:sp>
      <p:sp>
        <p:nvSpPr>
          <p:cNvPr id="66" name="ADS card 66"/>
          <p:cNvSpPr/>
          <p:nvPr/>
        </p:nvSpPr>
        <p:spPr>
          <a:xfrm>
            <a:off x="365760" y="1024128"/>
            <a:ext cx="5486400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67" name="ADS head 67"/>
          <p:cNvSpPr txBox="1"/>
          <p:nvPr/>
        </p:nvSpPr>
        <p:spPr>
          <a:xfrm>
            <a:off x="548640" y="1152144"/>
            <a:ext cx="51206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Маркетинговый инвентарь Магнит</a:t>
            </a:r>
            <a:endParaRPr lang="ru-RU" sz="1200" dirty="0"/>
          </a:p>
        </p:txBody>
      </p:sp>
      <p:sp>
        <p:nvSpPr>
          <p:cNvPr id="68" name="ADS thesis 68"/>
          <p:cNvSpPr txBox="1"/>
          <p:nvPr/>
        </p:nvSpPr>
        <p:spPr>
          <a:xfrm>
            <a:off x="548640" y="1499616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Сегодня инвентарь распределен по бизнесам - собираем его в одном контуре AdTech</a:t>
            </a:r>
            <a:endParaRPr lang="ru-RU" sz="1200" dirty="0"/>
          </a:p>
        </p:txBody>
      </p:sp>
      <p:sp>
        <p:nvSpPr>
          <p:cNvPr id="69" name="ADS line 69"/>
          <p:cNvSpPr/>
          <p:nvPr/>
        </p:nvSpPr>
        <p:spPr>
          <a:xfrm>
            <a:off x="548640" y="1965960"/>
            <a:ext cx="5120640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0" name="ADS chip 70"/>
          <p:cNvSpPr/>
          <p:nvPr/>
        </p:nvSpPr>
        <p:spPr>
          <a:xfrm>
            <a:off x="548640" y="207568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1" name="ADS chiptxt 71"/>
          <p:cNvSpPr txBox="1"/>
          <p:nvPr/>
        </p:nvSpPr>
        <p:spPr>
          <a:xfrm>
            <a:off x="640080" y="212140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Приложение</a:t>
            </a:r>
            <a:endParaRPr lang="ru-RU" sz="1200" dirty="0"/>
          </a:p>
        </p:txBody>
      </p:sp>
      <p:sp>
        <p:nvSpPr>
          <p:cNvPr id="72" name="ADS label 72"/>
          <p:cNvSpPr txBox="1"/>
          <p:nvPr/>
        </p:nvSpPr>
        <p:spPr>
          <a:xfrm>
            <a:off x="2350008" y="207568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Медиа, поиск и рекомендации</a:t>
            </a:r>
            <a:endParaRPr lang="ru-RU" sz="1200" dirty="0"/>
          </a:p>
        </p:txBody>
      </p:sp>
      <p:sp>
        <p:nvSpPr>
          <p:cNvPr id="73" name="ADS chip 73"/>
          <p:cNvSpPr/>
          <p:nvPr/>
        </p:nvSpPr>
        <p:spPr>
          <a:xfrm>
            <a:off x="4709160" y="216712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4" name="ADS label 74"/>
          <p:cNvSpPr txBox="1"/>
          <p:nvPr/>
        </p:nvSpPr>
        <p:spPr>
          <a:xfrm>
            <a:off x="4709160" y="216712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75" name="ADS chip 75"/>
          <p:cNvSpPr/>
          <p:nvPr/>
        </p:nvSpPr>
        <p:spPr>
          <a:xfrm>
            <a:off x="548640" y="256032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6" name="ADS chiptxt 76"/>
          <p:cNvSpPr txBox="1"/>
          <p:nvPr/>
        </p:nvSpPr>
        <p:spPr>
          <a:xfrm>
            <a:off x="640080" y="260604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Digital in-store</a:t>
            </a:r>
            <a:endParaRPr lang="ru-RU" sz="1200" dirty="0"/>
          </a:p>
        </p:txBody>
      </p:sp>
      <p:sp>
        <p:nvSpPr>
          <p:cNvPr id="77" name="ADS label 77"/>
          <p:cNvSpPr txBox="1"/>
          <p:nvPr/>
        </p:nvSpPr>
        <p:spPr>
          <a:xfrm>
            <a:off x="2350008" y="256032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81 тыс. устройств, Online + DMP, DMP</a:t>
            </a:r>
            <a:endParaRPr lang="ru-RU" sz="1200" dirty="0"/>
          </a:p>
        </p:txBody>
      </p:sp>
      <p:sp>
        <p:nvSpPr>
          <p:cNvPr id="78" name="ADS chip 78"/>
          <p:cNvSpPr/>
          <p:nvPr/>
        </p:nvSpPr>
        <p:spPr>
          <a:xfrm>
            <a:off x="4709160" y="265176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79" name="ADS label 79"/>
          <p:cNvSpPr txBox="1"/>
          <p:nvPr/>
        </p:nvSpPr>
        <p:spPr>
          <a:xfrm>
            <a:off x="4709160" y="265176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В AdTech</a:t>
            </a:r>
            <a:endParaRPr lang="ru-RU" sz="1200" dirty="0"/>
          </a:p>
        </p:txBody>
      </p:sp>
      <p:sp>
        <p:nvSpPr>
          <p:cNvPr id="80" name="ADS chip 80"/>
          <p:cNvSpPr/>
          <p:nvPr/>
        </p:nvSpPr>
        <p:spPr>
          <a:xfrm>
            <a:off x="548640" y="304495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1" name="ADS chiptxt 81"/>
          <p:cNvSpPr txBox="1"/>
          <p:nvPr/>
        </p:nvSpPr>
        <p:spPr>
          <a:xfrm>
            <a:off x="640080" y="309067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М+</a:t>
            </a:r>
            <a:endParaRPr lang="ru-RU" sz="1200" dirty="0"/>
          </a:p>
        </p:txBody>
      </p:sp>
      <p:sp>
        <p:nvSpPr>
          <p:cNvPr id="82" name="ADS label 82"/>
          <p:cNvSpPr txBox="1"/>
          <p:nvPr/>
        </p:nvSpPr>
        <p:spPr>
          <a:xfrm>
            <a:off x="2350008" y="304495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Инвентарь лояльности, кроме игр</a:t>
            </a:r>
            <a:endParaRPr lang="ru-RU" sz="1200" dirty="0"/>
          </a:p>
        </p:txBody>
      </p:sp>
      <p:sp>
        <p:nvSpPr>
          <p:cNvPr id="83" name="ADS chip 83"/>
          <p:cNvSpPr/>
          <p:nvPr/>
        </p:nvSpPr>
        <p:spPr>
          <a:xfrm>
            <a:off x="4709160" y="313639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4" name="ADS label 84"/>
          <p:cNvSpPr txBox="1"/>
          <p:nvPr/>
        </p:nvSpPr>
        <p:spPr>
          <a:xfrm>
            <a:off x="4709160" y="313639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FFFF"/>
                </a:solidFill>
                <a:latin typeface="Arial"/>
                <a:cs typeface="Arial"/>
              </a:rPr>
              <a:t>С 2026 г.</a:t>
            </a:r>
            <a:endParaRPr lang="ru-RU" sz="1200" dirty="0"/>
          </a:p>
        </p:txBody>
      </p:sp>
      <p:sp>
        <p:nvSpPr>
          <p:cNvPr id="85" name="ADS chip 85"/>
          <p:cNvSpPr/>
          <p:nvPr/>
        </p:nvSpPr>
        <p:spPr>
          <a:xfrm>
            <a:off x="548640" y="3529584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6" name="ADS chiptxt 86"/>
          <p:cNvSpPr txBox="1"/>
          <p:nvPr/>
        </p:nvSpPr>
        <p:spPr>
          <a:xfrm>
            <a:off x="640080" y="3575304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UGC и соцсети</a:t>
            </a:r>
            <a:endParaRPr lang="ru-RU" sz="1200" dirty="0"/>
          </a:p>
        </p:txBody>
      </p:sp>
      <p:sp>
        <p:nvSpPr>
          <p:cNvPr id="87" name="ADS label 87"/>
          <p:cNvSpPr txBox="1"/>
          <p:nvPr/>
        </p:nvSpPr>
        <p:spPr>
          <a:xfrm>
            <a:off x="2350008" y="3529584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UGC-factory: 12,3 млн → 500+ млн просмотров</a:t>
            </a:r>
            <a:endParaRPr lang="ru-RU" sz="1200" dirty="0"/>
          </a:p>
        </p:txBody>
      </p:sp>
      <p:sp>
        <p:nvSpPr>
          <p:cNvPr id="88" name="ADS chip 88"/>
          <p:cNvSpPr/>
          <p:nvPr/>
        </p:nvSpPr>
        <p:spPr>
          <a:xfrm>
            <a:off x="4709160" y="3621024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9" name="ADS label 89"/>
          <p:cNvSpPr txBox="1"/>
          <p:nvPr/>
        </p:nvSpPr>
        <p:spPr>
          <a:xfrm>
            <a:off x="4709160" y="3621024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Пилот</a:t>
            </a:r>
            <a:endParaRPr lang="ru-RU" sz="1200" dirty="0"/>
          </a:p>
        </p:txBody>
      </p:sp>
      <p:sp>
        <p:nvSpPr>
          <p:cNvPr id="90" name="ADS chip 90"/>
          <p:cNvSpPr/>
          <p:nvPr/>
        </p:nvSpPr>
        <p:spPr>
          <a:xfrm>
            <a:off x="548640" y="4014216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1" name="ADS chiptxt 91"/>
          <p:cNvSpPr txBox="1"/>
          <p:nvPr/>
        </p:nvSpPr>
        <p:spPr>
          <a:xfrm>
            <a:off x="640080" y="4059936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Финтех</a:t>
            </a:r>
            <a:endParaRPr lang="ru-RU" sz="1200" dirty="0"/>
          </a:p>
        </p:txBody>
      </p:sp>
      <p:sp>
        <p:nvSpPr>
          <p:cNvPr id="92" name="ADS label 92"/>
          <p:cNvSpPr txBox="1"/>
          <p:nvPr/>
        </p:nvSpPr>
        <p:spPr>
          <a:xfrm>
            <a:off x="2350008" y="4014216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Витрина финансовых продуктов</a:t>
            </a:r>
            <a:endParaRPr lang="ru-RU" sz="1200" dirty="0"/>
          </a:p>
        </p:txBody>
      </p:sp>
      <p:sp>
        <p:nvSpPr>
          <p:cNvPr id="93" name="ADS chip 93"/>
          <p:cNvSpPr/>
          <p:nvPr/>
        </p:nvSpPr>
        <p:spPr>
          <a:xfrm>
            <a:off x="4709160" y="4105656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4" name="ADS label 94"/>
          <p:cNvSpPr txBox="1"/>
          <p:nvPr/>
        </p:nvSpPr>
        <p:spPr>
          <a:xfrm>
            <a:off x="4709160" y="410565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Магнит</a:t>
            </a:r>
            <a:endParaRPr lang="ru-RU" sz="1200" dirty="0"/>
          </a:p>
        </p:txBody>
      </p:sp>
      <p:sp>
        <p:nvSpPr>
          <p:cNvPr id="95" name="ADS chip 95"/>
          <p:cNvSpPr/>
          <p:nvPr/>
        </p:nvSpPr>
        <p:spPr>
          <a:xfrm>
            <a:off x="548640" y="4498848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6" name="ADS chiptxt 96"/>
          <p:cNvSpPr txBox="1"/>
          <p:nvPr/>
        </p:nvSpPr>
        <p:spPr>
          <a:xfrm>
            <a:off x="640080" y="4544568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РИМ и полка</a:t>
            </a:r>
            <a:endParaRPr lang="ru-RU" sz="1200" dirty="0"/>
          </a:p>
        </p:txBody>
      </p:sp>
      <p:sp>
        <p:nvSpPr>
          <p:cNvPr id="97" name="ADS label 97"/>
          <p:cNvSpPr txBox="1"/>
          <p:nvPr/>
        </p:nvSpPr>
        <p:spPr>
          <a:xfrm>
            <a:off x="2350008" y="4498848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Бронирование, фиксация, аукцион за полку</a:t>
            </a:r>
            <a:endParaRPr lang="ru-RU" sz="1200" dirty="0"/>
          </a:p>
        </p:txBody>
      </p:sp>
      <p:sp>
        <p:nvSpPr>
          <p:cNvPr id="98" name="ADS chip 98"/>
          <p:cNvSpPr/>
          <p:nvPr/>
        </p:nvSpPr>
        <p:spPr>
          <a:xfrm>
            <a:off x="4709160" y="4590288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99" name="ADS label 99"/>
          <p:cNvSpPr txBox="1"/>
          <p:nvPr/>
        </p:nvSpPr>
        <p:spPr>
          <a:xfrm>
            <a:off x="4709160" y="4590288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Переводим</a:t>
            </a:r>
            <a:endParaRPr lang="ru-RU" sz="1200" dirty="0"/>
          </a:p>
        </p:txBody>
      </p:sp>
      <p:sp>
        <p:nvSpPr>
          <p:cNvPr id="100" name="ADS chip 100"/>
          <p:cNvSpPr/>
          <p:nvPr/>
        </p:nvSpPr>
        <p:spPr>
          <a:xfrm>
            <a:off x="548640" y="4983480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1" name="ADS chiptxt 101"/>
          <p:cNvSpPr txBox="1"/>
          <p:nvPr/>
        </p:nvSpPr>
        <p:spPr>
          <a:xfrm>
            <a:off x="640080" y="5029200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Внутренние коммуникации</a:t>
            </a:r>
            <a:endParaRPr lang="ru-RU" sz="1200" dirty="0"/>
          </a:p>
        </p:txBody>
      </p:sp>
      <p:sp>
        <p:nvSpPr>
          <p:cNvPr id="102" name="ADS label 102"/>
          <p:cNvSpPr txBox="1"/>
          <p:nvPr/>
        </p:nvSpPr>
        <p:spPr>
          <a:xfrm>
            <a:off x="2350008" y="4983480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Промо, лояльность, A/B-виджеты - квота 50%</a:t>
            </a:r>
            <a:endParaRPr lang="ru-RU" sz="1200" dirty="0"/>
          </a:p>
        </p:txBody>
      </p:sp>
      <p:sp>
        <p:nvSpPr>
          <p:cNvPr id="103" name="ADS chip 103"/>
          <p:cNvSpPr/>
          <p:nvPr/>
        </p:nvSpPr>
        <p:spPr>
          <a:xfrm>
            <a:off x="4709160" y="5074920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4" name="ADS label 104"/>
          <p:cNvSpPr txBox="1"/>
          <p:nvPr/>
        </p:nvSpPr>
        <p:spPr>
          <a:xfrm>
            <a:off x="4709160" y="5074920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FF452C"/>
                </a:solidFill>
                <a:latin typeface="Arial"/>
                <a:cs typeface="Arial"/>
              </a:rPr>
              <a:t>Delivery</a:t>
            </a:r>
            <a:endParaRPr lang="ru-RU" sz="1200" dirty="0"/>
          </a:p>
        </p:txBody>
      </p:sp>
      <p:sp>
        <p:nvSpPr>
          <p:cNvPr id="105" name="ADS chip 105"/>
          <p:cNvSpPr/>
          <p:nvPr/>
        </p:nvSpPr>
        <p:spPr>
          <a:xfrm>
            <a:off x="548640" y="5468112"/>
            <a:ext cx="1691640" cy="42062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6" name="ADS chiptxt 106"/>
          <p:cNvSpPr txBox="1"/>
          <p:nvPr/>
        </p:nvSpPr>
        <p:spPr>
          <a:xfrm>
            <a:off x="640080" y="5513832"/>
            <a:ext cx="1508760" cy="32918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000000"/>
                </a:solidFill>
                <a:latin typeface="Arial"/>
                <a:cs typeface="Arial"/>
              </a:rPr>
              <a:t>Бренд-бюджеты вне КУ</a:t>
            </a:r>
            <a:endParaRPr lang="ru-RU" sz="1200" dirty="0"/>
          </a:p>
        </p:txBody>
      </p:sp>
      <p:sp>
        <p:nvSpPr>
          <p:cNvPr id="107" name="ADS label 107"/>
          <p:cNvSpPr txBox="1"/>
          <p:nvPr/>
        </p:nvSpPr>
        <p:spPr>
          <a:xfrm>
            <a:off x="2350008" y="5468112"/>
            <a:ext cx="2286000" cy="42062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Весь инвентарь через ЮЛ Магнит Маркета</a:t>
            </a:r>
            <a:endParaRPr lang="ru-RU" sz="1200" dirty="0"/>
          </a:p>
        </p:txBody>
      </p:sp>
      <p:sp>
        <p:nvSpPr>
          <p:cNvPr id="108" name="ADS chip 108"/>
          <p:cNvSpPr/>
          <p:nvPr/>
        </p:nvSpPr>
        <p:spPr>
          <a:xfrm>
            <a:off x="4709160" y="5559552"/>
            <a:ext cx="960120" cy="237744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" name="ADS label 109"/>
          <p:cNvSpPr txBox="1"/>
          <p:nvPr/>
        </p:nvSpPr>
        <p:spPr>
          <a:xfrm>
            <a:off x="4709160" y="5559552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50" b="1" dirty="0">
                <a:solidFill>
                  <a:srgbClr val="595959"/>
                </a:solidFill>
                <a:latin typeface="Arial"/>
                <a:cs typeface="Arial"/>
              </a:rPr>
              <a:t>Q4 2027</a:t>
            </a:r>
            <a:endParaRPr lang="ru-RU" sz="1200" dirty="0"/>
          </a:p>
        </p:txBody>
      </p:sp>
      <p:sp>
        <p:nvSpPr>
          <p:cNvPr id="110" name="ADS arrow 110"/>
          <p:cNvSpPr/>
          <p:nvPr/>
        </p:nvSpPr>
        <p:spPr>
          <a:xfrm rot="5400000">
            <a:off x="5865876" y="3506724"/>
            <a:ext cx="310896" cy="155448"/>
          </a:xfrm>
          <a:prstGeom prst="triangle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1" name="ADS card 111"/>
          <p:cNvSpPr/>
          <p:nvPr/>
        </p:nvSpPr>
        <p:spPr>
          <a:xfrm>
            <a:off x="6355080" y="1024128"/>
            <a:ext cx="5468112" cy="5120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2" name="ADS head 112"/>
          <p:cNvSpPr txBox="1"/>
          <p:nvPr/>
        </p:nvSpPr>
        <p:spPr>
          <a:xfrm>
            <a:off x="6537960" y="1152144"/>
            <a:ext cx="5102352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AdTech - единый оператор инвентаря</a:t>
            </a:r>
            <a:endParaRPr lang="ru-RU" sz="1200" dirty="0"/>
          </a:p>
        </p:txBody>
      </p:sp>
      <p:sp>
        <p:nvSpPr>
          <p:cNvPr id="113" name="ADS thesis 113"/>
          <p:cNvSpPr txBox="1"/>
          <p:nvPr/>
        </p:nvSpPr>
        <p:spPr>
          <a:xfrm>
            <a:off x="6537960" y="1499616"/>
            <a:ext cx="510235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Весь инвентарь - через одну платформу, одну команду продаж и один процесс</a:t>
            </a:r>
            <a:endParaRPr lang="ru-RU" sz="1200" dirty="0"/>
          </a:p>
        </p:txBody>
      </p:sp>
      <p:sp>
        <p:nvSpPr>
          <p:cNvPr id="114" name="ADS line 114"/>
          <p:cNvSpPr/>
          <p:nvPr/>
        </p:nvSpPr>
        <p:spPr>
          <a:xfrm>
            <a:off x="6537960" y="1965960"/>
            <a:ext cx="510235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5" name="ADS label 115"/>
          <p:cNvSpPr txBox="1"/>
          <p:nvPr/>
        </p:nvSpPr>
        <p:spPr>
          <a:xfrm>
            <a:off x="6537960" y="203911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работает</a:t>
            </a:r>
            <a:endParaRPr lang="ru-RU" sz="1200" dirty="0"/>
          </a:p>
        </p:txBody>
      </p:sp>
      <p:sp>
        <p:nvSpPr>
          <p:cNvPr id="116" name="ADS chip 116"/>
          <p:cNvSpPr/>
          <p:nvPr/>
        </p:nvSpPr>
        <p:spPr>
          <a:xfrm>
            <a:off x="6537960" y="2295144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7" name="ADS chiptxt 117"/>
          <p:cNvSpPr txBox="1"/>
          <p:nvPr/>
        </p:nvSpPr>
        <p:spPr>
          <a:xfrm>
            <a:off x="6675120" y="2340864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Единая delivery-платформа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выбирает показ между рекламой поставщиков и НЕ поставщиков, промо, лояльностью и экспериментами по единой политике</a:t>
            </a:r>
            <a:endParaRPr lang="ru-RU" sz="1200" dirty="0"/>
          </a:p>
        </p:txBody>
      </p:sp>
      <p:sp>
        <p:nvSpPr>
          <p:cNvPr id="118" name="ADS chip 118"/>
          <p:cNvSpPr/>
          <p:nvPr/>
        </p:nvSpPr>
        <p:spPr>
          <a:xfrm>
            <a:off x="6537960" y="3008376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9" name="ADS chiptxt 119"/>
          <p:cNvSpPr txBox="1"/>
          <p:nvPr/>
        </p:nvSpPr>
        <p:spPr>
          <a:xfrm>
            <a:off x="6675120" y="3054096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sales force и оффер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поставщики, НЕ поставщики и бренд-бюджеты получают один пакет на весь инвентарь группы</a:t>
            </a:r>
            <a:endParaRPr lang="ru-RU" sz="1200" dirty="0"/>
          </a:p>
        </p:txBody>
      </p:sp>
      <p:sp>
        <p:nvSpPr>
          <p:cNvPr id="120" name="ADS chip 120"/>
          <p:cNvSpPr/>
          <p:nvPr/>
        </p:nvSpPr>
        <p:spPr>
          <a:xfrm>
            <a:off x="6537960" y="3721608"/>
            <a:ext cx="5102352" cy="64008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1" name="ADS chiptxt 121"/>
          <p:cNvSpPr txBox="1"/>
          <p:nvPr/>
        </p:nvSpPr>
        <p:spPr>
          <a:xfrm>
            <a:off x="6675120" y="3767328"/>
            <a:ext cx="4828032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Единый процесс размещения</a:t>
            </a:r>
            <a:endParaRPr lang="ru-RU" sz="1200" dirty="0"/>
          </a:p>
          <a:p>
            <a:pPr marL="0" indent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бронирование, расчет емкости, фиксация, подсчет результатов и закрывающие документы - в платформе</a:t>
            </a:r>
            <a:endParaRPr lang="ru-RU" sz="1200" dirty="0"/>
          </a:p>
        </p:txBody>
      </p:sp>
      <p:sp>
        <p:nvSpPr>
          <p:cNvPr id="122" name="ADS label 122"/>
          <p:cNvSpPr txBox="1"/>
          <p:nvPr/>
        </p:nvSpPr>
        <p:spPr>
          <a:xfrm>
            <a:off x="6537960" y="4507992"/>
            <a:ext cx="510235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Эффект для Магнита</a:t>
            </a:r>
            <a:endParaRPr lang="ru-RU" sz="1200" dirty="0"/>
          </a:p>
        </p:txBody>
      </p:sp>
      <p:sp>
        <p:nvSpPr>
          <p:cNvPr id="123" name="ADS pink 123"/>
          <p:cNvSpPr/>
          <p:nvPr/>
        </p:nvSpPr>
        <p:spPr>
          <a:xfrm>
            <a:off x="6537960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4" name="ADS pinktxt 124"/>
          <p:cNvSpPr txBox="1"/>
          <p:nvPr/>
        </p:nvSpPr>
        <p:spPr>
          <a:xfrm>
            <a:off x="6629400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Одна точка входа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для поставщика на весь инвентарь</a:t>
            </a:r>
            <a:endParaRPr lang="ru-RU" sz="1200" dirty="0"/>
          </a:p>
        </p:txBody>
      </p:sp>
      <p:sp>
        <p:nvSpPr>
          <p:cNvPr id="125" name="ADS pink 125"/>
          <p:cNvSpPr/>
          <p:nvPr/>
        </p:nvSpPr>
        <p:spPr>
          <a:xfrm>
            <a:off x="8269224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6" name="ADS pinktxt 126"/>
          <p:cNvSpPr txBox="1"/>
          <p:nvPr/>
        </p:nvSpPr>
        <p:spPr>
          <a:xfrm>
            <a:off x="8360663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Омниканальные пакеты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приложение, in-store, соцсети и внешние площадки</a:t>
            </a:r>
            <a:endParaRPr lang="ru-RU" sz="1200" dirty="0"/>
          </a:p>
        </p:txBody>
      </p:sp>
      <p:sp>
        <p:nvSpPr>
          <p:cNvPr id="127" name="ADS pink 127"/>
          <p:cNvSpPr/>
          <p:nvPr/>
        </p:nvSpPr>
        <p:spPr>
          <a:xfrm>
            <a:off x="10000488" y="4782312"/>
            <a:ext cx="1639824" cy="120700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28" name="ADS pinktxt 128"/>
          <p:cNvSpPr txBox="1"/>
          <p:nvPr/>
        </p:nvSpPr>
        <p:spPr>
          <a:xfrm>
            <a:off x="10091928" y="4828031"/>
            <a:ext cx="1456944" cy="11155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FF452C"/>
                </a:solidFill>
                <a:latin typeface="Arial"/>
                <a:cs typeface="Arial"/>
              </a:rPr>
              <a:t>Остаточный инвентарь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монетизируем без ущерба задачам марком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336034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F92809F8-88FA-BA41-DCAE-2F45FB22CD5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4789985-C1E5-928D-6C24-D23FEF66E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C442B76-F572-6CD1-713D-47281235C2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Обновление роли </a:t>
            </a:r>
            <a:r>
              <a:rPr lang="en-US" dirty="0"/>
              <a:t>AdTech </a:t>
            </a:r>
            <a:r>
              <a:rPr lang="ru-RU" dirty="0"/>
              <a:t>для максимизации </a:t>
            </a:r>
            <a:br>
              <a:rPr lang="ru-RU" dirty="0"/>
            </a:br>
            <a:r>
              <a:rPr lang="ru-RU" dirty="0"/>
              <a:t>рекламной выручки в условиях модели ритейлера</a:t>
            </a:r>
          </a:p>
        </p:txBody>
      </p:sp>
      <p:sp>
        <p:nvSpPr>
          <p:cNvPr id="7" name="Role card 1">
            <a:extLst>
              <a:ext uri="{FF2B5EF4-FFF2-40B4-BE49-F238E27FC236}">
                <a16:creationId xmlns:a16="http://schemas.microsoft.com/office/drawing/2014/main" id="{52F61E5C-8CE7-55C9-A00A-68A8C1C0435C}"/>
              </a:ext>
            </a:extLst>
          </p:cNvPr>
          <p:cNvSpPr/>
          <p:nvPr/>
        </p:nvSpPr>
        <p:spPr>
          <a:xfrm>
            <a:off x="3683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8" name="ADS 1046">
            <a:extLst>
              <a:ext uri="{FF2B5EF4-FFF2-40B4-BE49-F238E27FC236}">
                <a16:creationId xmlns:a16="http://schemas.microsoft.com/office/drawing/2014/main" id="{3014A97D-D77A-F459-5950-3BEC72A4ECEA}"/>
              </a:ext>
            </a:extLst>
          </p:cNvPr>
          <p:cNvSpPr txBox="1"/>
          <p:nvPr/>
        </p:nvSpPr>
        <p:spPr>
          <a:xfrm>
            <a:off x="5483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Трейд-бюджеты</a:t>
            </a:r>
            <a:endParaRPr lang="ru-RU" sz="1200" dirty="0"/>
          </a:p>
        </p:txBody>
      </p:sp>
      <p:sp>
        <p:nvSpPr>
          <p:cNvPr id="9" name="ADS 1047">
            <a:extLst>
              <a:ext uri="{FF2B5EF4-FFF2-40B4-BE49-F238E27FC236}">
                <a16:creationId xmlns:a16="http://schemas.microsoft.com/office/drawing/2014/main" id="{987CF5DB-3F55-8C40-AACE-2E4CFC975476}"/>
              </a:ext>
            </a:extLst>
          </p:cNvPr>
          <p:cNvSpPr txBox="1"/>
          <p:nvPr/>
        </p:nvSpPr>
        <p:spPr>
          <a:xfrm>
            <a:off x="5483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Как сервисная функция, активно работаем </a:t>
            </a:r>
            <a:b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</a:b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 коммерцией форматов</a:t>
            </a:r>
            <a:endParaRPr lang="ru-RU" sz="1200" dirty="0"/>
          </a:p>
        </p:txBody>
      </p:sp>
      <p:sp>
        <p:nvSpPr>
          <p:cNvPr id="10" name="ADS 1048">
            <a:extLst>
              <a:ext uri="{FF2B5EF4-FFF2-40B4-BE49-F238E27FC236}">
                <a16:creationId xmlns:a16="http://schemas.microsoft.com/office/drawing/2014/main" id="{C39AB452-15EB-7441-E8E1-93D4B539C075}"/>
              </a:ext>
            </a:extLst>
          </p:cNvPr>
          <p:cNvSpPr/>
          <p:nvPr/>
        </p:nvSpPr>
        <p:spPr>
          <a:xfrm>
            <a:off x="5483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" name="ADS 1049">
            <a:extLst>
              <a:ext uri="{FF2B5EF4-FFF2-40B4-BE49-F238E27FC236}">
                <a16:creationId xmlns:a16="http://schemas.microsoft.com/office/drawing/2014/main" id="{7460418B-5798-95B6-720F-57E1507AE22A}"/>
              </a:ext>
            </a:extLst>
          </p:cNvPr>
          <p:cNvSpPr txBox="1"/>
          <p:nvPr/>
        </p:nvSpPr>
        <p:spPr>
          <a:xfrm>
            <a:off x="5483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12" name="ADS 1050">
            <a:extLst>
              <a:ext uri="{FF2B5EF4-FFF2-40B4-BE49-F238E27FC236}">
                <a16:creationId xmlns:a16="http://schemas.microsoft.com/office/drawing/2014/main" id="{35BB8657-E443-532C-88BC-D853845ACC3C}"/>
              </a:ext>
            </a:extLst>
          </p:cNvPr>
          <p:cNvSpPr/>
          <p:nvPr/>
        </p:nvSpPr>
        <p:spPr>
          <a:xfrm>
            <a:off x="5483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3" name="ADS 1051">
            <a:extLst>
              <a:ext uri="{FF2B5EF4-FFF2-40B4-BE49-F238E27FC236}">
                <a16:creationId xmlns:a16="http://schemas.microsoft.com/office/drawing/2014/main" id="{52F1153B-F5D6-D9CD-D238-FD7C11763178}"/>
              </a:ext>
            </a:extLst>
          </p:cNvPr>
          <p:cNvSpPr txBox="1"/>
          <p:nvPr/>
        </p:nvSpPr>
        <p:spPr>
          <a:xfrm>
            <a:off x="6183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Поставщик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трейд-инвестиции в рамках коммерческих условий</a:t>
            </a:r>
            <a:endParaRPr lang="ru-RU" sz="1200" dirty="0"/>
          </a:p>
        </p:txBody>
      </p:sp>
      <p:sp>
        <p:nvSpPr>
          <p:cNvPr id="14" name="ADS 1052">
            <a:extLst>
              <a:ext uri="{FF2B5EF4-FFF2-40B4-BE49-F238E27FC236}">
                <a16:creationId xmlns:a16="http://schemas.microsoft.com/office/drawing/2014/main" id="{002CEA90-6643-D8A6-0A3B-F9D8D62AC6A1}"/>
              </a:ext>
            </a:extLst>
          </p:cNvPr>
          <p:cNvSpPr/>
          <p:nvPr/>
        </p:nvSpPr>
        <p:spPr>
          <a:xfrm>
            <a:off x="21458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5" name="ADS 1053">
            <a:extLst>
              <a:ext uri="{FF2B5EF4-FFF2-40B4-BE49-F238E27FC236}">
                <a16:creationId xmlns:a16="http://schemas.microsoft.com/office/drawing/2014/main" id="{E2427C04-2548-EF9A-9D57-86402AA63938}"/>
              </a:ext>
            </a:extLst>
          </p:cNvPr>
          <p:cNvSpPr/>
          <p:nvPr/>
        </p:nvSpPr>
        <p:spPr>
          <a:xfrm>
            <a:off x="23958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6" name="ADS 1054">
            <a:extLst>
              <a:ext uri="{FF2B5EF4-FFF2-40B4-BE49-F238E27FC236}">
                <a16:creationId xmlns:a16="http://schemas.microsoft.com/office/drawing/2014/main" id="{EE584239-7A3A-2CE8-4358-421B944898AB}"/>
              </a:ext>
            </a:extLst>
          </p:cNvPr>
          <p:cNvSpPr txBox="1"/>
          <p:nvPr/>
        </p:nvSpPr>
        <p:spPr>
          <a:xfrm>
            <a:off x="24658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Коммерция форматов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ведет переговоры и наращивает выручку</a:t>
            </a:r>
            <a:endParaRPr lang="ru-RU" sz="1200" dirty="0"/>
          </a:p>
        </p:txBody>
      </p:sp>
      <p:sp>
        <p:nvSpPr>
          <p:cNvPr id="17" name="ADS 1055">
            <a:extLst>
              <a:ext uri="{FF2B5EF4-FFF2-40B4-BE49-F238E27FC236}">
                <a16:creationId xmlns:a16="http://schemas.microsoft.com/office/drawing/2014/main" id="{224F4386-B450-06C4-F955-003AA2D7E198}"/>
              </a:ext>
            </a:extLst>
          </p:cNvPr>
          <p:cNvSpPr/>
          <p:nvPr/>
        </p:nvSpPr>
        <p:spPr>
          <a:xfrm>
            <a:off x="39934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8" name="ADS 1056">
            <a:extLst>
              <a:ext uri="{FF2B5EF4-FFF2-40B4-BE49-F238E27FC236}">
                <a16:creationId xmlns:a16="http://schemas.microsoft.com/office/drawing/2014/main" id="{49B016DD-0563-A408-689F-2021FF5DEB0F}"/>
              </a:ext>
            </a:extLst>
          </p:cNvPr>
          <p:cNvSpPr/>
          <p:nvPr/>
        </p:nvSpPr>
        <p:spPr>
          <a:xfrm>
            <a:off x="42434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9" name="ADS 1057">
            <a:extLst>
              <a:ext uri="{FF2B5EF4-FFF2-40B4-BE49-F238E27FC236}">
                <a16:creationId xmlns:a16="http://schemas.microsoft.com/office/drawing/2014/main" id="{5441B506-A5A1-0CE0-3A97-AB64BA068C3C}"/>
              </a:ext>
            </a:extLst>
          </p:cNvPr>
          <p:cNvSpPr txBox="1"/>
          <p:nvPr/>
        </p:nvSpPr>
        <p:spPr>
          <a:xfrm>
            <a:off x="43134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создает инвентарь, ведет кампании и отчетность</a:t>
            </a:r>
            <a:endParaRPr lang="ru-RU" sz="1200" dirty="0"/>
          </a:p>
        </p:txBody>
      </p:sp>
      <p:sp>
        <p:nvSpPr>
          <p:cNvPr id="25" name="Role card 2">
            <a:extLst>
              <a:ext uri="{FF2B5EF4-FFF2-40B4-BE49-F238E27FC236}">
                <a16:creationId xmlns:a16="http://schemas.microsoft.com/office/drawing/2014/main" id="{5626C9BC-7A0F-EC50-49B1-BBEA570B92B6}"/>
              </a:ext>
            </a:extLst>
          </p:cNvPr>
          <p:cNvSpPr/>
          <p:nvPr/>
        </p:nvSpPr>
        <p:spPr>
          <a:xfrm>
            <a:off x="6221000" y="1165860"/>
            <a:ext cx="5602700" cy="4526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6" name="ADS 1064">
            <a:extLst>
              <a:ext uri="{FF2B5EF4-FFF2-40B4-BE49-F238E27FC236}">
                <a16:creationId xmlns:a16="http://schemas.microsoft.com/office/drawing/2014/main" id="{6E3E5825-927A-5360-D634-5FDC71D6419B}"/>
              </a:ext>
            </a:extLst>
          </p:cNvPr>
          <p:cNvSpPr txBox="1"/>
          <p:nvPr/>
        </p:nvSpPr>
        <p:spPr>
          <a:xfrm>
            <a:off x="6401000" y="1305860"/>
            <a:ext cx="52427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1" dirty="0">
                <a:solidFill>
                  <a:srgbClr val="FF452C"/>
                </a:solidFill>
                <a:latin typeface="Arial"/>
                <a:cs typeface="Arial"/>
              </a:rPr>
              <a:t>Бренд-бюджеты</a:t>
            </a:r>
            <a:endParaRPr lang="ru-RU" sz="1200" dirty="0"/>
          </a:p>
        </p:txBody>
      </p:sp>
      <p:sp>
        <p:nvSpPr>
          <p:cNvPr id="27" name="ADS 1065">
            <a:extLst>
              <a:ext uri="{FF2B5EF4-FFF2-40B4-BE49-F238E27FC236}">
                <a16:creationId xmlns:a16="http://schemas.microsoft.com/office/drawing/2014/main" id="{F98A22A2-9BD7-9F4D-D527-75A6E040B101}"/>
              </a:ext>
            </a:extLst>
          </p:cNvPr>
          <p:cNvSpPr txBox="1"/>
          <p:nvPr/>
        </p:nvSpPr>
        <p:spPr>
          <a:xfrm>
            <a:off x="6401000" y="1645860"/>
            <a:ext cx="5242700" cy="4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b="1" dirty="0">
                <a:solidFill>
                  <a:srgbClr val="000000"/>
                </a:solidFill>
                <a:latin typeface="Arial"/>
                <a:cs typeface="Arial"/>
              </a:rPr>
              <a:t>Стремимся выйти на бренд-бюджеты - развиваемся через внешнее ЮЛ Магнит Маркет</a:t>
            </a:r>
            <a:endParaRPr lang="ru-RU" sz="1200" dirty="0"/>
          </a:p>
        </p:txBody>
      </p:sp>
      <p:sp>
        <p:nvSpPr>
          <p:cNvPr id="28" name="ADS 1066">
            <a:extLst>
              <a:ext uri="{FF2B5EF4-FFF2-40B4-BE49-F238E27FC236}">
                <a16:creationId xmlns:a16="http://schemas.microsoft.com/office/drawing/2014/main" id="{74171890-49F2-B5FA-4D24-98EA08B26614}"/>
              </a:ext>
            </a:extLst>
          </p:cNvPr>
          <p:cNvSpPr/>
          <p:nvPr/>
        </p:nvSpPr>
        <p:spPr>
          <a:xfrm>
            <a:off x="6401000" y="2175860"/>
            <a:ext cx="524270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29" name="ADS 1067">
            <a:extLst>
              <a:ext uri="{FF2B5EF4-FFF2-40B4-BE49-F238E27FC236}">
                <a16:creationId xmlns:a16="http://schemas.microsoft.com/office/drawing/2014/main" id="{320B44EA-7054-564B-FB55-4BC5B99DCC99}"/>
              </a:ext>
            </a:extLst>
          </p:cNvPr>
          <p:cNvSpPr txBox="1"/>
          <p:nvPr/>
        </p:nvSpPr>
        <p:spPr>
          <a:xfrm>
            <a:off x="6401000" y="2301051"/>
            <a:ext cx="5242700" cy="23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Как работаем с бюджетом</a:t>
            </a:r>
            <a:endParaRPr lang="ru-RU" sz="1200" dirty="0"/>
          </a:p>
        </p:txBody>
      </p:sp>
      <p:sp>
        <p:nvSpPr>
          <p:cNvPr id="30" name="ADS 1068">
            <a:extLst>
              <a:ext uri="{FF2B5EF4-FFF2-40B4-BE49-F238E27FC236}">
                <a16:creationId xmlns:a16="http://schemas.microsoft.com/office/drawing/2014/main" id="{6E938C0B-D0AA-EB41-D824-24D3D130E74E}"/>
              </a:ext>
            </a:extLst>
          </p:cNvPr>
          <p:cNvSpPr/>
          <p:nvPr/>
        </p:nvSpPr>
        <p:spPr>
          <a:xfrm>
            <a:off x="6401000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1" name="ADS 1069">
            <a:extLst>
              <a:ext uri="{FF2B5EF4-FFF2-40B4-BE49-F238E27FC236}">
                <a16:creationId xmlns:a16="http://schemas.microsoft.com/office/drawing/2014/main" id="{FC2F763A-96A8-AB62-AAE1-D71C86DFE373}"/>
              </a:ext>
            </a:extLst>
          </p:cNvPr>
          <p:cNvSpPr txBox="1"/>
          <p:nvPr/>
        </p:nvSpPr>
        <p:spPr>
          <a:xfrm>
            <a:off x="6471000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Бренд-команда поставщика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бюджет на охватную рекламу: ТВ, OOH, digital</a:t>
            </a:r>
            <a:endParaRPr lang="ru-RU" sz="1200" dirty="0"/>
          </a:p>
        </p:txBody>
      </p:sp>
      <p:sp>
        <p:nvSpPr>
          <p:cNvPr id="32" name="ADS 1070">
            <a:extLst>
              <a:ext uri="{FF2B5EF4-FFF2-40B4-BE49-F238E27FC236}">
                <a16:creationId xmlns:a16="http://schemas.microsoft.com/office/drawing/2014/main" id="{86CE7601-55CB-2AA8-3ACD-6D4D34FFF3B2}"/>
              </a:ext>
            </a:extLst>
          </p:cNvPr>
          <p:cNvSpPr/>
          <p:nvPr/>
        </p:nvSpPr>
        <p:spPr>
          <a:xfrm>
            <a:off x="7998567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3" name="ADS 1071">
            <a:extLst>
              <a:ext uri="{FF2B5EF4-FFF2-40B4-BE49-F238E27FC236}">
                <a16:creationId xmlns:a16="http://schemas.microsoft.com/office/drawing/2014/main" id="{7C4DCCDD-B76A-893D-A1EE-B818DA123690}"/>
              </a:ext>
            </a:extLst>
          </p:cNvPr>
          <p:cNvSpPr/>
          <p:nvPr/>
        </p:nvSpPr>
        <p:spPr>
          <a:xfrm>
            <a:off x="8248567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4" name="ADS 1072">
            <a:extLst>
              <a:ext uri="{FF2B5EF4-FFF2-40B4-BE49-F238E27FC236}">
                <a16:creationId xmlns:a16="http://schemas.microsoft.com/office/drawing/2014/main" id="{0CC4A8D1-37B6-DAB5-F1D2-E0C9CCD14469}"/>
              </a:ext>
            </a:extLst>
          </p:cNvPr>
          <p:cNvSpPr txBox="1"/>
          <p:nvPr/>
        </p:nvSpPr>
        <p:spPr>
          <a:xfrm>
            <a:off x="8318567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000000"/>
                </a:solidFill>
                <a:latin typeface="Arial"/>
                <a:cs typeface="Arial"/>
              </a:rPr>
              <a:t>Внешнее ЮЛ Магнит Маркета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7F7F7F"/>
                </a:solidFill>
                <a:latin typeface="Arial"/>
                <a:cs typeface="Arial"/>
              </a:rPr>
              <a:t>RMN в связке с Дикси и Азбукой Вкуса</a:t>
            </a:r>
            <a:endParaRPr lang="ru-RU" sz="1200" dirty="0"/>
          </a:p>
        </p:txBody>
      </p:sp>
      <p:sp>
        <p:nvSpPr>
          <p:cNvPr id="35" name="ADS 1073">
            <a:extLst>
              <a:ext uri="{FF2B5EF4-FFF2-40B4-BE49-F238E27FC236}">
                <a16:creationId xmlns:a16="http://schemas.microsoft.com/office/drawing/2014/main" id="{80853A94-6C0A-D93E-F031-C80373C393AF}"/>
              </a:ext>
            </a:extLst>
          </p:cNvPr>
          <p:cNvSpPr/>
          <p:nvPr/>
        </p:nvSpPr>
        <p:spPr>
          <a:xfrm>
            <a:off x="9846133" y="2955608"/>
            <a:ext cx="200000" cy="220000"/>
          </a:xfrm>
          <a:prstGeom prst="rightArrow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6" name="ADS 1074">
            <a:extLst>
              <a:ext uri="{FF2B5EF4-FFF2-40B4-BE49-F238E27FC236}">
                <a16:creationId xmlns:a16="http://schemas.microsoft.com/office/drawing/2014/main" id="{08D0A1F6-FAC9-404B-CEAE-36FB2FA5575B}"/>
              </a:ext>
            </a:extLst>
          </p:cNvPr>
          <p:cNvSpPr/>
          <p:nvPr/>
        </p:nvSpPr>
        <p:spPr>
          <a:xfrm>
            <a:off x="10096133" y="2655608"/>
            <a:ext cx="1547567" cy="820000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7" name="ADS 1075">
            <a:extLst>
              <a:ext uri="{FF2B5EF4-FFF2-40B4-BE49-F238E27FC236}">
                <a16:creationId xmlns:a16="http://schemas.microsoft.com/office/drawing/2014/main" id="{38F46111-3199-7DB1-4E60-55A3BF096B22}"/>
              </a:ext>
            </a:extLst>
          </p:cNvPr>
          <p:cNvSpPr txBox="1"/>
          <p:nvPr/>
        </p:nvSpPr>
        <p:spPr>
          <a:xfrm>
            <a:off x="10166133" y="2705608"/>
            <a:ext cx="1407567" cy="7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AdTech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продает напрямую и через агентства</a:t>
            </a:r>
            <a:endParaRPr lang="ru-RU" sz="1200" dirty="0"/>
          </a:p>
        </p:txBody>
      </p:sp>
      <p:sp>
        <p:nvSpPr>
          <p:cNvPr id="38" name="ADS line 38"/>
          <p:cNvSpPr/>
          <p:nvPr/>
        </p:nvSpPr>
        <p:spPr>
          <a:xfrm>
            <a:off x="54864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39" name="ADS label 39"/>
          <p:cNvSpPr txBox="1"/>
          <p:nvPr/>
        </p:nvSpPr>
        <p:spPr>
          <a:xfrm>
            <a:off x="54864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0" name="ADS label 40"/>
          <p:cNvSpPr txBox="1"/>
          <p:nvPr/>
        </p:nvSpPr>
        <p:spPr>
          <a:xfrm>
            <a:off x="54864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Трейд-бюджеты драйвит Коммерция Магнита.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Задача AdTech - освоить эти бюджеты и создать максимальную добавочную ценность рекламы, чтобы поставщик был готов инвестировать в инструментарий дальше</a:t>
            </a:r>
            <a:endParaRPr lang="ru-RU" sz="1200" dirty="0"/>
          </a:p>
        </p:txBody>
      </p:sp>
      <p:sp>
        <p:nvSpPr>
          <p:cNvPr id="41" name="ADS pink 41"/>
          <p:cNvSpPr/>
          <p:nvPr/>
        </p:nvSpPr>
        <p:spPr>
          <a:xfrm>
            <a:off x="54864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2" name="ADS pinktxt 42"/>
          <p:cNvSpPr txBox="1"/>
          <p:nvPr/>
        </p:nvSpPr>
        <p:spPr>
          <a:xfrm>
            <a:off x="64008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освоение бюджетов, sales lift и ROAS кампаний, рост повторных инвестиций поставщиков</a:t>
            </a:r>
            <a:endParaRPr lang="ru-RU" sz="1200" dirty="0"/>
          </a:p>
        </p:txBody>
      </p:sp>
      <p:sp>
        <p:nvSpPr>
          <p:cNvPr id="43" name="ADS line 43"/>
          <p:cNvSpPr/>
          <p:nvPr/>
        </p:nvSpPr>
        <p:spPr>
          <a:xfrm>
            <a:off x="6400800" y="3664132"/>
            <a:ext cx="5239512" cy="9144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4" name="ADS label 44"/>
          <p:cNvSpPr txBox="1"/>
          <p:nvPr/>
        </p:nvSpPr>
        <p:spPr>
          <a:xfrm>
            <a:off x="6400800" y="3737284"/>
            <a:ext cx="523951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7F7F7F"/>
                </a:solidFill>
                <a:latin typeface="Arial"/>
                <a:cs typeface="Arial"/>
              </a:rPr>
              <a:t>Цель</a:t>
            </a:r>
            <a:endParaRPr lang="ru-RU" sz="1200" dirty="0"/>
          </a:p>
        </p:txBody>
      </p:sp>
      <p:sp>
        <p:nvSpPr>
          <p:cNvPr id="45" name="ADS label 45"/>
          <p:cNvSpPr txBox="1"/>
          <p:nvPr/>
        </p:nvSpPr>
        <p:spPr>
          <a:xfrm>
            <a:off x="6400800" y="3984172"/>
            <a:ext cx="5239512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50" b="1" dirty="0">
                <a:solidFill>
                  <a:srgbClr val="000000"/>
                </a:solidFill>
                <a:latin typeface="Arial"/>
                <a:cs typeface="Arial"/>
              </a:rPr>
              <a:t>Бренд-бюджеты - выход в новые охватные сегменты.</a:t>
            </a:r>
            <a:r>
              <a:rPr lang="ru-RU" sz="1050" b="0" dirty="0">
                <a:solidFill>
                  <a:srgbClr val="000000"/>
                </a:solidFill>
                <a:latin typeface="Arial"/>
                <a:cs typeface="Arial"/>
              </a:rPr>
              <a:t> Конкурируем со всем рынком рекламы и доказываем брендам, что ритейл-медиа эффективнее внешних охватных инструментов: традиционного digital (РСЯ, VK) и DOOH (Russ Outdoor)</a:t>
            </a:r>
            <a:endParaRPr lang="ru-RU" sz="1200" dirty="0"/>
          </a:p>
        </p:txBody>
      </p:sp>
      <p:sp>
        <p:nvSpPr>
          <p:cNvPr id="46" name="ADS pink 46"/>
          <p:cNvSpPr/>
          <p:nvPr/>
        </p:nvSpPr>
        <p:spPr>
          <a:xfrm>
            <a:off x="6400800" y="4852852"/>
            <a:ext cx="5239512" cy="658368"/>
          </a:xfrm>
          <a:prstGeom prst="roundRect">
            <a:avLst>
              <a:gd name="adj" fmla="val 10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47" name="ADS pinktxt 47"/>
          <p:cNvSpPr txBox="1"/>
          <p:nvPr/>
        </p:nvSpPr>
        <p:spPr>
          <a:xfrm>
            <a:off x="6492240" y="4898572"/>
            <a:ext cx="5056632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b="1" dirty="0">
                <a:solidFill>
                  <a:srgbClr val="FF452C"/>
                </a:solidFill>
                <a:latin typeface="Arial"/>
                <a:cs typeface="Arial"/>
              </a:rPr>
              <a:t>Как измеряем</a:t>
            </a:r>
            <a:endParaRPr lang="ru-RU" sz="1200" dirty="0"/>
          </a:p>
          <a:p>
            <a:pPr marL="0" indent="0" algn="ctr">
              <a:spcBef>
                <a:spcPts val="200"/>
              </a:spcBef>
              <a:spcAft>
                <a:spcPts val="0"/>
              </a:spcAft>
              <a:buNone/>
            </a:pPr>
            <a:r>
              <a:rPr lang="ru-RU" sz="900" b="0" dirty="0">
                <a:solidFill>
                  <a:srgbClr val="000000"/>
                </a:solidFill>
                <a:latin typeface="Arial"/>
                <a:cs typeface="Arial"/>
              </a:rPr>
              <a:t>инкрементальная выручка RMN, доля в бренд-бюджетах, brand lift и sales lift против внешних охватов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2597568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1. Объем бюджетов — внутреннее исследование Magnit ADS: около 200 млрд руб. среднегодовой маркетинговый бюджет FMCG-компаний. </a:t>
            </a:r>
          </a:p>
          <a:p>
            <a:r>
              <a:rPr lang="ru-RU" sz="900" dirty="0">
                <a:solidFill>
                  <a:srgbClr val="6E6E6E"/>
                </a:solidFill>
              </a:rPr>
              <a:t>План 2027 — BU 2027, 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Два типа бюджетов поставщика: трейд через Коммерцию форматов, бренд через внешнее ЮЛ AdTech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Как Magnit ADS работает с трейд- и бренд-бюджетами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4261515"/>
              </p:ext>
            </p:extLst>
          </p:nvPr>
        </p:nvGraphicFramePr>
        <p:xfrm>
          <a:off x="368300" y="1396999"/>
          <a:ext cx="11457432" cy="4445001"/>
        </p:xfrm>
        <a:graphic>
          <a:graphicData uri="http://schemas.openxmlformats.org/drawingml/2006/table">
            <a:tbl>
              <a:tblPr firstRow="1"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31"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Трейд-бюджеты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1" dirty="0">
                          <a:solidFill>
                            <a:schemeClr val="tx2"/>
                          </a:solidFill>
                          <a:latin typeface="Arial"/>
                        </a:rPr>
                        <a:t>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Инвестиции поставщика в продвижение в сети в рамках коммерческих условий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Бюджеты бренд-маркетинга поставщика на охватную рекламу: </a:t>
                      </a:r>
                      <a:br>
                        <a:rPr lang="en-US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ТВ, OOH,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Объем у FMCG-компаний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120-140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60-80 млрд руб. в год</a:t>
                      </a:r>
                      <a:r>
                        <a:rPr lang="ru-RU" sz="1100" baseline="300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Кто продает со стороны Магнит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Коммерция форматов в переговорах с поставщиком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 самостоятельно или через рекламные агентства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Роль 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Создает новый и инновационный инвентарь, ведет кампании и отчетность; Коммерция наращивает на нем рекламную выручку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Выходит на бренд-команды поставщиков и получает бюджеты через внешнее ЮЛ Магнит Маркета (Retail Media Network в связке с Дикси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и Азбука Вкуса)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Инвентарь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(медиа и перформанс), in-store digital, DMP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Охваты RMN: digital и in-store, контакт в момент выбора товара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5895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13 414 млн руб. </a:t>
                      </a:r>
                      <a:b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</a:br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(APP 7 696; in-store 3 931; DMP+Online+Analytics 1 787)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Планируемая рекламная выручка 1 064 млн руб.</a:t>
                      </a:r>
                    </a:p>
                    <a:p>
                      <a:pPr marL="0" marR="0" lvl="0" indent="0" algn="l" defTabSz="91435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>
                          <a:solidFill>
                            <a:srgbClr val="000000"/>
                          </a:solidFill>
                          <a:latin typeface="+mn-lt"/>
                        </a:rPr>
                        <a:t>(RMN - 850; UGC - 213)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52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02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Бюджет 2027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P&amp;L, ключевые допущения, сверка со стратегией и планы направлений</a:t>
            </a:r>
          </a:p>
        </p:txBody>
      </p:sp>
    </p:spTree>
    <p:extLst>
      <p:ext uri="{BB962C8B-B14F-4D97-AF65-F5344CB8AC3E}">
        <p14:creationId xmlns:p14="http://schemas.microsoft.com/office/powerpoint/2010/main" val="3623023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6212E8-2DA6-6B7B-76AC-1E529EE3E4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</a:t>
            </a:r>
            <a:r>
              <a:rPr lang="ru-RU" sz="900" dirty="0" err="1">
                <a:solidFill>
                  <a:srgbClr val="6E6E6E"/>
                </a:solidFill>
              </a:rPr>
              <a:t>мес</a:t>
            </a:r>
            <a:endParaRPr lang="ru-RU" sz="900" dirty="0">
              <a:solidFill>
                <a:srgbClr val="6E6E6E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998D84-AF56-10C7-0944-36EF753D0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8F879-99E1-3AE9-5D03-781690F4C0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P&amp;L 2027: выручка 14,5 млрд руб. (+40%), EBITDA 10,8 млрд руб. (+34%)</a:t>
            </a:r>
          </a:p>
        </p:txBody>
      </p:sp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368300" y="1041400"/>
          <a:ext cx="6832600" cy="47955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P&amp;L,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YoY,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vs стр., абс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1 501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7 251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4 509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(578)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1 063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 (бренд-бюджеты)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Content factory, внешн.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10 323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4 154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COGS (маркетинг)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(881)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(1 883)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(1 002)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&gt;100%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Net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9 443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12 595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3 152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11 656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(1 120)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(1 436)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(316)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(1 479)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(26)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 (прочий)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(45)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(37)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Other 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(98)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(1 358)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(1 771)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(413)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(1 702)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(69)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8 085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2 739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i="1" dirty="0">
                          <a:solidFill>
                            <a:srgbClr val="595959"/>
                          </a:solidFill>
                          <a:latin typeface="Arial"/>
                        </a:rPr>
                        <a:t>EBITDA margin,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−4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−2 п.п.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(1 180)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6 905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2 768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  <p:sp>
        <p:nvSpPr>
          <p:cNvPr id="201" name="Shape 201"/>
          <p:cNvSpPr txBox="1"/>
          <p:nvPr/>
        </p:nvSpPr>
        <p:spPr>
          <a:xfrm>
            <a:off x="7620000" y="1041400"/>
            <a:ext cx="4203700" cy="50165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роста выручки и предпосылки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APP +1 501: </a:t>
            </a:r>
            <a:r>
              <a:rPr lang="ru-RU" sz="1100" dirty="0">
                <a:solidFill>
                  <a:srgbClr val="000000"/>
                </a:solidFill>
              </a:rPr>
              <a:t>~60% (+873) — полный год нового прайса (CPM +17%, чек перформанса +26%), ~40% (+628) — рост аудитории: DAC +18% по прогнозу М+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In-store +1 485: </a:t>
            </a:r>
            <a:r>
              <a:rPr lang="ru-RU" sz="1100" dirty="0">
                <a:solidFill>
                  <a:srgbClr val="000000"/>
                </a:solidFill>
              </a:rPr>
              <a:t>полный год оборудования, введённого в 2026 г. (+2 462), ввод 2027 г. (+228); доход на устройство ниже (−1 264, в основном КСО −40%): после быстрого роста парка закладываем снижение утилизации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DMP + Online +613: </a:t>
            </a:r>
            <a:r>
              <a:rPr lang="ru-RU" sz="1100" dirty="0">
                <a:solidFill>
                  <a:srgbClr val="000000"/>
                </a:solidFill>
              </a:rPr>
              <a:t>план команды DMP — новые площадки SmartTV, Авито, маркетплейсы (420) и рост пакетов, баннеров и OLV (+193); маржинальность 37,5%</a:t>
            </a:r>
          </a:p>
          <a:p>
            <a:pPr marL="171450" indent="-171450" algn="l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Новые стримы: </a:t>
            </a:r>
            <a:r>
              <a:rPr lang="ru-RU" sz="1100" dirty="0">
                <a:solidFill>
                  <a:srgbClr val="000000"/>
                </a:solidFill>
              </a:rPr>
              <a:t>RMN 850 (+258) — бренд-бюджеты поставщиков через внешнее ЮЛ; Content factory 213 — продажи внешним рекламодателям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COGS 1 883: </a:t>
            </a:r>
            <a:r>
              <a:rPr lang="ru-RU" sz="1100" dirty="0">
                <a:solidFill>
                  <a:srgbClr val="000000"/>
                </a:solidFill>
              </a:rPr>
              <a:t>закупка трафика DMP 1 000, агентства 795, креаторы Content </a:t>
            </a:r>
            <a:r>
              <a:rPr lang="en-US" sz="1100" noProof="0" dirty="0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88; Net Revenue — 87% Gross Revenue (91% в FC 2026)</a:t>
            </a:r>
          </a:p>
          <a:p>
            <a:pPr marL="171450" indent="-171450">
              <a:spcBef>
                <a:spcPts val="7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PEX 1 436: </a:t>
            </a:r>
            <a:r>
              <a:rPr lang="ru-RU" sz="1100" dirty="0">
                <a:solidFill>
                  <a:srgbClr val="000000"/>
                </a:solidFill>
              </a:rPr>
              <a:t>ФОТ </a:t>
            </a:r>
            <a:r>
              <a:rPr lang="ru-RU" sz="1100" dirty="0" err="1">
                <a:solidFill>
                  <a:srgbClr val="000000"/>
                </a:solidFill>
              </a:rPr>
              <a:t>AdTech</a:t>
            </a:r>
            <a:r>
              <a:rPr lang="ru-RU" sz="1100" dirty="0">
                <a:solidFill>
                  <a:srgbClr val="000000"/>
                </a:solidFill>
              </a:rPr>
              <a:t> 1 370 + команда Content </a:t>
            </a:r>
            <a:r>
              <a:rPr lang="ru-RU" sz="1100" dirty="0" err="1">
                <a:solidFill>
                  <a:srgbClr val="000000"/>
                </a:solidFill>
              </a:rPr>
              <a:t>factory</a:t>
            </a:r>
            <a:r>
              <a:rPr lang="ru-RU" sz="1100" dirty="0">
                <a:solidFill>
                  <a:srgbClr val="000000"/>
                </a:solidFill>
              </a:rPr>
              <a:t> 66; 354 FTE на конец 2027 г. (312 на конец 2026 г.), в 2027 г. штат работает полный год (</a:t>
            </a:r>
            <a:r>
              <a:rPr lang="ru-RU" sz="1100" dirty="0" err="1">
                <a:solidFill>
                  <a:srgbClr val="000000"/>
                </a:solidFill>
              </a:rPr>
              <a:t>full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year</a:t>
            </a:r>
            <a:r>
              <a:rPr lang="ru-RU" sz="1100" dirty="0">
                <a:solidFill>
                  <a:srgbClr val="000000"/>
                </a:solidFill>
              </a:rPr>
              <a:t> </a:t>
            </a:r>
            <a:r>
              <a:rPr lang="ru-RU" sz="1100" dirty="0" err="1">
                <a:solidFill>
                  <a:srgbClr val="000000"/>
                </a:solidFill>
              </a:rPr>
              <a:t>run-rate</a:t>
            </a:r>
            <a:r>
              <a:rPr lang="ru-RU" sz="1100" dirty="0">
                <a:solidFill>
                  <a:srgbClr val="000000"/>
                </a:solidFill>
              </a:rPr>
              <a:t>); 27% ФОТ (510 млн руб.) капитализируется</a:t>
            </a:r>
          </a:p>
        </p:txBody>
      </p:sp>
    </p:spTree>
    <p:extLst>
      <p:ext uri="{BB962C8B-B14F-4D97-AF65-F5344CB8AC3E}">
        <p14:creationId xmlns:p14="http://schemas.microsoft.com/office/powerpoint/2010/main" val="153624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B195EE-AB28-7BF5-C59F-08686C969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2BA190-0DA4-8110-CB82-CAC8AD064E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E4971-9518-1AE3-CEF7-A78B6EB476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42% выручки 2027 приходится на Q4: сезонность цен и рост аудитории к концу года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08100"/>
          <a:ext cx="7747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620000" cy="304800"/>
          </a:xfrm>
          <a:prstGeom prst="rect">
            <a:avLst/>
          </a:prstGeom>
          <a:noFill/>
        </p:spPr>
        <p:txBody>
          <a:bodyPr wrap="square" lIns="9144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 по месяцам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8255000" y="1016000"/>
            <a:ext cx="3568700" cy="508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Выручка по кварталам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Q1: </a:t>
            </a:r>
            <a:r>
              <a:rPr lang="ru-RU" sz="1200" b="1" dirty="0">
                <a:solidFill>
                  <a:srgbClr val="000000"/>
                </a:solidFill>
              </a:rPr>
              <a:t>2 027</a:t>
            </a:r>
            <a:r>
              <a:rPr lang="ru-RU" sz="1200" dirty="0">
                <a:solidFill>
                  <a:srgbClr val="000000"/>
                </a:solidFill>
              </a:rPr>
              <a:t> (14%)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Q2: </a:t>
            </a:r>
            <a:r>
              <a:rPr lang="ru-RU" sz="1200" b="1" dirty="0">
                <a:solidFill>
                  <a:srgbClr val="000000"/>
                </a:solidFill>
              </a:rPr>
              <a:t>3 040</a:t>
            </a:r>
            <a:r>
              <a:rPr lang="ru-RU" sz="1200" dirty="0">
                <a:solidFill>
                  <a:srgbClr val="000000"/>
                </a:solidFill>
              </a:rPr>
              <a:t> (21%)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Q3: </a:t>
            </a:r>
            <a:r>
              <a:rPr lang="ru-RU" sz="1200" b="1" dirty="0">
                <a:solidFill>
                  <a:srgbClr val="000000"/>
                </a:solidFill>
              </a:rPr>
              <a:t>3 330</a:t>
            </a:r>
            <a:r>
              <a:rPr lang="ru-RU" sz="1200" dirty="0">
                <a:solidFill>
                  <a:srgbClr val="000000"/>
                </a:solidFill>
              </a:rPr>
              <a:t> (23%)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Q4: </a:t>
            </a:r>
            <a:r>
              <a:rPr lang="ru-RU" sz="1200" b="1" dirty="0"/>
              <a:t>6 081</a:t>
            </a:r>
            <a:r>
              <a:rPr lang="ru-RU" sz="1200" dirty="0"/>
              <a:t> </a:t>
            </a:r>
            <a:r>
              <a:rPr lang="ru-RU" sz="1200" dirty="0">
                <a:solidFill>
                  <a:srgbClr val="000000"/>
                </a:solidFill>
              </a:rPr>
              <a:t>(42%)</a:t>
            </a:r>
          </a:p>
          <a:p>
            <a:pPr marL="0" indent="0" algn="l">
              <a:spcBef>
                <a:spcPts val="9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Профиль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Январь — 2%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Декабрь — 17% годового плана</a:t>
            </a:r>
          </a:p>
          <a:p>
            <a:pPr marL="171450" indent="-171450" algn="l">
              <a:spcBef>
                <a:spcPts val="300"/>
              </a:spcBef>
              <a:buFont typeface="Arial"/>
              <a:buChar char="•"/>
            </a:pPr>
            <a:r>
              <a:rPr lang="ru-RU" sz="1200" dirty="0">
                <a:solidFill>
                  <a:srgbClr val="000000"/>
                </a:solidFill>
              </a:rPr>
              <a:t>Маржа EBITDA растёт с 25% в январе до 83% в декабре: PEX равномерный</a:t>
            </a:r>
          </a:p>
        </p:txBody>
      </p:sp>
    </p:spTree>
    <p:extLst>
      <p:ext uri="{BB962C8B-B14F-4D97-AF65-F5344CB8AC3E}">
        <p14:creationId xmlns:p14="http://schemas.microsoft.com/office/powerpoint/2010/main" val="3967994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4AF7E3-8FC3-07B1-051D-8A6A96430C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Стратегия 2027 — целевые значения стратегии AdTech (лист Summary, Bridge to strategy)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BDF6F5-4FFD-62B6-A50A-324A68739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1EDC9-92BA-2F91-2FFB-E391FF536F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выше стратегии: выручка +1 529 млн руб. (+12%), EBITDA +870 млн руб. (+9%)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стратегия 2027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Сверка ключевых строк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600200"/>
        </p:xfrm>
        <a:graphic>
          <a:graphicData uri="http://schemas.openxmlformats.org/drawingml/2006/table">
            <a:tbl>
              <a:tblPr firstRow="1"/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Gross Revenue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12 948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14 478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+1 529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(2 995)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(3 654)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(659)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9 953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10 823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+870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(1 242)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(1 151)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FCF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8 711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9 673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+962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3175000"/>
            <a:ext cx="4127500" cy="292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</a:t>
            </a:r>
            <a:r>
              <a:rPr lang="ru-RU" sz="1200" dirty="0">
                <a:solidFill>
                  <a:srgbClr val="000000"/>
                </a:solidFill>
              </a:rPr>
              <a:t>не закладывался в стратегию: бренд-бюджеты поставщиков через отдельное ЮЛ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+ Online: </a:t>
            </a:r>
            <a:r>
              <a:rPr lang="ru-RU" sz="1200" dirty="0">
                <a:solidFill>
                  <a:srgbClr val="000000"/>
                </a:solidFill>
              </a:rPr>
              <a:t>новые площадки (SmartTV, Авито, маркетплейсы) дают 420 млн руб.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ниже стратегии</a:t>
            </a:r>
            <a:r>
              <a:rPr lang="ru-RU" sz="1200" dirty="0">
                <a:solidFill>
                  <a:srgbClr val="000000"/>
                </a:solidFill>
              </a:rPr>
              <a:t>: снижение выручки относительно стратегии из-за корректировки утилизации ввиду роста парка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выше на 659: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и агентские вознаграждения (Marketing +654)</a:t>
            </a:r>
          </a:p>
        </p:txBody>
      </p:sp>
    </p:spTree>
    <p:extLst>
      <p:ext uri="{BB962C8B-B14F-4D97-AF65-F5344CB8AC3E}">
        <p14:creationId xmlns:p14="http://schemas.microsoft.com/office/powerpoint/2010/main" val="3586144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Планы направлений 2027: APP и In-store дают 80% выручки, RMN и Content factory — 1,1 млрд руб.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APP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7 696 млн руб.  ·  +24%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Монетизация роста аудитории: DAC </a:t>
            </a:r>
            <a:r>
              <a:rPr lang="ru-RU" sz="1400" b="1" dirty="0">
                <a:solidFill>
                  <a:srgbClr val="000000"/>
                </a:solidFill>
              </a:rPr>
              <a:t>+18%</a:t>
            </a:r>
            <a:r>
              <a:rPr lang="ru-RU" sz="1400" dirty="0">
                <a:solidFill>
                  <a:srgbClr val="000000"/>
                </a:solidFill>
              </a:rPr>
              <a:t>, показы AdTech 6,5 млрд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Полный год нового прайса: модальное окно и Косметик — </a:t>
            </a:r>
            <a:r>
              <a:rPr lang="ru-RU" sz="1400" b="1" dirty="0">
                <a:solidFill>
                  <a:srgbClr val="000000"/>
                </a:solidFill>
              </a:rPr>
              <a:t>1 000 руб.</a:t>
            </a:r>
            <a:r>
              <a:rPr lang="ru-RU" sz="1400" dirty="0">
                <a:solidFill>
                  <a:srgbClr val="000000"/>
                </a:solidFill>
              </a:rPr>
              <a:t> CPM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Перформанс: </a:t>
            </a:r>
            <a:r>
              <a:rPr lang="ru-RU" sz="1400" b="1" dirty="0">
                <a:solidFill>
                  <a:srgbClr val="000000"/>
                </a:solidFill>
              </a:rPr>
              <a:t>2,3 тыс.</a:t>
            </a:r>
            <a:r>
              <a:rPr lang="ru-RU" sz="1400" dirty="0">
                <a:solidFill>
                  <a:srgbClr val="000000"/>
                </a:solidFill>
              </a:rPr>
              <a:t> кампаний в месяц, чек 86 тыс.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Сторис: </a:t>
            </a:r>
            <a:r>
              <a:rPr lang="ru-RU" sz="1400" b="1" dirty="0">
                <a:solidFill>
                  <a:srgbClr val="000000"/>
                </a:solidFill>
              </a:rPr>
              <a:t>313</a:t>
            </a:r>
            <a:r>
              <a:rPr lang="ru-RU" sz="1400" dirty="0">
                <a:solidFill>
                  <a:srgbClr val="000000"/>
                </a:solidFill>
              </a:rPr>
              <a:t> кампаний в месяц по 100 тыс. руб. за день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In-store digital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3 931 млн руб.  ·  +61%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Ввод </a:t>
            </a:r>
            <a:r>
              <a:rPr lang="ru-RU" sz="1400" b="1" dirty="0">
                <a:solidFill>
                  <a:srgbClr val="000000"/>
                </a:solidFill>
              </a:rPr>
              <a:t>3 250</a:t>
            </a:r>
            <a:r>
              <a:rPr lang="ru-RU" sz="1400" dirty="0">
                <a:solidFill>
                  <a:srgbClr val="000000"/>
                </a:solidFill>
              </a:rPr>
              <a:t> шелф-баннеров, 428 фасадных экранов и 20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Запуск целевой системы управления медиаконтентом (CAPEX 438 млн руб.)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и данные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1 787 млн руб.  ·  +64%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OLV: </a:t>
            </a:r>
            <a:r>
              <a:rPr lang="ru-RU" sz="1400" b="1" dirty="0">
                <a:solidFill>
                  <a:srgbClr val="000000"/>
                </a:solidFill>
              </a:rPr>
              <a:t>788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Онлайн+ТВ: </a:t>
            </a:r>
            <a:r>
              <a:rPr lang="ru-RU" sz="1400" b="1" dirty="0">
                <a:solidFill>
                  <a:srgbClr val="000000"/>
                </a:solidFill>
              </a:rPr>
              <a:t>393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 — SmartTV, Авито, маркетплейсы: </a:t>
            </a:r>
            <a:r>
              <a:rPr lang="ru-RU" sz="1400" b="1" dirty="0">
                <a:solidFill>
                  <a:srgbClr val="000000"/>
                </a:solidFill>
              </a:rPr>
              <a:t>420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Аналитика: DMP 54 и ad hoc 133 млн руб.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RMN и Content factory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1 064 млн руб.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RMN: </a:t>
            </a:r>
            <a:r>
              <a:rPr lang="ru-RU" sz="1400" b="1" dirty="0">
                <a:solidFill>
                  <a:srgbClr val="000000"/>
                </a:solidFill>
              </a:rPr>
              <a:t>850 млн руб.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6 ячеек по 25 креаторов к марту 2027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CF: </a:t>
            </a: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Результат CF: </a:t>
            </a:r>
            <a:r>
              <a:rPr lang="ru-RU" sz="1400" b="1" dirty="0">
                <a:solidFill>
                  <a:srgbClr val="000000"/>
                </a:solidFill>
              </a:rPr>
              <a:t>59 млн руб.</a:t>
            </a:r>
            <a:r>
              <a:rPr lang="ru-RU" sz="1400" dirty="0">
                <a:solidFill>
                  <a:srgbClr val="000000"/>
                </a:solidFill>
              </a:rPr>
              <a:t>, рентабельность 28%</a:t>
            </a:r>
          </a:p>
        </p:txBody>
      </p:sp>
    </p:spTree>
    <p:extLst>
      <p:ext uri="{BB962C8B-B14F-4D97-AF65-F5344CB8AC3E}">
        <p14:creationId xmlns:p14="http://schemas.microsoft.com/office/powerpoint/2010/main" val="17223906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DAC — пользователи, совершившие хотя бы одно действие в приложении. Источник: прогноз М+, стратегия Magnit AdTech 2026–2031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Пять пререквизитов достижения целей 2027: аудитория, квота, in-store, отдельное ЮЛ и KPI Коммерции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Пререквизиты и зависимые направления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389077"/>
              </p:ext>
            </p:extLst>
          </p:nvPr>
        </p:nvGraphicFramePr>
        <p:xfrm>
          <a:off x="368300" y="1397000"/>
          <a:ext cx="7114032" cy="4394200"/>
        </p:xfrm>
        <a:graphic>
          <a:graphicData uri="http://schemas.openxmlformats.org/drawingml/2006/table">
            <a:tbl>
              <a:tblPr firstRow="1"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Пререквизит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требуется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Влияет 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План М+ по аудитории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DAC 29,3 млн в месяц (+18%)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APP: показы и число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AdTech в показах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Квота внутренних заказчиков — не более 50% инвентаря; доля AdTech в показах на уровне 2026 г., переход к аукциону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APP Медиа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Ввод in-store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3 250 шелф-баннеров, 428 фасадных экранов и 20 медиафасадов по графику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Отдельное ЮЛ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Юрлицо для сделок с бренд-бюджетами и внешними рекламодателями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RMN, Content factory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74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KPI Коммерции форматов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Цель на прирост трейд-бюджетов пропорционально росту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Трейд-бюджеты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Что это значит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Зависимость от экосистемы: </a:t>
            </a:r>
            <a:r>
              <a:rPr lang="ru-RU" sz="1200" dirty="0">
                <a:solidFill>
                  <a:srgbClr val="000000"/>
                </a:solidFill>
              </a:rPr>
              <a:t>AdTech — горизонталь, результат зависит от DAC (М+) и online GMV (FoodTech)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Квота 50%: </a:t>
            </a:r>
            <a:r>
              <a:rPr lang="ru-RU" sz="1200" dirty="0">
                <a:solidFill>
                  <a:srgbClr val="000000"/>
                </a:solidFill>
              </a:rPr>
              <a:t>половина инвентаря приложения и digital in-store закреплена за задачами команд Магнита; бюджет 2027 построен на фактической доле AdTech в показах 2026 г. по каждому плейсменту — рост внутренней квоты сверх 50% напрямую сокращает коммерческий инвентарь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Верификация in-store: </a:t>
            </a:r>
            <a:r>
              <a:rPr lang="ru-RU" sz="1200" dirty="0">
                <a:solidFill>
                  <a:srgbClr val="000000"/>
                </a:solidFill>
              </a:rPr>
              <a:t>для продажи нового инвентаря нужны система контроля показов и фотофиксация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При отклонении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Пересмотр целей: </a:t>
            </a:r>
            <a:r>
              <a:rPr lang="ru-RU" sz="1200" dirty="0">
                <a:solidFill>
                  <a:srgbClr val="000000"/>
                </a:solidFill>
              </a:rPr>
              <a:t>при невыполнении плана по аудитории, изменении квоты или сдвиге ввода оборудования цели APP и in-store пересматриваются пропорционально</a:t>
            </a:r>
          </a:p>
        </p:txBody>
      </p:sp>
    </p:spTree>
    <p:extLst>
      <p:ext uri="{BB962C8B-B14F-4D97-AF65-F5344CB8AC3E}">
        <p14:creationId xmlns:p14="http://schemas.microsoft.com/office/powerpoint/2010/main" val="1546573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03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P&amp;L Deep Dive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Логика расчёта строк, бриджи выручки, EBITDA и CAPEX</a:t>
            </a:r>
          </a:p>
        </p:txBody>
      </p:sp>
    </p:spTree>
    <p:extLst>
      <p:ext uri="{BB962C8B-B14F-4D97-AF65-F5344CB8AC3E}">
        <p14:creationId xmlns:p14="http://schemas.microsoft.com/office/powerpoint/2010/main" val="4033406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9916F84-7008-B85C-1BA3-8FE84327667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FC 2026 — факт 8 мес. + прогноз 4 мес.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E2792A-D6CD-18B8-079A-4922E33CE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26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D53B8-7239-64EC-489A-A05C52230E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Выручка растёт на 4 154 млн руб.: 72% прироста дают APP и In-store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Gross Revenue: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APP +1 501 (+24%): </a:t>
            </a:r>
            <a:r>
              <a:rPr lang="ru-RU" sz="1200" dirty="0">
                <a:solidFill>
                  <a:srgbClr val="000000"/>
                </a:solidFill>
              </a:rPr>
              <a:t>медиа +865, перформанс +636; ~60% — полный год нового прайса, ~40% — рост аудитории (DAC +18%); 50% квота на инвентарь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+1 485 (+61%): </a:t>
            </a:r>
            <a:r>
              <a:rPr lang="ru-RU" sz="1200" b="0" dirty="0">
                <a:solidFill>
                  <a:srgbClr val="000000"/>
                </a:solidFill>
              </a:rPr>
              <a:t>полный год оборудования, введённого в 2026 г. (+2 462), ввод 2027 г. (+228), доход на устройство −1 264 (КСО −40%)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Online +613 (+62%): </a:t>
            </a:r>
            <a:r>
              <a:rPr lang="ru-RU" sz="1200" dirty="0">
                <a:solidFill>
                  <a:srgbClr val="000000"/>
                </a:solidFill>
              </a:rPr>
              <a:t>новые площадки SmartTV, Авито, маркетплейсы, партнёрские интеграции ЦМ — 420 млн руб.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RMN +258 (+43%): </a:t>
            </a:r>
            <a:r>
              <a:rPr lang="ru-RU" sz="1200" dirty="0">
                <a:solidFill>
                  <a:srgbClr val="000000"/>
                </a:solidFill>
              </a:rPr>
              <a:t>850 млн руб. против 593 млн руб. в 2026 г.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Content factory +213: </a:t>
            </a:r>
            <a:r>
              <a:rPr lang="ru-RU" sz="1200" dirty="0">
                <a:solidFill>
                  <a:srgbClr val="000000"/>
                </a:solidFill>
              </a:rPr>
              <a:t>запуск 6 ячеек креаторов, продажи внешним рекламодателям; ВГО в P&amp;L не отражается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DMP Analytics +85 (+83%): </a:t>
            </a:r>
            <a:r>
              <a:rPr lang="ru-RU" sz="1200" dirty="0">
                <a:solidFill>
                  <a:srgbClr val="000000"/>
                </a:solidFill>
              </a:rPr>
              <a:t>рост </a:t>
            </a:r>
            <a:r>
              <a:rPr lang="ru-RU" sz="1200" dirty="0" err="1">
                <a:solidFill>
                  <a:srgbClr val="000000"/>
                </a:solidFill>
              </a:rPr>
              <a:t>ad</a:t>
            </a:r>
            <a:r>
              <a:rPr lang="ru-RU" sz="1200" dirty="0">
                <a:solidFill>
                  <a:srgbClr val="000000"/>
                </a:solidFill>
              </a:rPr>
              <a:t> </a:t>
            </a:r>
            <a:r>
              <a:rPr lang="ru-RU" sz="1200" dirty="0" err="1">
                <a:solidFill>
                  <a:srgbClr val="000000"/>
                </a:solidFill>
              </a:rPr>
              <a:t>hoc</a:t>
            </a:r>
            <a:r>
              <a:rPr lang="ru-RU" sz="1200" dirty="0">
                <a:solidFill>
                  <a:srgbClr val="000000"/>
                </a:solidFill>
              </a:rPr>
              <a:t> до 133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70228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DCD95-2C49-FCBA-9D46-D3D1F7AC1D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CPM 2026 — по прайсу до 09.2026, взвешен по структуре показов; выручка 2026 за сен.–дек. — по новому прайсу. Выручка по прайсу — до применения сезонных коэффициентов. Источник: листы «APP Медиа», «APP Перформанс»,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DDC2-A8EC-137E-AD13-84B93FA46C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4BFE2-22C4-A10E-17DE-60161C323E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APP +1 501 млн руб. (+24%): ~60% роста — полный год нового прайса, ~40% — рост аудитории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6604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Драйверы выручки APP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6604000" cy="4404360"/>
        </p:xfrm>
        <a:graphic>
          <a:graphicData uri="http://schemas.openxmlformats.org/drawingml/2006/table">
            <a:tbl>
              <a:tblPr firstRow="1"/>
              <a:tblGrid>
                <a:gridCol w="317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Показатель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CPM-плейсменты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Показы AdTech, млрд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6,5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Средневзвешенный CPM,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+17%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3 172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3 782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Медиа: сторис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313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Цена за день,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+43%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по прайсу, млн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341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+48%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Медиа с сезонностью,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4 864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FF452C"/>
                          </a:solidFill>
                          <a:latin typeface="Arial"/>
                        </a:rPr>
                        <a:t>Перформанс: закрепы (CPD)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Кампаний AdTech в месяц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2 033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2 270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+12%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Средний чек кампании, тыс. руб.</a:t>
                      </a:r>
                    </a:p>
                  </a:txBody>
                  <a:tcPr marL="177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+26%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перформанса,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2 196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2 832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+29%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APP итого,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6 195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7 696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+24%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366000" y="1016000"/>
            <a:ext cx="44577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Объём, +628 (~40%)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DAC растёт с 24,8 до 29,3 млн (+18%), поэтому показов и кампаний становится больше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Показываем только целевые коммуникации, и вовлечённость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Подмешиваем рекламные карточки в топ выдачи и в корзину, ближе к покупке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Цена, +873 (~60%)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Клиенты видят эффект в продажах, поэтому растёт спрос на CPM и CPD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С 09.2026 действует новый прайс: средневзвешенный CPM +17%, сторис 70 → 100 тыс. руб. за день, чек перформанса +26%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ru-RU" sz="1400" b="1" dirty="0">
                <a:solidFill>
                  <a:srgbClr val="000000"/>
                </a:solidFill>
              </a:rPr>
              <a:t>Утилизация 95%+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Инвентарь почти полностью продан, поэтому рост идёт через цену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dirty="0">
                <a:solidFill>
                  <a:srgbClr val="000000"/>
                </a:solidFill>
              </a:rPr>
              <a:t>Рост цены создаёт буфер под экстра-кампании</a:t>
            </a:r>
          </a:p>
        </p:txBody>
      </p:sp>
    </p:spTree>
    <p:extLst>
      <p:ext uri="{BB962C8B-B14F-4D97-AF65-F5344CB8AC3E}">
        <p14:creationId xmlns:p14="http://schemas.microsoft.com/office/powerpoint/2010/main" val="5080133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Устройства — на начало года; на конец 2027 г. — 81 419 (ввод 3 250 шелф-баннеров, 428 фасадных экранов, 20 медиафасадов). Источник: листы «In-store», «ПРАЙС», «DATA»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In-store +1 485 млн руб. (+61%): основной рост — полный год оборудования, введённого в 2026 г.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Выручка In-store по типам оборудования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221407"/>
              </p:ext>
            </p:extLst>
          </p:nvPr>
        </p:nvGraphicFramePr>
        <p:xfrm>
          <a:off x="368300" y="1397000"/>
          <a:ext cx="7112000" cy="4318000"/>
        </p:xfrm>
        <a:graphic>
          <a:graphicData uri="http://schemas.openxmlformats.org/drawingml/2006/table">
            <a:tbl>
              <a:tblPr firstRow="1"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Тип оборудования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 начало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Доход на устр. в мес., руб. 2026 → 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2026,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 2027, млн руб.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КСО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16 500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57 000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4 809 → 2 885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1 421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1 853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Шелф-баннеры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2 750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28 800 → 30 240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Фасадные экраны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1 231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30 214 → 24 171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TFT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2 310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14 350 → 11 480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368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299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Дисплеи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1 784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Радио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3 821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506 → 2 024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Прайсчекеры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4 408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1 112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Медиафасады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200 000 → 240 000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LED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7 136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Итого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33 664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77 721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2 446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3 931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DE1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Почему растёт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Полный год ввода 2026 г., +2 462: </a:t>
            </a:r>
            <a:r>
              <a:rPr lang="ru-RU" sz="1100" dirty="0">
                <a:solidFill>
                  <a:srgbClr val="000000"/>
                </a:solidFill>
              </a:rPr>
              <a:t>за 2026 г. парк вырос в 2,3 раза (33,7 → 77,7 тыс. устройств): 40,5 тыс. КСО, 2 725 шелф-баннеров и 831 фасадный экран работали 3–4 мес., в 2027 г. — 12 мес.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Ввод 2027 г., +228: </a:t>
            </a:r>
            <a:r>
              <a:rPr lang="ru-RU" sz="1100" dirty="0">
                <a:solidFill>
                  <a:srgbClr val="000000"/>
                </a:solidFill>
              </a:rPr>
              <a:t>3 250 шелф-баннеров, 428 фасадных экранов, 20 медиафасадов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Реализация инвентаря, +58: </a:t>
            </a:r>
            <a:r>
              <a:rPr lang="ru-RU" sz="1100" dirty="0">
                <a:solidFill>
                  <a:srgbClr val="000000"/>
                </a:solidFill>
              </a:rPr>
              <a:t>92,5% → 100%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Доход на устройство, −1 264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Почему снижается: </a:t>
            </a:r>
            <a:r>
              <a:rPr lang="ru-RU" sz="1100" dirty="0">
                <a:solidFill>
                  <a:srgbClr val="000000"/>
                </a:solidFill>
              </a:rPr>
              <a:t>в 2026 г. парк рос опережающими темпами, а в 2027 г. всё новое оборудование работает полный год. Рекламный спрос распределяется на кратно большее число экранов, поэтому закладываем снижение утилизации в среднем по году и, как следствие, среднего дохода на устройство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КСО −40% (4 809 → 2 885 руб.), −1 217: </a:t>
            </a:r>
            <a:r>
              <a:rPr lang="ru-RU" sz="1100" dirty="0">
                <a:solidFill>
                  <a:srgbClr val="000000"/>
                </a:solidFill>
              </a:rPr>
              <a:t>парк вырос в 3,5 раза (16,5 → 57 тыс.)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Фасадные экраны −20%, −92: </a:t>
            </a:r>
            <a:r>
              <a:rPr lang="ru-RU" sz="1100" dirty="0">
                <a:solidFill>
                  <a:srgbClr val="000000"/>
                </a:solidFill>
              </a:rPr>
              <a:t>парк вырос втрое (0,4 → 1,2 тыс.); TFT −20%, −74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100" b="1" dirty="0">
                <a:solidFill>
                  <a:srgbClr val="000000"/>
                </a:solidFill>
              </a:rPr>
              <a:t>Радио ×4 (506 → 2 024 руб.), +64; шелф-баннеры +5%, +53:</a:t>
            </a:r>
            <a:r>
              <a:rPr lang="en-US" sz="1100" b="1" dirty="0">
                <a:solidFill>
                  <a:srgbClr val="000000"/>
                </a:solidFill>
              </a:rPr>
              <a:t> </a:t>
            </a:r>
            <a:r>
              <a:rPr lang="ru-RU" sz="1100" dirty="0">
                <a:solidFill>
                  <a:srgbClr val="000000"/>
                </a:solidFill>
              </a:rPr>
              <a:t>регулирование спроса</a:t>
            </a:r>
            <a:endParaRPr lang="ru-RU" sz="1100" dirty="0">
              <a:solidFill>
                <a:srgbClr val="FF45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202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Концепция 5 касаний: от теста спроса в 2026 к масштабированию в 2027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Q3 2025  ·  альфа-тест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в </a:t>
            </a:r>
            <a:r>
              <a:rPr lang="ru-RU" sz="1400" b="1" dirty="0">
                <a:solidFill>
                  <a:srgbClr val="000000"/>
                </a:solidFill>
              </a:rPr>
              <a:t>5 + 5</a:t>
            </a:r>
            <a:r>
              <a:rPr lang="ru-RU" sz="1400" dirty="0">
                <a:solidFill>
                  <a:srgbClr val="000000"/>
                </a:solidFill>
              </a:rPr>
              <a:t> магазинах Москвы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5 касаний за визит: фасадный экран на входе, три шелф-баннера у полок, экран над кассой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Q4 2025 – 2026  ·  бета-тест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Проверка спроса на новый инвентарь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Введено </a:t>
            </a:r>
            <a:r>
              <a:rPr lang="ru-RU" sz="1400" b="1" dirty="0">
                <a:solidFill>
                  <a:srgbClr val="000000"/>
                </a:solidFill>
              </a:rPr>
              <a:t>2 725</a:t>
            </a:r>
            <a:r>
              <a:rPr lang="ru-RU" sz="1400" dirty="0">
                <a:solidFill>
                  <a:srgbClr val="000000"/>
                </a:solidFill>
              </a:rPr>
              <a:t> шелф-баннеров и </a:t>
            </a:r>
            <a:r>
              <a:rPr lang="ru-RU" sz="1400" b="1" dirty="0">
                <a:solidFill>
                  <a:srgbClr val="000000"/>
                </a:solidFill>
              </a:rPr>
              <a:t>831</a:t>
            </a:r>
            <a:r>
              <a:rPr lang="ru-RU" sz="1400" dirty="0">
                <a:solidFill>
                  <a:srgbClr val="000000"/>
                </a:solidFill>
              </a:rPr>
              <a:t> фасадный экран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Критерий успеха: контракты, окупающие оборудование за 1–1,5 года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III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  ·  масштабирование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Еще </a:t>
            </a:r>
            <a:r>
              <a:rPr lang="ru-RU" sz="1400" b="1" dirty="0">
                <a:solidFill>
                  <a:srgbClr val="000000"/>
                </a:solidFill>
              </a:rPr>
              <a:t>3 250</a:t>
            </a:r>
            <a:r>
              <a:rPr lang="ru-RU" sz="1400" dirty="0">
                <a:solidFill>
                  <a:srgbClr val="000000"/>
                </a:solidFill>
              </a:rPr>
              <a:t> шелф-баннеров, </a:t>
            </a:r>
            <a:r>
              <a:rPr lang="ru-RU" sz="1400" b="1" dirty="0">
                <a:solidFill>
                  <a:srgbClr val="000000"/>
                </a:solidFill>
              </a:rPr>
              <a:t>428</a:t>
            </a:r>
            <a:r>
              <a:rPr lang="ru-RU" sz="1400" dirty="0">
                <a:solidFill>
                  <a:srgbClr val="000000"/>
                </a:solidFill>
              </a:rPr>
              <a:t> фасадных экранов, </a:t>
            </a:r>
            <a:r>
              <a:rPr lang="ru-RU" sz="1400" b="1" dirty="0">
                <a:solidFill>
                  <a:srgbClr val="000000"/>
                </a:solidFill>
              </a:rPr>
              <a:t>20</a:t>
            </a:r>
            <a:r>
              <a:rPr lang="ru-RU" sz="1400" dirty="0">
                <a:solidFill>
                  <a:srgbClr val="000000"/>
                </a:solidFill>
              </a:rPr>
              <a:t> медиафасадов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Количество экранов — по трафику конкретного магазина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Таргетинг и фотофиксация indoor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Этап IV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2027+  ·  другие форматы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Раскатка адаптированного подхода на другие форматы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Франшизная модель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Performance-инвентарь в in-store</a:t>
            </a:r>
          </a:p>
        </p:txBody>
      </p:sp>
    </p:spTree>
    <p:extLst>
      <p:ext uri="{BB962C8B-B14F-4D97-AF65-F5344CB8AC3E}">
        <p14:creationId xmlns:p14="http://schemas.microsoft.com/office/powerpoint/2010/main" val="1713353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3E7A19-0F0B-E6EF-F271-75A86904B3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«DMP», «Content factory», «RMN»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389BD3-4A44-0347-87C5-EB7C12DB9D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96AA7-FFF9-7FC0-FD4C-510EFB459B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DMP, Content factory и RMN: 2 851 млн руб. выручки (+69%) — от плана команд и юнит-экономики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DMP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368300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1 787 млн руб.  ·  +64% к FC 2026</a:t>
            </a:r>
          </a:p>
        </p:txBody>
      </p:sp>
      <p:sp>
        <p:nvSpPr>
          <p:cNvPr id="302" name="Shape 302"/>
          <p:cNvSpPr txBox="1"/>
          <p:nvPr/>
        </p:nvSpPr>
        <p:spPr>
          <a:xfrm>
            <a:off x="368300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3" name="Shape 303"/>
          <p:cNvSpPr txBox="1"/>
          <p:nvPr/>
        </p:nvSpPr>
        <p:spPr>
          <a:xfrm>
            <a:off x="4271433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Content factory</a:t>
            </a:r>
          </a:p>
        </p:txBody>
      </p:sp>
      <p:sp>
        <p:nvSpPr>
          <p:cNvPr id="304" name="Shape 304"/>
          <p:cNvSpPr txBox="1"/>
          <p:nvPr/>
        </p:nvSpPr>
        <p:spPr>
          <a:xfrm>
            <a:off x="4271433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213 млн руб.  ·  результат 59 млн руб.</a:t>
            </a:r>
          </a:p>
        </p:txBody>
      </p:sp>
      <p:sp>
        <p:nvSpPr>
          <p:cNvPr id="305" name="Shape 305"/>
          <p:cNvSpPr txBox="1"/>
          <p:nvPr/>
        </p:nvSpPr>
        <p:spPr>
          <a:xfrm>
            <a:off x="4271433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sp>
        <p:nvSpPr>
          <p:cNvPr id="306" name="Shape 306"/>
          <p:cNvSpPr txBox="1"/>
          <p:nvPr/>
        </p:nvSpPr>
        <p:spPr>
          <a:xfrm>
            <a:off x="8174567" y="1016000"/>
            <a:ext cx="3649133" cy="279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RMN</a:t>
            </a:r>
          </a:p>
        </p:txBody>
      </p:sp>
      <p:sp>
        <p:nvSpPr>
          <p:cNvPr id="307" name="Shape 307"/>
          <p:cNvSpPr txBox="1"/>
          <p:nvPr/>
        </p:nvSpPr>
        <p:spPr>
          <a:xfrm>
            <a:off x="8174567" y="1295400"/>
            <a:ext cx="3649133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850 млн руб.  ·  +43% к FC 2026</a:t>
            </a:r>
          </a:p>
        </p:txBody>
      </p:sp>
      <p:sp>
        <p:nvSpPr>
          <p:cNvPr id="308" name="Shape 308"/>
          <p:cNvSpPr txBox="1"/>
          <p:nvPr/>
        </p:nvSpPr>
        <p:spPr>
          <a:xfrm>
            <a:off x="8174567" y="1549400"/>
            <a:ext cx="3649133" cy="31750"/>
          </a:xfrm>
          <a:prstGeom prst="rect">
            <a:avLst/>
          </a:prstGeom>
          <a:solidFill>
            <a:srgbClr val="FF452C"/>
          </a:solidFill>
        </p:spPr>
        <p:txBody>
          <a:bodyPr wrap="square" lIns="0" tIns="0" rIns="0" bIns="0">
            <a:noAutofit/>
          </a:bodyPr>
          <a:lstStyle/>
          <a:p>
            <a:endParaRPr lang="ru-RU"/>
          </a:p>
        </p:txBody>
      </p:sp>
      <p:graphicFrame>
        <p:nvGraphicFramePr>
          <p:cNvPr id="309" name="Table 309"/>
          <p:cNvGraphicFramePr>
            <a:graphicFrameLocks noGrp="1"/>
          </p:cNvGraphicFramePr>
          <p:nvPr/>
        </p:nvGraphicFramePr>
        <p:xfrm>
          <a:off x="368300" y="1676400"/>
          <a:ext cx="3733800" cy="1925320"/>
        </p:xfrm>
        <a:graphic>
          <a:graphicData uri="http://schemas.openxmlformats.org/drawingml/2006/table">
            <a:tbl>
              <a:tblPr firstRow="1"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Направление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Выручка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Маржа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Пакеты и Онлайн+ТВ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Баннеры и OLV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788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40%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Новые площадки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DMP + Online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1 600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Закупка трафика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595959"/>
                          </a:solidFill>
                          <a:latin typeface="Arial"/>
                        </a:rPr>
                        <a:t>(1 000)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DMP + Analytics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0" name="Shape 310"/>
          <p:cNvSpPr txBox="1"/>
          <p:nvPr/>
        </p:nvSpPr>
        <p:spPr>
          <a:xfrm>
            <a:off x="368300" y="3683000"/>
            <a:ext cx="3649133" cy="241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— </a:t>
            </a:r>
            <a:r>
              <a:rPr lang="ru-RU" sz="1200" dirty="0">
                <a:solidFill>
                  <a:srgbClr val="000000"/>
                </a:solidFill>
              </a:rPr>
              <a:t>план команды DMP и интеграция брендов Центральным Маркетингом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= </a:t>
            </a:r>
            <a:r>
              <a:rPr lang="ru-RU" sz="1200" dirty="0">
                <a:solidFill>
                  <a:srgbClr val="000000"/>
                </a:solidFill>
              </a:rPr>
              <a:t>выручка × (1 − маржинальность), отражена в Marketing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Analytics: </a:t>
            </a:r>
            <a:r>
              <a:rPr lang="ru-RU" sz="1200" dirty="0">
                <a:solidFill>
                  <a:srgbClr val="000000"/>
                </a:solidFill>
              </a:rPr>
              <a:t>DMP 54 и ad hoc 133 млн руб.</a:t>
            </a:r>
          </a:p>
        </p:txBody>
      </p:sp>
      <p:graphicFrame>
        <p:nvGraphicFramePr>
          <p:cNvPr id="311" name="Table 311"/>
          <p:cNvGraphicFramePr>
            <a:graphicFrameLocks noGrp="1"/>
          </p:cNvGraphicFramePr>
          <p:nvPr/>
        </p:nvGraphicFramePr>
        <p:xfrm>
          <a:off x="4271433" y="1676400"/>
          <a:ext cx="3733800" cy="18669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Воронка,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Значение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Ячеек × креаторов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 × 25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Публикаций, тыс.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414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Просмотров, млн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Внешние: 284 млн × 0,75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213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Креаторы (88) и команда (66)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(154)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Результат CF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solidFill>
                      <a:srgbClr val="FF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12" name="Shape 312"/>
          <p:cNvSpPr txBox="1"/>
          <p:nvPr/>
        </p:nvSpPr>
        <p:spPr>
          <a:xfrm>
            <a:off x="4271433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Публикации = </a:t>
            </a:r>
            <a:r>
              <a:rPr lang="ru-RU" sz="1200" dirty="0">
                <a:solidFill>
                  <a:srgbClr val="000000"/>
                </a:solidFill>
              </a:rPr>
              <a:t>ячейки × креаторы × 60–70 единиц контента × 4 (дублирование)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Себестоимость просмотра </a:t>
            </a:r>
            <a:r>
              <a:rPr lang="ru-RU" sz="1200" dirty="0">
                <a:solidFill>
                  <a:srgbClr val="000000"/>
                </a:solidFill>
              </a:rPr>
              <a:t>0,46 руб.; ставка креатора 105 тыс. руб. в месяц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Рентабельность 28%</a:t>
            </a:r>
          </a:p>
        </p:txBody>
      </p:sp>
      <p:graphicFrame>
        <p:nvGraphicFramePr>
          <p:cNvPr id="313" name="Table 313"/>
          <p:cNvGraphicFramePr>
            <a:graphicFrameLocks noGrp="1"/>
          </p:cNvGraphicFramePr>
          <p:nvPr/>
        </p:nvGraphicFramePr>
        <p:xfrm>
          <a:off x="8174567" y="1676400"/>
          <a:ext cx="3733800" cy="800100"/>
        </p:xfrm>
        <a:graphic>
          <a:graphicData uri="http://schemas.openxmlformats.org/drawingml/2006/table">
            <a:tbl>
              <a:tblPr firstRow="1"/>
              <a:tblGrid>
                <a:gridCol w="2463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RMN</a:t>
                      </a:r>
                      <a:endParaRPr lang="ru-RU" sz="10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593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2027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850</a:t>
                      </a:r>
                      <a:endParaRPr lang="ru-RU" sz="1100" b="1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569"/>
                  </a:ext>
                </a:extLst>
              </a:tr>
            </a:tbl>
          </a:graphicData>
        </a:graphic>
      </p:graphicFrame>
      <p:sp>
        <p:nvSpPr>
          <p:cNvPr id="314" name="Shape 314"/>
          <p:cNvSpPr txBox="1"/>
          <p:nvPr/>
        </p:nvSpPr>
        <p:spPr>
          <a:xfrm>
            <a:off x="8174567" y="3962400"/>
            <a:ext cx="3649133" cy="2133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BU 2027: </a:t>
            </a:r>
            <a:r>
              <a:rPr lang="ru-RU" sz="1200" dirty="0">
                <a:solidFill>
                  <a:srgbClr val="000000"/>
                </a:solidFill>
              </a:rPr>
              <a:t>850 млн руб., +</a:t>
            </a:r>
            <a:r>
              <a:rPr lang="en-US" sz="1200" dirty="0">
                <a:solidFill>
                  <a:srgbClr val="000000"/>
                </a:solidFill>
              </a:rPr>
              <a:t>43</a:t>
            </a:r>
            <a:r>
              <a:rPr lang="ru-RU" sz="1200" dirty="0">
                <a:solidFill>
                  <a:srgbClr val="000000"/>
                </a:solidFill>
              </a:rPr>
              <a:t>% к 2026</a:t>
            </a:r>
          </a:p>
          <a:p>
            <a:pPr marL="171450" indent="-171450" algn="l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Отдельное ЮЛ </a:t>
            </a:r>
            <a:r>
              <a:rPr lang="ru-RU" sz="1200" dirty="0">
                <a:solidFill>
                  <a:srgbClr val="000000"/>
                </a:solidFill>
              </a:rPr>
              <a:t>для сделок по направлению</a:t>
            </a:r>
          </a:p>
        </p:txBody>
      </p:sp>
    </p:spTree>
    <p:extLst>
      <p:ext uri="{BB962C8B-B14F-4D97-AF65-F5344CB8AC3E}">
        <p14:creationId xmlns:p14="http://schemas.microsoft.com/office/powerpoint/2010/main" val="31769717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Внешний инвентарь: Retail Media Network, social commerce и данные Магнита на внешних площадках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Retail Media Network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850 млн руб.  ·  +43%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Внешнее ЮЛ для бренд-бюджетов поставщиков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Охваты как альтернатива ТВ, OOH и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с инвентарем других ритейл-медиа игроков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Social commerce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213 млн руб.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Content factory: </a:t>
            </a:r>
            <a:r>
              <a:rPr lang="ru-RU" sz="1400" b="1" dirty="0">
                <a:solidFill>
                  <a:srgbClr val="000000"/>
                </a:solidFill>
              </a:rPr>
              <a:t>6 ячеек</a:t>
            </a:r>
            <a:r>
              <a:rPr lang="ru-RU" sz="1400" dirty="0">
                <a:solidFill>
                  <a:srgbClr val="000000"/>
                </a:solidFill>
              </a:rPr>
              <a:t> по 25 креаторов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569 млн</a:t>
            </a:r>
            <a:r>
              <a:rPr lang="ru-RU" sz="1400" dirty="0">
                <a:solidFill>
                  <a:srgbClr val="000000"/>
                </a:solidFill>
              </a:rPr>
              <a:t> просмотров, половина — внешним рекламодателям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Блогерская платформа MIP и </a:t>
            </a:r>
            <a:r>
              <a:rPr lang="ru-RU" sz="1400" dirty="0" err="1">
                <a:solidFill>
                  <a:srgbClr val="000000"/>
                </a:solidFill>
              </a:rPr>
              <a:t>shoppable</a:t>
            </a:r>
            <a:r>
              <a:rPr lang="ru-RU" sz="1400" dirty="0">
                <a:solidFill>
                  <a:srgbClr val="000000"/>
                </a:solidFill>
              </a:rPr>
              <a:t>-партнерства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 + Online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1 600 млн руб.  ·  +62%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Баннеры и OLV на внешних площадках по данным Магнита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Пакеты и Онлайн+ТВ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площадки: </a:t>
            </a:r>
            <a:r>
              <a:rPr lang="ru-RU" sz="1400" b="1" dirty="0">
                <a:solidFill>
                  <a:srgbClr val="000000"/>
                </a:solidFill>
              </a:rPr>
              <a:t>SmartTV, Авито,</a:t>
            </a:r>
            <a:r>
              <a:rPr lang="ru-RU" sz="1400" dirty="0">
                <a:solidFill>
                  <a:srgbClr val="000000"/>
                </a:solidFill>
              </a:rPr>
              <a:t> маркетплейсы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Внешний инвентарь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Следующий шаг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Подключение Дикси и Азбуки Вкуса к платформе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OOH и DOOH, внешние рекламные сети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Технологии и данные — для внешнего трафика</a:t>
            </a:r>
          </a:p>
        </p:txBody>
      </p:sp>
    </p:spTree>
    <p:extLst>
      <p:ext uri="{BB962C8B-B14F-4D97-AF65-F5344CB8AC3E}">
        <p14:creationId xmlns:p14="http://schemas.microsoft.com/office/powerpoint/2010/main" val="12091438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B1FA00-966B-D804-0FFD-15FCFF347B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Красным — расходы, которые масштабируются с выручкой. Источник: листы «Расходы», «Потребности», «PEX»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C60FB5-2F57-2A40-8B8F-6189F97D95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26C368-B69A-4DC3-8713-5D58E7BC4B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OPEX +1 415 млн руб. (+63%): 71% прироста — расходы, привязанные к выручке DMP, агентств и CF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6985000" cy="482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6858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Прирост OPEX 2027 к FC 2026 по статьям,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20000" y="1016000"/>
            <a:ext cx="42037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OPEX в % от выручки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20000" y="1397000"/>
          <a:ext cx="4203700" cy="1333500"/>
        </p:xfrm>
        <a:graphic>
          <a:graphicData uri="http://schemas.openxmlformats.org/drawingml/2006/table">
            <a:tbl>
              <a:tblPr firstRow="1"/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Статья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Δ, п.п.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Marketing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+4,6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10,8%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−0,9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IT и прочие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−0,2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OPEX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25,2%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+3,6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20000" y="2921000"/>
            <a:ext cx="4203700" cy="3175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Закупка трафика DMP: </a:t>
            </a:r>
            <a:r>
              <a:rPr lang="ru-RU" sz="1200" dirty="0">
                <a:solidFill>
                  <a:srgbClr val="000000"/>
                </a:solidFill>
              </a:rPr>
              <a:t>1 000 млн руб. — 62,5% выручки DMP + Online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Вознаграждения агентствам: </a:t>
            </a:r>
            <a:r>
              <a:rPr lang="ru-RU" sz="1200" dirty="0">
                <a:solidFill>
                  <a:srgbClr val="000000"/>
                </a:solidFill>
              </a:rPr>
              <a:t>795 млн руб., 66 млн руб. в месяц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Креаторы: 88 млн руб. (50% оплаты ячеек CF 176)</a:t>
            </a:r>
            <a:r>
              <a:rPr lang="ru-RU" sz="1200" dirty="0">
                <a:solidFill>
                  <a:srgbClr val="000000"/>
                </a:solidFill>
              </a:rPr>
              <a:t> при выручке CF 213 млн руб.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+28%: </a:t>
            </a:r>
            <a:r>
              <a:rPr lang="ru-RU" sz="1200" dirty="0">
                <a:solidFill>
                  <a:srgbClr val="000000"/>
                </a:solidFill>
              </a:rPr>
              <a:t>ФОТ AdTech +250 — full year run-rate штата, набранного в 2026 г., и +42 FTE (312 → 354 на конец года); +66 — команда Content factory; доля в выручке снижается</a:t>
            </a:r>
          </a:p>
        </p:txBody>
      </p:sp>
    </p:spTree>
    <p:extLst>
      <p:ext uri="{BB962C8B-B14F-4D97-AF65-F5344CB8AC3E}">
        <p14:creationId xmlns:p14="http://schemas.microsoft.com/office/powerpoint/2010/main" val="4090935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A32A12-DBF8-B635-A4EF-BC200353AF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«Прочие» — Other PEX и Other OPEX. Источник: лист «P&amp;L 2027»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9A00D5-F5F7-4269-9282-3782D231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EA2-D748-7415-AF7B-A35DE0C7B24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EBITDA +2 739 млн руб. (+34%): 66% прироста выручки доходит до EBITDA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EBITDA: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Выручка +4 154: APP +1 501, In-store +1 485</a:t>
            </a:r>
            <a:r>
              <a:rPr lang="ru-RU" sz="1200" dirty="0">
                <a:solidFill>
                  <a:srgbClr val="000000"/>
                </a:solidFill>
              </a:rPr>
              <a:t>, DMP, RMN и CF +1 169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Marketing −1 048: </a:t>
            </a:r>
            <a:r>
              <a:rPr lang="ru-RU" sz="1200" dirty="0">
                <a:solidFill>
                  <a:srgbClr val="000000"/>
                </a:solidFill>
              </a:rPr>
              <a:t>закупка трафика DMP (−489), агентские вознаграждения (−441), креаторы (−72)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PEX −316 (+28%): </a:t>
            </a:r>
            <a:r>
              <a:rPr lang="ru-RU" sz="1200" dirty="0">
                <a:solidFill>
                  <a:srgbClr val="000000"/>
                </a:solidFill>
              </a:rPr>
              <a:t>ФОТ AdTech −250 — full year run-rate штата 2026 г. и +42 FTE (312 → 354 на конец года); команда Content factory −66</a:t>
            </a:r>
          </a:p>
          <a:p>
            <a:pPr marL="171450" indent="-171450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IT −34: </a:t>
            </a:r>
            <a:r>
              <a:rPr lang="ru-RU" sz="1200" dirty="0">
                <a:solidFill>
                  <a:srgbClr val="000000"/>
                </a:solidFill>
              </a:rPr>
              <a:t>техподдержка и сопровождение ПО 92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2969436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A91855-A4E0-FABA-3EBF-ADB659F334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млн руб. без НДС. Источник: листы «Расходы», «Потребности», «PEX», «Summary»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BBA5D7-7FA0-A89F-F576-81B46FDAB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34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878B28-0AD1-DD08-24A2-52FA2A0D0B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CAPEX 1 151 млн руб. (−2%): рост капитализации разработки компенсирован сокращением in-store проектов</a:t>
            </a:r>
          </a:p>
        </p:txBody>
      </p:sp>
      <p:graphicFrame>
        <p:nvGraphicFramePr>
          <p:cNvPr id="5" name="Chart"/>
          <p:cNvGraphicFramePr/>
          <p:nvPr/>
        </p:nvGraphicFramePr>
        <p:xfrm>
          <a:off x="368300" y="1333500"/>
          <a:ext cx="711200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CAPEX: FC 2026 → BU 2027, млн руб.</a:t>
            </a:r>
          </a:p>
        </p:txBody>
      </p:sp>
      <p:sp>
        <p:nvSpPr>
          <p:cNvPr id="301" name="Shape 301"/>
          <p:cNvSpPr txBox="1"/>
          <p:nvPr/>
        </p:nvSpPr>
        <p:spPr>
          <a:xfrm>
            <a:off x="7696200" y="1016000"/>
            <a:ext cx="4127500" cy="304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CAPEX по проектам</a:t>
            </a:r>
          </a:p>
        </p:txBody>
      </p:sp>
      <p:graphicFrame>
        <p:nvGraphicFramePr>
          <p:cNvPr id="302" name="Table 302"/>
          <p:cNvGraphicFramePr>
            <a:graphicFrameLocks noGrp="1"/>
          </p:cNvGraphicFramePr>
          <p:nvPr/>
        </p:nvGraphicFramePr>
        <p:xfrm>
          <a:off x="7696200" y="1397000"/>
          <a:ext cx="4127500" cy="1183640"/>
        </p:xfrm>
        <a:graphic>
          <a:graphicData uri="http://schemas.openxmlformats.org/drawingml/2006/table">
            <a:tbl>
              <a:tblPr firstRow="1"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млн руб.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FC 2026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BU 2027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Стратегия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AT Platform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447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541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digital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732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endParaRPr/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CAPEX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1 180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1 151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1 242</a:t>
                      </a:r>
                    </a:p>
                  </a:txBody>
                  <a:tcPr marL="38100" marR="381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9525">
                      <a:solidFill>
                        <a:srgbClr val="E0E0E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3" name="Shape 303"/>
          <p:cNvSpPr txBox="1"/>
          <p:nvPr/>
        </p:nvSpPr>
        <p:spPr>
          <a:xfrm>
            <a:off x="7696200" y="2819400"/>
            <a:ext cx="4127500" cy="3276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171450" indent="-171450">
              <a:spcBef>
                <a:spcPts val="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ФОТ разработки 510: </a:t>
            </a:r>
            <a:r>
              <a:rPr lang="ru-RU" sz="1200" dirty="0">
                <a:solidFill>
                  <a:srgbClr val="000000"/>
                </a:solidFill>
              </a:rPr>
              <a:t>27% ФОТ капитализируется — IT, Product, Analytics, BizDev IT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ИТ-закупки 31: </a:t>
            </a:r>
            <a:r>
              <a:rPr lang="ru-RU" sz="1200" dirty="0">
                <a:solidFill>
                  <a:srgbClr val="000000"/>
                </a:solidFill>
              </a:rPr>
              <a:t>MacBook 14 (найм 30 чел.), AI-инструменты 11, Optimacros 5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In-store 610: </a:t>
            </a:r>
            <a:r>
              <a:rPr lang="ru-RU" sz="1200" dirty="0">
                <a:solidFill>
                  <a:srgbClr val="000000"/>
                </a:solidFill>
              </a:rPr>
              <a:t>система управления медиаконтентом 438 и её внедрение 9, фасад и билборд БФ 82, фасадные экраны ТТ 80; интеграция медиа с КСО не закладывается</a:t>
            </a:r>
          </a:p>
          <a:p>
            <a:pPr marL="171450" indent="-171450">
              <a:spcBef>
                <a:spcPts val="5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Собственная разработка </a:t>
            </a:r>
            <a:r>
              <a:rPr lang="ru-RU" sz="1200" dirty="0">
                <a:solidFill>
                  <a:srgbClr val="000000"/>
                </a:solidFill>
              </a:rPr>
              <a:t>(Cubic, InAppStory) экономит ГК 22 млн руб. в год</a:t>
            </a:r>
          </a:p>
        </p:txBody>
      </p:sp>
    </p:spTree>
    <p:extLst>
      <p:ext uri="{BB962C8B-B14F-4D97-AF65-F5344CB8AC3E}">
        <p14:creationId xmlns:p14="http://schemas.microsoft.com/office/powerpoint/2010/main" val="651424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85DF8EBA-9590-4C81-9F69-5D123BF961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5DF8EBA-9590-4C81-9F69-5D123BF961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Текст 1">
            <a:extLst>
              <a:ext uri="{FF2B5EF4-FFF2-40B4-BE49-F238E27FC236}">
                <a16:creationId xmlns:a16="http://schemas.microsoft.com/office/drawing/2014/main" id="{E7D62E96-F664-40DC-868E-D0B2F0A46B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ru-RU" dirty="0"/>
              <a:t>Октябрь 2026</a:t>
            </a:r>
          </a:p>
        </p:txBody>
      </p:sp>
      <p:sp>
        <p:nvSpPr>
          <p:cNvPr id="6" name="Текст 2">
            <a:extLst>
              <a:ext uri="{FF2B5EF4-FFF2-40B4-BE49-F238E27FC236}">
                <a16:creationId xmlns:a16="http://schemas.microsoft.com/office/drawing/2014/main" id="{6060A129-27E9-4599-B4E5-C57388EC22F3}"/>
              </a:ext>
            </a:extLst>
          </p:cNvPr>
          <p:cNvSpPr txBox="1">
            <a:spLocks/>
          </p:cNvSpPr>
          <p:nvPr/>
        </p:nvSpPr>
        <p:spPr>
          <a:xfrm>
            <a:off x="550863" y="512763"/>
            <a:ext cx="11098211" cy="274305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354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1" i="0" kern="1200" baseline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178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54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32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09" indent="0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452C"/>
                </a:solidFill>
                <a:latin typeface="Arial"/>
              </a:rPr>
              <a:t>04</a:t>
            </a:r>
          </a:p>
          <a:p>
            <a:pPr>
              <a:lnSpc>
                <a:spcPct val="90000"/>
              </a:lnSpc>
              <a:buNone/>
            </a:pPr>
            <a:r>
              <a:rPr lang="ru-RU" sz="5000" b="1" dirty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7" name="Текст 7">
            <a:extLst>
              <a:ext uri="{FF2B5EF4-FFF2-40B4-BE49-F238E27FC236}">
                <a16:creationId xmlns:a16="http://schemas.microsoft.com/office/drawing/2014/main" id="{BC4C214E-1A99-490C-A3B5-9407F8AE15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4" y="3550877"/>
            <a:ext cx="5484812" cy="1260893"/>
          </a:xfrm>
        </p:spPr>
        <p:txBody>
          <a:bodyPr/>
          <a:lstStyle/>
          <a:p>
            <a:r>
              <a:rPr lang="ru-RU" dirty="0"/>
              <a:t>Конкуренты, платформа и данные, дорожные карты, зоны ответственности</a:t>
            </a:r>
          </a:p>
        </p:txBody>
      </p:sp>
    </p:spTree>
    <p:extLst>
      <p:ext uri="{BB962C8B-B14F-4D97-AF65-F5344CB8AC3E}">
        <p14:creationId xmlns:p14="http://schemas.microsoft.com/office/powerpoint/2010/main" val="598084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7A2D0A2-E774-33F4-016C-254DDE8DAC4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lIns="0" tIns="0"/>
          <a:lstStyle/>
          <a:p>
            <a:r>
              <a:rPr lang="ru-RU" dirty="0">
                <a:solidFill>
                  <a:srgbClr val="6E6E6E"/>
                </a:solidFill>
              </a:rPr>
              <a:t>Источники: Sostav (11.04.2025), click.ru (10.2024), ppc.world (11.02.2026), Т-Ж (16.04.2025)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B930E18-D2B0-F1A6-ED72-55B5F8381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36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5F93D32-6B1F-C6F7-D714-53E5BFFD97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Конкуренты развивают self-service кабинеты </a:t>
            </a:r>
            <a:br>
              <a:rPr lang="ru-RU" dirty="0"/>
            </a:br>
            <a:r>
              <a:rPr lang="ru-RU" dirty="0"/>
              <a:t>и покупки из коротких видео</a:t>
            </a:r>
          </a:p>
        </p:txBody>
      </p:sp>
      <p:sp>
        <p:nvSpPr>
          <p:cNvPr id="1081" name="Competitor card 1"/>
          <p:cNvSpPr/>
          <p:nvPr/>
        </p:nvSpPr>
        <p:spPr>
          <a:xfrm>
            <a:off x="3683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2" name="ADS 1082"/>
          <p:cNvSpPr txBox="1"/>
          <p:nvPr/>
        </p:nvSpPr>
        <p:spPr>
          <a:xfrm>
            <a:off x="5183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X5 Media: рекламный кабинет</a:t>
            </a:r>
            <a:endParaRPr lang="ru-RU" sz="1200" dirty="0"/>
          </a:p>
        </p:txBody>
      </p:sp>
      <p:sp>
        <p:nvSpPr>
          <p:cNvPr id="1083" name="ADS 1083"/>
          <p:cNvSpPr txBox="1"/>
          <p:nvPr/>
        </p:nvSpPr>
        <p:spPr>
          <a:xfrm>
            <a:off x="5183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Бета для агентств с апреля 2025</a:t>
            </a:r>
            <a:endParaRPr lang="ru-RU" sz="1200" dirty="0"/>
          </a:p>
        </p:txBody>
      </p:sp>
      <p:sp>
        <p:nvSpPr>
          <p:cNvPr id="1085" name="ADS 1085"/>
          <p:cNvSpPr txBox="1"/>
          <p:nvPr/>
        </p:nvSpPr>
        <p:spPr>
          <a:xfrm>
            <a:off x="5183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Самостоятельное планирование digital in-store кампаний: сети, география, тип инвентаря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Расчет OTS, охвата и частоты до запуска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~50 тыс. экранов и КСО, радио в 25,5 тыс. магазинов Пятерочки, Перекрестка и Чижика</a:t>
            </a:r>
            <a:endParaRPr lang="ru-RU" sz="1200" dirty="0"/>
          </a:p>
        </p:txBody>
      </p:sp>
      <p:sp>
        <p:nvSpPr>
          <p:cNvPr id="1086" name="ADS 1086"/>
          <p:cNvSpPr/>
          <p:nvPr/>
        </p:nvSpPr>
        <p:spPr>
          <a:xfrm>
            <a:off x="5183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7" name="ADS 1087"/>
          <p:cNvSpPr txBox="1"/>
          <p:nvPr/>
        </p:nvSpPr>
        <p:spPr>
          <a:xfrm>
            <a:off x="6183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Self-service кабинет для МСБ и агентств, таргетинг и фотофиксация indoor</a:t>
            </a:r>
            <a:endParaRPr lang="ru-RU" sz="1200" dirty="0"/>
          </a:p>
        </p:txBody>
      </p:sp>
      <p:sp>
        <p:nvSpPr>
          <p:cNvPr id="1088" name="Competitor card 2"/>
          <p:cNvSpPr/>
          <p:nvPr/>
        </p:nvSpPr>
        <p:spPr>
          <a:xfrm>
            <a:off x="42701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89" name="ADS 1089"/>
          <p:cNvSpPr txBox="1"/>
          <p:nvPr/>
        </p:nvSpPr>
        <p:spPr>
          <a:xfrm>
            <a:off x="44201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Ozon × VK: покупки в соцсети</a:t>
            </a:r>
            <a:endParaRPr lang="ru-RU" sz="1200" dirty="0"/>
          </a:p>
        </p:txBody>
      </p:sp>
      <p:sp>
        <p:nvSpPr>
          <p:cNvPr id="1090" name="ADS 1090"/>
          <p:cNvSpPr txBox="1"/>
          <p:nvPr/>
        </p:nvSpPr>
        <p:spPr>
          <a:xfrm>
            <a:off x="44201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Интеграция с октября 2024</a:t>
            </a:r>
            <a:endParaRPr lang="ru-RU" sz="1200" dirty="0"/>
          </a:p>
        </p:txBody>
      </p:sp>
      <p:sp>
        <p:nvSpPr>
          <p:cNvPr id="1091" name="ADS 1091"/>
          <p:cNvSpPr/>
          <p:nvPr/>
        </p:nvSpPr>
        <p:spPr>
          <a:xfrm>
            <a:off x="44201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2" name="ADS 1092"/>
          <p:cNvSpPr txBox="1"/>
          <p:nvPr/>
        </p:nvSpPr>
        <p:spPr>
          <a:xfrm>
            <a:off x="44201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Товары продавцов Ozon в ленте, сообществах, поиске и VK Маркете; заказ и оплата внутри VK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С февраля 2026 ИИ распознает товары в клипах и ставит ссылку на карточку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Конверсия из просмотра в карточку товара за полгода пилота выросла втрое</a:t>
            </a:r>
            <a:endParaRPr lang="ru-RU" sz="1200" dirty="0"/>
          </a:p>
        </p:txBody>
      </p:sp>
      <p:sp>
        <p:nvSpPr>
          <p:cNvPr id="1093" name="ADS 1093"/>
          <p:cNvSpPr/>
          <p:nvPr/>
        </p:nvSpPr>
        <p:spPr>
          <a:xfrm>
            <a:off x="44201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4" name="ADS 1094"/>
          <p:cNvSpPr txBox="1"/>
          <p:nvPr/>
        </p:nvSpPr>
        <p:spPr>
          <a:xfrm>
            <a:off x="45201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Тестируем shoppable-механики с внешними платформами</a:t>
            </a:r>
            <a:endParaRPr lang="ru-RU" sz="1200" dirty="0"/>
          </a:p>
        </p:txBody>
      </p:sp>
      <p:sp>
        <p:nvSpPr>
          <p:cNvPr id="1095" name="Competitor card 3"/>
          <p:cNvSpPr/>
          <p:nvPr/>
        </p:nvSpPr>
        <p:spPr>
          <a:xfrm>
            <a:off x="8171900" y="1000000"/>
            <a:ext cx="3651800" cy="508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096" name="ADS 1096"/>
          <p:cNvSpPr txBox="1"/>
          <p:nvPr/>
        </p:nvSpPr>
        <p:spPr>
          <a:xfrm>
            <a:off x="8321900" y="1120000"/>
            <a:ext cx="33518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dirty="0">
                <a:solidFill>
                  <a:srgbClr val="FF452C"/>
                </a:solidFill>
                <a:latin typeface="Arial"/>
                <a:cs typeface="Arial"/>
              </a:rPr>
              <a:t>Wildberries: Wibes</a:t>
            </a:r>
            <a:endParaRPr lang="ru-RU" sz="1200" dirty="0"/>
          </a:p>
        </p:txBody>
      </p:sp>
      <p:sp>
        <p:nvSpPr>
          <p:cNvPr id="1097" name="ADS 1097"/>
          <p:cNvSpPr txBox="1"/>
          <p:nvPr/>
        </p:nvSpPr>
        <p:spPr>
          <a:xfrm>
            <a:off x="8321900" y="1420000"/>
            <a:ext cx="33518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7F7F7F"/>
                </a:solidFill>
                <a:latin typeface="Arial"/>
                <a:cs typeface="Arial"/>
              </a:rPr>
              <a:t>Видеоплатформа с марта 2025</a:t>
            </a:r>
            <a:endParaRPr lang="ru-RU" sz="1200" dirty="0"/>
          </a:p>
        </p:txBody>
      </p:sp>
      <p:sp>
        <p:nvSpPr>
          <p:cNvPr id="1098" name="ADS 1098"/>
          <p:cNvSpPr/>
          <p:nvPr/>
        </p:nvSpPr>
        <p:spPr>
          <a:xfrm>
            <a:off x="8321900" y="1640000"/>
            <a:ext cx="3351800" cy="18300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dash"/>
          </a:ln>
        </p:spPr>
        <p:txBody>
          <a:bodyPr wrap="square" lIns="90000" tIns="0" rIns="90000" bIns="0" rtlCol="0" anchor="ctr"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ru-RU" sz="1200" dirty="0"/>
          </a:p>
        </p:txBody>
      </p:sp>
      <p:sp>
        <p:nvSpPr>
          <p:cNvPr id="1099" name="ADS 1099"/>
          <p:cNvSpPr txBox="1"/>
          <p:nvPr/>
        </p:nvSpPr>
        <p:spPr>
          <a:xfrm>
            <a:off x="8321900" y="3600000"/>
            <a:ext cx="3351800" cy="1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Короткие вертикальные видео до 90 секунд от селлеров и блогеров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Товар добавляется в корзину Wildberries прямо из ролика</a:t>
            </a:r>
            <a:endParaRPr lang="ru-RU" sz="1200" dirty="0"/>
          </a:p>
          <a:p>
            <a:pPr marL="171450" indent="-171450" algn="l">
              <a:spcBef>
                <a:spcPts val="500"/>
              </a:spcBef>
              <a:spcAft>
                <a:spcPts val="0"/>
              </a:spcAft>
              <a:buClr>
                <a:srgbClr val="FF452C"/>
              </a:buClr>
              <a:buFont typeface="Arial" panose="020B0604020202020204" pitchFamily="34" charset="0"/>
              <a:buChar char="•"/>
            </a:pPr>
            <a:r>
              <a:rPr lang="ru-RU" sz="1100" b="0" dirty="0">
                <a:solidFill>
                  <a:srgbClr val="000000"/>
                </a:solidFill>
                <a:latin typeface="Arial"/>
                <a:cs typeface="Arial"/>
              </a:rPr>
              <a:t>Контент и покупка замкнуты внутри экосистемы маркетплейса</a:t>
            </a:r>
            <a:endParaRPr lang="ru-RU" sz="1200" dirty="0"/>
          </a:p>
        </p:txBody>
      </p:sp>
      <p:sp>
        <p:nvSpPr>
          <p:cNvPr id="1100" name="ADS 1100"/>
          <p:cNvSpPr/>
          <p:nvPr/>
        </p:nvSpPr>
        <p:spPr>
          <a:xfrm>
            <a:off x="8321900" y="5250000"/>
            <a:ext cx="3351800" cy="680000"/>
          </a:xfrm>
          <a:prstGeom prst="roundRect">
            <a:avLst>
              <a:gd name="adj" fmla="val 12000"/>
            </a:avLst>
          </a:prstGeom>
          <a:solidFill>
            <a:srgbClr val="FFE9E5"/>
          </a:solidFill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endParaRPr lang="ru-RU" sz="1000" dirty="0"/>
          </a:p>
        </p:txBody>
      </p:sp>
      <p:sp>
        <p:nvSpPr>
          <p:cNvPr id="1101" name="ADS 1101"/>
          <p:cNvSpPr txBox="1"/>
          <p:nvPr/>
        </p:nvSpPr>
        <p:spPr>
          <a:xfrm>
            <a:off x="8421900" y="5290000"/>
            <a:ext cx="31518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 b="1" dirty="0">
                <a:solidFill>
                  <a:srgbClr val="FF452C"/>
                </a:solidFill>
                <a:latin typeface="Arial"/>
                <a:cs typeface="Arial"/>
              </a:rPr>
              <a:t>Ответ Magnit ADS</a:t>
            </a:r>
            <a:endParaRPr lang="ru-RU" sz="1200" dirty="0"/>
          </a:p>
          <a:p>
            <a:pPr marL="0" indent="0" algn="l">
              <a:spcBef>
                <a:spcPts val="100"/>
              </a:spcBef>
              <a:spcAft>
                <a:spcPts val="0"/>
              </a:spcAft>
              <a:buNone/>
            </a:pPr>
            <a:r>
              <a:rPr lang="ru-RU" sz="1000" b="0" dirty="0">
                <a:solidFill>
                  <a:srgbClr val="000000"/>
                </a:solidFill>
                <a:latin typeface="Arial"/>
                <a:cs typeface="Arial"/>
              </a:rPr>
              <a:t>Контент-завод: UGC в приложении Магнит и внешних соцсетях</a:t>
            </a:r>
            <a:endParaRPr lang="ru-RU" sz="1200" dirty="0"/>
          </a:p>
        </p:txBody>
      </p:sp>
      <p:pic>
        <p:nvPicPr>
          <p:cNvPr id="5" name="Picture 2" descr="Х5 Media открыл рекламный кабинет в формате Friends &amp; Family | Маркетинг |  Новости | AdIndex.ru">
            <a:extLst>
              <a:ext uri="{FF2B5EF4-FFF2-40B4-BE49-F238E27FC236}">
                <a16:creationId xmlns:a16="http://schemas.microsoft.com/office/drawing/2014/main" id="{87911579-97BE-BD38-2127-42374DBE3F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1"/>
          <a:stretch>
            <a:fillRect/>
          </a:stretch>
        </p:blipFill>
        <p:spPr bwMode="auto">
          <a:xfrm>
            <a:off x="518301" y="1640000"/>
            <a:ext cx="3351799" cy="1830000"/>
          </a:xfrm>
          <a:prstGeom prst="roundRect">
            <a:avLst>
              <a:gd name="adj" fmla="val 2942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ВКонтакте (ВК) связала товары из видео в ленте с карточками товаров на  маркетплейсах">
            <a:extLst>
              <a:ext uri="{FF2B5EF4-FFF2-40B4-BE49-F238E27FC236}">
                <a16:creationId xmlns:a16="http://schemas.microsoft.com/office/drawing/2014/main" id="{F7628572-F29B-AE88-1F00-8483713BCE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2815" y="1629063"/>
            <a:ext cx="2726370" cy="1851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ibes: как работает видеоплатформа от Wildberries">
            <a:extLst>
              <a:ext uri="{FF2B5EF4-FFF2-40B4-BE49-F238E27FC236}">
                <a16:creationId xmlns:a16="http://schemas.microsoft.com/office/drawing/2014/main" id="{AE6DE4AA-EE00-2E43-2DB6-694075E1F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7" b="2817"/>
          <a:stretch>
            <a:fillRect/>
          </a:stretch>
        </p:blipFill>
        <p:spPr bwMode="auto">
          <a:xfrm>
            <a:off x="9009177" y="1677087"/>
            <a:ext cx="1977245" cy="1755825"/>
          </a:xfrm>
          <a:prstGeom prst="roundRect">
            <a:avLst>
              <a:gd name="adj" fmla="val 5094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8015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37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Единая рекламная платформа: весь инвентарь экосистемы в одном технологическом контуре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Инвентарь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Все типы в одной платформе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APP и web:</a:t>
            </a:r>
            <a:r>
              <a:rPr lang="ru-RU" sz="1400" dirty="0">
                <a:solidFill>
                  <a:srgbClr val="000000"/>
                </a:solidFill>
              </a:rPr>
              <a:t> баннеры, сторис, полки, карточки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In-store:</a:t>
            </a:r>
            <a:r>
              <a:rPr lang="ru-RU" sz="1400" dirty="0">
                <a:solidFill>
                  <a:srgbClr val="000000"/>
                </a:solidFill>
              </a:rPr>
              <a:t> КСО, шелф-баннеры, фасадные и ТВ-экраны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Внешний:</a:t>
            </a:r>
            <a:r>
              <a:rPr lang="ru-RU" sz="1400" dirty="0">
                <a:solidFill>
                  <a:srgbClr val="000000"/>
                </a:solidFill>
              </a:rPr>
              <a:t> площадки Рунета, indoor и outdoor, блогеры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Новые типы инвентаря подключаются быстро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DMP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Данные о покупателе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Data-интерфейс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предикторы конверсии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таргетинг аудиторий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Ad server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Показ и аукцион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Хранение креативов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Ads exchange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Биддинг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создание креативов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Analytics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Измерение эффекта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Матчинг пользователей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Логирование показов и кликов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Модуль sales lift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AI:</a:t>
            </a:r>
            <a:r>
              <a:rPr lang="ru-RU" sz="1400" dirty="0">
                <a:solidFill>
                  <a:srgbClr val="000000"/>
                </a:solidFill>
              </a:rPr>
              <a:t> инсайты по данным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24ABF6-6C43-16EC-7903-593D29D0B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1E654-5F65-A4D3-44C6-50BD96A0DF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Полноценная рекламная платформа менее чем за год: от первой команды до коммерческого запуска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Продуктовый запуск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6 мес.</a:t>
            </a:r>
          </a:p>
        </p:txBody>
      </p:sp>
      <p:sp>
        <p:nvSpPr>
          <p:cNvPr id="203" name="Shape 203"/>
          <p:cNvSpPr txBox="1"/>
          <p:nvPr/>
        </p:nvSpPr>
        <p:spPr>
          <a:xfrm>
            <a:off x="5207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от первой команды до основных модулей</a:t>
            </a:r>
          </a:p>
        </p:txBody>
      </p:sp>
      <p:sp>
        <p:nvSpPr>
          <p:cNvPr id="204" name="Shape 204"/>
          <p:cNvSpPr/>
          <p:nvPr/>
        </p:nvSpPr>
        <p:spPr>
          <a:xfrm>
            <a:off x="6731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5" name="Shape 205"/>
          <p:cNvSpPr txBox="1"/>
          <p:nvPr/>
        </p:nvSpPr>
        <p:spPr>
          <a:xfrm>
            <a:off x="5461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01.09.2025</a:t>
            </a:r>
            <a:r>
              <a:rPr lang="ru-RU" sz="1400" dirty="0">
                <a:solidFill>
                  <a:srgbClr val="000000"/>
                </a:solidFill>
              </a:rPr>
              <a:t> — укомплектована первая команда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13.10.2025</a:t>
            </a:r>
            <a:r>
              <a:rPr lang="ru-RU" sz="1400" dirty="0">
                <a:solidFill>
                  <a:srgbClr val="000000"/>
                </a:solidFill>
              </a:rPr>
              <a:t> — готовы требования, начался первый спринт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01.03.2026</a:t>
            </a:r>
            <a:r>
              <a:rPr lang="ru-RU" sz="1400" dirty="0">
                <a:solidFill>
                  <a:srgbClr val="000000"/>
                </a:solidFill>
              </a:rPr>
              <a:t> — готовы основные модули</a:t>
            </a:r>
          </a:p>
        </p:txBody>
      </p:sp>
      <p:sp>
        <p:nvSpPr>
          <p:cNvPr id="206" name="Shape 206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7" name="Shape 207"/>
          <p:cNvSpPr txBox="1"/>
          <p:nvPr/>
        </p:nvSpPr>
        <p:spPr>
          <a:xfrm>
            <a:off x="34353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Коммерческий запуск</a:t>
            </a:r>
          </a:p>
        </p:txBody>
      </p:sp>
      <p:sp>
        <p:nvSpPr>
          <p:cNvPr id="208" name="Shape 208"/>
          <p:cNvSpPr txBox="1"/>
          <p:nvPr/>
        </p:nvSpPr>
        <p:spPr>
          <a:xfrm>
            <a:off x="34353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8 мес.</a:t>
            </a:r>
          </a:p>
        </p:txBody>
      </p:sp>
      <p:sp>
        <p:nvSpPr>
          <p:cNvPr id="209" name="Shape 209"/>
          <p:cNvSpPr txBox="1"/>
          <p:nvPr/>
        </p:nvSpPr>
        <p:spPr>
          <a:xfrm>
            <a:off x="34353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до массового перехода на новую платформу</a:t>
            </a:r>
          </a:p>
        </p:txBody>
      </p:sp>
      <p:sp>
        <p:nvSpPr>
          <p:cNvPr id="210" name="Shape 210"/>
          <p:cNvSpPr/>
          <p:nvPr/>
        </p:nvSpPr>
        <p:spPr>
          <a:xfrm>
            <a:off x="35877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34607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27.03.2026</a:t>
            </a:r>
            <a:r>
              <a:rPr lang="ru-RU" sz="1400" dirty="0">
                <a:solidFill>
                  <a:srgbClr val="000000"/>
                </a:solidFill>
              </a:rPr>
              <a:t> — первый продуктивный показ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20.04.2026</a:t>
            </a:r>
            <a:r>
              <a:rPr lang="ru-RU" sz="1400" dirty="0">
                <a:solidFill>
                  <a:srgbClr val="000000"/>
                </a:solidFill>
              </a:rPr>
              <a:t> — массовый переход трафик-менеджеров</a:t>
            </a:r>
          </a:p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Впереди — настройка платформы и обучение</a:t>
            </a:r>
          </a:p>
        </p:txBody>
      </p:sp>
      <p:sp>
        <p:nvSpPr>
          <p:cNvPr id="212" name="Shape 212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3" name="Shape 213"/>
          <p:cNvSpPr txBox="1"/>
          <p:nvPr/>
        </p:nvSpPr>
        <p:spPr>
          <a:xfrm>
            <a:off x="635000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Ближайший конкурент</a:t>
            </a:r>
          </a:p>
        </p:txBody>
      </p:sp>
      <p:sp>
        <p:nvSpPr>
          <p:cNvPr id="214" name="Shape 214"/>
          <p:cNvSpPr txBox="1"/>
          <p:nvPr/>
        </p:nvSpPr>
        <p:spPr>
          <a:xfrm>
            <a:off x="635000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4 года</a:t>
            </a:r>
            <a:endParaRPr lang="ru-RU" sz="1600" b="1" dirty="0">
              <a:solidFill>
                <a:srgbClr val="000000"/>
              </a:solidFill>
            </a:endParaRPr>
          </a:p>
        </p:txBody>
      </p:sp>
      <p:sp>
        <p:nvSpPr>
          <p:cNvPr id="215" name="Shape 215"/>
          <p:cNvSpPr txBox="1"/>
          <p:nvPr/>
        </p:nvSpPr>
        <p:spPr>
          <a:xfrm>
            <a:off x="635000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строит собственную рекламную платформу</a:t>
            </a:r>
          </a:p>
        </p:txBody>
      </p:sp>
      <p:sp>
        <p:nvSpPr>
          <p:cNvPr id="216" name="Shape 216"/>
          <p:cNvSpPr/>
          <p:nvPr/>
        </p:nvSpPr>
        <p:spPr>
          <a:xfrm>
            <a:off x="650240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7" name="Shape 217"/>
          <p:cNvSpPr txBox="1"/>
          <p:nvPr/>
        </p:nvSpPr>
        <p:spPr>
          <a:xfrm>
            <a:off x="637540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Magnit ADS прошел путь до коммерческого запуска в шесть раз быстрее</a:t>
            </a:r>
          </a:p>
        </p:txBody>
      </p:sp>
      <p:sp>
        <p:nvSpPr>
          <p:cNvPr id="218" name="Shape 218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64650" y="1219200"/>
            <a:ext cx="240665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Яндекс и другие игроки</a:t>
            </a:r>
          </a:p>
        </p:txBody>
      </p:sp>
      <p:sp>
        <p:nvSpPr>
          <p:cNvPr id="220" name="Shape 220"/>
          <p:cNvSpPr txBox="1"/>
          <p:nvPr/>
        </p:nvSpPr>
        <p:spPr>
          <a:xfrm>
            <a:off x="9264650" y="1803400"/>
            <a:ext cx="240665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3200" b="1" dirty="0">
                <a:solidFill>
                  <a:srgbClr val="000000"/>
                </a:solidFill>
              </a:rPr>
              <a:t>10+ лет</a:t>
            </a:r>
          </a:p>
        </p:txBody>
      </p:sp>
      <p:sp>
        <p:nvSpPr>
          <p:cNvPr id="221" name="Shape 221"/>
          <p:cNvSpPr txBox="1"/>
          <p:nvPr/>
        </p:nvSpPr>
        <p:spPr>
          <a:xfrm>
            <a:off x="9264650" y="2387600"/>
            <a:ext cx="240665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100" dirty="0">
                <a:solidFill>
                  <a:srgbClr val="595959"/>
                </a:solidFill>
              </a:rPr>
              <a:t>формировались рекламные платформы</a:t>
            </a:r>
          </a:p>
        </p:txBody>
      </p:sp>
      <p:sp>
        <p:nvSpPr>
          <p:cNvPr id="222" name="Shape 222"/>
          <p:cNvSpPr/>
          <p:nvPr/>
        </p:nvSpPr>
        <p:spPr>
          <a:xfrm>
            <a:off x="9417050" y="29210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23" name="Shape 223"/>
          <p:cNvSpPr txBox="1"/>
          <p:nvPr/>
        </p:nvSpPr>
        <p:spPr>
          <a:xfrm>
            <a:off x="9290050" y="3073400"/>
            <a:ext cx="2355850" cy="292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8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Все инструменты Magnit ADS сразу объединены в общий технологический и коммерческий контур</a:t>
            </a:r>
          </a:p>
        </p:txBody>
      </p:sp>
    </p:spTree>
    <p:extLst>
      <p:ext uri="{BB962C8B-B14F-4D97-AF65-F5344CB8AC3E}">
        <p14:creationId xmlns:p14="http://schemas.microsoft.com/office/powerpoint/2010/main" val="4099602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Конкурентное преимущество Magnit ADS — данные о покупателе в аукционе и ранжировании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Аудитория и сегменты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Кто покупатель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Сегменты покупателей экосистемы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1st–3rd party данные в DMP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AI-таргетинг аудиторий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Поведение и интересы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ему интересно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Поведение и интересы покупателя в экосистеме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Триггеры и акции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Контекст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Где и когда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Время, локация, погода, ситуация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Супергео и остатки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Внешние данные — </a:t>
            </a:r>
            <a:r>
              <a:rPr lang="ru-RU" sz="1400" b="1" dirty="0">
                <a:solidFill>
                  <a:srgbClr val="000000"/>
                </a:solidFill>
              </a:rPr>
              <a:t>Q2 2027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Цели и ставки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Что нужно рекламодателю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Цели рекламодателя и ставки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ML-модель и бизнес-правила определяют показ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Аукцион — </a:t>
            </a:r>
            <a:r>
              <a:rPr lang="ru-RU" sz="1400" b="1" dirty="0">
                <a:solidFill>
                  <a:srgbClr val="000000"/>
                </a:solidFill>
              </a:rPr>
              <a:t>Q4 2026</a:t>
            </a:r>
            <a:r>
              <a:rPr lang="ru-RU" sz="1400" dirty="0">
                <a:solidFill>
                  <a:srgbClr val="000000"/>
                </a:solidFill>
              </a:rPr>
              <a:t>, автостратегии — </a:t>
            </a:r>
            <a:r>
              <a:rPr lang="ru-RU" sz="1400" b="1" dirty="0">
                <a:solidFill>
                  <a:srgbClr val="000000"/>
                </a:solidFill>
              </a:rPr>
              <a:t>Q1 2027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40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Данные платформы: шесть новых источников сигналов для таргетинга и аукциона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данные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Супергео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с точностью до магазина и зоны доставки вместо города или региона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Локальные кампании под конкретные торговые точки и радиус вокруг них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Остатки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Аукцион учитывает наличие товара в магазине и в зоне доставки покупателя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не показывается, когда товара нет: рекламный бюджет не расходуется впустую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Триггеры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по событию в реальном времени: поиск, просмотр категории, добавление в корзину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Контакт в момент готовности к покупке; без триггера работают модели исторического спроса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Контекст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 ранжирование добавляются время, локация, погода и ситуация покупки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Сообщение подбирается под момент: погода, время суток, формат магазина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Акции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Платформа получает данные о промо и ценах поставщика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Реклама синхронизируется с промо и усиливает его эффект на продажи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Внешние данные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Обмен сегментами DMP с внешними площадками и SSP, подключение 2nd и 3rd party данных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Более широкие сегменты и запуск кампаний на внешнем трафике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Сроки — презентация ADTECH, октябрь 2026. Описание изменений — рабочая трактовка на основе стратегии Magnit AdTech 2026–2031, требует подтверждения продуктовой командой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Функции платформы: аукцион, автоматизация кампаний и управляемый in-store до Q2 2027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11457432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Дорожная карта: функции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11457432" cy="3381000"/>
        </p:xfrm>
        <a:graphic>
          <a:graphicData uri="http://schemas.openxmlformats.org/drawingml/2006/table">
            <a:tbl>
              <a:tblPr first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Изменение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Срок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меняется в продукте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Что это дает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Аукцион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Переход от ручного квотирования к аукциону по всем медийным и перформанс-размещениям; модели CPM, CPC, CPA, CPO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Прозрачная конкуренция за показ с учетом ставки, релевантности и маржи бренда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Агентские аккаунты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Q4 2026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Кабинет агентства: несколько рекламодателей в одном аккаунте, единый прайс, быстрый запуск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Агентства сами ведут кампании клиентов; растут продажи не поставщикам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ИИ-ассистент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Помощник в кабинете: подбор оффера и аудитории, генерация креативов, сводка результатов кампании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Быстрее запуск кампаний и меньше ручной работы менеджеров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Автостратегии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Автоматическое управление ставками под цель рекламодателя: охват, клики или заказы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Рекламодатель задает цель и бюджет, платформа сама оптимизирует ставки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Таргетинг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Q1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Показ на экранах в магазине по аудитории, времени и локации; QR-коды и персональные офферы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In-store становится управляемым каналом и основой для performance-инвентаря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rgbClr val="000000"/>
                          </a:solidFill>
                          <a:latin typeface="Arial"/>
                        </a:rPr>
                        <a:t>Фотофиксация indoor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Q2 2027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Система контроля показов на экранах и фотоотчет для рекламодателя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Подтверждение размещения — условие продажи нового in-store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056059-17AC-0E22-6608-13D1F4957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8931F-8DCA-B7A7-C277-09DE317B5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AdTech — горизонтальный партнер Коммерции форматов: зоны разделены по типам бюджетов</a:t>
            </a:r>
          </a:p>
        </p:txBody>
      </p:sp>
      <p:sp>
        <p:nvSpPr>
          <p:cNvPr id="200" name="Shape 200"/>
          <p:cNvSpPr/>
          <p:nvPr/>
        </p:nvSpPr>
        <p:spPr>
          <a:xfrm>
            <a:off x="3683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1" name="Shape 201"/>
          <p:cNvSpPr txBox="1"/>
          <p:nvPr/>
        </p:nvSpPr>
        <p:spPr>
          <a:xfrm>
            <a:off x="5207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Трейд-бюджеты</a:t>
            </a:r>
          </a:p>
        </p:txBody>
      </p:sp>
      <p:sp>
        <p:nvSpPr>
          <p:cNvPr id="202" name="Shape 202"/>
          <p:cNvSpPr txBox="1"/>
          <p:nvPr/>
        </p:nvSpPr>
        <p:spPr>
          <a:xfrm>
            <a:off x="5207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Коммерция форматов</a:t>
            </a:r>
          </a:p>
        </p:txBody>
      </p:sp>
      <p:sp>
        <p:nvSpPr>
          <p:cNvPr id="203" name="Shape 203"/>
          <p:cNvSpPr/>
          <p:nvPr/>
        </p:nvSpPr>
        <p:spPr>
          <a:xfrm>
            <a:off x="6731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4" name="Shape 204"/>
          <p:cNvSpPr txBox="1"/>
          <p:nvPr/>
        </p:nvSpPr>
        <p:spPr>
          <a:xfrm>
            <a:off x="5461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Объем инвестиций определяется в переговорах по коммерческим условиям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AdTech обеспечивает инвентарь, execution и трекинг продаж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KPI Коммерции — </a:t>
            </a:r>
            <a:r>
              <a:rPr lang="ru-RU" sz="1400" b="1" dirty="0">
                <a:solidFill>
                  <a:srgbClr val="000000"/>
                </a:solidFill>
              </a:rPr>
              <a:t>абсолютный прирост</a:t>
            </a:r>
            <a:r>
              <a:rPr lang="ru-RU" sz="1400" dirty="0">
                <a:solidFill>
                  <a:srgbClr val="000000"/>
                </a:solidFill>
              </a:rPr>
              <a:t> трейд-бюджетов</a:t>
            </a:r>
          </a:p>
        </p:txBody>
      </p:sp>
      <p:sp>
        <p:nvSpPr>
          <p:cNvPr id="205" name="Shape 205"/>
          <p:cNvSpPr/>
          <p:nvPr/>
        </p:nvSpPr>
        <p:spPr>
          <a:xfrm>
            <a:off x="32829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6" name="Shape 206"/>
          <p:cNvSpPr txBox="1"/>
          <p:nvPr/>
        </p:nvSpPr>
        <p:spPr>
          <a:xfrm>
            <a:off x="34353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Бренд-бюджеты</a:t>
            </a:r>
          </a:p>
        </p:txBody>
      </p:sp>
      <p:sp>
        <p:nvSpPr>
          <p:cNvPr id="207" name="Shape 207"/>
          <p:cNvSpPr txBox="1"/>
          <p:nvPr/>
        </p:nvSpPr>
        <p:spPr>
          <a:xfrm>
            <a:off x="34353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 через RMN</a:t>
            </a:r>
          </a:p>
        </p:txBody>
      </p:sp>
      <p:sp>
        <p:nvSpPr>
          <p:cNvPr id="208" name="Shape 208"/>
          <p:cNvSpPr/>
          <p:nvPr/>
        </p:nvSpPr>
        <p:spPr>
          <a:xfrm>
            <a:off x="35877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09" name="Shape 209"/>
          <p:cNvSpPr txBox="1"/>
          <p:nvPr/>
        </p:nvSpPr>
        <p:spPr>
          <a:xfrm>
            <a:off x="34607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Retail Media Network — </a:t>
            </a:r>
            <a:r>
              <a:rPr lang="ru-RU" sz="1400" b="1" dirty="0">
                <a:solidFill>
                  <a:srgbClr val="000000"/>
                </a:solidFill>
              </a:rPr>
              <a:t>отдельное ЮЛ</a:t>
            </a:r>
            <a:r>
              <a:rPr lang="ru-RU" sz="1400" dirty="0">
                <a:solidFill>
                  <a:srgbClr val="000000"/>
                </a:solidFill>
              </a:rPr>
              <a:t>, не связанное с трейд-маркетингом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Альтернатива охватной рекламе: TV, OOH, digital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Контакт с покупателем в момент выбора: digital и in-store</a:t>
            </a:r>
          </a:p>
        </p:txBody>
      </p:sp>
      <p:sp>
        <p:nvSpPr>
          <p:cNvPr id="210" name="Shape 210"/>
          <p:cNvSpPr/>
          <p:nvPr/>
        </p:nvSpPr>
        <p:spPr>
          <a:xfrm>
            <a:off x="619760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1" name="Shape 211"/>
          <p:cNvSpPr txBox="1"/>
          <p:nvPr/>
        </p:nvSpPr>
        <p:spPr>
          <a:xfrm>
            <a:off x="635000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Не поставщики</a:t>
            </a:r>
          </a:p>
        </p:txBody>
      </p:sp>
      <p:sp>
        <p:nvSpPr>
          <p:cNvPr id="212" name="Shape 212"/>
          <p:cNvSpPr txBox="1"/>
          <p:nvPr/>
        </p:nvSpPr>
        <p:spPr>
          <a:xfrm>
            <a:off x="635000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Отвечает AdTech</a:t>
            </a:r>
          </a:p>
        </p:txBody>
      </p:sp>
      <p:sp>
        <p:nvSpPr>
          <p:cNvPr id="213" name="Shape 213"/>
          <p:cNvSpPr/>
          <p:nvPr/>
        </p:nvSpPr>
        <p:spPr>
          <a:xfrm>
            <a:off x="650240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4" name="Shape 214"/>
          <p:cNvSpPr txBox="1"/>
          <p:nvPr/>
        </p:nvSpPr>
        <p:spPr>
          <a:xfrm>
            <a:off x="637540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Прямые продажи внешним рекламодателям и агентствам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Кабинет с единым ценообразованием и быстрым запуском кампаний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Выручка распределяется по форматам по принадлежности инвентаря</a:t>
            </a:r>
          </a:p>
        </p:txBody>
      </p:sp>
      <p:sp>
        <p:nvSpPr>
          <p:cNvPr id="215" name="Shape 215"/>
          <p:cNvSpPr/>
          <p:nvPr/>
        </p:nvSpPr>
        <p:spPr>
          <a:xfrm>
            <a:off x="9112250" y="1016000"/>
            <a:ext cx="2711450" cy="5080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6" name="Shape 216"/>
          <p:cNvSpPr txBox="1"/>
          <p:nvPr/>
        </p:nvSpPr>
        <p:spPr>
          <a:xfrm>
            <a:off x="9264650" y="1219200"/>
            <a:ext cx="240665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FF452C"/>
                </a:solidFill>
              </a:rPr>
              <a:t>SMB и интерком</a:t>
            </a:r>
          </a:p>
        </p:txBody>
      </p:sp>
      <p:sp>
        <p:nvSpPr>
          <p:cNvPr id="217" name="Shape 217"/>
          <p:cNvSpPr txBox="1"/>
          <p:nvPr/>
        </p:nvSpPr>
        <p:spPr>
          <a:xfrm>
            <a:off x="9264650" y="1574800"/>
            <a:ext cx="240665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AdTech обеспечивает инвентарь</a:t>
            </a:r>
          </a:p>
        </p:txBody>
      </p:sp>
      <p:sp>
        <p:nvSpPr>
          <p:cNvPr id="218" name="Shape 218"/>
          <p:cNvSpPr/>
          <p:nvPr/>
        </p:nvSpPr>
        <p:spPr>
          <a:xfrm>
            <a:off x="9417050" y="1955800"/>
            <a:ext cx="2101850" cy="12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219" name="Shape 219"/>
          <p:cNvSpPr txBox="1"/>
          <p:nvPr/>
        </p:nvSpPr>
        <p:spPr>
          <a:xfrm>
            <a:off x="9290050" y="2108200"/>
            <a:ext cx="2355850" cy="38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b="1" dirty="0">
                <a:solidFill>
                  <a:srgbClr val="000000"/>
                </a:solidFill>
              </a:rPr>
              <a:t>Self-service</a:t>
            </a:r>
            <a:r>
              <a:rPr lang="ru-RU" sz="1400" dirty="0">
                <a:solidFill>
                  <a:srgbClr val="000000"/>
                </a:solidFill>
              </a:rPr>
              <a:t> кабинет открывает доступ к малым поставщикам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Операционный инвентарь для интеркома и маркетинга форматов</a:t>
            </a:r>
          </a:p>
          <a:p>
            <a:pPr marL="171450" indent="-171450" algn="l">
              <a:spcBef>
                <a:spcPts val="900"/>
              </a:spcBef>
              <a:buClr>
                <a:srgbClr val="FF452C"/>
              </a:buClr>
              <a:buFont typeface="Arial"/>
              <a:buChar char="•"/>
            </a:pPr>
            <a:r>
              <a:rPr lang="ru-RU" sz="1400" dirty="0">
                <a:solidFill>
                  <a:srgbClr val="000000"/>
                </a:solidFill>
              </a:rPr>
              <a:t>Вся рекламная выручка аллоцируется на форматы</a:t>
            </a:r>
          </a:p>
        </p:txBody>
      </p:sp>
    </p:spTree>
    <p:extLst>
      <p:ext uri="{BB962C8B-B14F-4D97-AF65-F5344CB8AC3E}">
        <p14:creationId xmlns:p14="http://schemas.microsoft.com/office/powerpoint/2010/main" val="19000078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2DAC0F-A039-A254-0652-BA59CF6C7EF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ru-RU" sz="900" dirty="0">
                <a:solidFill>
                  <a:srgbClr val="6E6E6E"/>
                </a:solidFill>
              </a:rPr>
              <a:t>R — исполнитель, A — ответственный за результат, C — консультант, I — наблюдатель. Источник: «Роль Магнит AdTech в 2027+», июль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BE670-CA70-08AE-0F3A-5E118D0120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43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A033E-567B-C7C9-F6E1-C6AC1813096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Зона ответственности: AdTech отвечает за инвентарь, эффективность и execution, категории — за трейд-бюджеты</a:t>
            </a:r>
          </a:p>
        </p:txBody>
      </p:sp>
      <p:sp>
        <p:nvSpPr>
          <p:cNvPr id="300" name="Shape 300"/>
          <p:cNvSpPr txBox="1"/>
          <p:nvPr/>
        </p:nvSpPr>
        <p:spPr>
          <a:xfrm>
            <a:off x="368300" y="1016000"/>
            <a:ext cx="7112000" cy="304800"/>
          </a:xfrm>
          <a:prstGeom prst="rect">
            <a:avLst/>
          </a:prstGeom>
          <a:noFill/>
        </p:spPr>
        <p:txBody>
          <a:bodyPr wrap="square" lIns="9144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RACI по рекламной выручке и инвентарю</a:t>
            </a:r>
          </a:p>
        </p:txBody>
      </p:sp>
      <p:graphicFrame>
        <p:nvGraphicFramePr>
          <p:cNvPr id="301" name="Table 301"/>
          <p:cNvGraphicFramePr>
            <a:graphicFrameLocks noGrp="1"/>
          </p:cNvGraphicFramePr>
          <p:nvPr/>
        </p:nvGraphicFramePr>
        <p:xfrm>
          <a:off x="368300" y="1397000"/>
          <a:ext cx="7114032" cy="2643000"/>
        </p:xfrm>
        <a:graphic>
          <a:graphicData uri="http://schemas.openxmlformats.org/drawingml/2006/table">
            <a:tbl>
              <a:tblPr firstRow="1"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9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Зона ответственности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R и A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0" b="1" dirty="0">
                          <a:solidFill>
                            <a:srgbClr val="000000"/>
                          </a:solidFill>
                          <a:latin typeface="Arial"/>
                        </a:rPr>
                        <a:t>C и I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Рекламная выручка от поставщиков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Выручка от не поставщиков и бренд-бюджеты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Расширение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Эффективность инвентаря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FoodTech, М+, FinTech, операционный маркетинг, категории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Execution рекламных кампаний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AdTech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rgbClr val="000000"/>
                          </a:solidFill>
                          <a:latin typeface="Arial"/>
                        </a:rPr>
                        <a:t>Финансы, FoodTech, М+, FinTech</a:t>
                      </a:r>
                    </a:p>
                  </a:txBody>
                  <a:tcPr marL="50800" marR="50800" marT="25400" marB="25400" anchor="ctr">
                    <a:lnL w="0">
                      <a:noFill/>
                    </a:lnL>
                    <a:lnR w="0">
                      <a:noFill/>
                    </a:lnR>
                    <a:lnT w="9525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2" name="Shape 302"/>
          <p:cNvSpPr txBox="1"/>
          <p:nvPr/>
        </p:nvSpPr>
        <p:spPr>
          <a:xfrm>
            <a:off x="7823200" y="1016000"/>
            <a:ext cx="4000500" cy="508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За что отвечает AdTech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Инвентарь:</a:t>
            </a:r>
            <a:r>
              <a:rPr lang="ru-RU" sz="1200" dirty="0">
                <a:solidFill>
                  <a:srgbClr val="000000"/>
                </a:solidFill>
              </a:rPr>
              <a:t> новые рекламные места и инструменты — медиа, перформанс, socialcom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Эффективность:</a:t>
            </a:r>
            <a:r>
              <a:rPr lang="ru-RU" sz="1200" dirty="0">
                <a:solidFill>
                  <a:srgbClr val="000000"/>
                </a:solidFill>
              </a:rPr>
              <a:t> рост результативности рекламы за счет данных и аналитики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Execution:</a:t>
            </a:r>
            <a:r>
              <a:rPr lang="ru-RU" sz="1200" dirty="0">
                <a:solidFill>
                  <a:srgbClr val="000000"/>
                </a:solidFill>
              </a:rPr>
              <a:t> все кампании от медиаплана до отчетности и ОРД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Продажи:</a:t>
            </a:r>
            <a:r>
              <a:rPr lang="ru-RU" sz="1200" dirty="0">
                <a:solidFill>
                  <a:srgbClr val="000000"/>
                </a:solidFill>
              </a:rPr>
              <a:t> медиакит и прайсинг, внешние рекламодатели, агентства, партнерства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ru-RU" sz="1200" b="1" dirty="0">
                <a:solidFill>
                  <a:srgbClr val="000000"/>
                </a:solidFill>
              </a:rPr>
              <a:t>За что не отвечает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Объем трейд-бюджетов:</a:t>
            </a:r>
            <a:r>
              <a:rPr lang="ru-RU" sz="1200" dirty="0">
                <a:solidFill>
                  <a:srgbClr val="000000"/>
                </a:solidFill>
              </a:rPr>
              <a:t> инвестиции поставщиков в рамках коммерческих условий — зона Коммерции форматов</a:t>
            </a:r>
          </a:p>
          <a:p>
            <a:pPr marL="171450" indent="-171450">
              <a:spcBef>
                <a:spcPts val="9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Единый КПЭ:</a:t>
            </a:r>
            <a:r>
              <a:rPr lang="ru-RU" sz="1200" dirty="0">
                <a:solidFill>
                  <a:srgbClr val="000000"/>
                </a:solidFill>
              </a:rPr>
              <a:t> у AdTech и категорий общая цель на рост рекламной выручки и инвентаря</a:t>
            </a:r>
          </a:p>
        </p:txBody>
      </p:sp>
    </p:spTree>
    <p:extLst>
      <p:ext uri="{BB962C8B-B14F-4D97-AF65-F5344CB8AC3E}">
        <p14:creationId xmlns:p14="http://schemas.microsoft.com/office/powerpoint/2010/main" val="5515976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1057693-9C99-4EA1-81CB-0B3512712F6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833814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0" name="think-cell Slide" r:id="rId12" imgW="395" imgH="394" progId="TCLayout.ActiveDocument.1">
                  <p:embed/>
                </p:oleObj>
              </mc:Choice>
              <mc:Fallback>
                <p:oleObj name="think-cell Slide" r:id="rId12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Бюджет 2027 выходит на top-down: EBITDA 500 млн руб., форматам — 2,3 млрд руб. прироста Net Revenue</a:t>
            </a:r>
            <a:endParaRPr lang="ru-RU" dirty="0"/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Бюджет 2027 vs стратегия и top-down,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Прирост Net Revenue 2 271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прирост выручки 4 154 за вычетом всего COGS 2027 (1 883) — на 271 выше 2 000 стрейча на форматы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OPEX 1 771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271 выше top-down — покрывается превышением по выручке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на уровне top-down и на 15 выше стратегии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CAPEX 1 151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ниже стратегии на 92 (−7%) и таргета на 151 (−12%), включая 50 общего стрейча на ОМНИ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FCF −651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лучше top-down на 151 и стратегии на 107</a:t>
            </a:r>
          </a:p>
        </p:txBody>
      </p:sp>
      <p:graphicFrame>
        <p:nvGraphicFramePr>
          <p:cNvPr id="191" name="Chart 190">
            <a:extLst>
              <a:ext uri="{FF2B5EF4-FFF2-40B4-BE49-F238E27FC236}">
                <a16:creationId xmlns:a16="http://schemas.microsoft.com/office/drawing/2014/main" id="{67FA0DFD-A134-4C11-B3D8-7F1EE280238D}"/>
              </a:ext>
            </a:extLst>
          </p:cNvPr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540626492"/>
              </p:ext>
            </p:extLst>
          </p:nvPr>
        </p:nvGraphicFramePr>
        <p:xfrm>
          <a:off x="1358900" y="1330000"/>
          <a:ext cx="6902450" cy="9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30F72A2-FE0F-4DFD-8311-31034E251B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210" name="Chart 209">
            <a:extLst>
              <a:ext uri="{FF2B5EF4-FFF2-40B4-BE49-F238E27FC236}">
                <a16:creationId xmlns:a16="http://schemas.microsoft.com/office/drawing/2014/main" id="{95495C5C-3B03-427A-8803-100DD25812BD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937870586"/>
              </p:ext>
            </p:extLst>
          </p:nvPr>
        </p:nvGraphicFramePr>
        <p:xfrm>
          <a:off x="1358900" y="2245000"/>
          <a:ext cx="6902450" cy="9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205" name="Chart 204">
            <a:extLst>
              <a:ext uri="{FF2B5EF4-FFF2-40B4-BE49-F238E27FC236}">
                <a16:creationId xmlns:a16="http://schemas.microsoft.com/office/drawing/2014/main" id="{ACA88E0B-FCBF-484E-A4D1-7E01C8B74634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928145939"/>
              </p:ext>
            </p:extLst>
          </p:nvPr>
        </p:nvGraphicFramePr>
        <p:xfrm>
          <a:off x="1358900" y="3160000"/>
          <a:ext cx="6902450" cy="9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72" name="TextBox 171">
            <a:extLst>
              <a:ext uri="{FF2B5EF4-FFF2-40B4-BE49-F238E27FC236}">
                <a16:creationId xmlns:a16="http://schemas.microsoft.com/office/drawing/2014/main" id="{215841B7-3EA6-436C-885D-46F12B31052F}"/>
              </a:ext>
            </a:extLst>
          </p:cNvPr>
          <p:cNvSpPr txBox="1"/>
          <p:nvPr/>
        </p:nvSpPr>
        <p:spPr>
          <a:xfrm>
            <a:off x="335370" y="1525890"/>
            <a:ext cx="1425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Прирост Net Revenue</a:t>
            </a:r>
            <a:br>
              <a:rPr lang="en-US" sz="1400" b="1" dirty="0"/>
            </a:b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9C24040F-BA42-4C86-8E53-9AA0E6AF3B0A}"/>
              </a:ext>
            </a:extLst>
          </p:cNvPr>
          <p:cNvSpPr txBox="1"/>
          <p:nvPr/>
        </p:nvSpPr>
        <p:spPr>
          <a:xfrm>
            <a:off x="364176" y="2548611"/>
            <a:ext cx="1425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OPEX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C4354247-F25A-4C35-B4CE-10A11C50CF62}"/>
              </a:ext>
            </a:extLst>
          </p:cNvPr>
          <p:cNvSpPr txBox="1"/>
          <p:nvPr/>
        </p:nvSpPr>
        <p:spPr>
          <a:xfrm>
            <a:off x="364176" y="3463611"/>
            <a:ext cx="14251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EBITDA</a:t>
            </a:r>
          </a:p>
        </p:txBody>
      </p:sp>
      <p:graphicFrame>
        <p:nvGraphicFramePr>
          <p:cNvPr id="219" name="Chart 218">
            <a:extLst>
              <a:ext uri="{FF2B5EF4-FFF2-40B4-BE49-F238E27FC236}">
                <a16:creationId xmlns:a16="http://schemas.microsoft.com/office/drawing/2014/main" id="{B176F049-E4DE-40A1-A801-C4C2B0D9FE42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014399938"/>
              </p:ext>
            </p:extLst>
          </p:nvPr>
        </p:nvGraphicFramePr>
        <p:xfrm>
          <a:off x="1358900" y="4075000"/>
          <a:ext cx="6902450" cy="9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95" name="Rectangle 194">
            <a:extLst>
              <a:ext uri="{FF2B5EF4-FFF2-40B4-BE49-F238E27FC236}">
                <a16:creationId xmlns:a16="http://schemas.microsoft.com/office/drawing/2014/main" id="{4E8B90F0-38A6-4563-AA4F-207454B62DDF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2136775" y="5925000"/>
            <a:ext cx="854075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EB49ACD-65BD-4E52-94D6-8AE97B574C09}" type="datetime'''''''''С''''тр''а''''''''''''''''''т''ег''''''''и''я'''''''''">
              <a:rPr lang="ru-RU" altLang="en-US" sz="1400" smtClean="0">
                <a:solidFill>
                  <a:schemeClr val="tx1"/>
                </a:solidFill>
              </a:rPr>
              <a:pPr/>
              <a:t>Стратегия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108481D3-5A18-425B-8EC3-71D4A075D397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4419600" y="5925000"/>
            <a:ext cx="781050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AC1D61B7-69F5-4735-842A-78A61906C914}" type="datetime'''T''''''''''''''o''p''''-''''''''''do''''''''''''wn'''''''">
              <a:rPr lang="en-US" altLang="en-US" sz="1400" smtClean="0">
                <a:solidFill>
                  <a:schemeClr val="tx1"/>
                </a:solidFill>
              </a:rPr>
              <a:pPr/>
              <a:t>Top-down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BB4B8D96-026B-4030-A5BB-3CA1097698BD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6924675" y="5925000"/>
            <a:ext cx="260350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3B8CBB3-245E-47B9-9624-DA5775C8A8C1}" type="datetime'''''''''''''''''''''''''''''B''''''''''''''''''U'''">
              <a:rPr lang="en-US" altLang="en-US" sz="1400" smtClean="0">
                <a:solidFill>
                  <a:schemeClr val="tx1"/>
                </a:solidFill>
              </a:rPr>
              <a:pPr/>
              <a:t>BU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3F2FAE8D-A479-415D-AE61-D7F83B3F9C4E}"/>
              </a:ext>
            </a:extLst>
          </p:cNvPr>
          <p:cNvSpPr txBox="1"/>
          <p:nvPr/>
        </p:nvSpPr>
        <p:spPr>
          <a:xfrm>
            <a:off x="363538" y="4378512"/>
            <a:ext cx="1425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CAPEX</a:t>
            </a:r>
          </a:p>
        </p:txBody>
      </p:sp>
      <p:graphicFrame>
        <p:nvGraphicFramePr>
          <p:cNvPr id="220" name="Chart FCF">
            <a:extLst>
              <a:ext uri="{FF2B5EF4-FFF2-40B4-BE49-F238E27FC236}"/>
            </a:extLst>
          </p:cNvPr>
          <p:cNvGraphicFramePr/>
          <p:nvPr>
            <p:custDataLst>
              <p:tags r:id="rId90"/>
            </p:custDataLst>
            <p:extLst>
              <p:ext uri="{D42A27DB-BD31-4B8C-83A1-F6EECF244321}">
                <p14:modId xmlns:p14="http://schemas.microsoft.com/office/powerpoint/2010/main" val="2014399938"/>
              </p:ext>
            </p:extLst>
          </p:nvPr>
        </p:nvGraphicFramePr>
        <p:xfrm>
          <a:off x="1358900" y="4990000"/>
          <a:ext cx="6902450" cy="9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0"/>
          </a:graphicData>
        </a:graphic>
      </p:graphicFrame>
      <p:sp>
        <p:nvSpPr>
          <p:cNvPr id="221" name="TextBox FCF">
            <a:extLst>
              <a:ext uri="{FF2B5EF4-FFF2-40B4-BE49-F238E27FC236}"/>
            </a:extLst>
          </p:cNvPr>
          <p:cNvSpPr txBox="1"/>
          <p:nvPr/>
        </p:nvSpPr>
        <p:spPr>
          <a:xfrm>
            <a:off x="363538" y="5293512"/>
            <a:ext cx="1425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FCF</a:t>
            </a:r>
          </a:p>
        </p:txBody>
      </p:sp>
    </p:spTree>
    <p:extLst>
      <p:ext uri="{BB962C8B-B14F-4D97-AF65-F5344CB8AC3E}">
        <p14:creationId xmlns:p14="http://schemas.microsoft.com/office/powerpoint/2010/main" val="9086978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91057693-9C99-4EA1-81CB-0B3512712F6A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02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2" name="think-cell Slide" r:id="rId38" imgW="395" imgH="394" progId="TCLayout.ActiveDocument.1">
                  <p:embed/>
                </p:oleObj>
              </mc:Choice>
              <mc:Fallback>
                <p:oleObj name="think-cell Slide" r:id="rId38" imgW="395" imgH="394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1057693-9C99-4EA1-81CB-0B3512712F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9739A8-6D06-4296-15BC-B08991E1FE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7D41D6-7756-D84E-A787-9DAD2BF0F149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C5617-DF71-AC57-5D39-E98D239B02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Net Revenue +3,2 млрд руб.: форматам передаём 2,3 млрд руб. прироста</a:t>
            </a:r>
            <a:endParaRPr lang="ru-RU" dirty="0"/>
          </a:p>
        </p:txBody>
      </p:sp>
      <p:sp>
        <p:nvSpPr>
          <p:cNvPr id="104" name="Shape 104"/>
          <p:cNvSpPr txBox="1"/>
          <p:nvPr/>
        </p:nvSpPr>
        <p:spPr>
          <a:xfrm>
            <a:off x="368300" y="1066800"/>
            <a:ext cx="7810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600" b="1" dirty="0">
                <a:solidFill>
                  <a:srgbClr val="000000"/>
                </a:solidFill>
              </a:rPr>
              <a:t>Net</a:t>
            </a:r>
            <a:r>
              <a:rPr lang="ru-RU" sz="1600" b="1" dirty="0">
                <a:solidFill>
                  <a:srgbClr val="000000"/>
                </a:solidFill>
              </a:rPr>
              <a:t> </a:t>
            </a:r>
            <a:r>
              <a:rPr lang="ru-RU" sz="1600" b="1" dirty="0" err="1">
                <a:solidFill>
                  <a:srgbClr val="000000"/>
                </a:solidFill>
              </a:rPr>
              <a:t>Revenue</a:t>
            </a:r>
            <a:r>
              <a:rPr lang="ru-RU" sz="1600" b="1" dirty="0">
                <a:solidFill>
                  <a:srgbClr val="000000"/>
                </a:solidFill>
              </a:rPr>
              <a:t>: прогноз 2026 → BU 2027, млн руб.</a:t>
            </a:r>
          </a:p>
        </p:txBody>
      </p:sp>
      <p:sp>
        <p:nvSpPr>
          <p:cNvPr id="105" name="Shape 105"/>
          <p:cNvSpPr/>
          <p:nvPr/>
        </p:nvSpPr>
        <p:spPr>
          <a:xfrm>
            <a:off x="368300" y="1397000"/>
            <a:ext cx="78105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0" name="Shape 110"/>
          <p:cNvSpPr txBox="1"/>
          <p:nvPr/>
        </p:nvSpPr>
        <p:spPr>
          <a:xfrm>
            <a:off x="8432800" y="1066800"/>
            <a:ext cx="33909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ru-RU" sz="1600" b="1" dirty="0">
                <a:solidFill>
                  <a:srgbClr val="000000"/>
                </a:solidFill>
              </a:rPr>
              <a:t>Комментарии</a:t>
            </a:r>
          </a:p>
        </p:txBody>
      </p:sp>
      <p:sp>
        <p:nvSpPr>
          <p:cNvPr id="111" name="Shape 111"/>
          <p:cNvSpPr/>
          <p:nvPr/>
        </p:nvSpPr>
        <p:spPr>
          <a:xfrm>
            <a:off x="8432800" y="1397000"/>
            <a:ext cx="3390900" cy="31750"/>
          </a:xfrm>
          <a:prstGeom prst="rect">
            <a:avLst/>
          </a:prstGeom>
          <a:solidFill>
            <a:srgbClr val="FF452C"/>
          </a:solidFill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endParaRPr lang="ru-RU" sz="1200"/>
          </a:p>
        </p:txBody>
      </p:sp>
      <p:sp>
        <p:nvSpPr>
          <p:cNvPr id="112" name="Shape 112"/>
          <p:cNvSpPr txBox="1"/>
          <p:nvPr/>
        </p:nvSpPr>
        <p:spPr>
          <a:xfrm>
            <a:off x="8432800" y="1524000"/>
            <a:ext cx="3390900" cy="457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Net Revenue +3 152 млн руб. (+33%): </a:t>
            </a:r>
            <a:r>
              <a:rPr lang="ru-RU" sz="1200" dirty="0">
                <a:solidFill>
                  <a:srgbClr val="000000"/>
                </a:solidFill>
              </a:rPr>
              <a:t xml:space="preserve">прирост выручки 4 154 за вычетом роста COGS на 1 002 — трафик DMP, агентства и креаторы растут вместе с выручкой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72% прироста — APP и In-store: </a:t>
            </a:r>
            <a:r>
              <a:rPr lang="ru-RU" sz="1200" dirty="0">
                <a:solidFill>
                  <a:srgbClr val="000000"/>
                </a:solidFill>
              </a:rPr>
              <a:t xml:space="preserve">полный год нового прайса, рост DAC на 18% и полный год оборудования, введённого в 2026 г.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Внешние деньги вне КУ +471: </a:t>
            </a:r>
            <a:r>
              <a:rPr lang="ru-RU" sz="1200" dirty="0">
                <a:solidFill>
                  <a:srgbClr val="000000"/>
                </a:solidFill>
              </a:rPr>
              <a:t xml:space="preserve">RMN и Content factory — бренд-бюджеты и внешние рекламодатели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Форматам — 2 271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для top-down из прироста выручки вычитаем весь COGS 2027 (1 883); это на 271 выше стрейча 2 000</a:t>
            </a:r>
          </a:p>
          <a:p>
            <a:pPr marL="171450" indent="-171450" algn="l">
              <a:spcBef>
                <a:spcPts val="600"/>
              </a:spcBef>
              <a:buFont typeface="Arial"/>
              <a:buChar char="•"/>
            </a:pPr>
            <a:r>
              <a:rPr lang="ru-RU" sz="1200" b="1" dirty="0">
                <a:solidFill>
                  <a:srgbClr val="000000"/>
                </a:solidFill>
              </a:rPr>
              <a:t>EBITDA 500 млн руб.: </a:t>
            </a:r>
            <a:r>
              <a:rPr lang="ru-RU" sz="1200" dirty="0">
                <a:solidFill>
                  <a:srgbClr val="000000"/>
                </a:solidFill>
              </a:rPr>
              <a:t xml:space="preserve">2 271 − OPEX 1 771 — на уровне top-down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30F72A2-FE0F-4DFD-8311-31034E251B8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A0C0CA-3FFD-4552-AD0A-DD27172273E5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038225" y="2441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74C52C-DAC1-4077-BA68-5F72830A3925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906588" y="224472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D1EE0C3-1326-4CEE-B902-3BD0F63C28A2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774950" y="20478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C3D736F-F9BF-410A-8CFF-1BC457BA2C3A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3643313" y="1966913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7BC2C1B-6955-4A9C-BC8E-796E0899875C}"/>
              </a:ext>
            </a:extLst>
          </p:cNvPr>
          <p:cNvCxnSpPr/>
          <p:nvPr>
            <p:custDataLst>
              <p:tags r:id="rId7"/>
            </p:custDataLst>
          </p:nvPr>
        </p:nvCxnSpPr>
        <p:spPr bwMode="auto">
          <a:xfrm>
            <a:off x="4511675" y="1933575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5E90914-DABF-421D-878B-A5F072F1FA05}"/>
              </a:ext>
            </a:extLst>
          </p:cNvPr>
          <p:cNvCxnSpPr/>
          <p:nvPr>
            <p:custDataLst>
              <p:tags r:id="rId8"/>
            </p:custDataLst>
          </p:nvPr>
        </p:nvCxnSpPr>
        <p:spPr bwMode="auto">
          <a:xfrm>
            <a:off x="5380038" y="190500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3381226-5DEF-4659-ABD8-002D0D8F8136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>
            <a:off x="6248400" y="1893888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9FA2322-0634-4B74-9727-8D1E0A5131A0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7116763" y="2025650"/>
            <a:ext cx="38576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728172D1-4FC4-43EC-8711-7634DD7E4F6F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765800" y="1893888"/>
            <a:ext cx="482600" cy="11112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6" name="Chart 95">
            <a:extLst>
              <a:ext uri="{FF2B5EF4-FFF2-40B4-BE49-F238E27FC236}">
                <a16:creationId xmlns:a16="http://schemas.microsoft.com/office/drawing/2014/main" id="{126EA46A-8032-41ED-87D4-F9BE5427B627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5581187"/>
              </p:ext>
            </p:extLst>
          </p:nvPr>
        </p:nvGraphicFramePr>
        <p:xfrm>
          <a:off x="280988" y="1587500"/>
          <a:ext cx="7980362" cy="2406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"/>
          </a:graphicData>
        </a:graphic>
      </p:graphicFrame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68A9264-B99A-4624-96F1-985B79A354A0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 flipV="1">
            <a:off x="796925" y="1617663"/>
            <a:ext cx="0" cy="5683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0BE39FB5-56B7-4EC1-88E2-3D6E532AAC97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796924" y="1617663"/>
            <a:ext cx="694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099DA45-3174-4790-8FDB-78C41F848E5E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7743825" y="1617663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D2BE9394-D771-4053-AECC-8F102DEDF0A9}"/>
              </a:ext>
            </a:extLst>
          </p:cNvPr>
          <p:cNvSpPr/>
          <p:nvPr>
            <p:custDataLst>
              <p:tags r:id="rId16"/>
            </p:custDataLst>
          </p:nvPr>
        </p:nvSpPr>
        <p:spPr bwMode="auto">
          <a:xfrm>
            <a:off x="4222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DC47496E-3E83-4248-9064-3F7C75DB6BE7}" type="datetime'N''''e''t ''R''''eve''n''ue'''' ''2''0''''''26'''''''''''''''">
              <a:rPr lang="en-US" altLang="en-US" sz="1000" smtClean="0">
                <a:solidFill>
                  <a:schemeClr val="tx1"/>
                </a:solidFill>
              </a:rPr>
              <a:pPr/>
              <a:t>Net Revenue 2026</a:t>
            </a:fld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56EB64-3009-4648-A445-394BB1450A7D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1533526" y="3730625"/>
            <a:ext cx="26511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6D2482-0A10-484A-A5F9-2D1F3344E3A4}" type="datetime'''''A''''''''''P''''P'''">
              <a:rPr lang="en-US" altLang="en-US" sz="1000" smtClean="0">
                <a:solidFill>
                  <a:schemeClr val="tx1"/>
                </a:solidFill>
              </a:rPr>
              <a:pPr/>
              <a:t>APP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1C730-AF14-47DC-8FC7-D192A94BE1E3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130425" y="3730625"/>
            <a:ext cx="806450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F25B5F5-4240-4170-AD1A-D17F999FCB93}" type="datetime'''''''''''''In-''s''''''''tore d''i''''''g''i''''t''''''al'''">
              <a:rPr lang="en-US" altLang="en-US" sz="1000" smtClean="0">
                <a:solidFill>
                  <a:schemeClr val="tx1"/>
                </a:solidFill>
              </a:rPr>
              <a:pPr/>
              <a:t>In-store digital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2147B3-B4F4-4511-AFC1-3C8A5396AF22}"/>
              </a:ext>
            </a:extLst>
          </p:cNvPr>
          <p:cNvSpPr/>
          <p:nvPr>
            <p:custDataLst>
              <p:tags r:id="rId19"/>
            </p:custDataLst>
          </p:nvPr>
        </p:nvSpPr>
        <p:spPr bwMode="gray">
          <a:xfrm>
            <a:off x="3228975" y="1911350"/>
            <a:ext cx="346075" cy="19208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35FC9F9-7067-43A7-93EE-45EBF20F93C6}" type="datetime'''''''''''''''''''''''''''''6''''''''13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613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14D74-8BD3-40DB-A2C4-E6145A3719D7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3000375" y="3730625"/>
            <a:ext cx="804863" cy="152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2274E93-69C3-4FF8-9873-4F0F8F3F024A}" type="datetime'D''''M''P'''' ''''''''''+ ''''''O''n''''''''lin''e'''''">
              <a:rPr lang="en-US" altLang="en-US" sz="1000" smtClean="0">
                <a:solidFill>
                  <a:schemeClr val="tx1"/>
                </a:solidFill>
              </a:rPr>
              <a:pPr/>
              <a:t>DMP + Online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D22701-A81A-40B8-AADF-BA9B7DC760C4}"/>
              </a:ext>
            </a:extLst>
          </p:cNvPr>
          <p:cNvSpPr/>
          <p:nvPr>
            <p:custDataLst>
              <p:tags r:id="rId21"/>
            </p:custDataLst>
          </p:nvPr>
        </p:nvSpPr>
        <p:spPr bwMode="gray">
          <a:xfrm>
            <a:off x="4097338" y="1854200"/>
            <a:ext cx="346075" cy="19208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5F2A22BB-8A48-4437-B4B7-21D62FF45338}" type="datetime'''''2''5''8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258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DFF5D71-6818-4FD3-8428-5D0B7A129E70}"/>
              </a:ext>
            </a:extLst>
          </p:cNvPr>
          <p:cNvSpPr/>
          <p:nvPr>
            <p:custDataLst>
              <p:tags r:id="rId22"/>
            </p:custDataLst>
          </p:nvPr>
        </p:nvSpPr>
        <p:spPr bwMode="auto">
          <a:xfrm>
            <a:off x="3879850" y="3730625"/>
            <a:ext cx="78105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0C1CD01-397B-4881-A9F8-9EEEFADD7C00}" type="datetime'''''''''''RMN'' ''''(брен''''''''д''-бюдже''ты'''''''''''''')'">
              <a:rPr lang="en-US" altLang="en-US" sz="1000" smtClean="0">
                <a:solidFill>
                  <a:schemeClr val="tx1"/>
                </a:solidFill>
              </a:rPr>
              <a:pPr/>
              <a:t>RMN (бренд-бюджеты)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C76E93-E494-4848-9C53-72F4781224E5}"/>
              </a:ext>
            </a:extLst>
          </p:cNvPr>
          <p:cNvSpPr/>
          <p:nvPr>
            <p:custDataLst>
              <p:tags r:id="rId23"/>
            </p:custDataLst>
          </p:nvPr>
        </p:nvSpPr>
        <p:spPr bwMode="gray">
          <a:xfrm>
            <a:off x="4965700" y="1824038"/>
            <a:ext cx="346075" cy="19208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F8D8C69B-3EDD-410D-8F6E-2E2A5DC8CAB4}" type="datetime'''''''''''''''''''''''''''2''''1''''''''''''''''''''''''''3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213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050553-D068-433E-B342-CB70895B0A51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4911725" y="3730625"/>
            <a:ext cx="454025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E78AD9D9-7DAE-48B6-BA76-9B9FCA6055F4}" type="datetime'Con''ten''t'' ''fac''''''''''''''to''ry'', в''''н''''е''шн.'''">
              <a:rPr lang="en-US" altLang="en-US" sz="1000" smtClean="0">
                <a:solidFill>
                  <a:schemeClr val="tx1"/>
                </a:solidFill>
              </a:rPr>
              <a:pPr/>
              <a:t>Content factory, внешн.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B7E2EDC-6D75-4402-8CDD-57F62219E889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5883275" y="1803400"/>
            <a:ext cx="247650" cy="192088"/>
          </a:xfrm>
          <a:prstGeom prst="rect">
            <a:avLst/>
          </a:prstGeom>
          <a:solidFill>
            <a:srgbClr val="FF452C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CCA5B5EA-1ED8-4216-B3AA-021B03483B41}" type="datetime'8''''''''''''''''''''''5''''''''''''''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85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5D0130D-64AD-46DD-BF85-6429D7A9D067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5748338" y="3730625"/>
            <a:ext cx="51911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81ED58F-2C72-4486-8572-0DE97BD7EB0F}" type="datetime'DMP'' ''+'''''' A''''''n''al''''''''y''''''''ti''''''''c''''s'">
              <a:rPr lang="en-US" altLang="en-US" sz="1000" smtClean="0">
                <a:solidFill>
                  <a:schemeClr val="tx1"/>
                </a:solidFill>
              </a:rPr>
              <a:pPr/>
              <a:t>DMP + Analytics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B4735F-0064-4340-AFF3-ABD79DA05457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6480175" y="3730625"/>
            <a:ext cx="792163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323747DC-FF56-4FA3-BF3B-32D85803AB95}" type="datetime'C''''OG''S (''по''ку''''''''пка ''тра''фи''ка'''''', СК)'''">
              <a:rPr lang="en-US" altLang="en-US" sz="1000" smtClean="0">
                <a:solidFill>
                  <a:schemeClr val="tx1"/>
                </a:solidFill>
              </a:rPr>
              <a:pPr/>
              <a:t>Рост COGS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BAAE25-1ACD-4CAE-9131-B06BE0DC4960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7369174" y="3730625"/>
            <a:ext cx="7493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0C2B4F58-FDDE-4BF0-9BD3-B6FD35059D4C}" type="datetime'N''''e''''t'''' ''Re''''v''enu''e'''''' 202''''''''''''7'''''">
              <a:rPr lang="en-US" altLang="en-US" sz="1000" smtClean="0">
                <a:solidFill>
                  <a:schemeClr val="tx1"/>
                </a:solidFill>
              </a:rPr>
              <a:pPr/>
              <a:t>Net Revenue 2027</a:t>
            </a:fld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33F46313-3E4C-474D-9870-101546782F14}"/>
              </a:ext>
            </a:extLst>
          </p:cNvPr>
          <p:cNvSpPr/>
          <p:nvPr>
            <p:custDataLst>
              <p:tags r:id="rId29"/>
            </p:custDataLst>
          </p:nvPr>
        </p:nvSpPr>
        <p:spPr bwMode="gray">
          <a:xfrm>
            <a:off x="6580000" y="1863725"/>
            <a:ext cx="600000" cy="192088"/>
          </a:xfrm>
          <a:prstGeom prst="rect">
            <a:avLst/>
          </a:prstGeom>
          <a:solidFill>
            <a:srgbClr val="595959"/>
          </a:solidFill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ctr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3B7EB216-4C58-4085-A38E-5AE46D92D574}" type="datetime'''''''''''''1'''' ''''''0''''''''0''''''''''''''''''2'">
              <a:rPr lang="en-US" altLang="en-US" sz="1400" smtClean="0">
                <a:solidFill>
                  <a:schemeClr val="bg1"/>
                </a:solidFill>
                <a:effectLst/>
              </a:rPr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−1 002</a:t>
            </a:fld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84251CF7-6DCB-4BCE-B267-B7281EE26580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3884614" y="1466850"/>
            <a:ext cx="773113" cy="301625"/>
          </a:xfrm>
          <a:prstGeom prst="ellipse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950565F-5C16-460E-A4A0-BC22C8BA9C65}" type="datetime'+''''''''''''''''''''''''''''''3'' ''1''''''''''''5''3'''">
              <a:rPr lang="en-US" altLang="en-US" sz="1400" b="1" smtClean="0">
                <a:solidFill>
                  <a:schemeClr val="tx1"/>
                </a:solidFill>
                <a:effectLst/>
              </a:rPr>
              <a:pPr/>
              <a:t>+3 152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77BA2201-94C2-432F-BA03-60D57D54065E}"/>
              </a:ext>
            </a:extLst>
          </p:cNvPr>
          <p:cNvSpPr/>
          <p:nvPr/>
        </p:nvSpPr>
        <p:spPr>
          <a:xfrm rot="5400000">
            <a:off x="3773279" y="1749822"/>
            <a:ext cx="242515" cy="4977605"/>
          </a:xfrm>
          <a:prstGeom prst="rightBrace">
            <a:avLst>
              <a:gd name="adj1" fmla="val 4124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0F42259-1005-4F7F-9681-8337E5484A7A}"/>
              </a:ext>
            </a:extLst>
          </p:cNvPr>
          <p:cNvSpPr txBox="1"/>
          <p:nvPr/>
        </p:nvSpPr>
        <p:spPr>
          <a:xfrm>
            <a:off x="2847710" y="4374653"/>
            <a:ext cx="2200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Прирост выручки 4 154 млн руб.</a:t>
            </a:r>
            <a:endParaRPr lang="en-US" sz="1400" b="1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9808A58-728D-41D4-877C-4C22B3A35598}"/>
              </a:ext>
            </a:extLst>
          </p:cNvPr>
          <p:cNvSpPr/>
          <p:nvPr/>
        </p:nvSpPr>
        <p:spPr>
          <a:xfrm>
            <a:off x="3216799" y="4861564"/>
            <a:ext cx="1447980" cy="391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0" i="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−1 883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6DACF5A-4149-4572-9017-B1007DED6A26}"/>
              </a:ext>
            </a:extLst>
          </p:cNvPr>
          <p:cNvSpPr/>
          <p:nvPr/>
        </p:nvSpPr>
        <p:spPr>
          <a:xfrm>
            <a:off x="3190954" y="5510212"/>
            <a:ext cx="1447980" cy="391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2 271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8BE7C5-9C29-4AA8-8623-6BC0BB8030B7}"/>
              </a:ext>
            </a:extLst>
          </p:cNvPr>
          <p:cNvSpPr txBox="1"/>
          <p:nvPr/>
        </p:nvSpPr>
        <p:spPr>
          <a:xfrm>
            <a:off x="647272" y="4844543"/>
            <a:ext cx="2513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Весь COGS 2027 г. (трафик DMP, агентства, креаторы)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25AF88C-9A8C-4E77-83F8-8A05AB9526AD}"/>
              </a:ext>
            </a:extLst>
          </p:cNvPr>
          <p:cNvSpPr txBox="1"/>
          <p:nvPr/>
        </p:nvSpPr>
        <p:spPr>
          <a:xfrm>
            <a:off x="647272" y="5580062"/>
            <a:ext cx="2513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dirty="0"/>
              <a:t>Прирост Net Revenue для форматов</a:t>
            </a:r>
          </a:p>
        </p:txBody>
      </p:sp>
      <p:graphicFrame>
        <p:nvGraphicFramePr>
          <p:cNvPr id="128" name="Chart 127">
            <a:extLst>
              <a:ext uri="{FF2B5EF4-FFF2-40B4-BE49-F238E27FC236}">
                <a16:creationId xmlns:a16="http://schemas.microsoft.com/office/drawing/2014/main" id="{A1959D49-ADF1-4CCC-9705-83955806339F}"/>
              </a:ext>
            </a:extLst>
          </p:cNvPr>
          <p:cNvGraphicFramePr/>
          <p:nvPr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725554185"/>
              </p:ext>
            </p:extLst>
          </p:nvPr>
        </p:nvGraphicFramePr>
        <p:xfrm>
          <a:off x="7172325" y="4068763"/>
          <a:ext cx="1230313" cy="2333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"/>
          </a:graphicData>
        </a:graphic>
      </p:graphicFrame>
      <p:sp>
        <p:nvSpPr>
          <p:cNvPr id="92" name="Rectangle 91">
            <a:extLst>
              <a:ext uri="{FF2B5EF4-FFF2-40B4-BE49-F238E27FC236}">
                <a16:creationId xmlns:a16="http://schemas.microsoft.com/office/drawing/2014/main" id="{4EA8DF50-76D7-440E-B0A0-A931116268F9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7583488" y="6154738"/>
            <a:ext cx="406400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8CC85B3A-31A2-46C4-AE28-88D2A3BD0E9B}" type="datetime'2''''''''02''''''''''''4'''''''''''''''''''''''''''''''">
              <a:rPr lang="en-US" altLang="en-US" sz="1400" smtClean="0">
                <a:solidFill>
                  <a:schemeClr val="tx1"/>
                </a:solidFill>
                <a:effectLst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2027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AA827B4-0760-45E7-965E-EA2EDF89B42F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7146925" y="5030000"/>
            <a:ext cx="2174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F69D8A7-3850-4BE7-B079-7304755D28F7}" type="datetime'''''''''''К''''У'''''''''''''''''''''''''''''''''''''">
              <a:rPr lang="ru-RU" altLang="en-US" sz="1400" smtClean="0">
                <a:solidFill>
                  <a:schemeClr val="tx1"/>
                </a:solidFill>
              </a:rPr>
              <a:pPr/>
              <a:t>КУ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B2DA83C-CBDB-4AE6-AB58-E3891A8BBB6A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5394325" y="5890000"/>
            <a:ext cx="1970088" cy="21272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spcBef>
                <a:spcPct val="0"/>
              </a:spcBef>
              <a:spcAft>
                <a:spcPct val="0"/>
              </a:spcAft>
            </a:pPr>
            <a:fld id="{76E2A48D-1BC0-44E2-8D30-D565FC4DF763}" type="datetime'''''Внешни''''''е'' де''н''ь''г''и'''''''' вн''е'''''''' КУ'">
              <a:rPr lang="ru-RU" altLang="en-US" sz="1400" smtClean="0">
                <a:solidFill>
                  <a:schemeClr val="tx1"/>
                </a:solidFill>
              </a:rPr>
              <a:pPr/>
              <a:t>Внешние деньги вне КУ</a:t>
            </a:fld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16C6351-0019-48D1-A17F-D388CC74FD4C}"/>
              </a:ext>
            </a:extLst>
          </p:cNvPr>
          <p:cNvSpPr/>
          <p:nvPr>
            <p:custDataLst>
              <p:tags r:id="rId35"/>
            </p:custDataLst>
          </p:nvPr>
        </p:nvSpPr>
        <p:spPr bwMode="gray">
          <a:xfrm>
            <a:off x="7712075" y="4157663"/>
            <a:ext cx="149225" cy="19208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25400" tIns="0" rIns="25400" bIns="0" rtlCol="0" anchor="b"/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156CFD45-E9AD-4A59-B922-E5201AE65AAF}" type="datetime'''''''''''''''''''''''''''''9'''''">
              <a:rPr lang="en-US" altLang="en-US" sz="1400" smtClean="0">
                <a:solidFill>
                  <a:schemeClr val="tx1"/>
                </a:solidFill>
              </a:rPr>
              <a:pPr/>
              <a:t>4 154</a:t>
            </a:fld>
            <a:endParaRPr 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313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3UHfhn1pAsh6QBFs5UI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ZTV8eULbt7VG2VsnhL6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r7oWst2r6HESSQlqK3K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pNtV6plIGmhMD0lqp1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LMbzgyooDVuESNMqXbh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hHhRUfd.EyaXFhRTxKI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woZSJGcdwQXrvmnYs6h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.a803zSypTgeXK_ZO3_i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Qj1hyP0kIqFkyHi73pP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cgp27EmOcptahNdBbaS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mW_ZlMuPnItWT4w29m3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iCsB21IViBk0X0pKqFn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mlM6cSJdvhrFj268TIeS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7j2fjdxQUmkIn_fQ_N7M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.9T4wFTTOfhEqZtpG11I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T.O8WYus4wrJpw2Jcd8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FnZ7iwEquVKljgOXvXi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TyGu6jF43sjMyU.c.TD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1HXxbZMkYPYm.cJYrDB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TPC_h1.Y82YV6sl5K6CN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BprxKuLqXXISPio1iUh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UYQbZU1a22wlqjEL0GHf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2c8dvgVOK2aqHBvsduo9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Bpuwd9HQ6svUbC2vkfxU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EyJlpaMR_UApzHka.giQ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mvyL3PuwCijBQDu57PBY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_y7S1cuJ0o_fUu_R37F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12l8Uvk1C9V6xo_kDp.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Vxy.glcdTgg.6rN.HbW_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Qv5Siv6P2qkVuDkFlGi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U0jH9IHYzOk3EcycC1r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CQwIxEQ0DmEvCNNNnUZ4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9TtRRIDy.E_8ES49IlLp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Bz9xZtYdbwYi1rd57d_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rW5Ckk9IIya3eUOXNw.R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3QWbWfLavtgk2DAlFNdA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I_pyn_25DkfVeRnNuH7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.gwHrjKO5yQqai8n5UoZA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UNYE_lb4cyWhvXk0PC3X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ul88uh9SY3YI5i2zgnc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q4nm.UWOJWCaSrha5kdg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3Gu4FKbpgJvtxx4n3bJ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VSZpIFihVlKPUswbckkw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XHYkLK79loizqc5Jj2R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_PWx_VRCtrcrubJ3s5b8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z9bTGNbQ2Q8YaWxXD.Opw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.nO.nCM8fKPbiPC9uC28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omaLCwjdrSENiUBRcp89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ty7mdTO3LWWBVsemF3g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jC3UMNQN7JNQ99vZPOvw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O74yTO8Uay_BO5VN.wN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D65n4_3AKo_kd2W7q02A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Chs_XHtoIKQSk3DEZTg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xndNDiQkOC2Dw732pXs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Hip06KFGQ8t.JYFV.0Yw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rtd0lF3fVdUzwCD2w7qC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AklxPwvv.hbifrNwwrX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vXDZc0daG3T8C._cS4LQ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B58Jwmp2kz0ufzNjI.I4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yNQWBt.tV3u7ISl6Yaw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JEAhlID8bFTf7DyiYxO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gTm.5S5S5.KuDzlyShD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yHdHEflJCOSn4KtZY1oRQ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LUYz3wq7.4gd8dE3btH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d8KVsNoIj.LAb0FAPmz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4HCmqO8W7n5wwNnhacjN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_INeQz_4BC1X8DPHCVa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wnyFuutbPWpA2Q.1piF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bqVxZKhqZJ5jp8x.FXzu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ZUpFPbw1mjmrGHaxJ9K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6u1spz0Dpg43Sysp45c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Kavfu9w8O.6smfyo6RX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ueT4VoSmn5jhfhMUeGC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Pe54zukJl5fA4kYR3cA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uqT87YaQZS2.pVPI4Za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h6aFhD3MxA3fS5L_ljZO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zNv4WwbX1igzybM9o.3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3ECwPjEXoM6VPgRiEzX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PavhpQ5ztiampnUwhA2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uLTRsYlHM4O9crRJ.VU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0t_J6vzglxSIqZXQrUSJ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HTNugafa.Ew02arbUnk3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ZhGnc4YthrGngoQoknkX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Yxmz2OgDMcuVAnkC3t2B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d1z39SDwVgS3mYXLlOc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FRJKaIYDSu0ePNBu_Dq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d__RAXuM6S7EAnU_onar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biZ3TtJS3ARdo_s6ro_Z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UCwRjSoqOorC.v9z3kxl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YLvUR6wMLGuL5LZY0Ncc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_C.eIyaDUM8ydEQEZKxg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.7pshI71BoUW13911fG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6mFvShLEgz5XOGv_BrSHw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uDh47R_sM7EuYMIoJd.3Q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OsNcjorQ.DzdZLaO7MsQ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baOVX0XMpDydhF2FqMEQ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d.2PK30xJbWjoukqcz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evVgkIxdBQYJTAkftoBu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3oxKLg6EOU12C9B2umu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..Evd_28hFwbfemLJ2VF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rOm1NfkKxodZEbaxYJLp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yfK8wSXJseip1tG1RPE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NI6.5qnkwVDI8QSzHnk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SfoDBbEaALWYuItqSaX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xoJv66beMf68AZOLTt.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xzK.zPZ1Vodv1bJxVTt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aD1cZSf6Bal0PLbITXmV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vWRj3u3iSTrkY5TCFTiQ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KhqlFJkXG.jZ2XVNk0z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ouS.uCHamgDlgun46tb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BcF8VnmjYJh5ngmXvDD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US7HYKWGLgVJbTMdZ0r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kK8Vzk88MMFnUxb_trarQ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WYagZT95K6sKkt3.6O6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hjPZp4e6UBt7QbeXuh_Y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F029pkKVmzXLzpMnP_wl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ZZBsvzTUWv0NfFkSnIZ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so15TXm5ycDOzDHUuoH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8Ve12zTpUHrKqnqfE3KH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dtQ56p60OYMlFH_iFBD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qsiGz66Iip8PPJJO42X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IX3L1mXDyarEH1_7olzl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h._afNMdejJ601tZUY.r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yp.gvf4yCnxpzv.jYnGy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7WblZmppi9_LvZ5K2BVX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TDoiBYXxsSMYzgVZtokd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t0ed5CfKncGTFtJOEAwQ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3_FPBjb32dK0nkXbBN1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_sGnTXdb3EPT.OKpr6rA"/>
</p:tagLst>
</file>

<file path=ppt/theme/theme1.xml><?xml version="1.0" encoding="utf-8"?>
<a:theme xmlns:a="http://schemas.openxmlformats.org/drawingml/2006/main" name="7_Тема Office">
  <a:themeElements>
    <a:clrScheme name="Пользовательские 5">
      <a:dk1>
        <a:srgbClr val="000000"/>
      </a:dk1>
      <a:lt1>
        <a:srgbClr val="FFFFFF"/>
      </a:lt1>
      <a:dk2>
        <a:srgbClr val="FF452C"/>
      </a:dk2>
      <a:lt2>
        <a:srgbClr val="FFFEFF"/>
      </a:lt2>
      <a:accent1>
        <a:srgbClr val="FF452C"/>
      </a:accent1>
      <a:accent2>
        <a:srgbClr val="999999"/>
      </a:accent2>
      <a:accent3>
        <a:srgbClr val="FEA296"/>
      </a:accent3>
      <a:accent4>
        <a:srgbClr val="CCCCCC"/>
      </a:accent4>
      <a:accent5>
        <a:srgbClr val="FE7460"/>
      </a:accent5>
      <a:accent6>
        <a:srgbClr val="E4E4E4"/>
      </a:accent6>
      <a:hlink>
        <a:srgbClr val="0963FA"/>
      </a:hlink>
      <a:folHlink>
        <a:srgbClr val="9FD1F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5813DC4-6E6A-334C-8A92-F7C8F4D7664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6e2f2751-92b3-472b-badd-636cf7a347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8341</Words>
  <Application>Microsoft Macintosh PowerPoint</Application>
  <PresentationFormat>Widescreen</PresentationFormat>
  <Paragraphs>1435</Paragraphs>
  <Slides>43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7_Тема Office</vt:lpstr>
      <vt:lpstr>think-cell Slide</vt:lpstr>
      <vt:lpstr>Слайд think-cell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Бабкин Денис Владимирович</dc:creator>
  <cp:keywords/>
  <dc:description/>
  <cp:lastModifiedBy>Бабкин Денис Владимирович</cp:lastModifiedBy>
  <cp:revision>20</cp:revision>
  <dcterms:created xsi:type="dcterms:W3CDTF">2026-10-05T11:53:56Z</dcterms:created>
  <dcterms:modified xsi:type="dcterms:W3CDTF">2026-10-16T09:38:18Z</dcterms:modified>
  <cp:category/>
</cp:coreProperties>
</file>