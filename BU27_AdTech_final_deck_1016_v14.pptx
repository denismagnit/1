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tags/tag12.xml" ContentType="application/vnd.openxmlformats-officedocument.presentationml.tags+xml"/>
  <Override PartName="/ppt/notesSlides/notesSlide3.xml" ContentType="application/vnd.openxmlformats-officedocument.presentationml.notesSlide+xml"/>
  <Override PartName="/ppt/tags/tag13.xml" ContentType="application/vnd.openxmlformats-officedocument.presentationml.tags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47.xml" ContentType="application/vnd.openxmlformats-officedocument.presentationml.tags+xml"/>
  <Override PartName="/ppt/notesSlides/notesSlide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charts/chart7.xml" ContentType="application/vnd.openxmlformats-officedocument.drawingml.chart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42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14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charts/chart15.xml" ContentType="application/vnd.openxmlformats-officedocument.drawingml.chart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1"/>
  </p:notesMasterIdLst>
  <p:sldIdLst>
    <p:sldId id="345" r:id="rId2"/>
    <p:sldId id="548" r:id="rId3"/>
    <p:sldId id="2147480845" r:id="rId4"/>
    <p:sldId id="2147480846" r:id="rId5"/>
    <p:sldId id="2147480847" r:id="rId6"/>
    <p:sldId id="2147480848" r:id="rId7"/>
    <p:sldId id="2147480849" r:id="rId8"/>
    <p:sldId id="2147480850" r:id="rId9"/>
    <p:sldId id="549" r:id="rId10"/>
    <p:sldId id="550" r:id="rId11"/>
    <p:sldId id="539" r:id="rId12"/>
    <p:sldId id="507" r:id="rId13"/>
    <p:sldId id="508" r:id="rId14"/>
    <p:sldId id="537" r:id="rId15"/>
    <p:sldId id="441" r:id="rId16"/>
    <p:sldId id="509" r:id="rId17"/>
    <p:sldId id="545" r:id="rId18"/>
    <p:sldId id="460" r:id="rId19"/>
    <p:sldId id="511" r:id="rId20"/>
    <p:sldId id="530" r:id="rId21"/>
    <p:sldId id="531" r:id="rId22"/>
    <p:sldId id="514" r:id="rId23"/>
    <p:sldId id="515" r:id="rId24"/>
    <p:sldId id="516" r:id="rId25"/>
    <p:sldId id="471" r:id="rId26"/>
    <p:sldId id="546" r:id="rId27"/>
    <p:sldId id="532" r:id="rId28"/>
    <p:sldId id="533" r:id="rId29"/>
    <p:sldId id="535" r:id="rId30"/>
    <p:sldId id="365" r:id="rId31"/>
    <p:sldId id="538" r:id="rId32"/>
    <p:sldId id="412" r:id="rId33"/>
    <p:sldId id="541" r:id="rId34"/>
    <p:sldId id="415" r:id="rId35"/>
    <p:sldId id="433" r:id="rId36"/>
    <p:sldId id="366" r:id="rId37"/>
    <p:sldId id="404" r:id="rId38"/>
    <p:sldId id="483" r:id="rId39"/>
    <p:sldId id="432" r:id="rId40"/>
    <p:sldId id="475" r:id="rId41"/>
    <p:sldId id="506" r:id="rId42"/>
    <p:sldId id="489" r:id="rId43"/>
    <p:sldId id="543" r:id="rId44"/>
    <p:sldId id="484" r:id="rId45"/>
    <p:sldId id="542" r:id="rId46"/>
    <p:sldId id="468" r:id="rId47"/>
    <p:sldId id="547" r:id="rId48"/>
    <p:sldId id="2147480839" r:id="rId49"/>
    <p:sldId id="2147480841" r:id="rId50"/>
    <p:sldId id="2147480842" r:id="rId51"/>
    <p:sldId id="2147480844" r:id="rId52"/>
    <p:sldId id="430" r:id="rId53"/>
    <p:sldId id="411" r:id="rId54"/>
    <p:sldId id="408" r:id="rId55"/>
    <p:sldId id="427" r:id="rId56"/>
    <p:sldId id="421" r:id="rId57"/>
    <p:sldId id="422" r:id="rId58"/>
    <p:sldId id="424" r:id="rId59"/>
    <p:sldId id="528" r:id="rId6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E0"/>
    <a:srgbClr val="595959"/>
    <a:srgbClr val="FF452B"/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17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4455831692913381E-2"/>
          <c:y val="6.5541495754017298E-2"/>
          <c:w val="0.94616916830708664"/>
          <c:h val="0.93445858654222436"/>
        </c:manualLayout>
      </c:layou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Факт 2026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6.4532952251410758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F1-4BA8-A001-E0458BBE0912}"/>
                </c:ext>
              </c:extLst>
            </c:dLbl>
            <c:dLbl>
              <c:idx val="6"/>
              <c:layout>
                <c:manualLayout>
                  <c:x val="-2.591156201979166E-2"/>
                  <c:y val="-3.43581170423943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Лист1!$B$2:$B$13</c:f>
              <c:numCache>
                <c:formatCode>General</c:formatCode>
                <c:ptCount val="12"/>
                <c:pt idx="0">
                  <c:v>279</c:v>
                </c:pt>
                <c:pt idx="1">
                  <c:v>439</c:v>
                </c:pt>
                <c:pt idx="2">
                  <c:v>434</c:v>
                </c:pt>
                <c:pt idx="3">
                  <c:v>455</c:v>
                </c:pt>
                <c:pt idx="4">
                  <c:v>699</c:v>
                </c:pt>
                <c:pt idx="5">
                  <c:v>1199</c:v>
                </c:pt>
                <c:pt idx="6">
                  <c:v>1065</c:v>
                </c:pt>
                <c:pt idx="7">
                  <c:v>964</c:v>
                </c:pt>
                <c:pt idx="8">
                  <c:v>1011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F1-4BA8-A001-E0458BBE091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Прогноз 2026</c:v>
                </c:pt>
              </c:strCache>
            </c:strRef>
          </c:tx>
          <c:spPr>
            <a:ln w="28575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diamond"/>
            <c:size val="8"/>
            <c:spPr>
              <a:solidFill>
                <a:schemeClr val="tx2"/>
              </a:solidFill>
              <a:ln w="9525">
                <a:solidFill>
                  <a:schemeClr val="tx2"/>
                </a:solidFill>
              </a:ln>
              <a:effectLst/>
            </c:spPr>
          </c:marker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Лист1!$C$2:$C$13</c:f>
              <c:numCache>
                <c:formatCode>General</c:formatCode>
                <c:ptCount val="12"/>
                <c:pt idx="8">
                  <c:v>1011</c:v>
                </c:pt>
                <c:pt idx="9">
                  <c:v>979</c:v>
                </c:pt>
                <c:pt idx="10">
                  <c:v>1343</c:v>
                </c:pt>
                <c:pt idx="11">
                  <c:v>1764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F1-4BA8-A001-E0458BBE0912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Бюджет 2026</c:v>
                </c:pt>
              </c:strCache>
            </c:strRef>
          </c:tx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diamond"/>
            <c:size val="8"/>
            <c:spPr>
              <a:solidFill>
                <a:schemeClr val="tx1"/>
              </a:solidFill>
              <a:ln w="9525">
                <a:solidFill>
                  <a:schemeClr val="tx1">
                    <a:alpha val="97000"/>
                  </a:schemeClr>
                </a:solidFill>
              </a:ln>
              <a:effectLst/>
            </c:spPr>
          </c:marker>
          <c:dLbls>
            <c:dLbl>
              <c:idx val="0"/>
              <c:layout>
                <c:manualLayout>
                  <c:x val="-4.0480025481983976E-2"/>
                  <c:y val="2.742585777076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F1-4BA8-A001-E0458BBE0912}"/>
                </c:ext>
              </c:extLst>
            </c:dLbl>
            <c:dLbl>
              <c:idx val="2"/>
              <c:layout>
                <c:manualLayout>
                  <c:x val="-3.8293395775672451E-2"/>
                  <c:y val="-2.941539905734194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F1-4BA8-A001-E0458BBE0912}"/>
                </c:ext>
              </c:extLst>
            </c:dLbl>
            <c:dLbl>
              <c:idx val="3"/>
              <c:layout>
                <c:manualLayout>
                  <c:x val="-4.0480025481984018E-2"/>
                  <c:y val="-2.69440400648156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9F1-4BA8-A001-E0458BBE0912}"/>
                </c:ext>
              </c:extLst>
            </c:dLbl>
            <c:dLbl>
              <c:idx val="9"/>
              <c:layout>
                <c:manualLayout>
                  <c:x val="-4.3759970041451268E-2"/>
                  <c:y val="-2.323700157602649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9F1-4BA8-A001-E0458BBE091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Лист1!$A$2:$A$13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Лист1!$D$2:$D$13</c:f>
              <c:numCache>
                <c:formatCode>General</c:formatCode>
                <c:ptCount val="12"/>
                <c:pt idx="0">
                  <c:v>228</c:v>
                </c:pt>
                <c:pt idx="1">
                  <c:v>168</c:v>
                </c:pt>
                <c:pt idx="2">
                  <c:v>264</c:v>
                </c:pt>
                <c:pt idx="3">
                  <c:v>267</c:v>
                </c:pt>
                <c:pt idx="4">
                  <c:v>294</c:v>
                </c:pt>
                <c:pt idx="5">
                  <c:v>344</c:v>
                </c:pt>
                <c:pt idx="6">
                  <c:v>393</c:v>
                </c:pt>
                <c:pt idx="7">
                  <c:v>537</c:v>
                </c:pt>
                <c:pt idx="8">
                  <c:v>660</c:v>
                </c:pt>
                <c:pt idx="9">
                  <c:v>831</c:v>
                </c:pt>
                <c:pt idx="10">
                  <c:v>877</c:v>
                </c:pt>
                <c:pt idx="11">
                  <c:v>984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09F1-4BA8-A001-E0458BBE0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94981536"/>
        <c:axId val="1894979872"/>
      </c:lineChart>
      <c:catAx>
        <c:axId val="1894981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894979872"/>
        <c:crosses val="autoZero"/>
        <c:auto val="1"/>
        <c:lblAlgn val="ctr"/>
        <c:lblOffset val="100"/>
        <c:noMultiLvlLbl val="0"/>
      </c:catAx>
      <c:valAx>
        <c:axId val="1894979872"/>
        <c:scaling>
          <c:orientation val="minMax"/>
          <c:max val="2700"/>
        </c:scaling>
        <c:delete val="1"/>
        <c:axPos val="l"/>
        <c:numFmt formatCode="General" sourceLinked="1"/>
        <c:majorTickMark val="none"/>
        <c:minorTickMark val="none"/>
        <c:tickLblPos val="nextTo"/>
        <c:crossAx val="18949815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9103100393700789E-2"/>
          <c:y val="1.2089462786158536E-2"/>
          <c:w val="0.89999991391221623"/>
          <c:h val="4.763768242569917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3058.1180898758935</c:v>
                </c:pt>
                <c:pt idx="2">
                  <c:v>6487.9237250430288</c:v>
                </c:pt>
                <c:pt idx="3">
                  <c:v>7499.4580797954914</c:v>
                </c:pt>
                <c:pt idx="4">
                  <c:v>7843.2875487168258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28-4742-908C-CB4B4A0E95B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rgbClr val="262626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3058.1180898758935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8268.2115958800568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F28-4742-908C-CB4B4A0E95B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Изменение</c:v>
                </c:pt>
              </c:strCache>
            </c:strRef>
          </c:tx>
          <c:spPr>
            <a:solidFill>
              <a:schemeClr val="accent1"/>
            </a:solidFill>
          </c:spPr>
          <c:invertIfNegative val="1"/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3429.8056351671353</c:v>
                </c:pt>
                <c:pt idx="2">
                  <c:v>1011.5343547524621</c:v>
                </c:pt>
                <c:pt idx="3">
                  <c:v>343.82946892133441</c:v>
                </c:pt>
                <c:pt idx="4">
                  <c:v>424.92404716323017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F28-4742-908C-CB4B4A0E95B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label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3 058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F28-4742-908C-CB4B4A0E95B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+3 430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F28-4742-908C-CB4B4A0E95B3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+1 012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F28-4742-908C-CB4B4A0E95B3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+344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F28-4742-908C-CB4B4A0E95B3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+425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F28-4742-908C-CB4B4A0E95B3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100" b="1">
                        <a:latin typeface="Arial"/>
                      </a:rPr>
                      <a:t>8 268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FF28-4742-908C-CB4B4A0E95B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Бюджет 2026</c:v>
                </c:pt>
                <c:pt idx="1">
                  <c:v>FT (E-com)</c:v>
                </c:pt>
                <c:pt idx="2">
                  <c:v>E-com без FT</c:v>
                </c:pt>
                <c:pt idx="3">
                  <c:v>Non-E-com</c:v>
                </c:pt>
                <c:pt idx="4">
                  <c:v>OPEX</c:v>
                </c:pt>
                <c:pt idx="5">
                  <c:v>Прогноз 9+3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600</c:v>
                </c:pt>
                <c:pt idx="1">
                  <c:v>600</c:v>
                </c:pt>
                <c:pt idx="2">
                  <c:v>600</c:v>
                </c:pt>
                <c:pt idx="3">
                  <c:v>600</c:v>
                </c:pt>
                <c:pt idx="4">
                  <c:v>600</c:v>
                </c:pt>
                <c:pt idx="5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FF28-4742-908C-CB4B4A0E95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900"/>
            </a:pPr>
            <a:endParaRPr lang="ru-RU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000">
          <a:latin typeface="Arial"/>
        </a:defRPr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DC2-434F-B497-85A2709E7A86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BDC2-434F-B497-85A2709E7A86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DC2-434F-B497-85A2709E7A86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12517</c:v>
                </c:pt>
                <c:pt idx="4">
                  <c:v>13130</c:v>
                </c:pt>
                <c:pt idx="5">
                  <c:v>13388</c:v>
                </c:pt>
                <c:pt idx="6">
                  <c:v>13601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C2-434F-B497-85A2709E7A86}"/>
            </c:ext>
          </c:extLst>
        </c:ser>
        <c:ser>
          <c:idx val="1"/>
          <c:order val="1"/>
          <c:spPr>
            <a:solidFill>
              <a:srgbClr val="007770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6-BDC2-434F-B497-85A2709E7A86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BDC2-434F-B497-85A2709E7A86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BDC2-434F-B497-85A2709E7A8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1573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BDC2-434F-B497-85A2709E7A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1802191"/>
        <c:axId val="1"/>
      </c:barChart>
      <c:catAx>
        <c:axId val="61802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68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1802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5391705069124424"/>
          <c:y val="0.13129251700680272"/>
          <c:w val="0.46555050925801511"/>
          <c:h val="0.6613415372672202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2272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9D-A549-AAA5-072DF4368739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040816326530612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A9D-A549-AAA5-072DF436873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10323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A9D-A549-AAA5-072DF43687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7179167"/>
        <c:axId val="1"/>
      </c:barChart>
      <c:catAx>
        <c:axId val="18771791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59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71791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80.400000000000006</c:v>
              </c:pt>
              <c:pt idx="1">
                <c:v>201</c:v>
              </c:pt>
              <c:pt idx="2">
                <c:v>281.39999999999998</c:v>
              </c:pt>
              <c:pt idx="3">
                <c:v>281.39999999999998</c:v>
              </c:pt>
              <c:pt idx="4">
                <c:v>281.39999999999998</c:v>
              </c:pt>
              <c:pt idx="5">
                <c:v>281.39999999999998</c:v>
              </c:pt>
              <c:pt idx="6">
                <c:v>281.39999999999998</c:v>
              </c:pt>
              <c:pt idx="7">
                <c:v>321.5</c:v>
              </c:pt>
              <c:pt idx="8">
                <c:v>321.5</c:v>
              </c:pt>
              <c:pt idx="9">
                <c:v>442.1</c:v>
              </c:pt>
              <c:pt idx="10">
                <c:v>562.70000000000005</c:v>
              </c:pt>
              <c:pt idx="11">
                <c:v>683.3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291.3</c:v>
              </c:pt>
              <c:pt idx="1">
                <c:v>728.3</c:v>
              </c:pt>
              <c:pt idx="2">
                <c:v>1019.6</c:v>
              </c:pt>
              <c:pt idx="3">
                <c:v>1019.6</c:v>
              </c:pt>
              <c:pt idx="4">
                <c:v>1019.6</c:v>
              </c:pt>
              <c:pt idx="5">
                <c:v>1019.6</c:v>
              </c:pt>
              <c:pt idx="6">
                <c:v>1019.6</c:v>
              </c:pt>
              <c:pt idx="7">
                <c:v>1165.3</c:v>
              </c:pt>
              <c:pt idx="8">
                <c:v>1165.3</c:v>
              </c:pt>
              <c:pt idx="9">
                <c:v>1602.3</c:v>
              </c:pt>
              <c:pt idx="10">
                <c:v>2039.3</c:v>
              </c:pt>
              <c:pt idx="11">
                <c:v>2476.3000000000002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14566.23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489.68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14566.24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−490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14 566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11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160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11158.92</c:v>
              </c:pt>
              <c:pt idx="4">
                <c:v>11191.55</c:v>
              </c:pt>
              <c:pt idx="5">
                <c:v>10875.26</c:v>
              </c:pt>
              <c:pt idx="6">
                <c:v>10841.76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1573.4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1135.93</c:v>
              </c:pt>
              <c:pt idx="5">
                <c:v>316.29000000000002</c:v>
              </c:pt>
              <c:pt idx="6">
                <c:v>33.5</c:v>
              </c:pt>
              <c:pt idx="7">
                <c:v>18.3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+1 573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−1 136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1150.6400000000001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ru-RU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ru-RU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ru-RU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871530411042008E-3"/>
          <c:y val="9.5687331536388143E-2"/>
          <c:w val="0.98422569391779158"/>
          <c:h val="0.808625336927223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184-4F9C-93FB-BCB2E91AC74D}"/>
              </c:ext>
            </c:extLst>
          </c:dPt>
          <c:dPt>
            <c:idx val="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184-4F9C-93FB-BCB2E91AC74D}"/>
              </c:ext>
            </c:extLst>
          </c:dPt>
          <c:dPt>
            <c:idx val="5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F184-4F9C-93FB-BCB2E91AC74D}"/>
              </c:ext>
            </c:extLst>
          </c:dPt>
          <c:dPt>
            <c:idx val="6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F184-4F9C-93FB-BCB2E91AC74D}"/>
              </c:ext>
            </c:extLst>
          </c:dPt>
          <c:dPt>
            <c:idx val="11"/>
            <c:invertIfNegative val="0"/>
            <c:bubble3D val="0"/>
            <c:spPr>
              <a:solidFill>
                <a:srgbClr val="D6D7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F184-4F9C-93FB-BCB2E91AC74D}"/>
              </c:ext>
            </c:extLst>
          </c:dPt>
          <c:val>
            <c:numRef>
              <c:f>Sheet1!$A$1:$L$1</c:f>
              <c:numCache>
                <c:formatCode>General</c:formatCode>
                <c:ptCount val="12"/>
                <c:pt idx="0">
                  <c:v>282.1449595375725</c:v>
                </c:pt>
                <c:pt idx="1">
                  <c:v>279.1449595375725</c:v>
                </c:pt>
                <c:pt idx="2">
                  <c:v>128.1449595375725</c:v>
                </c:pt>
                <c:pt idx="3">
                  <c:v>106.1449595375725</c:v>
                </c:pt>
                <c:pt idx="4">
                  <c:v>106.1449595375725</c:v>
                </c:pt>
                <c:pt idx="5">
                  <c:v>139.1449595375725</c:v>
                </c:pt>
                <c:pt idx="6">
                  <c:v>448.77095953757271</c:v>
                </c:pt>
                <c:pt idx="7">
                  <c:v>448.77095953757271</c:v>
                </c:pt>
                <c:pt idx="8">
                  <c:v>648.25895953757276</c:v>
                </c:pt>
                <c:pt idx="9">
                  <c:v>719.25895953757276</c:v>
                </c:pt>
                <c:pt idx="10">
                  <c:v>737.77095953757271</c:v>
                </c:pt>
                <c:pt idx="11">
                  <c:v>776.1449595375725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184-4F9C-93FB-BCB2E91AC74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F184-4F9C-93FB-BCB2E91AC74D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8-F184-4F9C-93FB-BCB2E91AC74D}"/>
              </c:ext>
            </c:extLst>
          </c:dPt>
          <c:dPt>
            <c:idx val="10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F184-4F9C-93FB-BCB2E91AC74D}"/>
              </c:ext>
            </c:extLst>
          </c:dPt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F184-4F9C-93FB-BCB2E91AC74D}"/>
                </c:ext>
              </c:extLst>
            </c:dLbl>
            <c:dLbl>
              <c:idx val="8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F184-4F9C-93FB-BCB2E91AC74D}"/>
                </c:ext>
              </c:extLst>
            </c:dLbl>
            <c:dLbl>
              <c:idx val="9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F184-4F9C-93FB-BCB2E91AC74D}"/>
                </c:ext>
              </c:extLst>
            </c:dLbl>
            <c:dLbl>
              <c:idx val="10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Sheet1!$A$2:$L$2</c:f>
              <c:numCache>
                <c:formatCode>General</c:formatCode>
                <c:ptCount val="12"/>
                <c:pt idx="2">
                  <c:v>151</c:v>
                </c:pt>
                <c:pt idx="3">
                  <c:v>22</c:v>
                </c:pt>
                <c:pt idx="4">
                  <c:v>33</c:v>
                </c:pt>
                <c:pt idx="7">
                  <c:v>151</c:v>
                </c:pt>
                <c:pt idx="8">
                  <c:v>71</c:v>
                </c:pt>
                <c:pt idx="9">
                  <c:v>67</c:v>
                </c:pt>
                <c:pt idx="10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F184-4F9C-93FB-BCB2E91AC74D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7"/>
              <c:layout>
                <c:manualLayout>
                  <c:x val="0"/>
                  <c:y val="-2.0215633423180594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F184-4F9C-93FB-BCB2E91AC74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Sheet1!$A$3:$L$3</c:f>
              <c:numCache>
                <c:formatCode>General</c:formatCode>
                <c:ptCount val="12"/>
                <c:pt idx="7">
                  <c:v>48.488000000000056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F184-4F9C-93FB-BCB2E91AC7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48246864"/>
        <c:axId val="1"/>
      </c:barChart>
      <c:catAx>
        <c:axId val="34824686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86.258959537572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4824686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194620654656179E-2"/>
          <c:y val="0.10448859455481972"/>
          <c:w val="0.97361075869068769"/>
          <c:h val="0.791022810890360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0E2B-4DAF-A04D-3042B4B526EB}"/>
              </c:ext>
            </c:extLst>
          </c:dPt>
          <c:dPt>
            <c:idx val="4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E2B-4DAF-A04D-3042B4B526EB}"/>
              </c:ext>
            </c:extLst>
          </c:dPt>
          <c:dPt>
            <c:idx val="5"/>
            <c:invertIfNegative val="0"/>
            <c:bubble3D val="0"/>
            <c:spPr>
              <a:noFill/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0E2B-4DAF-A04D-3042B4B526EB}"/>
              </c:ext>
            </c:extLst>
          </c:dPt>
          <c:val>
            <c:numRef>
              <c:f>Sheet1!$A$1:$H$1</c:f>
              <c:numCache>
                <c:formatCode>General</c:formatCode>
                <c:ptCount val="8"/>
                <c:pt idx="0">
                  <c:v>10.935683297180049</c:v>
                </c:pt>
                <c:pt idx="1">
                  <c:v>14.935683297180049</c:v>
                </c:pt>
                <c:pt idx="2">
                  <c:v>13.935683297180049</c:v>
                </c:pt>
                <c:pt idx="3">
                  <c:v>13.935683297180049</c:v>
                </c:pt>
                <c:pt idx="4">
                  <c:v>13.935683297180049</c:v>
                </c:pt>
                <c:pt idx="5">
                  <c:v>59.23568329718006</c:v>
                </c:pt>
                <c:pt idx="6">
                  <c:v>66.835683297180083</c:v>
                </c:pt>
                <c:pt idx="7">
                  <c:v>42.535683297180071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E2B-4DAF-A04D-3042B4B526EB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4-0E2B-4DAF-A04D-3042B4B526EB}"/>
              </c:ext>
            </c:extLst>
          </c:dPt>
          <c:dPt>
            <c:idx val="6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0E2B-4DAF-A04D-3042B4B526EB}"/>
              </c:ext>
            </c:extLst>
          </c:dPt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E2B-4DAF-A04D-3042B4B526EB}"/>
                </c:ext>
              </c:extLst>
            </c:dLbl>
            <c:dLbl>
              <c:idx val="5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0E2B-4DAF-A04D-3042B4B526EB}"/>
                </c:ext>
              </c:extLst>
            </c:dLbl>
            <c:dLbl>
              <c:idx val="6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Sheet1!$A$2:$H$2</c:f>
              <c:numCache>
                <c:formatCode>General</c:formatCode>
                <c:ptCount val="8"/>
                <c:pt idx="2">
                  <c:v>1</c:v>
                </c:pt>
                <c:pt idx="4">
                  <c:v>35.300000000000011</c:v>
                </c:pt>
                <c:pt idx="5">
                  <c:v>17.600000000000023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E2B-4DAF-A04D-3042B4B526EB}"/>
            </c:ext>
          </c:extLst>
        </c:ser>
        <c:ser>
          <c:idx val="2"/>
          <c:order val="2"/>
          <c:spPr>
            <a:solidFill>
              <a:srgbClr val="666666"/>
            </a:solidFill>
            <a:ln>
              <a:noFill/>
            </a:ln>
          </c:spPr>
          <c:invertIfNegative val="0"/>
          <c:dLbls>
            <c:dLbl>
              <c:idx val="4"/>
              <c:layout>
                <c:manualLayout>
                  <c:x val="0"/>
                  <c:y val="-2.207505518763796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0E2B-4DAF-A04D-3042B4B526E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Sheet1!$A$3:$H$3</c:f>
              <c:numCache>
                <c:formatCode>General</c:formatCode>
                <c:ptCount val="8"/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E2B-4DAF-A04D-3042B4B526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3603904"/>
        <c:axId val="1"/>
      </c:barChart>
      <c:catAx>
        <c:axId val="71360390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6.835683297180083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1360390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724915445321308E-2"/>
          <c:y val="8.0190930787589501E-2"/>
          <c:w val="0.97655016910935744"/>
          <c:h val="0.8396181384248210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CD15-4254-A274-58FE18D1374A}"/>
                </c:ext>
              </c:extLst>
            </c:dLbl>
            <c:dLbl>
              <c:idx val="1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D15-4254-A274-58FE18D1374A}"/>
                </c:ext>
              </c:extLst>
            </c:dLbl>
            <c:dLbl>
              <c:idx val="2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CD15-4254-A274-58FE18D1374A}"/>
                </c:ext>
              </c:extLst>
            </c:dLbl>
            <c:dLbl>
              <c:idx val="3"/>
              <c:layout>
                <c:manualLayout>
                  <c:x val="0"/>
                  <c:y val="-1.43198090692124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CD15-4254-A274-58FE18D1374A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118.80315204081633</c:v>
                </c:pt>
                <c:pt idx="1">
                  <c:v>115.23905747959184</c:v>
                </c:pt>
                <c:pt idx="2">
                  <c:v>147.98743571428571</c:v>
                </c:pt>
                <c:pt idx="3">
                  <c:v>145.02768699999999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D15-4254-A274-58FE18D1374A}"/>
            </c:ext>
          </c:extLst>
        </c:ser>
        <c:ser>
          <c:idx val="1"/>
          <c:order val="1"/>
          <c:spPr>
            <a:solidFill>
              <a:srgbClr val="666666"/>
            </a:solidFill>
            <a:ln>
              <a:noFill/>
            </a:ln>
          </c:spPr>
          <c:invertIfNegative val="0"/>
          <c:val>
            <c:numRef>
              <c:f>Sheet1!$A$2:$D$2</c:f>
              <c:numCache>
                <c:formatCode>General</c:formatCode>
                <c:ptCount val="4"/>
                <c:pt idx="0">
                  <c:v>3.7284210526315746</c:v>
                </c:pt>
                <c:pt idx="1">
                  <c:v>3.5420000000000016</c:v>
                </c:pt>
                <c:pt idx="2">
                  <c:v>3.7284210526315746</c:v>
                </c:pt>
                <c:pt idx="3">
                  <c:v>3.5420000000000016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CD15-4254-A274-58FE18D137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00708816"/>
        <c:axId val="1"/>
      </c:barChart>
      <c:catAx>
        <c:axId val="300708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1.7158567669172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300708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534523643464919E-3"/>
          <c:y val="4.2763157894736843E-2"/>
          <c:w val="0.98549309527130702"/>
          <c:h val="0.91447368421052633"/>
        </c:manualLayout>
      </c:layout>
      <c:lineChart>
        <c:grouping val="standard"/>
        <c:varyColors val="0"/>
        <c:ser>
          <c:idx val="0"/>
          <c:order val="0"/>
          <c:spPr>
            <a:ln w="28575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C0C0C0"/>
                </a:solidFill>
                <a:ln w="9525" cmpd="sng" algn="ctr">
                  <a:solidFill>
                    <a:srgbClr val="C0C0C0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4F40-4688-B62D-6A6FE35F0F20}"/>
              </c:ext>
            </c:extLst>
          </c:dPt>
          <c:val>
            <c:numRef>
              <c:f>Sheet1!$A$1:$N$1</c:f>
              <c:numCache>
                <c:formatCode>General</c:formatCode>
                <c:ptCount val="14"/>
                <c:pt idx="0">
                  <c:v>2064.9069000000004</c:v>
                </c:pt>
                <c:pt idx="1">
                  <c:v>2220.3300000000004</c:v>
                </c:pt>
                <c:pt idx="2">
                  <c:v>2520</c:v>
                </c:pt>
                <c:pt idx="3">
                  <c:v>2714</c:v>
                </c:pt>
                <c:pt idx="4">
                  <c:v>2879</c:v>
                </c:pt>
                <c:pt idx="5">
                  <c:v>3089</c:v>
                </c:pt>
                <c:pt idx="6">
                  <c:v>3032</c:v>
                </c:pt>
                <c:pt idx="7">
                  <c:v>3035</c:v>
                </c:pt>
                <c:pt idx="8">
                  <c:v>2822</c:v>
                </c:pt>
                <c:pt idx="9">
                  <c:v>2770</c:v>
                </c:pt>
                <c:pt idx="10">
                  <c:v>2935.1874360322581</c:v>
                </c:pt>
                <c:pt idx="11">
                  <c:v>3197.1255558219436</c:v>
                </c:pt>
                <c:pt idx="12">
                  <c:v>3803.1560937609493</c:v>
                </c:pt>
                <c:pt idx="13">
                  <c:v>3803.1560937609493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4F40-4688-B62D-6A6FE35F0F20}"/>
            </c:ext>
          </c:extLst>
        </c:ser>
        <c:ser>
          <c:idx val="1"/>
          <c:order val="1"/>
          <c:spPr>
            <a:ln w="28575" cmpd="sng" algn="ctr">
              <a:solidFill>
                <a:srgbClr val="FF452C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4F40-4688-B62D-6A6FE35F0F20}"/>
              </c:ext>
            </c:extLst>
          </c:dPt>
          <c:dPt>
            <c:idx val="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4F40-4688-B62D-6A6FE35F0F20}"/>
              </c:ext>
            </c:extLst>
          </c:dPt>
          <c:dPt>
            <c:idx val="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4F40-4688-B62D-6A6FE35F0F20}"/>
              </c:ext>
            </c:extLst>
          </c:dPt>
          <c:dPt>
            <c:idx val="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4F40-4688-B62D-6A6FE35F0F20}"/>
              </c:ext>
            </c:extLst>
          </c:dPt>
          <c:dPt>
            <c:idx val="4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4F40-4688-B62D-6A6FE35F0F20}"/>
              </c:ext>
            </c:extLst>
          </c:dPt>
          <c:dPt>
            <c:idx val="5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4F40-4688-B62D-6A6FE35F0F20}"/>
              </c:ext>
            </c:extLst>
          </c:dPt>
          <c:dPt>
            <c:idx val="6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4F40-4688-B62D-6A6FE35F0F20}"/>
              </c:ext>
            </c:extLst>
          </c:dPt>
          <c:dPt>
            <c:idx val="7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4F40-4688-B62D-6A6FE35F0F20}"/>
              </c:ext>
            </c:extLst>
          </c:dPt>
          <c:dPt>
            <c:idx val="8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4F40-4688-B62D-6A6FE35F0F20}"/>
              </c:ext>
            </c:extLst>
          </c:dPt>
          <c:dPt>
            <c:idx val="9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4F40-4688-B62D-6A6FE35F0F20}"/>
              </c:ext>
            </c:extLst>
          </c:dPt>
          <c:dPt>
            <c:idx val="10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4F40-4688-B62D-6A6FE35F0F20}"/>
              </c:ext>
            </c:extLst>
          </c:dPt>
          <c:dPt>
            <c:idx val="11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4F40-4688-B62D-6A6FE35F0F20}"/>
              </c:ext>
            </c:extLst>
          </c:dPt>
          <c:dPt>
            <c:idx val="12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B-4F40-4688-B62D-6A6FE35F0F20}"/>
              </c:ext>
            </c:extLst>
          </c:dPt>
          <c:dPt>
            <c:idx val="13"/>
            <c:marker>
              <c:symbol val="diamond"/>
              <c:size val="8"/>
              <c:spPr>
                <a:solidFill>
                  <a:srgbClr val="FF452C"/>
                </a:solidFill>
                <a:ln w="9525" cmpd="sng" algn="ctr">
                  <a:solidFill>
                    <a:srgbClr val="FF452C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C-4F40-4688-B62D-6A6FE35F0F20}"/>
              </c:ext>
            </c:extLst>
          </c:dPt>
          <c:val>
            <c:numRef>
              <c:f>Sheet1!$A$2:$N$2</c:f>
              <c:numCache>
                <c:formatCode>General</c:formatCode>
                <c:ptCount val="14"/>
                <c:pt idx="0">
                  <c:v>3803.1560937609493</c:v>
                </c:pt>
                <c:pt idx="1">
                  <c:v>4485.5951540326369</c:v>
                </c:pt>
                <c:pt idx="2">
                  <c:v>4985.3374382022221</c:v>
                </c:pt>
                <c:pt idx="3">
                  <c:v>5174.1840321726031</c:v>
                </c:pt>
                <c:pt idx="4">
                  <c:v>5319.4200494762244</c:v>
                </c:pt>
                <c:pt idx="5">
                  <c:v>5531.6556602699802</c:v>
                </c:pt>
                <c:pt idx="6">
                  <c:v>5507.7149704813992</c:v>
                </c:pt>
                <c:pt idx="7">
                  <c:v>4958.7361989237006</c:v>
                </c:pt>
                <c:pt idx="8">
                  <c:v>3138.6863685870048</c:v>
                </c:pt>
                <c:pt idx="9">
                  <c:v>2660.379726707607</c:v>
                </c:pt>
                <c:pt idx="10">
                  <c:v>2874.2128847076069</c:v>
                </c:pt>
                <c:pt idx="11">
                  <c:v>3194.8185467625717</c:v>
                </c:pt>
                <c:pt idx="12">
                  <c:v>3913.2109080715336</c:v>
                </c:pt>
                <c:pt idx="13">
                  <c:v>3913.2109080715336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D-4F40-4688-B62D-6A6FE35F0F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124968880"/>
        <c:axId val="1"/>
      </c:lineChart>
      <c:catAx>
        <c:axId val="11249688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00"/>
          <c:min val="150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124968880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4157364552137218E-2"/>
          <c:y val="0.26473859844271413"/>
          <c:w val="0.97168527089572554"/>
          <c:h val="0.54838709677419351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D6D7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537263626251390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D4-4FD3-9D32-017A516D597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D4-4FD3-9D32-017A516D5975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D4-4FD3-9D32-017A516D5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100948016"/>
        <c:axId val="1"/>
      </c:barChart>
      <c:catAx>
        <c:axId val="11009480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1009480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C2E3D-CD9C-A017-E9AB-4511C1AF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09528A0-348B-54EA-87C0-0CE9D800DE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06F41C-DFAE-3875-4751-754EF17E1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28A4F3-6122-9CEE-A761-19AC6657A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99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2D701-3988-49D2-2C0F-3C141BE5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D9A475F-497B-245D-A83A-EEEA350738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E5D6C75-E729-6F87-F002-36BF3C8C7C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DF87825-6EA4-BEF4-9586-E9277B596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230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569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6773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D4DE14-7C29-47E9-9897-4D374DDC2AC0}" type="slidenum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362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Дата. Шрифт </a:t>
            </a:r>
            <a:r>
              <a:rPr lang="en-US"/>
              <a:t>Arial Regular 12</a:t>
            </a:r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/>
              <a:t>Заголовок</a:t>
            </a:r>
            <a:r>
              <a:rPr lang="ru-RU"/>
              <a:t> </a:t>
            </a:r>
            <a:r>
              <a:rPr lang="ru-RU"/>
              <a:t>презентации</a:t>
            </a:r>
          </a:p>
          <a:p>
            <a:r>
              <a:rPr lang="ru-RU"/>
              <a:t>в несколько строк</a:t>
            </a:r>
          </a:p>
          <a:p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/>
              <a:t>Имя Фамилия </a:t>
            </a:r>
            <a:br>
              <a:rPr lang="en-US" dirty="0"/>
            </a:br>
            <a:r>
              <a:rPr lang="ru-RU"/>
              <a:t>Шрифт </a:t>
            </a:r>
            <a:r>
              <a:rPr lang="en-US"/>
              <a:t>Arial Regular </a:t>
            </a:r>
            <a:r>
              <a:rPr lang="ru-RU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/>
              <a:t>Сноска. Шрифт </a:t>
            </a:r>
            <a:r>
              <a:rPr lang="en-US"/>
              <a:t>Arial Regular </a:t>
            </a:r>
            <a:r>
              <a:rPr lang="ru-RU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/>
              <a:t>Заголовок слайда</a:t>
            </a:r>
            <a:r>
              <a:rPr lang="ru-RU"/>
              <a:t> </a:t>
            </a:r>
            <a:r>
              <a:rPr lang="ru-RU"/>
              <a:t>в две строки</a:t>
            </a:r>
            <a:br>
              <a:rPr lang="ru-RU" dirty="0"/>
            </a:br>
            <a:r>
              <a:rPr lang="ru-RU"/>
              <a:t>Шрифт </a:t>
            </a:r>
            <a:r>
              <a:rPr lang="en-US"/>
              <a:t>Arial Bold </a:t>
            </a:r>
            <a:r>
              <a:rPr lang="ru-RU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 слайд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Номер слайда 2">
            <a:extLst>
              <a:ext uri="{FF2B5EF4-FFF2-40B4-BE49-F238E27FC236}">
                <a16:creationId xmlns:a16="http://schemas.microsoft.com/office/drawing/2014/main" id="{E7EE3C8A-F97F-2E6D-D5C4-E85ADD793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lvl1pPr algn="ctr">
              <a:defRPr sz="1000" b="0">
                <a:solidFill>
                  <a:srgbClr val="E30613"/>
                </a:solidFill>
                <a:latin typeface="Montserrat Medium" pitchFamily="2" charset="-52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" name="Текст 3">
            <a:extLst>
              <a:ext uri="{FF2B5EF4-FFF2-40B4-BE49-F238E27FC236}">
                <a16:creationId xmlns:a16="http://schemas.microsoft.com/office/drawing/2014/main" id="{BA81D881-30B5-EEEF-623E-FCB08A74A5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4185" y="169335"/>
            <a:ext cx="11805728" cy="976420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ts val="3667"/>
              </a:lnSpc>
              <a:spcBef>
                <a:spcPts val="0"/>
              </a:spcBef>
              <a:buNone/>
              <a:defRPr sz="3334" b="1">
                <a:solidFill>
                  <a:srgbClr val="E30613"/>
                </a:solidFill>
                <a:latin typeface="Arha Magnit" panose="020B0503030408080203" pitchFamily="34" charset="0"/>
                <a:ea typeface="Arha Magnit" panose="020B0503030408080203" pitchFamily="34" charset="0"/>
              </a:defRPr>
            </a:lvl1pPr>
            <a:lvl2pPr>
              <a:defRPr>
                <a:solidFill>
                  <a:srgbClr val="E30613"/>
                </a:solidFill>
              </a:defRPr>
            </a:lvl2pPr>
            <a:lvl3pPr>
              <a:defRPr>
                <a:solidFill>
                  <a:srgbClr val="E30613"/>
                </a:solidFill>
              </a:defRPr>
            </a:lvl3pPr>
            <a:lvl4pPr>
              <a:defRPr>
                <a:solidFill>
                  <a:srgbClr val="E30613"/>
                </a:solidFill>
              </a:defRPr>
            </a:lvl4pPr>
            <a:lvl5pPr>
              <a:defRPr>
                <a:solidFill>
                  <a:srgbClr val="E30613"/>
                </a:solidFill>
              </a:defRPr>
            </a:lvl5pPr>
          </a:lstStyle>
          <a:p>
            <a:pPr lvl="0"/>
            <a:r>
              <a:rPr lang="ru-RU">
                <a:effectLst/>
              </a:rPr>
              <a:t>Действуй смело</a:t>
            </a:r>
          </a:p>
          <a:p>
            <a:pPr lvl="0"/>
            <a:r>
              <a:rPr lang="ru-RU">
                <a:effectLst/>
              </a:rPr>
              <a:t>Достигай невозможного</a:t>
            </a:r>
            <a:endParaRPr lang="ru-RU">
              <a:effectLst/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DD5DBD3-9CA8-4504-9712-DECDFE190F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433" y="6432036"/>
            <a:ext cx="3600000" cy="197362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tx1"/>
                </a:solidFill>
                <a:latin typeface="Montserrat" panose="00000500000000000000" pitchFamily="2" charset="-52"/>
              </a:defRPr>
            </a:lvl1pPr>
            <a:lvl2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2pPr>
            <a:lvl3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3pPr>
            <a:lvl4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4pPr>
            <a:lvl5pPr algn="r">
              <a:defRPr sz="1600">
                <a:solidFill>
                  <a:srgbClr val="E30613"/>
                </a:solidFill>
                <a:latin typeface="Montserrat Medium" pitchFamily="2" charset="-52"/>
              </a:defRPr>
            </a:lvl5pPr>
          </a:lstStyle>
          <a:p>
            <a:pPr lvl="0"/>
            <a:r>
              <a:rPr lang="ru-RU">
                <a:effectLst/>
              </a:rPr>
              <a:t>Тема презентации. Название раздела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12809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pos="7559">
          <p15:clr>
            <a:srgbClr val="FBAE40"/>
          </p15:clr>
        </p15:guide>
        <p15:guide id="4" pos="1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theme" Target="../theme/theme1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425" imgH="426" progId="TCLayout.ActiveDocument.1">
                  <p:embed/>
                </p:oleObj>
              </mc:Choice>
              <mc:Fallback>
                <p:oleObj name="think-cell Slide" r:id="rId6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9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  <p:sldLayoutId id="2147483675" r:id="rId3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tags" Target="../tags/tag26.xml"/><Relationship Id="rId18" Type="http://schemas.openxmlformats.org/officeDocument/2006/relationships/tags" Target="../tags/tag31.xml"/><Relationship Id="rId26" Type="http://schemas.openxmlformats.org/officeDocument/2006/relationships/tags" Target="../tags/tag39.xml"/><Relationship Id="rId3" Type="http://schemas.openxmlformats.org/officeDocument/2006/relationships/tags" Target="../tags/tag16.xml"/><Relationship Id="rId21" Type="http://schemas.openxmlformats.org/officeDocument/2006/relationships/tags" Target="../tags/tag34.xml"/><Relationship Id="rId34" Type="http://schemas.openxmlformats.org/officeDocument/2006/relationships/slideLayout" Target="../slideLayouts/slideLayout2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17" Type="http://schemas.openxmlformats.org/officeDocument/2006/relationships/tags" Target="../tags/tag30.xml"/><Relationship Id="rId25" Type="http://schemas.openxmlformats.org/officeDocument/2006/relationships/tags" Target="../tags/tag38.xml"/><Relationship Id="rId33" Type="http://schemas.openxmlformats.org/officeDocument/2006/relationships/tags" Target="../tags/tag46.xml"/><Relationship Id="rId2" Type="http://schemas.openxmlformats.org/officeDocument/2006/relationships/tags" Target="../tags/tag15.xml"/><Relationship Id="rId16" Type="http://schemas.openxmlformats.org/officeDocument/2006/relationships/tags" Target="../tags/tag29.xml"/><Relationship Id="rId20" Type="http://schemas.openxmlformats.org/officeDocument/2006/relationships/tags" Target="../tags/tag33.xml"/><Relationship Id="rId29" Type="http://schemas.openxmlformats.org/officeDocument/2006/relationships/tags" Target="../tags/tag42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24" Type="http://schemas.openxmlformats.org/officeDocument/2006/relationships/tags" Target="../tags/tag37.xml"/><Relationship Id="rId32" Type="http://schemas.openxmlformats.org/officeDocument/2006/relationships/tags" Target="../tags/tag45.xml"/><Relationship Id="rId5" Type="http://schemas.openxmlformats.org/officeDocument/2006/relationships/tags" Target="../tags/tag18.xml"/><Relationship Id="rId15" Type="http://schemas.openxmlformats.org/officeDocument/2006/relationships/tags" Target="../tags/tag28.xml"/><Relationship Id="rId23" Type="http://schemas.openxmlformats.org/officeDocument/2006/relationships/tags" Target="../tags/tag36.xml"/><Relationship Id="rId28" Type="http://schemas.openxmlformats.org/officeDocument/2006/relationships/tags" Target="../tags/tag41.xml"/><Relationship Id="rId36" Type="http://schemas.openxmlformats.org/officeDocument/2006/relationships/chart" Target="../charts/chart4.xml"/><Relationship Id="rId10" Type="http://schemas.openxmlformats.org/officeDocument/2006/relationships/tags" Target="../tags/tag23.xml"/><Relationship Id="rId19" Type="http://schemas.openxmlformats.org/officeDocument/2006/relationships/tags" Target="../tags/tag32.xml"/><Relationship Id="rId31" Type="http://schemas.openxmlformats.org/officeDocument/2006/relationships/tags" Target="../tags/tag44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tags" Target="../tags/tag27.xml"/><Relationship Id="rId22" Type="http://schemas.openxmlformats.org/officeDocument/2006/relationships/tags" Target="../tags/tag35.xml"/><Relationship Id="rId27" Type="http://schemas.openxmlformats.org/officeDocument/2006/relationships/tags" Target="../tags/tag40.xml"/><Relationship Id="rId30" Type="http://schemas.openxmlformats.org/officeDocument/2006/relationships/tags" Target="../tags/tag43.xml"/><Relationship Id="rId35" Type="http://schemas.openxmlformats.org/officeDocument/2006/relationships/chart" Target="../charts/chart3.xml"/><Relationship Id="rId8" Type="http://schemas.openxmlformats.org/officeDocument/2006/relationships/tags" Target="../tags/tag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tags" Target="../tags/tag60.xml"/><Relationship Id="rId18" Type="http://schemas.openxmlformats.org/officeDocument/2006/relationships/tags" Target="../tags/tag65.xml"/><Relationship Id="rId26" Type="http://schemas.openxmlformats.org/officeDocument/2006/relationships/tags" Target="../tags/tag73.xml"/><Relationship Id="rId39" Type="http://schemas.openxmlformats.org/officeDocument/2006/relationships/tags" Target="../tags/tag86.xml"/><Relationship Id="rId21" Type="http://schemas.openxmlformats.org/officeDocument/2006/relationships/tags" Target="../tags/tag68.xml"/><Relationship Id="rId34" Type="http://schemas.openxmlformats.org/officeDocument/2006/relationships/tags" Target="../tags/tag81.xml"/><Relationship Id="rId42" Type="http://schemas.openxmlformats.org/officeDocument/2006/relationships/tags" Target="../tags/tag89.xml"/><Relationship Id="rId47" Type="http://schemas.openxmlformats.org/officeDocument/2006/relationships/tags" Target="../tags/tag94.xml"/><Relationship Id="rId50" Type="http://schemas.openxmlformats.org/officeDocument/2006/relationships/tags" Target="../tags/tag97.xml"/><Relationship Id="rId55" Type="http://schemas.openxmlformats.org/officeDocument/2006/relationships/chart" Target="../charts/chart5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6" Type="http://schemas.openxmlformats.org/officeDocument/2006/relationships/tags" Target="../tags/tag63.xml"/><Relationship Id="rId29" Type="http://schemas.openxmlformats.org/officeDocument/2006/relationships/tags" Target="../tags/tag76.xml"/><Relationship Id="rId11" Type="http://schemas.openxmlformats.org/officeDocument/2006/relationships/tags" Target="../tags/tag58.xml"/><Relationship Id="rId24" Type="http://schemas.openxmlformats.org/officeDocument/2006/relationships/tags" Target="../tags/tag71.xml"/><Relationship Id="rId32" Type="http://schemas.openxmlformats.org/officeDocument/2006/relationships/tags" Target="../tags/tag79.xml"/><Relationship Id="rId37" Type="http://schemas.openxmlformats.org/officeDocument/2006/relationships/tags" Target="../tags/tag84.xml"/><Relationship Id="rId40" Type="http://schemas.openxmlformats.org/officeDocument/2006/relationships/tags" Target="../tags/tag87.xml"/><Relationship Id="rId45" Type="http://schemas.openxmlformats.org/officeDocument/2006/relationships/tags" Target="../tags/tag92.xml"/><Relationship Id="rId53" Type="http://schemas.openxmlformats.org/officeDocument/2006/relationships/oleObject" Target="../embeddings/oleObject10.bin"/><Relationship Id="rId5" Type="http://schemas.openxmlformats.org/officeDocument/2006/relationships/tags" Target="../tags/tag52.xml"/><Relationship Id="rId10" Type="http://schemas.openxmlformats.org/officeDocument/2006/relationships/tags" Target="../tags/tag57.xml"/><Relationship Id="rId19" Type="http://schemas.openxmlformats.org/officeDocument/2006/relationships/tags" Target="../tags/tag66.xml"/><Relationship Id="rId31" Type="http://schemas.openxmlformats.org/officeDocument/2006/relationships/tags" Target="../tags/tag78.xml"/><Relationship Id="rId44" Type="http://schemas.openxmlformats.org/officeDocument/2006/relationships/tags" Target="../tags/tag91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51.xml"/><Relationship Id="rId9" Type="http://schemas.openxmlformats.org/officeDocument/2006/relationships/tags" Target="../tags/tag56.xml"/><Relationship Id="rId14" Type="http://schemas.openxmlformats.org/officeDocument/2006/relationships/tags" Target="../tags/tag61.xml"/><Relationship Id="rId22" Type="http://schemas.openxmlformats.org/officeDocument/2006/relationships/tags" Target="../tags/tag69.xml"/><Relationship Id="rId27" Type="http://schemas.openxmlformats.org/officeDocument/2006/relationships/tags" Target="../tags/tag74.xml"/><Relationship Id="rId30" Type="http://schemas.openxmlformats.org/officeDocument/2006/relationships/tags" Target="../tags/tag77.xml"/><Relationship Id="rId35" Type="http://schemas.openxmlformats.org/officeDocument/2006/relationships/tags" Target="../tags/tag82.xml"/><Relationship Id="rId43" Type="http://schemas.openxmlformats.org/officeDocument/2006/relationships/tags" Target="../tags/tag90.xml"/><Relationship Id="rId48" Type="http://schemas.openxmlformats.org/officeDocument/2006/relationships/tags" Target="../tags/tag95.xml"/><Relationship Id="rId8" Type="http://schemas.openxmlformats.org/officeDocument/2006/relationships/tags" Target="../tags/tag55.xml"/><Relationship Id="rId51" Type="http://schemas.openxmlformats.org/officeDocument/2006/relationships/tags" Target="../tags/tag98.xml"/><Relationship Id="rId3" Type="http://schemas.openxmlformats.org/officeDocument/2006/relationships/tags" Target="../tags/tag50.xml"/><Relationship Id="rId12" Type="http://schemas.openxmlformats.org/officeDocument/2006/relationships/tags" Target="../tags/tag59.xml"/><Relationship Id="rId17" Type="http://schemas.openxmlformats.org/officeDocument/2006/relationships/tags" Target="../tags/tag64.xml"/><Relationship Id="rId25" Type="http://schemas.openxmlformats.org/officeDocument/2006/relationships/tags" Target="../tags/tag72.xml"/><Relationship Id="rId33" Type="http://schemas.openxmlformats.org/officeDocument/2006/relationships/tags" Target="../tags/tag80.xml"/><Relationship Id="rId38" Type="http://schemas.openxmlformats.org/officeDocument/2006/relationships/tags" Target="../tags/tag85.xml"/><Relationship Id="rId46" Type="http://schemas.openxmlformats.org/officeDocument/2006/relationships/tags" Target="../tags/tag93.xml"/><Relationship Id="rId20" Type="http://schemas.openxmlformats.org/officeDocument/2006/relationships/tags" Target="../tags/tag67.xml"/><Relationship Id="rId41" Type="http://schemas.openxmlformats.org/officeDocument/2006/relationships/tags" Target="../tags/tag88.xml"/><Relationship Id="rId54" Type="http://schemas.openxmlformats.org/officeDocument/2006/relationships/image" Target="../media/image7.emf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5" Type="http://schemas.openxmlformats.org/officeDocument/2006/relationships/tags" Target="../tags/tag62.xml"/><Relationship Id="rId23" Type="http://schemas.openxmlformats.org/officeDocument/2006/relationships/tags" Target="../tags/tag70.xml"/><Relationship Id="rId28" Type="http://schemas.openxmlformats.org/officeDocument/2006/relationships/tags" Target="../tags/tag75.xml"/><Relationship Id="rId36" Type="http://schemas.openxmlformats.org/officeDocument/2006/relationships/tags" Target="../tags/tag83.xml"/><Relationship Id="rId49" Type="http://schemas.openxmlformats.org/officeDocument/2006/relationships/tags" Target="../tags/tag9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11.xml"/><Relationship Id="rId18" Type="http://schemas.openxmlformats.org/officeDocument/2006/relationships/tags" Target="../tags/tag116.xml"/><Relationship Id="rId26" Type="http://schemas.openxmlformats.org/officeDocument/2006/relationships/tags" Target="../tags/tag124.xml"/><Relationship Id="rId39" Type="http://schemas.openxmlformats.org/officeDocument/2006/relationships/tags" Target="../tags/tag137.xml"/><Relationship Id="rId21" Type="http://schemas.openxmlformats.org/officeDocument/2006/relationships/tags" Target="../tags/tag119.xml"/><Relationship Id="rId34" Type="http://schemas.openxmlformats.org/officeDocument/2006/relationships/tags" Target="../tags/tag132.xml"/><Relationship Id="rId42" Type="http://schemas.openxmlformats.org/officeDocument/2006/relationships/oleObject" Target="../embeddings/oleObject11.bin"/><Relationship Id="rId7" Type="http://schemas.openxmlformats.org/officeDocument/2006/relationships/tags" Target="../tags/tag105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20" Type="http://schemas.openxmlformats.org/officeDocument/2006/relationships/tags" Target="../tags/tag118.xml"/><Relationship Id="rId29" Type="http://schemas.openxmlformats.org/officeDocument/2006/relationships/tags" Target="../tags/tag12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24" Type="http://schemas.openxmlformats.org/officeDocument/2006/relationships/tags" Target="../tags/tag122.xml"/><Relationship Id="rId32" Type="http://schemas.openxmlformats.org/officeDocument/2006/relationships/tags" Target="../tags/tag130.xml"/><Relationship Id="rId37" Type="http://schemas.openxmlformats.org/officeDocument/2006/relationships/tags" Target="../tags/tag135.xml"/><Relationship Id="rId40" Type="http://schemas.openxmlformats.org/officeDocument/2006/relationships/tags" Target="../tags/tag138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23" Type="http://schemas.openxmlformats.org/officeDocument/2006/relationships/tags" Target="../tags/tag121.xml"/><Relationship Id="rId28" Type="http://schemas.openxmlformats.org/officeDocument/2006/relationships/tags" Target="../tags/tag126.xml"/><Relationship Id="rId36" Type="http://schemas.openxmlformats.org/officeDocument/2006/relationships/tags" Target="../tags/tag134.xml"/><Relationship Id="rId10" Type="http://schemas.openxmlformats.org/officeDocument/2006/relationships/tags" Target="../tags/tag108.xml"/><Relationship Id="rId19" Type="http://schemas.openxmlformats.org/officeDocument/2006/relationships/tags" Target="../tags/tag117.xml"/><Relationship Id="rId31" Type="http://schemas.openxmlformats.org/officeDocument/2006/relationships/tags" Target="../tags/tag129.xml"/><Relationship Id="rId44" Type="http://schemas.openxmlformats.org/officeDocument/2006/relationships/chart" Target="../charts/chart7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Relationship Id="rId22" Type="http://schemas.openxmlformats.org/officeDocument/2006/relationships/tags" Target="../tags/tag120.xml"/><Relationship Id="rId27" Type="http://schemas.openxmlformats.org/officeDocument/2006/relationships/tags" Target="../tags/tag125.xml"/><Relationship Id="rId30" Type="http://schemas.openxmlformats.org/officeDocument/2006/relationships/tags" Target="../tags/tag128.xml"/><Relationship Id="rId35" Type="http://schemas.openxmlformats.org/officeDocument/2006/relationships/tags" Target="../tags/tag133.xml"/><Relationship Id="rId43" Type="http://schemas.openxmlformats.org/officeDocument/2006/relationships/image" Target="../media/image8.emf"/><Relationship Id="rId8" Type="http://schemas.openxmlformats.org/officeDocument/2006/relationships/tags" Target="../tags/tag106.xml"/><Relationship Id="rId3" Type="http://schemas.openxmlformats.org/officeDocument/2006/relationships/tags" Target="../tags/tag101.xml"/><Relationship Id="rId12" Type="http://schemas.openxmlformats.org/officeDocument/2006/relationships/tags" Target="../tags/tag110.xml"/><Relationship Id="rId17" Type="http://schemas.openxmlformats.org/officeDocument/2006/relationships/tags" Target="../tags/tag115.xml"/><Relationship Id="rId25" Type="http://schemas.openxmlformats.org/officeDocument/2006/relationships/tags" Target="../tags/tag123.xml"/><Relationship Id="rId33" Type="http://schemas.openxmlformats.org/officeDocument/2006/relationships/tags" Target="../tags/tag131.xml"/><Relationship Id="rId38" Type="http://schemas.openxmlformats.org/officeDocument/2006/relationships/tags" Target="../tags/tag13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9.xml"/><Relationship Id="rId4" Type="http://schemas.openxmlformats.org/officeDocument/2006/relationships/image" Target="../media/image9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Relationship Id="rId4" Type="http://schemas.openxmlformats.org/officeDocument/2006/relationships/image" Target="../media/image10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3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6" Type="http://schemas.openxmlformats.org/officeDocument/2006/relationships/tags" Target="../tags/tag169.xml"/><Relationship Id="rId21" Type="http://schemas.openxmlformats.org/officeDocument/2006/relationships/tags" Target="../tags/tag164.xml"/><Relationship Id="rId42" Type="http://schemas.openxmlformats.org/officeDocument/2006/relationships/tags" Target="../tags/tag185.xml"/><Relationship Id="rId47" Type="http://schemas.openxmlformats.org/officeDocument/2006/relationships/tags" Target="../tags/tag190.xml"/><Relationship Id="rId63" Type="http://schemas.openxmlformats.org/officeDocument/2006/relationships/tags" Target="../tags/tag206.xml"/><Relationship Id="rId68" Type="http://schemas.openxmlformats.org/officeDocument/2006/relationships/tags" Target="../tags/tag211.xml"/><Relationship Id="rId84" Type="http://schemas.openxmlformats.org/officeDocument/2006/relationships/tags" Target="../tags/tag227.xml"/><Relationship Id="rId89" Type="http://schemas.openxmlformats.org/officeDocument/2006/relationships/tags" Target="../tags/tag232.xml"/><Relationship Id="rId16" Type="http://schemas.openxmlformats.org/officeDocument/2006/relationships/tags" Target="../tags/tag159.xml"/><Relationship Id="rId11" Type="http://schemas.openxmlformats.org/officeDocument/2006/relationships/tags" Target="../tags/tag154.xml"/><Relationship Id="rId32" Type="http://schemas.openxmlformats.org/officeDocument/2006/relationships/tags" Target="../tags/tag175.xml"/><Relationship Id="rId37" Type="http://schemas.openxmlformats.org/officeDocument/2006/relationships/tags" Target="../tags/tag180.xml"/><Relationship Id="rId53" Type="http://schemas.openxmlformats.org/officeDocument/2006/relationships/tags" Target="../tags/tag196.xml"/><Relationship Id="rId58" Type="http://schemas.openxmlformats.org/officeDocument/2006/relationships/tags" Target="../tags/tag201.xml"/><Relationship Id="rId74" Type="http://schemas.openxmlformats.org/officeDocument/2006/relationships/tags" Target="../tags/tag217.xml"/><Relationship Id="rId79" Type="http://schemas.openxmlformats.org/officeDocument/2006/relationships/tags" Target="../tags/tag222.xml"/><Relationship Id="rId5" Type="http://schemas.openxmlformats.org/officeDocument/2006/relationships/tags" Target="../tags/tag148.xml"/><Relationship Id="rId90" Type="http://schemas.openxmlformats.org/officeDocument/2006/relationships/tags" Target="../tags/tag233.xml"/><Relationship Id="rId95" Type="http://schemas.openxmlformats.org/officeDocument/2006/relationships/oleObject" Target="../embeddings/oleObject14.bin"/><Relationship Id="rId22" Type="http://schemas.openxmlformats.org/officeDocument/2006/relationships/tags" Target="../tags/tag165.xml"/><Relationship Id="rId27" Type="http://schemas.openxmlformats.org/officeDocument/2006/relationships/tags" Target="../tags/tag170.xml"/><Relationship Id="rId43" Type="http://schemas.openxmlformats.org/officeDocument/2006/relationships/tags" Target="../tags/tag186.xml"/><Relationship Id="rId48" Type="http://schemas.openxmlformats.org/officeDocument/2006/relationships/tags" Target="../tags/tag191.xml"/><Relationship Id="rId64" Type="http://schemas.openxmlformats.org/officeDocument/2006/relationships/tags" Target="../tags/tag207.xml"/><Relationship Id="rId69" Type="http://schemas.openxmlformats.org/officeDocument/2006/relationships/tags" Target="../tags/tag212.xml"/><Relationship Id="rId80" Type="http://schemas.openxmlformats.org/officeDocument/2006/relationships/tags" Target="../tags/tag223.xml"/><Relationship Id="rId85" Type="http://schemas.openxmlformats.org/officeDocument/2006/relationships/tags" Target="../tags/tag228.xml"/><Relationship Id="rId3" Type="http://schemas.openxmlformats.org/officeDocument/2006/relationships/tags" Target="../tags/tag146.xml"/><Relationship Id="rId12" Type="http://schemas.openxmlformats.org/officeDocument/2006/relationships/tags" Target="../tags/tag155.xml"/><Relationship Id="rId17" Type="http://schemas.openxmlformats.org/officeDocument/2006/relationships/tags" Target="../tags/tag160.xml"/><Relationship Id="rId25" Type="http://schemas.openxmlformats.org/officeDocument/2006/relationships/tags" Target="../tags/tag168.xml"/><Relationship Id="rId33" Type="http://schemas.openxmlformats.org/officeDocument/2006/relationships/tags" Target="../tags/tag176.xml"/><Relationship Id="rId38" Type="http://schemas.openxmlformats.org/officeDocument/2006/relationships/tags" Target="../tags/tag181.xml"/><Relationship Id="rId46" Type="http://schemas.openxmlformats.org/officeDocument/2006/relationships/tags" Target="../tags/tag189.xml"/><Relationship Id="rId59" Type="http://schemas.openxmlformats.org/officeDocument/2006/relationships/tags" Target="../tags/tag202.xml"/><Relationship Id="rId67" Type="http://schemas.openxmlformats.org/officeDocument/2006/relationships/tags" Target="../tags/tag210.xml"/><Relationship Id="rId20" Type="http://schemas.openxmlformats.org/officeDocument/2006/relationships/tags" Target="../tags/tag163.xml"/><Relationship Id="rId41" Type="http://schemas.openxmlformats.org/officeDocument/2006/relationships/tags" Target="../tags/tag184.xml"/><Relationship Id="rId54" Type="http://schemas.openxmlformats.org/officeDocument/2006/relationships/tags" Target="../tags/tag197.xml"/><Relationship Id="rId62" Type="http://schemas.openxmlformats.org/officeDocument/2006/relationships/tags" Target="../tags/tag205.xml"/><Relationship Id="rId70" Type="http://schemas.openxmlformats.org/officeDocument/2006/relationships/tags" Target="../tags/tag213.xml"/><Relationship Id="rId75" Type="http://schemas.openxmlformats.org/officeDocument/2006/relationships/tags" Target="../tags/tag218.xml"/><Relationship Id="rId83" Type="http://schemas.openxmlformats.org/officeDocument/2006/relationships/tags" Target="../tags/tag226.xml"/><Relationship Id="rId88" Type="http://schemas.openxmlformats.org/officeDocument/2006/relationships/tags" Target="../tags/tag231.xml"/><Relationship Id="rId91" Type="http://schemas.openxmlformats.org/officeDocument/2006/relationships/tags" Target="../tags/tag234.xml"/><Relationship Id="rId96" Type="http://schemas.openxmlformats.org/officeDocument/2006/relationships/image" Target="../media/image4.emf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5" Type="http://schemas.openxmlformats.org/officeDocument/2006/relationships/tags" Target="../tags/tag158.xml"/><Relationship Id="rId23" Type="http://schemas.openxmlformats.org/officeDocument/2006/relationships/tags" Target="../tags/tag166.xml"/><Relationship Id="rId28" Type="http://schemas.openxmlformats.org/officeDocument/2006/relationships/tags" Target="../tags/tag171.xml"/><Relationship Id="rId36" Type="http://schemas.openxmlformats.org/officeDocument/2006/relationships/tags" Target="../tags/tag179.xml"/><Relationship Id="rId49" Type="http://schemas.openxmlformats.org/officeDocument/2006/relationships/tags" Target="../tags/tag192.xml"/><Relationship Id="rId57" Type="http://schemas.openxmlformats.org/officeDocument/2006/relationships/tags" Target="../tags/tag200.xml"/><Relationship Id="rId10" Type="http://schemas.openxmlformats.org/officeDocument/2006/relationships/tags" Target="../tags/tag153.xml"/><Relationship Id="rId31" Type="http://schemas.openxmlformats.org/officeDocument/2006/relationships/tags" Target="../tags/tag174.xml"/><Relationship Id="rId44" Type="http://schemas.openxmlformats.org/officeDocument/2006/relationships/tags" Target="../tags/tag187.xml"/><Relationship Id="rId52" Type="http://schemas.openxmlformats.org/officeDocument/2006/relationships/tags" Target="../tags/tag195.xml"/><Relationship Id="rId60" Type="http://schemas.openxmlformats.org/officeDocument/2006/relationships/tags" Target="../tags/tag203.xml"/><Relationship Id="rId65" Type="http://schemas.openxmlformats.org/officeDocument/2006/relationships/tags" Target="../tags/tag208.xml"/><Relationship Id="rId73" Type="http://schemas.openxmlformats.org/officeDocument/2006/relationships/tags" Target="../tags/tag216.xml"/><Relationship Id="rId78" Type="http://schemas.openxmlformats.org/officeDocument/2006/relationships/tags" Target="../tags/tag221.xml"/><Relationship Id="rId81" Type="http://schemas.openxmlformats.org/officeDocument/2006/relationships/tags" Target="../tags/tag224.xml"/><Relationship Id="rId86" Type="http://schemas.openxmlformats.org/officeDocument/2006/relationships/tags" Target="../tags/tag229.xml"/><Relationship Id="rId94" Type="http://schemas.openxmlformats.org/officeDocument/2006/relationships/slideLayout" Target="../slideLayouts/slideLayout3.xml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3" Type="http://schemas.openxmlformats.org/officeDocument/2006/relationships/tags" Target="../tags/tag156.xml"/><Relationship Id="rId18" Type="http://schemas.openxmlformats.org/officeDocument/2006/relationships/tags" Target="../tags/tag161.xml"/><Relationship Id="rId39" Type="http://schemas.openxmlformats.org/officeDocument/2006/relationships/tags" Target="../tags/tag182.xml"/><Relationship Id="rId34" Type="http://schemas.openxmlformats.org/officeDocument/2006/relationships/tags" Target="../tags/tag177.xml"/><Relationship Id="rId50" Type="http://schemas.openxmlformats.org/officeDocument/2006/relationships/tags" Target="../tags/tag193.xml"/><Relationship Id="rId55" Type="http://schemas.openxmlformats.org/officeDocument/2006/relationships/tags" Target="../tags/tag198.xml"/><Relationship Id="rId76" Type="http://schemas.openxmlformats.org/officeDocument/2006/relationships/tags" Target="../tags/tag219.xml"/><Relationship Id="rId97" Type="http://schemas.openxmlformats.org/officeDocument/2006/relationships/chart" Target="../charts/chart13.xml"/><Relationship Id="rId7" Type="http://schemas.openxmlformats.org/officeDocument/2006/relationships/tags" Target="../tags/tag150.xml"/><Relationship Id="rId71" Type="http://schemas.openxmlformats.org/officeDocument/2006/relationships/tags" Target="../tags/tag214.xml"/><Relationship Id="rId92" Type="http://schemas.openxmlformats.org/officeDocument/2006/relationships/tags" Target="../tags/tag235.xml"/><Relationship Id="rId2" Type="http://schemas.openxmlformats.org/officeDocument/2006/relationships/tags" Target="../tags/tag145.xml"/><Relationship Id="rId29" Type="http://schemas.openxmlformats.org/officeDocument/2006/relationships/tags" Target="../tags/tag172.xml"/><Relationship Id="rId24" Type="http://schemas.openxmlformats.org/officeDocument/2006/relationships/tags" Target="../tags/tag167.xml"/><Relationship Id="rId40" Type="http://schemas.openxmlformats.org/officeDocument/2006/relationships/tags" Target="../tags/tag183.xml"/><Relationship Id="rId45" Type="http://schemas.openxmlformats.org/officeDocument/2006/relationships/tags" Target="../tags/tag188.xml"/><Relationship Id="rId66" Type="http://schemas.openxmlformats.org/officeDocument/2006/relationships/tags" Target="../tags/tag209.xml"/><Relationship Id="rId87" Type="http://schemas.openxmlformats.org/officeDocument/2006/relationships/tags" Target="../tags/tag230.xml"/><Relationship Id="rId61" Type="http://schemas.openxmlformats.org/officeDocument/2006/relationships/tags" Target="../tags/tag204.xml"/><Relationship Id="rId82" Type="http://schemas.openxmlformats.org/officeDocument/2006/relationships/tags" Target="../tags/tag225.xml"/><Relationship Id="rId19" Type="http://schemas.openxmlformats.org/officeDocument/2006/relationships/tags" Target="../tags/tag162.xml"/><Relationship Id="rId14" Type="http://schemas.openxmlformats.org/officeDocument/2006/relationships/tags" Target="../tags/tag157.xml"/><Relationship Id="rId30" Type="http://schemas.openxmlformats.org/officeDocument/2006/relationships/tags" Target="../tags/tag173.xml"/><Relationship Id="rId35" Type="http://schemas.openxmlformats.org/officeDocument/2006/relationships/tags" Target="../tags/tag178.xml"/><Relationship Id="rId56" Type="http://schemas.openxmlformats.org/officeDocument/2006/relationships/tags" Target="../tags/tag199.xml"/><Relationship Id="rId77" Type="http://schemas.openxmlformats.org/officeDocument/2006/relationships/tags" Target="../tags/tag220.xml"/><Relationship Id="rId8" Type="http://schemas.openxmlformats.org/officeDocument/2006/relationships/tags" Target="../tags/tag151.xml"/><Relationship Id="rId51" Type="http://schemas.openxmlformats.org/officeDocument/2006/relationships/tags" Target="../tags/tag194.xml"/><Relationship Id="rId72" Type="http://schemas.openxmlformats.org/officeDocument/2006/relationships/tags" Target="../tags/tag215.xml"/><Relationship Id="rId93" Type="http://schemas.openxmlformats.org/officeDocument/2006/relationships/tags" Target="../tags/tag236.xml"/><Relationship Id="rId98" Type="http://schemas.openxmlformats.org/officeDocument/2006/relationships/chart" Target="../charts/chart1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tags" Target="../tags/tag244.xml"/><Relationship Id="rId13" Type="http://schemas.openxmlformats.org/officeDocument/2006/relationships/tags" Target="../tags/tag249.xml"/><Relationship Id="rId18" Type="http://schemas.openxmlformats.org/officeDocument/2006/relationships/tags" Target="../tags/tag254.xml"/><Relationship Id="rId3" Type="http://schemas.openxmlformats.org/officeDocument/2006/relationships/tags" Target="../tags/tag239.xml"/><Relationship Id="rId21" Type="http://schemas.openxmlformats.org/officeDocument/2006/relationships/image" Target="../media/image4.emf"/><Relationship Id="rId7" Type="http://schemas.openxmlformats.org/officeDocument/2006/relationships/tags" Target="../tags/tag243.xml"/><Relationship Id="rId12" Type="http://schemas.openxmlformats.org/officeDocument/2006/relationships/tags" Target="../tags/tag248.xml"/><Relationship Id="rId17" Type="http://schemas.openxmlformats.org/officeDocument/2006/relationships/tags" Target="../tags/tag253.xml"/><Relationship Id="rId2" Type="http://schemas.openxmlformats.org/officeDocument/2006/relationships/tags" Target="../tags/tag238.xml"/><Relationship Id="rId16" Type="http://schemas.openxmlformats.org/officeDocument/2006/relationships/tags" Target="../tags/tag252.xml"/><Relationship Id="rId20" Type="http://schemas.openxmlformats.org/officeDocument/2006/relationships/oleObject" Target="../embeddings/oleObject15.bin"/><Relationship Id="rId1" Type="http://schemas.openxmlformats.org/officeDocument/2006/relationships/tags" Target="../tags/tag237.xml"/><Relationship Id="rId6" Type="http://schemas.openxmlformats.org/officeDocument/2006/relationships/tags" Target="../tags/tag242.xml"/><Relationship Id="rId11" Type="http://schemas.openxmlformats.org/officeDocument/2006/relationships/tags" Target="../tags/tag247.xml"/><Relationship Id="rId5" Type="http://schemas.openxmlformats.org/officeDocument/2006/relationships/tags" Target="../tags/tag241.xml"/><Relationship Id="rId15" Type="http://schemas.openxmlformats.org/officeDocument/2006/relationships/tags" Target="../tags/tag251.xml"/><Relationship Id="rId10" Type="http://schemas.openxmlformats.org/officeDocument/2006/relationships/tags" Target="../tags/tag246.xml"/><Relationship Id="rId19" Type="http://schemas.openxmlformats.org/officeDocument/2006/relationships/slideLayout" Target="../slideLayouts/slideLayout3.xml"/><Relationship Id="rId4" Type="http://schemas.openxmlformats.org/officeDocument/2006/relationships/tags" Target="../tags/tag240.xml"/><Relationship Id="rId9" Type="http://schemas.openxmlformats.org/officeDocument/2006/relationships/tags" Target="../tags/tag245.xml"/><Relationship Id="rId14" Type="http://schemas.openxmlformats.org/officeDocument/2006/relationships/tags" Target="../tags/tag250.xml"/><Relationship Id="rId22" Type="http://schemas.openxmlformats.org/officeDocument/2006/relationships/chart" Target="../charts/chart15.xml"/></Relationships>
</file>

<file path=ppt/slides/_rels/slide51.xml.rels><?xml version="1.0" encoding="UTF-8" standalone="yes"?>
<Relationships xmlns="http://schemas.openxmlformats.org/package/2006/relationships"><Relationship Id="rId26" Type="http://schemas.openxmlformats.org/officeDocument/2006/relationships/tags" Target="../tags/tag280.xml"/><Relationship Id="rId21" Type="http://schemas.openxmlformats.org/officeDocument/2006/relationships/tags" Target="../tags/tag275.xml"/><Relationship Id="rId42" Type="http://schemas.openxmlformats.org/officeDocument/2006/relationships/tags" Target="../tags/tag296.xml"/><Relationship Id="rId47" Type="http://schemas.openxmlformats.org/officeDocument/2006/relationships/tags" Target="../tags/tag301.xml"/><Relationship Id="rId63" Type="http://schemas.openxmlformats.org/officeDocument/2006/relationships/tags" Target="../tags/tag317.xml"/><Relationship Id="rId68" Type="http://schemas.openxmlformats.org/officeDocument/2006/relationships/slideLayout" Target="../slideLayouts/slideLayout3.xml"/><Relationship Id="rId2" Type="http://schemas.openxmlformats.org/officeDocument/2006/relationships/tags" Target="../tags/tag256.xml"/><Relationship Id="rId16" Type="http://schemas.openxmlformats.org/officeDocument/2006/relationships/tags" Target="../tags/tag270.xml"/><Relationship Id="rId29" Type="http://schemas.openxmlformats.org/officeDocument/2006/relationships/tags" Target="../tags/tag283.xml"/><Relationship Id="rId11" Type="http://schemas.openxmlformats.org/officeDocument/2006/relationships/tags" Target="../tags/tag265.xml"/><Relationship Id="rId24" Type="http://schemas.openxmlformats.org/officeDocument/2006/relationships/tags" Target="../tags/tag278.xml"/><Relationship Id="rId32" Type="http://schemas.openxmlformats.org/officeDocument/2006/relationships/tags" Target="../tags/tag286.xml"/><Relationship Id="rId37" Type="http://schemas.openxmlformats.org/officeDocument/2006/relationships/tags" Target="../tags/tag291.xml"/><Relationship Id="rId40" Type="http://schemas.openxmlformats.org/officeDocument/2006/relationships/tags" Target="../tags/tag294.xml"/><Relationship Id="rId45" Type="http://schemas.openxmlformats.org/officeDocument/2006/relationships/tags" Target="../tags/tag299.xml"/><Relationship Id="rId53" Type="http://schemas.openxmlformats.org/officeDocument/2006/relationships/tags" Target="../tags/tag307.xml"/><Relationship Id="rId58" Type="http://schemas.openxmlformats.org/officeDocument/2006/relationships/tags" Target="../tags/tag312.xml"/><Relationship Id="rId66" Type="http://schemas.openxmlformats.org/officeDocument/2006/relationships/tags" Target="../tags/tag320.xml"/><Relationship Id="rId5" Type="http://schemas.openxmlformats.org/officeDocument/2006/relationships/tags" Target="../tags/tag259.xml"/><Relationship Id="rId61" Type="http://schemas.openxmlformats.org/officeDocument/2006/relationships/tags" Target="../tags/tag315.xml"/><Relationship Id="rId19" Type="http://schemas.openxmlformats.org/officeDocument/2006/relationships/tags" Target="../tags/tag273.xml"/><Relationship Id="rId14" Type="http://schemas.openxmlformats.org/officeDocument/2006/relationships/tags" Target="../tags/tag268.xml"/><Relationship Id="rId22" Type="http://schemas.openxmlformats.org/officeDocument/2006/relationships/tags" Target="../tags/tag276.xml"/><Relationship Id="rId27" Type="http://schemas.openxmlformats.org/officeDocument/2006/relationships/tags" Target="../tags/tag281.xml"/><Relationship Id="rId30" Type="http://schemas.openxmlformats.org/officeDocument/2006/relationships/tags" Target="../tags/tag284.xml"/><Relationship Id="rId35" Type="http://schemas.openxmlformats.org/officeDocument/2006/relationships/tags" Target="../tags/tag289.xml"/><Relationship Id="rId43" Type="http://schemas.openxmlformats.org/officeDocument/2006/relationships/tags" Target="../tags/tag297.xml"/><Relationship Id="rId48" Type="http://schemas.openxmlformats.org/officeDocument/2006/relationships/tags" Target="../tags/tag302.xml"/><Relationship Id="rId56" Type="http://schemas.openxmlformats.org/officeDocument/2006/relationships/tags" Target="../tags/tag310.xml"/><Relationship Id="rId64" Type="http://schemas.openxmlformats.org/officeDocument/2006/relationships/tags" Target="../tags/tag318.xml"/><Relationship Id="rId69" Type="http://schemas.openxmlformats.org/officeDocument/2006/relationships/notesSlide" Target="../notesSlides/notesSlide11.xml"/><Relationship Id="rId8" Type="http://schemas.openxmlformats.org/officeDocument/2006/relationships/tags" Target="../tags/tag262.xml"/><Relationship Id="rId51" Type="http://schemas.openxmlformats.org/officeDocument/2006/relationships/tags" Target="../tags/tag305.xml"/><Relationship Id="rId72" Type="http://schemas.openxmlformats.org/officeDocument/2006/relationships/chart" Target="../charts/chart16.xml"/><Relationship Id="rId3" Type="http://schemas.openxmlformats.org/officeDocument/2006/relationships/tags" Target="../tags/tag257.xml"/><Relationship Id="rId12" Type="http://schemas.openxmlformats.org/officeDocument/2006/relationships/tags" Target="../tags/tag266.xml"/><Relationship Id="rId17" Type="http://schemas.openxmlformats.org/officeDocument/2006/relationships/tags" Target="../tags/tag271.xml"/><Relationship Id="rId25" Type="http://schemas.openxmlformats.org/officeDocument/2006/relationships/tags" Target="../tags/tag279.xml"/><Relationship Id="rId33" Type="http://schemas.openxmlformats.org/officeDocument/2006/relationships/tags" Target="../tags/tag287.xml"/><Relationship Id="rId38" Type="http://schemas.openxmlformats.org/officeDocument/2006/relationships/tags" Target="../tags/tag292.xml"/><Relationship Id="rId46" Type="http://schemas.openxmlformats.org/officeDocument/2006/relationships/tags" Target="../tags/tag300.xml"/><Relationship Id="rId59" Type="http://schemas.openxmlformats.org/officeDocument/2006/relationships/tags" Target="../tags/tag313.xml"/><Relationship Id="rId67" Type="http://schemas.openxmlformats.org/officeDocument/2006/relationships/tags" Target="../tags/tag321.xml"/><Relationship Id="rId20" Type="http://schemas.openxmlformats.org/officeDocument/2006/relationships/tags" Target="../tags/tag274.xml"/><Relationship Id="rId41" Type="http://schemas.openxmlformats.org/officeDocument/2006/relationships/tags" Target="../tags/tag295.xml"/><Relationship Id="rId54" Type="http://schemas.openxmlformats.org/officeDocument/2006/relationships/tags" Target="../tags/tag308.xml"/><Relationship Id="rId62" Type="http://schemas.openxmlformats.org/officeDocument/2006/relationships/tags" Target="../tags/tag316.xml"/><Relationship Id="rId70" Type="http://schemas.openxmlformats.org/officeDocument/2006/relationships/oleObject" Target="../embeddings/oleObject16.bin"/><Relationship Id="rId1" Type="http://schemas.openxmlformats.org/officeDocument/2006/relationships/tags" Target="../tags/tag255.xml"/><Relationship Id="rId6" Type="http://schemas.openxmlformats.org/officeDocument/2006/relationships/tags" Target="../tags/tag260.xml"/><Relationship Id="rId15" Type="http://schemas.openxmlformats.org/officeDocument/2006/relationships/tags" Target="../tags/tag269.xml"/><Relationship Id="rId23" Type="http://schemas.openxmlformats.org/officeDocument/2006/relationships/tags" Target="../tags/tag277.xml"/><Relationship Id="rId28" Type="http://schemas.openxmlformats.org/officeDocument/2006/relationships/tags" Target="../tags/tag282.xml"/><Relationship Id="rId36" Type="http://schemas.openxmlformats.org/officeDocument/2006/relationships/tags" Target="../tags/tag290.xml"/><Relationship Id="rId49" Type="http://schemas.openxmlformats.org/officeDocument/2006/relationships/tags" Target="../tags/tag303.xml"/><Relationship Id="rId57" Type="http://schemas.openxmlformats.org/officeDocument/2006/relationships/tags" Target="../tags/tag311.xml"/><Relationship Id="rId10" Type="http://schemas.openxmlformats.org/officeDocument/2006/relationships/tags" Target="../tags/tag264.xml"/><Relationship Id="rId31" Type="http://schemas.openxmlformats.org/officeDocument/2006/relationships/tags" Target="../tags/tag285.xml"/><Relationship Id="rId44" Type="http://schemas.openxmlformats.org/officeDocument/2006/relationships/tags" Target="../tags/tag298.xml"/><Relationship Id="rId52" Type="http://schemas.openxmlformats.org/officeDocument/2006/relationships/tags" Target="../tags/tag306.xml"/><Relationship Id="rId60" Type="http://schemas.openxmlformats.org/officeDocument/2006/relationships/tags" Target="../tags/tag314.xml"/><Relationship Id="rId65" Type="http://schemas.openxmlformats.org/officeDocument/2006/relationships/tags" Target="../tags/tag319.xml"/><Relationship Id="rId73" Type="http://schemas.openxmlformats.org/officeDocument/2006/relationships/chart" Target="../charts/chart17.xml"/><Relationship Id="rId4" Type="http://schemas.openxmlformats.org/officeDocument/2006/relationships/tags" Target="../tags/tag258.xml"/><Relationship Id="rId9" Type="http://schemas.openxmlformats.org/officeDocument/2006/relationships/tags" Target="../tags/tag263.xml"/><Relationship Id="rId13" Type="http://schemas.openxmlformats.org/officeDocument/2006/relationships/tags" Target="../tags/tag267.xml"/><Relationship Id="rId18" Type="http://schemas.openxmlformats.org/officeDocument/2006/relationships/tags" Target="../tags/tag272.xml"/><Relationship Id="rId39" Type="http://schemas.openxmlformats.org/officeDocument/2006/relationships/tags" Target="../tags/tag293.xml"/><Relationship Id="rId34" Type="http://schemas.openxmlformats.org/officeDocument/2006/relationships/tags" Target="../tags/tag288.xml"/><Relationship Id="rId50" Type="http://schemas.openxmlformats.org/officeDocument/2006/relationships/tags" Target="../tags/tag304.xml"/><Relationship Id="rId55" Type="http://schemas.openxmlformats.org/officeDocument/2006/relationships/tags" Target="../tags/tag309.xml"/><Relationship Id="rId7" Type="http://schemas.openxmlformats.org/officeDocument/2006/relationships/tags" Target="../tags/tag261.xml"/><Relationship Id="rId71" Type="http://schemas.openxmlformats.org/officeDocument/2006/relationships/image" Target="../media/image4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lang="ru-RU" kumimoji="0" sz="5000" b="1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QBR </a:t>
            </a:r>
            <a:r>
              <a:rPr lang="ru-RU" kumimoji="0" sz="5000" b="1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и 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Людмила </a:t>
            </a:r>
            <a:r>
              <a:rPr lang="ru-RU"/>
              <a:t>Марлье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DA7F0-BF63-4B83-0DBE-C99C20616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2DBB26F-E006-4AF2-FDFF-57878A7F8E3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103BE124-5F0F-D3B8-CD52-CBF547F1FB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7E20780A-A346-6B8D-41C8-69A459F7C43D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QBR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r>
              <a:rPr lang="ru-RU" sz="5000" b="1">
                <a:solidFill>
                  <a:srgbClr val="FFFFFF"/>
                </a:solidFill>
                <a:latin typeface="Arial"/>
              </a:rPr>
              <a:t>Результаты сентября 2026</a:t>
            </a:r>
            <a:br>
              <a:rPr lang="en-US" sz="5000" b="1" dirty="0">
                <a:solidFill>
                  <a:srgbClr val="FFFFFF"/>
                </a:solidFill>
                <a:latin typeface="Arial"/>
              </a:rPr>
            </a:br>
            <a:endParaRPr lang="ru-RU" sz="50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1F1415-A9F6-0899-FAE8-81897139A28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3162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301853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D65656BD-BDC7-4AB7-9502-886BF31BBD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Статус выполнения КПЭ: </a:t>
            </a:r>
            <a:r>
              <a:rPr lang="ru-RU">
                <a:solidFill>
                  <a:schemeClr val="dk1"/>
                </a:solidFill>
                <a:latin typeface="+mn-lt"/>
                <a:sym typeface="Montserrat"/>
              </a:rPr>
              <a:t>т</a:t>
            </a: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риггеры КПЭ выполняются </a:t>
            </a:r>
            <a:br>
              <a:rPr lang="ru-RU" sz="2400" b="1" dirty="0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</a:br>
            <a:r>
              <a:rPr lang="ru-RU" sz="2400" b="1">
                <a:solidFill>
                  <a:schemeClr val="dk1"/>
                </a:solidFill>
                <a:latin typeface="+mn-lt"/>
                <a:ea typeface="Montserrat"/>
                <a:sym typeface="Montserrat"/>
              </a:rPr>
              <a:t>в полном объеме</a:t>
            </a:r>
            <a:endParaRPr lang="ru-RU"/>
          </a:p>
          <a:p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39FE8D2-E681-4AB4-8331-4BF473CEC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485019"/>
              </p:ext>
            </p:extLst>
          </p:nvPr>
        </p:nvGraphicFramePr>
        <p:xfrm>
          <a:off x="364174" y="939157"/>
          <a:ext cx="11463642" cy="2759440"/>
        </p:xfrm>
        <a:graphic>
          <a:graphicData uri="http://schemas.openxmlformats.org/drawingml/2006/table">
            <a:tbl>
              <a:tblPr/>
              <a:tblGrid>
                <a:gridCol w="1506959">
                  <a:extLst>
                    <a:ext uri="{9D8B030D-6E8A-4147-A177-3AD203B41FA5}">
                      <a16:colId xmlns:a16="http://schemas.microsoft.com/office/drawing/2014/main" val="266420583"/>
                    </a:ext>
                  </a:extLst>
                </a:gridCol>
                <a:gridCol w="2003337">
                  <a:extLst>
                    <a:ext uri="{9D8B030D-6E8A-4147-A177-3AD203B41FA5}">
                      <a16:colId xmlns:a16="http://schemas.microsoft.com/office/drawing/2014/main" val="1371208351"/>
                    </a:ext>
                  </a:extLst>
                </a:gridCol>
                <a:gridCol w="474006">
                  <a:extLst>
                    <a:ext uri="{9D8B030D-6E8A-4147-A177-3AD203B41FA5}">
                      <a16:colId xmlns:a16="http://schemas.microsoft.com/office/drawing/2014/main" val="279094395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1583470004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743709276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3662016787"/>
                    </a:ext>
                  </a:extLst>
                </a:gridCol>
                <a:gridCol w="697186">
                  <a:extLst>
                    <a:ext uri="{9D8B030D-6E8A-4147-A177-3AD203B41FA5}">
                      <a16:colId xmlns:a16="http://schemas.microsoft.com/office/drawing/2014/main" val="1493236834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644740059"/>
                    </a:ext>
                  </a:extLst>
                </a:gridCol>
                <a:gridCol w="587233">
                  <a:extLst>
                    <a:ext uri="{9D8B030D-6E8A-4147-A177-3AD203B41FA5}">
                      <a16:colId xmlns:a16="http://schemas.microsoft.com/office/drawing/2014/main" val="2101338174"/>
                    </a:ext>
                  </a:extLst>
                </a:gridCol>
                <a:gridCol w="931333">
                  <a:extLst>
                    <a:ext uri="{9D8B030D-6E8A-4147-A177-3AD203B41FA5}">
                      <a16:colId xmlns:a16="http://schemas.microsoft.com/office/drawing/2014/main" val="1045963864"/>
                    </a:ext>
                  </a:extLst>
                </a:gridCol>
                <a:gridCol w="93133">
                  <a:extLst>
                    <a:ext uri="{9D8B030D-6E8A-4147-A177-3AD203B41FA5}">
                      <a16:colId xmlns:a16="http://schemas.microsoft.com/office/drawing/2014/main" val="1009357481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1047428590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840101419"/>
                    </a:ext>
                  </a:extLst>
                </a:gridCol>
                <a:gridCol w="601133">
                  <a:extLst>
                    <a:ext uri="{9D8B030D-6E8A-4147-A177-3AD203B41FA5}">
                      <a16:colId xmlns:a16="http://schemas.microsoft.com/office/drawing/2014/main" val="2904748871"/>
                    </a:ext>
                  </a:extLst>
                </a:gridCol>
                <a:gridCol w="118534">
                  <a:extLst>
                    <a:ext uri="{9D8B030D-6E8A-4147-A177-3AD203B41FA5}">
                      <a16:colId xmlns:a16="http://schemas.microsoft.com/office/drawing/2014/main" val="3323509817"/>
                    </a:ext>
                  </a:extLst>
                </a:gridCol>
                <a:gridCol w="643465">
                  <a:extLst>
                    <a:ext uri="{9D8B030D-6E8A-4147-A177-3AD203B41FA5}">
                      <a16:colId xmlns:a16="http://schemas.microsoft.com/office/drawing/2014/main" val="1780177134"/>
                    </a:ext>
                  </a:extLst>
                </a:gridCol>
                <a:gridCol w="1015885">
                  <a:extLst>
                    <a:ext uri="{9D8B030D-6E8A-4147-A177-3AD203B41FA5}">
                      <a16:colId xmlns:a16="http://schemas.microsoft.com/office/drawing/2014/main" val="444242803"/>
                    </a:ext>
                  </a:extLst>
                </a:gridCol>
              </a:tblGrid>
              <a:tr h="356546"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 9м 2026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2026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11758"/>
                  </a:ext>
                </a:extLst>
              </a:tr>
              <a:tr h="35654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КПЭ</a:t>
                      </a:r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Показатель</a:t>
                      </a:r>
                      <a:endParaRPr lang="ru-RU" sz="1100" b="1" i="0" u="none" strike="noStrike" baseline="3000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baseline="0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Вес</a:t>
                      </a:r>
                      <a:endParaRPr lang="ru-RU" sz="1100" b="1" i="0" u="none" strike="noStrike" baseline="0">
                        <a:solidFill>
                          <a:schemeClr val="tx1"/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3600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Выполнение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Мин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Цель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Макс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Факт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Прогноз выполнения</a:t>
                      </a: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243003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AdTech EBITDA</a:t>
                      </a:r>
                      <a:endParaRPr lang="en-US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Значение, млрд руб.</a:t>
                      </a:r>
                      <a:endParaRPr lang="ru-RU" sz="1100" b="1" i="0" u="none" strike="noStrike" baseline="3000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</a:t>
                      </a: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1,94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3,05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4,3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kumimoji="0" sz="1100" b="1" i="0" u="none" strike="noStrike" kern="1200" cap="none" spc="0" normalizeH="0" baseline="0">
                        <a:ln>
                          <a:noFill/>
                        </a:ln>
                        <a:solidFill>
                          <a:srgbClr val="087936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90947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196,04%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92%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125%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140,25%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371140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057018"/>
                  </a:ext>
                </a:extLst>
              </a:tr>
              <a:tr h="341058">
                <a:tc rowSpan="3">
                  <a:txBody>
                    <a:bodyPr/>
                    <a:lstStyle/>
                    <a:p>
                      <a:pPr marL="36000" marR="0" lvl="0" indent="0" algn="l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Инкрементальная выручка от некоммерческих поставщиков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2000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Значение, млрд руб.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36000" algn="ctr" fontAlgn="ctr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%</a:t>
                      </a:r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r" rtl="0">
                        <a:buNone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0,63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0,75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  <a:endParaRPr lang="en-US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endParaRPr lang="ru-RU" sz="1100" b="1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kumimoji="0" sz="1100" b="1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87936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481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% выполнения бюджета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118,64%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120,16%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750436"/>
                  </a:ext>
                </a:extLst>
              </a:tr>
              <a:tr h="341058">
                <a:tc vMerge="1">
                  <a:txBody>
                    <a:bodyPr/>
                    <a:lstStyle/>
                    <a:p>
                      <a:pPr marL="360000" marR="0" lvl="1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i="0" u="none" strike="noStrike" kern="1200" cap="none">
                        <a:solidFill>
                          <a:schemeClr val="accent2"/>
                        </a:solidFill>
                        <a:latin typeface="+mn-l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6000" marR="0" lvl="1" indent="0" algn="l" defTabSz="914354" rtl="0" eaLnBrk="1" fontAlgn="ctr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ru-RU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  <a:sym typeface="Montserrat"/>
                        </a:rPr>
                        <a:t>Оценка (Выплата премии)</a:t>
                      </a:r>
                    </a:p>
                  </a:txBody>
                  <a:tcPr marL="0" marR="0" marT="0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36000" algn="ctr" fontAlgn="ctr"/>
                      <a:endParaRPr lang="ru-RU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146,6%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54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i="0" u="none" strike="noStrike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marL="0" marR="7200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150%</a:t>
                      </a:r>
                    </a:p>
                  </a:txBody>
                  <a:tcPr marL="0" marR="0" marT="0" marB="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ru-RU" sz="1100" b="1" i="0" u="none" strike="noStrike">
                        <a:solidFill>
                          <a:srgbClr val="087936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78" marR="5778" marT="5778" marB="0" anchor="ctr">
                    <a:lnL w="0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3606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54CBD42-8B3D-4B5C-8D9E-FA37F778EAED}"/>
              </a:ext>
            </a:extLst>
          </p:cNvPr>
          <p:cNvSpPr txBox="1"/>
          <p:nvPr/>
        </p:nvSpPr>
        <p:spPr>
          <a:xfrm>
            <a:off x="326464" y="3847656"/>
            <a:ext cx="102605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Расчет EBITDA, применимый к КПЭ выполняется без учета базовой выручки </a:t>
            </a:r>
            <a:r>
              <a:rPr lang="en-US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</a:t>
            </a: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</a:t>
            </a:r>
            <a:br>
              <a:rPr kumimoji="0" lang="en-US" sz="12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</a:b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Расшифровка</a:t>
            </a:r>
            <a:r>
              <a:rPr lang="ru-RU" kumimoji="0" sz="1200" b="0" i="1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:</a:t>
            </a:r>
            <a:endParaRPr lang="ru-RU" kumimoji="0" sz="1200" b="0" i="1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aphicFrame>
        <p:nvGraphicFramePr>
          <p:cNvPr id="11" name="Google Shape;315;p47">
            <a:extLst>
              <a:ext uri="{FF2B5EF4-FFF2-40B4-BE49-F238E27FC236}">
                <a16:creationId xmlns:a16="http://schemas.microsoft.com/office/drawing/2014/main" id="{424E3A06-3193-4916-98C3-B1A49BE3BD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2365435"/>
              </p:ext>
            </p:extLst>
          </p:nvPr>
        </p:nvGraphicFramePr>
        <p:xfrm>
          <a:off x="364174" y="4259720"/>
          <a:ext cx="2867833" cy="191560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1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1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ontserrat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AdTech EBITDA, 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ru-RU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lang="ru-RU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1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1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4 607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1 409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1 499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246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(1 557)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845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3 050</a:t>
                      </a:r>
                    </a:p>
                  </a:txBody>
                  <a:tcPr marL="0" marR="0" marT="0" marB="0" anchor="b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A39E7C9-4688-44BB-819A-7672B8A8DC45}"/>
              </a:ext>
            </a:extLst>
          </p:cNvPr>
          <p:cNvSpPr/>
          <p:nvPr/>
        </p:nvSpPr>
        <p:spPr>
          <a:xfrm rot="16200000">
            <a:off x="43676" y="4790599"/>
            <a:ext cx="385576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7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lang="en-US" kumimoji="0" sz="700" b="1" i="0" u="none" strike="noStrike" kern="0" cap="none" spc="0" normalizeH="0" baseline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E46B5DC-FF39-41BA-9F91-CE8DE528923E}"/>
              </a:ext>
            </a:extLst>
          </p:cNvPr>
          <p:cNvSpPr/>
          <p:nvPr/>
        </p:nvSpPr>
        <p:spPr>
          <a:xfrm rot="16200000">
            <a:off x="-48515" y="5334907"/>
            <a:ext cx="56996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7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lang="en-US" kumimoji="0" sz="700" b="1" i="0" u="none" strike="noStrike" kern="0" cap="none" spc="0" normalizeH="0" baseline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8917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9M 2026 MAGNIT ADS YTD BU vs YTD ACT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+2 210 млн руб.</a:t>
            </a:r>
            <a:endParaRPr lang="ru-RU" kumimoji="0" sz="1100" b="1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(1 940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(-8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(278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+1 181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поставщикам (301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(126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(754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ФОТ +20 млн руб.: рекласс ФОТ в CAPEX в сентябре, индексация (+22 млн руб.); перерасход по премиям и STI (-66 млн руб.), отпускным (-47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(+254 млн руб.), по вознаграждениям РА (+91 млн руб.), маркетинг ВГО (-22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ноутбуках и облачном хранении данных (+31 млн руб.), сдвиг по рекламному сбору (+25 млн руб.), подбор, обучение, HR-бренд (+13 млн руб.), резерв отпусков (-28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Эффект увеличения продаж рекламы новым контрагентам и доступности </a:t>
            </a:r>
            <a:r>
              <a:rPr lang="en-US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instore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инвентаря, а также подхода по совместному признанию выручки с FT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ФОТ, частично компенсирован 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реклассом</a:t>
            </a: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ФОТ в CAPEX в сентябре (-180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закупке оборудования +281 млн руб. Экономия за счет снижения тендерной цены закупки +102 млн руб.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620677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3224118588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YTD 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2 048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187%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1 973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1 181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3 156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6 546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3 391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1 108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1 409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поставщики/База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 поставщики/Инкремент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(1 955)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(1 557)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(791)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(771)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(61)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4 989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3 789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(1 070)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4 264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1 548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1 664%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00931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Сентябрь 2026 Magnit ADS financial review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80488153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ACT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766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395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106%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101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102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338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208%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511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3%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351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53%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199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150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163%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-16%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289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178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244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(577)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503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-87%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45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-145%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(468)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362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(1)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937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854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1 029%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(243)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(423)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74%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(216)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494%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(160)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514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674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 (206)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691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897</a:t>
                      </a:r>
                      <a:endParaRPr lang="ru-RU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</a:t>
                      </a:r>
                      <a:endParaRPr lang="ru-RU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CE9DCB-4453-443B-B7EC-B94BB7C247F5}"/>
              </a:ext>
            </a:extLst>
          </p:cNvPr>
          <p:cNvSpPr txBox="1"/>
          <p:nvPr/>
        </p:nvSpPr>
        <p:spPr>
          <a:xfrm>
            <a:off x="6784848" y="643938"/>
            <a:ext cx="5042977" cy="557075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+338 млн руб.</a:t>
            </a:r>
            <a:endParaRPr lang="ru-RU" kumimoji="0" sz="1100" b="1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(199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(-11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(150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+13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(-243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(244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(+166 млн руб.); доначисление резерва STI (-16 млн руб.), отпускные (-7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Экономия на закупке трафика для перепродажи (+325 млн руб.), по вознаграждениям РА (+31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(-2 млн руб.), резерв отпусков (-5 млн руб.), аренда (+2 млн руб.), IT (+1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выручки (+351 млн руб.) и экономия OPEX (+503 млн руб.): рекласс ФОТ в CAPEX и закупка трафика ниже бюджета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kern="0">
                <a:solidFill>
                  <a:srgbClr val="000000"/>
                </a:solidFill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Рекласс ФОТ в CAPEX (-180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целевая система управления медиаконтентом (206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28" name="Овал 8">
            <a:extLst>
              <a:ext uri="{FF2B5EF4-FFF2-40B4-BE49-F238E27FC236}">
                <a16:creationId xmlns:a16="http://schemas.microsoft.com/office/drawing/2014/main" id="{6DD61664-2957-4AE6-956B-768D34D413C8}"/>
              </a:ext>
            </a:extLst>
          </p:cNvPr>
          <p:cNvSpPr/>
          <p:nvPr/>
        </p:nvSpPr>
        <p:spPr>
          <a:xfrm>
            <a:off x="6763736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0BB0E809-DE6D-433D-B29F-A88526481BA8}"/>
              </a:ext>
            </a:extLst>
          </p:cNvPr>
          <p:cNvSpPr/>
          <p:nvPr/>
        </p:nvSpPr>
        <p:spPr>
          <a:xfrm>
            <a:off x="6763736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0" name="Овал 8">
            <a:extLst>
              <a:ext uri="{FF2B5EF4-FFF2-40B4-BE49-F238E27FC236}">
                <a16:creationId xmlns:a16="http://schemas.microsoft.com/office/drawing/2014/main" id="{5457E264-C436-47F0-8CD9-C364A845370E}"/>
              </a:ext>
            </a:extLst>
          </p:cNvPr>
          <p:cNvSpPr/>
          <p:nvPr/>
        </p:nvSpPr>
        <p:spPr>
          <a:xfrm>
            <a:off x="6763736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1" name="Овал 8">
            <a:extLst>
              <a:ext uri="{FF2B5EF4-FFF2-40B4-BE49-F238E27FC236}">
                <a16:creationId xmlns:a16="http://schemas.microsoft.com/office/drawing/2014/main" id="{24569A11-7FD3-4A55-BE8D-493888BBBB63}"/>
              </a:ext>
            </a:extLst>
          </p:cNvPr>
          <p:cNvSpPr/>
          <p:nvPr/>
        </p:nvSpPr>
        <p:spPr>
          <a:xfrm>
            <a:off x="6763736" y="3104274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32" name="Овал 8">
            <a:extLst>
              <a:ext uri="{FF2B5EF4-FFF2-40B4-BE49-F238E27FC236}">
                <a16:creationId xmlns:a16="http://schemas.microsoft.com/office/drawing/2014/main" id="{918442A0-B014-4841-B4A2-2735753C9202}"/>
              </a:ext>
            </a:extLst>
          </p:cNvPr>
          <p:cNvSpPr/>
          <p:nvPr/>
        </p:nvSpPr>
        <p:spPr>
          <a:xfrm>
            <a:off x="6763736" y="360756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33" name="Овал 8">
            <a:extLst>
              <a:ext uri="{FF2B5EF4-FFF2-40B4-BE49-F238E27FC236}">
                <a16:creationId xmlns:a16="http://schemas.microsoft.com/office/drawing/2014/main" id="{BBC10EF4-BCBD-42B4-9FF1-974B17A60F1E}"/>
              </a:ext>
            </a:extLst>
          </p:cNvPr>
          <p:cNvSpPr/>
          <p:nvPr/>
        </p:nvSpPr>
        <p:spPr>
          <a:xfrm>
            <a:off x="6763736" y="4110838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4" name="Овал 8">
            <a:extLst>
              <a:ext uri="{FF2B5EF4-FFF2-40B4-BE49-F238E27FC236}">
                <a16:creationId xmlns:a16="http://schemas.microsoft.com/office/drawing/2014/main" id="{D28840EB-76EB-4C10-A67D-23E9A5CED7EC}"/>
              </a:ext>
            </a:extLst>
          </p:cNvPr>
          <p:cNvSpPr/>
          <p:nvPr/>
        </p:nvSpPr>
        <p:spPr>
          <a:xfrm>
            <a:off x="6763736" y="461411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35" name="Овал 8">
            <a:extLst>
              <a:ext uri="{FF2B5EF4-FFF2-40B4-BE49-F238E27FC236}">
                <a16:creationId xmlns:a16="http://schemas.microsoft.com/office/drawing/2014/main" id="{B3EA53C5-2A57-48DB-A16F-12780C0A4892}"/>
              </a:ext>
            </a:extLst>
          </p:cNvPr>
          <p:cNvSpPr/>
          <p:nvPr/>
        </p:nvSpPr>
        <p:spPr>
          <a:xfrm>
            <a:off x="6763736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12925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ru-RU"/>
              <a:t>9+3 FC 2026 MAGNIT ADS: BU vs FC (год)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+4 441 млн руб.</a:t>
            </a:r>
            <a:endParaRPr lang="ru-RU" kumimoji="0" sz="1100" b="1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(3 430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(932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(80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+344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(-783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(1 005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(122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(-96 млн руб.), отпускные (-71 млн руб.), налоги (-17 млн руб.); оплата труда +118 млн руб. (рекласс ФОТ в CAPEX), индексация не закладывается (+49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для перепродажи (+305 млн руб.), вознаграждения РА (+91 млн руб.), маркетинг ВГО (-36 млн руб.), PR/GR (+14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(+38 млн руб.), IT: ноутбуки и облачное хранение (+42 млн руб.), резерв отпусков (-22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выручки с FT и рост продаж E-com, экономия OPEX (+425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Сдвиг по капитализации ФОТ за 9 мес. (+93 млн руб.), Q4 — по бюджету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Целевая система управления медиаконтентом (+227 млн руб.), фасадные экраны ТТ (+93 млн руб.), интеграция с КСО (+67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43979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94308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4463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94963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2851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2026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9+3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3 515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5 653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6 175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4 113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4 457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5 847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10 632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3 430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1 916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2 333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(783)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1 531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2 535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1 005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66%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(2 789)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(2 364)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(1 106)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(1 519)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(1 151)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(92)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(59)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(16)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3 058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8 268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5 210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170%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(1 180)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(704)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475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(447)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-21%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(733)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(350)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1 878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7 564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5 685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303%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725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2 563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353%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92AC1EC-B823-4BF0-B26A-C9D7B3071C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4422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2AC1EC-B823-4BF0-B26A-C9D7B3071C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" name="Google Shape;327;p48"/>
          <p:cNvSpPr txBox="1"/>
          <p:nvPr/>
        </p:nvSpPr>
        <p:spPr>
          <a:xfrm>
            <a:off x="240345" y="53157"/>
            <a:ext cx="11403457" cy="63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tabLst/>
              <a:defRPr/>
            </a:pPr>
            <a:endParaRPr lang="ru-RU" kumimoji="0" sz="1467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E48C7187-18FD-44A4-814C-AEACFE627C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313385"/>
          </a:xfrm>
        </p:spPr>
        <p:txBody>
          <a:bodyPr/>
          <a:lstStyle/>
          <a:p>
            <a:r>
              <a:rPr lang="en-US"/>
              <a:t>Q4 2026 (YTG) MAGNIT ADS: BU vs FC</a:t>
            </a:r>
          </a:p>
        </p:txBody>
      </p:sp>
      <p:sp>
        <p:nvSpPr>
          <p:cNvPr id="8" name="Номер слайда 2">
            <a:extLst>
              <a:ext uri="{FF2B5EF4-FFF2-40B4-BE49-F238E27FC236}">
                <a16:creationId xmlns:a16="http://schemas.microsoft.com/office/drawing/2014/main" id="{97AE4444-1457-4A8B-8FBC-FFEE0CE7E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EEA04-9C1D-4033-BDAE-A573C4676EE5}"/>
              </a:ext>
            </a:extLst>
          </p:cNvPr>
          <p:cNvSpPr txBox="1"/>
          <p:nvPr/>
        </p:nvSpPr>
        <p:spPr>
          <a:xfrm>
            <a:off x="6629400" y="643938"/>
            <a:ext cx="5452311" cy="590931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E-com revenue +2 231 млн руб.</a:t>
            </a:r>
            <a:endParaRPr lang="ru-RU" kumimoji="0" sz="1100" b="1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совместное признание с FT (1 490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(654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увеличение реализации не-поставщикам (88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7675" marR="0" lvl="2" indent="-18256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0" indent="-265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Non-E-com revenue -837 млн руб.</a:t>
            </a: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поставщикам (-1 084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реклама неактивным в 2025 г. поставщикам (251 млн руб.), 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446088" marR="0" lvl="0" indent="-1809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снижение реализации не-поставщикам (-4 млн руб.)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2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Премии и резерв STI (-30 млн руб.), отпускные (-24 млн руб.), налоги (-11 млн руб.); индексация не закладывается (+28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Закупка трафика MIP (+51 млн руб.), маркетинг ВГО (-14 млн руб.), вознаграждения блогерам (-3 млн руб.).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Рекламный сбор (+13 млн руб.), IT (+11 млн руб.), резерв отпусков (+6 млн руб.).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Montserrat"/>
              <a:cs typeface="Arial" panose="020B0604020202020204" pitchFamily="34" charset="0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 E-com (+2 231 млн руб.) перекрывает Non-E-com ниже бюджета: Instore (-414 млн руб.), MIP, Magnit Market, DMP (-423 млн руб.)</a:t>
            </a: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Montserrat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бюджету: капитализация ФОТ ~36 млн руб. в месяц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  <a:sym typeface="Arial"/>
            </a:endParaRPr>
          </a:p>
          <a:p>
            <a:pPr marL="265113" marR="0" lvl="2" indent="-17938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1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По бюджету (в Q4 закупок не запланировано)</a:t>
            </a:r>
            <a:endParaRPr lang="ru-RU" kumimoji="0" sz="11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 panose="020B0604020202020204" pitchFamily="34" charset="0"/>
              <a:sym typeface="Arial"/>
            </a:endParaRPr>
          </a:p>
        </p:txBody>
      </p:sp>
      <p:sp>
        <p:nvSpPr>
          <p:cNvPr id="10" name="Овал 8">
            <a:extLst>
              <a:ext uri="{FF2B5EF4-FFF2-40B4-BE49-F238E27FC236}">
                <a16:creationId xmlns:a16="http://schemas.microsoft.com/office/drawing/2014/main" id="{8889FAF7-B4E1-451B-8947-E8401226A369}"/>
              </a:ext>
            </a:extLst>
          </p:cNvPr>
          <p:cNvSpPr/>
          <p:nvPr/>
        </p:nvSpPr>
        <p:spPr>
          <a:xfrm>
            <a:off x="421597" y="12674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1" name="Овал 15">
            <a:extLst>
              <a:ext uri="{FF2B5EF4-FFF2-40B4-BE49-F238E27FC236}">
                <a16:creationId xmlns:a16="http://schemas.microsoft.com/office/drawing/2014/main" id="{19826D86-69FF-4986-A814-CEB8EA3B1CFD}"/>
              </a:ext>
            </a:extLst>
          </p:cNvPr>
          <p:cNvSpPr/>
          <p:nvPr/>
        </p:nvSpPr>
        <p:spPr>
          <a:xfrm>
            <a:off x="421597" y="15139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2" name="Овал 8">
            <a:extLst>
              <a:ext uri="{FF2B5EF4-FFF2-40B4-BE49-F238E27FC236}">
                <a16:creationId xmlns:a16="http://schemas.microsoft.com/office/drawing/2014/main" id="{02F64E21-B7F4-4B67-B185-A343A5857B91}"/>
              </a:ext>
            </a:extLst>
          </p:cNvPr>
          <p:cNvSpPr/>
          <p:nvPr/>
        </p:nvSpPr>
        <p:spPr>
          <a:xfrm>
            <a:off x="421597" y="387736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3" name="Овал 8">
            <a:extLst>
              <a:ext uri="{FF2B5EF4-FFF2-40B4-BE49-F238E27FC236}">
                <a16:creationId xmlns:a16="http://schemas.microsoft.com/office/drawing/2014/main" id="{A6279F2B-4BDD-4BA1-A7C4-E4D3B7F2AB20}"/>
              </a:ext>
            </a:extLst>
          </p:cNvPr>
          <p:cNvSpPr/>
          <p:nvPr/>
        </p:nvSpPr>
        <p:spPr>
          <a:xfrm>
            <a:off x="421597" y="428203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14" name="Овал 8">
            <a:extLst>
              <a:ext uri="{FF2B5EF4-FFF2-40B4-BE49-F238E27FC236}">
                <a16:creationId xmlns:a16="http://schemas.microsoft.com/office/drawing/2014/main" id="{FA1236AB-4DC6-461D-B7C2-F46E8ABD5A66}"/>
              </a:ext>
            </a:extLst>
          </p:cNvPr>
          <p:cNvSpPr/>
          <p:nvPr/>
        </p:nvSpPr>
        <p:spPr>
          <a:xfrm>
            <a:off x="421597" y="450193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15" name="Овал 8">
            <a:extLst>
              <a:ext uri="{FF2B5EF4-FFF2-40B4-BE49-F238E27FC236}">
                <a16:creationId xmlns:a16="http://schemas.microsoft.com/office/drawing/2014/main" id="{1430FF61-C52C-4A41-88F7-946ACD388A92}"/>
              </a:ext>
            </a:extLst>
          </p:cNvPr>
          <p:cNvSpPr/>
          <p:nvPr/>
        </p:nvSpPr>
        <p:spPr>
          <a:xfrm>
            <a:off x="6629400" y="109115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1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226CD9A3-30BA-4EBC-8975-4E85F3F2FFAA}"/>
              </a:ext>
            </a:extLst>
          </p:cNvPr>
          <p:cNvSpPr/>
          <p:nvPr/>
        </p:nvSpPr>
        <p:spPr>
          <a:xfrm>
            <a:off x="6629400" y="192995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2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7" name="Овал 8">
            <a:extLst>
              <a:ext uri="{FF2B5EF4-FFF2-40B4-BE49-F238E27FC236}">
                <a16:creationId xmlns:a16="http://schemas.microsoft.com/office/drawing/2014/main" id="{DCB4E56D-3C8C-4BA8-A841-9C608AF74444}"/>
              </a:ext>
            </a:extLst>
          </p:cNvPr>
          <p:cNvSpPr/>
          <p:nvPr/>
        </p:nvSpPr>
        <p:spPr>
          <a:xfrm>
            <a:off x="421597" y="494056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8" name="Овал 8">
            <a:extLst>
              <a:ext uri="{FF2B5EF4-FFF2-40B4-BE49-F238E27FC236}">
                <a16:creationId xmlns:a16="http://schemas.microsoft.com/office/drawing/2014/main" id="{5CFE44FA-4804-473E-9017-9C8D85C4C481}"/>
              </a:ext>
            </a:extLst>
          </p:cNvPr>
          <p:cNvSpPr/>
          <p:nvPr/>
        </p:nvSpPr>
        <p:spPr>
          <a:xfrm>
            <a:off x="421597" y="5361289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19" name="Овал 8">
            <a:extLst>
              <a:ext uri="{FF2B5EF4-FFF2-40B4-BE49-F238E27FC236}">
                <a16:creationId xmlns:a16="http://schemas.microsoft.com/office/drawing/2014/main" id="{D097829D-48F1-44DB-8792-096A20C04808}"/>
              </a:ext>
            </a:extLst>
          </p:cNvPr>
          <p:cNvSpPr/>
          <p:nvPr/>
        </p:nvSpPr>
        <p:spPr>
          <a:xfrm>
            <a:off x="421597" y="558584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0" name="Овал 8">
            <a:extLst>
              <a:ext uri="{FF2B5EF4-FFF2-40B4-BE49-F238E27FC236}">
                <a16:creationId xmlns:a16="http://schemas.microsoft.com/office/drawing/2014/main" id="{A6706867-0F12-4550-AA81-1C9C0FAEC80D}"/>
              </a:ext>
            </a:extLst>
          </p:cNvPr>
          <p:cNvSpPr/>
          <p:nvPr/>
        </p:nvSpPr>
        <p:spPr>
          <a:xfrm>
            <a:off x="6629400" y="2768753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3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1" name="Овал 8">
            <a:extLst>
              <a:ext uri="{FF2B5EF4-FFF2-40B4-BE49-F238E27FC236}">
                <a16:creationId xmlns:a16="http://schemas.microsoft.com/office/drawing/2014/main" id="{A637FDDC-FD83-4F35-9D5F-A91657E30783}"/>
              </a:ext>
            </a:extLst>
          </p:cNvPr>
          <p:cNvSpPr/>
          <p:nvPr/>
        </p:nvSpPr>
        <p:spPr>
          <a:xfrm>
            <a:off x="6629400" y="3272041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4</a:t>
            </a:r>
          </a:p>
        </p:txBody>
      </p:sp>
      <p:sp>
        <p:nvSpPr>
          <p:cNvPr id="22" name="Овал 8">
            <a:extLst>
              <a:ext uri="{FF2B5EF4-FFF2-40B4-BE49-F238E27FC236}">
                <a16:creationId xmlns:a16="http://schemas.microsoft.com/office/drawing/2014/main" id="{F6D58699-F374-4F86-A33B-084B4231D36D}"/>
              </a:ext>
            </a:extLst>
          </p:cNvPr>
          <p:cNvSpPr/>
          <p:nvPr/>
        </p:nvSpPr>
        <p:spPr>
          <a:xfrm>
            <a:off x="6629400" y="3775316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5</a:t>
            </a:r>
          </a:p>
        </p:txBody>
      </p:sp>
      <p:sp>
        <p:nvSpPr>
          <p:cNvPr id="23" name="Овал 8">
            <a:extLst>
              <a:ext uri="{FF2B5EF4-FFF2-40B4-BE49-F238E27FC236}">
                <a16:creationId xmlns:a16="http://schemas.microsoft.com/office/drawing/2014/main" id="{201E1033-797F-41AA-845D-CDCA2E150DAB}"/>
              </a:ext>
            </a:extLst>
          </p:cNvPr>
          <p:cNvSpPr/>
          <p:nvPr/>
        </p:nvSpPr>
        <p:spPr>
          <a:xfrm>
            <a:off x="6629400" y="4278605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6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4" name="Овал 8">
            <a:extLst>
              <a:ext uri="{FF2B5EF4-FFF2-40B4-BE49-F238E27FC236}">
                <a16:creationId xmlns:a16="http://schemas.microsoft.com/office/drawing/2014/main" id="{1A7E6BA3-BEA1-4425-B7CB-E6F2E37DFDFE}"/>
              </a:ext>
            </a:extLst>
          </p:cNvPr>
          <p:cNvSpPr/>
          <p:nvPr/>
        </p:nvSpPr>
        <p:spPr>
          <a:xfrm>
            <a:off x="6629400" y="4781880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7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sp>
        <p:nvSpPr>
          <p:cNvPr id="25" name="Овал 8">
            <a:extLst>
              <a:ext uri="{FF2B5EF4-FFF2-40B4-BE49-F238E27FC236}">
                <a16:creationId xmlns:a16="http://schemas.microsoft.com/office/drawing/2014/main" id="{B1D488A2-2A48-4BA5-A8AD-911EBB7248D3}"/>
              </a:ext>
            </a:extLst>
          </p:cNvPr>
          <p:cNvSpPr/>
          <p:nvPr/>
        </p:nvSpPr>
        <p:spPr>
          <a:xfrm>
            <a:off x="6629400" y="5117402"/>
            <a:ext cx="180000" cy="180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50" b="0" i="0" u="none" strike="noStrike" kern="120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sym typeface="Arial"/>
              </a:rPr>
              <a:t>8</a:t>
            </a:r>
            <a:endParaRPr lang="ru-RU" kumimoji="0" sz="1050" b="0" i="0" u="none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sym typeface="Arial"/>
            </a:endParaRPr>
          </a:p>
        </p:txBody>
      </p:sp>
      <p:graphicFrame>
        <p:nvGraphicFramePr>
          <p:cNvPr id="326" name="Google Shape;326;p48"/>
          <p:cNvGraphicFramePr/>
          <p:nvPr>
            <p:extLst>
              <p:ext uri="{D42A27DB-BD31-4B8C-83A1-F6EECF244321}">
                <p14:modId xmlns:p14="http://schemas.microsoft.com/office/powerpoint/2010/main" val="549052267"/>
              </p:ext>
            </p:extLst>
          </p:nvPr>
        </p:nvGraphicFramePr>
        <p:xfrm>
          <a:off x="665927" y="601465"/>
          <a:ext cx="5659900" cy="559413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48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PL,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млн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руб</a:t>
                      </a: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.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BU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Q4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 vs BU</a:t>
                      </a:r>
                      <a:endParaRPr lang="en-US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u="none" strike="noStrike" cap="none">
                          <a:solidFill>
                            <a:schemeClr val="tx2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%</a:t>
                      </a:r>
                      <a:endParaRPr lang="ru-RU" sz="1100" b="1" i="0" u="none" strike="noStrike" cap="none">
                        <a:solidFill>
                          <a:schemeClr val="tx2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Incremental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2 454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Non-vendor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366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449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2 783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2 231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405%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Non-E-com Revenue</a:t>
                      </a:r>
                      <a:endParaRPr lang="en-US" sz="15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2 140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1 303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Gross Revenue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2 692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4 086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1 394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52%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1 490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316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969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654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207%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323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1 225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141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(1 084)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-88%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785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1 036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251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32%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База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Не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поставщики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/</a:t>
                      </a:r>
                      <a:r>
                        <a:rPr lang="ru-RU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Инкремент</a:t>
                      </a:r>
                      <a:endParaRPr lang="ru-RU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126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(834)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(807)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27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(297)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(335)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13%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(20)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-39%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Marketing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(472)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(438)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34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Other OPEX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(30)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(18)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-40%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IT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(15)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(4)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-74%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1 858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3 279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77%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CAPEX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AT Platform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(109)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In-store digital</a:t>
                      </a:r>
                      <a:endParaRPr lang="en-US" sz="1100" b="0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 -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0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100%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accent4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FCF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1 748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3 170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1 421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81%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15159">
                <a:tc>
                  <a:txBody>
                    <a:bodyPr/>
                    <a:lstStyle/>
                    <a:p>
                      <a:pPr marL="2540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strike="noStrike" cap="none"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Increment EBITDA</a:t>
                      </a:r>
                      <a:endParaRPr lang="en-US" sz="1100" b="1" i="0" u="none" strike="noStrike" cap="none">
                        <a:solidFill>
                          <a:srgbClr val="000000"/>
                        </a:solidFill>
                        <a:latin typeface="+mn-lt"/>
                        <a:ea typeface="Montserrat"/>
                        <a:cs typeface="Arial" panose="020B0604020202020204" pitchFamily="34" charset="0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632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1 647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100"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cs typeface="Arial" panose="020B0604020202020204" pitchFamily="34" charset="0"/>
                          <a:sym typeface="Montserrat"/>
                        </a:rPr>
                        <a:t>1 015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b="1" i="0" u="none" strike="noStrike" cap="none">
                          <a:solidFill>
                            <a:srgbClr val="000000"/>
                          </a:solidFill>
                          <a:latin typeface="+mn-lt"/>
                          <a:ea typeface="Montserrat"/>
                          <a:cs typeface="Arial" panose="020B0604020202020204" pitchFamily="34" charset="0"/>
                          <a:sym typeface="Montserrat"/>
                        </a:rPr>
                        <a:t>161%</a:t>
                      </a:r>
                      <a:endParaRPr lang="ru-RU" sz="110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529FB5C-8AF3-439F-83C1-867730042278}"/>
              </a:ext>
            </a:extLst>
          </p:cNvPr>
          <p:cNvSpPr/>
          <p:nvPr/>
        </p:nvSpPr>
        <p:spPr>
          <a:xfrm rot="16200000">
            <a:off x="97172" y="2219727"/>
            <a:ext cx="828850" cy="180000"/>
          </a:xfrm>
          <a:prstGeom prst="round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FF452C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FF452C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E2449E2A-1DA6-482F-98B6-D5691C4F7BCE}"/>
              </a:ext>
            </a:extLst>
          </p:cNvPr>
          <p:cNvSpPr/>
          <p:nvPr/>
        </p:nvSpPr>
        <p:spPr>
          <a:xfrm rot="16200000">
            <a:off x="87362" y="3102988"/>
            <a:ext cx="848471" cy="18000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900" b="1" i="0" u="none" strike="noStrike" kern="0" cap="none" spc="0" normalizeH="0" baseline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NON-E-COM</a:t>
            </a:r>
            <a:endParaRPr lang="en-US" kumimoji="0" sz="900" b="1" i="0" u="none" strike="noStrike" kern="0" cap="none" spc="0" normalizeH="0" baseline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Arial" panose="020B0604020202020204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01540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" name="think-cell data - do not delete" hidden="1">
            <a:extLst>
              <a:ext uri="{FF2B5EF4-FFF2-40B4-BE49-F238E27FC236}">
                <a16:creationId xmlns:a16="http://schemas.microsoft.com/office/drawing/2014/main" id="{143C22B8-F547-4826-81BC-55F958EEDE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10860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395" imgH="394" progId="TCLayout.ActiveDocument.1">
                  <p:embed/>
                </p:oleObj>
              </mc:Choice>
              <mc:Fallback>
                <p:oleObj name="Слайд think-cell" r:id="rId3" imgW="395" imgH="394" progId="TCLayout.ActiveDocument.1">
                  <p:embed/>
                  <p:pic>
                    <p:nvPicPr>
                      <p:cNvPr id="6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3C22B8-F547-4826-81BC-55F958EEDE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6B3273D9-68C1-40FC-80A5-CB5F19D4309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025F59-A55B-4047-B72D-C8F4BA7274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8</a:t>
            </a:fld>
            <a:endParaRPr lang="ru-RU" kumimoji="0" sz="9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37F061-B44F-4053-964C-EB1C5E55D8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Обзор основных метрик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BB0163E-06FD-45F7-9923-854A23C30E26}"/>
              </a:ext>
            </a:extLst>
          </p:cNvPr>
          <p:cNvSpPr txBox="1"/>
          <p:nvPr/>
        </p:nvSpPr>
        <p:spPr>
          <a:xfrm>
            <a:off x="6393164" y="643938"/>
            <a:ext cx="5434661" cy="163121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600" b="1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Комментарии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Revenue</a:t>
            </a:r>
            <a:r>
              <a:rPr lang="en-US" kumimoji="0" sz="12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Перевыполнение бюджетного таргета в 2026 г. на 4 785 млн руб. (факт 9М + прогноз), за счет: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Совместного с FT признания E-com выручки (3 430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E-com выручки сверх бюджета без учета FT (1 012 млн руб.)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Montserrat"/>
                <a:cs typeface="Arial" panose="020B0604020202020204" pitchFamily="34" charset="0"/>
                <a:sym typeface="Montserrat"/>
              </a:rPr>
              <a:t>Роста продаж non-Ecom инвентаря (344 млн руб.)</a:t>
            </a:r>
          </a:p>
        </p:txBody>
      </p:sp>
      <p:graphicFrame>
        <p:nvGraphicFramePr>
          <p:cNvPr id="71" name="Диаграмма 70">
            <a:extLst>
              <a:ext uri="{FF2B5EF4-FFF2-40B4-BE49-F238E27FC236}">
                <a16:creationId xmlns:a16="http://schemas.microsoft.com/office/drawing/2014/main" id="{F76425C9-AAFC-4031-9659-0CDEE5871F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5505577"/>
              </p:ext>
            </p:extLst>
          </p:nvPr>
        </p:nvGraphicFramePr>
        <p:xfrm>
          <a:off x="364175" y="999459"/>
          <a:ext cx="5808025" cy="513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2" name="TextBox 71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364175" y="643938"/>
            <a:ext cx="36017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AdTech Revenue, </a:t>
            </a: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млн руб.</a:t>
            </a:r>
          </a:p>
        </p:txBody>
      </p:sp>
      <p:sp>
        <p:nvSpPr>
          <p:cNvPr id="5" name="Bridge title">
            <a:extLst>
              <a:ext uri="{FF2B5EF4-FFF2-40B4-BE49-F238E27FC236}">
                <a16:creationId xmlns:a16="http://schemas.microsoft.com/office/drawing/2014/main" id="{6871B758-2E97-49FC-878B-F21BEA0E16A7}"/>
              </a:ext>
            </a:extLst>
          </p:cNvPr>
          <p:cNvSpPr txBox="1"/>
          <p:nvPr/>
        </p:nvSpPr>
        <p:spPr>
          <a:xfrm>
            <a:off x="6300000" y="2600000"/>
            <a:ext cx="54346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Мост EBITDA: бюджет → прогноз 9+3, млн руб.</a:t>
            </a:r>
          </a:p>
        </p:txBody>
      </p:sp>
      <p:graphicFrame>
        <p:nvGraphicFramePr>
          <p:cNvPr id="73" name="EBITDA bridge"/>
          <p:cNvGraphicFramePr>
            <a:graphicFrameLocks noGrp="1"/>
          </p:cNvGraphicFramePr>
          <p:nvPr/>
        </p:nvGraphicFramePr>
        <p:xfrm>
          <a:off x="6393164" y="2970000"/>
          <a:ext cx="5434661" cy="323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339212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41B811-6CAB-1796-7591-8FB56BE4B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FE5AF49-C2DC-D2F0-B28F-15171F32E3C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3F88BAFC-2016-0044-B346-1E19381426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D2A085D4-0E9A-52FA-8634-E11653FB0E6F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2568DA0E-E9F4-B4CA-ADDD-8733FF38F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3336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F84D4825-01B3-4D34-80A0-460B43F381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4D4825-01B3-4D34-80A0-460B43F381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8CBBF0-A6D9-4B80-B3B2-E0B409F94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D41D6-7756-D84E-A787-9DAD2BF0F149}" type="slidenum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418B67-2B10-4F87-873F-7C10DAA6D7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Корпоративные триггеры по Магнит </a:t>
            </a:r>
            <a:r>
              <a:rPr lang="en-US"/>
              <a:t>AdTech</a:t>
            </a:r>
            <a:r>
              <a:rPr lang="ru-RU"/>
              <a:t> на 2027 год</a:t>
            </a:r>
          </a:p>
          <a:p>
            <a:endParaRPr lang="ru-RU"/>
          </a:p>
        </p:txBody>
      </p:sp>
      <p:graphicFrame>
        <p:nvGraphicFramePr>
          <p:cNvPr id="13" name="Table 0">
            <a:extLst>
              <a:ext uri="{FF2B5EF4-FFF2-40B4-BE49-F238E27FC236}">
                <a16:creationId xmlns:a16="http://schemas.microsoft.com/office/drawing/2014/main" id="{C6283BF6-BC72-4EB9-B57D-2572F7725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825887"/>
              </p:ext>
            </p:extLst>
          </p:nvPr>
        </p:nvGraphicFramePr>
        <p:xfrm>
          <a:off x="182880" y="885825"/>
          <a:ext cx="11841480" cy="42642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latin typeface="Arial" charset="0"/>
                          <a:ea typeface="Arial" charset="0"/>
                          <a:cs typeface="Arial" charset="0"/>
                        </a:rPr>
                        <a:t>2027</a:t>
                      </a:r>
                      <a:endParaRPr lang="ru-RU" sz="1400" b="1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97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КПЭ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Вес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Мин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Цель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354" rtl="0" eaLnBrk="1" latinLnBrk="0" hangingPunct="1">
                        <a:buNone/>
                      </a:pPr>
                      <a:r>
                        <a:rPr lang="ru-RU" sz="1400" b="1" kern="120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Макс</a:t>
                      </a:r>
                      <a:endParaRPr lang="ru-RU" sz="1400" b="1" kern="1200">
                        <a:solidFill>
                          <a:srgbClr val="000000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8575" cap="flat" cmpd="sng" algn="ctr">
                      <a:solidFill>
                        <a:srgbClr val="FF45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Выручка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04E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</a:t>
                      </a:r>
                      <a:endParaRPr lang="en-US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9,7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Деньги новых инициатив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млрд руб.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6470">
                <a:tc rowSpan="2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Прирост инвентаря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5448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Значение, 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4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ru-RU" sz="14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647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ru-RU" sz="1300" b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выполнения бюджета</a:t>
                      </a:r>
                      <a:endParaRPr lang="ru-RU" sz="1300" b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ru-RU" sz="1300">
                          <a:solidFill>
                            <a:srgbClr val="A6A6A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120%</a:t>
                      </a:r>
                      <a:endParaRPr lang="ru-RU" sz="13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C2BAA3-32B1-71C0-5F37-99B2C6E2F7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92601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Executive Summary: бюджет Magnit </a:t>
            </a:r>
            <a:r>
              <a:rPr lang="en-US"/>
              <a:t>ADS</a:t>
            </a:r>
            <a:r>
              <a:rPr lang="ru-RU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14 566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+41%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>
                <a:solidFill>
                  <a:srgbClr val="000000"/>
                </a:solidFill>
              </a:rPr>
              <a:t>1,2 трлн руб.</a:t>
            </a:r>
            <a:r>
              <a:rPr lang="ru-RU" sz="140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>
                <a:solidFill>
                  <a:srgbClr val="000000"/>
                </a:solidFill>
              </a:rPr>
              <a:t>+41% против +35% у Retail Media, доля в сегменте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Три драйвера роста: </a:t>
            </a:r>
            <a:r>
              <a:rPr lang="ru-RU" sz="1400">
                <a:solidFill>
                  <a:srgbClr val="000000"/>
                </a:solidFill>
              </a:rPr>
              <a:t>аудитория приложения (+18%), полный год нового прайса и новые направления — RMN и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Выручка на 1 618 млн руб. выше стратегии: </a:t>
            </a:r>
            <a:r>
              <a:rPr lang="ru-RU" sz="1400">
                <a:solidFill>
                  <a:srgbClr val="000000"/>
                </a:solidFill>
              </a:rPr>
              <a:t>основной вклад — RMN (+850, не закладывался в стратегию) и DMP+Online (+537)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42% годовой выручки приходится на Q4: </a:t>
            </a:r>
            <a:r>
              <a:rPr lang="ru-RU" sz="1400">
                <a:solidFill>
                  <a:srgbClr val="000000"/>
                </a:solidFill>
              </a:rPr>
              <a:t>сезонность цен и рост аудитории к концу года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OPEX с учётом COGS растёт на 1 504 млн руб. (+67%): </a:t>
            </a:r>
            <a:r>
              <a:rPr lang="ru-RU" sz="1400">
                <a:solidFill>
                  <a:srgbClr val="000000"/>
                </a:solidFill>
              </a:rPr>
              <a:t>73% прироста — переменные расходы, которые масштабируются вместе с выручкой (трафик DMP, агентства, креаторы)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AT Platform: 541 млн руб. (+94), </a:t>
            </a:r>
            <a:r>
              <a:rPr lang="ru-RU" sz="1400">
                <a:solidFill>
                  <a:srgbClr val="000000"/>
                </a:solidFill>
              </a:rPr>
              <a:t>основная часть — капитализация ФОТ разработки (510)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In-store: 610 млн руб. (−123), </a:t>
            </a:r>
            <a:r>
              <a:rPr lang="ru-RU" sz="1400">
                <a:solidFill>
                  <a:srgbClr val="000000"/>
                </a:solidFill>
              </a:rPr>
              <a:t>в т.ч. система управления медиаконтентом (438)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FCF 9 673 млн руб., </a:t>
            </a:r>
            <a:r>
              <a:rPr lang="ru-RU" sz="1400">
                <a:solidFill>
                  <a:srgbClr val="000000"/>
                </a:solidFill>
              </a:rPr>
              <a:t>на 962 млн руб. выше стратегии: рост EBITDA при CAPEX на уровне 2026 г.</a:t>
            </a:r>
          </a:p>
        </p:txBody>
      </p:sp>
    </p:spTree>
    <p:extLst>
      <p:ext uri="{BB962C8B-B14F-4D97-AF65-F5344CB8AC3E}">
        <p14:creationId xmlns:p14="http://schemas.microsoft.com/office/powerpoint/2010/main" val="1282774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2027 на уровне top-down: EBITDA 500 млн руб., форматам — 2,3 млрд руб. прироста Net Revenue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Прирост Net Revenue для форматов 2 272 млн руб.: </a:t>
            </a:r>
            <a:r>
              <a:rPr lang="ru-RU" sz="1200">
                <a:solidFill>
                  <a:srgbClr val="000000"/>
                </a:solidFill>
              </a:rPr>
              <a:t>прирост выручки 4 243 за вычетом COGS 2027 (1 971)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Превышение таргета 2 000 на 272 млн руб.: </a:t>
            </a:r>
            <a:r>
              <a:rPr lang="ru-RU" sz="1200">
                <a:solidFill>
                  <a:srgbClr val="000000"/>
                </a:solidFill>
              </a:rPr>
              <a:t>запуск Content factory и финальные корректировки выручки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1 772 млн руб.: </a:t>
            </a:r>
            <a:r>
              <a:rPr lang="ru-RU" sz="1200">
                <a:solidFill>
                  <a:srgbClr val="000000"/>
                </a:solidFill>
              </a:rPr>
              <a:t>на 272 выше top-down, что компенсируется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руб.: </a:t>
            </a:r>
            <a:r>
              <a:rPr lang="ru-RU" sz="1200">
                <a:solidFill>
                  <a:srgbClr val="000000"/>
                </a:solidFill>
              </a:rPr>
              <a:t>на уровне top-down, на 15 выше стратегии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CAPEX 1 151 млн руб.: </a:t>
            </a:r>
            <a:r>
              <a:rPr lang="ru-RU" sz="1200">
                <a:solidFill>
                  <a:srgbClr val="000000"/>
                </a:solidFill>
              </a:rPr>
              <a:t>на 92 ниже стратегии и на 149 ниже таргета, с учётом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Консолидированный FCF −651 млн руб.: </a:t>
            </a:r>
            <a:r>
              <a:rPr lang="ru-RU" sz="1200">
                <a:solidFill>
                  <a:srgbClr val="000000"/>
                </a:solidFill>
              </a:rPr>
              <a:t>на 149 лучше top-down за счёт CAPEX, на 107 лучше стратегии</a:t>
            </a:r>
          </a:p>
        </p:txBody>
      </p:sp>
      <p:graphicFrame>
        <p:nvGraphicFramePr>
          <p:cNvPr id="113" name="Table topdow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376828"/>
              </p:ext>
            </p:extLst>
          </p:nvPr>
        </p:nvGraphicFramePr>
        <p:xfrm>
          <a:off x="368300" y="1676400"/>
          <a:ext cx="7810000" cy="4260000"/>
        </p:xfrm>
        <a:graphic>
          <a:graphicData uri="http://schemas.openxmlformats.org/drawingml/2006/table">
            <a:tbl>
              <a:tblPr firstRow="1"/>
              <a:tblGrid>
                <a:gridCol w="26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Δ к top-down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Прирост 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2 272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+272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(1 515)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(1 500)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(272)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 b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(1 300)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FCF консолидированный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(757)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(800)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(651)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400">
                          <a:solidFill>
                            <a:srgbClr val="000000"/>
                          </a:solidFill>
                          <a:latin typeface="Arial"/>
                        </a:rPr>
                        <a:t>+149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372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Net Revenue +3,2 млрд руб.: форматам передаём 2,3 млрд руб. прироста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Net</a:t>
            </a:r>
            <a:r>
              <a:rPr lang="ru-RU" sz="1600" b="1">
                <a:solidFill>
                  <a:srgbClr val="000000"/>
                </a:solidFill>
              </a:rPr>
              <a:t> </a:t>
            </a:r>
            <a:r>
              <a:rPr lang="en-US" sz="1600" b="1">
                <a:solidFill>
                  <a:srgbClr val="000000"/>
                </a:solidFill>
              </a:rPr>
              <a:t>Revenue</a:t>
            </a:r>
            <a:r>
              <a:rPr lang="ru-RU" sz="1600" b="1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Net Revenue +3 152 млн руб. (+33%) </a:t>
            </a:r>
            <a:r>
              <a:rPr lang="ru-RU" sz="1200">
                <a:solidFill>
                  <a:srgbClr val="000000"/>
                </a:solidFill>
              </a:rPr>
              <a:t>при росте выручки на 4 243 млн руб.; COGS (+1 091) растёт пропорционально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72% прироста дают APP и In-store: </a:t>
            </a:r>
            <a:r>
              <a:rPr lang="ru-RU" sz="1200">
                <a:solidFill>
                  <a:srgbClr val="000000"/>
                </a:solidFill>
              </a:rPr>
              <a:t>полный год нового прайса и оборудования, введённого в 2026 г., рост DAC на 18%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Растёт общая утилизация </a:t>
            </a:r>
            <a:r>
              <a:rPr lang="ru-RU" sz="1200">
                <a:solidFill>
                  <a:srgbClr val="000000"/>
                </a:solidFill>
              </a:rPr>
              <a:t>рекламного инвентаря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Внешние деньги вне КУ +471 млн руб.: </a:t>
            </a:r>
            <a:r>
              <a:rPr lang="ru-RU" sz="1200">
                <a:solidFill>
                  <a:srgbClr val="000000"/>
                </a:solidFill>
              </a:rPr>
              <a:t>бренд-бюджеты поставщиков через RMN и внешние рекламодатели Content factory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EBITDA 500 млн руб. </a:t>
            </a:r>
            <a:r>
              <a:rPr lang="ru-RU" sz="1200">
                <a:solidFill>
                  <a:srgbClr val="000000"/>
                </a:solidFill>
              </a:rPr>
              <a:t>(2 272 − OPEX 1 772) — на уровне top-down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Прирост для форматов 2 272 млн руб. </a:t>
            </a:r>
            <a:r>
              <a:rPr lang="ru-RU" sz="1200">
                <a:solidFill>
                  <a:srgbClr val="000000"/>
                </a:solidFill>
              </a:rPr>
              <a:t>рассчитан при текущем распределении рекламного инвентаря между AdTech и форматами</a:t>
            </a:r>
          </a:p>
        </p:txBody>
      </p:sp>
      <p:sp>
        <p:nvSpPr>
          <p:cNvPr id="129" name="Card 0 bg"/>
          <p:cNvSpPr/>
          <p:nvPr/>
        </p:nvSpPr>
        <p:spPr>
          <a:xfrm>
            <a:off x="364175" y="5007250"/>
            <a:ext cx="4046093" cy="4308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0" name="Card 0 label"/>
          <p:cNvSpPr txBox="1"/>
          <p:nvPr/>
        </p:nvSpPr>
        <p:spPr>
          <a:xfrm>
            <a:off x="441433" y="5007250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>
                <a:solidFill>
                  <a:srgbClr val="000000"/>
                </a:solidFill>
                <a:latin typeface="Arial"/>
              </a:rPr>
              <a:t>Весь COGS 2027 г.</a:t>
            </a:r>
          </a:p>
        </p:txBody>
      </p:sp>
      <p:sp>
        <p:nvSpPr>
          <p:cNvPr id="131" name="Card 0 value"/>
          <p:cNvSpPr txBox="1"/>
          <p:nvPr/>
        </p:nvSpPr>
        <p:spPr>
          <a:xfrm>
            <a:off x="3057171" y="5007250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>
                <a:solidFill>
                  <a:srgbClr val="595959"/>
                </a:solidFill>
                <a:latin typeface="Arial"/>
              </a:rPr>
              <a:t> -1 971</a:t>
            </a:r>
          </a:p>
        </p:txBody>
      </p:sp>
      <p:sp>
        <p:nvSpPr>
          <p:cNvPr id="132" name="Card 1 bg"/>
          <p:cNvSpPr/>
          <p:nvPr/>
        </p:nvSpPr>
        <p:spPr>
          <a:xfrm>
            <a:off x="364175" y="5603709"/>
            <a:ext cx="4046093" cy="430887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133" name="Card 1 label"/>
          <p:cNvSpPr txBox="1"/>
          <p:nvPr/>
        </p:nvSpPr>
        <p:spPr>
          <a:xfrm>
            <a:off x="441433" y="5603709"/>
            <a:ext cx="2911367" cy="43088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ru-RU" sz="1200" b="1">
                <a:solidFill>
                  <a:srgbClr val="000000"/>
                </a:solidFill>
                <a:latin typeface="Arial"/>
              </a:rPr>
              <a:t>Прирост Net </a:t>
            </a:r>
            <a:r>
              <a:rPr lang="en-US" sz="1200" b="1">
                <a:solidFill>
                  <a:srgbClr val="000000"/>
                </a:solidFill>
                <a:latin typeface="Arial"/>
              </a:rPr>
              <a:t>Revenue</a:t>
            </a:r>
            <a:r>
              <a:rPr lang="ru-RU" sz="1200" b="1">
                <a:solidFill>
                  <a:srgbClr val="000000"/>
                </a:solidFill>
                <a:latin typeface="Arial"/>
              </a:rPr>
              <a:t> для форматов</a:t>
            </a:r>
          </a:p>
        </p:txBody>
      </p:sp>
      <p:sp>
        <p:nvSpPr>
          <p:cNvPr id="134" name="Card 1 value"/>
          <p:cNvSpPr txBox="1"/>
          <p:nvPr/>
        </p:nvSpPr>
        <p:spPr>
          <a:xfrm>
            <a:off x="3057171" y="5603709"/>
            <a:ext cx="1303336" cy="43088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ru-RU" sz="2200" b="1">
                <a:solidFill>
                  <a:srgbClr val="FF452C"/>
                </a:solidFill>
                <a:latin typeface="Arial"/>
              </a:rPr>
              <a:t>2 272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EB96ED1-09EA-5A54-74D0-616C13060700}"/>
              </a:ext>
            </a:extLst>
          </p:cNvPr>
          <p:cNvCxnSpPr/>
          <p:nvPr>
            <p:custDataLst>
              <p:tags r:id="rId1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5E4D7D0-D17F-0F71-0D5B-4C1E0F67A370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CEA933D-C01B-D37C-E525-E2267FC1D36F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3CF9E5-A794-AEBF-0CEC-6F094DAC2876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6FD1A4-FB9E-6E58-A27D-F97E01682FDC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0BC6E3-2E77-61CD-E17F-9C3DC62BBAC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E56FCA-5903-413A-1FAA-B9D727C407DD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1A219F8-778D-81EC-03D2-F641F22E7468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EDDE96BB-50B6-FD8F-4918-9BD16189352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635D475C-46BD-F790-5E8D-659B15C2CD0F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AFCD86-EF54-2F0C-822C-736690B8A7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3B216F2-8CBF-E828-FA0E-33A60ED3AAED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D32BC4-E0FF-B15C-3C70-D160FA853D67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CAC51BF-7A28-2E20-5365-C5F0170813D0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6B346-A8C3-A396-86C1-47F132A6FB2B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7F9C95-D4E2-C9A2-2040-8DB2050FDADB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9AB4AA-EE3D-5776-BEF6-4542265F430D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43B70F-3D0D-5E98-0E96-CC510CB611C1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4502E-7380-02E0-E095-DAE4E3B381EF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B7F5A5-95A5-9BD7-7C80-AC3FC35A8E98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ru-RU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D4A1AB-3F33-BACB-1A95-6C465A6CB765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65A76C-8505-EDC9-C1B8-1E259F798AD1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ru-RU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81E924-E3A3-A509-75FE-D7D2F734F4F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007770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84F22E-C4AF-1B63-BBE9-4A9632585EA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2C6CEA-ED6D-418A-9452-7204E4D92B41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629400" y="1863725"/>
            <a:ext cx="493713" cy="19208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ru-RU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1 002</a:t>
            </a:fld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17787-BF40-8786-26A5-93D88BD0171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ru-RU" sz="1000" smtClean="0">
                <a:solidFill>
                  <a:schemeClr val="tx1"/>
                </a:solidFill>
              </a:rPr>
              <a:pPr/>
              <a:t>COGS (покупка трафика, СК)</a:t>
            </a:fld>
            <a:endParaRPr lang="ru-RU" sz="1000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7D78D-C564-F52F-0641-2A7285CE722E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D1DB7DD-8663-8FAF-83FA-96A4F9CC1971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ru-RU" sz="1400" b="1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+3 153</a:t>
            </a:fld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2" name="Right Brace 31">
            <a:extLst>
              <a:ext uri="{FF2B5EF4-FFF2-40B4-BE49-F238E27FC236}">
                <a16:creationId xmlns:a16="http://schemas.microsoft.com/office/drawing/2014/main" id="{1EE37413-5A59-E639-7382-D66E48FA6F25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DFA06-3F77-C77F-1131-E1950B5BB4FD}"/>
              </a:ext>
            </a:extLst>
          </p:cNvPr>
          <p:cNvSpPr txBox="1"/>
          <p:nvPr/>
        </p:nvSpPr>
        <p:spPr>
          <a:xfrm>
            <a:off x="3551744" y="4374653"/>
            <a:ext cx="1995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200" b="1"/>
              <a:t>4 243 </a:t>
            </a:r>
            <a:r>
              <a:rPr lang="ru-RU" sz="1400" b="1"/>
              <a:t>млн руб. </a:t>
            </a:r>
            <a:endParaRPr lang="ru-RU" sz="1400" b="1"/>
          </a:p>
        </p:txBody>
      </p:sp>
      <p:graphicFrame>
        <p:nvGraphicFramePr>
          <p:cNvPr id="34" name="Chart 33">
            <a:extLst>
              <a:ext uri="{FF2B5EF4-FFF2-40B4-BE49-F238E27FC236}">
                <a16:creationId xmlns:a16="http://schemas.microsoft.com/office/drawing/2014/main" id="{542827B6-A9C7-D807-FBFB-453E47D65951}"/>
              </a:ext>
            </a:extLst>
          </p:cNvPr>
          <p:cNvGraphicFramePr/>
          <p:nvPr>
            <p:custDataLst>
              <p:tags r:id="rId29"/>
            </p:custDataLst>
          </p:nvPr>
        </p:nvGraphicFramePr>
        <p:xfrm>
          <a:off x="5470525" y="4499153"/>
          <a:ext cx="2790825" cy="2251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77BDF668-1CCF-4571-1948-1A887068EB6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704556" y="6043843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sz="12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82D2FE-58C8-F049-E4A0-FD9876416067}"/>
              </a:ext>
            </a:extLst>
          </p:cNvPr>
          <p:cNvSpPr/>
          <p:nvPr>
            <p:custDataLst>
              <p:tags r:id="rId31"/>
            </p:custDataLst>
          </p:nvPr>
        </p:nvSpPr>
        <p:spPr bwMode="gray">
          <a:xfrm>
            <a:off x="6812657" y="450074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2B09B6D-4ED8-4149-87C3-3A0943EB01A3}" type="datetime'1''''''''2'''''''''''''''' ''5''''''''''''''''''''9''6'''''''">
              <a:rPr lang="ru-RU" sz="14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12 596</a:t>
            </a:fld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058B1B-BADC-98B8-0337-EA36CA337DC4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812657" y="6330950"/>
            <a:ext cx="592138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sz="1400" b="1">
                <a:solidFill>
                  <a:schemeClr val="tx1"/>
                </a:solidFill>
                <a:effectLst/>
              </a:rPr>
              <a:t>2027</a:t>
            </a:r>
            <a:endParaRPr lang="ru-RU" sz="1400" b="1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31D02A8-0970-2C00-3D47-34A8683DA4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595079" y="524658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ru-RU" sz="1200">
                <a:solidFill>
                  <a:schemeClr val="tx1"/>
                </a:solidFill>
              </a:rPr>
              <a:t>КУ</a:t>
            </a:r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196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>
                <a:solidFill>
                  <a:srgbClr val="6E6E6E"/>
                </a:solidFill>
              </a:rPr>
              <a:t>мес</a:t>
            </a:r>
            <a:endParaRPr lang="ru-RU" sz="90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УО 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+1 501: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1 436 (+28%): </a:t>
            </a:r>
            <a:r>
              <a:rPr lang="ru-RU" sz="1100">
                <a:solidFill>
                  <a:srgbClr val="000000"/>
                </a:solidFill>
              </a:rPr>
              <a:t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4221070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Рынок, тренды, конкуренты, драйверы роста и роль </a:t>
            </a:r>
            <a:r>
              <a:rPr lang="en-US"/>
              <a:t>Magnit ADS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анализ </a:t>
            </a:r>
            <a:r>
              <a:rPr lang="en-US">
                <a:solidFill>
                  <a:srgbClr val="6E6E6E"/>
                </a:solidFill>
              </a:rPr>
              <a:t>Magnit ADS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/>
              <a:t>Рынок ритейл медиа опережает темпы роста </a:t>
            </a:r>
            <a:br>
              <a:rPr lang="en-US" dirty="0"/>
            </a:br>
            <a:r>
              <a:rPr lang="ru-RU"/>
              <a:t>традиционного </a:t>
            </a:r>
            <a:r>
              <a:rPr lang="en-US"/>
              <a:t>digital +35% vs. +15% YoY</a:t>
            </a:r>
            <a:endParaRPr lang="ru-RU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lang="ru-RU" kumimoji="0" sz="1200" b="1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lang="ru-RU" kumimoji="0" sz="1200" b="0" i="0" strike="noStrike" kern="120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lang="en-US" kumimoji="0" sz="1200" b="0" i="0" strike="noStrike" kern="120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lang="ru-RU" kumimoji="0" sz="1600" b="0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1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0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lang="en-US" kumimoji="0" sz="1000" b="1" i="0" u="none" strike="noStrike" kern="0" cap="none" spc="0" normalizeH="0" baseline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lang="en-US" kumimoji="0" sz="12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900" b="1" i="0" u="none" strike="noStrike" kern="0" cap="none" spc="0" normalizeH="0" baseline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lang="ru-RU" kumimoji="0" sz="900" b="1" i="0" u="none" strike="noStrike" kern="0" cap="none" spc="0" normalizeH="0" baseline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lang="ru-RU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lang="en-US" kumimoji="0" sz="1000" b="0" i="0" u="none" strike="noStrike" kern="0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lang="ru-RU" kumimoji="0" sz="1000" b="0" i="0" u="none" strike="noStrike" kern="0" cap="none" spc="0" normalizeH="0" baseline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ru-RU" kumimoji="0" sz="1400" b="0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lang="ru-RU" kumimoji="0" sz="1600" b="0" i="0" u="none" strike="noStrike" kern="0" cap="none" spc="0" normalizeH="0" baseline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lang="en-US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lang="ru-RU" kumimoji="0" sz="14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>
                <a:solidFill>
                  <a:srgbClr val="000000"/>
                </a:solidFill>
              </a:rPr>
              <a:t>Позиция Magnit </a:t>
            </a:r>
            <a:r>
              <a:rPr lang="en-US" sz="1400">
                <a:solidFill>
                  <a:srgbClr val="000000"/>
                </a:solidFill>
              </a:rPr>
              <a:t>AdTech</a:t>
            </a:r>
            <a:r>
              <a:rPr lang="ru-RU" sz="140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kumimoji="0" sz="140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lang="en-US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lang="ru-RU" kumimoji="0" sz="1400" b="1" i="0" u="none" strike="noStrike" kern="0" cap="none" spc="0" normalizeH="0" baseline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>
                <a:latin typeface="Arial"/>
                <a:cs typeface="Arial"/>
                <a:sym typeface="Arial"/>
              </a:rPr>
              <a:t>digital (+15% YoY)</a:t>
            </a:r>
            <a:endParaRPr lang="ru-RU" kumimoji="0" sz="1400" i="0" u="none" strike="noStrike" kern="0" cap="none" spc="0" normalizeH="0" baseline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6855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Оценка </a:t>
            </a:r>
            <a:r>
              <a:rPr lang="en-US">
                <a:solidFill>
                  <a:srgbClr val="6E6E6E"/>
                </a:solidFill>
              </a:rPr>
              <a:t>Magnit ADS, </a:t>
            </a:r>
            <a:r>
              <a:rPr lang="ru-RU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>
                <a:solidFill>
                  <a:srgbClr val="6E6E6E"/>
                </a:solidFill>
              </a:rPr>
              <a:t>инфлюенс</a:t>
            </a:r>
            <a:r>
              <a:rPr lang="ru-RU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Retail Media 2027 — 42% рынка</a:t>
            </a:r>
            <a:endParaRPr lang="ru-RU" sz="120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en-US" sz="120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1176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1" name="ADS 1011"/>
          <p:cNvSpPr txBox="1"/>
          <p:nvPr/>
        </p:nvSpPr>
        <p:spPr>
          <a:xfrm>
            <a:off x="29591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+35%</a:t>
            </a:r>
            <a:endParaRPr lang="ru-RU" sz="120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en-US" sz="120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en-US" sz="120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— бюджеты уходят в каналы с доказуемым эффектом</a:t>
            </a:r>
            <a:r>
              <a:rPr lang="ru-RU" sz="1100" b="0" baseline="3000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4 019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CF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Content factory: social commerce и контент-завод</a:t>
            </a:r>
            <a:endParaRPr lang="ru-RU" sz="120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en-US" sz="120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13 502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— сервисная функция: создает инвентарь, повышает его результативность, ведет кампании и отчетность</a:t>
            </a:r>
            <a:endParaRPr lang="ru-RU" sz="120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7177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Retail Media в 2027 г. вырастет на 35%, до 1,2 трлн руб.;</a:t>
            </a:r>
            <a:br>
              <a:rPr lang="ru-RU" dirty="0"/>
            </a:br>
            <a:r>
              <a:rPr lang="ru-RU"/>
              <a:t>AdTech растёт быстрее рынка — на 41%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>
                <a:solidFill>
                  <a:srgbClr val="000000"/>
                </a:solidFill>
              </a:rPr>
              <a:t>2,9 трлн руб.</a:t>
            </a:r>
            <a:r>
              <a:rPr lang="ru-RU" sz="140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Retail Media растёт вдвое быстрее traditional digital </a:t>
            </a:r>
            <a:r>
              <a:rPr lang="ru-RU" sz="1400">
                <a:solidFill>
                  <a:srgbClr val="000000"/>
                </a:solidFill>
              </a:rPr>
              <a:t>(+35% против +15%) и перераспределяет бюджеты в свою пользу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Более 90% Retail Media приходится на маркетплейсы; </a:t>
            </a:r>
            <a:r>
              <a:rPr lang="ru-RU" sz="1400">
                <a:solidFill>
                  <a:srgbClr val="000000"/>
                </a:solidFill>
              </a:rPr>
              <a:t>офлайн-ритейл (X5, Яндекс) усиливает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</a:t>
            </a:r>
            <a:r>
              <a:rPr lang="ru-RU" sz="1400" b="1">
                <a:solidFill>
                  <a:srgbClr val="000000"/>
                </a:solidFill>
              </a:rPr>
              <a:t>14,6 млрд руб.</a:t>
            </a:r>
            <a:r>
              <a:rPr lang="ru-RU" sz="1400">
                <a:solidFill>
                  <a:srgbClr val="000000"/>
                </a:solidFill>
              </a:rPr>
              <a:t> (+41%)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>
                <a:solidFill>
                  <a:srgbClr val="000000"/>
                </a:solidFill>
              </a:rPr>
              <a:t>0,5%</a:t>
            </a:r>
            <a:r>
              <a:rPr lang="ru-RU" sz="140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ru-RU" sz="1600" b="1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2" imgW="7772400" imgH="10058400" progId="TCLayout.ActiveDocument.1">
                  <p:embed/>
                </p:oleObj>
              </mc:Choice>
              <mc:Fallback>
                <p:oleObj name="think-cell Slide" r:id="rId42" imgW="7772400" imgH="10058400" progId="TCLayout.ActiveDocument.1">
                  <p:embed/>
                  <p:pic>
                    <p:nvPicPr>
                      <p:cNvPr id="8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910A7A2-3A49-6B6B-FA02-CFB97075C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1. </a:t>
            </a:r>
            <a:r>
              <a:rPr lang="ru-RU">
                <a:solidFill>
                  <a:srgbClr val="6E6E6E"/>
                </a:solidFill>
              </a:rPr>
              <a:t>Доля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в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коммерческом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инвентаре</a:t>
            </a:r>
            <a:r>
              <a:rPr lang="en-US">
                <a:solidFill>
                  <a:srgbClr val="6E6E6E"/>
                </a:solidFill>
              </a:rPr>
              <a:t> AdTech </a:t>
            </a:r>
            <a:r>
              <a:rPr lang="ru-RU">
                <a:solidFill>
                  <a:srgbClr val="6E6E6E"/>
                </a:solidFill>
              </a:rPr>
              <a:t>с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учетом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эффекта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платформы</a:t>
            </a:r>
            <a:r>
              <a:rPr lang="ru-RU">
                <a:solidFill>
                  <a:srgbClr val="6E6E6E"/>
                </a:solidFill>
              </a:rPr>
              <a:t>. 2026-2027 </a:t>
            </a:r>
            <a:r>
              <a:rPr lang="ru-RU">
                <a:solidFill>
                  <a:srgbClr val="6E6E6E"/>
                </a:solidFill>
              </a:rPr>
              <a:t>гг</a:t>
            </a:r>
            <a:r>
              <a:rPr lang="ru-RU">
                <a:solidFill>
                  <a:srgbClr val="6E6E6E"/>
                </a:solidFill>
              </a:rPr>
              <a:t>. — </a:t>
            </a:r>
            <a:r>
              <a:rPr lang="ru-RU">
                <a:solidFill>
                  <a:srgbClr val="6E6E6E"/>
                </a:solidFill>
              </a:rPr>
              <a:t>бюджет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рекламной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выручки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трейд-бюджетов</a:t>
            </a:r>
            <a:r>
              <a:rPr lang="en-US">
                <a:solidFill>
                  <a:srgbClr val="6E6E6E"/>
                </a:solidFill>
              </a:rPr>
              <a:t> (APP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in-store), 2028-2030 </a:t>
            </a:r>
            <a:r>
              <a:rPr lang="ru-RU">
                <a:solidFill>
                  <a:srgbClr val="6E6E6E"/>
                </a:solidFill>
              </a:rPr>
              <a:t>гг</a:t>
            </a:r>
            <a:r>
              <a:rPr lang="ru-RU">
                <a:solidFill>
                  <a:srgbClr val="6E6E6E"/>
                </a:solidFill>
              </a:rPr>
              <a:t>. — </a:t>
            </a:r>
            <a:r>
              <a:rPr lang="ru-RU">
                <a:solidFill>
                  <a:srgbClr val="6E6E6E"/>
                </a:solidFill>
              </a:rPr>
              <a:t>модель</a:t>
            </a:r>
            <a:r>
              <a:rPr lang="ru-RU">
                <a:solidFill>
                  <a:srgbClr val="6E6E6E"/>
                </a:solidFill>
              </a:rPr>
              <a:t>; </a:t>
            </a:r>
            <a:r>
              <a:rPr lang="ru-RU">
                <a:solidFill>
                  <a:srgbClr val="6E6E6E"/>
                </a:solidFill>
              </a:rPr>
              <a:t>без</a:t>
            </a:r>
            <a:r>
              <a:rPr lang="en-US">
                <a:solidFill>
                  <a:srgbClr val="6E6E6E"/>
                </a:solidFill>
              </a:rPr>
              <a:t> RMN, UGC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DMP + Online. </a:t>
            </a:r>
            <a:r>
              <a:rPr lang="ru-RU">
                <a:solidFill>
                  <a:srgbClr val="6E6E6E"/>
                </a:solidFill>
              </a:rPr>
              <a:t>Капасити</a:t>
            </a:r>
            <a:r>
              <a:rPr lang="ru-RU">
                <a:solidFill>
                  <a:srgbClr val="6E6E6E"/>
                </a:solidFill>
              </a:rPr>
              <a:t> — </a:t>
            </a:r>
            <a:r>
              <a:rPr lang="ru-RU">
                <a:solidFill>
                  <a:srgbClr val="6E6E6E"/>
                </a:solidFill>
              </a:rPr>
              <a:t>денежная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емкость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инвентаря</a:t>
            </a:r>
            <a:r>
              <a:rPr lang="ru-RU">
                <a:solidFill>
                  <a:srgbClr val="6E6E6E"/>
                </a:solidFill>
              </a:rPr>
              <a:t>: </a:t>
            </a:r>
            <a:r>
              <a:rPr lang="ru-RU">
                <a:solidFill>
                  <a:srgbClr val="6E6E6E"/>
                </a:solidFill>
              </a:rPr>
              <a:t>коммерческая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часть</a:t>
            </a:r>
            <a:r>
              <a:rPr lang="en-US">
                <a:solidFill>
                  <a:srgbClr val="6E6E6E"/>
                </a:solidFill>
              </a:rPr>
              <a:t> AdTech + </a:t>
            </a:r>
            <a:r>
              <a:rPr lang="ru-RU">
                <a:solidFill>
                  <a:srgbClr val="6E6E6E"/>
                </a:solidFill>
              </a:rPr>
              <a:t>квота</a:t>
            </a:r>
            <a:r>
              <a:rPr lang="ru-RU">
                <a:solidFill>
                  <a:srgbClr val="6E6E6E"/>
                </a:solidFill>
              </a:rPr>
              <a:t> 50% </a:t>
            </a:r>
            <a:r>
              <a:rPr lang="ru-RU">
                <a:solidFill>
                  <a:srgbClr val="6E6E6E"/>
                </a:solidFill>
              </a:rPr>
              <a:t>внутренних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заказчиков</a:t>
            </a:r>
            <a:r>
              <a:rPr lang="ru-RU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19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Капасити</a:t>
            </a:r>
            <a:r>
              <a:rPr lang="ru-RU"/>
              <a:t> </a:t>
            </a:r>
            <a:r>
              <a:rPr lang="ru-RU"/>
              <a:t>инвентаря</a:t>
            </a:r>
            <a:r>
              <a:rPr lang="ru-RU"/>
              <a:t> </a:t>
            </a:r>
            <a:r>
              <a:rPr lang="ru-RU"/>
              <a:t>вырастет</a:t>
            </a:r>
            <a:r>
              <a:rPr lang="ru-RU"/>
              <a:t> </a:t>
            </a:r>
            <a:r>
              <a:rPr lang="ru-RU"/>
              <a:t>в</a:t>
            </a:r>
            <a:r>
              <a:rPr lang="ru-RU"/>
              <a:t> 3,5 </a:t>
            </a:r>
            <a:r>
              <a:rPr lang="ru-RU"/>
              <a:t>раза</a:t>
            </a:r>
            <a:r>
              <a:rPr lang="ru-RU"/>
              <a:t> </a:t>
            </a:r>
            <a:r>
              <a:rPr lang="ru-RU"/>
              <a:t>до</a:t>
            </a:r>
            <a:r>
              <a:rPr lang="ru-RU"/>
              <a:t> ~61 </a:t>
            </a:r>
            <a:r>
              <a:rPr lang="ru-RU"/>
              <a:t>млрд</a:t>
            </a:r>
            <a:r>
              <a:rPr lang="ru-RU"/>
              <a:t> </a:t>
            </a:r>
            <a:r>
              <a:rPr lang="ru-RU"/>
              <a:t>руб</a:t>
            </a:r>
            <a:r>
              <a:rPr lang="ru-RU"/>
              <a:t>. </a:t>
            </a:r>
            <a:r>
              <a:rPr lang="ru-RU"/>
              <a:t>к</a:t>
            </a:r>
            <a:r>
              <a:rPr lang="ru-RU"/>
              <a:t> 2030 </a:t>
            </a:r>
            <a:r>
              <a:rPr lang="ru-RU"/>
              <a:t>г</a:t>
            </a:r>
            <a:r>
              <a:rPr lang="ru-RU"/>
              <a:t>. </a:t>
            </a:r>
            <a:br>
              <a:rPr lang="en-US" dirty="0"/>
            </a:br>
            <a:r>
              <a:rPr lang="ru-RU"/>
              <a:t>на</a:t>
            </a:r>
            <a:r>
              <a:rPr lang="ru-RU"/>
              <a:t> </a:t>
            </a:r>
            <a:r>
              <a:rPr lang="ru-RU"/>
              <a:t>росте</a:t>
            </a:r>
            <a:r>
              <a:rPr lang="en-US"/>
              <a:t> online GMV, DAC </a:t>
            </a:r>
            <a:r>
              <a:rPr lang="ru-RU"/>
              <a:t>и</a:t>
            </a:r>
            <a:r>
              <a:rPr lang="ru-RU"/>
              <a:t> </a:t>
            </a:r>
            <a:r>
              <a:rPr lang="ru-RU"/>
              <a:t>эффективности</a:t>
            </a:r>
            <a:r>
              <a:rPr lang="ru-RU"/>
              <a:t> </a:t>
            </a:r>
            <a:r>
              <a:rPr lang="ru-RU"/>
              <a:t>платформы</a:t>
            </a:r>
            <a:endParaRPr lang="ru-RU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kumimoji="0" sz="1600" b="1" i="0" u="none" strike="noStrike" kern="0" cap="none" spc="0" normalizeH="0" baseline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— квота марком под задачи Магнита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Перформанс — главный драйвер: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— с 25% до 40%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— 53-69 млрд руб.</a:t>
            </a:r>
            <a:endParaRPr lang="ru-RU" sz="120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6690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Источники</a:t>
            </a:r>
            <a:r>
              <a:rPr lang="en-US">
                <a:solidFill>
                  <a:srgbClr val="6E6E6E"/>
                </a:solidFill>
              </a:rPr>
              <a:t>: Ads Market Calc (</a:t>
            </a:r>
            <a:r>
              <a:rPr lang="ru-RU">
                <a:solidFill>
                  <a:srgbClr val="6E6E6E"/>
                </a:solidFill>
              </a:rPr>
              <a:t>внутренняя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оценка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рынка</a:t>
            </a:r>
            <a:r>
              <a:rPr lang="en-US">
                <a:solidFill>
                  <a:srgbClr val="6E6E6E"/>
                </a:solidFill>
              </a:rPr>
              <a:t>), WPP Media </a:t>
            </a:r>
            <a:r>
              <a:rPr lang="ru-RU">
                <a:solidFill>
                  <a:srgbClr val="6E6E6E"/>
                </a:solidFill>
              </a:rPr>
              <a:t>через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en-US">
                <a:solidFill>
                  <a:srgbClr val="6E6E6E"/>
                </a:solidFill>
              </a:rPr>
              <a:t>Sostav</a:t>
            </a:r>
            <a:r>
              <a:rPr lang="ru-RU">
                <a:solidFill>
                  <a:srgbClr val="6E6E6E"/>
                </a:solidFill>
              </a:rPr>
              <a:t> (2025), Авито Реклама </a:t>
            </a:r>
            <a:r>
              <a:rPr lang="ru-RU">
                <a:solidFill>
                  <a:srgbClr val="6E6E6E"/>
                </a:solidFill>
              </a:rPr>
              <a:t>и</a:t>
            </a:r>
            <a:r>
              <a:rPr lang="en-US">
                <a:solidFill>
                  <a:srgbClr val="6E6E6E"/>
                </a:solidFill>
              </a:rPr>
              <a:t> Soloway (</a:t>
            </a:r>
            <a:r>
              <a:rPr lang="ru-RU">
                <a:solidFill>
                  <a:srgbClr val="6E6E6E"/>
                </a:solidFill>
              </a:rPr>
              <a:t>сентябрь</a:t>
            </a:r>
            <a:r>
              <a:rPr lang="ru-RU">
                <a:solidFill>
                  <a:srgbClr val="6E6E6E"/>
                </a:solidFill>
              </a:rPr>
              <a:t> 2026), НРА, </a:t>
            </a:r>
            <a:r>
              <a:rPr lang="ru-RU">
                <a:solidFill>
                  <a:srgbClr val="6E6E6E"/>
                </a:solidFill>
              </a:rPr>
              <a:t>внутреннее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исследование</a:t>
            </a:r>
            <a:r>
              <a:rPr lang="en-US">
                <a:solidFill>
                  <a:srgbClr val="6E6E6E"/>
                </a:solidFill>
              </a:rPr>
              <a:t> Magnit ADS. </a:t>
            </a:r>
            <a:r>
              <a:rPr lang="ru-RU">
                <a:solidFill>
                  <a:srgbClr val="6E6E6E"/>
                </a:solidFill>
              </a:rPr>
              <a:t>Гипотезы</a:t>
            </a:r>
            <a:r>
              <a:rPr lang="ru-RU">
                <a:solidFill>
                  <a:srgbClr val="6E6E6E"/>
                </a:solidFill>
              </a:rPr>
              <a:t> — </a:t>
            </a:r>
            <a:r>
              <a:rPr lang="ru-RU">
                <a:solidFill>
                  <a:srgbClr val="6E6E6E"/>
                </a:solidFill>
              </a:rPr>
              <a:t>экспертная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оценка</a:t>
            </a:r>
            <a:r>
              <a:rPr lang="en-US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FMCG-</a:t>
            </a:r>
            <a:r>
              <a:rPr lang="ru-RU"/>
              <a:t>бюджеты</a:t>
            </a:r>
            <a:r>
              <a:rPr lang="ru-RU"/>
              <a:t> </a:t>
            </a:r>
            <a:r>
              <a:rPr lang="ru-RU"/>
              <a:t>смещаются к транзакции: у места покупки растет роль перформанса, в начале пути — охватных медиа</a:t>
            </a:r>
            <a:endParaRPr lang="ru-RU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ТВ, OOH, digital — выходим через RMN и ЮЛ Магнит Маркета</a:t>
            </a:r>
            <a:endParaRPr lang="ru-RU" sz="120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— у транзакции, через Коммерцию форматов</a:t>
            </a:r>
            <a:endParaRPr lang="ru-RU" sz="120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в 2026 г., медиаинфляция —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Трейд — якорь, бренд — точка роста ритейл-медиа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— трейд у транзакции; бренд-бюджеты </a:t>
            </a: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 — зона RMN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989524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</a:t>
            </a:r>
            <a:r>
              <a:rPr lang="ru-RU">
                <a:solidFill>
                  <a:srgbClr val="6E6E6E"/>
                </a:solidFill>
              </a:rPr>
              <a:t>: </a:t>
            </a:r>
            <a:r>
              <a:rPr lang="ru-RU">
                <a:solidFill>
                  <a:srgbClr val="6E6E6E"/>
                </a:solidFill>
              </a:rPr>
              <a:t>анализ</a:t>
            </a:r>
            <a:r>
              <a:rPr lang="en-US">
                <a:solidFill>
                  <a:srgbClr val="6E6E6E"/>
                </a:solidFill>
              </a:rPr>
              <a:t> Magnit ADS; KPI — </a:t>
            </a:r>
            <a:r>
              <a:rPr lang="ru-RU">
                <a:solidFill>
                  <a:srgbClr val="6E6E6E"/>
                </a:solidFill>
              </a:rPr>
              <a:t>ключевые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метрики</a:t>
            </a:r>
            <a:r>
              <a:rPr lang="ru-RU">
                <a:solidFill>
                  <a:srgbClr val="6E6E6E"/>
                </a:solidFill>
              </a:rPr>
              <a:t>, </a:t>
            </a:r>
            <a:r>
              <a:rPr lang="ru-RU">
                <a:solidFill>
                  <a:srgbClr val="6E6E6E"/>
                </a:solidFill>
              </a:rPr>
              <a:t>по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которым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рекламодатель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оценивает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канал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Матрица </a:t>
            </a:r>
            <a:r>
              <a:rPr lang="ru-RU"/>
              <a:t>каналов</a:t>
            </a:r>
            <a:r>
              <a:rPr lang="ru-RU"/>
              <a:t> </a:t>
            </a:r>
            <a:r>
              <a:rPr lang="ru-RU"/>
              <a:t>по</a:t>
            </a:r>
            <a:r>
              <a:rPr lang="ru-RU"/>
              <a:t> </a:t>
            </a:r>
            <a:r>
              <a:rPr lang="ru-RU"/>
              <a:t>воронке</a:t>
            </a:r>
            <a:r>
              <a:rPr lang="en-US"/>
              <a:t>: Magnit ADS </a:t>
            </a:r>
            <a:r>
              <a:rPr lang="ru-RU"/>
              <a:t>закрывает</a:t>
            </a:r>
            <a:r>
              <a:rPr lang="ru-RU"/>
              <a:t> </a:t>
            </a:r>
            <a:r>
              <a:rPr lang="ru-RU"/>
              <a:t>путь</a:t>
            </a:r>
            <a:r>
              <a:rPr lang="ru-RU"/>
              <a:t> </a:t>
            </a:r>
            <a:br>
              <a:rPr lang="en-US" dirty="0"/>
            </a:br>
            <a:r>
              <a:rPr lang="ru-RU"/>
              <a:t>покупателя</a:t>
            </a:r>
            <a:r>
              <a:rPr lang="ru-RU"/>
              <a:t> </a:t>
            </a:r>
            <a:r>
              <a:rPr lang="ru-RU"/>
              <a:t>от</a:t>
            </a:r>
            <a:r>
              <a:rPr lang="ru-RU"/>
              <a:t> </a:t>
            </a:r>
            <a:r>
              <a:rPr lang="ru-RU"/>
              <a:t>охвата</a:t>
            </a:r>
            <a:r>
              <a:rPr lang="ru-RU"/>
              <a:t> </a:t>
            </a:r>
            <a:r>
              <a:rPr lang="ru-RU"/>
              <a:t>до</a:t>
            </a:r>
            <a:r>
              <a:rPr lang="ru-RU"/>
              <a:t> </a:t>
            </a:r>
            <a:r>
              <a:rPr lang="ru-RU"/>
              <a:t>транзакции</a:t>
            </a:r>
            <a:r>
              <a:rPr lang="ru-RU"/>
              <a:t> на 360°</a:t>
            </a:r>
            <a:endParaRPr lang="ru-RU" baseline="3000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— 81 тыс. устройств в 2027 г.</a:t>
            </a:r>
            <a:endParaRPr lang="ru-RU" sz="120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Content factory и соцсети, баннеры и сторис в приложении, сегменты DMP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en-US" sz="120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</p:spTree>
    <p:extLst>
      <p:ext uri="{BB962C8B-B14F-4D97-AF65-F5344CB8AC3E}">
        <p14:creationId xmlns:p14="http://schemas.microsoft.com/office/powerpoint/2010/main" val="372060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Источник: стратегия </a:t>
            </a:r>
            <a:r>
              <a:rPr lang="en-US">
                <a:solidFill>
                  <a:srgbClr val="6E6E6E"/>
                </a:solidFill>
              </a:rPr>
              <a:t>Magnit AdTech 2026-2031 (</a:t>
            </a:r>
            <a:r>
              <a:rPr lang="ru-RU">
                <a:solidFill>
                  <a:srgbClr val="6E6E6E"/>
                </a:solidFill>
              </a:rPr>
              <a:t>потенциал инвентаря М+ и </a:t>
            </a:r>
            <a:r>
              <a:rPr lang="en-US">
                <a:solidFill>
                  <a:srgbClr val="6E6E6E"/>
                </a:solidFill>
              </a:rPr>
              <a:t>DAC </a:t>
            </a:r>
            <a:r>
              <a:rPr lang="ru-RU">
                <a:solidFill>
                  <a:srgbClr val="6E6E6E"/>
                </a:solidFill>
              </a:rPr>
              <a:t>программы лояльности —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М+ как перформанс-инструмент: кэшбэк баллами – </a:t>
            </a:r>
            <a:br>
              <a:rPr lang="en-US" dirty="0"/>
            </a:br>
            <a:r>
              <a:rPr lang="ru-RU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— это модель перформанса</a:t>
            </a:r>
            <a:endParaRPr lang="ru-RU" sz="120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только после покупки — оплата за результат</a:t>
            </a:r>
            <a:endParaRPr lang="ru-RU" sz="120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— аналог CPA и CPO</a:t>
            </a:r>
            <a:endParaRPr lang="ru-RU" sz="120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Эффект для поставщика — измеримый прирост продаж и новых покупателей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Магнита — рост трафика и частоты покупок без отдельного рекламного бюджета</a:t>
            </a:r>
            <a:endParaRPr lang="ru-RU" sz="120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2027 г.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— кратный рост выручки г/г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10959492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>
                <a:solidFill>
                  <a:sysClr val="windowText" lastClr="000000"/>
                </a:solidFill>
              </a:rPr>
              <a:t>Retail Media </a:t>
            </a:r>
            <a:r>
              <a:rPr lang="ru-RU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>
                <a:solidFill>
                  <a:sysClr val="windowText" lastClr="000000"/>
                </a:solidFill>
              </a:rPr>
              <a:t>AdTech</a:t>
            </a:r>
            <a:r>
              <a:rPr lang="ru-RU">
                <a:solidFill>
                  <a:sysClr val="windowText" lastClr="000000"/>
                </a:solidFill>
              </a:rPr>
              <a:t>-игроков на рынке РФ</a:t>
            </a:r>
            <a:endParaRPr lang="ru-RU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819928"/>
              </p:ext>
            </p:extLst>
          </p:nvPr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5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19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X5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19">
                <a:tc rowSpan="3"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en-US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en-US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19"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en-US" sz="12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42608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Magnit ADS</a:t>
            </a:r>
            <a:r>
              <a:rPr lang="ru-RU"/>
              <a:t> </a:t>
            </a:r>
            <a:r>
              <a:rPr lang="ru-RU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293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Показы AdTech: </a:t>
            </a:r>
            <a:r>
              <a:rPr lang="ru-RU" sz="1400" b="1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Модальное окно: </a:t>
            </a:r>
            <a:r>
              <a:rPr lang="ru-RU" sz="1400" b="1">
                <a:solidFill>
                  <a:srgbClr val="000000"/>
                </a:solidFill>
              </a:rPr>
              <a:t>600 → 1 000 руб.</a:t>
            </a:r>
            <a:r>
              <a:rPr lang="ru-RU" sz="140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>
                <a:solidFill>
                  <a:srgbClr val="000000"/>
                </a:solidFill>
              </a:rPr>
              <a:t>68 → 86 тыс. руб.</a:t>
            </a:r>
            <a:r>
              <a:rPr lang="ru-RU" sz="140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70 → 100 тыс. руб.</a:t>
            </a:r>
            <a:r>
              <a:rPr lang="ru-RU" sz="140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213 млн руб.</a:t>
            </a:r>
            <a:r>
              <a:rPr lang="ru-RU" sz="140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DMP: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/>
              <a:t>В 2027 г. в рамках медиа-инвентаря будет задействован максимальный потенциал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/>
              <a:t>Среднесрочный рост рекламной выручки </a:t>
            </a:r>
            <a:r>
              <a:rPr lang="ru-RU" sz="1400"/>
              <a:t>за счет развития аукционных механик в поиске и рекомендациях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>
                <a:solidFill>
                  <a:srgbClr val="FF452C"/>
                </a:solidFill>
              </a:rPr>
              <a:t>digital </a:t>
            </a:r>
            <a:r>
              <a:rPr lang="en-US" sz="1600" b="1">
                <a:solidFill>
                  <a:srgbClr val="FF452C"/>
                </a:solidFill>
              </a:rPr>
              <a:t>In-</a:t>
            </a:r>
            <a:r>
              <a:rPr lang="en-US" sz="1600" b="1">
                <a:solidFill>
                  <a:srgbClr val="FF452C"/>
                </a:solidFill>
              </a:rPr>
              <a:t>store</a:t>
            </a:r>
            <a:endParaRPr lang="ru-RU" sz="1600" b="1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4 019 млн руб. 2027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RMN:</a:t>
            </a:r>
            <a:r>
              <a:rPr lang="ru-RU" sz="140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Social commerce:</a:t>
            </a:r>
            <a:r>
              <a:rPr lang="ru-RU" sz="140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>
                <a:solidFill>
                  <a:srgbClr val="000000"/>
                </a:solidFill>
              </a:rPr>
              <a:t>Content factory (</a:t>
            </a:r>
            <a:r>
              <a:rPr lang="ru-RU" sz="140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DMP + Online:</a:t>
            </a:r>
            <a:r>
              <a:rPr lang="ru-RU" sz="140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/>
              <a:t>90%+ </a:t>
            </a:r>
            <a:r>
              <a:rPr lang="ru-RU" sz="1200"/>
              <a:t>маржинальность инвентаря</a:t>
            </a:r>
          </a:p>
          <a:p>
            <a:pPr algn="ctr"/>
            <a:r>
              <a:rPr lang="ru-RU" sz="800" i="1"/>
              <a:t>Необходим фокус Коммерции на </a:t>
            </a:r>
            <a:r>
              <a:rPr lang="en-US" sz="800" i="1"/>
              <a:t>AdTech</a:t>
            </a:r>
            <a:endParaRPr lang="ru-RU" sz="800" i="1"/>
          </a:p>
        </p:txBody>
      </p:sp>
    </p:spTree>
    <p:extLst>
      <p:ext uri="{BB962C8B-B14F-4D97-AF65-F5344CB8AC3E}">
        <p14:creationId xmlns:p14="http://schemas.microsoft.com/office/powerpoint/2010/main" val="17197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67F642-A6DC-FB4B-0CF2-C06CB38BC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>
                <a:solidFill>
                  <a:srgbClr val="6E6E6E"/>
                </a:solidFill>
              </a:rPr>
              <a:t>КУ — </a:t>
            </a:r>
            <a:r>
              <a:rPr lang="ru-RU">
                <a:solidFill>
                  <a:srgbClr val="6E6E6E"/>
                </a:solidFill>
              </a:rPr>
              <a:t>коммерческие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условия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с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поставщиками</a:t>
            </a:r>
            <a:r>
              <a:rPr lang="ru-RU">
                <a:solidFill>
                  <a:srgbClr val="6E6E6E"/>
                </a:solidFill>
              </a:rPr>
              <a:t>. </a:t>
            </a:r>
            <a:r>
              <a:rPr lang="ru-RU">
                <a:solidFill>
                  <a:srgbClr val="6E6E6E"/>
                </a:solidFill>
              </a:rPr>
              <a:t>Источник</a:t>
            </a:r>
            <a:r>
              <a:rPr lang="ru-RU">
                <a:solidFill>
                  <a:srgbClr val="6E6E6E"/>
                </a:solidFill>
              </a:rPr>
              <a:t>: </a:t>
            </a:r>
            <a:r>
              <a:rPr lang="ru-RU">
                <a:solidFill>
                  <a:srgbClr val="6E6E6E"/>
                </a:solidFill>
              </a:rPr>
              <a:t>инициативы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руководителей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направлений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Магнит</a:t>
            </a:r>
            <a:r>
              <a:rPr lang="ru-RU">
                <a:solidFill>
                  <a:srgbClr val="6E6E6E"/>
                </a:solidFill>
              </a:rPr>
              <a:t> </a:t>
            </a:r>
            <a:r>
              <a:rPr lang="ru-RU">
                <a:solidFill>
                  <a:srgbClr val="6E6E6E"/>
                </a:solidFill>
              </a:rPr>
              <a:t>на</a:t>
            </a:r>
            <a:r>
              <a:rPr lang="ru-RU">
                <a:solidFill>
                  <a:srgbClr val="6E6E6E"/>
                </a:solidFill>
              </a:rPr>
              <a:t> 2027+ </a:t>
            </a:r>
            <a:r>
              <a:rPr lang="ru-RU">
                <a:solidFill>
                  <a:srgbClr val="6E6E6E"/>
                </a:solidFill>
              </a:rPr>
              <a:t>гг</a:t>
            </a:r>
            <a:r>
              <a:rPr lang="ru-RU">
                <a:solidFill>
                  <a:srgbClr val="6E6E6E"/>
                </a:solidFill>
              </a:rPr>
              <a:t>.</a:t>
            </a:r>
            <a:endParaRPr lang="ru-RU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— собираем его в одном контуре AdTech</a:t>
            </a:r>
            <a:endParaRPr lang="ru-RU" sz="120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en-US" sz="120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Content factory: 12,3 млн → 500+ млн просмотров</a:t>
            </a:r>
            <a:endParaRPr lang="ru-RU" sz="120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— квота 50%</a:t>
            </a:r>
            <a:endParaRPr lang="ru-RU" sz="120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en-US" sz="120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" b="1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en-US" sz="120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AdTech — единый оператор инвентаря</a:t>
            </a:r>
            <a:endParaRPr lang="ru-RU" sz="120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Весь инвентарь — через одну платформу, одну команду продаж и один процесс</a:t>
            </a:r>
            <a:endParaRPr lang="ru-RU" sz="120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— в платформе</a:t>
            </a:r>
            <a:endParaRPr lang="ru-RU" sz="120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743607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Обновление роли </a:t>
            </a:r>
            <a:r>
              <a:rPr lang="en-US"/>
              <a:t>AdTech </a:t>
            </a:r>
            <a:r>
              <a:rPr lang="ru-RU"/>
              <a:t>для максимизации </a:t>
            </a:r>
            <a:br>
              <a:rPr lang="ru-RU" dirty="0"/>
            </a:br>
            <a:r>
              <a:rPr lang="ru-RU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— развиваемся через внешнее ЮЛ Магнит Маркета</a:t>
            </a:r>
            <a:endParaRPr lang="ru-RU" sz="120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en-US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Задача AdTech —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>
                <a:solidFill>
                  <a:srgbClr val="000000"/>
                </a:solidFill>
                <a:latin typeface="Arial"/>
                <a:cs typeface="Arial"/>
              </a:rPr>
              <a:t>Бренд-бюджеты — выход в новые охватные сегменты.</a:t>
            </a:r>
            <a:r>
              <a:rPr lang="ru-RU" sz="1050" b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/>
          </a:p>
        </p:txBody>
      </p:sp>
    </p:spTree>
    <p:extLst>
      <p:ext uri="{BB962C8B-B14F-4D97-AF65-F5344CB8AC3E}">
        <p14:creationId xmlns:p14="http://schemas.microsoft.com/office/powerpoint/2010/main" val="444935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069094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и Азбукой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13 502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(APP 7 696; in-store 4 019;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latin typeface="+mn-lt"/>
                        </a:rPr>
                        <a:t>(RMN — 850; Content factory —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37660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>
                <a:solidFill>
                  <a:srgbClr val="6E6E6E"/>
                </a:solidFill>
              </a:rPr>
              <a:t>мес</a:t>
            </a:r>
            <a:endParaRPr lang="ru-RU" sz="90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P&amp;L 2027: выручка 14,6 млрд руб. (+41%),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1 573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(490)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4 243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(1 971)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(1 091)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(1 772)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(414)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(70)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i="1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−3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APP +1 501: </a:t>
            </a:r>
            <a:r>
              <a:rPr lang="ru-RU" sz="1100">
                <a:solidFill>
                  <a:srgbClr val="000000"/>
                </a:solidFill>
              </a:rPr>
              <a:t>~60% (+873) — полный год нового прайса, ~40% (+628) — рост DAC на 18%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In-store +1 573: </a:t>
            </a:r>
            <a:r>
              <a:rPr lang="ru-RU" sz="1100">
                <a:solidFill>
                  <a:srgbClr val="000000"/>
                </a:solidFill>
              </a:rPr>
              <a:t>полный год работы оборудования, введённого в 2026 г. (+2 462); доход на устройство заложен консервативно (−1 264, в основном КСО)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DMP + Online +613: </a:t>
            </a:r>
            <a:r>
              <a:rPr lang="ru-RU" sz="1100">
                <a:solidFill>
                  <a:srgbClr val="000000"/>
                </a:solidFill>
              </a:rPr>
              <a:t>две трети прироста — новые площадки (SmartTV, Авито, маркетплейсы, 420);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Новые направления: </a:t>
            </a:r>
            <a:r>
              <a:rPr lang="ru-RU" sz="1100">
                <a:solidFill>
                  <a:srgbClr val="000000"/>
                </a:solidFill>
              </a:rPr>
              <a:t>RMN 850 (+258) и Content factory 213 — бренд-бюджеты поставщиков и внешние рекламодатели вне КУ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COGS 1 971: </a:t>
            </a:r>
            <a:r>
              <a:rPr lang="ru-RU" sz="1100">
                <a:solidFill>
                  <a:srgbClr val="000000"/>
                </a:solidFill>
              </a:rPr>
              <a:t>закупка трафика DMP (1 000), агентские вознаграждения (795), креаторы (176); Net Revenue — 86% Gross Revenue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en-US" sz="1100" b="1">
                <a:solidFill>
                  <a:srgbClr val="000000"/>
                </a:solidFill>
              </a:rPr>
              <a:t>PEX 1 436 (+28%): </a:t>
            </a:r>
            <a:r>
              <a:rPr lang="ru-RU" sz="1100">
                <a:solidFill>
                  <a:srgbClr val="000000"/>
                </a:solidFill>
              </a:rPr>
              <a:t>полный год работы штата, набранного в 2026 г., и +42 FTE (до 354); 27% ФОТ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4697242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Q1: </a:t>
            </a:r>
            <a:r>
              <a:rPr lang="en-US" sz="1200" b="1">
                <a:solidFill>
                  <a:srgbClr val="000000"/>
                </a:solidFill>
              </a:rPr>
              <a:t>2 039</a:t>
            </a:r>
            <a:r>
              <a:rPr lang="en-US" sz="120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Q2: </a:t>
            </a:r>
            <a:r>
              <a:rPr lang="en-US" sz="1200" b="1">
                <a:solidFill>
                  <a:srgbClr val="000000"/>
                </a:solidFill>
              </a:rPr>
              <a:t>3 059</a:t>
            </a:r>
            <a:r>
              <a:rPr lang="en-US" sz="120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Q3: </a:t>
            </a:r>
            <a:r>
              <a:rPr lang="en-US" sz="1200" b="1">
                <a:solidFill>
                  <a:srgbClr val="000000"/>
                </a:solidFill>
              </a:rPr>
              <a:t>3 350</a:t>
            </a:r>
            <a:r>
              <a:rPr lang="en-US" sz="120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en-US" sz="1200">
                <a:solidFill>
                  <a:srgbClr val="000000"/>
                </a:solidFill>
              </a:rPr>
              <a:t>Q4: </a:t>
            </a:r>
            <a:r>
              <a:rPr lang="en-US" sz="1200" b="1"/>
              <a:t>6 118</a:t>
            </a:r>
            <a:r>
              <a:rPr lang="en-US" sz="1200"/>
              <a:t> </a:t>
            </a:r>
            <a:r>
              <a:rPr lang="en-US" sz="120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>
                <a:solidFill>
                  <a:srgbClr val="000000"/>
                </a:solidFill>
              </a:rPr>
              <a:t>Январь — 2% годового плана, декабрь — 17%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Q4 — 42% годовой выручки: </a:t>
            </a:r>
            <a:r>
              <a:rPr lang="ru-RU" sz="1200">
                <a:solidFill>
                  <a:srgbClr val="000000"/>
                </a:solidFill>
              </a:rPr>
              <a:t>сезонный пик рекламных бюджетов и рост аудитории к концу года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При равномерном PEX </a:t>
            </a:r>
            <a:r>
              <a:rPr lang="ru-RU" sz="1200">
                <a:solidFill>
                  <a:srgbClr val="000000"/>
                </a:solidFill>
              </a:rPr>
              <a:t>маржа EBITDA растёт с 25% в январе до 83% в декабре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Бюджет выше стратегии: выручка +1 618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1484"/>
              </p:ext>
            </p:extLst>
          </p:nvPr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14 566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+1 618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OPEX вкл. COGS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(3 743)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(748)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RMN (+850) — более половины превышения: </a:t>
            </a:r>
            <a:r>
              <a:rPr lang="ru-RU" sz="1200">
                <a:solidFill>
                  <a:srgbClr val="000000"/>
                </a:solidFill>
              </a:rPr>
              <a:t>направление не закладывалось в стратегию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DMP + Online +537 к стратегии: </a:t>
            </a:r>
            <a:r>
              <a:rPr lang="ru-RU" sz="1200">
                <a:solidFill>
                  <a:srgbClr val="000000"/>
                </a:solidFill>
              </a:rPr>
              <a:t>в основном новые площадки — SmartTV, Авито, маркетплейсы (420)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In-store на 490 ниже стратегии: </a:t>
            </a:r>
            <a:r>
              <a:rPr lang="ru-RU" sz="1200">
                <a:solidFill>
                  <a:srgbClr val="000000"/>
                </a:solidFill>
              </a:rPr>
              <a:t>консервативная оценка дохода на устройство после расширения парка, в первую очередь по КСО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OPEX с COGS выше стратегии на 748: </a:t>
            </a:r>
            <a:r>
              <a:rPr lang="ru-RU" sz="1200">
                <a:solidFill>
                  <a:srgbClr val="000000"/>
                </a:solidFill>
              </a:rPr>
              <a:t>в основном Marketing (+742) — закупка трафика DMP и агентские вознаграждения, связанные с ростом выручки</a:t>
            </a:r>
          </a:p>
        </p:txBody>
      </p:sp>
    </p:spTree>
    <p:extLst>
      <p:ext uri="{BB962C8B-B14F-4D97-AF65-F5344CB8AC3E}">
        <p14:creationId xmlns:p14="http://schemas.microsoft.com/office/powerpoint/2010/main" val="14767635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>
                <a:solidFill>
                  <a:srgbClr val="000000"/>
                </a:solidFill>
              </a:rPr>
              <a:t>+18%</a:t>
            </a:r>
            <a:r>
              <a:rPr lang="ru-RU" sz="140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>
                <a:solidFill>
                  <a:srgbClr val="000000"/>
                </a:solidFill>
              </a:rPr>
              <a:t>1 000 руб.</a:t>
            </a:r>
            <a:r>
              <a:rPr lang="en-US" sz="140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Перформанс: </a:t>
            </a:r>
            <a:r>
              <a:rPr lang="ru-RU" sz="1400" b="1">
                <a:solidFill>
                  <a:srgbClr val="000000"/>
                </a:solidFill>
              </a:rPr>
              <a:t>2,3 тыс.</a:t>
            </a:r>
            <a:r>
              <a:rPr lang="ru-RU" sz="140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Сторис: </a:t>
            </a:r>
            <a:r>
              <a:rPr lang="ru-RU" sz="1400" b="1">
                <a:solidFill>
                  <a:srgbClr val="000000"/>
                </a:solidFill>
              </a:rPr>
              <a:t>313</a:t>
            </a:r>
            <a:r>
              <a:rPr lang="ru-RU" sz="140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4 019 млн руб.  ·  +64%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Ввод </a:t>
            </a:r>
            <a:r>
              <a:rPr lang="ru-RU" sz="1400" b="1">
                <a:solidFill>
                  <a:srgbClr val="000000"/>
                </a:solidFill>
              </a:rPr>
              <a:t>3 250</a:t>
            </a:r>
            <a:r>
              <a:rPr lang="ru-RU" sz="140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OLV: </a:t>
            </a:r>
            <a:r>
              <a:rPr lang="ru-RU" sz="1400" b="1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Онлайн+ТВ: </a:t>
            </a:r>
            <a:r>
              <a:rPr lang="ru-RU" sz="1400" b="1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RMN: </a:t>
            </a:r>
            <a:r>
              <a:rPr lang="ru-RU" sz="1400" b="1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6 ячеек по 25 креаторов к марту 2027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569 млн просмотров, половина — внешним рекламодателям</a:t>
            </a:r>
          </a:p>
          <a:p>
            <a:pPr marL="171450" indent="-171450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Результат с ВГО 113 млн руб., рентабельность 32%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Квота 50%: </a:t>
            </a:r>
            <a:r>
              <a:rPr lang="ru-RU" sz="1200">
                <a:solidFill>
                  <a:srgbClr val="000000"/>
                </a:solidFill>
              </a:rPr>
              <a:t>половина инвентаря приложения и in-store закреплена за задачами команд Магнита; бюджет 2027 рассчитан на фактической доле AdTech в показах 2026 г.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Верификация in-store: </a:t>
            </a:r>
            <a:r>
              <a:rPr lang="ru-RU" sz="120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Пересмотр целей: </a:t>
            </a:r>
            <a:r>
              <a:rPr lang="ru-RU" sz="120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en-US" sz="5000" b="1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In-store +1 573 млн руб. (+64%):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1 895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1 147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4 019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Ввод 2027 г., +228: </a:t>
            </a:r>
            <a:r>
              <a:rPr lang="ru-RU" sz="110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Реализация инвентаря, +147: </a:t>
            </a:r>
            <a:r>
              <a:rPr lang="ru-RU" sz="110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Почему снижается: </a:t>
            </a:r>
            <a:r>
              <a:rPr lang="ru-RU" sz="110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ru-RU" sz="1100" b="1">
                <a:solidFill>
                  <a:srgbClr val="000000"/>
                </a:solidFill>
              </a:rPr>
              <a:t> </a:t>
            </a:r>
            <a:r>
              <a:rPr lang="ru-RU" sz="1100">
                <a:solidFill>
                  <a:srgbClr val="000000"/>
                </a:solidFill>
              </a:rPr>
              <a:t>регулирование спроса</a:t>
            </a:r>
            <a:endParaRPr lang="ru-RU" sz="110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>
                <a:solidFill>
                  <a:srgbClr val="000000"/>
                </a:solidFill>
              </a:rPr>
              <a:t>5 + 5</a:t>
            </a:r>
            <a:r>
              <a:rPr lang="ru-RU" sz="140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Введено </a:t>
            </a:r>
            <a:r>
              <a:rPr lang="ru-RU" sz="1400" b="1">
                <a:solidFill>
                  <a:srgbClr val="000000"/>
                </a:solidFill>
              </a:rPr>
              <a:t>2 725</a:t>
            </a:r>
            <a:r>
              <a:rPr lang="ru-RU" sz="1400">
                <a:solidFill>
                  <a:srgbClr val="000000"/>
                </a:solidFill>
              </a:rPr>
              <a:t> шелф-баннеров и </a:t>
            </a:r>
            <a:r>
              <a:rPr lang="ru-RU" sz="1400" b="1">
                <a:solidFill>
                  <a:srgbClr val="000000"/>
                </a:solidFill>
              </a:rPr>
              <a:t>831</a:t>
            </a:r>
            <a:r>
              <a:rPr lang="ru-RU" sz="140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Еще </a:t>
            </a:r>
            <a:r>
              <a:rPr lang="ru-RU" sz="1400" b="1">
                <a:solidFill>
                  <a:srgbClr val="000000"/>
                </a:solidFill>
              </a:rPr>
              <a:t>3 250</a:t>
            </a:r>
            <a:r>
              <a:rPr lang="ru-RU" sz="1400">
                <a:solidFill>
                  <a:srgbClr val="000000"/>
                </a:solidFill>
              </a:rPr>
              <a:t> шелф-баннеров, </a:t>
            </a:r>
            <a:r>
              <a:rPr lang="ru-RU" sz="1400" b="1">
                <a:solidFill>
                  <a:srgbClr val="000000"/>
                </a:solidFill>
              </a:rPr>
              <a:t>428</a:t>
            </a:r>
            <a:r>
              <a:rPr lang="ru-RU" sz="1400">
                <a:solidFill>
                  <a:srgbClr val="000000"/>
                </a:solidFill>
              </a:rPr>
              <a:t> фасадных экранов, </a:t>
            </a:r>
            <a:r>
              <a:rPr lang="ru-RU" sz="1400" b="1">
                <a:solidFill>
                  <a:srgbClr val="000000"/>
                </a:solidFill>
              </a:rPr>
              <a:t>20</a:t>
            </a:r>
            <a:r>
              <a:rPr lang="ru-RU" sz="140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213 млн руб.  ·  результат с ВГО 113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— </a:t>
            </a:r>
            <a:r>
              <a:rPr lang="ru-RU" sz="1200">
                <a:solidFill>
                  <a:srgbClr val="000000"/>
                </a:solidFill>
              </a:rPr>
              <a:t>план команды DMP и интеграции брендов через Центральный маркетинг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Маржинальность 37,5%: </a:t>
            </a:r>
            <a:r>
              <a:rPr lang="ru-RU" sz="1200">
                <a:solidFill>
                  <a:srgbClr val="000000"/>
                </a:solidFill>
              </a:rPr>
              <a:t>закупка трафика — 1 000 из 1 600 млн руб. выручки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Analytics: </a:t>
            </a:r>
            <a:r>
              <a:rPr lang="ru-RU" sz="120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21336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ВГО, справочно: 284 млн × 0,5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9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Креаторы (176)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(242)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Результат CF (с ВГО)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Объём контента: </a:t>
            </a:r>
            <a:r>
              <a:rPr lang="ru-RU" sz="1200">
                <a:solidFill>
                  <a:srgbClr val="000000"/>
                </a:solidFill>
              </a:rPr>
              <a:t>60–70 роликов в месяц на креатора, каждый публикуется в 4 соцсетях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Рентабельность 32% (с ВГО)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en-US" sz="10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Отдельное ЮЛ </a:t>
            </a:r>
            <a:r>
              <a:rPr lang="ru-RU" sz="120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ВГО — продажа просмотров внутренним заказчикам по 0,5 руб., в P&amp;L AdTech не отражается. 1. Nielsen. 2. «Родная Речь», «Изменение медиаландшафта», январь–май 2026 г., россияне 12+. Источники: лист «Content factory», Ads Market Calc, медиаплан контент-завода на Q4 2026 г., открытые данные брендов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Content factory</a:t>
            </a:r>
            <a:r>
              <a:rPr lang="ru-RU"/>
              <a:t>: охват в соцсетях потоком UGC-контента; внешняя выручка 213 млн руб., с ВГО результат 113 млн руб.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8105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>
                <a:solidFill>
                  <a:srgbClr val="000000"/>
                </a:solidFill>
              </a:rPr>
              <a:t>P&amp;L Content </a:t>
            </a:r>
            <a:r>
              <a:rPr lang="en-US" sz="1600" b="1">
                <a:solidFill>
                  <a:srgbClr val="000000"/>
                </a:solidFill>
              </a:rPr>
              <a:t>factory</a:t>
            </a:r>
            <a:endParaRPr lang="en-US" sz="1600" b="1">
              <a:solidFill>
                <a:srgbClr val="000000"/>
              </a:solidFill>
            </a:endParaRP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78105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200">
                <a:solidFill>
                  <a:srgbClr val="595959"/>
                </a:solidFill>
              </a:rPr>
              <a:t>P&amp;L 2027, млн руб.  ·  6 ячеек × 25 креаторов, 569 млн просмотров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78105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432800" y="1016000"/>
            <a:ext cx="3390900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Предпосылки реализации </a:t>
            </a:r>
            <a:r>
              <a:rPr lang="en-US" sz="1600" b="1">
                <a:solidFill>
                  <a:srgbClr val="000000"/>
                </a:solidFill>
              </a:rPr>
              <a:t>Content factory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308" name="Shape 308"/>
          <p:cNvSpPr txBox="1"/>
          <p:nvPr/>
        </p:nvSpPr>
        <p:spPr>
          <a:xfrm>
            <a:off x="8432800" y="1549400"/>
            <a:ext cx="3390900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11" name="Table 4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3387940"/>
              </p:ext>
            </p:extLst>
          </p:nvPr>
        </p:nvGraphicFramePr>
        <p:xfrm>
          <a:off x="368300" y="1676400"/>
          <a:ext cx="7810500" cy="2667000"/>
        </p:xfrm>
        <a:graphic>
          <a:graphicData uri="http://schemas.openxmlformats.org/drawingml/2006/table">
            <a:tbl>
              <a:tblPr firstRow="1"/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Выручка — внешние рекламодатели (284 млн просмотров × 0,75 руб.)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213,3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Выручка ВГО — внутренние заказчики (284 млн просмотров × 0,5 руб.), справочно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142,2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Выручка всего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355,5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Оплата креаторам (OPEX ячеек, Marketing)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(176,1)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ФОТ команды Content factory (PEX)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>
                          <a:solidFill>
                            <a:srgbClr val="000000"/>
                          </a:solidFill>
                          <a:latin typeface="Arial"/>
                        </a:rPr>
                        <a:t>(66,4)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Расходы всего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1">
                          <a:solidFill>
                            <a:srgbClr val="000000"/>
                          </a:solidFill>
                          <a:latin typeface="Arial"/>
                        </a:rPr>
                        <a:t>(242,5)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Справочно</a:t>
                      </a:r>
                      <a:r>
                        <a:rPr lang="ru-RU" sz="1200" b="0" i="1" kern="1200">
                          <a:solidFill>
                            <a:srgbClr val="595959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Результат Content </a:t>
                      </a:r>
                      <a:r>
                        <a:rPr lang="en-US" sz="1200" b="0" i="1">
                          <a:solidFill>
                            <a:srgbClr val="595959"/>
                          </a:solidFill>
                          <a:latin typeface="Arial"/>
                        </a:rPr>
                        <a:t>factory</a:t>
                      </a:r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 с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b="0" i="1">
                          <a:solidFill>
                            <a:srgbClr val="595959"/>
                          </a:solidFill>
                          <a:latin typeface="Arial"/>
                        </a:rPr>
                        <a:t>113,0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Рентабельность с ВГО, 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200" i="1">
                          <a:solidFill>
                            <a:srgbClr val="595959"/>
                          </a:solidFill>
                          <a:latin typeface="Arial"/>
                        </a:rPr>
                        <a:t>32%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08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algn="l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Результат без ВГО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354" rtl="0" eaLnBrk="1" latinLnBrk="0" hangingPunct="1"/>
                      <a:r>
                        <a:rPr lang="ru-RU" sz="1200" b="1" kern="1200">
                          <a:solidFill>
                            <a:srgbClr val="000000"/>
                          </a:solidFill>
                          <a:latin typeface="Arial"/>
                          <a:ea typeface="+mn-ea"/>
                          <a:cs typeface="+mn-cs"/>
                        </a:rPr>
                        <a:t>(29,2)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rgbClr val="FFE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9"/>
                  </a:ext>
                </a:extLst>
              </a:tr>
            </a:tbl>
          </a:graphicData>
        </a:graphic>
      </p:graphicFrame>
      <p:sp>
        <p:nvSpPr>
          <p:cNvPr id="312" name="CF narrative"/>
          <p:cNvSpPr/>
          <p:nvPr/>
        </p:nvSpPr>
        <p:spPr>
          <a:xfrm>
            <a:off x="8432800" y="1676400"/>
            <a:ext cx="3390900" cy="4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ru-RU" sz="1200" b="1">
                <a:solidFill>
                  <a:srgbClr val="FF452C"/>
                </a:solidFill>
                <a:latin typeface="Arial"/>
              </a:rPr>
              <a:t>1. Рынок растёт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74 → 93 млрд руб.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— рынок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инфлюенс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-маркетинга в РФ в 2026–2027 гг. (~30% г/г)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88%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покупателей доверяют рекомендациям креаторов больше, чем рекламе бренда¹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4 ч 18 мин.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в день россияне проводят в интернете против ~3,5 ч у телевизора²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2. Аудитория разбросана</a:t>
            </a:r>
          </a:p>
          <a:p>
            <a:pPr algn="l">
              <a:spcBef>
                <a:spcPts val="300"/>
              </a:spcBef>
            </a:pPr>
            <a:r>
              <a:rPr lang="en-US" sz="1050" b="1">
                <a:solidFill>
                  <a:srgbClr val="000000"/>
                </a:solidFill>
                <a:latin typeface="Arial"/>
              </a:rPr>
              <a:t>Likee</a:t>
            </a:r>
            <a:r>
              <a:rPr lang="en-US" sz="1050" b="1">
                <a:solidFill>
                  <a:srgbClr val="000000"/>
                </a:solidFill>
                <a:latin typeface="Arial"/>
              </a:rPr>
              <a:t>, TikTok, YouTube, VK: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каждую сеть нужно закупать отдельно; у топ-блогеров дорогой контакт и разовый эффект, есть регуляторные риски</a:t>
            </a:r>
          </a:p>
          <a:p>
            <a:pPr algn="l">
              <a:spcBef>
                <a:spcPts val="900"/>
              </a:spcBef>
            </a:pPr>
            <a:r>
              <a:rPr lang="ru-RU" sz="1200" b="1">
                <a:solidFill>
                  <a:srgbClr val="FF452C"/>
                </a:solidFill>
                <a:latin typeface="Arial"/>
              </a:rPr>
              <a:t>3. Решение: </a:t>
            </a:r>
            <a:r>
              <a:rPr lang="en-US" sz="1200" b="1">
                <a:solidFill>
                  <a:srgbClr val="FF452C"/>
                </a:solidFill>
                <a:latin typeface="Arial"/>
              </a:rPr>
              <a:t>Content factory</a:t>
            </a:r>
            <a:endParaRPr lang="ru-RU" sz="1200" b="1">
              <a:solidFill>
                <a:srgbClr val="FF452C"/>
              </a:solidFill>
              <a:latin typeface="Arial"/>
            </a:endParaRP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Сеть </a:t>
            </a:r>
            <a:r>
              <a:rPr lang="ru-RU" sz="1050" b="1">
                <a:solidFill>
                  <a:srgbClr val="000000"/>
                </a:solidFill>
                <a:latin typeface="Arial"/>
              </a:rPr>
              <a:t>нано</a:t>
            </a:r>
            <a:r>
              <a:rPr lang="ru-RU" sz="1050" b="1">
                <a:solidFill>
                  <a:srgbClr val="000000"/>
                </a:solidFill>
                <a:latin typeface="Arial"/>
              </a:rPr>
              <a:t>-креаторов: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группы с продюсером, тренд-аналитиком и PM; 60–70 роликов в месяц на креатора, каждый — в 4 соцсетях, лучшие дублируем в ленту приложения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~1 500 просмотров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на публикацию (подтверждено экспериментами)</a:t>
            </a:r>
          </a:p>
          <a:p>
            <a:pPr algn="l">
              <a:spcBef>
                <a:spcPts val="300"/>
              </a:spcBef>
            </a:pPr>
            <a:r>
              <a:rPr lang="ru-RU" sz="1050" b="1">
                <a:solidFill>
                  <a:srgbClr val="000000"/>
                </a:solidFill>
                <a:latin typeface="Arial"/>
              </a:rPr>
              <a:t>Под ключ для бренда: </a:t>
            </a:r>
            <a:r>
              <a:rPr lang="ru-RU" sz="1050">
                <a:solidFill>
                  <a:srgbClr val="000000"/>
                </a:solidFill>
                <a:latin typeface="Arial"/>
              </a:rPr>
              <a:t>бриф, сценарии, публикации, отчёт; CPV 0,75 руб. в соцсетях, 1,5 руб. </a:t>
            </a:r>
            <a:r>
              <a:rPr lang="en-US" sz="1050">
                <a:solidFill>
                  <a:srgbClr val="000000"/>
                </a:solidFill>
                <a:latin typeface="Arial"/>
              </a:rPr>
              <a:t>in-app</a:t>
            </a:r>
            <a:endParaRPr lang="ru-RU" sz="105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CF plan label"/>
          <p:cNvSpPr/>
          <p:nvPr/>
        </p:nvSpPr>
        <p:spPr>
          <a:xfrm>
            <a:off x="368300" y="4520000"/>
            <a:ext cx="7810500" cy="24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/>
            <a:r>
              <a:rPr lang="ru-RU" sz="1100" b="1">
                <a:solidFill>
                  <a:srgbClr val="7F7F7F"/>
                </a:solidFill>
                <a:latin typeface="Arial"/>
              </a:rPr>
              <a:t>План и бенчмарки</a:t>
            </a:r>
          </a:p>
        </p:txBody>
      </p:sp>
      <p:sp>
        <p:nvSpPr>
          <p:cNvPr id="314" name="CF card 1"/>
          <p:cNvSpPr/>
          <p:nvPr/>
        </p:nvSpPr>
        <p:spPr>
          <a:xfrm>
            <a:off x="368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2026 г. — пилот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12,3 млн просмотров; клиенты — Магнит Косметик и 43 Brands</a:t>
            </a:r>
          </a:p>
        </p:txBody>
      </p:sp>
      <p:sp>
        <p:nvSpPr>
          <p:cNvPr id="315" name="CF card 2"/>
          <p:cNvSpPr/>
          <p:nvPr/>
        </p:nvSpPr>
        <p:spPr>
          <a:xfrm>
            <a:off x="23118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2027 г. — выход на поставщиков Магнита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569 млн просмотров, 150 креаторов в штате</a:t>
            </a:r>
          </a:p>
        </p:txBody>
      </p:sp>
      <p:sp>
        <p:nvSpPr>
          <p:cNvPr id="316" name="CF card 3"/>
          <p:cNvSpPr/>
          <p:nvPr/>
        </p:nvSpPr>
        <p:spPr>
          <a:xfrm>
            <a:off x="4255300" y="4830000"/>
            <a:ext cx="1880000" cy="1250000"/>
          </a:xfrm>
          <a:prstGeom prst="rect">
            <a:avLst/>
          </a:prstGeom>
          <a:solidFill>
            <a:srgbClr val="FFE3DF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FF452C"/>
                </a:solidFill>
                <a:latin typeface="Arial"/>
              </a:rPr>
              <a:t>Выручка 2027 г.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355,5 млн руб. с ВГО, из них 213 — внешние рекламодатели</a:t>
            </a:r>
          </a:p>
        </p:txBody>
      </p:sp>
      <p:sp>
        <p:nvSpPr>
          <p:cNvPr id="317" name="CF card 4"/>
          <p:cNvSpPr/>
          <p:nvPr/>
        </p:nvSpPr>
        <p:spPr>
          <a:xfrm>
            <a:off x="6198800" y="4830000"/>
            <a:ext cx="1880000" cy="125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/>
            <a:r>
              <a:rPr lang="ru-RU" sz="1200" b="1">
                <a:solidFill>
                  <a:srgbClr val="000000"/>
                </a:solidFill>
                <a:latin typeface="Arial"/>
              </a:rPr>
              <a:t>Бенчмарки рынка</a:t>
            </a:r>
          </a:p>
          <a:p>
            <a:pPr algn="ctr">
              <a:spcBef>
                <a:spcPts val="300"/>
              </a:spcBef>
            </a:pPr>
            <a:r>
              <a:rPr lang="ru-RU" sz="1000">
                <a:solidFill>
                  <a:srgbClr val="000000"/>
                </a:solidFill>
                <a:latin typeface="Arial"/>
              </a:rPr>
              <a:t>VOIS — 1 700 креаторов за 2 года, MIXIT — 500 UGC-креаторов</a:t>
            </a:r>
          </a:p>
        </p:txBody>
      </p:sp>
    </p:spTree>
    <p:extLst>
      <p:ext uri="{BB962C8B-B14F-4D97-AF65-F5344CB8AC3E}">
        <p14:creationId xmlns:p14="http://schemas.microsoft.com/office/powerpoint/2010/main" val="27182818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Content factory: </a:t>
            </a:r>
            <a:r>
              <a:rPr lang="ru-RU" sz="1400" b="1">
                <a:solidFill>
                  <a:srgbClr val="000000"/>
                </a:solidFill>
              </a:rPr>
              <a:t>6 ячеек</a:t>
            </a:r>
            <a:r>
              <a:rPr lang="ru-RU" sz="140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569 млн</a:t>
            </a:r>
            <a:r>
              <a:rPr lang="ru-RU" sz="140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Блогерская платформа MIP и </a:t>
            </a:r>
            <a:r>
              <a:rPr lang="en-US" sz="1400">
                <a:solidFill>
                  <a:srgbClr val="000000"/>
                </a:solidFill>
              </a:rPr>
              <a:t>shoppable</a:t>
            </a:r>
            <a:r>
              <a:rPr lang="ru-RU" sz="140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площадки: </a:t>
            </a:r>
            <a:r>
              <a:rPr lang="ru-RU" sz="1400" b="1">
                <a:solidFill>
                  <a:srgbClr val="000000"/>
                </a:solidFill>
              </a:rPr>
              <a:t>SmartTV, Авито,</a:t>
            </a:r>
            <a:r>
              <a:rPr lang="ru-RU" sz="140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OPEX с COGS +1 504 млн руб. (+67%): 73% прироста — переменные расходы, которые масштабируются вместе с выручкой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+5,2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−1,0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25,7%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+4,0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Закупка трафика DMP 1 000 млн руб. </a:t>
            </a:r>
            <a:r>
              <a:rPr lang="ru-RU" sz="1200">
                <a:solidFill>
                  <a:srgbClr val="000000"/>
                </a:solidFill>
              </a:rPr>
              <a:t>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Агентские вознаграждения 795 млн руб. </a:t>
            </a:r>
            <a:r>
              <a:rPr lang="ru-RU" sz="1200">
                <a:solidFill>
                  <a:srgbClr val="000000"/>
                </a:solidFill>
              </a:rPr>
              <a:t>— 30% выручки, привлечённой через агентства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Креаторы 176 млн руб. </a:t>
            </a:r>
            <a:r>
              <a:rPr lang="ru-RU" sz="1200">
                <a:solidFill>
                  <a:srgbClr val="000000"/>
                </a:solidFill>
              </a:rPr>
              <a:t>— оплата ячеек Content factory при внешней выручке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PEX +28% — медленнее выручки, </a:t>
            </a:r>
            <a:r>
              <a:rPr lang="ru-RU" sz="1200">
                <a:solidFill>
                  <a:srgbClr val="000000"/>
                </a:solidFill>
              </a:rPr>
              <a:t>доля в выручке снижается: +250 — полный год штата 2026 г. и +42 FTE, +66 — команда Content factory</a:t>
            </a:r>
          </a:p>
        </p:txBody>
      </p:sp>
    </p:spTree>
    <p:extLst>
      <p:ext uri="{BB962C8B-B14F-4D97-AF65-F5344CB8AC3E}">
        <p14:creationId xmlns:p14="http://schemas.microsoft.com/office/powerpoint/2010/main" val="4283941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EBITDA +2 739 млн руб. (+34%): 65%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Выручка +4 243: </a:t>
            </a:r>
            <a:r>
              <a:rPr lang="ru-RU" sz="1200">
                <a:solidFill>
                  <a:srgbClr val="000000"/>
                </a:solidFill>
              </a:rPr>
              <a:t>72% прироста дают APP и In-store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Marketing −1 136 — в основном переменные расходы: </a:t>
            </a:r>
            <a:r>
              <a:rPr lang="ru-RU" sz="1200">
                <a:solidFill>
                  <a:srgbClr val="000000"/>
                </a:solidFill>
              </a:rPr>
              <a:t>трафик DMP (−489), агентские (−441), креаторы (−160)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PEX −316: </a:t>
            </a:r>
            <a:r>
              <a:rPr lang="ru-RU" sz="1200">
                <a:solidFill>
                  <a:srgbClr val="000000"/>
                </a:solidFill>
              </a:rPr>
              <a:t>полный год работы штата 2026 г. (−250) и команда Content factory (−66)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IT −34: </a:t>
            </a:r>
            <a:r>
              <a:rPr lang="ru-RU" sz="1200">
                <a:solidFill>
                  <a:srgbClr val="000000"/>
                </a:solidFill>
              </a:rPr>
              <a:t>поддержка и сопровождение ПО, всего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ru-RU"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ФОТ разработки 510: </a:t>
            </a:r>
            <a:r>
              <a:rPr lang="ru-RU" sz="1200">
                <a:solidFill>
                  <a:srgbClr val="000000"/>
                </a:solidFill>
              </a:rPr>
              <a:t>капитализируется 27% ФОТ IT, Product, Analytics и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ИТ-закупки 31: </a:t>
            </a:r>
            <a:r>
              <a:rPr lang="ru-RU" sz="1200">
                <a:solidFill>
                  <a:srgbClr val="000000"/>
                </a:solidFill>
              </a:rPr>
              <a:t>техника под найм 30 человек (14), AI-инструменты (11), Optimacros (5)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In-store 610, </a:t>
            </a:r>
            <a:r>
              <a:rPr lang="ru-RU" sz="1200">
                <a:solidFill>
                  <a:srgbClr val="000000"/>
                </a:solidFill>
              </a:rPr>
              <a:t>в т.ч. система управления медиаконтентом 438; интеграция медиа с КСО в бюджет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26659662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Источник: анализ Magnit ADS (AdTech)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/>
              <a:t>Рост сегментов, где находится выручка </a:t>
            </a:r>
            <a:r>
              <a:rPr lang="en-US"/>
              <a:t>AdTech</a:t>
            </a:r>
            <a:r>
              <a:rPr lang="ru-RU"/>
              <a:t>,</a:t>
            </a:r>
            <a:r>
              <a:rPr lang="ru-RU"/>
              <a:t> </a:t>
            </a:r>
            <a:r>
              <a:rPr lang="ru-RU"/>
              <a:t>сигнализирует </a:t>
            </a:r>
            <a:br>
              <a:rPr lang="ru-RU" dirty="0"/>
            </a:br>
            <a:r>
              <a:rPr lang="ru-RU"/>
              <a:t>о росте спроса со стороны поставщиков на рекламные инструменты</a:t>
            </a:r>
          </a:p>
        </p:txBody>
      </p:sp>
      <p:sp>
        <p:nvSpPr>
          <p:cNvPr id="5" name="ADS label 5"/>
          <p:cNvSpPr txBox="1"/>
          <p:nvPr/>
        </p:nvSpPr>
        <p:spPr>
          <a:xfrm>
            <a:off x="365760" y="1261625"/>
            <a:ext cx="22402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Сегмент</a:t>
            </a:r>
            <a:endParaRPr lang="ru-RU"/>
          </a:p>
        </p:txBody>
      </p:sp>
      <p:sp>
        <p:nvSpPr>
          <p:cNvPr id="6" name="ADS label 6"/>
          <p:cNvSpPr txBox="1"/>
          <p:nvPr/>
        </p:nvSpPr>
        <p:spPr>
          <a:xfrm>
            <a:off x="3453681" y="1261625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9м 2026</a:t>
            </a:r>
            <a:endParaRPr lang="ru-RU"/>
          </a:p>
        </p:txBody>
      </p:sp>
      <p:sp>
        <p:nvSpPr>
          <p:cNvPr id="7" name="ADS label 7"/>
          <p:cNvSpPr txBox="1"/>
          <p:nvPr/>
        </p:nvSpPr>
        <p:spPr>
          <a:xfrm>
            <a:off x="4952302" y="1261625"/>
            <a:ext cx="21488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Изм. 9м г/г</a:t>
            </a: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 (25-26 </a:t>
            </a:r>
            <a:r>
              <a:rPr lang="ru-RU" sz="1200" b="1">
                <a:solidFill>
                  <a:srgbClr val="FF452C"/>
                </a:solidFill>
                <a:latin typeface="Arial"/>
                <a:cs typeface="Arial"/>
              </a:rPr>
              <a:t>гг.)</a:t>
            </a:r>
            <a:endParaRPr lang="ru-RU"/>
          </a:p>
        </p:txBody>
      </p:sp>
      <p:sp>
        <p:nvSpPr>
          <p:cNvPr id="12" name="ADS label 12"/>
          <p:cNvSpPr txBox="1"/>
          <p:nvPr/>
        </p:nvSpPr>
        <p:spPr>
          <a:xfrm>
            <a:off x="365760" y="1636529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FF452C"/>
                </a:solidFill>
                <a:latin typeface="Arial"/>
                <a:cs typeface="Arial"/>
              </a:rPr>
              <a:t>Сегменты, где находится рекламная выручка AdTech</a:t>
            </a:r>
            <a:endParaRPr lang="ru-RU" sz="1200"/>
          </a:p>
        </p:txBody>
      </p:sp>
      <p:sp>
        <p:nvSpPr>
          <p:cNvPr id="13" name="ADS label 13"/>
          <p:cNvSpPr txBox="1"/>
          <p:nvPr/>
        </p:nvSpPr>
        <p:spPr>
          <a:xfrm>
            <a:off x="438912" y="184684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Маркетинг</a:t>
            </a:r>
            <a:endParaRPr lang="ru-RU" sz="1200"/>
          </a:p>
        </p:txBody>
      </p:sp>
      <p:sp>
        <p:nvSpPr>
          <p:cNvPr id="14" name="ADS label 14"/>
          <p:cNvSpPr txBox="1"/>
          <p:nvPr/>
        </p:nvSpPr>
        <p:spPr>
          <a:xfrm>
            <a:off x="3453681" y="184684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21 934</a:t>
            </a:r>
            <a:endParaRPr lang="ru-RU" sz="1200"/>
          </a:p>
        </p:txBody>
      </p:sp>
      <p:sp>
        <p:nvSpPr>
          <p:cNvPr id="15" name="ADS chip 15"/>
          <p:cNvSpPr/>
          <p:nvPr/>
        </p:nvSpPr>
        <p:spPr>
          <a:xfrm>
            <a:off x="4962441" y="1947425"/>
            <a:ext cx="1270086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6" name="ADS label 16"/>
          <p:cNvSpPr txBox="1"/>
          <p:nvPr/>
        </p:nvSpPr>
        <p:spPr>
          <a:xfrm>
            <a:off x="6287391" y="184684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+86%</a:t>
            </a:r>
            <a:endParaRPr lang="ru-RU" sz="1200"/>
          </a:p>
        </p:txBody>
      </p:sp>
      <p:sp>
        <p:nvSpPr>
          <p:cNvPr id="20" name="ADS label 20"/>
          <p:cNvSpPr txBox="1"/>
          <p:nvPr/>
        </p:nvSpPr>
        <p:spPr>
          <a:xfrm>
            <a:off x="438912" y="2212601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Прочие бонусы от поставщиков</a:t>
            </a:r>
            <a:endParaRPr lang="ru-RU" sz="1200"/>
          </a:p>
        </p:txBody>
      </p:sp>
      <p:sp>
        <p:nvSpPr>
          <p:cNvPr id="21" name="ADS label 21"/>
          <p:cNvSpPr txBox="1"/>
          <p:nvPr/>
        </p:nvSpPr>
        <p:spPr>
          <a:xfrm>
            <a:off x="3453681" y="2212601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24 593</a:t>
            </a:r>
            <a:endParaRPr lang="ru-RU" sz="1200"/>
          </a:p>
        </p:txBody>
      </p:sp>
      <p:sp>
        <p:nvSpPr>
          <p:cNvPr id="22" name="ADS chip 22"/>
          <p:cNvSpPr/>
          <p:nvPr/>
        </p:nvSpPr>
        <p:spPr>
          <a:xfrm>
            <a:off x="4962441" y="2313185"/>
            <a:ext cx="282404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23" name="ADS label 23"/>
          <p:cNvSpPr txBox="1"/>
          <p:nvPr/>
        </p:nvSpPr>
        <p:spPr>
          <a:xfrm>
            <a:off x="5299709" y="2212601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+19%</a:t>
            </a:r>
            <a:endParaRPr lang="ru-RU" sz="1200"/>
          </a:p>
        </p:txBody>
      </p:sp>
      <p:sp>
        <p:nvSpPr>
          <p:cNvPr id="27" name="ADS label 27"/>
          <p:cNvSpPr txBox="1"/>
          <p:nvPr/>
        </p:nvSpPr>
        <p:spPr>
          <a:xfrm>
            <a:off x="365760" y="2669801"/>
            <a:ext cx="8092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>
                <a:solidFill>
                  <a:srgbClr val="7F7F7F"/>
                </a:solidFill>
                <a:latin typeface="Arial"/>
                <a:cs typeface="Arial"/>
              </a:rPr>
              <a:t>Сегменты без AdTech</a:t>
            </a:r>
            <a:endParaRPr lang="ru-RU" sz="1200"/>
          </a:p>
        </p:txBody>
      </p:sp>
      <p:sp>
        <p:nvSpPr>
          <p:cNvPr id="28" name="ADS label 28"/>
          <p:cNvSpPr txBox="1"/>
          <p:nvPr/>
        </p:nvSpPr>
        <p:spPr>
          <a:xfrm>
            <a:off x="438912" y="288011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Премии</a:t>
            </a:r>
            <a:endParaRPr lang="ru-RU" sz="1200"/>
          </a:p>
        </p:txBody>
      </p:sp>
      <p:sp>
        <p:nvSpPr>
          <p:cNvPr id="29" name="ADS label 29"/>
          <p:cNvSpPr txBox="1"/>
          <p:nvPr/>
        </p:nvSpPr>
        <p:spPr>
          <a:xfrm>
            <a:off x="3453681" y="288011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110 694</a:t>
            </a:r>
            <a:endParaRPr lang="ru-RU" sz="1200"/>
          </a:p>
        </p:txBody>
      </p:sp>
      <p:sp>
        <p:nvSpPr>
          <p:cNvPr id="30" name="ADS chip 30"/>
          <p:cNvSpPr/>
          <p:nvPr/>
        </p:nvSpPr>
        <p:spPr>
          <a:xfrm>
            <a:off x="4962441" y="2980697"/>
            <a:ext cx="46910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31" name="ADS label 31"/>
          <p:cNvSpPr txBox="1"/>
          <p:nvPr/>
        </p:nvSpPr>
        <p:spPr>
          <a:xfrm>
            <a:off x="5064215" y="288011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+3%</a:t>
            </a:r>
            <a:endParaRPr lang="ru-RU" sz="1200"/>
          </a:p>
        </p:txBody>
      </p:sp>
      <p:sp>
        <p:nvSpPr>
          <p:cNvPr id="35" name="ADS label 35"/>
          <p:cNvSpPr txBox="1"/>
          <p:nvPr/>
        </p:nvSpPr>
        <p:spPr>
          <a:xfrm>
            <a:off x="438912" y="324587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Промо</a:t>
            </a:r>
            <a:endParaRPr lang="ru-RU" sz="1200"/>
          </a:p>
        </p:txBody>
      </p:sp>
      <p:sp>
        <p:nvSpPr>
          <p:cNvPr id="36" name="ADS label 36"/>
          <p:cNvSpPr txBox="1"/>
          <p:nvPr/>
        </p:nvSpPr>
        <p:spPr>
          <a:xfrm>
            <a:off x="3453681" y="324587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47 279</a:t>
            </a:r>
            <a:endParaRPr lang="ru-RU" sz="1200"/>
          </a:p>
        </p:txBody>
      </p:sp>
      <p:sp>
        <p:nvSpPr>
          <p:cNvPr id="37" name="ADS label 37"/>
          <p:cNvSpPr txBox="1"/>
          <p:nvPr/>
        </p:nvSpPr>
        <p:spPr>
          <a:xfrm>
            <a:off x="5017304" y="324587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0%</a:t>
            </a:r>
            <a:endParaRPr lang="ru-RU" sz="1200"/>
          </a:p>
        </p:txBody>
      </p:sp>
      <p:sp>
        <p:nvSpPr>
          <p:cNvPr id="41" name="ADS label 41"/>
          <p:cNvSpPr txBox="1"/>
          <p:nvPr/>
        </p:nvSpPr>
        <p:spPr>
          <a:xfrm>
            <a:off x="438912" y="361163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Разовые условия</a:t>
            </a:r>
            <a:endParaRPr lang="ru-RU" sz="1200"/>
          </a:p>
        </p:txBody>
      </p:sp>
      <p:sp>
        <p:nvSpPr>
          <p:cNvPr id="42" name="ADS label 42"/>
          <p:cNvSpPr txBox="1"/>
          <p:nvPr/>
        </p:nvSpPr>
        <p:spPr>
          <a:xfrm>
            <a:off x="3453681" y="361163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13 061</a:t>
            </a:r>
            <a:endParaRPr lang="ru-RU" sz="1200"/>
          </a:p>
        </p:txBody>
      </p:sp>
      <p:sp>
        <p:nvSpPr>
          <p:cNvPr id="43" name="ADS chip 43"/>
          <p:cNvSpPr/>
          <p:nvPr/>
        </p:nvSpPr>
        <p:spPr>
          <a:xfrm>
            <a:off x="4860106" y="3712216"/>
            <a:ext cx="102334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44" name="ADS label 44"/>
          <p:cNvSpPr txBox="1"/>
          <p:nvPr/>
        </p:nvSpPr>
        <p:spPr>
          <a:xfrm>
            <a:off x="5017304" y="361163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−7%</a:t>
            </a:r>
            <a:endParaRPr lang="ru-RU" sz="1200"/>
          </a:p>
        </p:txBody>
      </p:sp>
      <p:sp>
        <p:nvSpPr>
          <p:cNvPr id="48" name="ADS label 48"/>
          <p:cNvSpPr txBox="1"/>
          <p:nvPr/>
        </p:nvSpPr>
        <p:spPr>
          <a:xfrm>
            <a:off x="438912" y="397739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Скидки</a:t>
            </a:r>
            <a:endParaRPr lang="ru-RU" sz="1200"/>
          </a:p>
        </p:txBody>
      </p:sp>
      <p:sp>
        <p:nvSpPr>
          <p:cNvPr id="49" name="ADS label 49"/>
          <p:cNvSpPr txBox="1"/>
          <p:nvPr/>
        </p:nvSpPr>
        <p:spPr>
          <a:xfrm>
            <a:off x="3453681" y="397739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427</a:t>
            </a:r>
            <a:endParaRPr lang="ru-RU" sz="1200"/>
          </a:p>
        </p:txBody>
      </p:sp>
      <p:sp>
        <p:nvSpPr>
          <p:cNvPr id="50" name="ADS chip 50"/>
          <p:cNvSpPr/>
          <p:nvPr/>
        </p:nvSpPr>
        <p:spPr>
          <a:xfrm>
            <a:off x="4962441" y="4077977"/>
            <a:ext cx="410202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1" name="ADS label 51"/>
          <p:cNvSpPr txBox="1"/>
          <p:nvPr/>
        </p:nvSpPr>
        <p:spPr>
          <a:xfrm>
            <a:off x="5427507" y="397739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+28%</a:t>
            </a:r>
            <a:endParaRPr lang="ru-RU" sz="1200"/>
          </a:p>
        </p:txBody>
      </p:sp>
      <p:sp>
        <p:nvSpPr>
          <p:cNvPr id="55" name="ADS label 55"/>
          <p:cNvSpPr txBox="1"/>
          <p:nvPr/>
        </p:nvSpPr>
        <p:spPr>
          <a:xfrm>
            <a:off x="438912" y="4343153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Бонусы от НЕ поставщиков</a:t>
            </a:r>
            <a:endParaRPr lang="ru-RU" sz="1200"/>
          </a:p>
        </p:txBody>
      </p:sp>
      <p:sp>
        <p:nvSpPr>
          <p:cNvPr id="56" name="ADS label 56"/>
          <p:cNvSpPr txBox="1"/>
          <p:nvPr/>
        </p:nvSpPr>
        <p:spPr>
          <a:xfrm>
            <a:off x="3453681" y="4343153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218</a:t>
            </a:r>
            <a:endParaRPr lang="ru-RU" sz="1200"/>
          </a:p>
        </p:txBody>
      </p:sp>
      <p:sp>
        <p:nvSpPr>
          <p:cNvPr id="57" name="ADS chip 57"/>
          <p:cNvSpPr/>
          <p:nvPr/>
        </p:nvSpPr>
        <p:spPr>
          <a:xfrm>
            <a:off x="4420132" y="4443737"/>
            <a:ext cx="542308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58" name="ADS label 58"/>
          <p:cNvSpPr txBox="1"/>
          <p:nvPr/>
        </p:nvSpPr>
        <p:spPr>
          <a:xfrm>
            <a:off x="5017304" y="4343153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−37%</a:t>
            </a:r>
            <a:endParaRPr lang="ru-RU" sz="1200"/>
          </a:p>
        </p:txBody>
      </p:sp>
      <p:sp>
        <p:nvSpPr>
          <p:cNvPr id="62" name="ADS chip 62"/>
          <p:cNvSpPr/>
          <p:nvPr/>
        </p:nvSpPr>
        <p:spPr>
          <a:xfrm>
            <a:off x="4957869" y="1846841"/>
            <a:ext cx="9144" cy="2862072"/>
          </a:xfrm>
          <a:prstGeom prst="roundRect">
            <a:avLst>
              <a:gd name="adj" fmla="val 10000"/>
            </a:avLst>
          </a:prstGeom>
          <a:solidFill>
            <a:srgbClr val="7F7F7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4" name="ADS chip 64"/>
          <p:cNvSpPr/>
          <p:nvPr/>
        </p:nvSpPr>
        <p:spPr>
          <a:xfrm>
            <a:off x="365759" y="4800353"/>
            <a:ext cx="6632151" cy="32918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5" name="ADS label 65"/>
          <p:cNvSpPr txBox="1"/>
          <p:nvPr/>
        </p:nvSpPr>
        <p:spPr>
          <a:xfrm>
            <a:off x="438912" y="478206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Итого маркетинговые доходы</a:t>
            </a:r>
            <a:endParaRPr lang="ru-RU" sz="1200"/>
          </a:p>
        </p:txBody>
      </p:sp>
      <p:sp>
        <p:nvSpPr>
          <p:cNvPr id="66" name="ADS label 66"/>
          <p:cNvSpPr txBox="1"/>
          <p:nvPr/>
        </p:nvSpPr>
        <p:spPr>
          <a:xfrm>
            <a:off x="3453681" y="478206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218 206</a:t>
            </a:r>
            <a:endParaRPr lang="ru-RU" sz="1200"/>
          </a:p>
        </p:txBody>
      </p:sp>
      <p:sp>
        <p:nvSpPr>
          <p:cNvPr id="67" name="ADS chip 67"/>
          <p:cNvSpPr/>
          <p:nvPr/>
        </p:nvSpPr>
        <p:spPr>
          <a:xfrm>
            <a:off x="4962441" y="4882649"/>
            <a:ext cx="120566" cy="164592"/>
          </a:xfrm>
          <a:prstGeom prst="roundRect">
            <a:avLst>
              <a:gd name="adj" fmla="val 10000"/>
            </a:avLst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68" name="ADS label 68"/>
          <p:cNvSpPr txBox="1"/>
          <p:nvPr/>
        </p:nvSpPr>
        <p:spPr>
          <a:xfrm>
            <a:off x="5137871" y="478206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595959"/>
                </a:solidFill>
                <a:latin typeface="Arial"/>
                <a:cs typeface="Arial"/>
              </a:rPr>
              <a:t>+8%</a:t>
            </a:r>
            <a:endParaRPr lang="ru-RU" sz="1200"/>
          </a:p>
        </p:txBody>
      </p:sp>
      <p:sp>
        <p:nvSpPr>
          <p:cNvPr id="72" name="ADS label 72"/>
          <p:cNvSpPr txBox="1"/>
          <p:nvPr/>
        </p:nvSpPr>
        <p:spPr>
          <a:xfrm>
            <a:off x="438912" y="5147825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Доходы AdTech</a:t>
            </a:r>
            <a:endParaRPr lang="ru-RU" sz="1200"/>
          </a:p>
        </p:txBody>
      </p:sp>
      <p:sp>
        <p:nvSpPr>
          <p:cNvPr id="73" name="ADS label 73"/>
          <p:cNvSpPr txBox="1"/>
          <p:nvPr/>
        </p:nvSpPr>
        <p:spPr>
          <a:xfrm>
            <a:off x="3453681" y="5147825"/>
            <a:ext cx="8686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000000"/>
                </a:solidFill>
                <a:latin typeface="Arial"/>
                <a:cs typeface="Arial"/>
              </a:rPr>
              <a:t>6 399</a:t>
            </a:r>
            <a:endParaRPr lang="ru-RU" sz="1200"/>
          </a:p>
        </p:txBody>
      </p:sp>
      <p:sp>
        <p:nvSpPr>
          <p:cNvPr id="74" name="ADS chip 74"/>
          <p:cNvSpPr/>
          <p:nvPr/>
        </p:nvSpPr>
        <p:spPr>
          <a:xfrm>
            <a:off x="4962441" y="5248409"/>
            <a:ext cx="1325880" cy="164592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75" name="ADS label 75"/>
          <p:cNvSpPr txBox="1"/>
          <p:nvPr/>
        </p:nvSpPr>
        <p:spPr>
          <a:xfrm>
            <a:off x="6343185" y="5147825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×11,8</a:t>
            </a:r>
            <a:endParaRPr lang="ru-RU" sz="1200"/>
          </a:p>
        </p:txBody>
      </p:sp>
      <p:sp>
        <p:nvSpPr>
          <p:cNvPr id="80" name="ADS card 80"/>
          <p:cNvSpPr/>
          <p:nvPr/>
        </p:nvSpPr>
        <p:spPr>
          <a:xfrm>
            <a:off x="7478668" y="1261625"/>
            <a:ext cx="4345032" cy="29810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1" name="ADS head 81"/>
          <p:cNvSpPr txBox="1"/>
          <p:nvPr/>
        </p:nvSpPr>
        <p:spPr>
          <a:xfrm>
            <a:off x="7661547" y="1362209"/>
            <a:ext cx="398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>
                <a:solidFill>
                  <a:srgbClr val="FF452C"/>
                </a:solidFill>
                <a:latin typeface="Arial"/>
                <a:cs typeface="Arial"/>
              </a:rPr>
              <a:t>Комментарий</a:t>
            </a:r>
            <a:endParaRPr lang="ru-RU" sz="1200"/>
          </a:p>
        </p:txBody>
      </p:sp>
      <p:sp>
        <p:nvSpPr>
          <p:cNvPr id="82" name="ADS thesis 82"/>
          <p:cNvSpPr txBox="1"/>
          <p:nvPr/>
        </p:nvSpPr>
        <p:spPr>
          <a:xfrm>
            <a:off x="7661547" y="1709681"/>
            <a:ext cx="39800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Рост дают только инструменты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>
                <a:solidFill>
                  <a:srgbClr val="000000"/>
                </a:solidFill>
                <a:latin typeface="Arial"/>
                <a:cs typeface="Arial"/>
              </a:rPr>
              <a:t>с измеримым эффектом</a:t>
            </a:r>
            <a:endParaRPr lang="ru-RU" sz="1200"/>
          </a:p>
        </p:txBody>
      </p:sp>
      <p:sp>
        <p:nvSpPr>
          <p:cNvPr id="83" name="ADS line 83"/>
          <p:cNvSpPr/>
          <p:nvPr/>
        </p:nvSpPr>
        <p:spPr>
          <a:xfrm>
            <a:off x="7661547" y="2176025"/>
            <a:ext cx="398000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84" name="ADS label 84"/>
          <p:cNvSpPr txBox="1"/>
          <p:nvPr/>
        </p:nvSpPr>
        <p:spPr>
          <a:xfrm>
            <a:off x="7661547" y="2249177"/>
            <a:ext cx="398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7F7F7F"/>
                </a:solidFill>
                <a:latin typeface="Arial"/>
                <a:cs typeface="Arial"/>
              </a:rPr>
              <a:t>Динамика 2026 г.</a:t>
            </a:r>
            <a:endParaRPr lang="ru-RU" sz="1200"/>
          </a:p>
        </p:txBody>
      </p:sp>
      <p:sp>
        <p:nvSpPr>
          <p:cNvPr id="85" name="ADS label 85"/>
          <p:cNvSpPr txBox="1"/>
          <p:nvPr/>
        </p:nvSpPr>
        <p:spPr>
          <a:xfrm>
            <a:off x="7661547" y="2505209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85%</a:t>
            </a:r>
            <a:endParaRPr lang="ru-RU" sz="1200"/>
          </a:p>
        </p:txBody>
      </p:sp>
      <p:sp>
        <p:nvSpPr>
          <p:cNvPr id="86" name="ADS label 86"/>
          <p:cNvSpPr txBox="1"/>
          <p:nvPr/>
        </p:nvSpPr>
        <p:spPr>
          <a:xfrm>
            <a:off x="7661547" y="2861825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прироста маркетинговых доходов за 9м дают маркетинг, где размещается выручка </a:t>
            </a:r>
            <a:r>
              <a:rPr lang="en-US" sz="900" b="0">
                <a:solidFill>
                  <a:srgbClr val="595959"/>
                </a:solidFill>
                <a:latin typeface="Arial"/>
                <a:cs typeface="Arial"/>
              </a:rPr>
              <a:t>AdTech</a:t>
            </a:r>
            <a:endParaRPr lang="ru-RU" sz="1200"/>
          </a:p>
        </p:txBody>
      </p:sp>
      <p:sp>
        <p:nvSpPr>
          <p:cNvPr id="89" name="ADS label 89"/>
          <p:cNvSpPr txBox="1"/>
          <p:nvPr/>
        </p:nvSpPr>
        <p:spPr>
          <a:xfrm>
            <a:off x="7661547" y="3309881"/>
            <a:ext cx="39800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1">
                <a:solidFill>
                  <a:srgbClr val="FF452C"/>
                </a:solidFill>
                <a:latin typeface="Arial"/>
                <a:cs typeface="Arial"/>
              </a:rPr>
              <a:t>−7…+3%</a:t>
            </a:r>
            <a:endParaRPr lang="ru-RU" sz="1200"/>
          </a:p>
        </p:txBody>
      </p:sp>
      <p:sp>
        <p:nvSpPr>
          <p:cNvPr id="90" name="ADS label 90"/>
          <p:cNvSpPr txBox="1"/>
          <p:nvPr/>
        </p:nvSpPr>
        <p:spPr>
          <a:xfrm>
            <a:off x="7661547" y="3666497"/>
            <a:ext cx="398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>
                <a:solidFill>
                  <a:srgbClr val="595959"/>
                </a:solidFill>
                <a:latin typeface="Arial"/>
                <a:cs typeface="Arial"/>
              </a:rPr>
              <a:t>динамика сегментов без AdTech за 9м: премии +3%, промо 0%, разовые условия −7%</a:t>
            </a:r>
            <a:endParaRPr lang="ru-RU" sz="1200"/>
          </a:p>
        </p:txBody>
      </p:sp>
      <p:cxnSp>
        <p:nvCxnSpPr>
          <p:cNvPr id="99" name="Прямая соединительная линия 98">
            <a:extLst>
              <a:ext uri="{FF2B5EF4-FFF2-40B4-BE49-F238E27FC236}">
                <a16:creationId xmlns:a16="http://schemas.microsoft.com/office/drawing/2014/main" id="{B84FACF7-0DCB-8F57-FD8C-75DD4C4DFDD5}"/>
              </a:ext>
            </a:extLst>
          </p:cNvPr>
          <p:cNvCxnSpPr>
            <a:cxnSpLocks/>
          </p:cNvCxnSpPr>
          <p:nvPr/>
        </p:nvCxnSpPr>
        <p:spPr>
          <a:xfrm>
            <a:off x="365760" y="1526801"/>
            <a:ext cx="67802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76464562-93C9-46F2-BCFD-62F0C810A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D1E39AE-6C75-4FDA-AD5B-E8CD145491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численности и ФОТ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4115025-E8F5-4941-B7CE-B777ED01DB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5600" y="6311900"/>
            <a:ext cx="8890000" cy="342900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– </a:t>
            </a:r>
            <a:r>
              <a:rPr lang="en-US" sz="900">
                <a:solidFill>
                  <a:srgbClr val="6E6E6E"/>
                </a:solidFill>
                <a:latin typeface="+mn-lt"/>
              </a:rPr>
              <a:t>CC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Ч, включает % текучести кадров     2 - Базовый доход E-ком, учтенный в бюджете ФТ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86A7F3-D771-4253-81CC-F6D2A10E6516}"/>
              </a:ext>
            </a:extLst>
          </p:cNvPr>
          <p:cNvSpPr txBox="1"/>
          <p:nvPr/>
        </p:nvSpPr>
        <p:spPr>
          <a:xfrm>
            <a:off x="389028" y="4875730"/>
            <a:ext cx="113975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Core 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2027 ниже стратегии на 38 млн руб. за счет более корректного бюджетирования ставок под потребности бизнеса</a:t>
            </a: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Project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«Платформа монетизации данных» перенесен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из центрального маркетинга в контур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AdTech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 2027 г. (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бюджет 48 млн руб., </a:t>
            </a:r>
            <a:r>
              <a:rPr lang="en-US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FTE 10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чел.). Требуется дополнительное согласование переноса 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таргета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(сейчас указан в ЦМ)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Рост производительности персонала с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34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 до </a:t>
            </a: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39</a:t>
            </a: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млн руб./чел.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DECF24CD-963F-426C-892C-EAB8D0CEDA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169151"/>
              </p:ext>
            </p:extLst>
          </p:nvPr>
        </p:nvGraphicFramePr>
        <p:xfrm>
          <a:off x="697281" y="889000"/>
          <a:ext cx="10117464" cy="3886204"/>
        </p:xfrm>
        <a:graphic>
          <a:graphicData uri="http://schemas.openxmlformats.org/drawingml/2006/table">
            <a:tbl>
              <a:tblPr/>
              <a:tblGrid>
                <a:gridCol w="1002278">
                  <a:extLst>
                    <a:ext uri="{9D8B030D-6E8A-4147-A177-3AD203B41FA5}">
                      <a16:colId xmlns:a16="http://schemas.microsoft.com/office/drawing/2014/main" val="4219734060"/>
                    </a:ext>
                  </a:extLst>
                </a:gridCol>
                <a:gridCol w="1002278">
                  <a:extLst>
                    <a:ext uri="{9D8B030D-6E8A-4147-A177-3AD203B41FA5}">
                      <a16:colId xmlns:a16="http://schemas.microsoft.com/office/drawing/2014/main" val="2161084247"/>
                    </a:ext>
                  </a:extLst>
                </a:gridCol>
                <a:gridCol w="678963">
                  <a:extLst>
                    <a:ext uri="{9D8B030D-6E8A-4147-A177-3AD203B41FA5}">
                      <a16:colId xmlns:a16="http://schemas.microsoft.com/office/drawing/2014/main" val="3409259298"/>
                    </a:ext>
                  </a:extLst>
                </a:gridCol>
                <a:gridCol w="111571">
                  <a:extLst>
                    <a:ext uri="{9D8B030D-6E8A-4147-A177-3AD203B41FA5}">
                      <a16:colId xmlns:a16="http://schemas.microsoft.com/office/drawing/2014/main" val="2314202485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075667101"/>
                    </a:ext>
                  </a:extLst>
                </a:gridCol>
                <a:gridCol w="112617">
                  <a:extLst>
                    <a:ext uri="{9D8B030D-6E8A-4147-A177-3AD203B41FA5}">
                      <a16:colId xmlns:a16="http://schemas.microsoft.com/office/drawing/2014/main" val="39575360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425797393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296332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516853602"/>
                    </a:ext>
                  </a:extLst>
                </a:gridCol>
                <a:gridCol w="112696">
                  <a:extLst>
                    <a:ext uri="{9D8B030D-6E8A-4147-A177-3AD203B41FA5}">
                      <a16:colId xmlns:a16="http://schemas.microsoft.com/office/drawing/2014/main" val="1905267272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87710683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732715567"/>
                    </a:ext>
                  </a:extLst>
                </a:gridCol>
                <a:gridCol w="113437">
                  <a:extLst>
                    <a:ext uri="{9D8B030D-6E8A-4147-A177-3AD203B41FA5}">
                      <a16:colId xmlns:a16="http://schemas.microsoft.com/office/drawing/2014/main" val="1980540990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3930230657"/>
                    </a:ext>
                  </a:extLst>
                </a:gridCol>
                <a:gridCol w="872953">
                  <a:extLst>
                    <a:ext uri="{9D8B030D-6E8A-4147-A177-3AD203B41FA5}">
                      <a16:colId xmlns:a16="http://schemas.microsoft.com/office/drawing/2014/main" val="1034041584"/>
                    </a:ext>
                  </a:extLst>
                </a:gridCol>
              </a:tblGrid>
              <a:tr h="425524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Блок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Метрика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Ед. изм.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сен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’26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9+3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2026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RR 2027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2027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en-US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 (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+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)’26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’27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Δ</a:t>
                      </a:r>
                      <a:r>
                        <a:rPr lang="ru-RU" sz="1050" b="1" i="0" u="none" strike="noStrike"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BU’27 vs </a:t>
                      </a:r>
                      <a:br>
                        <a:rPr lang="ru-RU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стратегия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068052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Core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599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</a:rPr>
                        <a:t>-38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32812905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ru-RU" sz="105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3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365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64618145"/>
                  </a:ext>
                </a:extLst>
              </a:tr>
              <a:tr h="364018"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Project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76940217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ru-RU" sz="105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1554354"/>
                  </a:ext>
                </a:extLst>
              </a:tr>
              <a:tr h="364018">
                <a:tc rowSpan="5"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РЕХ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536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1 488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1 348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1 658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1 995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647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1 985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45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670946"/>
                  </a:ext>
                </a:extLst>
              </a:tr>
              <a:tr h="364018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FTE</a:t>
                      </a:r>
                      <a:r>
                        <a:rPr lang="en-US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en-US" sz="1050" b="1" i="0" u="none" strike="noStrike" baseline="3000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чел.</a:t>
                      </a:r>
                      <a:endParaRPr lang="ru-RU" sz="105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167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312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375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63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269883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AdTech </a:t>
                      </a: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выручка</a:t>
                      </a:r>
                      <a:r>
                        <a:rPr lang="ru-RU" sz="1050" b="1" i="0" u="none" strike="noStrike" baseline="3000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050" b="1" i="0" u="none" strike="noStrike" baseline="3000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 baseline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млн руб.</a:t>
                      </a:r>
                      <a:endParaRPr lang="ru-RU" sz="1050" b="0" i="0" u="none" strike="noStrike" baseline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1 721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9 837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10 543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14 566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38%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584560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Доля </a:t>
                      </a: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PEX </a:t>
                      </a:r>
                      <a:b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</a:b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в выручке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%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14%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+1 </a:t>
                      </a:r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п.п</a:t>
                      </a:r>
                      <a:r>
                        <a:rPr lang="ru-RU" sz="1050" b="1" i="0" u="none" strike="noStrike" kern="1200">
                          <a:solidFill>
                            <a:schemeClr val="tx1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3759599"/>
                  </a:ext>
                </a:extLst>
              </a:tr>
              <a:tr h="425524">
                <a:tc vMerge="1">
                  <a:txBody>
                    <a:bodyPr/>
                    <a:lstStyle/>
                    <a:p>
                      <a:pPr algn="l" fontAlgn="b"/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Произв-ть, выручка/FTE</a:t>
                      </a:r>
                      <a:endParaRPr lang="ru-RU" sz="105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0963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50"/>
                        <a:t>млн руб./чел.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34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39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1" i="0" u="none" strike="noStrike" kern="1200">
                          <a:solidFill>
                            <a:srgbClr val="00B050"/>
                          </a:solidFill>
                          <a:effectLst/>
                          <a:latin typeface="Arial" panose="00000500000000000000" pitchFamily="2" charset="-52"/>
                          <a:ea typeface="+mn-ea"/>
                          <a:cs typeface="+mn-cs"/>
                        </a:rPr>
                        <a:t>+5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0000500000000000000" pitchFamily="2" charset="-52"/>
                      </a:endParaRP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-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3600345"/>
                  </a:ext>
                </a:extLst>
              </a:tr>
            </a:tbl>
          </a:graphicData>
        </a:graphic>
      </p:graphicFrame>
      <p:sp>
        <p:nvSpPr>
          <p:cNvPr id="14" name="Прямоугольник: скругленные верхние углы 13">
            <a:extLst>
              <a:ext uri="{FF2B5EF4-FFF2-40B4-BE49-F238E27FC236}">
                <a16:creationId xmlns:a16="http://schemas.microsoft.com/office/drawing/2014/main" id="{D47FE19D-9885-4346-8347-64565053480D}"/>
              </a:ext>
            </a:extLst>
          </p:cNvPr>
          <p:cNvSpPr/>
          <p:nvPr/>
        </p:nvSpPr>
        <p:spPr>
          <a:xfrm rot="16200000">
            <a:off x="-146904" y="1902285"/>
            <a:ext cx="1341583" cy="288000"/>
          </a:xfrm>
          <a:prstGeom prst="round2SameRect">
            <a:avLst>
              <a:gd name="adj1" fmla="val 35366"/>
              <a:gd name="adj2" fmla="val 0"/>
            </a:avLst>
          </a:prstGeom>
          <a:solidFill>
            <a:srgbClr val="E4E4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wrap="none" lIns="90000" tIns="36000" bIns="54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100" b="1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Admin</a:t>
            </a:r>
            <a:endParaRPr lang="en-US" kumimoji="0" sz="1100" b="1" i="0" u="none" strike="noStrike" kern="0" cap="none" spc="0" normalizeH="0" baseline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0449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56F8146A-6763-42E6-B3FA-9C73505CA69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5" imgW="395" imgH="394" progId="TCLayout.ActiveDocument.1">
                  <p:embed/>
                </p:oleObj>
              </mc:Choice>
              <mc:Fallback>
                <p:oleObj name="think-cell Slide" r:id="rId95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6F8146A-6763-42E6-B3FA-9C73505CA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Номер слайда 3">
            <a:extLst>
              <a:ext uri="{FF2B5EF4-FFF2-40B4-BE49-F238E27FC236}">
                <a16:creationId xmlns:a16="http://schemas.microsoft.com/office/drawing/2014/main" id="{50FC7100-1C1C-4402-A482-09BDCAB9D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F4348E34-2A95-4E43-8EEE-56EDC9E48D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Факторный анализ: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517" name="Прямая соединительная линия 516">
            <a:extLst>
              <a:ext uri="{FF2B5EF4-FFF2-40B4-BE49-F238E27FC236}">
                <a16:creationId xmlns:a16="http://schemas.microsoft.com/office/drawing/2014/main" id="{E2066E8D-164F-421E-8D6D-CFE3924F7377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2770188" y="26198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8" name="Прямая соединительная линия 517">
            <a:extLst>
              <a:ext uri="{FF2B5EF4-FFF2-40B4-BE49-F238E27FC236}">
                <a16:creationId xmlns:a16="http://schemas.microsoft.com/office/drawing/2014/main" id="{616BD943-5773-43AC-999F-585ED7C082B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3629025" y="26737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9" name="Прямая соединительная линия 518">
            <a:extLst>
              <a:ext uri="{FF2B5EF4-FFF2-40B4-BE49-F238E27FC236}">
                <a16:creationId xmlns:a16="http://schemas.microsoft.com/office/drawing/2014/main" id="{75EE782E-AE06-44F7-9661-2999DAD1D95E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4487863" y="259442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0" name="Прямая соединительная линия 519">
            <a:extLst>
              <a:ext uri="{FF2B5EF4-FFF2-40B4-BE49-F238E27FC236}">
                <a16:creationId xmlns:a16="http://schemas.microsoft.com/office/drawing/2014/main" id="{4894E697-8A66-477B-A996-AB7D47F0244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V="1">
            <a:off x="5346700" y="1843536"/>
            <a:ext cx="381000" cy="75088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9" name="Прямая соединительная линия 528">
            <a:extLst>
              <a:ext uri="{FF2B5EF4-FFF2-40B4-BE49-F238E27FC236}">
                <a16:creationId xmlns:a16="http://schemas.microsoft.com/office/drawing/2014/main" id="{61BA1634-35B4-403B-BB1D-9B5F4F8B9EEC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203950" y="18435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3" name="Прямая соединительная линия 532">
            <a:extLst>
              <a:ext uri="{FF2B5EF4-FFF2-40B4-BE49-F238E27FC236}">
                <a16:creationId xmlns:a16="http://schemas.microsoft.com/office/drawing/2014/main" id="{97EDCD65-AC87-47BF-8E93-7316F3C07564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7062788" y="1360936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2" name="Прямая соединительная линия 181">
            <a:extLst>
              <a:ext uri="{FF2B5EF4-FFF2-40B4-BE49-F238E27FC236}">
                <a16:creationId xmlns:a16="http://schemas.microsoft.com/office/drawing/2014/main" id="{57A9CBC5-1D65-464B-9CDC-9862D12E273C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9637713" y="1025974"/>
            <a:ext cx="381000" cy="238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Прямая соединительная линия 80">
            <a:extLst>
              <a:ext uri="{FF2B5EF4-FFF2-40B4-BE49-F238E27FC236}">
                <a16:creationId xmlns:a16="http://schemas.microsoft.com/office/drawing/2014/main" id="{967127C6-1854-4F87-9468-CBA24AD3E868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7921625" y="11878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4" name="Прямая соединительная линия 533">
            <a:extLst>
              <a:ext uri="{FF2B5EF4-FFF2-40B4-BE49-F238E27FC236}">
                <a16:creationId xmlns:a16="http://schemas.microsoft.com/office/drawing/2014/main" id="{AE4B5719-5CE6-446B-8798-B4AEF931FAB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8780463" y="1025973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5" name="Прямая соединительная линия 514">
            <a:extLst>
              <a:ext uri="{FF2B5EF4-FFF2-40B4-BE49-F238E27FC236}">
                <a16:creationId xmlns:a16="http://schemas.microsoft.com/office/drawing/2014/main" id="{B40D68F9-C9B0-4BA8-A9EA-BD1B5BE1C5E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054100" y="2246761"/>
            <a:ext cx="381000" cy="7938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6" name="Прямая соединительная линия 515">
            <a:extLst>
              <a:ext uri="{FF2B5EF4-FFF2-40B4-BE49-F238E27FC236}">
                <a16:creationId xmlns:a16="http://schemas.microsoft.com/office/drawing/2014/main" id="{74FF4F6B-7987-4D5D-B362-18244B81DE82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>
            <a:off x="1912938" y="2254698"/>
            <a:ext cx="38100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38" name="Chart 137">
            <a:extLst>
              <a:ext uri="{FF2B5EF4-FFF2-40B4-BE49-F238E27FC236}">
                <a16:creationId xmlns:a16="http://schemas.microsoft.com/office/drawing/2014/main" id="{3E5F1F7C-F97C-415E-9204-1D41D86AF726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506948596"/>
              </p:ext>
            </p:extLst>
          </p:nvPr>
        </p:nvGraphicFramePr>
        <p:xfrm>
          <a:off x="303213" y="800548"/>
          <a:ext cx="10466387" cy="2355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7"/>
          </a:graphicData>
        </a:graphic>
      </p:graphicFrame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907AC657-FE82-4F5A-98D1-BFE03DDC9F0F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98061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EFA114FA-386F-4A45-B909-DD01631DD904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9123363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21" name="Freeform: Shape 20">
            <a:extLst>
              <a:ext uri="{FF2B5EF4-FFF2-40B4-BE49-F238E27FC236}">
                <a16:creationId xmlns:a16="http://schemas.microsoft.com/office/drawing/2014/main" id="{9EC308CE-88AE-41A8-A475-9154AFC260F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5689600" y="2699198"/>
            <a:ext cx="552451" cy="206376"/>
          </a:xfrm>
          <a:custGeom>
            <a:avLst/>
            <a:gdLst/>
            <a:ahLst/>
            <a:cxnLst/>
            <a:rect l="0" t="0" r="0" b="0"/>
            <a:pathLst>
              <a:path w="552451" h="206376">
                <a:moveTo>
                  <a:pt x="0" y="149225"/>
                </a:moveTo>
                <a:lnTo>
                  <a:pt x="552450" y="0"/>
                </a:lnTo>
                <a:lnTo>
                  <a:pt x="552450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0F2DC10A-EC99-4F95-A4B4-1DE3DB54A92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48307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48615165-C98C-4D09-A566-686EC8EA73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397000" y="2699198"/>
            <a:ext cx="554039" cy="206376"/>
          </a:xfrm>
          <a:custGeom>
            <a:avLst/>
            <a:gdLst/>
            <a:ahLst/>
            <a:cxnLst/>
            <a:rect l="0" t="0" r="0" b="0"/>
            <a:pathLst>
              <a:path w="554039" h="206376">
                <a:moveTo>
                  <a:pt x="0" y="149225"/>
                </a:moveTo>
                <a:lnTo>
                  <a:pt x="554038" y="0"/>
                </a:lnTo>
                <a:lnTo>
                  <a:pt x="554038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" name="Freeform: Shape 4">
            <a:extLst>
              <a:ext uri="{FF2B5EF4-FFF2-40B4-BE49-F238E27FC236}">
                <a16:creationId xmlns:a16="http://schemas.microsoft.com/office/drawing/2014/main" id="{68BDA687-A858-477E-838B-F8E81A46D424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538163" y="2699198"/>
            <a:ext cx="554038" cy="206376"/>
          </a:xfrm>
          <a:custGeom>
            <a:avLst/>
            <a:gdLst/>
            <a:ahLst/>
            <a:cxnLst/>
            <a:rect l="0" t="0" r="0" b="0"/>
            <a:pathLst>
              <a:path w="554038" h="206376">
                <a:moveTo>
                  <a:pt x="0" y="149225"/>
                </a:moveTo>
                <a:lnTo>
                  <a:pt x="554037" y="0"/>
                </a:lnTo>
                <a:lnTo>
                  <a:pt x="554037" y="57150"/>
                </a:lnTo>
                <a:lnTo>
                  <a:pt x="0" y="206375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7FB707B-2384-4225-BA79-3B23D6007A41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1397000" y="275634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3C2E206-7B2A-452C-8CB1-35DBD966F1B9}"/>
              </a:ext>
            </a:extLst>
          </p:cNvPr>
          <p:cNvSpPr/>
          <p:nvPr>
            <p:custDataLst>
              <p:tags r:id="rId21"/>
            </p:custDataLst>
          </p:nvPr>
        </p:nvSpPr>
        <p:spPr bwMode="auto">
          <a:xfrm>
            <a:off x="48307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6333203-66F9-4B6B-9F0A-CB1B749F50EF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5689600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D3A3EE2-B247-49D6-BAC4-91A489417465}"/>
              </a:ext>
            </a:extLst>
          </p:cNvPr>
          <p:cNvSpPr/>
          <p:nvPr>
            <p:custDataLst>
              <p:tags r:id="rId23"/>
            </p:custDataLst>
          </p:nvPr>
        </p:nvSpPr>
        <p:spPr bwMode="auto">
          <a:xfrm>
            <a:off x="5689600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3DF1CD7-BA5E-49C5-86DF-EA1A78F8E832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123363" y="275634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286CD78-2652-408B-9050-9CE9D5BD72E4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998061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6E87D30-2744-4F14-998B-F87E00040F61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998061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76E1B26-E7DD-4649-96FC-000E60B6A258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9123363" y="2699198"/>
            <a:ext cx="552451" cy="149226"/>
          </a:xfrm>
          <a:custGeom>
            <a:avLst/>
            <a:gdLst/>
            <a:ahLst/>
            <a:cxnLst/>
            <a:rect l="0" t="0" r="0" b="0"/>
            <a:pathLst>
              <a:path w="552451" h="149226">
                <a:moveTo>
                  <a:pt x="0" y="149225"/>
                </a:moveTo>
                <a:lnTo>
                  <a:pt x="5524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B3BC383-1601-493A-8C1F-CCC86150877D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48307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48BD0BA-87F4-4F15-995B-0360BFCD0C0B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538163" y="269919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E338E25-1F3B-4787-9DFE-549526F3FA0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538163" y="2756348"/>
            <a:ext cx="554038" cy="149226"/>
          </a:xfrm>
          <a:custGeom>
            <a:avLst/>
            <a:gdLst/>
            <a:ahLst/>
            <a:cxnLst/>
            <a:rect l="0" t="0" r="0" b="0"/>
            <a:pathLst>
              <a:path w="554038" h="149226">
                <a:moveTo>
                  <a:pt x="0" y="149225"/>
                </a:moveTo>
                <a:lnTo>
                  <a:pt x="554037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81965B-9423-4822-AF14-A189BE50C5C9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1397000" y="2699198"/>
            <a:ext cx="554039" cy="149226"/>
          </a:xfrm>
          <a:custGeom>
            <a:avLst/>
            <a:gdLst/>
            <a:ahLst/>
            <a:cxnLst/>
            <a:rect l="0" t="0" r="0" b="0"/>
            <a:pathLst>
              <a:path w="554039" h="149226">
                <a:moveTo>
                  <a:pt x="0" y="149225"/>
                </a:moveTo>
                <a:lnTo>
                  <a:pt x="554038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584B79B-7ADF-43A5-959F-F342F62F2E31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1338" y="2973836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6E7DC3-0130-406D-86EF-0764BF263F00}" type="datetime'''''''''''''''''''B''''U'''' 2''''''''''''02''''6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E57E0D-9525-4A6C-9B3A-636432ED68D5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1404938" y="2973836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175762-5704-40DE-99B3-FB22ABFC3F6D}" type="datetime'''BU'' с''е''''нт'''''''''' 2''''0''''''2''''''6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AD51AFB-CCAC-4D67-B75B-79CDC7F6D7E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08238" y="2368998"/>
            <a:ext cx="24765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BEF4BB0-243F-4CB5-9863-8A786ADA9D6D}" type="datetime'''-1''''''''''''''''''''''''''''''''''''''''''''''5''''1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-151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212D03-FD48-4D7E-B13B-F486446058F2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219325" y="2973836"/>
            <a:ext cx="627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38EF60-809E-47F1-BB8D-F940553444D0}" type="datetime'К''''''''''''але''''''''''нд''''''а''''''''-р''из''ац''и''я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0D952144-5AFE-4228-B7B3-46CE299764D2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3276600" y="2578548"/>
            <a:ext cx="227013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E16F32C-754E-405B-985B-F8C8CC2C5293}" type="datetime'''-''''2''2''''''''''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-22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FDBA3D0-80C4-4C85-BED2-6F5B8E73F6AE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2959100" y="2973836"/>
            <a:ext cx="8604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20B19A-7A0D-41DF-8FF0-CDD6705CDCA4}" type="datetime'''''''П''''е''р''''е''''''с''м''о''''т''ры ''20''2''''''''6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Пересмотры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A3EA186-2BDF-4A55-9802-C998599F2B9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3924300" y="2973836"/>
            <a:ext cx="6492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9A4863-16A8-4248-8921-916433D9FE47}" type="datetime'''''''''Рез''е''рвы'' на'' ''''''''''о''т''пу''с''''''''к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Резервы на отпуск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0" name="Прямоугольник 429">
            <a:extLst>
              <a:ext uri="{FF2B5EF4-FFF2-40B4-BE49-F238E27FC236}">
                <a16:creationId xmlns:a16="http://schemas.microsoft.com/office/drawing/2014/main" id="{DEBFF532-F1A9-4E70-967B-81706E55A280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4845050" y="2973836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8B3AE19-2297-4CB6-8ED3-D86FFB8A8EAD}" type="datetime'''''''F''C'''' ''(''9+3)'' 202''''''''6''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E1C6C1CC-446E-49CC-8E89-5AF5D07BDB1C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5786438" y="168161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905A8B-463A-4C1C-8065-2B46D80E9A46}" type="datetime'''''1''''''''''''''''''''''.6''5''''''''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1.658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77B5523-B2AE-4DBC-BE28-D859028E4AB5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9128125" y="2973836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CA1C73-B7D0-44F8-8886-86FD85F3D4A1}" type="datetime'''BU ''''''''''''''''''''''''2''0''''2''7''''''''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58FDCFA-D59F-43CC-9409-5C2BD3E281FE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9228138" y="1968948"/>
            <a:ext cx="3444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C3A527-AC14-43E7-BA78-4B00342733D4}" type="datetime'''''1''.''''9''''4''''''''''7''''''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1.947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A0A9FE8F-9978-4E81-80EF-030E16236E20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6705600" y="1199011"/>
            <a:ext cx="236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241D52-56BF-443C-9757-76F3C6E7EEB2}" type="datetime'''''''''''1''''''9''''''''''''''''''''''''''''''9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199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B9122EED-8DB0-44A5-8FE6-05B2769E8800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8150224" y="2973836"/>
            <a:ext cx="78105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716B5FD-E205-4046-B101-E14ADDA79832}" type="datetime'Р''''ост'' ''числ-ти ''&quot;Ко''нтен''''''т ''''за''''в''од&quot;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 "Контент завод"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DB693632-7D7E-49FD-8FB9-16EAD86CAE60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221788" y="864048"/>
            <a:ext cx="3556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A25A6A-8544-4A60-B089-A74F4967D33D}" type="datetime'''1''.''''''9''''''''''9''''''''''''''''''''''''''''''5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1.995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0" name="Прямоугольник 359">
            <a:extLst>
              <a:ext uri="{FF2B5EF4-FFF2-40B4-BE49-F238E27FC236}">
                <a16:creationId xmlns:a16="http://schemas.microsoft.com/office/drawing/2014/main" id="{9ACF061A-C833-4CB7-9D07-D93DF2F240C2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10077450" y="887861"/>
            <a:ext cx="35877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B30A8-2B53-49A4-B8B1-454042B7E310}" type="datetime'1''''''''''''''''''''.9''''8''5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1.985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F10CC1DF-016E-497E-8804-AE2FCAC5758F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7264400" y="2973836"/>
            <a:ext cx="8366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B290D20-8DF8-4ABA-BCC8-CAF7B874BB0C}" type="datetime'''''''''''Рост ''''''&#10;в''''''''''оз''''нагр''''''''а''''жд''.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
вознагражд.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59FC9CC2-CDDB-409F-82F0-475AFBBF1D7F}"/>
              </a:ext>
            </a:extLst>
          </p:cNvPr>
          <p:cNvSpPr/>
          <p:nvPr>
            <p:custDataLst>
              <p:tags r:id="rId48"/>
            </p:custDataLst>
          </p:nvPr>
        </p:nvSpPr>
        <p:spPr bwMode="gray">
          <a:xfrm>
            <a:off x="4159250" y="2565848"/>
            <a:ext cx="177800" cy="136525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59288-CBAD-4067-A7A7-B9F1AF94D51E}" type="datetime'''''''''''''''''''''''''''''''''''3''3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ACE87E5-31DE-44B0-B8E0-569257D3BA2F}"/>
              </a:ext>
            </a:extLst>
          </p:cNvPr>
          <p:cNvSpPr/>
          <p:nvPr>
            <p:custDataLst>
              <p:tags r:id="rId49"/>
            </p:custDataLst>
          </p:nvPr>
        </p:nvSpPr>
        <p:spPr bwMode="gray">
          <a:xfrm>
            <a:off x="647700" y="2084836"/>
            <a:ext cx="3349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BA8506-F9C8-4123-8000-A19E7B6A5A0E}" type="datetime'''''''''''''''''''''1''.''''4''''''''''''''''''9''''1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1.491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9CE1DDC-5D0A-43CB-8FF3-F27045EF8B0A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6561138" y="2973836"/>
            <a:ext cx="525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DCCA236-34CD-4620-A4AA-B3365A9A7B54}" type="datetime'''''Ро''с''''''''т'' ч''''ис''''''л''''''''''''-''''''ти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Рост числ-ти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9" name="Прямоугольник 288">
            <a:extLst>
              <a:ext uri="{FF2B5EF4-FFF2-40B4-BE49-F238E27FC236}">
                <a16:creationId xmlns:a16="http://schemas.microsoft.com/office/drawing/2014/main" id="{9EA864AA-04E8-4B46-B245-B69A6754F466}"/>
              </a:ext>
            </a:extLst>
          </p:cNvPr>
          <p:cNvSpPr/>
          <p:nvPr>
            <p:custDataLst>
              <p:tags r:id="rId51"/>
            </p:custDataLst>
          </p:nvPr>
        </p:nvSpPr>
        <p:spPr bwMode="gray">
          <a:xfrm>
            <a:off x="1487488" y="2092773"/>
            <a:ext cx="373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0A8660-BC9C-4CBF-B765-D02F348C2C13}" type="datetime'1.4''''''''''''''''''''''''''''8''''''''''8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1.488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3" name="Прямоугольник 332">
            <a:extLst>
              <a:ext uri="{FF2B5EF4-FFF2-40B4-BE49-F238E27FC236}">
                <a16:creationId xmlns:a16="http://schemas.microsoft.com/office/drawing/2014/main" id="{74F4EF98-0A1C-4A84-9341-B2B323647FDC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9913938" y="2973836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4AD6834-F602-4EDC-8571-CB3BBA1D4E31}" type="datetime'''Стр''ате''г''ия'''''''''''' ''2''''''''''0''2''''''''''''7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BF3F16A-3EE9-4095-A29B-8A92212E3764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5700713" y="2973836"/>
            <a:ext cx="5318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718E79-A6C7-4B35-9550-BD66BC436066}" type="datetime'''R''''R'''''''''''''''''' ''''''20''2''''''''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RR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CD4E89CF-F0AC-44E1-B72F-15EDAB45255F}"/>
              </a:ext>
            </a:extLst>
          </p:cNvPr>
          <p:cNvSpPr/>
          <p:nvPr>
            <p:custDataLst>
              <p:tags r:id="rId54"/>
            </p:custDataLst>
          </p:nvPr>
        </p:nvSpPr>
        <p:spPr bwMode="gray">
          <a:xfrm>
            <a:off x="4926013" y="2432498"/>
            <a:ext cx="36353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CF9C5CA-C50F-4E08-9465-2DCC256DB0ED}" type="datetime'''''''''1.''''3''''''4''8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1.348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05BA2723-6A99-4A79-A8BF-58DEABFE04BA}"/>
              </a:ext>
            </a:extLst>
          </p:cNvPr>
          <p:cNvSpPr txBox="1"/>
          <p:nvPr/>
        </p:nvSpPr>
        <p:spPr>
          <a:xfrm>
            <a:off x="7632700" y="4131399"/>
            <a:ext cx="4191000" cy="1354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Юнит не участвовал в оптимизации по зеленому сценарию, был защищен отдельно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Согласованный доп. найм для контент-завода, окупаемость в пределах года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Нанимаем на 5 ставок больше, чем в стратегии при том же бюджете </a:t>
            </a:r>
          </a:p>
        </p:txBody>
      </p:sp>
      <p:sp>
        <p:nvSpPr>
          <p:cNvPr id="369" name="Овал 368">
            <a:extLst>
              <a:ext uri="{FF2B5EF4-FFF2-40B4-BE49-F238E27FC236}">
                <a16:creationId xmlns:a16="http://schemas.microsoft.com/office/drawing/2014/main" id="{06F14DA0-5589-4632-8C81-9E416F953B73}"/>
              </a:ext>
            </a:extLst>
          </p:cNvPr>
          <p:cNvSpPr/>
          <p:nvPr/>
        </p:nvSpPr>
        <p:spPr>
          <a:xfrm>
            <a:off x="7655412" y="4648924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5" name="Группа 944">
            <a:extLst>
              <a:ext uri="{FF2B5EF4-FFF2-40B4-BE49-F238E27FC236}">
                <a16:creationId xmlns:a16="http://schemas.microsoft.com/office/drawing/2014/main" id="{714C5B96-E683-4F47-90EF-B1CC8DD53BF4}"/>
              </a:ext>
            </a:extLst>
          </p:cNvPr>
          <p:cNvGrpSpPr/>
          <p:nvPr/>
        </p:nvGrpSpPr>
        <p:grpSpPr>
          <a:xfrm>
            <a:off x="369887" y="1128394"/>
            <a:ext cx="3269805" cy="542328"/>
            <a:chOff x="197295" y="-41198"/>
            <a:chExt cx="3269805" cy="542328"/>
          </a:xfrm>
        </p:grpSpPr>
        <p:grpSp>
          <p:nvGrpSpPr>
            <p:cNvPr id="943" name="Группа 942">
              <a:extLst>
                <a:ext uri="{FF2B5EF4-FFF2-40B4-BE49-F238E27FC236}">
                  <a16:creationId xmlns:a16="http://schemas.microsoft.com/office/drawing/2014/main" id="{B6DB4C97-F943-4E73-8279-7D9F01FA441C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382" name="Прямоугольник 381">
                <a:extLst>
                  <a:ext uri="{FF2B5EF4-FFF2-40B4-BE49-F238E27FC236}">
                    <a16:creationId xmlns:a16="http://schemas.microsoft.com/office/drawing/2014/main" id="{282CFADE-8F4F-4A0F-AD9A-E7C54BEAD2CA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83" name="TextBox 382">
                <a:extLst>
                  <a:ext uri="{FF2B5EF4-FFF2-40B4-BE49-F238E27FC236}">
                    <a16:creationId xmlns:a16="http://schemas.microsoft.com/office/drawing/2014/main" id="{886D6D2F-E144-4746-B109-88F2D27B6B21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lang="en-US" kumimoji="0" sz="12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4" name="Группа 943">
              <a:extLst>
                <a:ext uri="{FF2B5EF4-FFF2-40B4-BE49-F238E27FC236}">
                  <a16:creationId xmlns:a16="http://schemas.microsoft.com/office/drawing/2014/main" id="{3B8339F3-1D38-41BC-997A-B94B5084ACD0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69D80D5E-3B2E-46CE-8A06-7990B599C851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397" name="Прямоугольник 396">
                <a:extLst>
                  <a:ext uri="{FF2B5EF4-FFF2-40B4-BE49-F238E27FC236}">
                    <a16:creationId xmlns:a16="http://schemas.microsoft.com/office/drawing/2014/main" id="{F62D4C00-A014-4B11-906E-766633043731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0" name="TextBox 399">
            <a:extLst>
              <a:ext uri="{FF2B5EF4-FFF2-40B4-BE49-F238E27FC236}">
                <a16:creationId xmlns:a16="http://schemas.microsoft.com/office/drawing/2014/main" id="{FE1DF5B1-F3CF-471A-B037-4C1C98ED89CC}"/>
              </a:ext>
            </a:extLst>
          </p:cNvPr>
          <p:cNvSpPr txBox="1"/>
          <p:nvPr/>
        </p:nvSpPr>
        <p:spPr>
          <a:xfrm>
            <a:off x="371985" y="811588"/>
            <a:ext cx="3534229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PEX,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32F16D4D-E98E-440C-A889-770D07EB5CD3}"/>
              </a:ext>
            </a:extLst>
          </p:cNvPr>
          <p:cNvSpPr txBox="1"/>
          <p:nvPr/>
        </p:nvSpPr>
        <p:spPr>
          <a:xfrm>
            <a:off x="371985" y="3421511"/>
            <a:ext cx="3534229" cy="30797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ССЧ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чел.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</p:txBody>
      </p:sp>
      <p:cxnSp>
        <p:nvCxnSpPr>
          <p:cNvPr id="811" name="Прямая соединительная линия 810">
            <a:extLst>
              <a:ext uri="{FF2B5EF4-FFF2-40B4-BE49-F238E27FC236}">
                <a16:creationId xmlns:a16="http://schemas.microsoft.com/office/drawing/2014/main" id="{65D37AB0-E748-4902-89FE-2E68118CC751}"/>
              </a:ext>
            </a:extLst>
          </p:cNvPr>
          <p:cNvCxnSpPr/>
          <p:nvPr>
            <p:custDataLst>
              <p:tags r:id="rId55"/>
            </p:custDataLst>
          </p:nvPr>
        </p:nvCxnSpPr>
        <p:spPr bwMode="auto">
          <a:xfrm>
            <a:off x="4784724" y="3966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3" name="Прямая соединительная линия 812">
            <a:extLst>
              <a:ext uri="{FF2B5EF4-FFF2-40B4-BE49-F238E27FC236}">
                <a16:creationId xmlns:a16="http://schemas.microsoft.com/office/drawing/2014/main" id="{6F89D128-726F-4A62-AF81-813A06A8F4A7}"/>
              </a:ext>
            </a:extLst>
          </p:cNvPr>
          <p:cNvCxnSpPr/>
          <p:nvPr>
            <p:custDataLst>
              <p:tags r:id="rId56"/>
            </p:custDataLst>
          </p:nvPr>
        </p:nvCxnSpPr>
        <p:spPr bwMode="auto">
          <a:xfrm>
            <a:off x="5546724" y="3966023"/>
            <a:ext cx="336550" cy="76041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2" name="Прямая соединительная линия 841">
            <a:extLst>
              <a:ext uri="{FF2B5EF4-FFF2-40B4-BE49-F238E27FC236}">
                <a16:creationId xmlns:a16="http://schemas.microsoft.com/office/drawing/2014/main" id="{6A5AFC30-6F6B-4655-8C76-446FD466235D}"/>
              </a:ext>
            </a:extLst>
          </p:cNvPr>
          <p:cNvCxnSpPr>
            <a:cxnSpLocks/>
          </p:cNvCxnSpPr>
          <p:nvPr>
            <p:custDataLst>
              <p:tags r:id="rId57"/>
            </p:custDataLst>
          </p:nvPr>
        </p:nvCxnSpPr>
        <p:spPr bwMode="auto">
          <a:xfrm flipV="1">
            <a:off x="977899" y="5340798"/>
            <a:ext cx="338138" cy="8890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3" name="Прямая соединительная линия 842">
            <a:extLst>
              <a:ext uri="{FF2B5EF4-FFF2-40B4-BE49-F238E27FC236}">
                <a16:creationId xmlns:a16="http://schemas.microsoft.com/office/drawing/2014/main" id="{7BD931B6-BD1E-4ED6-8CAB-74DCFD1B3FFB}"/>
              </a:ext>
            </a:extLst>
          </p:cNvPr>
          <p:cNvCxnSpPr/>
          <p:nvPr>
            <p:custDataLst>
              <p:tags r:id="rId58"/>
            </p:custDataLst>
          </p:nvPr>
        </p:nvCxnSpPr>
        <p:spPr bwMode="auto">
          <a:xfrm>
            <a:off x="1739899" y="534079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4" name="Прямая соединительная линия 843">
            <a:extLst>
              <a:ext uri="{FF2B5EF4-FFF2-40B4-BE49-F238E27FC236}">
                <a16:creationId xmlns:a16="http://schemas.microsoft.com/office/drawing/2014/main" id="{A458EDBC-2068-4E01-BD11-82E88A586AB5}"/>
              </a:ext>
            </a:extLst>
          </p:cNvPr>
          <p:cNvCxnSpPr/>
          <p:nvPr>
            <p:custDataLst>
              <p:tags r:id="rId59"/>
            </p:custDataLst>
          </p:nvPr>
        </p:nvCxnSpPr>
        <p:spPr bwMode="auto">
          <a:xfrm>
            <a:off x="2500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5" name="Прямая соединительная линия 844">
            <a:extLst>
              <a:ext uri="{FF2B5EF4-FFF2-40B4-BE49-F238E27FC236}">
                <a16:creationId xmlns:a16="http://schemas.microsoft.com/office/drawing/2014/main" id="{10CD846E-11C3-4B58-A965-7A35345BDD85}"/>
              </a:ext>
            </a:extLst>
          </p:cNvPr>
          <p:cNvCxnSpPr/>
          <p:nvPr>
            <p:custDataLst>
              <p:tags r:id="rId60"/>
            </p:custDataLst>
          </p:nvPr>
        </p:nvCxnSpPr>
        <p:spPr bwMode="auto">
          <a:xfrm>
            <a:off x="3262312" y="5363023"/>
            <a:ext cx="338138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Прямая соединительная линия 809">
            <a:extLst>
              <a:ext uri="{FF2B5EF4-FFF2-40B4-BE49-F238E27FC236}">
                <a16:creationId xmlns:a16="http://schemas.microsoft.com/office/drawing/2014/main" id="{EC55AECC-0771-4B19-A06B-736C8BC6C2E2}"/>
              </a:ext>
            </a:extLst>
          </p:cNvPr>
          <p:cNvCxnSpPr/>
          <p:nvPr>
            <p:custDataLst>
              <p:tags r:id="rId61"/>
            </p:custDataLst>
          </p:nvPr>
        </p:nvCxnSpPr>
        <p:spPr bwMode="auto">
          <a:xfrm>
            <a:off x="4024312" y="4356548"/>
            <a:ext cx="336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7" name="Chart 156">
            <a:extLst>
              <a:ext uri="{FF2B5EF4-FFF2-40B4-BE49-F238E27FC236}">
                <a16:creationId xmlns:a16="http://schemas.microsoft.com/office/drawing/2014/main" id="{92666AAB-C2D7-414C-A8D5-698171721015}"/>
              </a:ext>
            </a:extLst>
          </p:cNvPr>
          <p:cNvGraphicFramePr/>
          <p:nvPr>
            <p:custDataLst>
              <p:tags r:id="rId62"/>
            </p:custDataLst>
            <p:extLst>
              <p:ext uri="{D42A27DB-BD31-4B8C-83A1-F6EECF244321}">
                <p14:modId xmlns:p14="http://schemas.microsoft.com/office/powerpoint/2010/main" val="3338219554"/>
              </p:ext>
            </p:extLst>
          </p:nvPr>
        </p:nvGraphicFramePr>
        <p:xfrm>
          <a:off x="303213" y="3740598"/>
          <a:ext cx="6256337" cy="21574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8"/>
          </a:graphicData>
        </a:graphic>
      </p:graphicFrame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9D3FC29A-03F0-4BA1-B3FE-D933512A006D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515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118A0AC9-29ED-46B9-A6BE-9C4CE08B56DB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1277938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2" name="Freeform: Shape 41">
            <a:extLst>
              <a:ext uri="{FF2B5EF4-FFF2-40B4-BE49-F238E27FC236}">
                <a16:creationId xmlns:a16="http://schemas.microsoft.com/office/drawing/2014/main" id="{DE4484FC-E69F-43A4-9DC2-15C9999AB43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800350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B922B032-4B6A-40F8-8398-1EC6365C99A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5084763" y="5455098"/>
            <a:ext cx="500063" cy="192088"/>
          </a:xfrm>
          <a:custGeom>
            <a:avLst/>
            <a:gdLst/>
            <a:ahLst/>
            <a:cxnLst/>
            <a:rect l="0" t="0" r="0" b="0"/>
            <a:pathLst>
              <a:path w="500063" h="192089">
                <a:moveTo>
                  <a:pt x="0" y="134938"/>
                </a:moveTo>
                <a:lnTo>
                  <a:pt x="500062" y="0"/>
                </a:lnTo>
                <a:lnTo>
                  <a:pt x="500062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6ACE4B7C-66BD-4D3B-AF0C-335B0F349F38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5845175" y="5455098"/>
            <a:ext cx="500064" cy="192088"/>
          </a:xfrm>
          <a:custGeom>
            <a:avLst/>
            <a:gdLst/>
            <a:ahLst/>
            <a:cxnLst/>
            <a:rect l="0" t="0" r="0" b="0"/>
            <a:pathLst>
              <a:path w="500064" h="192089">
                <a:moveTo>
                  <a:pt x="0" y="134938"/>
                </a:moveTo>
                <a:lnTo>
                  <a:pt x="500063" y="0"/>
                </a:lnTo>
                <a:lnTo>
                  <a:pt x="500063" y="57150"/>
                </a:lnTo>
                <a:lnTo>
                  <a:pt x="0" y="192088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50E9D71-DDA0-4867-BED3-2843BF39E84C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515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93DF8D4-4877-466D-9EB7-AD089407B6FA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515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D58D4DC-8E7D-48DA-96B1-970B89F2B2FC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277938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8B7C2974-30C8-4BA3-A012-2BBF68F32C7F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277938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66CA1F14-85D1-405E-88FC-CE3DF23ECB5D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2800350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642E4A1-3729-4D4C-BDE1-88473AD7882E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2800350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DD996FD9-47DE-46CC-994B-267663F4239C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5084763" y="545509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94DACB82-27F9-496B-BBC0-5A5A85C83F0A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5084763" y="5512248"/>
            <a:ext cx="500063" cy="134938"/>
          </a:xfrm>
          <a:custGeom>
            <a:avLst/>
            <a:gdLst/>
            <a:ahLst/>
            <a:cxnLst/>
            <a:rect l="0" t="0" r="0" b="0"/>
            <a:pathLst>
              <a:path w="500063" h="134939">
                <a:moveTo>
                  <a:pt x="0" y="134938"/>
                </a:moveTo>
                <a:lnTo>
                  <a:pt x="500062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9B65F6-A57C-4FDB-82C2-42C22D343485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5845175" y="545509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9AA491B5-5093-4F63-87DE-056D512B743F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5845175" y="5512248"/>
            <a:ext cx="500064" cy="134938"/>
          </a:xfrm>
          <a:custGeom>
            <a:avLst/>
            <a:gdLst/>
            <a:ahLst/>
            <a:cxnLst/>
            <a:rect l="0" t="0" r="0" b="0"/>
            <a:pathLst>
              <a:path w="500064" h="134939">
                <a:moveTo>
                  <a:pt x="0" y="134938"/>
                </a:moveTo>
                <a:lnTo>
                  <a:pt x="500063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5" name="Прямоугольник 784">
            <a:extLst>
              <a:ext uri="{FF2B5EF4-FFF2-40B4-BE49-F238E27FC236}">
                <a16:creationId xmlns:a16="http://schemas.microsoft.com/office/drawing/2014/main" id="{EBB79448-432B-46D5-BB37-44D62BBA98A6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258888" y="5715448"/>
            <a:ext cx="5365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B3E321D-5BBA-46A8-BCBB-A2F207592B2E}" type="datetime'BU'' ''с''''''''е''''''н''''''т'''' 2''026''''''''''''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сент 2026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5" name="Прямоугольник 824">
            <a:extLst>
              <a:ext uri="{FF2B5EF4-FFF2-40B4-BE49-F238E27FC236}">
                <a16:creationId xmlns:a16="http://schemas.microsoft.com/office/drawing/2014/main" id="{5B492200-7AF0-4863-B3E2-904710C3F7B4}"/>
              </a:ext>
            </a:extLst>
          </p:cNvPr>
          <p:cNvSpPr/>
          <p:nvPr>
            <p:custDataLst>
              <p:tags r:id="rId79"/>
            </p:custDataLst>
          </p:nvPr>
        </p:nvSpPr>
        <p:spPr bwMode="gray">
          <a:xfrm>
            <a:off x="2222500" y="5283648"/>
            <a:ext cx="130175" cy="136525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C36751-0410-486D-9FC2-3BEBD3FF8CC1}" type="datetime'''''-''''''''''''''''''''''''''''''''''''1'">
              <a:rPr lang="ru-RU" kumimoji="0" sz="1000" b="0" i="0" u="none" strike="noStrike" kern="1200" cap="none" spc="0" normalizeH="0" baseline="0" smtClean="0"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-1</a:t>
            </a:fld>
            <a:endParaRPr lang="ru-RU" kumimoji="0" sz="1000" b="0" i="0" u="none" strike="noStrike" kern="1200" cap="none" spc="0" normalizeH="0" baseline="0"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6" name="Прямоугольник 785">
            <a:extLst>
              <a:ext uri="{FF2B5EF4-FFF2-40B4-BE49-F238E27FC236}">
                <a16:creationId xmlns:a16="http://schemas.microsoft.com/office/drawing/2014/main" id="{6EA51B5B-8957-40C8-BC1E-D659D8A82FC1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74850" y="5715448"/>
            <a:ext cx="6270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DBAA0EF-9006-4CD7-87BA-2FD3F99DD090}" type="datetime'''''К''''ален''д''а-''р''и''за''ция'' ''''''н''''''ай''ма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Календа-ризация найма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039EB1EC-6D65-438E-96C3-88FCA7415CE4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2787650" y="5715448"/>
            <a:ext cx="5238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80EA3E-C0C4-4883-B9B2-8D7B9F89600C}" type="datetime'F''''''''''''C (''''''''''''''9+''3'') ''''''''20''2''6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FC (9+3)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8" name="Прямоугольник 787">
            <a:extLst>
              <a:ext uri="{FF2B5EF4-FFF2-40B4-BE49-F238E27FC236}">
                <a16:creationId xmlns:a16="http://schemas.microsoft.com/office/drawing/2014/main" id="{71E6E75A-5472-4550-90D7-647930EEF135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3484563" y="5715448"/>
            <a:ext cx="655638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B63179-E887-47D7-9350-D14E2C76D8AE}" type="datetime'''''''''Доп''''''''''.''''''''''''''''''''''н''''ай''м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Доп.найм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9" name="Прямоугольник 788">
            <a:extLst>
              <a:ext uri="{FF2B5EF4-FFF2-40B4-BE49-F238E27FC236}">
                <a16:creationId xmlns:a16="http://schemas.microsoft.com/office/drawing/2014/main" id="{EC1A8879-44AD-44DF-840B-62CA8525067F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4295775" y="5715448"/>
            <a:ext cx="5524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3FF510-F166-4C67-AB4E-8C9A2872ACBC}" type="datetime'Ко''''н''''''т''е''''''нт'''' з''''ав''''''''о''''''д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Контент завод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8" name="Прямоугольник 827">
            <a:extLst>
              <a:ext uri="{FF2B5EF4-FFF2-40B4-BE49-F238E27FC236}">
                <a16:creationId xmlns:a16="http://schemas.microsoft.com/office/drawing/2014/main" id="{CF6AE9F8-5443-48FD-A679-75453434862B}"/>
              </a:ext>
            </a:extLst>
          </p:cNvPr>
          <p:cNvSpPr/>
          <p:nvPr>
            <p:custDataLst>
              <p:tags r:id="rId84"/>
            </p:custDataLst>
          </p:nvPr>
        </p:nvSpPr>
        <p:spPr bwMode="gray">
          <a:xfrm>
            <a:off x="5207000" y="4861373"/>
            <a:ext cx="255588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7EF3D-14FA-452B-9043-1857F798A9E4}" type="datetime'''''''''''''''''''''''''''3''''''''6''''''''''''''''''5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0" name="Прямоугольник 789">
            <a:extLst>
              <a:ext uri="{FF2B5EF4-FFF2-40B4-BE49-F238E27FC236}">
                <a16:creationId xmlns:a16="http://schemas.microsoft.com/office/drawing/2014/main" id="{B5EA32DD-2EE3-4B40-9024-B0377BEC3403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5062538" y="5715448"/>
            <a:ext cx="542925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7F5A4-D517-40B8-B52E-48AFB291FBBD}" type="datetime'''''B''''''''''''U'''''' ''''''''''2''''''''02''''''''''''''7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5" name="Прямоугольник 794">
            <a:extLst>
              <a:ext uri="{FF2B5EF4-FFF2-40B4-BE49-F238E27FC236}">
                <a16:creationId xmlns:a16="http://schemas.microsoft.com/office/drawing/2014/main" id="{1FBB58F5-1F0C-4315-B98E-477CEBAEAD32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5751513" y="5715448"/>
            <a:ext cx="687388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08D2AB-2A72-4E08-88C9-059A2988166C}" type="datetime'''''С''''т''''р''''а''''тегия'''''''' ''''2''''0''2''''7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Стратегия 2027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9" name="Прямоугольник 888">
            <a:extLst>
              <a:ext uri="{FF2B5EF4-FFF2-40B4-BE49-F238E27FC236}">
                <a16:creationId xmlns:a16="http://schemas.microsoft.com/office/drawing/2014/main" id="{5F4BFD6B-DA0E-4C79-8C1B-332678479231}"/>
              </a:ext>
            </a:extLst>
          </p:cNvPr>
          <p:cNvSpPr/>
          <p:nvPr>
            <p:custDataLst>
              <p:tags r:id="rId87"/>
            </p:custDataLst>
          </p:nvPr>
        </p:nvSpPr>
        <p:spPr bwMode="gray">
          <a:xfrm>
            <a:off x="627063" y="5267773"/>
            <a:ext cx="276225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008D65-3FF8-4DCB-9226-A6086F5DD0A9}" type="datetime'''''3''''''''''''''''''0''''''9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309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1" name="Прямоугольник 890">
            <a:extLst>
              <a:ext uri="{FF2B5EF4-FFF2-40B4-BE49-F238E27FC236}">
                <a16:creationId xmlns:a16="http://schemas.microsoft.com/office/drawing/2014/main" id="{80AC280B-407F-43A6-B1B7-1FAC96E48F21}"/>
              </a:ext>
            </a:extLst>
          </p:cNvPr>
          <p:cNvSpPr/>
          <p:nvPr>
            <p:custDataLst>
              <p:tags r:id="rId88"/>
            </p:custDataLst>
          </p:nvPr>
        </p:nvSpPr>
        <p:spPr bwMode="gray">
          <a:xfrm>
            <a:off x="1411288" y="5178873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91F77D3-A876-4722-9E8A-BB42C6A09C40}" type="datetime'3''''''''''''''1''''''''''''3''''''''''''''''''''''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313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3" name="Прямоугольник 782">
            <a:extLst>
              <a:ext uri="{FF2B5EF4-FFF2-40B4-BE49-F238E27FC236}">
                <a16:creationId xmlns:a16="http://schemas.microsoft.com/office/drawing/2014/main" id="{16D34D85-8E75-4CBF-8A88-DC062B5AB7F8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492125" y="5715448"/>
            <a:ext cx="54610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2CABFB-2CE6-4B96-A2C4-CD4FFE7EE838}" type="datetime'''''''B''''''''''''''''U 2''''''''''0''2''''''''''''6'''">
              <a:rPr lang="en-US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</a:t>
            </a:fld>
            <a:endParaRPr lang="en-US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6" name="Прямоугольник 835">
            <a:extLst>
              <a:ext uri="{FF2B5EF4-FFF2-40B4-BE49-F238E27FC236}">
                <a16:creationId xmlns:a16="http://schemas.microsoft.com/office/drawing/2014/main" id="{04CB08CC-5D93-4ACD-8BE7-202EA7781671}"/>
              </a:ext>
            </a:extLst>
          </p:cNvPr>
          <p:cNvSpPr/>
          <p:nvPr>
            <p:custDataLst>
              <p:tags r:id="rId90"/>
            </p:custDataLst>
          </p:nvPr>
        </p:nvSpPr>
        <p:spPr bwMode="gray">
          <a:xfrm>
            <a:off x="3716338" y="4194623"/>
            <a:ext cx="190500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8CFFFB-6897-4828-B238-C9431BAB4AAD}" type="datetime'''''''''''''''''''''''''''4''''''''''''''''5'''''''">
              <a:rPr lang="ru-RU" kumimoji="0" sz="10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lang="ru-RU" kumimoji="0" sz="10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8" name="Прямоугольник 837">
            <a:extLst>
              <a:ext uri="{FF2B5EF4-FFF2-40B4-BE49-F238E27FC236}">
                <a16:creationId xmlns:a16="http://schemas.microsoft.com/office/drawing/2014/main" id="{568D7A1A-9C8A-4E57-A766-A510C3556298}"/>
              </a:ext>
            </a:extLst>
          </p:cNvPr>
          <p:cNvSpPr/>
          <p:nvPr>
            <p:custDataLst>
              <p:tags r:id="rId91"/>
            </p:custDataLst>
          </p:nvPr>
        </p:nvSpPr>
        <p:spPr bwMode="gray">
          <a:xfrm>
            <a:off x="5202238" y="3804098"/>
            <a:ext cx="26511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483745-9248-4E8D-A074-6E0BF2C3106B}" type="datetime'''''''''''''''''''3''''''''''''''''7''''5''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375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93" name="Прямоугольник 892">
            <a:extLst>
              <a:ext uri="{FF2B5EF4-FFF2-40B4-BE49-F238E27FC236}">
                <a16:creationId xmlns:a16="http://schemas.microsoft.com/office/drawing/2014/main" id="{06425A92-4A0D-450A-8DBE-9AFA36035D6B}"/>
              </a:ext>
            </a:extLst>
          </p:cNvPr>
          <p:cNvSpPr/>
          <p:nvPr>
            <p:custDataLst>
              <p:tags r:id="rId92"/>
            </p:custDataLst>
          </p:nvPr>
        </p:nvSpPr>
        <p:spPr bwMode="gray">
          <a:xfrm>
            <a:off x="5972175" y="4564511"/>
            <a:ext cx="2460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37D1C2-AEAE-4C7E-854A-C67AE2C3CE79}" type="datetime'''''''3''''''''''''''''''''''''''''''''''''4''1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341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F3D7B7E1-0269-4068-A7A5-9C10B8D66492}"/>
              </a:ext>
            </a:extLst>
          </p:cNvPr>
          <p:cNvSpPr/>
          <p:nvPr>
            <p:custDataLst>
              <p:tags r:id="rId93"/>
            </p:custDataLst>
          </p:nvPr>
        </p:nvSpPr>
        <p:spPr bwMode="gray">
          <a:xfrm>
            <a:off x="2933700" y="5201098"/>
            <a:ext cx="233363" cy="1365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17463" tIns="0" rIns="17463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1EA5E56-43B9-4244-8238-9FB9416649E5}" type="datetime'''''''3''''''''''''''''''''''''''''''''''''''''12'''''''">
              <a:rPr lang="ru-RU" kumimoji="0" sz="10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312</a:t>
            </a:fld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946" name="Группа 945">
            <a:extLst>
              <a:ext uri="{FF2B5EF4-FFF2-40B4-BE49-F238E27FC236}">
                <a16:creationId xmlns:a16="http://schemas.microsoft.com/office/drawing/2014/main" id="{405353C2-7B5C-4E44-9BA4-08709F2F5497}"/>
              </a:ext>
            </a:extLst>
          </p:cNvPr>
          <p:cNvGrpSpPr/>
          <p:nvPr/>
        </p:nvGrpSpPr>
        <p:grpSpPr>
          <a:xfrm>
            <a:off x="369887" y="3685036"/>
            <a:ext cx="3269805" cy="542925"/>
            <a:chOff x="197295" y="-41198"/>
            <a:chExt cx="3269805" cy="542328"/>
          </a:xfrm>
        </p:grpSpPr>
        <p:grpSp>
          <p:nvGrpSpPr>
            <p:cNvPr id="947" name="Группа 946">
              <a:extLst>
                <a:ext uri="{FF2B5EF4-FFF2-40B4-BE49-F238E27FC236}">
                  <a16:creationId xmlns:a16="http://schemas.microsoft.com/office/drawing/2014/main" id="{4E5AC93B-139B-48AF-A9F4-F25F0F58B590}"/>
                </a:ext>
              </a:extLst>
            </p:cNvPr>
            <p:cNvGrpSpPr/>
            <p:nvPr/>
          </p:nvGrpSpPr>
          <p:grpSpPr>
            <a:xfrm>
              <a:off x="197295" y="224131"/>
              <a:ext cx="1900002" cy="276999"/>
              <a:chOff x="197295" y="224131"/>
              <a:chExt cx="1900002" cy="276999"/>
            </a:xfrm>
          </p:grpSpPr>
          <p:sp>
            <p:nvSpPr>
              <p:cNvPr id="951" name="Прямоугольник 950">
                <a:extLst>
                  <a:ext uri="{FF2B5EF4-FFF2-40B4-BE49-F238E27FC236}">
                    <a16:creationId xmlns:a16="http://schemas.microsoft.com/office/drawing/2014/main" id="{822DDD24-5295-4F1A-A121-C0E5D6DFA502}"/>
                  </a:ext>
                </a:extLst>
              </p:cNvPr>
              <p:cNvSpPr/>
              <p:nvPr/>
            </p:nvSpPr>
            <p:spPr>
              <a:xfrm>
                <a:off x="197295" y="290365"/>
                <a:ext cx="273738" cy="144531"/>
              </a:xfrm>
              <a:prstGeom prst="rect">
                <a:avLst/>
              </a:prstGeom>
              <a:solidFill>
                <a:srgbClr val="6666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800" b="0" i="0" u="none" strike="noStrike" kern="1200" cap="none" spc="0" normalizeH="0" baseline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952" name="TextBox 951">
                <a:extLst>
                  <a:ext uri="{FF2B5EF4-FFF2-40B4-BE49-F238E27FC236}">
                    <a16:creationId xmlns:a16="http://schemas.microsoft.com/office/drawing/2014/main" id="{3ECD9826-543C-404E-AB19-DD4CB39AE71E}"/>
                  </a:ext>
                </a:extLst>
              </p:cNvPr>
              <p:cNvSpPr txBox="1"/>
              <p:nvPr/>
            </p:nvSpPr>
            <p:spPr>
              <a:xfrm>
                <a:off x="543681" y="224131"/>
                <a:ext cx="155361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Project</a:t>
                </a:r>
                <a:endParaRPr lang="en-US" kumimoji="0" sz="1200" b="0" i="0" u="none" strike="noStrike" kern="1200" cap="none" spc="0" normalizeH="0" baseline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948" name="Группа 947">
              <a:extLst>
                <a:ext uri="{FF2B5EF4-FFF2-40B4-BE49-F238E27FC236}">
                  <a16:creationId xmlns:a16="http://schemas.microsoft.com/office/drawing/2014/main" id="{4F6487C5-E373-4B98-932C-8D366613EB1B}"/>
                </a:ext>
              </a:extLst>
            </p:cNvPr>
            <p:cNvGrpSpPr/>
            <p:nvPr/>
          </p:nvGrpSpPr>
          <p:grpSpPr>
            <a:xfrm>
              <a:off x="197295" y="-41198"/>
              <a:ext cx="3269805" cy="276999"/>
              <a:chOff x="197295" y="-41198"/>
              <a:chExt cx="3269805" cy="276999"/>
            </a:xfrm>
          </p:grpSpPr>
          <p:sp>
            <p:nvSpPr>
              <p:cNvPr id="949" name="TextBox 948">
                <a:extLst>
                  <a:ext uri="{FF2B5EF4-FFF2-40B4-BE49-F238E27FC236}">
                    <a16:creationId xmlns:a16="http://schemas.microsoft.com/office/drawing/2014/main" id="{40434D6E-4DB5-4FCA-AB54-F76F096117E4}"/>
                  </a:ext>
                </a:extLst>
              </p:cNvPr>
              <p:cNvSpPr txBox="1"/>
              <p:nvPr/>
            </p:nvSpPr>
            <p:spPr>
              <a:xfrm>
                <a:off x="543681" y="-41198"/>
                <a:ext cx="292341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ru-RU" kumimoji="0" sz="1200" b="0" i="0" u="none" strike="noStrike" kern="1200" cap="none" spc="0" normalizeH="0" baseline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Ненормируемые подразделения</a:t>
                </a:r>
              </a:p>
            </p:txBody>
          </p:sp>
          <p:sp>
            <p:nvSpPr>
              <p:cNvPr id="950" name="Прямоугольник 949">
                <a:extLst>
                  <a:ext uri="{FF2B5EF4-FFF2-40B4-BE49-F238E27FC236}">
                    <a16:creationId xmlns:a16="http://schemas.microsoft.com/office/drawing/2014/main" id="{E6CE7880-F06C-4716-9CA4-A9553AE70827}"/>
                  </a:ext>
                </a:extLst>
              </p:cNvPr>
              <p:cNvSpPr/>
              <p:nvPr/>
            </p:nvSpPr>
            <p:spPr>
              <a:xfrm>
                <a:off x="197295" y="25301"/>
                <a:ext cx="273600" cy="144000"/>
              </a:xfrm>
              <a:prstGeom prst="rect">
                <a:avLst/>
              </a:prstGeom>
              <a:gradFill flip="none" rotWithShape="1">
                <a:gsLst>
                  <a:gs pos="51000">
                    <a:srgbClr val="999999"/>
                  </a:gs>
                  <a:gs pos="55000">
                    <a:srgbClr val="FF452C"/>
                  </a:gs>
                </a:gsLst>
                <a:lin ang="13500000" scaled="1"/>
                <a:tileRect/>
              </a:gra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ru-RU" kumimoji="0" sz="1050" b="1" i="0" u="none" strike="noStrike" kern="1200" cap="none" spc="0" normalizeH="0" baseline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953" name="Овал 952">
            <a:extLst>
              <a:ext uri="{FF2B5EF4-FFF2-40B4-BE49-F238E27FC236}">
                <a16:creationId xmlns:a16="http://schemas.microsoft.com/office/drawing/2014/main" id="{6AC04BB3-BC38-400B-B590-D8E956691AA0}"/>
              </a:ext>
            </a:extLst>
          </p:cNvPr>
          <p:cNvSpPr/>
          <p:nvPr/>
        </p:nvSpPr>
        <p:spPr>
          <a:xfrm>
            <a:off x="4490119" y="4431161"/>
            <a:ext cx="180000" cy="179388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2" name="Овал 991">
            <a:extLst>
              <a:ext uri="{FF2B5EF4-FFF2-40B4-BE49-F238E27FC236}">
                <a16:creationId xmlns:a16="http://schemas.microsoft.com/office/drawing/2014/main" id="{20CF2DF0-B7D6-4F21-B670-500D7EAFB2DA}"/>
              </a:ext>
            </a:extLst>
          </p:cNvPr>
          <p:cNvSpPr/>
          <p:nvPr/>
        </p:nvSpPr>
        <p:spPr>
          <a:xfrm>
            <a:off x="7655412" y="5102949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3" name="Овал 992">
            <a:extLst>
              <a:ext uri="{FF2B5EF4-FFF2-40B4-BE49-F238E27FC236}">
                <a16:creationId xmlns:a16="http://schemas.microsoft.com/office/drawing/2014/main" id="{A118E490-5D4F-414C-BDF9-DD84920B11E1}"/>
              </a:ext>
            </a:extLst>
          </p:cNvPr>
          <p:cNvSpPr/>
          <p:nvPr/>
        </p:nvSpPr>
        <p:spPr>
          <a:xfrm>
            <a:off x="3726214" y="5397948"/>
            <a:ext cx="180000" cy="180975"/>
          </a:xfrm>
          <a:prstGeom prst="ellipse">
            <a:avLst/>
          </a:prstGeom>
          <a:solidFill>
            <a:schemeClr val="tx1"/>
          </a:solidFill>
          <a:ln>
            <a:noFill/>
          </a:ln>
          <a:effectLst>
            <a:outerShdw blurRad="50800" dist="38100" dir="5400000" algn="t" rotWithShape="0">
              <a:schemeClr val="bg2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000" b="1" i="0" u="none" strike="noStrike" kern="120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lang="ru-RU" kumimoji="0" sz="1000" b="1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00468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142CEA1-99F4-4574-A5E9-425A86727A0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95" imgH="394" progId="TCLayout.ActiveDocument.1">
                  <p:embed/>
                </p:oleObj>
              </mc:Choice>
              <mc:Fallback>
                <p:oleObj name="think-cell Slide" r:id="rId20" imgW="395" imgH="39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142CEA1-99F4-4574-A5E9-425A86727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8342B784-DAF1-4F67-8060-CB1D1E7243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стоимости ШР контура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graphicFrame>
        <p:nvGraphicFramePr>
          <p:cNvPr id="61" name="Chart 3">
            <a:extLst>
              <a:ext uri="{FF2B5EF4-FFF2-40B4-BE49-F238E27FC236}">
                <a16:creationId xmlns:a16="http://schemas.microsoft.com/office/drawing/2014/main" id="{C9275DC2-F268-42B7-9C30-5E8AEEE510C8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248983117"/>
              </p:ext>
            </p:extLst>
          </p:nvPr>
        </p:nvGraphicFramePr>
        <p:xfrm>
          <a:off x="303213" y="2685594"/>
          <a:ext cx="7040562" cy="3325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79" name="Прямоугольник 178">
            <a:extLst>
              <a:ext uri="{FF2B5EF4-FFF2-40B4-BE49-F238E27FC236}">
                <a16:creationId xmlns:a16="http://schemas.microsoft.com/office/drawing/2014/main" id="{5F820AB2-4CA9-420D-9C9B-A67D5973101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455613" y="5795507"/>
            <a:ext cx="15779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94EB7-FC41-4B33-83E1-0B3C57330C6A}" type="datetime'''''''''С''''''тои''''''м''''о''''ст''ь ШР ''20''''2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5893CC0A-DE5A-4838-BF45-C2E542B61F9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2266950" y="5795507"/>
            <a:ext cx="13954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6BAE9C1-20B8-4AC3-B77D-5095CE87BAB2}" type="datetime'B''''''U'''' ''''''20''''26'','''' ''б''е''''''з'''' ''ОСВ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2026,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1" name="Прямоугольник 180">
            <a:extLst>
              <a:ext uri="{FF2B5EF4-FFF2-40B4-BE49-F238E27FC236}">
                <a16:creationId xmlns:a16="http://schemas.microsoft.com/office/drawing/2014/main" id="{D6F18824-F041-4FF9-8295-B8976CA4FC97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895724" y="5795507"/>
            <a:ext cx="15763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5C91A91-EEB6-451D-93C7-8D920EF8656B}" type="datetime'''''С''т''''о''''''''имост''ь'' Ш''Р'' 2''0''''2''''''''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Стоимость ШР 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2" name="Прямоугольник 181">
            <a:extLst>
              <a:ext uri="{FF2B5EF4-FFF2-40B4-BE49-F238E27FC236}">
                <a16:creationId xmlns:a16="http://schemas.microsoft.com/office/drawing/2014/main" id="{DAC92FBD-B69A-47D6-B5E1-94D24233360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5703888" y="5795507"/>
            <a:ext cx="13938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3EA334D-F4A6-4851-8C81-C9158EB0E35B}" type="datetime'''BU ''''''''''202''7,'' б''''ез'''''''''' ''''''О''''''С''В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BU 2027, без ОСВ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8415760-995E-4EFA-8DE1-88F7697CAB3F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1173163" y="3441244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62ECCCC-3A30-4405-80E2-704F8BB9B062}" type="datetime'''''''''''''''''''''''''''''''''''''''''''''''''''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1B65A1E1-4516-448A-8477-314665144E46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2892425" y="3507919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1541C1-D7B8-4DFE-891E-585E9326F2A2}" type="datetime'''''''''''''''''''''''''''''''''''''''4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CF475B-EEBF-432A-AAC4-EF0B843E1AA6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4611688" y="290308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E53B12-C351-4E91-A476-277EC289F42B}" type="datetime'''4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B1D2EEB-7A1B-417B-B735-D389F93E4524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329363" y="2960232"/>
            <a:ext cx="144463" cy="165100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79E5824-DB05-4BF1-AF6B-7CC1E5ECF789}" type="datetime'''''''''''''''''''''''''''''''''''''''''''''''4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FA7D83D-B158-4D7B-B7BF-2381D5ED1750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1101725" y="3276144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BB44F-E510-4444-8DAE-DC5EFCDB3028}" type="datetime'''''''''''1''''2''''''''''''''''''''''''3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123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39A10F5-CD27-44B3-8DFD-70F7EBBA7B8C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833688" y="3342819"/>
            <a:ext cx="2619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5A6B40-6135-4FFD-BE67-9CEAF3829074}" type="datetime'''''''''''''''''11''''''''''''''''''''''''''9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F3FA55A-E5B7-4BE8-A746-E3C863924F62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540250" y="2737982"/>
            <a:ext cx="2857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0B395F-C4F5-47D5-8DCE-CD6DC9D6B4E2}" type="datetime'''''''''''''''''''''''''''''''''1''''''''''''5''2''''''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152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5B43D90-E470-44B4-A235-1F3326C7F4DC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6248400" y="2795132"/>
            <a:ext cx="3063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A4A661-07F0-4B6B-B47D-4158FDB075EF}" type="datetime'''''''''''''''''''''''''''''''''''''''''1''''''4''9'''''''">
              <a:rPr lang="ru-RU" kumimoji="0" sz="1200" b="1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149</a:t>
            </a:fld>
            <a:endParaRPr lang="ru-RU" kumimoji="0" sz="1200" b="1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77E55974-64E7-4F6C-B8CD-A4894380DD67}"/>
              </a:ext>
            </a:extLst>
          </p:cNvPr>
          <p:cNvSpPr txBox="1"/>
          <p:nvPr/>
        </p:nvSpPr>
        <p:spPr>
          <a:xfrm>
            <a:off x="8302171" y="1615939"/>
            <a:ext cx="3484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0000500000000000000" pitchFamily="2" charset="-52"/>
                <a:ea typeface="+mn-ea"/>
                <a:cs typeface="+mn-cs"/>
              </a:rPr>
              <a:t>В 2027 г. комплектность увеличилась с 97% до 98%, из-за низкого процента текучести по 2026 г.</a:t>
            </a:r>
          </a:p>
        </p:txBody>
      </p:sp>
      <p:sp>
        <p:nvSpPr>
          <p:cNvPr id="29" name="Номер слайда 3">
            <a:extLst>
              <a:ext uri="{FF2B5EF4-FFF2-40B4-BE49-F238E27FC236}">
                <a16:creationId xmlns:a16="http://schemas.microsoft.com/office/drawing/2014/main" id="{5DBFE8FF-868E-4667-8484-575FEA7AE144}"/>
              </a:ext>
            </a:extLst>
          </p:cNvPr>
          <p:cNvSpPr txBox="1">
            <a:spLocks/>
          </p:cNvSpPr>
          <p:nvPr/>
        </p:nvSpPr>
        <p:spPr>
          <a:xfrm>
            <a:off x="11374252" y="6429889"/>
            <a:ext cx="625661" cy="199509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ctr" defTabSz="914400" rtl="0" eaLnBrk="1" latinLnBrk="0" hangingPunct="1">
              <a:defRPr sz="1000" b="0" kern="1200">
                <a:solidFill>
                  <a:srgbClr val="FF452C"/>
                </a:solidFill>
                <a:latin typeface="Arial" pitchFamily="2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B62F8B-6287-4A1D-B049-850DFDC2CB43}"/>
              </a:ext>
            </a:extLst>
          </p:cNvPr>
          <p:cNvSpPr txBox="1"/>
          <p:nvPr/>
        </p:nvSpPr>
        <p:spPr>
          <a:xfrm>
            <a:off x="371984" y="1108234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Стоимость ШР контура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Admin PEX</a:t>
            </a:r>
            <a:r>
              <a:rPr lang="ru-RU" kumimoji="0" sz="1400" b="1" i="0" u="none" strike="noStrike" kern="1200" cap="none" spc="0" normalizeH="0" baseline="3000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млн руб.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C1006-850E-46A6-8D92-7BD71F7CA6B4}"/>
              </a:ext>
            </a:extLst>
          </p:cNvPr>
          <p:cNvSpPr txBox="1"/>
          <p:nvPr/>
        </p:nvSpPr>
        <p:spPr>
          <a:xfrm>
            <a:off x="547036" y="250094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97%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  <p:sp>
        <p:nvSpPr>
          <p:cNvPr id="101" name="Текст 5">
            <a:extLst>
              <a:ext uri="{FF2B5EF4-FFF2-40B4-BE49-F238E27FC236}">
                <a16:creationId xmlns:a16="http://schemas.microsoft.com/office/drawing/2014/main" id="{C2CD0DFB-EDAA-4B50-889E-9230B11C7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27466" y="6315178"/>
            <a:ext cx="8890000" cy="339337"/>
          </a:xfrm>
        </p:spPr>
        <p:txBody>
          <a:bodyPr lIns="0" tIns="0"/>
          <a:lstStyle/>
          <a:p>
            <a:pPr>
              <a:spcBef>
                <a:spcPts val="1000"/>
              </a:spcBef>
            </a:pPr>
            <a:r>
              <a:rPr lang="ru-RU" sz="900">
                <a:solidFill>
                  <a:srgbClr val="6E6E6E"/>
                </a:solidFill>
                <a:latin typeface="+mn-lt"/>
              </a:rPr>
              <a:t>1 </a:t>
            </a:r>
            <a:r>
              <a:rPr lang="ru-RU" sz="900">
                <a:solidFill>
                  <a:srgbClr val="6E6E6E"/>
                </a:solidFill>
                <a:latin typeface="+mn-lt"/>
              </a:rPr>
              <a:t>– На декабрь соответствующего года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3C629C24-1F93-4E93-BC2A-AA6E5C188D70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388938" y="1523544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E811B90C-5B01-4A6F-8ACF-56F2DAD06353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3417888" y="1523544"/>
            <a:ext cx="214313" cy="160338"/>
          </a:xfrm>
          <a:prstGeom prst="rect">
            <a:avLst/>
          </a:prstGeom>
          <a:solidFill>
            <a:srgbClr val="666666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F46032B-2B65-423F-8992-09F12F3A8541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54050" y="1518782"/>
            <a:ext cx="26622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735F91-C67D-4BEB-990A-55233DD31875}" type="datetime'Нен''орм''иру''''е''''мы''''''е ''''''п''одраз''де''лен''ия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Ненормируемые подразделения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F2A452EA-9496-49AE-B989-7A3CFC2BA4AD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3683000" y="1518782"/>
            <a:ext cx="5461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84A1A1-9BF8-4626-8831-6E80F4C6AF9A}" type="datetime'''''P''''''''''''r''''''oj''''''''''''e''''c''''''''''t'''''">
              <a:rPr lang="en-US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Project</a:t>
            </a:fld>
            <a:endParaRPr lang="en-US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988A16-4075-446A-BDAE-FE4BE6BE36C9}"/>
              </a:ext>
            </a:extLst>
          </p:cNvPr>
          <p:cNvSpPr txBox="1"/>
          <p:nvPr/>
        </p:nvSpPr>
        <p:spPr>
          <a:xfrm>
            <a:off x="3957714" y="1988251"/>
            <a:ext cx="1477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УКП</a:t>
            </a:r>
            <a:r>
              <a:rPr lang="en-US" kumimoji="0" sz="12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FTE</a:t>
            </a:r>
            <a:br>
              <a:rPr kumimoji="0" lang="ru-RU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E8E8E8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98%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200" b="1" i="0" u="none" strike="noStrike" kern="1200" cap="none" spc="0" normalizeH="0" baseline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95%</a:t>
            </a:r>
          </a:p>
        </p:txBody>
      </p:sp>
    </p:spTree>
    <p:extLst>
      <p:ext uri="{BB962C8B-B14F-4D97-AF65-F5344CB8AC3E}">
        <p14:creationId xmlns:p14="http://schemas.microsoft.com/office/powerpoint/2010/main" val="7576090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45198CCB-CAC7-4E96-94CF-E81AAA7978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0" imgW="395" imgH="394" progId="TCLayout.ActiveDocument.1">
                  <p:embed/>
                </p:oleObj>
              </mc:Choice>
              <mc:Fallback>
                <p:oleObj name="think-cell Slide" r:id="rId70" imgW="395" imgH="394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5198CCB-CAC7-4E96-94CF-E81AAA7978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B32245ED-C725-40BD-9C91-DEDDB00039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8300" y="228600"/>
            <a:ext cx="10591800" cy="660400"/>
          </a:xfrm>
        </p:spPr>
        <p:txBody>
          <a:bodyPr anchor="t">
            <a:normAutofit/>
          </a:bodyPr>
          <a:lstStyle/>
          <a:p>
            <a:r>
              <a:rPr lang="ru-RU" sz="2400" b="1">
                <a:solidFill>
                  <a:srgbClr val="000000"/>
                </a:solidFill>
                <a:latin typeface="+mj-lt"/>
              </a:rPr>
              <a:t>Динамика резервов на отпуска </a:t>
            </a:r>
            <a:r>
              <a:rPr lang="en-US" sz="2400" b="1">
                <a:solidFill>
                  <a:srgbClr val="000000"/>
                </a:solidFill>
                <a:latin typeface="+mj-lt"/>
              </a:rPr>
              <a:t>Admin PEX</a:t>
            </a:r>
            <a:endParaRPr lang="ru-RU" sz="2400" b="1">
              <a:solidFill>
                <a:srgbClr val="000000"/>
              </a:solidFill>
              <a:latin typeface="+mj-lt"/>
            </a:endParaRPr>
          </a:p>
        </p:txBody>
      </p:sp>
      <p:sp>
        <p:nvSpPr>
          <p:cNvPr id="8" name="Номер слайда 3">
            <a:extLst>
              <a:ext uri="{FF2B5EF4-FFF2-40B4-BE49-F238E27FC236}">
                <a16:creationId xmlns:a16="http://schemas.microsoft.com/office/drawing/2014/main" id="{44D9FD44-C1E4-4B11-AC52-35AE0C460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74252" y="6429889"/>
            <a:ext cx="625661" cy="199509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F2AE68-28B4-4B40-8AA4-3365A0AE6865}" type="slidenum">
              <a:rPr lang="ru-RU" kumimoji="0" sz="900" b="0" i="0" u="none" strike="noStrike" kern="1200" cap="none" spc="0" normalizeH="0" baseline="0" smtClean="0">
                <a:solidFill>
                  <a:srgbClr val="000000"/>
                </a:solidFill>
                <a:latin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lang="ru-RU" kumimoji="0" sz="900" b="0" i="0" u="none" strike="noStrike" kern="1200" cap="none" spc="0" normalizeH="0" baseline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AD5B0-D4EC-4753-A91F-D726B6688734}"/>
              </a:ext>
            </a:extLst>
          </p:cNvPr>
          <p:cNvSpPr txBox="1"/>
          <p:nvPr/>
        </p:nvSpPr>
        <p:spPr>
          <a:xfrm>
            <a:off x="371985" y="1037200"/>
            <a:ext cx="7140575" cy="3077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Динамика резервов на отпуска 2026 </a:t>
            </a:r>
            <a:r>
              <a:rPr lang="en-US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vs 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</a:t>
            </a: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lang="ru-RU" kumimoji="0" sz="14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дни</a:t>
            </a:r>
          </a:p>
        </p:txBody>
      </p: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69160662-EC69-4545-A528-91C8D383DE5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507556" y="1820863"/>
          <a:ext cx="8649398" cy="193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2"/>
          </a:graphicData>
        </a:graphic>
      </p:graphicFrame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29826C4-F0E0-451D-BADC-430DA822152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127621" y="2994025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DE3460F8-D0DA-4C59-BCEA-40415488EDFF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V="1">
            <a:off x="7127621" y="3219450"/>
            <a:ext cx="0" cy="2063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FFE79DC7-8472-4C55-BDFC-6B624B70B8B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H="1">
            <a:off x="8505380" y="2722563"/>
            <a:ext cx="2063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663B8480-C344-4033-93BD-341244E16593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9160510" y="2722563"/>
            <a:ext cx="20637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Прямоугольник 74">
            <a:extLst>
              <a:ext uri="{FF2B5EF4-FFF2-40B4-BE49-F238E27FC236}">
                <a16:creationId xmlns:a16="http://schemas.microsoft.com/office/drawing/2014/main" id="{7726BD7B-136C-430C-8D74-EA1F15D4B937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926782" y="3719513"/>
            <a:ext cx="5984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93675F-BA0B-409A-A873-3EAEA7DED6A0}" type="datetime'''''Я''''''''''''''''н''в''''''''''''''''а''''''''''р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Январь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59877593-E021-4743-B552-AECB2F47C0B8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1662684" y="3379788"/>
            <a:ext cx="4381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FBE4265-4276-4BB7-B6D2-A406D374A178}" type="datetime'''2''''''''''.52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2.520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9DD11E1F-7C6E-4841-B58E-F26F60E9C4D0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1656334" y="2025650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754CD2-2E6B-46D2-BD27-C9403A36AA05}" type="datetime'''''4''''''''''.''''9''''8''''''''''''''''''5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4.985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4CEC7A33-D398-4E84-8CA8-91ACC673C935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524572" y="3719513"/>
            <a:ext cx="7143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A066B0-3589-4719-B9E3-4B7A61333553}" type="datetime'''''''''''''''''Ф''''''е''''''''''''''в''''р''''а''л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Февраль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7" name="Прямоугольник 166">
            <a:extLst>
              <a:ext uri="{FF2B5EF4-FFF2-40B4-BE49-F238E27FC236}">
                <a16:creationId xmlns:a16="http://schemas.microsoft.com/office/drawing/2014/main" id="{5D40BF5A-7C2E-4324-8E24-6BD80F868138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2332102" y="3303588"/>
            <a:ext cx="4095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550FDD0-8935-4A71-86B6-B6B304E7B080}" type="datetime'''''''''''''2''''''.''''''''''''''''''''''''714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2.714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0" name="Прямоугольник 149">
            <a:extLst>
              <a:ext uri="{FF2B5EF4-FFF2-40B4-BE49-F238E27FC236}">
                <a16:creationId xmlns:a16="http://schemas.microsoft.com/office/drawing/2014/main" id="{41D788EE-66A8-49C6-B81A-CBD8B74E8892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2333498" y="1951038"/>
            <a:ext cx="4079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C62645A-43CF-4183-99CA-DC7F3EEB6580}" type="datetime'5''''''.''''''17''''''''''''4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5.174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E1B5120F-9FFB-4ACB-A6D8-F2F9D2F71C9A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2325560" y="3719513"/>
            <a:ext cx="42386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A675AA-A970-45FE-840E-16EA783A9709}" type="datetime'''''''''''''''''''''''''''''''''''Ма''''р''т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Март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1" name="Прямоугольник 170">
            <a:extLst>
              <a:ext uri="{FF2B5EF4-FFF2-40B4-BE49-F238E27FC236}">
                <a16:creationId xmlns:a16="http://schemas.microsoft.com/office/drawing/2014/main" id="{FC4046D0-CF35-4A54-A53B-779C8C7581CF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2972371" y="3238500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BFA7B23-6F6C-437A-ACF0-6CD8A75357B3}" type="datetime'''''''''''''''''''''''''''''''''''''''''''''''2.8''''''7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1" name="Прямоугольник 150">
            <a:extLst>
              <a:ext uri="{FF2B5EF4-FFF2-40B4-BE49-F238E27FC236}">
                <a16:creationId xmlns:a16="http://schemas.microsoft.com/office/drawing/2014/main" id="{C8321F44-74DF-4777-8F81-A0101DF17302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2996184" y="1893888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34EC14-3BCA-42E4-BD1F-BBBFD5EB48BC}" type="datetime'''''5''''''''''''''''''.''''''3''''1''''''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5.319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EF55518-A08C-4AC1-9CDB-112B23601A14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2888425" y="3719513"/>
            <a:ext cx="6096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E5843C-21D2-43AC-A57A-86E8D4B7BE26}" type="datetime'''Апр''''''''''''''''''е''''''''''л''ь''''''''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Апрель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9" name="Прямоугольник 168">
            <a:extLst>
              <a:ext uri="{FF2B5EF4-FFF2-40B4-BE49-F238E27FC236}">
                <a16:creationId xmlns:a16="http://schemas.microsoft.com/office/drawing/2014/main" id="{EB8E6F3A-97EC-431A-84CE-67FB6840A36C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3622738" y="3155950"/>
            <a:ext cx="4524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3379BD-933C-49A1-8CD0-882668246F79}" type="datetime'''''''''''''''''''3.''08''''''''''''''9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3.089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19D36DCC-9CCF-44BD-A25F-8C68DCE50202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3638613" y="1811338"/>
            <a:ext cx="4206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3213D1A-51AE-4AB2-ABA7-CB661A333EC3}" type="datetime'5''''''''''''''''''''.''''''''''''5''3''''''''''2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8DD0257F-A5E8-41CD-BD20-361624450885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672142" y="3719513"/>
            <a:ext cx="352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0BD22C-D20A-4109-BCE6-C02D77A77CE2}" type="datetime'М''''''''''''''''''''''''''''''''ай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Май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2" name="Прямоугольник 171">
            <a:extLst>
              <a:ext uri="{FF2B5EF4-FFF2-40B4-BE49-F238E27FC236}">
                <a16:creationId xmlns:a16="http://schemas.microsoft.com/office/drawing/2014/main" id="{71A01645-1293-4FF5-8A69-90D5BCEFA9D1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4287013" y="3178175"/>
            <a:ext cx="4365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E09685-6705-4769-A5D3-F4470A856FF1}" type="datetime'''''''''''''''''''''''''''''3''''''.''''''''''''''''03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2C6EB692-CD30-401D-8C12-81EE6A63ED7E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282249" y="182086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FC8EAC-5997-44DE-B9DF-6CCE62B30F11}" type="datetime'''''''''''''''''5''.''''''''''''''5''''''0''''''''''8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5.508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D513218-5FDC-4B5A-B367-2F642B1BD6C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4275899" y="3719513"/>
            <a:ext cx="45878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E15660A-3AEE-4826-9F8A-C4CA4A99846D}" type="datetime'''''Ию''''''''''''''''''''''''''''''''''''''''н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Июнь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3" name="Прямоугольник 172">
            <a:extLst>
              <a:ext uri="{FF2B5EF4-FFF2-40B4-BE49-F238E27FC236}">
                <a16:creationId xmlns:a16="http://schemas.microsoft.com/office/drawing/2014/main" id="{8AD674DA-B018-45B4-A525-050DD921E04F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42333" y="317817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B2089BB-BFB4-43F0-9DDE-A3132DF523CB}" type="datetime'3''''''''.''''''''''''03''''''5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3.035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Прямоугольник 153">
            <a:extLst>
              <a:ext uri="{FF2B5EF4-FFF2-40B4-BE49-F238E27FC236}">
                <a16:creationId xmlns:a16="http://schemas.microsoft.com/office/drawing/2014/main" id="{F96255E0-EBB9-4904-99D5-D41A55BB8AD4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4937379" y="2035175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C73D3FB-723B-4DF9-A174-335BB3D28A94}" type="datetime'''4.''''''''''''''''''9''''''''59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4.959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E6BEAA3E-2954-4B1C-9603-3156CCFB2E0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4934204" y="3719513"/>
            <a:ext cx="4524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D1412C-EFDE-4CB4-A56B-FF13D33A1CCB}" type="datetime'''''''''''''''''''''И''ю''''''''''л''''''''''ь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Июль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5" name="Прямоугольник 164">
            <a:extLst>
              <a:ext uri="{FF2B5EF4-FFF2-40B4-BE49-F238E27FC236}">
                <a16:creationId xmlns:a16="http://schemas.microsoft.com/office/drawing/2014/main" id="{FDE9E720-F5A4-4A32-86FA-2B953EF17859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5598669" y="3260725"/>
            <a:ext cx="43497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850CAC3-056B-4693-BD8F-3DE25CCD3592}" type="datetime'2''''''''''''''''''''''''''''''''''''.8''2''2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2.822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B4B20133-8D77-4106-9547-E0528F693B76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5619115" y="2749550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EBBF051-494F-47CA-A615-8AAE57DB518C}" type="datetime'''3''''''.13''''''''9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3.139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1" name="Прямоугольник 80">
            <a:extLst>
              <a:ext uri="{FF2B5EF4-FFF2-40B4-BE49-F238E27FC236}">
                <a16:creationId xmlns:a16="http://schemas.microsoft.com/office/drawing/2014/main" id="{ECC013C8-C010-4CAA-91E7-B4EAE5757F6A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5549456" y="3719513"/>
            <a:ext cx="5334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3C7D70-B858-4289-A31A-0E439FE34975}" type="datetime'А''''в''''''''''г''''''''у''''''''с''''''''''''''''т''''''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Август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4" name="Прямоугольник 173">
            <a:extLst>
              <a:ext uri="{FF2B5EF4-FFF2-40B4-BE49-F238E27FC236}">
                <a16:creationId xmlns:a16="http://schemas.microsoft.com/office/drawing/2014/main" id="{ED7F6AEE-C56B-413B-9245-B8A96C1C0B9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248844" y="28940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D889EB-BD38-4AD5-B2E6-CDA178480799}" type="datetime'''''''2''''.''''''''''''''''''7''''''''''''''''7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2.770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4447913-FDD3-452E-8A7C-E2638CC9F73D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6247257" y="3324225"/>
            <a:ext cx="44926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0F8D95-6A99-42C0-AF27-41E0CD031A0E}" type="datetime'2''.''''''''6''''''''''''''''60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2.660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3F5F4875-4A8E-454C-B890-DF6DD4BC9CAE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6085332" y="3719513"/>
            <a:ext cx="7731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4F12790-3916-4EAF-AAC0-4FFAAA0126B1}" type="datetime'''''''''''''''С''''''''''ен''тя''''''''''''б''''''р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Сентябрь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C70CDA3B-3E06-46FA-ADBC-D65D9C320DE2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914705" y="2828925"/>
            <a:ext cx="4270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27344FC-DDE2-4690-97BA-1DF4743FE0C9}" type="datetime'''''''''''2''''.''''9''''''''''''35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2.935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6" name="Прямоугольник 165">
            <a:extLst>
              <a:ext uri="{FF2B5EF4-FFF2-40B4-BE49-F238E27FC236}">
                <a16:creationId xmlns:a16="http://schemas.microsoft.com/office/drawing/2014/main" id="{01C3DDA2-4DEF-4594-8C91-0BA477284B59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359092" y="3509963"/>
            <a:ext cx="4429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703C317-DC32-422C-84B2-8A1AF8306066}" type="datetime'''''''''''''2''''.''06''''''''''''5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2.065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602E54FF-02FB-4754-A240-9432FB22292A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6902196" y="3240088"/>
            <a:ext cx="4508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46075D-2057-4DA3-9628-9EFE52F23324}" type="datetime'''''''''''''2''''''''''''''''''''''.''''''87''4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2.874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04101FE-CD12-4092-B863-1F1E0FDD00A2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70776" y="2462213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7A6BC9-7D42-4E25-9A1E-F508E020A0D0}" type="datetime'3''''.''''8''03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A7CC30C3-8EDE-492A-98F7-E4E4A0140B40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784721" y="3719513"/>
            <a:ext cx="6858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C6C8B-490D-40B8-8998-B8D01EAEFE24}" type="datetime'''О''к''т''''''''''''''''''''''''''''я''б''р''''''''''''ь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Октябрь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6" name="Прямоугольник 175">
            <a:extLst>
              <a:ext uri="{FF2B5EF4-FFF2-40B4-BE49-F238E27FC236}">
                <a16:creationId xmlns:a16="http://schemas.microsoft.com/office/drawing/2014/main" id="{F69D31B7-B93F-4408-85E0-0030B8FE965D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7582726" y="2727325"/>
            <a:ext cx="400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98D1032-B7A9-4E3B-AB95-7B05357A8872}" type="datetime'''3''.''''''''''''''''''''1''''''''''97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72477DF7-18BC-4AFF-AEAF-660F38A66D1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278797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D8C7BD1-5F94-4DA7-BDF3-63F575E1E916}" type="datetime'''''''''Ост''ат''ок на на''ч''а''л''''''''о'''' ''''''''года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начало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CE168C9B-9191-4241-BE45-4C675A71EB57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474585" y="3719513"/>
            <a:ext cx="6175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AB7D175-12A4-441A-BC7A-33D376268122}" type="datetime'''Н''''''''''''''о''''яб''''''р''''''''''''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Ноябрь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7" name="Прямоугольник 176">
            <a:extLst>
              <a:ext uri="{FF2B5EF4-FFF2-40B4-BE49-F238E27FC236}">
                <a16:creationId xmlns:a16="http://schemas.microsoft.com/office/drawing/2014/main" id="{BF039152-F9FF-407C-896A-AB195408BBCB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8216646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C1E9D8-2D41-44B0-8700-93D88D6B914A}" type="datetime'''3''''''''''.''''''''''''''''''803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 useBgFill="1">
        <p:nvSpPr>
          <p:cNvPr id="159" name="Прямоугольник 158">
            <a:extLst>
              <a:ext uri="{FF2B5EF4-FFF2-40B4-BE49-F238E27FC236}">
                <a16:creationId xmlns:a16="http://schemas.microsoft.com/office/drawing/2014/main" id="{9CBAFD68-F482-4ADD-83EC-7E35EEBC17B6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8476107" y="2525713"/>
            <a:ext cx="395288" cy="165100"/>
          </a:xfrm>
          <a:prstGeom prst="rect">
            <a:avLst/>
          </a:prstGeom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210A2-B542-4CA1-AFE8-3A68082B6AD3}" type="datetime'''''3.''''''''''''''''''''''''9''''''13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9C76CA0B-D88A-43BE-A70E-18FDF9FA713A}"/>
              </a:ext>
            </a:extLst>
          </p:cNvPr>
          <p:cNvSpPr/>
          <p:nvPr>
            <p:custDataLst>
              <p:tags r:id="rId42"/>
            </p:custDataLst>
          </p:nvPr>
        </p:nvSpPr>
        <p:spPr bwMode="gray">
          <a:xfrm>
            <a:off x="1006157" y="3497263"/>
            <a:ext cx="4397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4A6FC22-4DA4-41B8-8421-7D610D178FD6}" type="datetime'2''.''22''''''''''''''''''''''''''''''0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2.220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4B79C3A0-C9BF-4330-A0E1-F1966720A221}"/>
              </a:ext>
            </a:extLst>
          </p:cNvPr>
          <p:cNvSpPr/>
          <p:nvPr>
            <p:custDataLst>
              <p:tags r:id="rId43"/>
            </p:custDataLst>
          </p:nvPr>
        </p:nvSpPr>
        <p:spPr bwMode="gray">
          <a:xfrm>
            <a:off x="7585710" y="3114675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1A46D3C-DADA-448D-9D1F-5215198D9168}" type="datetime'''''''3''''''.''''''''''''''''''''''1''''''9''''''''''''5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3.195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F13FFABF-8D9D-498A-9EFA-1F80C95AEA3B}"/>
              </a:ext>
            </a:extLst>
          </p:cNvPr>
          <p:cNvSpPr/>
          <p:nvPr>
            <p:custDataLst>
              <p:tags r:id="rId44"/>
            </p:custDataLst>
          </p:nvPr>
        </p:nvSpPr>
        <p:spPr bwMode="gray">
          <a:xfrm>
            <a:off x="8871775" y="2876550"/>
            <a:ext cx="4460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9ABCEAB-58D6-4D46-8FC9-B4FBB2AE9CA4}" type="datetime'''''''''''3''''''''''''''''.''8''''''0''''''''''''''''''3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3.803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66F408D1-1911-4122-B947-DE54A9248CFF}"/>
              </a:ext>
            </a:extLst>
          </p:cNvPr>
          <p:cNvSpPr/>
          <p:nvPr>
            <p:custDataLst>
              <p:tags r:id="rId45"/>
            </p:custDataLst>
          </p:nvPr>
        </p:nvSpPr>
        <p:spPr bwMode="gray">
          <a:xfrm>
            <a:off x="9131236" y="2525713"/>
            <a:ext cx="3952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EA27193-225E-4A5B-BB02-FD2107FC82ED}" type="datetime'''3''''''''''''''''''''''.9''''''''''''1''''''''''3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3.913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8" name="Прямоугольник 147">
            <a:extLst>
              <a:ext uri="{FF2B5EF4-FFF2-40B4-BE49-F238E27FC236}">
                <a16:creationId xmlns:a16="http://schemas.microsoft.com/office/drawing/2014/main" id="{4BAE2088-3A7A-4A66-A26A-4048FDA345E1}"/>
              </a:ext>
            </a:extLst>
          </p:cNvPr>
          <p:cNvSpPr/>
          <p:nvPr>
            <p:custDataLst>
              <p:tags r:id="rId46"/>
            </p:custDataLst>
          </p:nvPr>
        </p:nvSpPr>
        <p:spPr bwMode="gray">
          <a:xfrm>
            <a:off x="993457" y="2220913"/>
            <a:ext cx="46513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3AF32D-43C6-4482-B230-C3D13C513DA3}" type="datetime'''''4''''''''''''''''''''''''.''''''''''''''''4''''''''8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4.486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340DAF8D-6E43-4292-ACB1-0796E9A1B764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8802719" y="3719513"/>
            <a:ext cx="584200" cy="5476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9139AAD-13E9-4445-B60D-175B00CE57B2}" type="datetime'О''''с''т''ато''''к'''''' ''на'' ''''кон''''е''ц'' г''о''да''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Остаток на конец года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B1BF5C66-ADA3-41FB-8A3A-B97F033CF015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8091424" y="3719513"/>
            <a:ext cx="695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99DFAC-71FD-48ED-8772-8F1B676890E9}" type="datetime'''''Дек''''''''''а''''''''''б''''''''''р''''''''''''ь'">
              <a:rPr lang="ru-RU" kumimoji="0" sz="9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Декабрь</a:t>
            </a:fld>
            <a:endParaRPr lang="ru-RU" kumimoji="0" sz="9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98" name="Прямая соединительная линия 197">
            <a:extLst>
              <a:ext uri="{FF2B5EF4-FFF2-40B4-BE49-F238E27FC236}">
                <a16:creationId xmlns:a16="http://schemas.microsoft.com/office/drawing/2014/main" id="{058442B3-D21C-4199-8E5B-7C6CFB0801A6}"/>
              </a:ext>
            </a:extLst>
          </p:cNvPr>
          <p:cNvCxnSpPr/>
          <p:nvPr>
            <p:custDataLst>
              <p:tags r:id="rId49"/>
            </p:custDataLst>
          </p:nvPr>
        </p:nvCxnSpPr>
        <p:spPr bwMode="gray">
          <a:xfrm>
            <a:off x="460375" y="1489075"/>
            <a:ext cx="296863" cy="0"/>
          </a:xfrm>
          <a:prstGeom prst="line">
            <a:avLst/>
          </a:prstGeom>
          <a:ln w="28575" cap="rnd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9" name="Прямая соединительная линия 198">
            <a:extLst>
              <a:ext uri="{FF2B5EF4-FFF2-40B4-BE49-F238E27FC236}">
                <a16:creationId xmlns:a16="http://schemas.microsoft.com/office/drawing/2014/main" id="{436D1145-95AD-4BAF-B153-A00F97FAE4C0}"/>
              </a:ext>
            </a:extLst>
          </p:cNvPr>
          <p:cNvCxnSpPr/>
          <p:nvPr>
            <p:custDataLst>
              <p:tags r:id="rId50"/>
            </p:custDataLst>
          </p:nvPr>
        </p:nvCxnSpPr>
        <p:spPr bwMode="gray">
          <a:xfrm>
            <a:off x="1306512" y="1489075"/>
            <a:ext cx="296863" cy="0"/>
          </a:xfrm>
          <a:prstGeom prst="line">
            <a:avLst/>
          </a:prstGeom>
          <a:ln w="28575" cap="rnd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2" name="Ромб 201">
            <a:extLst>
              <a:ext uri="{FF2B5EF4-FFF2-40B4-BE49-F238E27FC236}">
                <a16:creationId xmlns:a16="http://schemas.microsoft.com/office/drawing/2014/main" id="{70036F63-13AC-4206-B8A6-9416619F49CB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57212" y="1438275"/>
            <a:ext cx="101600" cy="101600"/>
          </a:xfrm>
          <a:prstGeom prst="diamond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3" name="Ромб 202">
            <a:extLst>
              <a:ext uri="{FF2B5EF4-FFF2-40B4-BE49-F238E27FC236}">
                <a16:creationId xmlns:a16="http://schemas.microsoft.com/office/drawing/2014/main" id="{1B4E199A-F282-4B38-9D53-756AB2CDF354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1403350" y="1438275"/>
            <a:ext cx="101600" cy="101600"/>
          </a:xfrm>
          <a:prstGeom prst="diamond">
            <a:avLst/>
          </a:prstGeom>
          <a:solidFill>
            <a:srgbClr val="FF452C"/>
          </a:solidFill>
          <a:ln w="9525" cap="flat" cmpd="sng" algn="ctr">
            <a:solidFill>
              <a:srgbClr val="FF452C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DA9CE187-493D-4E37-BDCA-845701A9A6D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822325" y="1404938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FABB035-4285-48E8-B255-F21162CEBB7F}" type="datetime'''''''''''''''''''''''2''0''''''''''''''''''''2''''''''''6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191B661-0ED5-4F78-8C25-024423F7B5CA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1668463" y="1404938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2F1083E-BE73-4471-8105-F67EB6BD88DF}" type="datetime'20''2''''''''''''''''''7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215" name="Таблица 214">
            <a:extLst>
              <a:ext uri="{FF2B5EF4-FFF2-40B4-BE49-F238E27FC236}">
                <a16:creationId xmlns:a16="http://schemas.microsoft.com/office/drawing/2014/main" id="{57A8F848-5A79-4256-9E11-93CFA5A33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449728"/>
              </p:ext>
            </p:extLst>
          </p:nvPr>
        </p:nvGraphicFramePr>
        <p:xfrm>
          <a:off x="9626600" y="1066800"/>
          <a:ext cx="2184400" cy="2393950"/>
        </p:xfrm>
        <a:graphic>
          <a:graphicData uri="http://schemas.openxmlformats.org/drawingml/2006/table">
            <a:tbl>
              <a:tblPr/>
              <a:tblGrid>
                <a:gridCol w="723900">
                  <a:extLst>
                    <a:ext uri="{9D8B030D-6E8A-4147-A177-3AD203B41FA5}">
                      <a16:colId xmlns:a16="http://schemas.microsoft.com/office/drawing/2014/main" val="273598262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497454657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89077302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Год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2026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2027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361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январь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5,6%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385565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февраль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8272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март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4,3%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522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апрель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0244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май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7,4%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2750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июнь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0,4%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-0,2%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39793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июль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-3,2%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-5,1%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20462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август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-17,0%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6119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сентябрь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1,8%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-4,5%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361513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октябрь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2,7%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2,0%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32342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ноябрь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2,9%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3,0%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83439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0000500000000000000" pitchFamily="2" charset="-52"/>
                        </a:rPr>
                        <a:t>декабрь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3,6%</a:t>
                      </a: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ru-RU" sz="105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6,7%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0331541"/>
                  </a:ext>
                </a:extLst>
              </a:tr>
            </a:tbl>
          </a:graphicData>
        </a:graphic>
      </p:graphicFrame>
      <p:sp>
        <p:nvSpPr>
          <p:cNvPr id="225" name="TextBox 224">
            <a:extLst>
              <a:ext uri="{FF2B5EF4-FFF2-40B4-BE49-F238E27FC236}">
                <a16:creationId xmlns:a16="http://schemas.microsoft.com/office/drawing/2014/main" id="{807CB5F2-0937-4F65-9F03-CB1E80A3E015}"/>
              </a:ext>
            </a:extLst>
          </p:cNvPr>
          <p:cNvSpPr txBox="1"/>
          <p:nvPr/>
        </p:nvSpPr>
        <p:spPr>
          <a:xfrm>
            <a:off x="6116184" y="4377722"/>
            <a:ext cx="558800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В течение 2026 года ожидается рост резервов на отпуск, что связано, в первую очередь, с наймом новых сотрудников, которые еще не приобрели право на отпуск в 2026 году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kumimoji="0" sz="1200" b="0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2027 год запланирован без прироста среднего количества дней на человека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3FFD84D9-84D7-4CC8-B1A8-7AE830D408C1}"/>
              </a:ext>
            </a:extLst>
          </p:cNvPr>
          <p:cNvSpPr txBox="1"/>
          <p:nvPr/>
        </p:nvSpPr>
        <p:spPr>
          <a:xfrm>
            <a:off x="369887" y="4265277"/>
            <a:ext cx="5671771" cy="523220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kumimoji="0" sz="1400" b="1" i="0" u="none" strike="noStrike" kern="1200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Распределение сотрудников с неиспользованными отпусками на конец года</a:t>
            </a:r>
          </a:p>
        </p:txBody>
      </p:sp>
      <p:graphicFrame>
        <p:nvGraphicFramePr>
          <p:cNvPr id="207" name="Chart 3">
            <a:extLst>
              <a:ext uri="{FF2B5EF4-FFF2-40B4-BE49-F238E27FC236}">
                <a16:creationId xmlns:a16="http://schemas.microsoft.com/office/drawing/2014/main" id="{1E11D37A-D88D-42BA-AE3E-68C3FE669B32}"/>
              </a:ext>
            </a:extLst>
          </p:cNvPr>
          <p:cNvGraphicFramePr/>
          <p:nvPr>
            <p:custDataLst>
              <p:tags r:id="rId55"/>
            </p:custDataLst>
            <p:extLst>
              <p:ext uri="{D42A27DB-BD31-4B8C-83A1-F6EECF244321}">
                <p14:modId xmlns:p14="http://schemas.microsoft.com/office/powerpoint/2010/main" val="2151241400"/>
              </p:ext>
            </p:extLst>
          </p:nvPr>
        </p:nvGraphicFramePr>
        <p:xfrm>
          <a:off x="303213" y="5153002"/>
          <a:ext cx="5830887" cy="927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3"/>
          </a:graphicData>
        </a:graphic>
      </p:graphicFrame>
      <p:sp>
        <p:nvSpPr>
          <p:cNvPr id="251" name="Прямоугольник 250">
            <a:extLst>
              <a:ext uri="{FF2B5EF4-FFF2-40B4-BE49-F238E27FC236}">
                <a16:creationId xmlns:a16="http://schemas.microsoft.com/office/drawing/2014/main" id="{8367E371-C7CE-4C03-810A-C3A7FE360F3D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900112" y="5908929"/>
            <a:ext cx="8604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041CA6B-1FEA-43EF-941B-8ABFB75E33C2}" type="datetime'''41''-''''''''''''''''''''''6''''''0'' ''д''''н''ей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41-60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3" name="Прямоугольник 252">
            <a:extLst>
              <a:ext uri="{FF2B5EF4-FFF2-40B4-BE49-F238E27FC236}">
                <a16:creationId xmlns:a16="http://schemas.microsoft.com/office/drawing/2014/main" id="{9BFE9603-6BD7-46F7-9046-0AA7863E38BA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759075" y="5908929"/>
            <a:ext cx="9175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73C843F-B3DE-4EDD-9084-F127865DC498}" type="datetime'''61''''''''''''''-10''0'''' ''''''''''д''''н''''''''''ей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61-100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4" name="Прямоугольник 253">
            <a:extLst>
              <a:ext uri="{FF2B5EF4-FFF2-40B4-BE49-F238E27FC236}">
                <a16:creationId xmlns:a16="http://schemas.microsoft.com/office/drawing/2014/main" id="{FD22412F-27FA-4A05-A949-049EF00F80D4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4730750" y="5908929"/>
            <a:ext cx="75247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734856-C337-4F2E-BB41-48C7380BB8E1}" type="datetime'1''''''0''''''1''''''''''+'''' дн''''''''е''''й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101+ дней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11E9CCD6-697A-40CB-875B-22DD8F62E3DA}"/>
              </a:ext>
            </a:extLst>
          </p:cNvPr>
          <p:cNvSpPr/>
          <p:nvPr>
            <p:custDataLst>
              <p:tags r:id="rId59"/>
            </p:custDataLst>
          </p:nvPr>
        </p:nvSpPr>
        <p:spPr bwMode="gray">
          <a:xfrm>
            <a:off x="159385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C09ABC3-1D43-4B74-9ACA-245484E15F38}" type="datetime'''0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6EB6F67F-4B40-407C-916A-C618D59F5E39}"/>
              </a:ext>
            </a:extLst>
          </p:cNvPr>
          <p:cNvSpPr/>
          <p:nvPr>
            <p:custDataLst>
              <p:tags r:id="rId60"/>
            </p:custDataLst>
          </p:nvPr>
        </p:nvSpPr>
        <p:spPr bwMode="gray">
          <a:xfrm>
            <a:off x="2806700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7B8A52-B795-4844-9484-B8BDB551B28B}" type="datetime'''''''''''0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DB810767-2BC7-4EEC-8F89-6298C62921CD}"/>
              </a:ext>
            </a:extLst>
          </p:cNvPr>
          <p:cNvSpPr/>
          <p:nvPr>
            <p:custDataLst>
              <p:tags r:id="rId61"/>
            </p:custDataLst>
          </p:nvPr>
        </p:nvSpPr>
        <p:spPr bwMode="gray">
          <a:xfrm>
            <a:off x="3481388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30205A-170F-44DB-8DE6-6CF859D90B28}" type="datetime'''''''''''''''''''''''''''''''''0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DF0911E4-82DC-411E-BE3E-25F58BE9A9B8}"/>
              </a:ext>
            </a:extLst>
          </p:cNvPr>
          <p:cNvSpPr/>
          <p:nvPr>
            <p:custDataLst>
              <p:tags r:id="rId62"/>
            </p:custDataLst>
          </p:nvPr>
        </p:nvSpPr>
        <p:spPr bwMode="gray">
          <a:xfrm>
            <a:off x="4695825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90257-22D5-455A-85B5-3D16F481BC2E}" type="datetime'''''''''''''''''''''''''''''''''''''''''0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77438B5D-2BD3-48F3-8490-E57B5AEE6FFD}"/>
              </a:ext>
            </a:extLst>
          </p:cNvPr>
          <p:cNvSpPr/>
          <p:nvPr>
            <p:custDataLst>
              <p:tags r:id="rId63"/>
            </p:custDataLst>
          </p:nvPr>
        </p:nvSpPr>
        <p:spPr bwMode="gray">
          <a:xfrm>
            <a:off x="5370513" y="5755140"/>
            <a:ext cx="146050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7DD57A-8464-4783-BB04-4BE375AA2DD6}" type="datetime'''''''''''''''''''0''''''''''''''''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7" name="Прямоугольник 276">
            <a:extLst>
              <a:ext uri="{FF2B5EF4-FFF2-40B4-BE49-F238E27FC236}">
                <a16:creationId xmlns:a16="http://schemas.microsoft.com/office/drawing/2014/main" id="{6081C616-5ABC-441E-A1E5-379217062E38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446087" y="4854552"/>
            <a:ext cx="214313" cy="160338"/>
          </a:xfrm>
          <a:prstGeom prst="rect">
            <a:avLst/>
          </a:prstGeom>
          <a:solidFill>
            <a:srgbClr val="D6D7D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B9868070-0F19-4D56-A1BF-31E510C74943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1181100" y="4854552"/>
            <a:ext cx="214313" cy="16033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kumimoji="0" sz="1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B2FB4F8D-4875-4B09-BFE1-39BD81E68D61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711200" y="4849789"/>
            <a:ext cx="368300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4331EA-40A0-444A-BD37-C5E520AA3017}" type="datetime'''''''''2''''0''''''''''2''''''''6''''''''''''''''''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EF0DEA67-02E8-4F81-9389-E229C66F0829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446212" y="4849789"/>
            <a:ext cx="3667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2663475-1665-4B53-866A-67665FDAFA7A}" type="datetime'''''''''''''''2''''''''''0''''''''''2''''''''''7'''''''''">
              <a:rPr lang="ru-RU" kumimoji="0" sz="1200" b="0" i="0" u="none" strike="noStrike" kern="1200" cap="none" spc="0" normalizeH="0" baseline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2027</a:t>
            </a:fld>
            <a:endParaRPr lang="ru-RU" kumimoji="0" sz="1200" b="0" i="0" u="none" strike="noStrike" kern="1200" cap="none" spc="0" normalizeH="0" baseline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67959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Конкуренты развивают self-service кабинеты </a:t>
            </a:r>
            <a:br>
              <a:rPr lang="ru-RU" dirty="0"/>
            </a:br>
            <a:r>
              <a:rPr lang="ru-RU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en-US" sz="120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APP и web:</a:t>
            </a:r>
            <a:r>
              <a:rPr lang="ru-RU" sz="140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In-store:</a:t>
            </a:r>
            <a:r>
              <a:rPr lang="ru-RU" sz="140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Внешний:</a:t>
            </a:r>
            <a:r>
              <a:rPr lang="ru-RU" sz="140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AI:</a:t>
            </a:r>
            <a:r>
              <a:rPr lang="ru-RU" sz="140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01.09.2025</a:t>
            </a:r>
            <a:r>
              <a:rPr lang="ru-RU" sz="140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13.10.2025</a:t>
            </a:r>
            <a:r>
              <a:rPr lang="ru-RU" sz="140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01.03.2026</a:t>
            </a:r>
            <a:r>
              <a:rPr lang="ru-RU" sz="140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27.03.2026</a:t>
            </a:r>
            <a:r>
              <a:rPr lang="ru-RU" sz="140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>
                <a:solidFill>
                  <a:srgbClr val="000000"/>
                </a:solidFill>
              </a:rPr>
              <a:t>20.04.2026</a:t>
            </a:r>
            <a:r>
              <a:rPr lang="ru-RU" sz="140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4 года</a:t>
            </a:r>
            <a:endParaRPr lang="ru-RU" sz="1600" b="1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Триггеры и акции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Супергео и остатки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Внешние данные — </a:t>
            </a:r>
            <a:r>
              <a:rPr lang="en-US" sz="1400" b="1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Аукцион — </a:t>
            </a:r>
            <a:r>
              <a:rPr lang="en-US" sz="1400" b="1">
                <a:solidFill>
                  <a:srgbClr val="000000"/>
                </a:solidFill>
              </a:rPr>
              <a:t>Q4 2026</a:t>
            </a:r>
            <a:r>
              <a:rPr lang="ru-RU" sz="1400">
                <a:solidFill>
                  <a:srgbClr val="000000"/>
                </a:solidFill>
              </a:rPr>
              <a:t>, автостратегии — </a:t>
            </a:r>
            <a:r>
              <a:rPr lang="en-US" sz="1400" b="1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Сроки — презентация </a:t>
            </a:r>
            <a:r>
              <a:rPr lang="en-US" sz="900">
                <a:solidFill>
                  <a:srgbClr val="6E6E6E"/>
                </a:solidFill>
              </a:rPr>
              <a:t>A</a:t>
            </a:r>
            <a:r>
              <a:rPr lang="en-US" sz="900">
                <a:solidFill>
                  <a:srgbClr val="6E6E6E"/>
                </a:solidFill>
              </a:rPr>
              <a:t>d</a:t>
            </a:r>
            <a:r>
              <a:rPr lang="en-US" sz="900">
                <a:solidFill>
                  <a:srgbClr val="6E6E6E"/>
                </a:solidFill>
              </a:rPr>
              <a:t>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 sz="900">
                <a:solidFill>
                  <a:srgbClr val="6E6E6E"/>
                </a:solidFill>
              </a:rPr>
              <a:t>, октябрь 2026. Описание изменений </a:t>
            </a:r>
            <a:r>
              <a:rPr lang="ru-RU">
                <a:solidFill>
                  <a:srgbClr val="6E6E6E"/>
                </a:solidFill>
              </a:rPr>
              <a:t>на </a:t>
            </a:r>
            <a:r>
              <a:rPr lang="ru-RU" sz="900">
                <a:solidFill>
                  <a:srgbClr val="6E6E6E"/>
                </a:solidFill>
              </a:rPr>
              <a:t>основании стратегии Magnit </a:t>
            </a:r>
            <a:r>
              <a:rPr lang="en-US" sz="900">
                <a:solidFill>
                  <a:srgbClr val="6E6E6E"/>
                </a:solidFill>
              </a:rPr>
              <a:t>AdTech</a:t>
            </a:r>
            <a:r>
              <a:rPr lang="ru-RU" sz="900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>
                <a:solidFill>
                  <a:srgbClr val="6E6E6E"/>
                </a:solidFill>
              </a:rPr>
              <a:t>Сроки — презентация </a:t>
            </a:r>
            <a:r>
              <a:rPr lang="en-US">
                <a:solidFill>
                  <a:srgbClr val="6E6E6E"/>
                </a:solidFill>
              </a:rPr>
              <a:t>A</a:t>
            </a:r>
            <a:r>
              <a:rPr lang="en-US">
                <a:solidFill>
                  <a:srgbClr val="6E6E6E"/>
                </a:solidFill>
              </a:rPr>
              <a:t>d</a:t>
            </a:r>
            <a:r>
              <a:rPr lang="en-US">
                <a:solidFill>
                  <a:srgbClr val="6E6E6E"/>
                </a:solidFill>
              </a:rPr>
              <a:t>T</a:t>
            </a:r>
            <a:r>
              <a:rPr lang="en-US">
                <a:solidFill>
                  <a:srgbClr val="6E6E6E"/>
                </a:solidFill>
              </a:rPr>
              <a:t>ech</a:t>
            </a:r>
            <a:r>
              <a:rPr lang="ru-RU">
                <a:solidFill>
                  <a:srgbClr val="6E6E6E"/>
                </a:solidFill>
              </a:rPr>
              <a:t>, октябрь 2026. Описание изменений на основании стратегии Magnit </a:t>
            </a:r>
            <a:r>
              <a:rPr lang="en-US">
                <a:solidFill>
                  <a:srgbClr val="6E6E6E"/>
                </a:solidFill>
              </a:rPr>
              <a:t>AdTech</a:t>
            </a:r>
            <a:r>
              <a:rPr lang="ru-RU">
                <a:solidFill>
                  <a:srgbClr val="6E6E6E"/>
                </a:solidFill>
              </a:rPr>
              <a:t>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57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KPI Коммерции — </a:t>
            </a:r>
            <a:r>
              <a:rPr lang="ru-RU" sz="1400" b="1">
                <a:solidFill>
                  <a:srgbClr val="000000"/>
                </a:solidFill>
              </a:rPr>
              <a:t>абсолютный прирост</a:t>
            </a:r>
            <a:r>
              <a:rPr lang="ru-RU" sz="140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</a:rPr>
              <a:t>Retail Media Network — </a:t>
            </a:r>
            <a:r>
              <a:rPr lang="ru-RU" sz="1400" b="1">
                <a:solidFill>
                  <a:srgbClr val="000000"/>
                </a:solidFill>
              </a:rPr>
              <a:t>отдельное ЮЛ</a:t>
            </a:r>
            <a:r>
              <a:rPr lang="ru-RU" sz="140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en-US" sz="1400" b="1">
                <a:solidFill>
                  <a:srgbClr val="000000"/>
                </a:solidFill>
              </a:rPr>
              <a:t>Self-service</a:t>
            </a:r>
            <a:r>
              <a:rPr lang="ru-RU" sz="140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59</a:t>
            </a:fld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Инвентарь:</a:t>
            </a:r>
            <a:r>
              <a:rPr lang="ru-RU" sz="1200">
                <a:solidFill>
                  <a:srgbClr val="000000"/>
                </a:solidFill>
              </a:rPr>
              <a:t> новые рекламные места и инструменты — медиа, перформанс, social commerce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Эффективность:</a:t>
            </a:r>
            <a:r>
              <a:rPr lang="ru-RU" sz="120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en-US" sz="1200" b="1">
                <a:solidFill>
                  <a:srgbClr val="000000"/>
                </a:solidFill>
              </a:rPr>
              <a:t>Execution:</a:t>
            </a:r>
            <a:r>
              <a:rPr lang="ru-RU" sz="120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Продажи:</a:t>
            </a:r>
            <a:r>
              <a:rPr lang="ru-RU" sz="120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Объем трейд-бюджетов:</a:t>
            </a:r>
            <a:r>
              <a:rPr lang="ru-RU" sz="120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>
                <a:solidFill>
                  <a:srgbClr val="000000"/>
                </a:solidFill>
              </a:rPr>
              <a:t>Единый КПЭ:</a:t>
            </a:r>
            <a:r>
              <a:rPr lang="ru-RU" sz="120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231180176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Qn1wZpwZH5Up4Gj0wnSw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5Ug5ocG5EL1rAWUaJBEA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3phR2iZkStbtC8Q0X.VA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ROvB62jk.0vlSvJe3D1O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Qh2Hl_ECqiwAtXzmELCl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zxLKWYWqHx61Ew37B8j1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6GNYMUrTVALET2OQQb6Q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fximrvojriy2MgH0aGc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b8s4uZdcm.c4vhTS8CV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nJg2.Mw8xAW_FR5SS1a8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obG.s8ahIbWZbTJ.x73Y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QDeomNKO6CCFRc1Z5e5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1G4xzDr2LSafCIvVQ46t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F9Ab3PYUwWB3rttKyui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WGQtWMZvgFhGELpZlWVA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Y3fo970CJMT1Op4OKXs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o8T50f8HyicQhq7pvOe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lrQP3Wf3vNltQLzaErH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8Z3bsJYwmhAiPxvZeLC5A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QLrXdpqCtgmO8wE1SisQ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8TLaTM13eREwmfhmHk9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XKympIk6yDAaoYoI8Tl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8G8Vr89t2lhbeNI0PmUh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4A8WPnFXf1M0u83ly6uq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D1C3XYoq_QsHhcSxkp3Q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nI1r9Bb21XPxspZEFTg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a5YNbeODudoOCqceBwbU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MpelXBSLn4r0QWIAib3U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X.HRySW0ySn7ItBipZoA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YgUOsf.7RqOq3kTeHtZQ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ZEn5hddEoy29BNoVdtx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bnIvKdmCuth9eDHThMhR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3ygoxHrSocjsh5lVD2.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.3X8vub86_Z.plkJzN0q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_e7d8StBohQ5fxi.U6xa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XtwCDgnakfx_a.QKKbC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jsxLGF4Ostl_P30.EFh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t6iB6ilt9DD.HQYoCnV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Fp6yeSbjSKcqIwlP9BqZ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Bk583GWCeYq8dx23cfP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0v5fxQ.BkMW0SDz4LHTO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rb9Rmv_KgkGIlDTYcAsQ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nrfcEQ3GYGcBsQkU7UPz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WYTWr_OXxDariu2vqb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DcFuMRLJBDAkCFfmOuog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4ItIjYajqGJ37iWPTbZs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pxn5f24ZPTm0t6A.OZv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T5WHfM75Uw66FT6op_O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5d5OZCIfnl3Rw.5t3V0u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AGbvcaLMpeXyjRv_KxE5g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4VYGOOKv.gHxWs5kgP8S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M4xoRqjjBIowxAFk9tBn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DHATUaSm2WYBPks38v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pPIW.UXwoTezHqqVHfUu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xdCZqtnWsYzYj7ipZHZt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2omLHzR6P2VlYQFC1z_.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D.5F.cOYZBeD3RclD96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tKMx_CImG8xJTRN6Jc6Q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JY2vA9DpeJCSb5tyaezh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8h1qFGk.xugVKCPqS.K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RJgOdmAg1HdSzB86bKFg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7vooJsXcpAquCoM1Rr51w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eex6bKufFcJe1L6egJuA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XqZZWQ3HVadeNLA5TmS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IYVpCk6JdhRkHBhUeGtw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vjckcodPx5THpluwItZ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ROvqoDUH_KG_0rPsagj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_muDNuFj7nGpXW.sLjH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xoBrdY19Y0Of5zT5cUx1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a7WAGduOmeQ_pkGCmoPAw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uhfh.feB8OcphZsLrUI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H9hmhRqFWpdLwn5etSr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6zJP5t4U5E8YvEUI5WZ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4ShQd8MwOkrAkq8HZMcw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vysgk5pglkaT9op4Y.C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rRVDr13.TfmUOnD7TexQ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5zZzMcWZ3M.190QibkEdQ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BYfTnyAQY.DUA0sGdL3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LEOvZJJbWymfobG81XN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o3mNoQ7eu_tfPkpqfqe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CGVer.ovdTXZ3dkYgU3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D6Maya3wcpU0tWZ_B1Y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EB74kMV5jQWAi1_MoIl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AQb.KCJOCjJT7D8yXhY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KoxNXrIQlgGskZ0tKTO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GhScWSq0ITTXCj.iVNFn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_9SMMIlWJKqxhJewmKqA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_CayAPhKo56prI5dgM.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bmi7KpgFDmgHJMD_ioDWw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yAKaBXf4CKNzMtcIb2bQ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iWUyIRCJoIY3_l_VTArd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.P2U_f.0XbPW4N5YqJyr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3oyTH6ygzwe7.FrILIyQ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CfHw9APP6ABOlMi.ZPWq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Qo5Kv70NidHADFNoMXg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VAo7h0GIhqe_nHpYyOaQ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QU180O8wNCp5IDz3U9dw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K7AT08W2ea.9FBSh4SjA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yy9uATyVWXz0j1vd34HQ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1G1MlYpSwu.hEgmWH3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mJt8AZw4jythQmu0bbq7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xdlfHpD0bOpp1NXZ4PUfg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3jazTBfHpkni9YIsFNwA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K9JBRa0i7tYdO8gtXm5g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5cFe6N7NWCJGZsPV_Ox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S74qig36EQpHm0HglIjj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0wdi2yVfWvklazBBSLj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OAFoCGkqwAjlPrDa5cGsA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Kj2jC6mvwYbSM0aQ9Xm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V7hVykWMgjcd.4Zr.f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QUmGJOlhU.btC2ZlStrA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RH8T4IjosfEKQP9EGDS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L.5uMW4y4e1qe.NNDzW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kCan5AXb92JFa.ckx5PQ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717g3P.8n7h5ZBqylhE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aSV9xU104DyaRtYT8Xkt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gOuWHVGQqwEGvrN97WSg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0m6E7M08bST.FU9gFf77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9TakoA602z3Awhuzz87X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CAub09J4QmchXgolvJV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BFTPUWdhcaddiZ.8tnT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3ISrcOcNhyYGaJCMpm2w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Ao6L.M5_0xHDmGbUQZy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VFh9OPkZGifqMxpoXwew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Mfv2SWJ7anhJ_SRNBOqlQ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wKK0fBYHy0hg4wWhR4x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nozPmW2X1N37uSt3HAv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ls9MBB4ZNpml6OBV4Mn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bgMJRh1g45udQuQ06uRTQ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hhWhapbfW7WL.PtSAU2ug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99B4n6QLZdhiKx4cs.yAw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FKB3KgO1T5yXaNd7lpw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vTuLezUSMk0Pir7NLjrw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NSfG3EZLACnBmOjg6EGA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PlwSDHAJM5hPdRFAUwcA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w3.RvIOI6cHCFv1uP0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.ZVuRdm_GXQynASbFu6A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YIx41fNxi2bZ._tWIFfL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cnaUlQjeHsUb.w1HPzDtA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I5kKY27DMeaIqSHxarcQ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BRixDObrkpC9Aht9iJxg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XERSv53YZO2lbApuLcE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fj.qElN2RJFlV.yLP8R4A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zk6PaQDhQKq7yPQBc.8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szuTUhcDFsf3Ri.oyR5A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g1twlpEoL5SKUCuS8W3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9jl1uJqJN7XUIw9AmjW7g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fLb.HjhzgHPBmmzH22bg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dvtugPe1eaVejlOOLmO7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ihGTha6CtidFt1hGI9Q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AFk1nrbdJKWAbD17qSRV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B5qLVrCS0l0Wa5IzOEE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M6NwGuQjtaEm7v.wI6Hk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WboLU3omcXZ8Xf02G5g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9w8QJOp9FS7quszxQZvQ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rP4pELBvafEJ2uZe9Vtw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hGmw76my.eX2T44yDkdNA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7QnsJ5mGURUyiSRKV7pug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7jn8R.iL67j1k_w_pbk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VbBbq86Vk1azQbrXa24aw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dbvuMcgKcjFIN_2w8mA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1J.oSAhKNfjDT0xRQEKw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DBdHdZwDSJ_rSddn54Fw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n7kCU14LQNCj3ZI805_o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tJVgQ7t8Xp07RGOAAlxg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piq1i76COMP20MMP4Sc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jELrrLUVk6eMmk2DrxldQ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agMklw2ze3Y4l1_yyByA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vIOYQLYNde8WvPJvWz8gA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raoeQAz5btpi7L3a8xFQ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VQQ1tNsMRFG3VA5SeDf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u8yCbGiDE_4ZCYbs2jS_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93r_GZEvgxQH8Lv8K9fd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Ivm9FjHb4Ms5sq8IB4r_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PDnQ36h1EiCZ1lWtwI4g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1975</TotalTime>
  <Words>12676</Words>
  <Application>Microsoft Macintosh PowerPoint</Application>
  <PresentationFormat>Widescreen</PresentationFormat>
  <Paragraphs>2872</Paragraphs>
  <Slides>59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59</vt:i4>
      </vt:variant>
    </vt:vector>
  </HeadingPairs>
  <TitlesOfParts>
    <vt:vector size="67" baseType="lpstr">
      <vt:lpstr>Arha Magnit</vt:lpstr>
      <vt:lpstr>Arial</vt:lpstr>
      <vt:lpstr>Calibri</vt:lpstr>
      <vt:lpstr>Montserrat</vt:lpstr>
      <vt:lpstr>Montserrat Medium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38</cp:revision>
  <dcterms:created xsi:type="dcterms:W3CDTF">2026-10-05T11:53:56Z</dcterms:created>
  <dcterms:modified xsi:type="dcterms:W3CDTF">2026-10-17T09:15:30Z</dcterms:modified>
  <cp:category/>
</cp:coreProperties>
</file>