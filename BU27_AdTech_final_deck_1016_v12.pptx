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charts/chart6.xml" ContentType="application/vnd.openxmlformats-officedocument.drawingml.chart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4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4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charts/chart14.xml" ContentType="application/vnd.openxmlformats-officedocument.drawingml.chart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8.xml" ContentType="application/vnd.openxmlformats-officedocument.presentationml.slide+xml"/>
  <Override PartName="/ppt/tags/tag320.xml" ContentType="application/vnd.openxmlformats-officedocument.presentationml.tags+xml"/>
  <Override PartName="/ppt/embeddings/oleObject15.bin" ContentType="application/vnd.openxmlformats-officedocument.oleObject"/>
  <Override PartName="/ppt/slides/slide59.xml" ContentType="application/vnd.openxmlformats-officedocument.presentationml.slide+xml"/>
  <Override PartName="/ppt/tags/tag321.xml" ContentType="application/vnd.openxmlformats-officedocument.presentationml.tags+xml"/>
  <Override PartName="/ppt/embeddings/oleObject16.bin" ContentType="application/vnd.openxmlformats-officedocument.oleObject"/>
  <Override PartName="/ppt/slides/slide60.xml" ContentType="application/vnd.openxmlformats-officedocument.presentationml.slide+xml"/>
  <Override PartName="/ppt/tags/tag322.xml" ContentType="application/vnd.openxmlformats-officedocument.presentationml.tags+xml"/>
  <Override PartName="/ppt/embeddings/oleObject17.bin" ContentType="application/vnd.openxmlformats-officedocument.oleObject"/>
  <Override PartName="/ppt/slides/slide61.xml" ContentType="application/vnd.openxmlformats-officedocument.presentationml.slide+xml"/>
  <Override PartName="/ppt/tags/tag323.xml" ContentType="application/vnd.openxmlformats-officedocument.presentationml.tags+xml"/>
  <Override PartName="/ppt/embeddings/oleObject18.bin" ContentType="application/vnd.openxmlformats-officedocument.oleObject"/>
  <Override PartName="/ppt/slides/slide62.xml" ContentType="application/vnd.openxmlformats-officedocument.presentationml.slide+xml"/>
  <Override PartName="/ppt/tags/tag324.xml" ContentType="application/vnd.openxmlformats-officedocument.presentationml.tags+xml"/>
  <Override PartName="/ppt/embeddings/oleObject19.bin" ContentType="application/vnd.openxmlformats-officedocument.oleObject"/>
  <Override PartName="/ppt/slides/slide63.xml" ContentType="application/vnd.openxmlformats-officedocument.presentationml.slide+xml"/>
  <Override PartName="/ppt/tags/tag325.xml" ContentType="application/vnd.openxmlformats-officedocument.presentationml.tags+xml"/>
  <Override PartName="/ppt/embeddings/oleObject20.bin" ContentType="application/vnd.openxmlformats-officedocument.oleObject"/>
  <Override PartName="/ppt/charts/chart1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8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9"/>
  </p:notesMasterIdLst>
  <p:sldIdLst>
    <p:sldId id="345" r:id="rId2"/>
    <p:sldId id="548" r:id="rId3"/>
    <p:sldId id="2147480845" r:id="rId64"/>
    <p:sldId id="2147480846" r:id="rId65"/>
    <p:sldId id="2147480847" r:id="rId66"/>
    <p:sldId id="2147480848" r:id="rId67"/>
    <p:sldId id="2147480849" r:id="rId68"/>
    <p:sldId id="2147480850" r:id="rId69"/>
    <p:sldId id="549" r:id="rId8"/>
    <p:sldId id="550" r:id="rId9"/>
    <p:sldId id="539" r:id="rId10"/>
    <p:sldId id="507" r:id="rId11"/>
    <p:sldId id="508" r:id="rId12"/>
    <p:sldId id="537" r:id="rId13"/>
    <p:sldId id="441" r:id="rId14"/>
    <p:sldId id="509" r:id="rId15"/>
    <p:sldId id="545" r:id="rId16"/>
    <p:sldId id="460" r:id="rId17"/>
    <p:sldId id="511" r:id="rId18"/>
    <p:sldId id="530" r:id="rId19"/>
    <p:sldId id="531" r:id="rId20"/>
    <p:sldId id="514" r:id="rId21"/>
    <p:sldId id="515" r:id="rId22"/>
    <p:sldId id="516" r:id="rId23"/>
    <p:sldId id="471" r:id="rId24"/>
    <p:sldId id="546" r:id="rId25"/>
    <p:sldId id="532" r:id="rId26"/>
    <p:sldId id="533" r:id="rId27"/>
    <p:sldId id="535" r:id="rId28"/>
    <p:sldId id="365" r:id="rId29"/>
    <p:sldId id="538" r:id="rId30"/>
    <p:sldId id="412" r:id="rId31"/>
    <p:sldId id="541" r:id="rId32"/>
    <p:sldId id="415" r:id="rId33"/>
    <p:sldId id="433" r:id="rId34"/>
    <p:sldId id="366" r:id="rId35"/>
    <p:sldId id="404" r:id="rId36"/>
    <p:sldId id="483" r:id="rId37"/>
    <p:sldId id="432" r:id="rId38"/>
    <p:sldId id="475" r:id="rId39"/>
    <p:sldId id="506" r:id="rId40"/>
    <p:sldId id="489" r:id="rId41"/>
    <p:sldId id="543" r:id="rId42"/>
    <p:sldId id="484" r:id="rId43"/>
    <p:sldId id="542" r:id="rId44"/>
    <p:sldId id="468" r:id="rId45"/>
    <p:sldId id="547" r:id="rId46"/>
    <p:sldId id="2147480839" r:id="rId47"/>
    <p:sldId id="2147480841" r:id="rId48"/>
    <p:sldId id="2147480842" r:id="rId49"/>
    <p:sldId id="2147480844" r:id="rId50"/>
    <p:sldId id="430" r:id="rId51"/>
    <p:sldId id="411" r:id="rId52"/>
    <p:sldId id="408" r:id="rId53"/>
    <p:sldId id="427" r:id="rId54"/>
    <p:sldId id="421" r:id="rId55"/>
    <p:sldId id="422" r:id="rId56"/>
    <p:sldId id="424" r:id="rId57"/>
    <p:sldId id="528" r:id="rId58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>
        <p:scale>
          <a:sx n="99" d="100"/>
          <a:sy n="99" d="100"/>
        </p:scale>
        <p:origin x="25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9" Type="http://schemas.openxmlformats.org/officeDocument/2006/relationships/slide" Target="slides/slide8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3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6487.923725043029</c:v>
                </c:pt>
                <c:pt idx="3">
                  <c:v>7499.458079795491</c:v>
                </c:pt>
                <c:pt idx="4">
                  <c:v>7843.287548716826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46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 dirty="0">
                <a:effectLst/>
              </a:rPr>
              <a:t>Действуй смело</a:t>
            </a:r>
          </a:p>
          <a:p>
            <a:pPr lvl="0"/>
            <a:r>
              <a:rPr lang="ru-RU" dirty="0">
                <a:effectLst/>
              </a:rPr>
              <a:t>Достигай невозможного</a:t>
            </a:r>
            <a:endParaRPr lang="en-US" dirty="0">
              <a:effectLst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 dirty="0">
                <a:effectLst/>
              </a:rPr>
              <a:t>Тема презентации. 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chart" Target="../charts/chart3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chart" Target="../charts/chart2.xml"/><Relationship Id="rId8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tags" Target="../tags/tag71.xml"/><Relationship Id="rId39" Type="http://schemas.openxmlformats.org/officeDocument/2006/relationships/tags" Target="../tags/tag84.xml"/><Relationship Id="rId21" Type="http://schemas.openxmlformats.org/officeDocument/2006/relationships/tags" Target="../tags/tag66.xml"/><Relationship Id="rId34" Type="http://schemas.openxmlformats.org/officeDocument/2006/relationships/tags" Target="../tags/tag79.xml"/><Relationship Id="rId42" Type="http://schemas.openxmlformats.org/officeDocument/2006/relationships/tags" Target="../tags/tag87.xml"/><Relationship Id="rId47" Type="http://schemas.openxmlformats.org/officeDocument/2006/relationships/tags" Target="../tags/tag92.xml"/><Relationship Id="rId50" Type="http://schemas.openxmlformats.org/officeDocument/2006/relationships/tags" Target="../tags/tag95.xml"/><Relationship Id="rId55" Type="http://schemas.openxmlformats.org/officeDocument/2006/relationships/chart" Target="../charts/chart4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9" Type="http://schemas.openxmlformats.org/officeDocument/2006/relationships/tags" Target="../tags/tag74.xml"/><Relationship Id="rId11" Type="http://schemas.openxmlformats.org/officeDocument/2006/relationships/tags" Target="../tags/tag56.xml"/><Relationship Id="rId24" Type="http://schemas.openxmlformats.org/officeDocument/2006/relationships/tags" Target="../tags/tag69.xml"/><Relationship Id="rId32" Type="http://schemas.openxmlformats.org/officeDocument/2006/relationships/tags" Target="../tags/tag77.xml"/><Relationship Id="rId37" Type="http://schemas.openxmlformats.org/officeDocument/2006/relationships/tags" Target="../tags/tag82.xml"/><Relationship Id="rId40" Type="http://schemas.openxmlformats.org/officeDocument/2006/relationships/tags" Target="../tags/tag85.xml"/><Relationship Id="rId45" Type="http://schemas.openxmlformats.org/officeDocument/2006/relationships/tags" Target="../tags/tag90.xml"/><Relationship Id="rId53" Type="http://schemas.openxmlformats.org/officeDocument/2006/relationships/oleObject" Target="../embeddings/oleObject8.bin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31" Type="http://schemas.openxmlformats.org/officeDocument/2006/relationships/tags" Target="../tags/tag76.xml"/><Relationship Id="rId44" Type="http://schemas.openxmlformats.org/officeDocument/2006/relationships/tags" Target="../tags/tag8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30" Type="http://schemas.openxmlformats.org/officeDocument/2006/relationships/tags" Target="../tags/tag75.xml"/><Relationship Id="rId35" Type="http://schemas.openxmlformats.org/officeDocument/2006/relationships/tags" Target="../tags/tag80.xml"/><Relationship Id="rId43" Type="http://schemas.openxmlformats.org/officeDocument/2006/relationships/tags" Target="../tags/tag88.xml"/><Relationship Id="rId48" Type="http://schemas.openxmlformats.org/officeDocument/2006/relationships/tags" Target="../tags/tag93.xml"/><Relationship Id="rId8" Type="http://schemas.openxmlformats.org/officeDocument/2006/relationships/tags" Target="../tags/tag53.xml"/><Relationship Id="rId51" Type="http://schemas.openxmlformats.org/officeDocument/2006/relationships/tags" Target="../tags/tag96.xml"/><Relationship Id="rId3" Type="http://schemas.openxmlformats.org/officeDocument/2006/relationships/tags" Target="../tags/tag48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tags" Target="../tags/tag70.xml"/><Relationship Id="rId33" Type="http://schemas.openxmlformats.org/officeDocument/2006/relationships/tags" Target="../tags/tag78.xml"/><Relationship Id="rId38" Type="http://schemas.openxmlformats.org/officeDocument/2006/relationships/tags" Target="../tags/tag83.xml"/><Relationship Id="rId46" Type="http://schemas.openxmlformats.org/officeDocument/2006/relationships/tags" Target="../tags/tag91.xml"/><Relationship Id="rId20" Type="http://schemas.openxmlformats.org/officeDocument/2006/relationships/tags" Target="../tags/tag65.xml"/><Relationship Id="rId41" Type="http://schemas.openxmlformats.org/officeDocument/2006/relationships/tags" Target="../tags/tag86.xml"/><Relationship Id="rId54" Type="http://schemas.openxmlformats.org/officeDocument/2006/relationships/image" Target="../media/image7.emf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5" Type="http://schemas.openxmlformats.org/officeDocument/2006/relationships/tags" Target="../tags/tag60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36" Type="http://schemas.openxmlformats.org/officeDocument/2006/relationships/tags" Target="../tags/tag81.xml"/><Relationship Id="rId49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09.xml"/><Relationship Id="rId18" Type="http://schemas.openxmlformats.org/officeDocument/2006/relationships/tags" Target="../tags/tag114.xml"/><Relationship Id="rId26" Type="http://schemas.openxmlformats.org/officeDocument/2006/relationships/tags" Target="../tags/tag122.xml"/><Relationship Id="rId39" Type="http://schemas.openxmlformats.org/officeDocument/2006/relationships/tags" Target="../tags/tag135.xml"/><Relationship Id="rId21" Type="http://schemas.openxmlformats.org/officeDocument/2006/relationships/tags" Target="../tags/tag117.xml"/><Relationship Id="rId34" Type="http://schemas.openxmlformats.org/officeDocument/2006/relationships/tags" Target="../tags/tag130.xml"/><Relationship Id="rId42" Type="http://schemas.openxmlformats.org/officeDocument/2006/relationships/oleObject" Target="../embeddings/oleObject9.bin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tags" Target="../tags/tag116.xml"/><Relationship Id="rId29" Type="http://schemas.openxmlformats.org/officeDocument/2006/relationships/tags" Target="../tags/tag125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24" Type="http://schemas.openxmlformats.org/officeDocument/2006/relationships/tags" Target="../tags/tag120.xml"/><Relationship Id="rId32" Type="http://schemas.openxmlformats.org/officeDocument/2006/relationships/tags" Target="../tags/tag128.xml"/><Relationship Id="rId37" Type="http://schemas.openxmlformats.org/officeDocument/2006/relationships/tags" Target="../tags/tag133.xml"/><Relationship Id="rId40" Type="http://schemas.openxmlformats.org/officeDocument/2006/relationships/tags" Target="../tags/tag136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23" Type="http://schemas.openxmlformats.org/officeDocument/2006/relationships/tags" Target="../tags/tag119.xml"/><Relationship Id="rId28" Type="http://schemas.openxmlformats.org/officeDocument/2006/relationships/tags" Target="../tags/tag124.xml"/><Relationship Id="rId36" Type="http://schemas.openxmlformats.org/officeDocument/2006/relationships/tags" Target="../tags/tag132.xml"/><Relationship Id="rId10" Type="http://schemas.openxmlformats.org/officeDocument/2006/relationships/tags" Target="../tags/tag106.xml"/><Relationship Id="rId19" Type="http://schemas.openxmlformats.org/officeDocument/2006/relationships/tags" Target="../tags/tag115.xml"/><Relationship Id="rId31" Type="http://schemas.openxmlformats.org/officeDocument/2006/relationships/tags" Target="../tags/tag127.xml"/><Relationship Id="rId44" Type="http://schemas.openxmlformats.org/officeDocument/2006/relationships/chart" Target="../charts/chart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Relationship Id="rId22" Type="http://schemas.openxmlformats.org/officeDocument/2006/relationships/tags" Target="../tags/tag118.xml"/><Relationship Id="rId27" Type="http://schemas.openxmlformats.org/officeDocument/2006/relationships/tags" Target="../tags/tag123.xml"/><Relationship Id="rId30" Type="http://schemas.openxmlformats.org/officeDocument/2006/relationships/tags" Target="../tags/tag126.xml"/><Relationship Id="rId35" Type="http://schemas.openxmlformats.org/officeDocument/2006/relationships/tags" Target="../tags/tag131.xml"/><Relationship Id="rId43" Type="http://schemas.openxmlformats.org/officeDocument/2006/relationships/image" Target="../media/image8.emf"/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5" Type="http://schemas.openxmlformats.org/officeDocument/2006/relationships/tags" Target="../tags/tag121.xml"/><Relationship Id="rId33" Type="http://schemas.openxmlformats.org/officeDocument/2006/relationships/tags" Target="../tags/tag129.xml"/><Relationship Id="rId38" Type="http://schemas.openxmlformats.org/officeDocument/2006/relationships/tags" Target="../tags/tag1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tags" Target="../tags/tag167.xml"/><Relationship Id="rId21" Type="http://schemas.openxmlformats.org/officeDocument/2006/relationships/tags" Target="../tags/tag162.xml"/><Relationship Id="rId42" Type="http://schemas.openxmlformats.org/officeDocument/2006/relationships/tags" Target="../tags/tag183.xml"/><Relationship Id="rId47" Type="http://schemas.openxmlformats.org/officeDocument/2006/relationships/tags" Target="../tags/tag188.xml"/><Relationship Id="rId63" Type="http://schemas.openxmlformats.org/officeDocument/2006/relationships/tags" Target="../tags/tag204.xml"/><Relationship Id="rId68" Type="http://schemas.openxmlformats.org/officeDocument/2006/relationships/tags" Target="../tags/tag209.xml"/><Relationship Id="rId84" Type="http://schemas.openxmlformats.org/officeDocument/2006/relationships/tags" Target="../tags/tag225.xml"/><Relationship Id="rId89" Type="http://schemas.openxmlformats.org/officeDocument/2006/relationships/tags" Target="../tags/tag230.xml"/><Relationship Id="rId16" Type="http://schemas.openxmlformats.org/officeDocument/2006/relationships/tags" Target="../tags/tag157.xml"/><Relationship Id="rId11" Type="http://schemas.openxmlformats.org/officeDocument/2006/relationships/tags" Target="../tags/tag152.xml"/><Relationship Id="rId32" Type="http://schemas.openxmlformats.org/officeDocument/2006/relationships/tags" Target="../tags/tag173.xml"/><Relationship Id="rId37" Type="http://schemas.openxmlformats.org/officeDocument/2006/relationships/tags" Target="../tags/tag178.xml"/><Relationship Id="rId53" Type="http://schemas.openxmlformats.org/officeDocument/2006/relationships/tags" Target="../tags/tag194.xml"/><Relationship Id="rId58" Type="http://schemas.openxmlformats.org/officeDocument/2006/relationships/tags" Target="../tags/tag199.xml"/><Relationship Id="rId74" Type="http://schemas.openxmlformats.org/officeDocument/2006/relationships/tags" Target="../tags/tag215.xml"/><Relationship Id="rId79" Type="http://schemas.openxmlformats.org/officeDocument/2006/relationships/tags" Target="../tags/tag220.xml"/><Relationship Id="rId5" Type="http://schemas.openxmlformats.org/officeDocument/2006/relationships/tags" Target="../tags/tag146.xml"/><Relationship Id="rId90" Type="http://schemas.openxmlformats.org/officeDocument/2006/relationships/tags" Target="../tags/tag231.xml"/><Relationship Id="rId95" Type="http://schemas.openxmlformats.org/officeDocument/2006/relationships/oleObject" Target="../embeddings/oleObject12.bin"/><Relationship Id="rId22" Type="http://schemas.openxmlformats.org/officeDocument/2006/relationships/tags" Target="../tags/tag163.xml"/><Relationship Id="rId27" Type="http://schemas.openxmlformats.org/officeDocument/2006/relationships/tags" Target="../tags/tag168.xml"/><Relationship Id="rId43" Type="http://schemas.openxmlformats.org/officeDocument/2006/relationships/tags" Target="../tags/tag184.xml"/><Relationship Id="rId48" Type="http://schemas.openxmlformats.org/officeDocument/2006/relationships/tags" Target="../tags/tag189.xml"/><Relationship Id="rId64" Type="http://schemas.openxmlformats.org/officeDocument/2006/relationships/tags" Target="../tags/tag205.xml"/><Relationship Id="rId69" Type="http://schemas.openxmlformats.org/officeDocument/2006/relationships/tags" Target="../tags/tag210.xml"/><Relationship Id="rId80" Type="http://schemas.openxmlformats.org/officeDocument/2006/relationships/tags" Target="../tags/tag221.xml"/><Relationship Id="rId85" Type="http://schemas.openxmlformats.org/officeDocument/2006/relationships/tags" Target="../tags/tag226.xml"/><Relationship Id="rId3" Type="http://schemas.openxmlformats.org/officeDocument/2006/relationships/tags" Target="../tags/tag144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tags" Target="../tags/tag166.xml"/><Relationship Id="rId33" Type="http://schemas.openxmlformats.org/officeDocument/2006/relationships/tags" Target="../tags/tag174.xml"/><Relationship Id="rId38" Type="http://schemas.openxmlformats.org/officeDocument/2006/relationships/tags" Target="../tags/tag179.xml"/><Relationship Id="rId46" Type="http://schemas.openxmlformats.org/officeDocument/2006/relationships/tags" Target="../tags/tag187.xml"/><Relationship Id="rId59" Type="http://schemas.openxmlformats.org/officeDocument/2006/relationships/tags" Target="../tags/tag200.xml"/><Relationship Id="rId67" Type="http://schemas.openxmlformats.org/officeDocument/2006/relationships/tags" Target="../tags/tag208.xml"/><Relationship Id="rId20" Type="http://schemas.openxmlformats.org/officeDocument/2006/relationships/tags" Target="../tags/tag161.xml"/><Relationship Id="rId41" Type="http://schemas.openxmlformats.org/officeDocument/2006/relationships/tags" Target="../tags/tag182.xml"/><Relationship Id="rId54" Type="http://schemas.openxmlformats.org/officeDocument/2006/relationships/tags" Target="../tags/tag195.xml"/><Relationship Id="rId62" Type="http://schemas.openxmlformats.org/officeDocument/2006/relationships/tags" Target="../tags/tag203.xml"/><Relationship Id="rId70" Type="http://schemas.openxmlformats.org/officeDocument/2006/relationships/tags" Target="../tags/tag211.xml"/><Relationship Id="rId75" Type="http://schemas.openxmlformats.org/officeDocument/2006/relationships/tags" Target="../tags/tag216.xml"/><Relationship Id="rId83" Type="http://schemas.openxmlformats.org/officeDocument/2006/relationships/tags" Target="../tags/tag224.xml"/><Relationship Id="rId88" Type="http://schemas.openxmlformats.org/officeDocument/2006/relationships/tags" Target="../tags/tag229.xml"/><Relationship Id="rId91" Type="http://schemas.openxmlformats.org/officeDocument/2006/relationships/tags" Target="../tags/tag232.xml"/><Relationship Id="rId96" Type="http://schemas.openxmlformats.org/officeDocument/2006/relationships/image" Target="../media/image4.emf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5" Type="http://schemas.openxmlformats.org/officeDocument/2006/relationships/tags" Target="../tags/tag156.xml"/><Relationship Id="rId23" Type="http://schemas.openxmlformats.org/officeDocument/2006/relationships/tags" Target="../tags/tag164.xml"/><Relationship Id="rId28" Type="http://schemas.openxmlformats.org/officeDocument/2006/relationships/tags" Target="../tags/tag169.xml"/><Relationship Id="rId36" Type="http://schemas.openxmlformats.org/officeDocument/2006/relationships/tags" Target="../tags/tag177.xml"/><Relationship Id="rId49" Type="http://schemas.openxmlformats.org/officeDocument/2006/relationships/tags" Target="../tags/tag190.xml"/><Relationship Id="rId57" Type="http://schemas.openxmlformats.org/officeDocument/2006/relationships/tags" Target="../tags/tag198.xml"/><Relationship Id="rId10" Type="http://schemas.openxmlformats.org/officeDocument/2006/relationships/tags" Target="../tags/tag151.xml"/><Relationship Id="rId31" Type="http://schemas.openxmlformats.org/officeDocument/2006/relationships/tags" Target="../tags/tag172.xml"/><Relationship Id="rId44" Type="http://schemas.openxmlformats.org/officeDocument/2006/relationships/tags" Target="../tags/tag185.xml"/><Relationship Id="rId52" Type="http://schemas.openxmlformats.org/officeDocument/2006/relationships/tags" Target="../tags/tag193.xml"/><Relationship Id="rId60" Type="http://schemas.openxmlformats.org/officeDocument/2006/relationships/tags" Target="../tags/tag201.xml"/><Relationship Id="rId65" Type="http://schemas.openxmlformats.org/officeDocument/2006/relationships/tags" Target="../tags/tag206.xml"/><Relationship Id="rId73" Type="http://schemas.openxmlformats.org/officeDocument/2006/relationships/tags" Target="../tags/tag214.xml"/><Relationship Id="rId78" Type="http://schemas.openxmlformats.org/officeDocument/2006/relationships/tags" Target="../tags/tag219.xml"/><Relationship Id="rId81" Type="http://schemas.openxmlformats.org/officeDocument/2006/relationships/tags" Target="../tags/tag222.xml"/><Relationship Id="rId86" Type="http://schemas.openxmlformats.org/officeDocument/2006/relationships/tags" Target="../tags/tag227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39" Type="http://schemas.openxmlformats.org/officeDocument/2006/relationships/tags" Target="../tags/tag180.xml"/><Relationship Id="rId34" Type="http://schemas.openxmlformats.org/officeDocument/2006/relationships/tags" Target="../tags/tag175.xml"/><Relationship Id="rId50" Type="http://schemas.openxmlformats.org/officeDocument/2006/relationships/tags" Target="../tags/tag191.xml"/><Relationship Id="rId55" Type="http://schemas.openxmlformats.org/officeDocument/2006/relationships/tags" Target="../tags/tag196.xml"/><Relationship Id="rId76" Type="http://schemas.openxmlformats.org/officeDocument/2006/relationships/tags" Target="../tags/tag217.xml"/><Relationship Id="rId97" Type="http://schemas.openxmlformats.org/officeDocument/2006/relationships/chart" Target="../charts/chart12.xml"/><Relationship Id="rId7" Type="http://schemas.openxmlformats.org/officeDocument/2006/relationships/tags" Target="../tags/tag148.xml"/><Relationship Id="rId71" Type="http://schemas.openxmlformats.org/officeDocument/2006/relationships/tags" Target="../tags/tag212.xml"/><Relationship Id="rId92" Type="http://schemas.openxmlformats.org/officeDocument/2006/relationships/tags" Target="../tags/tag233.xml"/><Relationship Id="rId2" Type="http://schemas.openxmlformats.org/officeDocument/2006/relationships/tags" Target="../tags/tag143.xml"/><Relationship Id="rId29" Type="http://schemas.openxmlformats.org/officeDocument/2006/relationships/tags" Target="../tags/tag170.xml"/><Relationship Id="rId24" Type="http://schemas.openxmlformats.org/officeDocument/2006/relationships/tags" Target="../tags/tag165.xml"/><Relationship Id="rId40" Type="http://schemas.openxmlformats.org/officeDocument/2006/relationships/tags" Target="../tags/tag181.xml"/><Relationship Id="rId45" Type="http://schemas.openxmlformats.org/officeDocument/2006/relationships/tags" Target="../tags/tag186.xml"/><Relationship Id="rId66" Type="http://schemas.openxmlformats.org/officeDocument/2006/relationships/tags" Target="../tags/tag207.xml"/><Relationship Id="rId87" Type="http://schemas.openxmlformats.org/officeDocument/2006/relationships/tags" Target="../tags/tag228.xml"/><Relationship Id="rId61" Type="http://schemas.openxmlformats.org/officeDocument/2006/relationships/tags" Target="../tags/tag202.xml"/><Relationship Id="rId82" Type="http://schemas.openxmlformats.org/officeDocument/2006/relationships/tags" Target="../tags/tag223.xml"/><Relationship Id="rId19" Type="http://schemas.openxmlformats.org/officeDocument/2006/relationships/tags" Target="../tags/tag160.xml"/><Relationship Id="rId14" Type="http://schemas.openxmlformats.org/officeDocument/2006/relationships/tags" Target="../tags/tag155.xml"/><Relationship Id="rId30" Type="http://schemas.openxmlformats.org/officeDocument/2006/relationships/tags" Target="../tags/tag171.xml"/><Relationship Id="rId35" Type="http://schemas.openxmlformats.org/officeDocument/2006/relationships/tags" Target="../tags/tag176.xml"/><Relationship Id="rId56" Type="http://schemas.openxmlformats.org/officeDocument/2006/relationships/tags" Target="../tags/tag197.xml"/><Relationship Id="rId77" Type="http://schemas.openxmlformats.org/officeDocument/2006/relationships/tags" Target="../tags/tag218.xml"/><Relationship Id="rId8" Type="http://schemas.openxmlformats.org/officeDocument/2006/relationships/tags" Target="../tags/tag149.xml"/><Relationship Id="rId51" Type="http://schemas.openxmlformats.org/officeDocument/2006/relationships/tags" Target="../tags/tag192.xml"/><Relationship Id="rId72" Type="http://schemas.openxmlformats.org/officeDocument/2006/relationships/tags" Target="../tags/tag213.xml"/><Relationship Id="rId93" Type="http://schemas.openxmlformats.org/officeDocument/2006/relationships/tags" Target="../tags/tag234.xml"/><Relationship Id="rId98" Type="http://schemas.openxmlformats.org/officeDocument/2006/relationships/chart" Target="../charts/chart1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13" Type="http://schemas.openxmlformats.org/officeDocument/2006/relationships/tags" Target="../tags/tag247.xml"/><Relationship Id="rId18" Type="http://schemas.openxmlformats.org/officeDocument/2006/relationships/tags" Target="../tags/tag252.xml"/><Relationship Id="rId3" Type="http://schemas.openxmlformats.org/officeDocument/2006/relationships/tags" Target="../tags/tag237.xml"/><Relationship Id="rId21" Type="http://schemas.openxmlformats.org/officeDocument/2006/relationships/image" Target="../media/image4.emf"/><Relationship Id="rId7" Type="http://schemas.openxmlformats.org/officeDocument/2006/relationships/tags" Target="../tags/tag241.xml"/><Relationship Id="rId12" Type="http://schemas.openxmlformats.org/officeDocument/2006/relationships/tags" Target="../tags/tag246.xml"/><Relationship Id="rId17" Type="http://schemas.openxmlformats.org/officeDocument/2006/relationships/tags" Target="../tags/tag251.xml"/><Relationship Id="rId2" Type="http://schemas.openxmlformats.org/officeDocument/2006/relationships/tags" Target="../tags/tag236.xml"/><Relationship Id="rId16" Type="http://schemas.openxmlformats.org/officeDocument/2006/relationships/tags" Target="../tags/tag250.xml"/><Relationship Id="rId20" Type="http://schemas.openxmlformats.org/officeDocument/2006/relationships/oleObject" Target="../embeddings/oleObject13.bin"/><Relationship Id="rId1" Type="http://schemas.openxmlformats.org/officeDocument/2006/relationships/tags" Target="../tags/tag235.xml"/><Relationship Id="rId6" Type="http://schemas.openxmlformats.org/officeDocument/2006/relationships/tags" Target="../tags/tag240.xml"/><Relationship Id="rId11" Type="http://schemas.openxmlformats.org/officeDocument/2006/relationships/tags" Target="../tags/tag245.xml"/><Relationship Id="rId5" Type="http://schemas.openxmlformats.org/officeDocument/2006/relationships/tags" Target="../tags/tag239.xml"/><Relationship Id="rId15" Type="http://schemas.openxmlformats.org/officeDocument/2006/relationships/tags" Target="../tags/tag249.xml"/><Relationship Id="rId10" Type="http://schemas.openxmlformats.org/officeDocument/2006/relationships/tags" Target="../tags/tag244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38.xml"/><Relationship Id="rId9" Type="http://schemas.openxmlformats.org/officeDocument/2006/relationships/tags" Target="../tags/tag243.xml"/><Relationship Id="rId14" Type="http://schemas.openxmlformats.org/officeDocument/2006/relationships/tags" Target="../tags/tag248.xml"/><Relationship Id="rId22" Type="http://schemas.openxmlformats.org/officeDocument/2006/relationships/chart" Target="../charts/chart14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278.xml"/><Relationship Id="rId21" Type="http://schemas.openxmlformats.org/officeDocument/2006/relationships/tags" Target="../tags/tag273.xml"/><Relationship Id="rId42" Type="http://schemas.openxmlformats.org/officeDocument/2006/relationships/tags" Target="../tags/tag294.xml"/><Relationship Id="rId47" Type="http://schemas.openxmlformats.org/officeDocument/2006/relationships/tags" Target="../tags/tag299.xml"/><Relationship Id="rId63" Type="http://schemas.openxmlformats.org/officeDocument/2006/relationships/tags" Target="../tags/tag315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4.xml"/><Relationship Id="rId16" Type="http://schemas.openxmlformats.org/officeDocument/2006/relationships/tags" Target="../tags/tag268.xml"/><Relationship Id="rId29" Type="http://schemas.openxmlformats.org/officeDocument/2006/relationships/tags" Target="../tags/tag281.xml"/><Relationship Id="rId11" Type="http://schemas.openxmlformats.org/officeDocument/2006/relationships/tags" Target="../tags/tag263.xml"/><Relationship Id="rId24" Type="http://schemas.openxmlformats.org/officeDocument/2006/relationships/tags" Target="../tags/tag276.xml"/><Relationship Id="rId32" Type="http://schemas.openxmlformats.org/officeDocument/2006/relationships/tags" Target="../tags/tag284.xml"/><Relationship Id="rId37" Type="http://schemas.openxmlformats.org/officeDocument/2006/relationships/tags" Target="../tags/tag289.xml"/><Relationship Id="rId40" Type="http://schemas.openxmlformats.org/officeDocument/2006/relationships/tags" Target="../tags/tag292.xml"/><Relationship Id="rId45" Type="http://schemas.openxmlformats.org/officeDocument/2006/relationships/tags" Target="../tags/tag297.xml"/><Relationship Id="rId53" Type="http://schemas.openxmlformats.org/officeDocument/2006/relationships/tags" Target="../tags/tag305.xml"/><Relationship Id="rId58" Type="http://schemas.openxmlformats.org/officeDocument/2006/relationships/tags" Target="../tags/tag310.xml"/><Relationship Id="rId66" Type="http://schemas.openxmlformats.org/officeDocument/2006/relationships/tags" Target="../tags/tag318.xml"/><Relationship Id="rId5" Type="http://schemas.openxmlformats.org/officeDocument/2006/relationships/tags" Target="../tags/tag257.xml"/><Relationship Id="rId61" Type="http://schemas.openxmlformats.org/officeDocument/2006/relationships/tags" Target="../tags/tag313.xml"/><Relationship Id="rId19" Type="http://schemas.openxmlformats.org/officeDocument/2006/relationships/tags" Target="../tags/tag271.xml"/><Relationship Id="rId14" Type="http://schemas.openxmlformats.org/officeDocument/2006/relationships/tags" Target="../tags/tag266.xml"/><Relationship Id="rId22" Type="http://schemas.openxmlformats.org/officeDocument/2006/relationships/tags" Target="../tags/tag274.xml"/><Relationship Id="rId27" Type="http://schemas.openxmlformats.org/officeDocument/2006/relationships/tags" Target="../tags/tag279.xml"/><Relationship Id="rId30" Type="http://schemas.openxmlformats.org/officeDocument/2006/relationships/tags" Target="../tags/tag282.xml"/><Relationship Id="rId35" Type="http://schemas.openxmlformats.org/officeDocument/2006/relationships/tags" Target="../tags/tag287.xml"/><Relationship Id="rId43" Type="http://schemas.openxmlformats.org/officeDocument/2006/relationships/tags" Target="../tags/tag295.xml"/><Relationship Id="rId48" Type="http://schemas.openxmlformats.org/officeDocument/2006/relationships/tags" Target="../tags/tag300.xml"/><Relationship Id="rId56" Type="http://schemas.openxmlformats.org/officeDocument/2006/relationships/tags" Target="../tags/tag308.xml"/><Relationship Id="rId64" Type="http://schemas.openxmlformats.org/officeDocument/2006/relationships/tags" Target="../tags/tag316.xml"/><Relationship Id="rId69" Type="http://schemas.openxmlformats.org/officeDocument/2006/relationships/notesSlide" Target="../notesSlides/notesSlide15.xml"/><Relationship Id="rId8" Type="http://schemas.openxmlformats.org/officeDocument/2006/relationships/tags" Target="../tags/tag260.xml"/><Relationship Id="rId51" Type="http://schemas.openxmlformats.org/officeDocument/2006/relationships/tags" Target="../tags/tag303.xml"/><Relationship Id="rId72" Type="http://schemas.openxmlformats.org/officeDocument/2006/relationships/chart" Target="../charts/chart15.xml"/><Relationship Id="rId3" Type="http://schemas.openxmlformats.org/officeDocument/2006/relationships/tags" Target="../tags/tag255.xml"/><Relationship Id="rId12" Type="http://schemas.openxmlformats.org/officeDocument/2006/relationships/tags" Target="../tags/tag264.xml"/><Relationship Id="rId17" Type="http://schemas.openxmlformats.org/officeDocument/2006/relationships/tags" Target="../tags/tag269.xml"/><Relationship Id="rId25" Type="http://schemas.openxmlformats.org/officeDocument/2006/relationships/tags" Target="../tags/tag277.xml"/><Relationship Id="rId33" Type="http://schemas.openxmlformats.org/officeDocument/2006/relationships/tags" Target="../tags/tag285.xml"/><Relationship Id="rId38" Type="http://schemas.openxmlformats.org/officeDocument/2006/relationships/tags" Target="../tags/tag290.xml"/><Relationship Id="rId46" Type="http://schemas.openxmlformats.org/officeDocument/2006/relationships/tags" Target="../tags/tag298.xml"/><Relationship Id="rId59" Type="http://schemas.openxmlformats.org/officeDocument/2006/relationships/tags" Target="../tags/tag311.xml"/><Relationship Id="rId67" Type="http://schemas.openxmlformats.org/officeDocument/2006/relationships/tags" Target="../tags/tag319.xml"/><Relationship Id="rId20" Type="http://schemas.openxmlformats.org/officeDocument/2006/relationships/tags" Target="../tags/tag272.xml"/><Relationship Id="rId41" Type="http://schemas.openxmlformats.org/officeDocument/2006/relationships/tags" Target="../tags/tag293.xml"/><Relationship Id="rId54" Type="http://schemas.openxmlformats.org/officeDocument/2006/relationships/tags" Target="../tags/tag306.xml"/><Relationship Id="rId62" Type="http://schemas.openxmlformats.org/officeDocument/2006/relationships/tags" Target="../tags/tag314.xml"/><Relationship Id="rId70" Type="http://schemas.openxmlformats.org/officeDocument/2006/relationships/oleObject" Target="../embeddings/oleObject14.bin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5" Type="http://schemas.openxmlformats.org/officeDocument/2006/relationships/tags" Target="../tags/tag267.xml"/><Relationship Id="rId23" Type="http://schemas.openxmlformats.org/officeDocument/2006/relationships/tags" Target="../tags/tag275.xml"/><Relationship Id="rId28" Type="http://schemas.openxmlformats.org/officeDocument/2006/relationships/tags" Target="../tags/tag280.xml"/><Relationship Id="rId36" Type="http://schemas.openxmlformats.org/officeDocument/2006/relationships/tags" Target="../tags/tag288.xml"/><Relationship Id="rId49" Type="http://schemas.openxmlformats.org/officeDocument/2006/relationships/tags" Target="../tags/tag301.xml"/><Relationship Id="rId57" Type="http://schemas.openxmlformats.org/officeDocument/2006/relationships/tags" Target="../tags/tag309.xml"/><Relationship Id="rId10" Type="http://schemas.openxmlformats.org/officeDocument/2006/relationships/tags" Target="../tags/tag262.xml"/><Relationship Id="rId31" Type="http://schemas.openxmlformats.org/officeDocument/2006/relationships/tags" Target="../tags/tag283.xml"/><Relationship Id="rId44" Type="http://schemas.openxmlformats.org/officeDocument/2006/relationships/tags" Target="../tags/tag296.xml"/><Relationship Id="rId52" Type="http://schemas.openxmlformats.org/officeDocument/2006/relationships/tags" Target="../tags/tag304.xml"/><Relationship Id="rId60" Type="http://schemas.openxmlformats.org/officeDocument/2006/relationships/tags" Target="../tags/tag312.xml"/><Relationship Id="rId65" Type="http://schemas.openxmlformats.org/officeDocument/2006/relationships/tags" Target="../tags/tag317.xml"/><Relationship Id="rId73" Type="http://schemas.openxmlformats.org/officeDocument/2006/relationships/chart" Target="../charts/chart16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39" Type="http://schemas.openxmlformats.org/officeDocument/2006/relationships/tags" Target="../tags/tag291.xml"/><Relationship Id="rId34" Type="http://schemas.openxmlformats.org/officeDocument/2006/relationships/tags" Target="../tags/tag286.xml"/><Relationship Id="rId50" Type="http://schemas.openxmlformats.org/officeDocument/2006/relationships/tags" Target="../tags/tag302.xml"/><Relationship Id="rId55" Type="http://schemas.openxmlformats.org/officeDocument/2006/relationships/tags" Target="../tags/tag307.xml"/><Relationship Id="rId7" Type="http://schemas.openxmlformats.org/officeDocument/2006/relationships/tags" Target="../tags/tag259.xml"/><Relationship Id="rId71" Type="http://schemas.openxmlformats.org/officeDocument/2006/relationships/image" Target="../media/image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2" Type="http://schemas.openxmlformats.org/officeDocument/2006/relationships/tags" Target="../tags/tag320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2.emf"/></Relationships>
</file>

<file path=ppt/slides/_rels/slide59.xml.rels><?xml version='1.0' encoding='UTF-8' standalone='yes'?>
<Relationships xmlns="http://schemas.openxmlformats.org/package/2006/relationships"><Relationship Id="rId2" Type="http://schemas.openxmlformats.org/officeDocument/2006/relationships/tags" Target="../tags/tag321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s/_rels/slide60.xml.rels><?xml version='1.0' encoding='UTF-8' standalone='yes'?>
<Relationships xmlns="http://schemas.openxmlformats.org/package/2006/relationships"><Relationship Id="rId2" Type="http://schemas.openxmlformats.org/officeDocument/2006/relationships/tags" Target="../tags/tag322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5.emf"/></Relationships>
</file>

<file path=ppt/slides/_rels/slide61.xml.rels><?xml version='1.0' encoding='UTF-8' standalone='yes'?>
<Relationships xmlns="http://schemas.openxmlformats.org/package/2006/relationships"><Relationship Id="rId2" Type="http://schemas.openxmlformats.org/officeDocument/2006/relationships/tags" Target="../tags/tag323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6.emf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tags" Target="../tags/tag324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19.bin"/><Relationship Id="rId6" Type="http://schemas.openxmlformats.org/officeDocument/2006/relationships/image" Target="../media/image11.emf"/></Relationships>
</file>

<file path=ppt/slides/_rels/slide63.xml.rels><?xml version='1.0' encoding='UTF-8' standalone='yes'?>
<Relationships xmlns="http://schemas.openxmlformats.org/package/2006/relationships"><Relationship Id="rId2" Type="http://schemas.openxmlformats.org/officeDocument/2006/relationships/tags" Target="../tags/tag325.xml"/><Relationship Id="rId3" Type="http://schemas.openxmlformats.org/officeDocument/2006/relationships/slideLayout" Target="../slideLayouts/slideLayout2.xml"/><Relationship Id="rId5" Type="http://schemas.openxmlformats.org/officeDocument/2006/relationships/oleObject" Target="../embeddings/oleObject20.bin"/><Relationship Id="rId6" Type="http://schemas.openxmlformats.org/officeDocument/2006/relationships/image" Target="../media/image12.emf"/><Relationship Id="rId7" Type="http://schemas.openxmlformats.org/officeDocument/2006/relationships/chart" Target="../charts/chart17.xml"/><Relationship Id="rId8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 dirty="0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Корпоративные триггеры по Магнит </a:t>
            </a:r>
            <a:r>
              <a:rPr lang="en-US" dirty="0"/>
              <a:t>AdTech</a:t>
            </a:r>
            <a:r>
              <a:rPr lang="ru-RU" dirty="0"/>
              <a:t> на 2027 год</a:t>
            </a:r>
          </a:p>
          <a:p>
            <a:endParaRPr lang="ru-RU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dirty="0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en-US" sz="1400" b="1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en-US" sz="13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Растём быстрее рынка: </a:t>
            </a:r>
            <a:r>
              <a:rPr lang="ru-RU" sz="1400" dirty="0">
                <a:solidFill>
                  <a:srgbClr val="000000"/>
                </a:solidFill>
              </a:rPr>
              <a:t xml:space="preserve">+41% против +35% у Retail Media, но наша доля пока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Рост держится на трёх вещах: </a:t>
            </a:r>
            <a:r>
              <a:rPr lang="ru-RU" sz="1400" dirty="0">
                <a:solidFill>
                  <a:srgbClr val="000000"/>
                </a:solidFill>
              </a:rPr>
              <a:t xml:space="preserve">аудитория приложения (+18%), полный год нового прайса и новые стримы — RMN и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Выручка на 1 618 млн руб. выше стратегии: </a:t>
            </a:r>
            <a:r>
              <a:rPr lang="ru-RU" sz="1400" dirty="0">
                <a:solidFill>
                  <a:srgbClr val="000000"/>
                </a:solidFill>
              </a:rPr>
              <a:t xml:space="preserve">больше половины — RMN (+850), которого в стратегии не было, ещё +537 даёт DMP+Online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42% выручки — в Q4: </a:t>
            </a:r>
            <a:r>
              <a:rPr lang="ru-RU" sz="1400" dirty="0">
                <a:solidFill>
                  <a:srgbClr val="000000"/>
                </a:solidFill>
              </a:rPr>
              <a:t xml:space="preserve">итог года решается в последнем квартале, отставание в нём уже не отыграть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Расходы растут на 1 504 млн руб. (+67%), </a:t>
            </a:r>
            <a:r>
              <a:rPr lang="ru-RU" sz="1400" dirty="0">
                <a:solidFill>
                  <a:srgbClr val="000000"/>
                </a:solidFill>
              </a:rPr>
              <a:t xml:space="preserve">но 73% прироста — переменные: трафик DMP, агентства, креаторы появляются только вместе с выручкой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AT Platform: 541 млн руб. (+94), </a:t>
            </a:r>
            <a:r>
              <a:rPr lang="ru-RU" sz="1400" dirty="0">
                <a:solidFill>
                  <a:srgbClr val="000000"/>
                </a:solidFill>
              </a:rPr>
              <a:t xml:space="preserve">почти целиком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In-store: 610 млн руб. (−123), </a:t>
            </a:r>
            <a:r>
              <a:rPr lang="ru-RU" sz="1400" dirty="0">
                <a:solidFill>
                  <a:srgbClr val="000000"/>
                </a:solidFill>
              </a:rPr>
              <a:t xml:space="preserve">из них 438 — система управления медиаконтентом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FCF 9 673 млн руб., </a:t>
            </a:r>
            <a:r>
              <a:rPr lang="ru-RU" sz="1400" dirty="0">
                <a:solidFill>
                  <a:srgbClr val="000000"/>
                </a:solidFill>
              </a:rPr>
              <a:t xml:space="preserve">на 962 млн руб. выше стратегии: EBITDA растёт, CAPEX остаётся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Форматы получают 2 272 млн руб. прироста Net Revenue: </a:t>
            </a:r>
            <a:r>
              <a:rPr lang="ru-RU" sz="1200" dirty="0">
                <a:solidFill>
                  <a:srgbClr val="000000"/>
                </a:solidFill>
              </a:rPr>
              <a:t xml:space="preserve">прирост выручки 4 243 минус весь COGS 2027 (1 971)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Сверх таргета 2 000 — ещё 272: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Content factory и небольшие финальные корректировки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OPEX 1 772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выше top-down на те же 272, поэтому EBITDA остаётся на уровне таргета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EBITDA 500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ровно top-down и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CAPEX 1 151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92 ниже стратегии и на 149 ниже таргета, с учётом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Консолидированный FCF −651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149 лучше top-down — весь выигрыш даёт CAPEX; к стратегии +107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dirty="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Net Revenue +3 152 млн руб. (+33%) </a:t>
            </a:r>
            <a:r>
              <a:rPr lang="ru-RU" sz="1200" dirty="0">
                <a:solidFill>
                  <a:srgbClr val="000000"/>
                </a:solidFill>
              </a:rPr>
              <a:t xml:space="preserve">при росте выручки на 4 243: четверть прироста забирает COGS (+1 091), он растёт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72% прироста дают APP и In-store: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это эффект 2026 г. на полный год — новый прайс и введённое оборудование, плюс рост DAC на 18%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 dirty="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Ещё +471 — деньги вне КУ: </a:t>
            </a:r>
            <a:r>
              <a:rPr lang="ru-RU" sz="1200" dirty="0">
                <a:solidFill>
                  <a:srgbClr val="000000"/>
                </a:solidFill>
              </a:rPr>
              <a:t xml:space="preserve">бренд-бюджеты поставщиков через RMN и внешние рекламодатели Content factory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EBITDA 500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= 2 272 − OPEX 1 772, в точности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2 272 млн руб. достижимы, </a:t>
            </a:r>
            <a:r>
              <a:rPr lang="ru-RU" sz="1200" dirty="0">
                <a:solidFill>
                  <a:srgbClr val="000000"/>
                </a:solidFill>
              </a:rPr>
              <a:t xml:space="preserve">только если форматы не займут под свои задачи весь рекламный инвентарь AdTech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ru-RU" sz="1200" b="1" dirty="0" err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/>
              <a:t>4 243 </a:t>
            </a:r>
            <a:r>
              <a:rPr lang="ru-RU" sz="1400" b="1" dirty="0"/>
              <a:t>млн руб. </a:t>
            </a:r>
            <a:endParaRPr lang="en-US" sz="1400" b="1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b="1" dirty="0">
                <a:solidFill>
                  <a:schemeClr val="tx1"/>
                </a:solidFill>
                <a:effectLst/>
              </a:rPr>
              <a:t>2027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/>
                </a:solidFill>
              </a:rPr>
              <a:t>КУ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APP +1 501: </a:t>
            </a:r>
            <a:r>
              <a:rPr lang="ru-RU" sz="1100" dirty="0">
                <a:solidFill>
                  <a:srgbClr val="000000"/>
                </a:solidFill>
              </a:rPr>
              <a:t xml:space="preserve">больше половины (+873) даёт полный год нового прайса, остальное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In-store +1 573: </a:t>
            </a:r>
            <a:r>
              <a:rPr lang="ru-RU" sz="1100" dirty="0">
                <a:solidFill>
                  <a:srgbClr val="000000"/>
                </a:solidFill>
              </a:rPr>
              <a:t xml:space="preserve">оборудование 2026 г. впервые работает полный год (+2 462), но доход на устройство закладываем ниже (−1 264, в основном КСО): парк растёт быстрее спроса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DMP + Online +613: </a:t>
            </a:r>
            <a:r>
              <a:rPr lang="ru-RU" sz="1100" dirty="0">
                <a:solidFill>
                  <a:srgbClr val="000000"/>
                </a:solidFill>
              </a:rPr>
              <a:t xml:space="preserve">две трети прироста — новые площадки (SmartTV, Авито, маркетплейсы, 420); при маржинальности 37,5% большая часть выручки уходит в закупку трафика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Новые стримы: </a:t>
            </a:r>
            <a:r>
              <a:rPr lang="ru-RU" sz="1100" dirty="0">
                <a:solidFill>
                  <a:srgbClr val="000000"/>
                </a:solidFill>
              </a:rPr>
              <a:t xml:space="preserve">RMN 850 (+258) и Content factory 213 — деньги вне КУ, бренд-бюджеты и внешние рекламодатели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COGS 1 971 растёт быстрее выручки, </a:t>
            </a:r>
            <a:r>
              <a:rPr lang="ru-RU" sz="1100" dirty="0">
                <a:solidFill>
                  <a:srgbClr val="000000"/>
                </a:solidFill>
              </a:rPr>
              <a:t xml:space="preserve">поэтому доля Net Revenue снижается с 91% до 86%: трафик DMP (1 000), агентские (795), креаторы (176)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PEX 1 436 (+28%) — </a:t>
            </a:r>
            <a:r>
              <a:rPr lang="ru-RU" sz="1100" dirty="0">
                <a:solidFill>
                  <a:srgbClr val="000000"/>
                </a:solidFill>
              </a:rPr>
              <a:t xml:space="preserve">в основном полный год штата, набранного в 2026 г.; за год +42 FTE (до 354), 27% ФОТ капитализируем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+35% vs. +15% 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 xml:space="preserve">Retail Media растёт вдвое быстрее traditional digital </a:t>
            </a:r>
            <a:r>
              <a:rPr lang="ru-RU" sz="1400" dirty="0">
                <a:solidFill>
                  <a:srgbClr val="000000"/>
                </a:solidFill>
              </a:rPr>
              <a:t xml:space="preserve">(+35% против +15%) и забирает у него бюджеты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b="1" lang="ru-RU" sz="1400" dirty="0">
                <a:solidFill>
                  <a:srgbClr val="000000"/>
                </a:solidFill>
              </a:rPr>
              <a:t xml:space="preserve">90%+ Retail Media — у маркетплейсов, </a:t>
            </a:r>
            <a:r>
              <a:rPr lang="ru-RU" sz="1400" dirty="0">
                <a:solidFill>
                  <a:srgbClr val="000000"/>
                </a:solidFill>
              </a:rPr>
              <a:t xml:space="preserve">офлайн-ритейл только начинает забирать свою долю, и за неё уже борются X5 и Яндекс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  <a:r>
              <a:rPr lang="ru-RU" sz="1400" dirty="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—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—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—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—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360°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кэшбэк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Magnit ADS</a:t>
            </a:r>
            <a:r>
              <a:rPr lang="en-US" dirty="0"/>
              <a:t>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Content factory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—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APP +1 501: </a:t>
            </a:r>
            <a:r>
              <a:rPr lang="ru-RU" sz="1100" dirty="0">
                <a:solidFill>
                  <a:srgbClr val="000000"/>
                </a:solidFill>
              </a:rPr>
              <a:t xml:space="preserve">больше половины (+873) даёт полный год нового прайса, остальное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In-store +1 573: </a:t>
            </a:r>
            <a:r>
              <a:rPr lang="ru-RU" sz="1100" dirty="0">
                <a:solidFill>
                  <a:srgbClr val="000000"/>
                </a:solidFill>
              </a:rPr>
              <a:t xml:space="preserve">оборудование 2026 г. впервые работает полный год (+2 462), но доход на устройство закладываем ниже (−1 264, в основном КСО): парк растёт быстрее спроса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DMP + Online +613: </a:t>
            </a:r>
            <a:r>
              <a:rPr lang="ru-RU" sz="1100" dirty="0">
                <a:solidFill>
                  <a:srgbClr val="000000"/>
                </a:solidFill>
              </a:rPr>
              <a:t xml:space="preserve">две трети прироста — новые площадки (SmartTV, Авито, маркетплейсы, 420); при маржинальности 37,5% большая часть выручки уходит в закупку трафика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Новые стримы: </a:t>
            </a:r>
            <a:r>
              <a:rPr lang="ru-RU" sz="1100" dirty="0">
                <a:solidFill>
                  <a:srgbClr val="000000"/>
                </a:solidFill>
              </a:rPr>
              <a:t xml:space="preserve">RMN 850 (+258) и Content factory 213 — деньги вне КУ, бренд-бюджеты и внешние рекламодатели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COGS 1 971 растёт быстрее выручки, </a:t>
            </a:r>
            <a:r>
              <a:rPr lang="ru-RU" sz="1100" dirty="0">
                <a:solidFill>
                  <a:srgbClr val="000000"/>
                </a:solidFill>
              </a:rPr>
              <a:t xml:space="preserve">поэтому доля Net Revenue снижается с 91% до 86%: трафик DMP (1 000), агентские (795), креаторы (176)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 xml:space="preserve">PEX 1 436 (+28%) — </a:t>
            </a:r>
            <a:r>
              <a:rPr lang="ru-RU" sz="1100" dirty="0">
                <a:solidFill>
                  <a:srgbClr val="000000"/>
                </a:solidFill>
              </a:rPr>
              <a:t xml:space="preserve">в основном полный год штата, набранного в 2026 г.; за год +42 FTE (до 354), 27% ФОТ капитализируем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2 039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3 059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3 350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6 118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 xml:space="preserve"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b="1" lang="ru-RU" sz="1200" dirty="0">
                <a:solidFill>
                  <a:srgbClr val="000000"/>
                </a:solidFill>
              </a:rPr>
              <a:t xml:space="preserve">Главный риск года — Q4: </a:t>
            </a:r>
            <a:r>
              <a:rPr lang="ru-RU" sz="1200" dirty="0">
                <a:solidFill>
                  <a:srgbClr val="000000"/>
                </a:solidFill>
              </a:rPr>
              <a:t xml:space="preserve">отставание в конце года уже нечем компенсировать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b="1" lang="ru-RU" sz="1200" dirty="0">
                <a:solidFill>
                  <a:srgbClr val="000000"/>
                </a:solidFill>
              </a:rPr>
              <a:t xml:space="preserve">PEX распределён равномерно, </a:t>
            </a:r>
            <a:r>
              <a:rPr lang="ru-RU" sz="1200" dirty="0">
                <a:solidFill>
                  <a:srgbClr val="000000"/>
                </a:solidFill>
              </a:rPr>
              <a:t xml:space="preserve">поэтому маржа EBITDA меняется от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Больше половины превышения — RMN (+850): </a:t>
            </a:r>
            <a:r>
              <a:rPr lang="ru-RU" sz="1200" dirty="0">
                <a:solidFill>
                  <a:srgbClr val="000000"/>
                </a:solidFill>
              </a:rPr>
              <a:t xml:space="preserve">в стратегии этого направления не было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DMP + Online +537 к стратегии: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новые площадки — SmartTV, Авито, маркетплейсы (420)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In-store на 490 ниже стратегии: </a:t>
            </a:r>
            <a:r>
              <a:rPr lang="ru-RU" sz="1200" dirty="0">
                <a:solidFill>
                  <a:srgbClr val="000000"/>
                </a:solidFill>
              </a:rPr>
              <a:t xml:space="preserve">после кратного роста парка закладываем консервативный доход на устройство, прежде всего по КСО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OPEX с COGS выше стратегии на 748, </a:t>
            </a:r>
            <a:r>
              <a:rPr lang="ru-RU" sz="1200" dirty="0">
                <a:solidFill>
                  <a:srgbClr val="000000"/>
                </a:solidFill>
              </a:rPr>
              <a:t xml:space="preserve">почти всё — Marketing (+742): трафик DMP и агентские, оборотная сторона роста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 xml:space="preserve"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Квота 50%: </a:t>
            </a:r>
            <a:r>
              <a:rPr lang="ru-RU" sz="1200" dirty="0">
                <a:solidFill>
                  <a:srgbClr val="000000"/>
                </a:solidFill>
              </a:rPr>
              <a:t xml:space="preserve">половина инвентаря приложения и in-store закреплена за задачами Магнита. Бюджет считали на фактической доле AdTech в показах 2026 г., поэтому любой рост внутренней квоты сразу бьёт по выручке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Выручка — </a:t>
            </a:r>
            <a:r>
              <a:rPr lang="ru-RU" sz="1200" dirty="0">
                <a:solidFill>
                  <a:srgbClr val="000000"/>
                </a:solidFill>
              </a:rPr>
              <a:t xml:space="preserve"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Маржинальность 37,5%: </a:t>
            </a:r>
            <a:r>
              <a:rPr lang="ru-RU" sz="1200" dirty="0">
                <a:solidFill>
                  <a:srgbClr val="000000"/>
                </a:solidFill>
              </a:rPr>
              <a:t xml:space="preserve">1 000 из 1 600 млн руб. выручки уходит на закупку трафика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Объём — от числа публикаций: </a:t>
            </a:r>
            <a:r>
              <a:rPr lang="ru-RU" sz="1200" dirty="0">
                <a:solidFill>
                  <a:srgbClr val="000000"/>
                </a:solidFill>
              </a:rPr>
              <a:t xml:space="preserve">каждый ролик выходит в 4 соцсетях, 60–70 роликов в месяц на креатора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factory</a:t>
            </a:r>
            <a:r>
              <a:rPr lang="ru-RU" dirty="0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P&amp;L Content </a:t>
            </a:r>
            <a:r>
              <a:rPr lang="ru-RU" sz="1600" b="1" dirty="0" err="1">
                <a:solidFill>
                  <a:srgbClr val="000000"/>
                </a:solidFill>
              </a:rPr>
              <a:t>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 dirty="0">
                <a:solidFill>
                  <a:srgbClr val="000000"/>
                </a:solidFill>
              </a:rPr>
              <a:t>Content factory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 dirty="0" err="1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</a:t>
                      </a:r>
                      <a:r>
                        <a:rPr lang="ru-RU" sz="1200" b="0" i="1" kern="1200" dirty="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ru-RU" sz="1200" b="0" i="1" dirty="0" err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 dirty="0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 dirty="0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 dirty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 dirty="0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— рынок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инфлюенс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Likee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, TikTok, YouTube, VK: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 dirty="0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 dirty="0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 dirty="0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Сеть </a:t>
            </a:r>
            <a:r>
              <a:rPr lang="ru-RU" sz="1050" b="1" dirty="0" err="1">
                <a:solidFill>
                  <a:srgbClr val="000000"/>
                </a:solidFill>
                <a:latin typeface="Arial"/>
              </a:rPr>
              <a:t>нано</a:t>
            </a:r>
            <a:r>
              <a:rPr lang="ru-RU" sz="1050" b="1" dirty="0">
                <a:solidFill>
                  <a:srgbClr val="000000"/>
                </a:solidFill>
                <a:latin typeface="Arial"/>
              </a:rPr>
              <a:t>-креаторов: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 dirty="0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 dirty="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ru-RU" sz="1050" dirty="0" err="1">
                <a:solidFill>
                  <a:srgbClr val="000000"/>
                </a:solidFill>
                <a:latin typeface="Arial"/>
              </a:rPr>
              <a:t>in-app</a:t>
            </a:r>
            <a:endParaRPr lang="ru-RU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с COGS +1 504 млн руб. (+67%): три четверти прироста — переменные расходы, которые растут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Закупка трафика DMP 1 000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— 62,5% выручки DMP + Online, растёт только вместе с ней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Агентские 795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— 30% выручки, которая приходит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Креаторы 176 млн руб. </a:t>
            </a:r>
            <a:r>
              <a:rPr lang="ru-RU" sz="1200" dirty="0">
                <a:solidFill>
                  <a:srgbClr val="000000"/>
                </a:solidFill>
              </a:rPr>
              <a:t xml:space="preserve">при внешней выручке Content factory 213: без ВГО направление пока убыточно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PEX +28%, медленнее выручки, </a:t>
            </a:r>
            <a:r>
              <a:rPr lang="ru-RU" sz="1200" dirty="0">
                <a:solidFill>
                  <a:srgbClr val="000000"/>
                </a:solidFill>
              </a:rPr>
              <a:t xml:space="preserve">поэтому его доля падает: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Выручка +4 243: </a:t>
            </a:r>
            <a:r>
              <a:rPr lang="ru-RU" sz="1200" dirty="0">
                <a:solidFill>
                  <a:srgbClr val="000000"/>
                </a:solidFill>
              </a:rPr>
              <a:t xml:space="preserve"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Marketing −1 136 почти целиком переменный: </a:t>
            </a:r>
            <a:r>
              <a:rPr lang="ru-RU" sz="1200" dirty="0">
                <a:solidFill>
                  <a:srgbClr val="000000"/>
                </a:solidFill>
              </a:rPr>
              <a:t xml:space="preserve"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PEX −316: </a:t>
            </a:r>
            <a:r>
              <a:rPr lang="ru-RU" sz="1200" dirty="0">
                <a:solidFill>
                  <a:srgbClr val="000000"/>
                </a:solidFill>
              </a:rPr>
              <a:t xml:space="preserve">в основном полный год штата 2026 г. (−250), ещё −66 — команда Content factory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IT −34: </a:t>
            </a:r>
            <a:r>
              <a:rPr lang="ru-RU" sz="1200" dirty="0">
                <a:solidFill>
                  <a:srgbClr val="000000"/>
                </a:solidFill>
              </a:rPr>
              <a:t xml:space="preserve"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ФОТ разработки 510 — основной рост CAPEX: </a:t>
            </a:r>
            <a:r>
              <a:rPr lang="ru-RU" sz="1200" dirty="0">
                <a:solidFill>
                  <a:srgbClr val="000000"/>
                </a:solidFill>
              </a:rPr>
              <a:t xml:space="preserve">капитализируем 27% ФОТ IT, Product, Analytics и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ИТ-закупки 31: </a:t>
            </a:r>
            <a:r>
              <a:rPr lang="ru-RU" sz="1200" dirty="0">
                <a:solidFill>
                  <a:srgbClr val="000000"/>
                </a:solidFill>
              </a:rPr>
              <a:t xml:space="preserve">техника под найм 30 человек (14), AI-инструменты (11), Optimacros (5)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 xml:space="preserve">In-store 610, </a:t>
            </a:r>
            <a:r>
              <a:rPr lang="ru-RU" sz="1200" dirty="0">
                <a:solidFill>
                  <a:srgbClr val="000000"/>
                </a:solidFill>
              </a:rPr>
              <a:t xml:space="preserve">из них 438 — система управления медиаконтентом; интеграцию медиа с КСО в бюджет не закладываем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Рост сегментов, где находится выручка </a:t>
            </a:r>
            <a:r>
              <a:rPr lang="en-US" dirty="0"/>
              <a:t>AdTech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сигнализирует </a:t>
            </a:r>
            <a:br>
              <a:rPr lang="ru-RU" dirty="0"/>
            </a:br>
            <a:r>
              <a:rPr lang="ru-RU" dirty="0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 dirty="0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 dirty="0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Изм. 9м г/г</a:t>
            </a:r>
            <a:r>
              <a:rPr lang="en-US" sz="1200" b="1" dirty="0">
                <a:solidFill>
                  <a:srgbClr val="FF452C"/>
                </a:solidFill>
                <a:latin typeface="Arial"/>
                <a:cs typeface="Arial"/>
              </a:rPr>
              <a:t> (25-26 </a:t>
            </a: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гг.)</a:t>
            </a:r>
            <a:endParaRPr lang="ru-RU" dirty="0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 dirty="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 dirty="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 dirty="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 dirty="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 dirty="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 dirty="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 dirty="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 dirty="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 dirty="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 dirty="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 dirty="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 dirty="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 dirty="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 dirty="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 dirty="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 dirty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 dirty="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 dirty="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из центрального маркетинга в контур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</a:t>
            </a:r>
            <a:r>
              <a:rPr kumimoji="0" lang="ru-R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таргета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9+3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)’26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05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  <a:endParaRPr lang="en-US" sz="105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</a:t>
                      </a:r>
                      <a:r>
                        <a:rPr lang="ru-RU" sz="105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п.п</a:t>
                      </a:r>
                      <a:r>
                        <a:rPr lang="ru-RU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/>
                        <a:t>млн руб./чел.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 dirty="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  <a:endParaRPr kumimoji="0" lang="ru-RU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kumimoji="0" lang="ru-RU" altLang="en-US" sz="1000" b="0" i="0" u="none" strike="noStrike" kern="1200" cap="none" spc="0" normalizeH="0" baseline="0" noProof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kumimoji="0" lang="ru-RU" sz="1000" b="0" i="0" u="none" strike="noStrike" kern="1200" cap="none" spc="0" normalizeH="0" baseline="0" noProof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kumimoji="0" lang="ru-RU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kumimoji="0" lang="ru-RU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kumimoji="0" lang="ru-RU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kumimoji="0" lang="ru-R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kumimoji="0" lang="ru-RU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ru-RU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kumimoji="0" lang="ru-RU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en-US" sz="900" dirty="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 dirty="0">
                <a:solidFill>
                  <a:srgbClr val="6E6E6E"/>
                </a:solidFill>
                <a:latin typeface="+mn-lt"/>
              </a:rPr>
              <a:t>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 dirty="0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kumimoji="0" lang="ru-RU" sz="900" b="0" i="0" u="none" strike="noStrike" kern="1200" cap="none" spc="0" normalizeH="0" baseline="0" noProof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ru-RU" sz="900" b="0" i="0" u="none" strike="noStrike" kern="1200" cap="none" spc="0" normalizeH="0" baseline="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kumimoji="0" lang="ru-RU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kumimoji="0" lang="ru-RU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kumimoji="0" lang="ru-R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Статус выполнения КПЭ: </a:t>
            </a:r>
            <a:r>
              <a:rPr lang="ru-RU" dirty="0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35983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en-US" sz="1100" b="1" i="0" u="none" strike="noStrike" baseline="3000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en-US" sz="1100" b="1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en-US" sz="11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выполнения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бюджета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0" u="none" strike="noStrike" kern="1200" cap="none" dirty="0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(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Выплата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 </a:t>
                      </a:r>
                      <a:r>
                        <a:rPr lang="en-GB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премии</a:t>
                      </a:r>
                      <a:r>
                        <a:rPr lang="en-GB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)</a:t>
                      </a:r>
                      <a:endParaRPr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E-</a:t>
            </a:r>
            <a:r>
              <a:rPr kumimoji="0" lang="ru-RU" sz="1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ru-RU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kumimoji="0" lang="ru-RU" sz="1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7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instore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реклассом ФОТ в CAPEX в сентябре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 dirty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kumimoji="0" sz="14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 dirty="0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b="1" u="none" strike="noStrike" cap="none" dirty="0" err="1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sz="1100" b="1" i="0" u="none" strike="noStrike" cap="none" dirty="0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sz="15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en-GB" sz="1100" u="none" strike="noStrike" cap="none" dirty="0" err="1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sz="1100" b="1" i="0" u="none" strike="noStrike" cap="none" dirty="0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sz="11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5" imgW="395" imgH="394" progId="TCLayout.ActiveDocument.1">
                  <p:embed/>
                </p:oleObj>
              </mc:Choice>
              <mc:Fallback>
                <p:oleObj name="Слайд think-cell" r:id="rId5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kumimoji="0" lang="ru-RU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ru-RU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72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600000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/>
        </p:nvGraphicFramePr>
        <p:xfrm>
          <a:off x="6393164" y="2970000"/>
          <a:ext cx="5434661" cy="32300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11773</Words>
  <Application>Microsoft Macintosh PowerPoint</Application>
  <PresentationFormat>Widescreen</PresentationFormat>
  <Paragraphs>2537</Paragraphs>
  <Slides>57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37</cp:revision>
  <dcterms:created xsi:type="dcterms:W3CDTF">2026-10-05T11:53:56Z</dcterms:created>
  <dcterms:modified xsi:type="dcterms:W3CDTF">2026-10-16T18:05:05Z</dcterms:modified>
  <cp:category/>
</cp:coreProperties>
</file>