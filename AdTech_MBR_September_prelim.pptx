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drawings/vmlDrawing1.vml" ContentType="application/vnd.openxmlformats-officedocument.vmlDrawing"/>
  <Override PartName="/ppt/drawings/vmlDrawing10.vml" ContentType="application/vnd.openxmlformats-officedocument.vmlDrawing"/>
  <Override PartName="/ppt/drawings/vmlDrawing11.vml" ContentType="application/vnd.openxmlformats-officedocument.vmlDrawing"/>
  <Override PartName="/ppt/drawings/vmlDrawing12.vml" ContentType="application/vnd.openxmlformats-officedocument.vmlDrawing"/>
  <Override PartName="/ppt/drawings/vmlDrawing13.vml" ContentType="application/vnd.openxmlformats-officedocument.vmlDrawing"/>
  <Override PartName="/ppt/drawings/vmlDrawing14.vml" ContentType="application/vnd.openxmlformats-officedocument.vmlDrawing"/>
  <Override PartName="/ppt/drawings/vmlDrawing15.vml" ContentType="application/vnd.openxmlformats-officedocument.vmlDrawing"/>
  <Override PartName="/ppt/drawings/vmlDrawing16.vml" ContentType="application/vnd.openxmlformats-officedocument.vmlDrawing"/>
  <Override PartName="/ppt/drawings/vmlDrawing17.vml" ContentType="application/vnd.openxmlformats-officedocument.vmlDrawing"/>
  <Override PartName="/ppt/drawings/vmlDrawing18.vml" ContentType="application/vnd.openxmlformats-officedocument.vmlDrawing"/>
  <Override PartName="/ppt/drawings/vmlDrawing19.vml" ContentType="application/vnd.openxmlformats-officedocument.vmlDrawing"/>
  <Override PartName="/ppt/drawings/vmlDrawing2.vml" ContentType="application/vnd.openxmlformats-officedocument.vmlDrawing"/>
  <Override PartName="/ppt/drawings/vmlDrawing20.vml" ContentType="application/vnd.openxmlformats-officedocument.vmlDrawing"/>
  <Override PartName="/ppt/drawings/vmlDrawing21.vml" ContentType="application/vnd.openxmlformats-officedocument.vmlDrawing"/>
  <Override PartName="/ppt/drawings/vmlDrawing22.vml" ContentType="application/vnd.openxmlformats-officedocument.vmlDrawing"/>
  <Override PartName="/ppt/drawings/vmlDrawing3.vml" ContentType="application/vnd.openxmlformats-officedocument.vmlDrawing"/>
  <Override PartName="/ppt/drawings/vmlDrawing4.vml" ContentType="application/vnd.openxmlformats-officedocument.vmlDrawing"/>
  <Override PartName="/ppt/drawings/vmlDrawing5.vml" ContentType="application/vnd.openxmlformats-officedocument.vmlDrawing"/>
  <Override PartName="/ppt/drawings/vmlDrawing6.vml" ContentType="application/vnd.openxmlformats-officedocument.vmlDrawing"/>
  <Override PartName="/ppt/drawings/vmlDrawing7.vml" ContentType="application/vnd.openxmlformats-officedocument.vmlDrawing"/>
  <Override PartName="/ppt/drawings/vmlDrawing8.vml" ContentType="application/vnd.openxmlformats-officedocument.vmlDrawing"/>
  <Override PartName="/ppt/drawings/vmlDrawing9.vml" ContentType="application/vnd.openxmlformats-officedocument.vmlDrawing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3.svg" ContentType="image/svg+xml"/>
  <Override PartName="/ppt/media/image3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327" r:id="rId5"/>
    <p:sldId id="333" r:id="rId6"/>
    <p:sldId id="339" r:id="rId7"/>
    <p:sldId id="340" r:id="rId8"/>
    <p:sldId id="346" r:id="rId20"/>
    <p:sldId id="345" r:id="rId19"/>
    <p:sldId id="338" r:id="rId9"/>
  </p:sldIdLst>
  <p:sldSz cx="12192000" cy="6858000"/>
  <p:notesSz cx="6858000" cy="9144000"/>
  <p:custDataLst>
    <p:tags r:id="rId14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13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979" autoAdjust="0"/>
    <p:restoredTop sz="94660"/>
  </p:normalViewPr>
  <p:slideViewPr>
    <p:cSldViewPr snapToGrid="0">
      <p:cViewPr varScale="1">
        <p:scale>
          <a:sx n="66" d="100"/>
          <a:sy n="66" d="100"/>
        </p:scale>
        <p:origin x="36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tags" Target="tags/tag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1011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1011</c:v>
                </c:pt>
                <c:pt idx="9">
                  <c:v>979</c:v>
                </c:pt>
                <c:pt idx="10">
                  <c:v>1343</c:v>
                </c:pt>
                <c:pt idx="11">
                  <c:v>1764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6487.923725043029</c:v>
                </c:pt>
                <c:pt idx="3">
                  <c:v>7499.458079795491</c:v>
                </c:pt>
                <c:pt idx="4">
                  <c:v>7843.287548716826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8268.211595880057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3429.8056351671353</c:v>
                </c:pt>
                <c:pt idx="2">
                  <c:v>1011.5343547524621</c:v>
                </c:pt>
                <c:pt idx="3">
                  <c:v>343.8294689213344</c:v>
                </c:pt>
                <c:pt idx="4">
                  <c:v>424.92404716323017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+3 430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+1 012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+344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+425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latin typeface="Arial"/>
                      </a:rPr>
                      <a:t>8 268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9.vml.rels><?xml version='1.0' encoding='UTF-8' standalone='yes'?>
<Relationships xmlns="http://schemas.openxmlformats.org/package/2006/relationships"><Relationship Id="rId1" Type="http://schemas.openxmlformats.org/officeDocument/2006/relationships/image" Target="../media/image15.emf"/></Relationships>
</file>

<file path=ppt/drawings/_rels/vmlDrawing1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3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4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5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6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7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8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19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0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1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drawings/_rels/vmlDrawing22.vml.rels><?xml version='1.0' encoding='UTF-8' standalone='yes'?>
<Relationships xmlns="http://schemas.openxmlformats.org/package/2006/relationships"><Relationship Id="rId1" Type="http://schemas.openxmlformats.org/officeDocument/2006/relationships/image" Target="../media/image5.emf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33DDC-C5AB-4AA5-A742-E0106B7DAD39}" type="datetimeFigureOut">
              <a:rPr lang="ru-RU" smtClean="0">
                <a:latin typeface="Arial" panose="020B0604020202020204" pitchFamily="34" charset="0"/>
              </a:rPr>
              <a:t>21.09.2026</a:t>
            </a:fld>
            <a:endParaRPr lang="ru-RU">
              <a:latin typeface="Arial" panose="020B0604020202020204" pitchFamily="34" charset="0"/>
            </a:endParaRPr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>
              <a:latin typeface="Arial" panose="020B0604020202020204" pitchFamily="34" charset="0"/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3D7615-9D8D-4AFB-A858-D9C1AB35B54F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55641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97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6409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3f30aebe8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f3f30aebe8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5490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18583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.vml"/><Relationship Id="rId2" Type="http://schemas.openxmlformats.org/officeDocument/2006/relationships/tags" Target="../tags/tag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2.bin"/><Relationship Id="rId5" Type="http://schemas.openxmlformats.org/officeDocument/2006/relationships/image" Target="../media/image5.emf"/><Relationship Id="rId6" Type="http://schemas.openxmlformats.org/officeDocument/2006/relationships/image" Target="../media/image6.pn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3.v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3.bin"/><Relationship Id="rId5" Type="http://schemas.openxmlformats.org/officeDocument/2006/relationships/image" Target="../media/image5.emf"/><Relationship Id="rId6" Type="http://schemas.openxmlformats.org/officeDocument/2006/relationships/image" Target="../media/image8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4.v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5.emf"/><Relationship Id="rId6" Type="http://schemas.openxmlformats.org/officeDocument/2006/relationships/image" Target="../media/image9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5.vml"/><Relationship Id="rId2" Type="http://schemas.openxmlformats.org/officeDocument/2006/relationships/tags" Target="../tags/tag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5.bin"/><Relationship Id="rId5" Type="http://schemas.openxmlformats.org/officeDocument/2006/relationships/image" Target="../media/image5.emf"/><Relationship Id="rId6" Type="http://schemas.openxmlformats.org/officeDocument/2006/relationships/image" Target="../media/image10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6.v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6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7.vml"/><Relationship Id="rId2" Type="http://schemas.openxmlformats.org/officeDocument/2006/relationships/tags" Target="../tags/tag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7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8.v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8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9.vml"/><Relationship Id="rId2" Type="http://schemas.openxmlformats.org/officeDocument/2006/relationships/tags" Target="../tags/tag10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9.bin"/><Relationship Id="rId5" Type="http://schemas.openxmlformats.org/officeDocument/2006/relationships/image" Target="../media/image15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0.v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0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1.vml"/><Relationship Id="rId2" Type="http://schemas.openxmlformats.org/officeDocument/2006/relationships/tags" Target="../tags/tag12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1.bin"/><Relationship Id="rId5" Type="http://schemas.openxmlformats.org/officeDocument/2006/relationships/image" Target="../media/image5.emf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2.vml"/><Relationship Id="rId2" Type="http://schemas.openxmlformats.org/officeDocument/2006/relationships/tags" Target="../tags/tag13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2.bin"/><Relationship Id="rId5" Type="http://schemas.openxmlformats.org/officeDocument/2006/relationships/image" Target="../media/image5.emf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7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3.vml"/><Relationship Id="rId2" Type="http://schemas.openxmlformats.org/officeDocument/2006/relationships/tags" Target="../tags/tag14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3.bin"/><Relationship Id="rId5" Type="http://schemas.openxmlformats.org/officeDocument/2006/relationships/image" Target="../media/image5.emf"/><Relationship Id="rId6" Type="http://schemas.openxmlformats.org/officeDocument/2006/relationships/image" Target="../media/image16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4.vml"/><Relationship Id="rId2" Type="http://schemas.openxmlformats.org/officeDocument/2006/relationships/tags" Target="../tags/tag15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4.bin"/><Relationship Id="rId5" Type="http://schemas.openxmlformats.org/officeDocument/2006/relationships/image" Target="../media/image5.emf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3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5.vml"/><Relationship Id="rId2" Type="http://schemas.openxmlformats.org/officeDocument/2006/relationships/tags" Target="../tags/tag16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5.bin"/><Relationship Id="rId5" Type="http://schemas.openxmlformats.org/officeDocument/2006/relationships/image" Target="../media/image5.emf"/><Relationship Id="rId6" Type="http://schemas.openxmlformats.org/officeDocument/2006/relationships/image" Target="../media/image4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6.vml"/><Relationship Id="rId2" Type="http://schemas.openxmlformats.org/officeDocument/2006/relationships/tags" Target="../tags/tag17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6.bin"/><Relationship Id="rId5" Type="http://schemas.openxmlformats.org/officeDocument/2006/relationships/image" Target="../media/image5.emf"/><Relationship Id="rId6" Type="http://schemas.openxmlformats.org/officeDocument/2006/relationships/image" Target="../media/image1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7.vml"/><Relationship Id="rId2" Type="http://schemas.openxmlformats.org/officeDocument/2006/relationships/tags" Target="../tags/tag18.xml"/><Relationship Id="rId3" Type="http://schemas.openxmlformats.org/officeDocument/2006/relationships/slideMaster" Target="../slideMasters/slideMaster1.xml"/><Relationship Id="rId4" Type="http://schemas.openxmlformats.org/officeDocument/2006/relationships/oleObject" Target="../embeddings/oleObject17.bin"/><Relationship Id="rId5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">
    <p:bg>
      <p:bgPr>
        <a:gradFill>
          <a:gsLst>
            <a:gs pos="0">
              <a:srgbClr val="091E23"/>
            </a:gs>
            <a:gs pos="100000">
              <a:srgbClr val="FF0700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9C92FDEA-14A6-4957-B2C8-6514769423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389504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C92FDEA-14A6-4957-B2C8-6514769423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Текст 5">
            <a:extLst>
              <a:ext uri="{FF2B5EF4-FFF2-40B4-BE49-F238E27FC236}">
                <a16:creationId xmlns:a16="http://schemas.microsoft.com/office/drawing/2014/main" id="{B20D1F06-E057-C958-9BD4-2517A69D2F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sp>
        <p:nvSpPr>
          <p:cNvPr id="2" name="Текст 5">
            <a:extLst>
              <a:ext uri="{FF2B5EF4-FFF2-40B4-BE49-F238E27FC236}">
                <a16:creationId xmlns:a16="http://schemas.microsoft.com/office/drawing/2014/main" id="{70CF0B23-1960-0118-E8C7-7EBDAC12E16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2B3CAF-EA01-7D5F-0CC7-06AE2DDD1A02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0651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B5B2B3AB-ABAD-4C74-B787-B07EC59E4AD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294189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5B2B3AB-ABAD-4C74-B787-B07EC59E4AD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 descr="A red circles on a black background&#10;&#10;Description automatically generated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08150A1-0016-886F-9FE9-3ADDD617444A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A7BD145-20FD-48AE-BE7E-0B58839E816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BAB860D7-6CD2-4BB8-999C-7A9E37E23A9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88434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15117A5-F364-4F66-B3A9-5D561C5B512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08601201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15117A5-F364-4F66-B3A9-5D561C5B51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0D1906A-D076-488D-5F5B-1E413ADC4095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6DF07EC9-FD15-4135-A74B-85C0340CA33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70D25C1A-8CA8-43C6-935E-2B71824933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5040547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6A279C39-24EB-4E57-8097-4E5FE0C795AF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5578361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A279C39-24EB-4E57-8097-4E5FE0C795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33B036-32F0-9FA2-1E85-69C7B2CEE45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0C27E162-F447-450A-B929-448FCB5A67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35BDA818-76BF-43DE-BEE5-BBD894530B8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1695314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F549F00-3D03-4D0B-B729-F66EB3BEF0E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888520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F549F00-3D03-4D0B-B729-F66EB3BEF0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450C49-8376-B221-1164-CBF2556AC80B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2F59F14E-28EA-4470-9F34-8138A6B0C7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5C629E45-01D1-4198-8B0F-8348E3400E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15975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67024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E3398FB5-1E05-4532-8E33-334AEF9B2E2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9731170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E3398FB5-1E05-4532-8E33-334AEF9B2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id="{67AA0BA3-CFF3-EFD7-7141-8078FA918FED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717DA5DA-A3F5-00DF-3CC9-CCEBCDB8196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EF036F-4C6C-F9E2-B0E2-12EB9E0322EF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277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Раздел">
    <p:bg>
      <p:bgPr>
        <a:gradFill rotWithShape="1">
          <a:gsLst>
            <a:gs pos="0">
              <a:schemeClr val="tx1">
                <a:lumMod val="85000"/>
              </a:schemeClr>
            </a:gs>
            <a:gs pos="50000">
              <a:schemeClr val="tx1">
                <a:lumMod val="75000"/>
              </a:schemeClr>
            </a:gs>
            <a:gs pos="100000">
              <a:schemeClr val="tx1">
                <a:lumMod val="6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F5148E5-08BB-474A-BBE5-620EB5CFCC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51411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5148E5-08BB-474A-BBE5-620EB5CFCC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</p:spTree>
    <p:extLst>
      <p:ext uri="{BB962C8B-B14F-4D97-AF65-F5344CB8AC3E}">
        <p14:creationId xmlns:p14="http://schemas.microsoft.com/office/powerpoint/2010/main" val="223692745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7AA33A28-B0D7-4CC9-9BCB-D251351E5F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286376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AA33A28-B0D7-4CC9-9BCB-D251351E5F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6648C6A-9A0A-FA66-A5C6-52215FC9D2E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Текст 5">
            <a:extLst>
              <a:ext uri="{FF2B5EF4-FFF2-40B4-BE49-F238E27FC236}">
                <a16:creationId xmlns:a16="http://schemas.microsoft.com/office/drawing/2014/main" id="{A036AE3D-CC0A-55CD-F87B-D2BB4E725A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4558001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6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раздела.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AA39DC-EEB9-B494-EC7A-0B604BEBB7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540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B31E629F-52FF-42F7-9065-8B31244247F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4199871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31E629F-52FF-42F7-9065-8B31244247F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D915333-C7E9-0217-86C8-C66B26B96C8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5">
            <a:extLst>
              <a:ext uri="{FF2B5EF4-FFF2-40B4-BE49-F238E27FC236}">
                <a16:creationId xmlns:a16="http://schemas.microsoft.com/office/drawing/2014/main" id="{1F891ADC-0F8D-F101-716A-EB50E0B23A1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9D5689D-A705-B728-43E3-9D2C6E8DA5D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22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Подраздел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AF9A641-6AFD-499F-BF45-63C0B62D96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914191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AF9A641-6AFD-499F-BF45-63C0B62D96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8FDBC2C7-B925-17FC-C4D3-5D4A9CA0376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D0AA88B-BD64-145F-48D9-D585841154B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32989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147C0222-5867-4F08-8B58-0723DE32B51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713503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8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7C0222-5867-4F08-8B58-0723DE32B5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17588F-0BD7-8FBB-3582-1B26CE72A28C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318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Подраздел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DE1434D0-07D9-43E8-AA00-24D74C88E9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3182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2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E1434D0-07D9-43E8-AA00-24D74C88E9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F2F1D18E-98C0-B843-A37E-8401E081421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Текст 5">
            <a:extLst>
              <a:ext uri="{FF2B5EF4-FFF2-40B4-BE49-F238E27FC236}">
                <a16:creationId xmlns:a16="http://schemas.microsoft.com/office/drawing/2014/main" id="{C0981838-80F7-BA01-DB12-C56DE47003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512763"/>
            <a:ext cx="5468938" cy="231811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подраздела.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30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385C05B-6EF5-7ABA-D525-F64F083FA9D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50864" y="6259136"/>
            <a:ext cx="1145508" cy="357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2648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0511083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6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!">
    <p:bg>
      <p:bgPr>
        <a:solidFill>
          <a:srgbClr val="FF07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6B443370-4167-4ADA-AE99-787BD41E103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749278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90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B443370-4167-4ADA-AE99-787BD41E103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F41D0FF-F6BF-13B3-87AE-000AC1A889F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046586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Спасибо!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CFA323C3-DD6E-445E-9447-67C2D4DA16A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5244126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4" name="Слайд think-cell" r:id="rId4" imgW="395" imgH="394" progId="TCLayout.ActiveDocument.1">
                  <p:embed/>
                </p:oleObj>
              </mc:Choice>
              <mc:Fallback>
                <p:oleObj name="Слайд think-cell" r:id="rId4" imgW="395" imgH="39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FA323C3-DD6E-445E-9447-67C2D4DA16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8">
            <a:extLst>
              <a:ext uri="{FF2B5EF4-FFF2-40B4-BE49-F238E27FC236}">
                <a16:creationId xmlns:a16="http://schemas.microsoft.com/office/drawing/2014/main" id="{65A228C1-C386-81AD-EBEE-256B762A23A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63" y="6220691"/>
            <a:ext cx="5484812" cy="37696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Контактные данные. Шрифт </a:t>
            </a:r>
            <a:r>
              <a:rPr lang="en" dirty="0"/>
              <a:t>Arial Regular </a:t>
            </a:r>
            <a:r>
              <a:rPr lang="ru-RU" dirty="0"/>
              <a:t>14</a:t>
            </a:r>
          </a:p>
        </p:txBody>
      </p:sp>
      <p:sp>
        <p:nvSpPr>
          <p:cNvPr id="3" name="Текст 5">
            <a:extLst>
              <a:ext uri="{FF2B5EF4-FFF2-40B4-BE49-F238E27FC236}">
                <a16:creationId xmlns:a16="http://schemas.microsoft.com/office/drawing/2014/main" id="{097D3648-3D09-F087-62C1-A46EB11207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3" y="512764"/>
            <a:ext cx="4078287" cy="83477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4000"/>
              </a:lnSpc>
              <a:defRPr sz="3000" b="1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Спасибо!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20FBA20-8EBB-9B63-C3B4-E6FF227B54F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4806950"/>
            <a:ext cx="1271587" cy="1271588"/>
          </a:xfrm>
          <a:prstGeom prst="rect">
            <a:avLst/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5011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vmlDrawing" Target="../drawings/vmlDrawing1.vml"/><Relationship Id="rId19" Type="http://schemas.openxmlformats.org/officeDocument/2006/relationships/tags" Target="../tags/tag2.xml"/><Relationship Id="rId20" Type="http://schemas.openxmlformats.org/officeDocument/2006/relationships/oleObject" Target="../embeddings/oleObject1.bin"/><Relationship Id="rId21" Type="http://schemas.openxmlformats.org/officeDocument/2006/relationships/image" Target="../media/image1.emf"/><Relationship Id="rId22" Type="http://schemas.openxmlformats.org/officeDocument/2006/relationships/image" Target="../media/image2.png"/><Relationship Id="rId23" Type="http://schemas.openxmlformats.org/officeDocument/2006/relationships/image" Target="../media/image3.svg"/><Relationship Id="rId2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78177458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Слайд think-cell" r:id="rId20" imgW="425" imgH="426" progId="TCLayout.ActiveDocument.1">
                  <p:embed/>
                </p:oleObj>
              </mc:Choice>
              <mc:Fallback>
                <p:oleObj name="Слайд think-cell" r:id="rId20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24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8.vml"/><Relationship Id="rId2" Type="http://schemas.openxmlformats.org/officeDocument/2006/relationships/tags" Target="../tags/tag19.xm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8.bin"/><Relationship Id="rId6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19.vml"/><Relationship Id="rId2" Type="http://schemas.openxmlformats.org/officeDocument/2006/relationships/tags" Target="../tags/tag20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2.xml"/><Relationship Id="rId5" Type="http://schemas.openxmlformats.org/officeDocument/2006/relationships/oleObject" Target="../embeddings/oleObject19.bin"/><Relationship Id="rId6" Type="http://schemas.openxmlformats.org/officeDocument/2006/relationships/image" Target="../media/image5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3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1.vml"/><Relationship Id="rId2" Type="http://schemas.openxmlformats.org/officeDocument/2006/relationships/tags" Target="../tags/tag22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4.xml"/><Relationship Id="rId5" Type="http://schemas.openxmlformats.org/officeDocument/2006/relationships/oleObject" Target="../embeddings/oleObject21.bin"/><Relationship Id="rId6" Type="http://schemas.openxmlformats.org/officeDocument/2006/relationships/image" Target="../media/image5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0.vml"/><Relationship Id="rId2" Type="http://schemas.openxmlformats.org/officeDocument/2006/relationships/tags" Target="../tags/tag21.xml"/><Relationship Id="rId3" Type="http://schemas.openxmlformats.org/officeDocument/2006/relationships/slideLayout" Target="../slideLayouts/slideLayout14.xml"/><Relationship Id="rId5" Type="http://schemas.openxmlformats.org/officeDocument/2006/relationships/oleObject" Target="../embeddings/oleObject20.bin"/><Relationship Id="rId6" Type="http://schemas.openxmlformats.org/officeDocument/2006/relationships/image" Target="../media/image5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vmlDrawing" Target="../drawings/vmlDrawing22.vml"/><Relationship Id="rId2" Type="http://schemas.openxmlformats.org/officeDocument/2006/relationships/tags" Target="../tags/tag23.xml"/><Relationship Id="rId3" Type="http://schemas.openxmlformats.org/officeDocument/2006/relationships/slideLayout" Target="../slideLayouts/slideLayout14.xml"/><Relationship Id="rId4" Type="http://schemas.openxmlformats.org/officeDocument/2006/relationships/notesSlide" Target="../notesSlides/notesSlide5.xml"/><Relationship Id="rId5" Type="http://schemas.openxmlformats.org/officeDocument/2006/relationships/oleObject" Target="../embeddings/oleObject22.bin"/><Relationship Id="rId6" Type="http://schemas.openxmlformats.org/officeDocument/2006/relationships/image" Target="../media/image5.emf"/><Relationship Id="rId7" Type="http://schemas.openxmlformats.org/officeDocument/2006/relationships/chart" Target="../charts/chart1.xml"/><Relationship Id="rId8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885346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8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Сентябрь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Результаты Сентября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6839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2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Статус выполнения КПЭ: </a:t>
            </a:r>
            <a:r>
              <a:rPr lang="ru-RU" dirty="0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 dirty="0"/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35983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en-US" sz="1100" b="1" i="0" u="none" strike="noStrike" baseline="3000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  <a:endParaRPr lang="en-US" sz="1100" b="1" i="0" u="none" strike="noStrike" baseline="0" dirty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en-US" sz="1100" b="1" i="0" u="none" strike="noStrike" baseline="300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3,05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kumimoji="0" lang="en-US" sz="11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87936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196,04%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92,0%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125,0%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140,25%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</a:t>
                      </a: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0,75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1,0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выполнения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бюджета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118,64%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120,16%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i="0" u="none" strike="noStrike" kern="1200" cap="none" dirty="0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(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Выплата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 </a:t>
                      </a:r>
                      <a:r>
                        <a:rPr lang="en-GB" sz="11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премии</a:t>
                      </a:r>
                      <a:r>
                        <a:rPr lang="en-GB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)</a:t>
                      </a:r>
                      <a:endParaRPr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+mn-cs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146,60%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150,00%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en-US" sz="1100" b="1" i="0" u="none" strike="noStrike" dirty="0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E-</a:t>
            </a:r>
            <a:r>
              <a:rPr kumimoji="0" lang="ru-RU" sz="1200" b="0" i="1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com</a:t>
            </a: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.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</a:t>
            </a:r>
            <a: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:</a:t>
            </a:r>
            <a:endParaRPr kumimoji="0" lang="ru-RU" sz="1200" b="0" i="1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4 607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1 409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3 050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7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+2 210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(1 940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(-8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+1 181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(301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(126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Эффект увеличения продаж рекламы новым контрагентам и доступности instore инвентаря, а также подхода по совместному признанию выручки с FT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620677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6 546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3 391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1 409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4 989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3 789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4 264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10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766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106%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102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208%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3%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351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-16%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854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1 029%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674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691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897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+338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(199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+13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(-243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выручки (+351 млн руб.) и экономия OPEX (+503 млн руб.): рекласс ФОТ в CAPEX и закупка трафика ниже бюджета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 dirty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3" name="Овал 8">
            <a:extLst>
              <a:ext uri="{FF2B5EF4-FFF2-40B4-BE49-F238E27FC236}">
                <a16:creationId xmlns:a16="http://schemas.microsoft.com/office/drawing/2014/main" id="{BBC10EF4-BCBD-42B4-9FF1-974B17A60F1E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+4 441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(3 430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(80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+344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(-783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(122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(-96 млн руб.), отпускные (-71 млн руб.), налоги (-17 млн руб.); оплата труда +118 млн руб. (рекласс ФОТ в CAPEX), индексация не закладывается (+49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(+305 млн руб.), вознаграждения РА (+91 млн руб.), маркетинг ВГО (-36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(+38 млн руб.), IT: ноутбуки и облачное хранение (+42 млн руб.), резерв отпусков (-22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выручки с FT и рост продаж E-com, экономия OPEX (+425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94963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2851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5 653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6 175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4 457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(2 364)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(1 106)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(1 151)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8 268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5 210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7 564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6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sz="1467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 dirty="0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+2 231 млн руб.</a:t>
            </a:r>
            <a:endParaRPr kumimoji="0" lang="en-US" sz="11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совместное признание с FT (1 490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(88 млн руб.)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-837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(-1 084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(-4 млн руб.)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Премии и резерв STI (-30 млн руб.), отпускные (-24 млн руб.), налоги (-11 млн руб.); индексация не закладывается (+28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(+51 млн руб.), маркетинг ВГО (-14 млн руб.), вознаграждения блогерам (-3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(+13 млн руб.), IT (+11 млн руб.), резерв отпусков (+6 млн руб.).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Montserrat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 E-com (+2 231 млн руб.) перекрывает Non-E-com ниже бюджета: Instore (-414 млн руб.), MIP, Magnit Market, DMP (-423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100" b="0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7" name="Овал 8">
            <a:extLst>
              <a:ext uri="{FF2B5EF4-FFF2-40B4-BE49-F238E27FC236}">
                <a16:creationId xmlns:a16="http://schemas.microsoft.com/office/drawing/2014/main" id="{DCB4E56D-3C8C-4BA8-A841-9C608AF74444}"/>
              </a:ext>
            </a:extLst>
          </p:cNvPr>
          <p:cNvSpPr/>
          <p:nvPr/>
        </p:nvSpPr>
        <p:spPr>
          <a:xfrm>
            <a:off x="421597" y="494056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27204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77531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3" name="Овал 8">
            <a:extLst>
              <a:ext uri="{FF2B5EF4-FFF2-40B4-BE49-F238E27FC236}">
                <a16:creationId xmlns:a16="http://schemas.microsoft.com/office/drawing/2014/main" id="{201E1033-797F-41AA-845D-CDCA2E150DAB}"/>
              </a:ext>
            </a:extLst>
          </p:cNvPr>
          <p:cNvSpPr/>
          <p:nvPr/>
        </p:nvSpPr>
        <p:spPr>
          <a:xfrm>
            <a:off x="6629400" y="427860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8</a:t>
            </a:r>
            <a:endParaRPr kumimoji="0" lang="ru-RU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b="1" u="none" strike="noStrike" cap="none" dirty="0" err="1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руб</a:t>
                      </a: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.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sz="1100" b="1" i="0" u="none" strike="noStrike" cap="none" dirty="0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2 783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2 231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405%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sz="15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1 303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4 086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323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-88%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База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</a:t>
                      </a: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/</a:t>
                      </a:r>
                      <a:r>
                        <a:rPr lang="en-GB" sz="1100" u="none" strike="noStrike" cap="none" dirty="0" err="1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Инкремент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126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(807)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-39%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(438)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34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-74%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3 279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77%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sz="11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3 170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1 421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strike="noStrike" cap="none" dirty="0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sz="1100" b="1" i="0" u="none" strike="noStrike" cap="none" dirty="0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1 647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1 015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161%</a:t>
                      </a:r>
                      <a:endParaRPr sz="110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452C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99999"/>
              </a:solidFill>
              <a:effectLst/>
              <a:uLnTx/>
              <a:uFillTx/>
              <a:latin typeface="Arial" panose="020B0604020202020204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4" name="Слайд think-cell" r:id="rId5" imgW="395" imgH="394" progId="TCLayout.ActiveDocument.1">
                  <p:embed/>
                </p:oleObj>
              </mc:Choice>
              <mc:Fallback>
                <p:oleObj name="Слайд think-cell" r:id="rId5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5</a:t>
            </a:fld>
            <a:endParaRPr kumimoji="0" lang="ru-RU" sz="9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1" i="0" u="none" strike="noStrike" kern="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</a:t>
            </a:r>
            <a:r>
              <a:rPr kumimoji="0" lang="ru-RU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4 785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Совместного с FT признания E-com выручки (3 430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(1 012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(344 млн руб.)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Q3 — стабильно около 1 млрд руб. в месяц (июль 1 065, август 964, сентябрь 1 011 млн руб.): +29% к Q2 (3 041 против 2 354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72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3050000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/>
        </p:nvGraphicFramePr>
        <p:xfrm>
          <a:off x="6393164" y="3420000"/>
          <a:ext cx="5434661" cy="278000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790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.%m.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0B3545431DF82849ACD44B49D57C9188" ma:contentTypeVersion="2" ma:contentTypeDescription="Создание документа." ma:contentTypeScope="" ma:versionID="96c1915abd0aed11ffad06b9da633f76">
  <xsd:schema xmlns:xsd="http://www.w3.org/2001/XMLSchema" xmlns:xs="http://www.w3.org/2001/XMLSchema" xmlns:p="http://schemas.microsoft.com/office/2006/metadata/properties" xmlns:ns2="23f24dc4-55e7-4b23-ad21-5667e5c601db" targetNamespace="http://schemas.microsoft.com/office/2006/metadata/properties" ma:root="true" ma:fieldsID="84afcf1879093882b320bcfdfd8e3d8c" ns2:_="">
    <xsd:import namespace="23f24dc4-55e7-4b23-ad21-5667e5c601d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f24dc4-55e7-4b23-ad21-5667e5c601d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8CCE8E-1A14-4837-A69C-9F49DC0039D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3f24dc4-55e7-4b23-ad21-5667e5c601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1C461-A2A0-4783-8188-6FDC42230ADB}">
  <ds:schemaRefs>
    <ds:schemaRef ds:uri="http://schemas.microsoft.com/office/2006/metadata/properties"/>
    <ds:schemaRef ds:uri="http://purl.org/dc/terms/"/>
    <ds:schemaRef ds:uri="http://purl.org/dc/elements/1.1/"/>
    <ds:schemaRef ds:uri="23f24dc4-55e7-4b23-ad21-5667e5c601db"/>
    <ds:schemaRef ds:uri="http://schemas.openxmlformats.org/package/2006/metadata/core-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9942E2-DB8C-4A8D-8D64-13D3FB5F968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2046</Words>
  <Application>Microsoft Office PowerPoint</Application>
  <PresentationFormat>Widescreen</PresentationFormat>
  <Paragraphs>601</Paragraphs>
  <Slides>8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Montserrat</vt:lpstr>
      <vt:lpstr>Onest</vt:lpstr>
      <vt:lpstr>7_Тема Office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Давыдова Мария Анатольевна</dc:creator>
  <cp:lastModifiedBy>Астемир Хоконов</cp:lastModifiedBy>
  <cp:revision>20</cp:revision>
  <dcterms:created xsi:type="dcterms:W3CDTF">2026-09-14T12:51:46Z</dcterms:created>
  <dcterms:modified xsi:type="dcterms:W3CDTF">2026-09-21T16:13:39Z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0x0101000B3545431DF82849ACD44B49D57C9188</vt:lpwstr>
  </property>
</Properties>
</file>