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21.vml" ContentType="application/vnd.openxmlformats-officedocument.vmlDrawing"/>
  <Override PartName="/ppt/drawings/vmlDrawing2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3.svg" ContentType="image/svg+xml"/>
  <Override PartName="/ppt/media/image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27" r:id="rId5"/>
    <p:sldId id="333" r:id="rId6"/>
    <p:sldId id="339" r:id="rId7"/>
    <p:sldId id="340" r:id="rId8"/>
    <p:sldId id="346" r:id="rId20"/>
    <p:sldId id="345" r:id="rId19"/>
    <p:sldId id="338" r:id="rId9"/>
    <p:sldId id="343" r:id="rId11"/>
    <p:sldId id="344" r:id="rId12"/>
  </p:sldIdLst>
  <p:sldSz cx="12192000" cy="6858000"/>
  <p:notesSz cx="6858000" cy="9144000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3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979" autoAdjust="0"/>
    <p:restoredTop sz="94660"/>
  </p:normalViewPr>
  <p:slideViewPr>
    <p:cSldViewPr snapToGrid="0">
      <p:cViewPr varScale="1">
        <p:scale>
          <a:sx n="66" d="100"/>
          <a:sy n="66" d="100"/>
        </p:scale>
        <p:origin x="3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tags" Target="tags/tag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1011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1011</c:v>
                </c:pt>
                <c:pt idx="9">
                  <c:v>979</c:v>
                </c:pt>
                <c:pt idx="10">
                  <c:v>1343</c:v>
                </c:pt>
                <c:pt idx="11">
                  <c:v>1764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33DDC-C5AB-4AA5-A742-E0106B7DAD39}" type="datetimeFigureOut">
              <a:rPr lang="ru-RU" smtClean="0">
                <a:latin typeface="Arial" panose="020B0604020202020204" pitchFamily="34" charset="0"/>
              </a:rPr>
              <a:t>21.09.2026</a:t>
            </a:fld>
            <a:endParaRPr lang="ru-RU">
              <a:latin typeface="Arial" panose="020B0604020202020204" pitchFamily="34" charset="0"/>
            </a:endParaRPr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D7615-9D8D-4AFB-A858-D9C1AB35B54F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97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6409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549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1858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5.emf"/><Relationship Id="rId6" Type="http://schemas.openxmlformats.org/officeDocument/2006/relationships/image" Target="../media/image6.pn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5.emf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5.emf"/><Relationship Id="rId6" Type="http://schemas.openxmlformats.org/officeDocument/2006/relationships/image" Target="../media/image9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5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6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5.emf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5.emf"/><Relationship Id="rId6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5.emf"/><Relationship Id="rId6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C92FDEA-14A6-4957-B2C8-6514769423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3895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92FDEA-14A6-4957-B2C8-651476942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651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5B2B3AB-ABAD-4C74-B787-B07EC59E4A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29418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5B2B3AB-ABAD-4C74-B787-B07EC59E4A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8434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15117A5-F364-4F66-B3A9-5D561C5B51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6012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5117A5-F364-4F66-B3A9-5D561C5B51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04054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A279C39-24EB-4E57-8097-4E5FE0C795A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5783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A279C39-24EB-4E57-8097-4E5FE0C79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695314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F549F00-3D03-4D0B-B729-F66EB3BEF0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8852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F549F00-3D03-4D0B-B729-F66EB3BEF0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1597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6702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3398FB5-1E05-4532-8E33-334AEF9B2E2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973117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3398FB5-1E05-4532-8E33-334AEF9B2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7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gradFill rotWithShape="1">
          <a:gsLst>
            <a:gs pos="0">
              <a:schemeClr val="tx1">
                <a:lumMod val="85000"/>
              </a:schemeClr>
            </a:gs>
            <a:gs pos="50000">
              <a:schemeClr val="tx1">
                <a:lumMod val="75000"/>
              </a:schemeClr>
            </a:gs>
            <a:gs pos="100000">
              <a:schemeClr val="tx1">
                <a:lumMod val="6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5148E5-08BB-474A-BBE5-620EB5CFCC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14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5148E5-08BB-474A-BBE5-620EB5CFC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</p:spTree>
    <p:extLst>
      <p:ext uri="{BB962C8B-B14F-4D97-AF65-F5344CB8AC3E}">
        <p14:creationId xmlns:p14="http://schemas.microsoft.com/office/powerpoint/2010/main" val="2236927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AA33A28-B0D7-4CC9-9BCB-D251351E5F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86376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A33A28-B0D7-4CC9-9BCB-D251351E5F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40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1E629F-52FF-42F7-9065-8B31244247F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19987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1E629F-52FF-42F7-9065-8B31244247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2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AF9A641-6AFD-499F-BF45-63C0B62D96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914191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AF9A641-6AFD-499F-BF45-63C0B62D96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47C0222-5867-4F08-8B58-0723DE32B5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1350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7C0222-5867-4F08-8B58-0723DE32B5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1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E1434D0-07D9-43E8-AA00-24D74C88E9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18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E1434D0-07D9-43E8-AA00-24D74C88E9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26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051108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43370-4167-4ADA-AE99-787BD41E10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749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43370-4167-4ADA-AE99-787BD41E10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4658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A323C3-DD6E-445E-9447-67C2D4DA16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24412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A323C3-DD6E-445E-9447-67C2D4DA1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011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vmlDrawing" Target="../drawings/vmlDrawing1.vml"/><Relationship Id="rId19" Type="http://schemas.openxmlformats.org/officeDocument/2006/relationships/tags" Target="../tags/tag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Relationship Id="rId23" Type="http://schemas.openxmlformats.org/officeDocument/2006/relationships/image" Target="../media/image3.svg"/><Relationship Id="rId2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781774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Слайд think-cell" r:id="rId20" imgW="425" imgH="426" progId="TCLayout.ActiveDocument.1">
                  <p:embed/>
                </p:oleObj>
              </mc:Choice>
              <mc:Fallback>
                <p:oleObj name="Слайд think-cell" r:id="rId20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24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8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19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1.v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21.bin"/><Relationship Id="rId6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5.xml"/><Relationship Id="rId5" Type="http://schemas.openxmlformats.org/officeDocument/2006/relationships/oleObject" Target="../embeddings/oleObject22.bin"/><Relationship Id="rId6" Type="http://schemas.openxmlformats.org/officeDocument/2006/relationships/image" Target="../media/image5.emf"/><Relationship Id="rId7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8853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Сентябрь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Результаты Сентября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83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2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Статус выполнения КПЭ: </a:t>
            </a:r>
            <a:r>
              <a:rPr lang="ru-RU" dirty="0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 dirty="0"/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35983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kumimoji="0" lang="en-US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87936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196,04%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140,25%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118,64%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120,16%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146,60%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E-</a:t>
            </a:r>
            <a:r>
              <a:rPr kumimoji="0" lang="ru-RU" sz="12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</a:t>
            </a: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</a:t>
            </a:r>
            <a: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</a:t>
            </a:r>
            <a:endParaRPr kumimoji="0" lang="ru-RU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4 607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1 409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3 050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+2 210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(1 940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(-8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+1 181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(301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(126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Эффект увеличения продаж рекламы новым контрагентам и доступности instore инвентаря, а также подхода по совместному признанию выручки с FT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62067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6 546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1 409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4 989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3 789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4 264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766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106%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102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208%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351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-16%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854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1 029%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674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691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897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+338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(199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+13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(-243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выручки (+351 млн руб.) и экономия OPEX (+503 млн руб.): рекласс ФОТ в CAPEX и закупка трафика ниже бюджета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3" name="Овал 8">
            <a:extLst>
              <a:ext uri="{FF2B5EF4-FFF2-40B4-BE49-F238E27FC236}">
                <a16:creationId xmlns:a16="http://schemas.microsoft.com/office/drawing/2014/main" id="{BBC10EF4-BCBD-42B4-9FF1-974B17A60F1E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+4 441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(3 430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+344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(-783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(122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(-96 млн руб.), отпускные (-71 млн руб.), налоги (-17 млн руб.); оплата труда +118 млн руб. (рекласс ФОТ в CAPEX), индексация не закладывается (+49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(+305 млн руб.), вознаграждения РА (+91 млн руб.), маркетинг ВГО (-36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(+38 млн руб.), IT: ноутбуки и облачное хранение (+42 млн руб.), резерв отпусков (-22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выручки с FT и рост продаж E-com, экономия OPEX (+425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2851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6 175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4 457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(2 364)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(1 106)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(1 151)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+2 231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(1 490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-837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(-1 084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(-30 млн руб.), отпускные (-24 млн руб.), налоги (-11 млн руб.); индексация не закладывается (+28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(+51 млн руб.), маркетинг ВГО (-14 млн руб.), вознаграждения блогерам (-3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(+13 млн руб.), IT (+11 млн руб.), резерв отпусков (+6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E-com (+2 231 млн руб.) перекрывает Non-E-com ниже бюджета: Instore (-414 млн руб.), MIP, Magnit Market, DMP (-423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27204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77531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27860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1 303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4 086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(807)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3 279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3 170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4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</a:t>
            </a:r>
            <a:r>
              <a:rPr kumimoji="0" lang="ru-RU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4 785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Совместного с FT признания E-com выручки (3 430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(1 012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(344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7EAE01-E69F-AD42-72DA-DF810F541E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CCE8B-C4C7-30D3-0CA7-FE6424CB90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07350-903F-3D0F-7767-FAA08F5C12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Product &amp; Tech</a:t>
            </a:r>
            <a:endParaRPr lang="en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42730F-15D3-6B4C-603E-58F45A495612}"/>
              </a:ext>
            </a:extLst>
          </p:cNvPr>
          <p:cNvSpPr txBox="1"/>
          <p:nvPr/>
        </p:nvSpPr>
        <p:spPr>
          <a:xfrm>
            <a:off x="364176" y="1025034"/>
            <a:ext cx="6854043" cy="50348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К платформе подключено 40 тыс. точек контакта с покупателем (КСО), интегрированных в процесс продаж.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Разработаны новые рекламные форматы — видео и сторис.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Платформа развернута на </a:t>
            </a:r>
            <a:r>
              <a:rPr lang="en-GB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web </a:t>
            </a: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и в мобильном приложении, суммарное покрытие трафика составляет 85%.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Запущены нативные форматы: выбор специального предложения и любимой категории в один клик.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В личном кабинете реализовано начисление баллов за отзывы, процесс автоматизирован. Разработана модель расчёта оптимального количества баллов по товарам (ранее использовались фиксированные значения).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Настроено автоматическое выставление счетов.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В личный кабинет добавлен аукцион по СРО; запущено тестирование модели с аукционным механизмом.</a:t>
            </a:r>
          </a:p>
          <a:p>
            <a:pPr marL="457200" lvl="0" indent="-304800" algn="l" rtl="0">
              <a:spcBef>
                <a:spcPts val="1000"/>
              </a:spcBef>
              <a:spcAft>
                <a:spcPts val="1000"/>
              </a:spcAft>
              <a:buSzPct val="100000"/>
              <a:buAutoNum type="arabicPeriod"/>
            </a:pP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Начато тестирование продажи онлайн-кэшбеков на основе </a:t>
            </a:r>
            <a:r>
              <a:rPr lang="en-GB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ML-</a:t>
            </a:r>
            <a:r>
              <a:rPr lang="ru-RU" sz="160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</a:rPr>
              <a:t>модели.</a:t>
            </a:r>
          </a:p>
        </p:txBody>
      </p:sp>
      <p:pic>
        <p:nvPicPr>
          <p:cNvPr id="9" name="Google Shape;361;p52" descr="preencoded.png">
            <a:extLst>
              <a:ext uri="{FF2B5EF4-FFF2-40B4-BE49-F238E27FC236}">
                <a16:creationId xmlns:a16="http://schemas.microsoft.com/office/drawing/2014/main" id="{0DAE93B3-3109-944B-9753-C46AE4DFB0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673673" y="728633"/>
            <a:ext cx="3508197" cy="550949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583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F555BF-7ADF-205E-7E84-5104248AB11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21776-1557-3FC7-289F-777E2BCF01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D60FE3-9354-BAB1-0D98-EA398321D5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>
                <a:sym typeface="Onest SemiBold"/>
              </a:rPr>
              <a:t>Планы на </a:t>
            </a:r>
            <a:r>
              <a:rPr lang="en-GB" dirty="0">
                <a:sym typeface="Onest SemiBold"/>
              </a:rPr>
              <a:t>h2 2026</a:t>
            </a:r>
          </a:p>
          <a:p>
            <a:endParaRPr lang="en-RU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00306E9-DE87-89BA-A61A-E0E71364FFC0}"/>
              </a:ext>
            </a:extLst>
          </p:cNvPr>
          <p:cNvSpPr/>
          <p:nvPr/>
        </p:nvSpPr>
        <p:spPr>
          <a:xfrm>
            <a:off x="364177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Партнерство </a:t>
            </a:r>
            <a:b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с форматами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Финализация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договоренностей по работе с АВ, Дикси, МА, Финтех</a:t>
            </a: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Построение регулярных бизнес-ревью со всеми форматами с целью устойчивого бренда </a:t>
            </a:r>
            <a:r>
              <a:rPr lang="en-GB" sz="1350" kern="0" dirty="0" err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Adtech</a:t>
            </a:r>
            <a:endParaRPr lang="en-GB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Формирование заключений по новому ЮЛ внутри Магнит для получения бренд-бюджетов поставщиков</a:t>
            </a:r>
          </a:p>
          <a:p>
            <a:pPr algn="ctr"/>
            <a:endParaRPr lang="en-RU" dirty="0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A41DB89-A89E-8708-A3AA-F762847EA748}"/>
              </a:ext>
            </a:extLst>
          </p:cNvPr>
          <p:cNvSpPr/>
          <p:nvPr/>
        </p:nvSpPr>
        <p:spPr>
          <a:xfrm>
            <a:off x="9171709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b2b-</a:t>
            </a:r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маркетинг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Рост знания бренда до 7% на рынке рекламных платформ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Запуск коммуникаций рекламной платформы, главный запуск года –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рекламный кабинет в </a:t>
            </a:r>
            <a:r>
              <a:rPr lang="en-GB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Q4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для поставщиков и РА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Расширение и дистрибуция базы кейсов в рынок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Внедрение автоматизации для медиапланирования и ценообразования</a:t>
            </a:r>
          </a:p>
          <a:p>
            <a:pPr algn="ctr"/>
            <a:endParaRPr lang="en-RU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96C2BCA-AA1E-241E-8337-F31DD2A502B7}"/>
              </a:ext>
            </a:extLst>
          </p:cNvPr>
          <p:cNvSpPr/>
          <p:nvPr/>
        </p:nvSpPr>
        <p:spPr>
          <a:xfrm>
            <a:off x="6235865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Операции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en-US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Подготовка к высокому сезону за счёт автоматизации процессов</a:t>
            </a: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Снижение доли недокрутов до минимума</a:t>
            </a:r>
          </a:p>
          <a:p>
            <a:pPr marL="177750" lvl="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noProof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Внедрение кредитной политики для рекламодателей: управления периодом погашения кредиторской задолженности, снижение резервов под сомнительные долги</a:t>
            </a:r>
            <a:endParaRPr lang="ru-RU" sz="1350" kern="0" noProof="1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DB6A8D7-9E72-4D24-1760-E4FE38E32DB0}"/>
              </a:ext>
            </a:extLst>
          </p:cNvPr>
          <p:cNvSpPr/>
          <p:nvPr/>
        </p:nvSpPr>
        <p:spPr>
          <a:xfrm>
            <a:off x="3300021" y="1025236"/>
            <a:ext cx="2656114" cy="484909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  <a:t>Коммерция</a:t>
            </a: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br>
              <a:rPr lang="en-US" b="1" kern="0" dirty="0">
                <a:solidFill>
                  <a:srgbClr val="FF130F"/>
                </a:solidFill>
                <a:latin typeface="Arial" panose="020B0604020202020204"/>
                <a:cs typeface="Arial" panose="020B0604020202020204" pitchFamily="34" charset="0"/>
                <a:sym typeface="Onest SemiBold"/>
              </a:rPr>
            </a:br>
            <a:endParaRPr lang="ru-RU" b="1" kern="0" dirty="0">
              <a:solidFill>
                <a:srgbClr val="FF130F"/>
              </a:solidFill>
              <a:latin typeface="Arial" panose="020B0604020202020204"/>
              <a:cs typeface="Arial" panose="020B0604020202020204" pitchFamily="34" charset="0"/>
              <a:sym typeface="Onest SemiBold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6,4 млрд (65%) на Н2 — 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рекламная выручка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Тест партнерских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продуктов с Т-Банком и </a:t>
            </a:r>
            <a:r>
              <a:rPr lang="ru-RU" sz="1350" kern="0" dirty="0" err="1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Авито</a:t>
            </a:r>
            <a:endParaRPr lang="en-US" sz="1350" kern="0" dirty="0">
              <a:solidFill>
                <a:srgbClr val="000000"/>
              </a:solidFill>
              <a:latin typeface="Arial" panose="020B0604020202020204"/>
              <a:cs typeface="Arial" panose="020B0604020202020204" pitchFamily="34" charset="0"/>
              <a:sym typeface="Onest"/>
            </a:endParaRPr>
          </a:p>
          <a:p>
            <a:pPr marL="177750" indent="-177750">
              <a:spcAft>
                <a:spcPts val="600"/>
              </a:spcAft>
              <a:buClr>
                <a:srgbClr val="FF130F"/>
              </a:buClr>
              <a:buSzPct val="100000"/>
              <a:buFont typeface="Arial" panose="020B0604020202020204" pitchFamily="34" charset="0"/>
              <a:buChar char="•"/>
            </a:pP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Запуск нового решения</a:t>
            </a:r>
            <a:r>
              <a:rPr lang="en-US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 </a:t>
            </a:r>
            <a:r>
              <a:rPr lang="ru-RU" sz="1350" kern="0" dirty="0">
                <a:solidFill>
                  <a:srgbClr val="000000"/>
                </a:solidFill>
                <a:latin typeface="Arial" panose="020B0604020202020204"/>
                <a:cs typeface="Arial" panose="020B0604020202020204" pitchFamily="34" charset="0"/>
                <a:sym typeface="Onest"/>
              </a:rPr>
              <a:t>для санкционных поставщиков по закупке медийной рекламы через Магнит</a:t>
            </a:r>
          </a:p>
          <a:p>
            <a:pPr algn="ctr"/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4345563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9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3545431DF82849ACD44B49D57C9188" ma:contentTypeVersion="2" ma:contentTypeDescription="Создание документа." ma:contentTypeScope="" ma:versionID="96c1915abd0aed11ffad06b9da633f76">
  <xsd:schema xmlns:xsd="http://www.w3.org/2001/XMLSchema" xmlns:xs="http://www.w3.org/2001/XMLSchema" xmlns:p="http://schemas.microsoft.com/office/2006/metadata/properties" xmlns:ns2="23f24dc4-55e7-4b23-ad21-5667e5c601db" targetNamespace="http://schemas.microsoft.com/office/2006/metadata/properties" ma:root="true" ma:fieldsID="84afcf1879093882b320bcfdfd8e3d8c" ns2:_="">
    <xsd:import namespace="23f24dc4-55e7-4b23-ad21-5667e5c601d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f24dc4-55e7-4b23-ad21-5667e5c601d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8CCE8E-1A14-4837-A69C-9F49DC0039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f24dc4-55e7-4b23-ad21-5667e5c60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1C461-A2A0-4783-8188-6FDC42230ADB}">
  <ds:schemaRefs>
    <ds:schemaRef ds:uri="http://schemas.microsoft.com/office/2006/metadata/properties"/>
    <ds:schemaRef ds:uri="http://purl.org/dc/terms/"/>
    <ds:schemaRef ds:uri="http://purl.org/dc/elements/1.1/"/>
    <ds:schemaRef ds:uri="23f24dc4-55e7-4b23-ad21-5667e5c601db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9942E2-DB8C-4A8D-8D64-13D3FB5F96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2046</Words>
  <Application>Microsoft Office PowerPoint</Application>
  <PresentationFormat>Widescreen</PresentationFormat>
  <Paragraphs>601</Paragraphs>
  <Slides>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Montserrat</vt:lpstr>
      <vt:lpstr>Onest</vt:lpstr>
      <vt:lpstr>7_Тема Office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Давыдова Мария Анатольевна</dc:creator>
  <cp:lastModifiedBy>Астемир Хоконов</cp:lastModifiedBy>
  <cp:revision>20</cp:revision>
  <dcterms:created xsi:type="dcterms:W3CDTF">2026-09-14T12:51:46Z</dcterms:created>
  <dcterms:modified xsi:type="dcterms:W3CDTF">2026-09-21T16:13:39Z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0x0101000B3545431DF82849ACD44B49D57C9188</vt:lpwstr>
  </property>
</Properties>
</file>