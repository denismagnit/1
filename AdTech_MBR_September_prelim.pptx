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0.vml" ContentType="application/vnd.openxmlformats-officedocument.vmlDrawing"/>
  <Override PartName="/ppt/drawings/vmlDrawing21.vml" ContentType="application/vnd.openxmlformats-officedocument.vmlDrawing"/>
  <Override PartName="/ppt/drawings/vmlDrawing2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3.svg" ContentType="image/svg+xml"/>
  <Override PartName="/ppt/media/image3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327" r:id="rId5"/>
    <p:sldId id="333" r:id="rId6"/>
    <p:sldId id="339" r:id="rId7"/>
    <p:sldId id="340" r:id="rId8"/>
    <p:sldId id="346" r:id="rId20"/>
    <p:sldId id="345" r:id="rId19"/>
    <p:sldId id="338" r:id="rId9"/>
  </p:sldIdLst>
  <p:sldSz cx="12192000" cy="6858000"/>
  <p:notesSz cx="6858000" cy="9144000"/>
  <p:custDataLst>
    <p:tags r:id="rId1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13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979" autoAdjust="0"/>
    <p:restoredTop sz="94660"/>
  </p:normalViewPr>
  <p:slideViewPr>
    <p:cSldViewPr snapToGrid="0">
      <p:cViewPr varScale="1">
        <p:scale>
          <a:sx n="66" d="100"/>
          <a:sy n="66" d="100"/>
        </p:scale>
        <p:origin x="36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tags" Target="tags/tag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1011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1011</c:v>
                </c:pt>
                <c:pt idx="9">
                  <c:v>979</c:v>
                </c:pt>
                <c:pt idx="10">
                  <c:v>1343</c:v>
                </c:pt>
                <c:pt idx="11">
                  <c:v>1764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3058.1180898758935</c:v>
                </c:pt>
                <c:pt idx="2">
                  <c:v>6487.923725043029</c:v>
                </c:pt>
                <c:pt idx="3">
                  <c:v>7499.458079795491</c:v>
                </c:pt>
                <c:pt idx="4">
                  <c:v>7843.287548716826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3058.1180898758935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8268.211595880057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3429.8056351671353</c:v>
                </c:pt>
                <c:pt idx="2">
                  <c:v>1011.5343547524621</c:v>
                </c:pt>
                <c:pt idx="3">
                  <c:v>343.8294689213344</c:v>
                </c:pt>
                <c:pt idx="4">
                  <c:v>424.92404716323017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+3 430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+1 012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+344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+425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8 268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3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5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33DDC-C5AB-4AA5-A742-E0106B7DAD39}" type="datetimeFigureOut">
              <a:rPr lang="ru-RU" smtClean="0">
                <a:latin typeface="Arial" panose="020B0604020202020204" pitchFamily="34" charset="0"/>
              </a:rPr>
              <a:t>21.09.2026</a:t>
            </a:fld>
            <a:endParaRPr lang="ru-RU">
              <a:latin typeface="Arial" panose="020B0604020202020204" pitchFamily="34" charset="0"/>
            </a:endParaRPr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3D7615-9D8D-4AFB-A858-D9C1AB35B54F}" type="slidenum">
              <a:rPr lang="ru-RU" smtClean="0">
                <a:latin typeface="Arial" panose="020B0604020202020204" pitchFamily="34" charset="0"/>
              </a:rPr>
              <a:t>‹#›</a:t>
            </a:fld>
            <a:endParaRPr lang="ru-RU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5564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97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6409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549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1858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5.emf"/><Relationship Id="rId6" Type="http://schemas.openxmlformats.org/officeDocument/2006/relationships/image" Target="../media/image6.pn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5.emf"/><Relationship Id="rId6" Type="http://schemas.openxmlformats.org/officeDocument/2006/relationships/image" Target="../media/image8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5.emf"/><Relationship Id="rId6" Type="http://schemas.openxmlformats.org/officeDocument/2006/relationships/image" Target="../media/image9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5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6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9.bin"/><Relationship Id="rId5" Type="http://schemas.openxmlformats.org/officeDocument/2006/relationships/image" Target="../media/image15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0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5.emf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5.emf"/><Relationship Id="rId6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5.emf"/><Relationship Id="rId6" Type="http://schemas.openxmlformats.org/officeDocument/2006/relationships/image" Target="../media/image1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C92FDEA-14A6-4957-B2C8-6514769423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638950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92FDEA-14A6-4957-B2C8-6514769423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0651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B5B2B3AB-ABAD-4C74-B787-B07EC59E4A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29418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5B2B3AB-ABAD-4C74-B787-B07EC59E4A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88434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15117A5-F364-4F66-B3A9-5D561C5B512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860120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15117A5-F364-4F66-B3A9-5D561C5B51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040547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A279C39-24EB-4E57-8097-4E5FE0C795A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557836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A279C39-24EB-4E57-8097-4E5FE0C79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695314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F549F00-3D03-4D0B-B729-F66EB3BEF0E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88520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F549F00-3D03-4D0B-B729-F66EB3BEF0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15975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67024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3398FB5-1E05-4532-8E33-334AEF9B2E2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973117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3398FB5-1E05-4532-8E33-334AEF9B2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277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gradFill rotWithShape="1">
          <a:gsLst>
            <a:gs pos="0">
              <a:schemeClr val="tx1">
                <a:lumMod val="85000"/>
              </a:schemeClr>
            </a:gs>
            <a:gs pos="50000">
              <a:schemeClr val="tx1">
                <a:lumMod val="75000"/>
              </a:schemeClr>
            </a:gs>
            <a:gs pos="100000">
              <a:schemeClr val="tx1">
                <a:lumMod val="6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F5148E5-08BB-474A-BBE5-620EB5CFCC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141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5148E5-08BB-474A-BBE5-620EB5CFCC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</p:spTree>
    <p:extLst>
      <p:ext uri="{BB962C8B-B14F-4D97-AF65-F5344CB8AC3E}">
        <p14:creationId xmlns:p14="http://schemas.microsoft.com/office/powerpoint/2010/main" val="22369274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AA33A28-B0D7-4CC9-9BCB-D251351E5F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286376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A33A28-B0D7-4CC9-9BCB-D251351E5F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5407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31E629F-52FF-42F7-9065-8B31244247F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419987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1E629F-52FF-42F7-9065-8B31244247F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22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AF9A641-6AFD-499F-BF45-63C0B62D96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914191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AF9A641-6AFD-499F-BF45-63C0B62D96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298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47C0222-5867-4F08-8B58-0723DE32B51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713503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7C0222-5867-4F08-8B58-0723DE32B5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18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E1434D0-07D9-43E8-AA00-24D74C88E9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182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E1434D0-07D9-43E8-AA00-24D74C88E9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2648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051108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6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B443370-4167-4ADA-AE99-787BD41E10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74927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B443370-4167-4ADA-AE99-787BD41E10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46586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FA323C3-DD6E-445E-9447-67C2D4DA16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524412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A323C3-DD6E-445E-9447-67C2D4DA16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5011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vmlDrawing" Target="../drawings/vmlDrawing1.vml"/><Relationship Id="rId19" Type="http://schemas.openxmlformats.org/officeDocument/2006/relationships/tags" Target="../tags/tag2.xml"/><Relationship Id="rId20" Type="http://schemas.openxmlformats.org/officeDocument/2006/relationships/oleObject" Target="../embeddings/oleObject1.bin"/><Relationship Id="rId21" Type="http://schemas.openxmlformats.org/officeDocument/2006/relationships/image" Target="../media/image1.emf"/><Relationship Id="rId22" Type="http://schemas.openxmlformats.org/officeDocument/2006/relationships/image" Target="../media/image2.png"/><Relationship Id="rId23" Type="http://schemas.openxmlformats.org/officeDocument/2006/relationships/image" Target="../media/image3.svg"/><Relationship Id="rId2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781774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Слайд think-cell" r:id="rId20" imgW="425" imgH="426" progId="TCLayout.ActiveDocument.1">
                  <p:embed/>
                </p:oleObj>
              </mc:Choice>
              <mc:Fallback>
                <p:oleObj name="Слайд think-cell" r:id="rId20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24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8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19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1.vml"/><Relationship Id="rId2" Type="http://schemas.openxmlformats.org/officeDocument/2006/relationships/tags" Target="../tags/tag22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21.bin"/><Relationship Id="rId6" Type="http://schemas.openxmlformats.org/officeDocument/2006/relationships/image" Target="../media/image5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2.v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5.xml"/><Relationship Id="rId5" Type="http://schemas.openxmlformats.org/officeDocument/2006/relationships/oleObject" Target="../embeddings/oleObject22.bin"/><Relationship Id="rId6" Type="http://schemas.openxmlformats.org/officeDocument/2006/relationships/image" Target="../media/image5.emf"/><Relationship Id="rId7" Type="http://schemas.openxmlformats.org/officeDocument/2006/relationships/chart" Target="../charts/chart1.xml"/><Relationship Id="rId8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8853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8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Сентябрь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Результаты Сентября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6839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2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Статус выполнения КПЭ: </a:t>
            </a:r>
            <a:r>
              <a:rPr lang="ru-RU" dirty="0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 dirty="0"/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335983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kumimoji="0" lang="en-US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87936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196,04%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140,25%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  <a:endParaRPr lang="en-US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118,64%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120,16%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E-</a:t>
            </a:r>
            <a:r>
              <a:rPr kumimoji="0" lang="ru-RU" sz="12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com</a:t>
            </a: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.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</a:t>
            </a:r>
            <a: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:</a:t>
            </a:r>
            <a:endParaRPr kumimoji="0" lang="ru-RU" sz="12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4 607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1 409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3 050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+2 210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(1 940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(-8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+1 181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(301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(126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Эффект увеличения продаж рекламы новым контрагентам и доступности instore инвентаря, а также подхода по совместному признанию выручки с FT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620677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6 546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1 409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4 989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3 789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4 264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0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766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106%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102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208%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351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-16%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854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1 029%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674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691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897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+338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(199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+13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(-243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выручки (+351 млн руб.) и экономия OPEX (+503 млн руб.): рекласс ФОТ в CAPEX и закупка трафика ниже бюджета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3" name="Овал 8">
            <a:extLst>
              <a:ext uri="{FF2B5EF4-FFF2-40B4-BE49-F238E27FC236}">
                <a16:creationId xmlns:a16="http://schemas.microsoft.com/office/drawing/2014/main" id="{BBC10EF4-BCBD-42B4-9FF1-974B17A60F1E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+4 441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(3 430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(932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+344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(-783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(122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(-96 млн руб.), отпускные (-71 млн руб.), налоги (-17 млн руб.); оплата труда +118 млн руб. (рекласс ФОТ в CAPEX), индексация не закладывается (+49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(+305 млн руб.), вознаграждения РА (+91 млн руб.), маркетинг ВГО (-36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(+38 млн руб.), IT: ноутбуки и облачное хранение (+42 млн руб.), резерв отпусков (-22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выручки с FT и рост продаж E-com, экономия OPEX (+425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2851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6 175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4 457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(2 364)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(1 106)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(1 151)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2 563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+2 231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(1 490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(654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-837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(-1 084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(-30 млн руб.), отпускные (-24 млн руб.), налоги (-11 млн руб.); индексация не закладывается (+28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(+51 млн руб.), маркетинг ВГО (-14 млн руб.), вознаграждения блогерам (-3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(+13 млн руб.), IT (+11 млн руб.), резерв отпусков (+6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E-com (+2 231 млн руб.) перекрывает Non-E-com ниже бюджета: Instore (-414 млн руб.), MIP, Magnit Market, DMP (-423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27204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77531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27860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2 454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2 783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1 303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4 086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(807)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3 279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3 170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4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lang="ru-RU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</a:t>
            </a:r>
            <a:r>
              <a:rPr kumimoji="0" lang="ru-RU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4 785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Совместного с FT признания E-com выручки (3 430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(1 012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(344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72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2600000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/>
        </p:nvGraphicFramePr>
        <p:xfrm>
          <a:off x="6393164" y="2970000"/>
          <a:ext cx="5434661" cy="323000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790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0B3545431DF82849ACD44B49D57C9188" ma:contentTypeVersion="2" ma:contentTypeDescription="Создание документа." ma:contentTypeScope="" ma:versionID="96c1915abd0aed11ffad06b9da633f76">
  <xsd:schema xmlns:xsd="http://www.w3.org/2001/XMLSchema" xmlns:xs="http://www.w3.org/2001/XMLSchema" xmlns:p="http://schemas.microsoft.com/office/2006/metadata/properties" xmlns:ns2="23f24dc4-55e7-4b23-ad21-5667e5c601db" targetNamespace="http://schemas.microsoft.com/office/2006/metadata/properties" ma:root="true" ma:fieldsID="84afcf1879093882b320bcfdfd8e3d8c" ns2:_="">
    <xsd:import namespace="23f24dc4-55e7-4b23-ad21-5667e5c601d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f24dc4-55e7-4b23-ad21-5667e5c601d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8CCE8E-1A14-4837-A69C-9F49DC0039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f24dc4-55e7-4b23-ad21-5667e5c601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1C461-A2A0-4783-8188-6FDC42230ADB}">
  <ds:schemaRefs>
    <ds:schemaRef ds:uri="http://schemas.microsoft.com/office/2006/metadata/properties"/>
    <ds:schemaRef ds:uri="http://purl.org/dc/terms/"/>
    <ds:schemaRef ds:uri="http://purl.org/dc/elements/1.1/"/>
    <ds:schemaRef ds:uri="23f24dc4-55e7-4b23-ad21-5667e5c601db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9942E2-DB8C-4A8D-8D64-13D3FB5F968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2046</Words>
  <Application>Microsoft Office PowerPoint</Application>
  <PresentationFormat>Widescreen</PresentationFormat>
  <Paragraphs>601</Paragraphs>
  <Slides>8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Montserrat</vt:lpstr>
      <vt:lpstr>Onest</vt:lpstr>
      <vt:lpstr>7_Тема Office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Давыдова Мария Анатольевна</dc:creator>
  <cp:lastModifiedBy>Астемир Хоконов</cp:lastModifiedBy>
  <cp:revision>20</cp:revision>
  <dcterms:created xsi:type="dcterms:W3CDTF">2026-09-14T12:51:46Z</dcterms:created>
  <dcterms:modified xsi:type="dcterms:W3CDTF">2026-09-21T16:13:39Z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0x0101000B3545431DF82849ACD44B49D57C9188</vt:lpwstr>
  </property>
</Properties>
</file>