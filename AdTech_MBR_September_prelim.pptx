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19.vml" ContentType="application/vnd.openxmlformats-officedocument.vmlDrawing"/>
  <Override PartName="/ppt/drawings/vmlDrawing2.vml" ContentType="application/vnd.openxmlformats-officedocument.vmlDrawing"/>
  <Override PartName="/ppt/drawings/vmlDrawing20.vml" ContentType="application/vnd.openxmlformats-officedocument.vmlDrawing"/>
  <Override PartName="/ppt/drawings/vmlDrawing21.vml" ContentType="application/vnd.openxmlformats-officedocument.vmlDrawing"/>
  <Override PartName="/ppt/drawings/vmlDrawing22.vml" ContentType="application/vnd.openxmlformats-officedocument.vmlDrawing"/>
  <Override PartName="/ppt/drawings/vmlDrawing23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13.svg" ContentType="image/svg+xml"/>
  <Override PartName="/ppt/media/image3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sldIdLst>
    <p:sldId id="327" r:id="rId5"/>
    <p:sldId id="333" r:id="rId6"/>
    <p:sldId id="339" r:id="rId7"/>
    <p:sldId id="340" r:id="rId8"/>
    <p:sldId id="346" r:id="rId20"/>
    <p:sldId id="345" r:id="rId19"/>
    <p:sldId id="338" r:id="rId9"/>
    <p:sldId id="342" r:id="rId10"/>
    <p:sldId id="343" r:id="rId11"/>
    <p:sldId id="344" r:id="rId12"/>
  </p:sldIdLst>
  <p:sldSz cx="12192000" cy="6858000"/>
  <p:notesSz cx="6858000" cy="9144000"/>
  <p:custDataLst>
    <p:tags r:id="rId1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13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979" autoAdjust="0"/>
    <p:restoredTop sz="94660"/>
  </p:normalViewPr>
  <p:slideViewPr>
    <p:cSldViewPr snapToGrid="0">
      <p:cViewPr varScale="1">
        <p:scale>
          <a:sx n="66" d="100"/>
          <a:sy n="66" d="100"/>
        </p:scale>
        <p:origin x="36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tags" Target="tags/tag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6.xml"/><Relationship Id="rId20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2026*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1011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1011</c:v>
                </c:pt>
                <c:pt idx="9">
                  <c:v>979</c:v>
                </c:pt>
                <c:pt idx="10">
                  <c:v>1343</c:v>
                </c:pt>
                <c:pt idx="11">
                  <c:v>1764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5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9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33DDC-C5AB-4AA5-A742-E0106B7DAD39}" type="datetimeFigureOut">
              <a:rPr lang="ru-RU" smtClean="0">
                <a:latin typeface="Arial" panose="020B0604020202020204" pitchFamily="34" charset="0"/>
              </a:rPr>
              <a:t>21.09.2026</a:t>
            </a:fld>
            <a:endParaRPr lang="ru-RU">
              <a:latin typeface="Arial" panose="020B0604020202020204" pitchFamily="34" charset="0"/>
            </a:endParaRPr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3D7615-9D8D-4AFB-A858-D9C1AB35B54F}" type="slidenum">
              <a:rPr lang="ru-RU" smtClean="0">
                <a:latin typeface="Arial" panose="020B0604020202020204" pitchFamily="34" charset="0"/>
              </a:rPr>
              <a:t>‹#›</a:t>
            </a:fld>
            <a:endParaRPr lang="ru-RU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5564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97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6409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5490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1858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05063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5.emf"/><Relationship Id="rId6" Type="http://schemas.openxmlformats.org/officeDocument/2006/relationships/image" Target="../media/image6.pn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5.emf"/><Relationship Id="rId6" Type="http://schemas.openxmlformats.org/officeDocument/2006/relationships/image" Target="../media/image8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5.emf"/><Relationship Id="rId6" Type="http://schemas.openxmlformats.org/officeDocument/2006/relationships/image" Target="../media/image9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5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6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9.bin"/><Relationship Id="rId5" Type="http://schemas.openxmlformats.org/officeDocument/2006/relationships/image" Target="../media/image15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0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1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3.bin"/><Relationship Id="rId5" Type="http://schemas.openxmlformats.org/officeDocument/2006/relationships/image" Target="../media/image5.emf"/><Relationship Id="rId6" Type="http://schemas.openxmlformats.org/officeDocument/2006/relationships/image" Target="../media/image16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5.emf"/><Relationship Id="rId6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5.emf"/><Relationship Id="rId6" Type="http://schemas.openxmlformats.org/officeDocument/2006/relationships/image" Target="../media/image1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Обложка">
    <p:bg>
      <p:bgPr>
        <a:gradFill>
          <a:gsLst>
            <a:gs pos="0">
              <a:srgbClr val="091E23"/>
            </a:gs>
            <a:gs pos="100000">
              <a:srgbClr val="FF07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C92FDEA-14A6-4957-B2C8-6514769423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6389504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C92FDEA-14A6-4957-B2C8-6514769423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70CF0B23-1960-0118-E8C7-7EBDAC12E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2B3CAF-EA01-7D5F-0CC7-06AE2DDD1A0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0651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B5B2B3AB-ABAD-4C74-B787-B07EC59E4A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294189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5B2B3AB-ABAD-4C74-B787-B07EC59E4A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8150A1-0016-886F-9FE9-3ADDD617444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A7BD145-20FD-48AE-BE7E-0B58839E81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AB860D7-6CD2-4BB8-999C-7A9E37E23A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88434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15117A5-F364-4F66-B3A9-5D561C5B512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860120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15117A5-F364-4F66-B3A9-5D561C5B51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D1906A-D076-488D-5F5B-1E413ADC4095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6DF07EC9-FD15-4135-A74B-85C0340CA3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70D25C1A-8CA8-43C6-935E-2B71824933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040547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A279C39-24EB-4E57-8097-4E5FE0C795A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557836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A279C39-24EB-4E57-8097-4E5FE0C79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33B036-32F0-9FA2-1E85-69C7B2CEE45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C27E162-F447-450A-B929-448FCB5A67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35BDA818-76BF-43DE-BEE5-BBD894530B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695314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F549F00-3D03-4D0B-B729-F66EB3BEF0E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888520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F549F00-3D03-4D0B-B729-F66EB3BEF0E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450C49-8376-B221-1164-CBF2556AC80B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2F59F14E-28EA-4470-9F34-8138A6B0C7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5C629E45-01D1-4198-8B0F-8348E3400E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15975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67024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E3398FB5-1E05-4532-8E33-334AEF9B2E2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973117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3398FB5-1E05-4532-8E33-334AEF9B2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67AA0BA3-CFF3-EFD7-7141-8078FA918FED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717DA5DA-A3F5-00DF-3CC9-CCEBCDB819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EF036F-4C6C-F9E2-B0E2-12EB9E0322E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277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Раздел">
    <p:bg>
      <p:bgPr>
        <a:gradFill rotWithShape="1">
          <a:gsLst>
            <a:gs pos="0">
              <a:schemeClr val="tx1">
                <a:lumMod val="85000"/>
              </a:schemeClr>
            </a:gs>
            <a:gs pos="50000">
              <a:schemeClr val="tx1">
                <a:lumMod val="75000"/>
              </a:schemeClr>
            </a:gs>
            <a:gs pos="100000">
              <a:schemeClr val="tx1">
                <a:lumMod val="6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F5148E5-08BB-474A-BBE5-620EB5CFCC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35141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5148E5-08BB-474A-BBE5-620EB5CFCC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</p:spTree>
    <p:extLst>
      <p:ext uri="{BB962C8B-B14F-4D97-AF65-F5344CB8AC3E}">
        <p14:creationId xmlns:p14="http://schemas.microsoft.com/office/powerpoint/2010/main" val="22369274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AA33A28-B0D7-4CC9-9BCB-D251351E5F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286376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AA33A28-B0D7-4CC9-9BCB-D251351E5F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6648C6A-9A0A-FA66-A5C6-52215FC9D2E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A036AE3D-CC0A-55CD-F87B-D2BB4E725A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AA39DC-EEB9-B494-EC7A-0B604BEBB75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5407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B31E629F-52FF-42F7-9065-8B31244247F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419987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1E629F-52FF-42F7-9065-8B31244247F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7D915333-C7E9-0217-86C8-C66B26B96C8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5">
            <a:extLst>
              <a:ext uri="{FF2B5EF4-FFF2-40B4-BE49-F238E27FC236}">
                <a16:creationId xmlns:a16="http://schemas.microsoft.com/office/drawing/2014/main" id="{1F891ADC-0F8D-F101-716A-EB50E0B23A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D5689D-A705-B728-43E3-9D2C6E8DA5D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22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Под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AF9A641-6AFD-499F-BF45-63C0B62D96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914191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AF9A641-6AFD-499F-BF45-63C0B62D96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8FDBC2C7-B925-17FC-C4D3-5D4A9CA0376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0AA88B-BD64-145F-48D9-D585841154B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3298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47C0222-5867-4F08-8B58-0723DE32B51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713503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1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7C0222-5867-4F08-8B58-0723DE32B5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17588F-0BD7-8FBB-3582-1B26CE72A28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3180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E1434D0-07D9-43E8-AA00-24D74C88E9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182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E1434D0-07D9-43E8-AA00-24D74C88E9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385C05B-6EF5-7ABA-D525-F64F083FA9D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2648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051108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6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пасибо!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6B443370-4167-4ADA-AE99-787BD41E10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74927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B443370-4167-4ADA-AE99-787BD41E10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F41D0FF-F6BF-13B3-87AE-000AC1A889F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046586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Спасибо!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CFA323C3-DD6E-445E-9447-67C2D4DA16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524412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A323C3-DD6E-445E-9447-67C2D4DA16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5011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vmlDrawing" Target="../drawings/vmlDrawing1.vml"/><Relationship Id="rId19" Type="http://schemas.openxmlformats.org/officeDocument/2006/relationships/tags" Target="../tags/tag2.xml"/><Relationship Id="rId20" Type="http://schemas.openxmlformats.org/officeDocument/2006/relationships/oleObject" Target="../embeddings/oleObject1.bin"/><Relationship Id="rId21" Type="http://schemas.openxmlformats.org/officeDocument/2006/relationships/image" Target="../media/image1.emf"/><Relationship Id="rId22" Type="http://schemas.openxmlformats.org/officeDocument/2006/relationships/image" Target="../media/image2.png"/><Relationship Id="rId23" Type="http://schemas.openxmlformats.org/officeDocument/2006/relationships/image" Target="../media/image3.svg"/><Relationship Id="rId2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7817745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Слайд think-cell" r:id="rId20" imgW="425" imgH="426" progId="TCLayout.ActiveDocument.1">
                  <p:embed/>
                </p:oleObj>
              </mc:Choice>
              <mc:Fallback>
                <p:oleObj name="Слайд think-cell" r:id="rId20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24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18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9.vml"/><Relationship Id="rId2" Type="http://schemas.openxmlformats.org/officeDocument/2006/relationships/tags" Target="../tags/tag20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19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1.vml"/><Relationship Id="rId2" Type="http://schemas.openxmlformats.org/officeDocument/2006/relationships/tags" Target="../tags/tag22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21.bin"/><Relationship Id="rId6" Type="http://schemas.openxmlformats.org/officeDocument/2006/relationships/image" Target="../media/image5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2.vml"/><Relationship Id="rId2" Type="http://schemas.openxmlformats.org/officeDocument/2006/relationships/tags" Target="../tags/tag23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5.xml"/><Relationship Id="rId5" Type="http://schemas.openxmlformats.org/officeDocument/2006/relationships/oleObject" Target="../embeddings/oleObject22.bin"/><Relationship Id="rId6" Type="http://schemas.openxmlformats.org/officeDocument/2006/relationships/image" Target="../media/image5.emf"/><Relationship Id="rId7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3.vml"/><Relationship Id="rId2" Type="http://schemas.openxmlformats.org/officeDocument/2006/relationships/tags" Target="../tags/tag24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6.xml"/><Relationship Id="rId5" Type="http://schemas.openxmlformats.org/officeDocument/2006/relationships/oleObject" Target="../embeddings/oleObject23.bin"/><Relationship Id="rId6" Type="http://schemas.openxmlformats.org/officeDocument/2006/relationships/image" Target="../media/image5.emf"/><Relationship Id="rId7" Type="http://schemas.openxmlformats.org/officeDocument/2006/relationships/hyperlink" Target="https://datalens.ru/4xn7u8egfuj2p-ads-media-overview-new?tab=JBA&amp;state=c9fbda2f728" TargetMode="External"/><Relationship Id="rId8" Type="http://schemas.openxmlformats.org/officeDocument/2006/relationships/hyperlink" Target="https://datalens.ru/aoovl6j5n6tuv-emkost-utilizaciya-ecom-adtech?state=69ac86ec451" TargetMode="External"/><Relationship Id="rId9" Type="http://schemas.openxmlformats.org/officeDocument/2006/relationships/hyperlink" Target="https://datalens.ru/dqf7wdbu7isix-pereezd-na-novuyu-platformu?tab=aJ&amp;state=86e1ab15849&amp;utm_referrer=https%3A%2F%2Fsso.ya.ru%2F" TargetMode="External"/><Relationship Id="rId10" Type="http://schemas.openxmlformats.org/officeDocument/2006/relationships/hyperlink" Target="https://datalens.ru/l080w39aiede5-utilizaciya-efirnogo-vremeni?tab=Wd&amp;utm_referrer=about%3Ablank&amp;state=c0f7b95519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78853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8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Сентябрь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Результаты Сентября 2026 (предварительные)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6839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2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D65656BD-BDC7-4AB7-9502-886BF31BB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Статус выполнения КПЭ: </a:t>
            </a:r>
            <a:r>
              <a:rPr lang="ru-RU" dirty="0">
                <a:solidFill>
                  <a:schemeClr val="dk1"/>
                </a:solidFill>
                <a:latin typeface="+mn-lt"/>
                <a:sym typeface="Montserrat"/>
              </a:rPr>
              <a:t>т</a:t>
            </a: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риггеры КПЭ выполняются </a:t>
            </a:r>
            <a:b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</a:b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в полном объеме</a:t>
            </a:r>
            <a:endParaRPr lang="ru-RU" dirty="0"/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335983"/>
              </p:ext>
            </p:extLst>
          </p:nvPr>
        </p:nvGraphicFramePr>
        <p:xfrm>
          <a:off x="364174" y="93915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2026*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kumimoji="0" lang="en-US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87936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92,0%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125,0%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196,04%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92,0%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125,0%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140,25%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  <a:endParaRPr lang="en-US"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118,64%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120,00%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120,16%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146,60%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4CBD42-8B3D-4B5C-8D9E-FA37F778EAED}"/>
              </a:ext>
            </a:extLst>
          </p:cNvPr>
          <p:cNvSpPr txBox="1"/>
          <p:nvPr/>
        </p:nvSpPr>
        <p:spPr>
          <a:xfrm>
            <a:off x="326464" y="3847656"/>
            <a:ext cx="10260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Расчет EBITDA, применимый к КПЭ выполняется без учета базовой выручки E-</a:t>
            </a:r>
            <a:r>
              <a:rPr kumimoji="0" lang="ru-RU" sz="12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com</a:t>
            </a: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. </a:t>
            </a:r>
            <a:b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Расшифровка</a:t>
            </a:r>
            <a: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:</a:t>
            </a:r>
            <a:endParaRPr kumimoji="0" lang="ru-RU" sz="12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aphicFrame>
        <p:nvGraphicFramePr>
          <p:cNvPr id="11" name="Google Shape;315;p47">
            <a:extLst>
              <a:ext uri="{FF2B5EF4-FFF2-40B4-BE49-F238E27FC236}">
                <a16:creationId xmlns:a16="http://schemas.microsoft.com/office/drawing/2014/main" id="{424E3A06-3193-4916-98C3-B1A49BE3BD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365435"/>
              </p:ext>
            </p:extLst>
          </p:nvPr>
        </p:nvGraphicFramePr>
        <p:xfrm>
          <a:off x="364174" y="4259720"/>
          <a:ext cx="2867833" cy="191560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Montserrat"/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AdTech EBITDA,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ACT*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4 607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1 409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1 499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(1 557)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3 050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A39E7C9-4688-44BB-819A-7672B8A8DC45}"/>
              </a:ext>
            </a:extLst>
          </p:cNvPr>
          <p:cNvSpPr/>
          <p:nvPr/>
        </p:nvSpPr>
        <p:spPr>
          <a:xfrm rot="16200000">
            <a:off x="43676" y="4790599"/>
            <a:ext cx="385576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E46B5DC-FF39-41BA-9F91-CE8DE528923E}"/>
              </a:ext>
            </a:extLst>
          </p:cNvPr>
          <p:cNvSpPr/>
          <p:nvPr/>
        </p:nvSpPr>
        <p:spPr>
          <a:xfrm rot="16200000">
            <a:off x="-48515" y="5334907"/>
            <a:ext cx="56996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12" name="Сноска предфакт"/>
          <p:cNvSpPr txBox="1"/>
          <p:nvPr/>
        </p:nvSpPr>
        <p:spPr>
          <a:xfrm>
            <a:off x="1650000" y="6600000"/>
            <a:ext cx="93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i="1">
                <a:solidFill>
                  <a:srgbClr val="595959"/>
                </a:solidFill>
              </a:rPr>
              <a:t>* Сентябрь 2026 — предварительные данные (предфакт): выручка по Rev до финальной сверки, расходы — корп. P&amp;L, CAPEX — прогноз</a:t>
            </a:r>
          </a:p>
        </p:txBody>
      </p:sp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9M 2026 MAGNIT ADS YTD BU vs YTD ACT*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+2 210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(1 940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(-8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(278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+1 181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(301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(126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Эффект увеличения продаж рекламы новым контрагентам и доступности instore инвентаря, а также подхода по совместному признанию выручки с FT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руб., прогноз)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620677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2 210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6 546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1 409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4 989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3 789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4 394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4 264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1 548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1 664%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328" name="Сноска предфакт"/>
          <p:cNvSpPr txBox="1"/>
          <p:nvPr/>
        </p:nvSpPr>
        <p:spPr>
          <a:xfrm>
            <a:off x="1650000" y="6600000"/>
            <a:ext cx="93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i="1">
                <a:solidFill>
                  <a:srgbClr val="595959"/>
                </a:solidFill>
              </a:rPr>
              <a:t>* Сентябрь 2026 — предварительные данные (предфакт): выручка по Rev до финальной сверки, расходы — корп. P&amp;L, CAPEX — прогноз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0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Сентябрь 2026 Magnit ADS financial review*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ACT*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766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106%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102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208%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1 011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351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53%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150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163%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-16%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-145%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854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1 029%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674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691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897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557075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+338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(199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(-11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(150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+13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(-243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(+166 млн руб.); доначисление резерва STI (-16 млн руб.), отпускные (-7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 выручки (+351 млн руб.) и экономия OPEX (+503 млн руб.): рекласс ФОТ в CAPEX и закупка трафика ниже бюджета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(-180 млн руб.). CAPEX сентября — прогноз, срез факта еще не получен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(прогноз):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104274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60756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3" name="Овал 8">
            <a:extLst>
              <a:ext uri="{FF2B5EF4-FFF2-40B4-BE49-F238E27FC236}">
                <a16:creationId xmlns:a16="http://schemas.microsoft.com/office/drawing/2014/main" id="{BBC10EF4-BCBD-42B4-9FF1-974B17A60F1E}"/>
              </a:ext>
            </a:extLst>
          </p:cNvPr>
          <p:cNvSpPr/>
          <p:nvPr/>
        </p:nvSpPr>
        <p:spPr>
          <a:xfrm>
            <a:off x="6763736" y="4110838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28" name="Сноска предфакт"/>
          <p:cNvSpPr txBox="1"/>
          <p:nvPr/>
        </p:nvSpPr>
        <p:spPr>
          <a:xfrm>
            <a:off x="1650000" y="6600000"/>
            <a:ext cx="93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i="1">
                <a:solidFill>
                  <a:srgbClr val="595959"/>
                </a:solidFill>
              </a:rPr>
              <a:t>* Сентябрь 2026 — предварительные данные (предфакт): выручка по Rev до финальной сверки, расходы — корп. P&amp;L, CAPEX — прогноз</a:t>
            </a: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9+3 FC 2026 MAGNIT ADS: BU vs FC (год)*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+4 441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(3 430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(932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(80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+344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(-783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(1 005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(122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Премии и резерв STI (-96 млн руб.), отпускные (-71 млн руб.), налоги (-17 млн руб.); оплата труда +118 млн руб. (рекласс ФОТ в CAPEX), индексация не закладывается (+49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для перепродажи (+305 млн руб.), вознаграждения РА (+91 млн руб.), маркетинг ВГО (-36 млн руб.), PR/GR (+14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(+38 млн руб.), IT: ноутбуки и облачное хранение (+42 млн руб.), резерв отпусков (-22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выручки с FT и рост продаж E-com, экономия OPEX (+425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 за 9 мес. (+93 млн руб.), Q4 — по бюджету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Целевая система управления медиаконтентом (+227 млн руб.), фасадные экраны ТТ (+93 млн руб.), интеграция с КСО (+67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94963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2851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2026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9+3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3 515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5 653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2 138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6 175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4 113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4 457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344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5 847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10 632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1 916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2 333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(783)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2 535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(2 789)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(2 364)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(1 106)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(1 519)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(1 151)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3 058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8 268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5 210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(1 180)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1 878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7 564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2 563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328" name="Сноска предфакт"/>
          <p:cNvSpPr txBox="1"/>
          <p:nvPr/>
        </p:nvSpPr>
        <p:spPr>
          <a:xfrm>
            <a:off x="1650000" y="6600000"/>
            <a:ext cx="93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i="1">
                <a:solidFill>
                  <a:srgbClr val="595959"/>
                </a:solidFill>
              </a:rPr>
              <a:t>* Прогноз 9+3: факт янв–авг, предфакт сентября, прогноз окт–дек (модель Master_AT_Sep_v6). BU — ревизия 4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Q4 2026 (YTG) MAGNIT ADS: BU vs FC*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+2 231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(1 490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(654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(88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-837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(-1 084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(251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Премии и резерв STI (-30 млн руб.), отпускные (-24 млн руб.), налоги (-11 млн руб.); индексация не закладывается (+28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MIP (+51 млн руб.), маркетинг ВГО (-14 млн руб.), вознаграждения блогерам (-3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(+13 млн руб.), IT (+11 млн руб.), резерв отпусков (+6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 E-com (+2 231 млн руб.) перекрывает Non-E-com ниже бюджета: Instore (-414 млн руб.), MIP, Magnit Market, DMP (-423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капитализация ФОТ ~36 млн руб. в месяц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(в Q4 закупок не запланировано)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27204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77531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27860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Q4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Q4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1 466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2 454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2 783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2 231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1 303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2 692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4 086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1 394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-88%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1 036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(807)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(297)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(472)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1 858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3 279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1 421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3 170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1 421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1 647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1 015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328" name="Сноска предфакт"/>
          <p:cNvSpPr txBox="1"/>
          <p:nvPr/>
        </p:nvSpPr>
        <p:spPr>
          <a:xfrm>
            <a:off x="1650000" y="6600000"/>
            <a:ext cx="93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i="1">
                <a:solidFill>
                  <a:srgbClr val="595959"/>
                </a:solidFill>
              </a:rPr>
              <a:t>* Прогноз 9+3: факт янв–авг, предфакт сентября, прогноз окт–дек (модель Master_AT_Sep_v6). BU — ревизия 4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4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5</a:t>
            </a:fld>
            <a:endParaRPr kumimoji="0" lang="ru-RU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</a:t>
            </a:r>
            <a:r>
              <a:rPr kumimoji="0" lang="ru-RU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4 785 млн руб. (факт 8М + предфакт сентября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Совместного с FT признания E-com выручки (3 430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(1 012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(344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  <p:sp>
        <p:nvSpPr>
          <p:cNvPr id="73" name="Сноска предфакт"/>
          <p:cNvSpPr txBox="1"/>
          <p:nvPr/>
        </p:nvSpPr>
        <p:spPr>
          <a:xfrm>
            <a:off x="1650000" y="6600000"/>
            <a:ext cx="93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i="1">
                <a:solidFill>
                  <a:srgbClr val="595959"/>
                </a:solidFill>
              </a:rPr>
              <a:t>* Сентябрь 2026 — предварительные данные (предфакт): выручка по Rev до финальной сверки, расходы — корп. P&amp;L, CAPEX — прогноз</a:t>
            </a:r>
          </a:p>
        </p:txBody>
      </p:sp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30ACE257-A6BE-4159-9909-123092A1A97F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65931577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58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0ACE257-A6BE-4159-9909-123092A1A9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22B32A3B-54FC-4F34-8304-518FDC37EE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19251" y="6238124"/>
            <a:ext cx="9277350" cy="520028"/>
          </a:xfrm>
        </p:spPr>
        <p:txBody>
          <a:bodyPr/>
          <a:lstStyle/>
          <a:p>
            <a:r>
              <a:rPr lang="ru-RU" sz="900" dirty="0">
                <a:ea typeface="Onest"/>
                <a:sym typeface="Onest"/>
              </a:rPr>
              <a:t>1. Данные по всем рекламным инструментам - BDUI </a:t>
            </a:r>
            <a:r>
              <a:rPr lang="ru-RU" sz="900" dirty="0" err="1">
                <a:ea typeface="Onest"/>
                <a:sym typeface="Onest"/>
              </a:rPr>
              <a:t>Banner</a:t>
            </a:r>
            <a:r>
              <a:rPr lang="ru-RU" sz="900" dirty="0">
                <a:ea typeface="Onest"/>
                <a:sym typeface="Onest"/>
              </a:rPr>
              <a:t>, </a:t>
            </a:r>
            <a:r>
              <a:rPr lang="ru-RU" sz="900" dirty="0" err="1">
                <a:ea typeface="Onest"/>
                <a:sym typeface="Onest"/>
              </a:rPr>
              <a:t>ClickoutShelf</a:t>
            </a:r>
            <a:r>
              <a:rPr lang="ru-RU" sz="900" dirty="0">
                <a:ea typeface="Onest"/>
                <a:sym typeface="Onest"/>
              </a:rPr>
              <a:t>, </a:t>
            </a:r>
            <a:r>
              <a:rPr lang="ru-RU" sz="900" dirty="0" err="1">
                <a:ea typeface="Onest"/>
                <a:sym typeface="Onest"/>
              </a:rPr>
              <a:t>inAppStory</a:t>
            </a:r>
            <a:r>
              <a:rPr lang="ru-RU" sz="900" dirty="0">
                <a:ea typeface="Onest"/>
                <a:sym typeface="Onest"/>
              </a:rPr>
              <a:t>, </a:t>
            </a:r>
            <a:r>
              <a:rPr lang="ru-RU" sz="900" dirty="0" err="1">
                <a:ea typeface="Onest"/>
                <a:sym typeface="Onest"/>
              </a:rPr>
              <a:t>ModalWindow</a:t>
            </a:r>
            <a:r>
              <a:rPr lang="ru-RU" sz="900" dirty="0">
                <a:ea typeface="Onest"/>
                <a:sym typeface="Onest"/>
              </a:rPr>
              <a:t>, </a:t>
            </a:r>
            <a:r>
              <a:rPr lang="ru-RU" sz="900" dirty="0" err="1">
                <a:ea typeface="Onest"/>
                <a:sym typeface="Onest"/>
              </a:rPr>
              <a:t>Pins</a:t>
            </a:r>
            <a:r>
              <a:rPr lang="ru-RU" sz="900" dirty="0">
                <a:ea typeface="Onest"/>
                <a:sym typeface="Onest"/>
              </a:rPr>
              <a:t>, </a:t>
            </a:r>
            <a:r>
              <a:rPr lang="ru-RU" sz="900" dirty="0" err="1">
                <a:ea typeface="Onest"/>
                <a:sym typeface="Onest"/>
              </a:rPr>
              <a:t>Pins</a:t>
            </a:r>
            <a:r>
              <a:rPr lang="ru-RU" sz="900" dirty="0">
                <a:ea typeface="Onest"/>
                <a:sym typeface="Onest"/>
              </a:rPr>
              <a:t> B2B. Разрез - </a:t>
            </a:r>
            <a:r>
              <a:rPr lang="ru-RU" sz="900" dirty="0" err="1">
                <a:ea typeface="Onest"/>
                <a:sym typeface="Onest"/>
              </a:rPr>
              <a:t>total</a:t>
            </a:r>
            <a:r>
              <a:rPr lang="ru-RU" sz="900" dirty="0">
                <a:ea typeface="Onest"/>
                <a:sym typeface="Onest"/>
              </a:rPr>
              <a:t>, по всем командам. </a:t>
            </a:r>
            <a:r>
              <a:rPr lang="ru-RU" sz="900" u="sng" dirty="0">
                <a:solidFill>
                  <a:srgbClr val="3881FB"/>
                </a:solidFill>
                <a:ea typeface="Onest"/>
                <a:sym typeface="Onest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Ссылка на дашборд</a:t>
            </a:r>
            <a:br>
              <a:rPr lang="ru-RU" u="sng" dirty="0">
                <a:ea typeface="Onest"/>
                <a:sym typeface="Onest"/>
              </a:rPr>
            </a:br>
            <a:r>
              <a:rPr lang="ru-RU" sz="900" dirty="0">
                <a:ea typeface="Onest"/>
                <a:sym typeface="Onest"/>
              </a:rPr>
              <a:t>2. Без учета брендированных категорий. </a:t>
            </a:r>
            <a:r>
              <a:rPr lang="ru-RU" sz="900" u="sng" dirty="0">
                <a:solidFill>
                  <a:srgbClr val="3881FB"/>
                </a:solidFill>
                <a:ea typeface="Onest"/>
                <a:sym typeface="Onest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Ссылка на дашборд</a:t>
            </a:r>
            <a:br>
              <a:rPr lang="ru-RU" u="sng" dirty="0">
                <a:ea typeface="Onest"/>
                <a:sym typeface="Onest"/>
              </a:rPr>
            </a:br>
            <a:r>
              <a:rPr lang="ru-RU" sz="900" dirty="0">
                <a:ea typeface="Onest"/>
                <a:sym typeface="Onest"/>
              </a:rPr>
              <a:t>3. Данные на последний день месяца. </a:t>
            </a:r>
            <a:r>
              <a:rPr lang="ru-RU" sz="900" u="sng" dirty="0">
                <a:solidFill>
                  <a:srgbClr val="3881FB"/>
                </a:solidFill>
                <a:ea typeface="Onest"/>
                <a:sym typeface="Onest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Ссылка на дашборд</a:t>
            </a:r>
            <a:br>
              <a:rPr lang="ru-RU" sz="900" u="sng" dirty="0">
                <a:solidFill>
                  <a:srgbClr val="3881FB"/>
                </a:solidFill>
                <a:ea typeface="Onest"/>
                <a:sym typeface="Onest"/>
              </a:rPr>
            </a:br>
            <a:r>
              <a:rPr lang="ru-RU" dirty="0">
                <a:sym typeface="Onest"/>
              </a:rPr>
              <a:t>4. Дашборд утилизации </a:t>
            </a:r>
            <a:r>
              <a:rPr lang="en-GB" dirty="0">
                <a:sym typeface="Onest"/>
              </a:rPr>
              <a:t>in-store: </a:t>
            </a:r>
            <a:r>
              <a:rPr lang="ru-RU" u="sng" dirty="0">
                <a:solidFill>
                  <a:srgbClr val="3881FB"/>
                </a:solidFill>
                <a:sym typeface="Onest"/>
              </a:rPr>
              <a:t>С</a:t>
            </a:r>
            <a:r>
              <a:rPr lang="ru-RU" u="sng" dirty="0">
                <a:solidFill>
                  <a:srgbClr val="3881FB"/>
                </a:solidFill>
                <a:sym typeface="Onest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сылка на дашборд</a:t>
            </a:r>
            <a:endParaRPr lang="ru-RU" u="sng" dirty="0">
              <a:solidFill>
                <a:srgbClr val="3881FB"/>
              </a:solidFill>
              <a:sym typeface="Onest"/>
            </a:endParaRPr>
          </a:p>
          <a:p>
            <a:endParaRPr lang="ru-RU" sz="900" dirty="0">
              <a:ea typeface="Onest"/>
              <a:sym typeface="Onest"/>
            </a:endParaRPr>
          </a:p>
          <a:p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DE1F0029-868B-4254-92B3-71E06970C0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6</a:t>
            </a:fld>
            <a:endParaRPr kumimoji="0" lang="ru-RU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CB2A6EC-C24E-40A7-8611-9A5BC886B6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 err="1">
                <a:solidFill>
                  <a:srgbClr val="37241F"/>
                </a:solidFill>
              </a:rPr>
              <a:t>Операционные</a:t>
            </a:r>
            <a:r>
              <a:rPr lang="en-GB" dirty="0">
                <a:solidFill>
                  <a:srgbClr val="37241F"/>
                </a:solidFill>
              </a:rPr>
              <a:t> </a:t>
            </a:r>
            <a:r>
              <a:rPr lang="ru-RU" dirty="0">
                <a:solidFill>
                  <a:srgbClr val="37241F"/>
                </a:solidFill>
              </a:rPr>
              <a:t>метрики </a:t>
            </a:r>
            <a:r>
              <a:rPr lang="en-US" dirty="0">
                <a:solidFill>
                  <a:srgbClr val="37241F"/>
                </a:solidFill>
              </a:rPr>
              <a:t>AdTech</a:t>
            </a:r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4C54E0A6-3287-4D7A-AAC3-2F59DC5618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2305481"/>
              </p:ext>
            </p:extLst>
          </p:nvPr>
        </p:nvGraphicFramePr>
        <p:xfrm>
          <a:off x="364172" y="675513"/>
          <a:ext cx="11463649" cy="4931306"/>
        </p:xfrm>
        <a:graphic>
          <a:graphicData uri="http://schemas.openxmlformats.org/drawingml/2006/table">
            <a:tbl>
              <a:tblPr/>
              <a:tblGrid>
                <a:gridCol w="1661952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645685">
                  <a:extLst>
                    <a:ext uri="{9D8B030D-6E8A-4147-A177-3AD203B41FA5}">
                      <a16:colId xmlns:a16="http://schemas.microsoft.com/office/drawing/2014/main" val="2573462982"/>
                    </a:ext>
                  </a:extLst>
                </a:gridCol>
                <a:gridCol w="100299">
                  <a:extLst>
                    <a:ext uri="{9D8B030D-6E8A-4147-A177-3AD203B41FA5}">
                      <a16:colId xmlns:a16="http://schemas.microsoft.com/office/drawing/2014/main" val="2535037576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4159023093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68145735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1141010974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1068342947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2947500287"/>
                    </a:ext>
                  </a:extLst>
                </a:gridCol>
                <a:gridCol w="735527">
                  <a:extLst>
                    <a:ext uri="{9D8B030D-6E8A-4147-A177-3AD203B41FA5}">
                      <a16:colId xmlns:a16="http://schemas.microsoft.com/office/drawing/2014/main" val="3824967442"/>
                    </a:ext>
                  </a:extLst>
                </a:gridCol>
                <a:gridCol w="129090">
                  <a:extLst>
                    <a:ext uri="{9D8B030D-6E8A-4147-A177-3AD203B41FA5}">
                      <a16:colId xmlns:a16="http://schemas.microsoft.com/office/drawing/2014/main" val="2684438203"/>
                    </a:ext>
                  </a:extLst>
                </a:gridCol>
                <a:gridCol w="3042407">
                  <a:extLst>
                    <a:ext uri="{9D8B030D-6E8A-4147-A177-3AD203B41FA5}">
                      <a16:colId xmlns:a16="http://schemas.microsoft.com/office/drawing/2014/main" val="3460090299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dirty="0">
                          <a:solidFill>
                            <a:schemeClr val="accent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en-US" sz="1100" b="1" i="0" u="none" strike="noStrike" baseline="30000" dirty="0">
                        <a:solidFill>
                          <a:schemeClr val="accent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 dirty="0">
                          <a:solidFill>
                            <a:schemeClr val="accent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Ед. изм.</a:t>
                      </a:r>
                      <a:endParaRPr lang="en-US" sz="1100" b="1" i="0" u="none" strike="noStrike" baseline="0" dirty="0">
                        <a:solidFill>
                          <a:schemeClr val="accent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Янв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Фев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Март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Апр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Май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Июнь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Июль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Авг</a:t>
                      </a:r>
                      <a:r>
                        <a:rPr lang="en-GB" sz="1100" b="1" dirty="0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26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solidFill>
                            <a:schemeClr val="tx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Комментарии</a:t>
                      </a:r>
                      <a:endParaRPr sz="1100" b="1" dirty="0">
                        <a:solidFill>
                          <a:schemeClr val="tx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550800"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Объем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показов</a:t>
                      </a:r>
                      <a:r>
                        <a:rPr lang="ru-RU" sz="1100" b="1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ctr" fontAlgn="ctr"/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млн ед.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u="none" strike="noStrike" kern="1200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   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2 634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2 468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2 550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2 613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2 396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2 319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2 483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 </a:t>
                      </a: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647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Ключевые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драйверы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: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кол-во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DAC;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частота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входов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;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длительность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сессий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;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сезонность</a:t>
                      </a: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38100" marR="38100" marT="25400" marB="254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550800"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Утилизация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по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b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</a:b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e-com инвентарю</a:t>
                      </a:r>
                      <a:r>
                        <a:rPr lang="en-GB" sz="1100" b="1" baseline="30000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ctr" fontAlgn="ctr"/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u="none" strike="noStrike" kern="1200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30,1%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29,9%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32,0%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46,4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defTabSz="914354" rtl="0" eaLnBrk="1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Рост утилизации за счет временного изменения ценообразования в закрепах</a:t>
                      </a: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>
                  <a:txBody>
                    <a:bodyPr/>
                    <a:lstStyle/>
                    <a:p>
                      <a:pPr marL="133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 err="1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Баннеры</a:t>
                      </a: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и </a:t>
                      </a:r>
                      <a:r>
                        <a:rPr lang="en-GB" sz="1100" i="1" dirty="0" err="1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модальные</a:t>
                      </a: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i="1" dirty="0" err="1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окна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ctr" fontAlgn="ctr"/>
                      <a:r>
                        <a:rPr lang="ru-RU" sz="1100" b="0" i="0" u="none" strike="noStrike" dirty="0">
                          <a:solidFill>
                            <a:schemeClr val="accent2"/>
                          </a:solidFill>
                          <a:effectLst/>
                          <a:latin typeface="+mn-lt"/>
                        </a:rPr>
                        <a:t>%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+mn-lt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78,1%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78,3%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79,9%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6</a:t>
                      </a: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9,9%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1" kern="1200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i="1" kern="1200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Фактическая утилизация -&gt;90%, </a:t>
                      </a:r>
                      <a:br>
                        <a:rPr lang="ru-RU" sz="1100" i="1" kern="1200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</a:br>
                      <a:r>
                        <a:rPr lang="ru-RU" sz="1100" i="1" kern="1200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т.к. ~5% - разницы событий, ~8% - </a:t>
                      </a:r>
                      <a:r>
                        <a:rPr lang="ru-RU" sz="1100" i="1" kern="1200" dirty="0" err="1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недоутилизация</a:t>
                      </a:r>
                      <a:r>
                        <a:rPr lang="ru-RU" sz="1100" i="1" kern="1200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коммерции, ~8% - остальные тех. причины</a:t>
                      </a: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>
                  <a:txBody>
                    <a:bodyPr/>
                    <a:lstStyle/>
                    <a:p>
                      <a:pPr marL="1332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 err="1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Закрепы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ctr" fontAlgn="ctr"/>
                      <a:r>
                        <a:rPr lang="ru-RU" sz="1100" b="0" i="0" u="none" strike="noStrike" dirty="0">
                          <a:solidFill>
                            <a:schemeClr val="accent2"/>
                          </a:solidFill>
                          <a:effectLst/>
                          <a:latin typeface="+mn-lt"/>
                        </a:rPr>
                        <a:t>%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+mn-lt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17,7%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19,8%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23,7%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31</a:t>
                      </a: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,</a:t>
                      </a:r>
                      <a:r>
                        <a:rPr lang="ru-RU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8</a:t>
                      </a:r>
                      <a:r>
                        <a:rPr lang="en-GB" sz="1100" i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%</a:t>
                      </a:r>
                      <a:endParaRPr sz="1100" i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6001" lvl="0" indent="-1075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9999"/>
                        </a:buClr>
                        <a:buSzPts val="900"/>
                        <a:buFont typeface="Onest"/>
                        <a:buChar char="-"/>
                      </a:pPr>
                      <a:endParaRPr sz="1100" i="1" kern="1200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defTabSz="914354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i="1" kern="1200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Тестирование обновленной модели </a:t>
                      </a:r>
                      <a:r>
                        <a:rPr lang="en-GB" sz="1100" i="1" kern="1200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CPO-</a:t>
                      </a:r>
                      <a:r>
                        <a:rPr lang="ru-RU" sz="1100" i="1" kern="1200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ценообразование и как следствие рост утилизации</a:t>
                      </a: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  <a:tr h="55092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Раскатка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рекламной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платформы</a:t>
                      </a:r>
                      <a:r>
                        <a:rPr lang="en-GB" sz="1100" b="1" baseline="30000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</a:t>
                      </a:r>
                      <a:endParaRPr sz="1100" dirty="0"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%</a:t>
                      </a: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b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b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b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accent2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n/a</a:t>
                      </a:r>
                      <a:endParaRPr sz="1100" b="1" dirty="0">
                        <a:solidFill>
                          <a:schemeClr val="accent2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0%</a:t>
                      </a:r>
                      <a:endParaRPr sz="1100" b="1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0,1%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65,7%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80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,</a:t>
                      </a: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9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Запуск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платформы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состоялся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20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апр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,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эксперименты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по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переходу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начались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в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начале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июня</a:t>
                      </a: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9472547"/>
                  </a:ext>
                </a:extLst>
              </a:tr>
              <a:tr h="55092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Кол-во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подкл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. in-store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инвентаря</a:t>
                      </a:r>
                      <a:endParaRPr sz="1100" dirty="0"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ctr" fontAlgn="ctr"/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тыс. ед.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22,6</a:t>
                      </a:r>
                      <a:endParaRPr sz="1100" b="1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22,6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32,6</a:t>
                      </a:r>
                      <a:endParaRPr sz="1100" b="1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32,8</a:t>
                      </a:r>
                      <a:endParaRPr sz="1100" b="1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33,0</a:t>
                      </a:r>
                      <a:endParaRPr sz="1100" b="1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33,8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33,8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57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,</a:t>
                      </a: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Март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-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подключено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10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тыс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единиц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КСО</a:t>
                      </a: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5082407"/>
                  </a:ext>
                </a:extLst>
              </a:tr>
              <a:tr h="55092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Кол-во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подкл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. in-store </a:t>
                      </a:r>
                      <a:br>
                        <a:rPr lang="ru-RU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</a:b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к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платформе</a:t>
                      </a:r>
                      <a:endParaRPr sz="1100" dirty="0"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тыс. ед.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</a:t>
                      </a:r>
                      <a:endParaRPr sz="1100" b="1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</a:t>
                      </a:r>
                      <a:endParaRPr sz="1100" b="1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10,0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4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0,0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Тест продаж КСО в бандлах с другим инвентарем</a:t>
                      </a: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2498488"/>
                  </a:ext>
                </a:extLst>
              </a:tr>
              <a:tr h="55092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Ср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. </a:t>
                      </a:r>
                      <a:r>
                        <a:rPr lang="en-GB" sz="1100" b="1" dirty="0" err="1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утилизация</a:t>
                      </a:r>
                      <a:r>
                        <a:rPr lang="en-GB" sz="1100" b="1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 in-store</a:t>
                      </a:r>
                      <a:r>
                        <a:rPr lang="ru-RU" sz="1100" b="1" baseline="30000" dirty="0"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4</a:t>
                      </a:r>
                      <a:endParaRPr sz="1100" dirty="0"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%</a:t>
                      </a: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5,5%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7,8%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5,9%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18,4%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14%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20,2%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18,9%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26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,</a:t>
                      </a:r>
                      <a:r>
                        <a:rPr lang="ru-RU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3</a:t>
                      </a:r>
                      <a:r>
                        <a:rPr lang="en-GB" sz="1100" b="1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%</a:t>
                      </a:r>
                      <a:endParaRPr sz="1100" b="1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tx1"/>
                        </a:solidFill>
                        <a:latin typeface="+mn-lt"/>
                        <a:ea typeface="Onest"/>
                        <a:cs typeface="Arial" panose="020B0604020202020204" pitchFamily="34" charset="0"/>
                        <a:sym typeface="Onest"/>
                      </a:endParaRP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kern="12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Смещение фокуса коммерции на </a:t>
                      </a:r>
                      <a:r>
                        <a:rPr lang="en-GB" sz="1100" kern="12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in-store </a:t>
                      </a:r>
                      <a:r>
                        <a:rPr lang="ru-RU" sz="1100" kern="1200" dirty="0">
                          <a:solidFill>
                            <a:schemeClr val="tx1"/>
                          </a:solidFill>
                          <a:latin typeface="+mn-lt"/>
                          <a:ea typeface="Onest"/>
                          <a:cs typeface="Arial" panose="020B0604020202020204" pitchFamily="34" charset="0"/>
                          <a:sym typeface="Onest"/>
                        </a:rPr>
                        <a:t>за счет роста кол-ва дисплеев</a:t>
                      </a:r>
                    </a:p>
                  </a:txBody>
                  <a:tcPr marL="24000" marR="24000" marT="24000" marB="2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50865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8160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7EAE01-E69F-AD42-72DA-DF810F541E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CCE8B-C4C7-30D3-0CA7-FE6424CB90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F07350-903F-3D0F-7767-FAA08F5C12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Product &amp; Tech</a:t>
            </a:r>
            <a:endParaRPr lang="en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42730F-15D3-6B4C-603E-58F45A495612}"/>
              </a:ext>
            </a:extLst>
          </p:cNvPr>
          <p:cNvSpPr txBox="1"/>
          <p:nvPr/>
        </p:nvSpPr>
        <p:spPr>
          <a:xfrm>
            <a:off x="364176" y="1025034"/>
            <a:ext cx="6854043" cy="50348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К платформе подключено 40 тыс. точек контакта с покупателем (КСО), интегрированных в процесс продаж.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Разработаны новые рекламные форматы — видео и сторис.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Платформа развернута на </a:t>
            </a:r>
            <a:r>
              <a:rPr lang="en-GB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web </a:t>
            </a: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и в мобильном приложении, суммарное покрытие трафика составляет 85%.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Запущены нативные форматы: выбор специального предложения и любимой категории в один клик.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В личном кабинете реализовано начисление баллов за отзывы, процесс автоматизирован. Разработана модель расчёта оптимального количества баллов по товарам (ранее использовались фиксированные значения).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Настроено автоматическое выставление счетов.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В личный кабинет добавлен аукцион по СРО; запущено тестирование модели с аукционным механизмом.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100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Начато тестирование продажи онлайн-кэшбеков на основе </a:t>
            </a:r>
            <a:r>
              <a:rPr lang="en-GB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ML-</a:t>
            </a: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модели.</a:t>
            </a:r>
          </a:p>
        </p:txBody>
      </p:sp>
      <p:pic>
        <p:nvPicPr>
          <p:cNvPr id="9" name="Google Shape;361;p52" descr="preencoded.png">
            <a:extLst>
              <a:ext uri="{FF2B5EF4-FFF2-40B4-BE49-F238E27FC236}">
                <a16:creationId xmlns:a16="http://schemas.microsoft.com/office/drawing/2014/main" id="{0DAE93B3-3109-944B-9753-C46AE4DFB0C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673673" y="728633"/>
            <a:ext cx="3508197" cy="550949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605833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4F555BF-7ADF-205E-7E84-5104248AB11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21776-1557-3FC7-289F-777E2BCF01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D60FE3-9354-BAB1-0D98-EA398321D5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>
                <a:sym typeface="Onest SemiBold"/>
              </a:rPr>
              <a:t>Планы на </a:t>
            </a:r>
            <a:r>
              <a:rPr lang="en-GB" dirty="0">
                <a:sym typeface="Onest SemiBold"/>
              </a:rPr>
              <a:t>h2 2026</a:t>
            </a:r>
          </a:p>
          <a:p>
            <a:endParaRPr lang="en-RU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00306E9-DE87-89BA-A61A-E0E71364FFC0}"/>
              </a:ext>
            </a:extLst>
          </p:cNvPr>
          <p:cNvSpPr/>
          <p:nvPr/>
        </p:nvSpPr>
        <p:spPr>
          <a:xfrm>
            <a:off x="364177" y="1025236"/>
            <a:ext cx="2656114" cy="484909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Партнерство </a:t>
            </a:r>
            <a:b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с форматами</a:t>
            </a: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endParaRPr lang="ru-RU" b="1" kern="0" dirty="0">
              <a:solidFill>
                <a:srgbClr val="FF130F"/>
              </a:solidFill>
              <a:latin typeface="Arial" panose="020B0604020202020204"/>
              <a:cs typeface="Arial" panose="020B0604020202020204" pitchFamily="34" charset="0"/>
              <a:sym typeface="Onest SemiBold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Финализация</a:t>
            </a:r>
            <a:r>
              <a:rPr lang="en-US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договоренностей по работе с АВ, Дикси, МА, Финтех</a:t>
            </a: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Построение регулярных бизнес-ревью со всеми форматами с целью устойчивого бренда </a:t>
            </a:r>
            <a:r>
              <a:rPr lang="en-GB" sz="1350" kern="0" dirty="0" err="1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Adtech</a:t>
            </a:r>
            <a:endParaRPr lang="en-GB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Формирование заключений по новому ЮЛ внутри Магнит для получения бренд-бюджетов поставщиков</a:t>
            </a:r>
          </a:p>
          <a:p>
            <a:pPr algn="ctr"/>
            <a:endParaRPr lang="en-RU" dirty="0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A41DB89-A89E-8708-A3AA-F762847EA748}"/>
              </a:ext>
            </a:extLst>
          </p:cNvPr>
          <p:cNvSpPr/>
          <p:nvPr/>
        </p:nvSpPr>
        <p:spPr>
          <a:xfrm>
            <a:off x="9171709" y="1025236"/>
            <a:ext cx="2656114" cy="484909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b2b-</a:t>
            </a:r>
            <a: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маркетинг</a:t>
            </a: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endParaRPr lang="ru-RU" b="1" kern="0" dirty="0">
              <a:solidFill>
                <a:srgbClr val="FF130F"/>
              </a:solidFill>
              <a:latin typeface="Arial" panose="020B0604020202020204"/>
              <a:cs typeface="Arial" panose="020B0604020202020204" pitchFamily="34" charset="0"/>
              <a:sym typeface="Onest SemiBold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Рост знания бренда до 7% на рынке рекламных платформ</a:t>
            </a:r>
            <a:endParaRPr lang="en-US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Запуск коммуникаций рекламной платформы, главный запуск года –</a:t>
            </a:r>
            <a:r>
              <a:rPr lang="en-US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рекламный кабинет в </a:t>
            </a:r>
            <a:r>
              <a:rPr lang="en-GB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Q4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для поставщиков и РА</a:t>
            </a:r>
            <a:endParaRPr lang="en-US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Расширение и дистрибуция базы кейсов в рынок</a:t>
            </a:r>
            <a:endParaRPr lang="en-US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Внедрение автоматизации для медиапланирования и ценообразования</a:t>
            </a:r>
          </a:p>
          <a:p>
            <a:pPr algn="ctr"/>
            <a:endParaRPr lang="en-RU" dirty="0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96C2BCA-AA1E-241E-8337-F31DD2A502B7}"/>
              </a:ext>
            </a:extLst>
          </p:cNvPr>
          <p:cNvSpPr/>
          <p:nvPr/>
        </p:nvSpPr>
        <p:spPr>
          <a:xfrm>
            <a:off x="6235865" y="1025236"/>
            <a:ext cx="2656114" cy="484909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Операции</a:t>
            </a: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endParaRPr lang="en-US" b="1" kern="0" dirty="0">
              <a:solidFill>
                <a:srgbClr val="FF130F"/>
              </a:solidFill>
              <a:latin typeface="Arial" panose="020B0604020202020204"/>
              <a:cs typeface="Arial" panose="020B0604020202020204" pitchFamily="34" charset="0"/>
              <a:sym typeface="Onest SemiBold"/>
            </a:endParaRPr>
          </a:p>
          <a:p>
            <a:pPr marL="177750" lvl="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noProof="1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Подготовка к высокому сезону за счёт автоматизации процессов</a:t>
            </a:r>
          </a:p>
          <a:p>
            <a:pPr marL="177750" lvl="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noProof="1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Снижение доли недокрутов до минимума</a:t>
            </a:r>
          </a:p>
          <a:p>
            <a:pPr marL="177750" lvl="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noProof="1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Внедрение кредитной политики для рекламодателей: управления периодом погашения кредиторской задолженности, снижение резервов под сомнительные долги</a:t>
            </a:r>
            <a:endParaRPr lang="ru-RU" sz="1350" kern="0" noProof="1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DB6A8D7-9E72-4D24-1760-E4FE38E32DB0}"/>
              </a:ext>
            </a:extLst>
          </p:cNvPr>
          <p:cNvSpPr/>
          <p:nvPr/>
        </p:nvSpPr>
        <p:spPr>
          <a:xfrm>
            <a:off x="3300021" y="1025236"/>
            <a:ext cx="2656114" cy="484909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Коммерция</a:t>
            </a: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endParaRPr lang="ru-RU" b="1" kern="0" dirty="0">
              <a:solidFill>
                <a:srgbClr val="FF130F"/>
              </a:solidFill>
              <a:latin typeface="Arial" panose="020B0604020202020204"/>
              <a:cs typeface="Arial" panose="020B0604020202020204" pitchFamily="34" charset="0"/>
              <a:sym typeface="Onest SemiBold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6,4 млрд (65%) на Н2 — </a:t>
            </a:r>
            <a:r>
              <a:rPr lang="en-US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рекламная выручка</a:t>
            </a:r>
            <a:endParaRPr lang="en-US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Тест партнерских</a:t>
            </a:r>
            <a:r>
              <a:rPr lang="en-US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продуктов с Т-Банком и </a:t>
            </a:r>
            <a:r>
              <a:rPr lang="ru-RU" sz="1350" kern="0" dirty="0" err="1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Авито</a:t>
            </a:r>
            <a:endParaRPr lang="en-US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Запуск нового решения</a:t>
            </a:r>
            <a:r>
              <a:rPr lang="en-US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для санкционных поставщиков по закупке медийной рекламы через Магнит</a:t>
            </a:r>
          </a:p>
          <a:p>
            <a:pPr algn="ctr"/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243455636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790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0B3545431DF82849ACD44B49D57C9188" ma:contentTypeVersion="2" ma:contentTypeDescription="Создание документа." ma:contentTypeScope="" ma:versionID="96c1915abd0aed11ffad06b9da633f76">
  <xsd:schema xmlns:xsd="http://www.w3.org/2001/XMLSchema" xmlns:xs="http://www.w3.org/2001/XMLSchema" xmlns:p="http://schemas.microsoft.com/office/2006/metadata/properties" xmlns:ns2="23f24dc4-55e7-4b23-ad21-5667e5c601db" targetNamespace="http://schemas.microsoft.com/office/2006/metadata/properties" ma:root="true" ma:fieldsID="84afcf1879093882b320bcfdfd8e3d8c" ns2:_="">
    <xsd:import namespace="23f24dc4-55e7-4b23-ad21-5667e5c601d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f24dc4-55e7-4b23-ad21-5667e5c601d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8CCE8E-1A14-4837-A69C-9F49DC0039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f24dc4-55e7-4b23-ad21-5667e5c601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D81C461-A2A0-4783-8188-6FDC42230ADB}">
  <ds:schemaRefs>
    <ds:schemaRef ds:uri="http://schemas.microsoft.com/office/2006/metadata/properties"/>
    <ds:schemaRef ds:uri="http://purl.org/dc/terms/"/>
    <ds:schemaRef ds:uri="http://purl.org/dc/elements/1.1/"/>
    <ds:schemaRef ds:uri="23f24dc4-55e7-4b23-ad21-5667e5c601db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79942E2-DB8C-4A8D-8D64-13D3FB5F968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2046</Words>
  <Application>Microsoft Office PowerPoint</Application>
  <PresentationFormat>Widescreen</PresentationFormat>
  <Paragraphs>601</Paragraphs>
  <Slides>8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Montserrat</vt:lpstr>
      <vt:lpstr>Onest</vt:lpstr>
      <vt:lpstr>7_Тема Office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Давыдова Мария Анатольевна</dc:creator>
  <cp:lastModifiedBy>Астемир Хоконов</cp:lastModifiedBy>
  <cp:revision>20</cp:revision>
  <dcterms:created xsi:type="dcterms:W3CDTF">2026-09-14T12:51:46Z</dcterms:created>
  <dcterms:modified xsi:type="dcterms:W3CDTF">2026-09-21T16:13:39Z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0x0101000B3545431DF82849ACD44B49D57C9188</vt:lpwstr>
  </property>
</Properties>
</file>