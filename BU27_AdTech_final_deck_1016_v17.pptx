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7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tags/tag14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3.xml" ContentType="application/vnd.openxmlformats-officedocument.presentationml.slide+xml"/>
  <Override PartName="/ppt/tags/tag322.xml" ContentType="application/vnd.openxmlformats-officedocument.presentationml.tags+xml"/>
  <Override PartName="/ppt/slides/slide64.xml" ContentType="application/vnd.openxmlformats-officedocument.presentationml.slide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charts/chart18.xml" ContentType="application/vnd.openxmlformats-officedocument.drawingml.chart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charts/chart19.xml" ContentType="application/vnd.openxmlformats-officedocument.drawingml.chart+xml"/>
  <Override PartName="/ppt/tags/tag355.xml" ContentType="application/vnd.openxmlformats-officedocument.presentationml.tags+xml"/>
  <Override PartName="/ppt/slides/slide65.xml" ContentType="application/vnd.openxmlformats-officedocument.presentationml.slide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charts/chart20.xml" ContentType="application/vnd.openxmlformats-officedocument.drawingml.chart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charts/chart2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4"/>
  </p:notesMasterIdLst>
  <p:sldIdLst>
    <p:sldId id="345" r:id="rId2"/>
    <p:sldId id="548" r:id="rId3"/>
    <p:sldId id="2147480855" r:id="rId69"/>
    <p:sldId id="2147480848" r:id="rId7"/>
    <p:sldId id="2147480849" r:id="rId8"/>
    <p:sldId id="549" r:id="rId10"/>
    <p:sldId id="550" r:id="rId11"/>
    <p:sldId id="539" r:id="rId12"/>
    <p:sldId id="507" r:id="rId13"/>
    <p:sldId id="2147480856" r:id="rId70"/>
    <p:sldId id="537" r:id="rId15"/>
    <p:sldId id="441" r:id="rId16"/>
    <p:sldId id="509" r:id="rId17"/>
    <p:sldId id="545" r:id="rId18"/>
    <p:sldId id="460" r:id="rId19"/>
    <p:sldId id="511" r:id="rId20"/>
    <p:sldId id="530" r:id="rId21"/>
    <p:sldId id="531" r:id="rId22"/>
    <p:sldId id="514" r:id="rId23"/>
    <p:sldId id="515" r:id="rId24"/>
    <p:sldId id="516" r:id="rId25"/>
    <p:sldId id="546" r:id="rId26"/>
    <p:sldId id="532" r:id="rId27"/>
    <p:sldId id="533" r:id="rId28"/>
    <p:sldId id="365" r:id="rId29"/>
    <p:sldId id="538" r:id="rId30"/>
    <p:sldId id="412" r:id="rId31"/>
    <p:sldId id="2147480854" r:id="rId33"/>
    <p:sldId id="433" r:id="rId34"/>
    <p:sldId id="366" r:id="rId35"/>
    <p:sldId id="404" r:id="rId36"/>
    <p:sldId id="483" r:id="rId37"/>
    <p:sldId id="475" r:id="rId38"/>
    <p:sldId id="506" r:id="rId39"/>
    <p:sldId id="543" r:id="rId40"/>
    <p:sldId id="484" r:id="rId41"/>
    <p:sldId id="542" r:id="rId42"/>
    <p:sldId id="468" r:id="rId43"/>
    <p:sldId id="547" r:id="rId44"/>
    <p:sldId id="2147480839" r:id="rId45"/>
    <p:sldId id="2147480857" r:id="rId71"/>
    <p:sldId id="430" r:id="rId49"/>
    <p:sldId id="535" r:id="rId50"/>
    <p:sldId id="489" r:id="rId51"/>
    <p:sldId id="2147480851" r:id="rId52"/>
    <p:sldId id="421" r:id="rId54"/>
    <p:sldId id="422" r:id="rId55"/>
    <p:sldId id="2147480852" r:id="rId56"/>
    <p:sldId id="424" r:id="rId57"/>
    <p:sldId id="528" r:id="rId58"/>
    <p:sldId id="411" r:id="rId59"/>
    <p:sldId id="408" r:id="rId60"/>
    <p:sldId id="427" r:id="rId61"/>
    <p:sldId id="415" r:id="rId62"/>
    <p:sldId id="2147480853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710"/>
  </p:normalViewPr>
  <p:slideViewPr>
    <p:cSldViewPr snapToGrid="0">
      <p:cViewPr varScale="1">
        <p:scale>
          <a:sx n="149" d="100"/>
          <a:sy n="149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8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19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2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2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2D7-4F04-898C-C534381DF4D3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42D7-4F04-898C-C534381DF4D3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42D7-4F04-898C-C534381DF4D3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2D7-4F04-898C-C534381DF4D3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42D7-4F04-898C-C534381DF4D3}"/>
              </c:ext>
            </c:extLst>
          </c:dPt>
          <c:dPt>
            <c:idx val="6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42D7-4F04-898C-C534381DF4D3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42D7-4F04-898C-C534381DF4D3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42D7-4F04-898C-C534381DF4D3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42D7-4F04-898C-C534381DF4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D7-4F04-898C-C534381DF4D3}"/>
            </c:ext>
          </c:extLst>
        </c:ser>
        <c:ser>
          <c:idx val="2"/>
          <c:order val="2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42D7-4F04-898C-C534381DF4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2D7-4F04-898C-C534381DF4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6478816"/>
        <c:axId val="1"/>
      </c:barChart>
      <c:catAx>
        <c:axId val="168647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647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A51-4ACC-A5E1-1434CA07B118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A51-4ACC-A5E1-1434CA07B118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2A51-4ACC-A5E1-1434CA07B118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51-4ACC-A5E1-1434CA07B118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2A51-4ACC-A5E1-1434CA07B118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A51-4ACC-A5E1-1434CA07B118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A51-4ACC-A5E1-1434CA07B11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2A51-4ACC-A5E1-1434CA07B11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2A51-4ACC-A5E1-1434CA07B118}"/>
              </c:ext>
            </c:extLst>
          </c:dPt>
          <c:dPt>
            <c:idx val="10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2A51-4ACC-A5E1-1434CA07B118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2A51-4ACC-A5E1-1434CA07B118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2A51-4ACC-A5E1-1434CA07B118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2A51-4ACC-A5E1-1434CA07B118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A51-4ACC-A5E1-1434CA07B1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A51-4ACC-A5E1-1434CA07B118}"/>
            </c:ext>
          </c:extLst>
        </c:ser>
        <c:ser>
          <c:idx val="2"/>
          <c:order val="2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2A51-4ACC-A5E1-1434CA07B11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A51-4ACC-A5E1-1434CA07B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6463840"/>
        <c:axId val="1"/>
      </c:barChart>
      <c:catAx>
        <c:axId val="168646384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646384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 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 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9" Type="http://schemas.openxmlformats.org/officeDocument/2006/relationships/tags" Target="../tags/tag86.xml"/><Relationship Id="rId21" Type="http://schemas.openxmlformats.org/officeDocument/2006/relationships/tags" Target="../tags/tag68.xml"/><Relationship Id="rId34" Type="http://schemas.openxmlformats.org/officeDocument/2006/relationships/tags" Target="../tags/tag81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50" Type="http://schemas.openxmlformats.org/officeDocument/2006/relationships/tags" Target="../tags/tag97.xml"/><Relationship Id="rId55" Type="http://schemas.openxmlformats.org/officeDocument/2006/relationships/chart" Target="../charts/chart5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tags" Target="../tags/tag76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53" Type="http://schemas.openxmlformats.org/officeDocument/2006/relationships/oleObject" Target="../embeddings/oleObject10.bin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image" Target="../media/image7.emf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tags" Target="../tags/tag137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oleObject" Target="../embeddings/oleObject11.bin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tags" Target="../tags/tag138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chart" Target="../charts/chart7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8.emf"/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7.bin"/></Relationships>
</file>

<file path=ppt/slides/_rels/slide64.xml.rels><?xml version="1.0" encoding="UTF-8" standalone="yes"?>
<Relationships xmlns="http://schemas.openxmlformats.org/package/2006/relationships"><Relationship Id="rId13" Type="http://schemas.openxmlformats.org/officeDocument/2006/relationships/tags" Target="../tags/tag323.xml"/><Relationship Id="rId18" Type="http://schemas.openxmlformats.org/officeDocument/2006/relationships/tags" Target="../tags/tag324.xml"/><Relationship Id="rId26" Type="http://schemas.openxmlformats.org/officeDocument/2006/relationships/tags" Target="../tags/tag325.xml"/><Relationship Id="rId3" Type="http://schemas.openxmlformats.org/officeDocument/2006/relationships/tags" Target="../tags/tag326.xml"/><Relationship Id="rId21" Type="http://schemas.openxmlformats.org/officeDocument/2006/relationships/tags" Target="../tags/tag327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328.xml"/><Relationship Id="rId12" Type="http://schemas.openxmlformats.org/officeDocument/2006/relationships/tags" Target="../tags/tag329.xml"/><Relationship Id="rId17" Type="http://schemas.openxmlformats.org/officeDocument/2006/relationships/tags" Target="../tags/tag330.xml"/><Relationship Id="rId25" Type="http://schemas.openxmlformats.org/officeDocument/2006/relationships/tags" Target="../tags/tag331.xml"/><Relationship Id="rId33" Type="http://schemas.openxmlformats.org/officeDocument/2006/relationships/tags" Target="../tags/tag332.xml"/><Relationship Id="rId2" Type="http://schemas.openxmlformats.org/officeDocument/2006/relationships/tags" Target="../tags/tag333.xml"/><Relationship Id="rId16" Type="http://schemas.openxmlformats.org/officeDocument/2006/relationships/tags" Target="../tags/tag334.xml"/><Relationship Id="rId20" Type="http://schemas.openxmlformats.org/officeDocument/2006/relationships/tags" Target="../tags/tag335.xml"/><Relationship Id="rId29" Type="http://schemas.openxmlformats.org/officeDocument/2006/relationships/tags" Target="../tags/tag336.xml"/><Relationship Id="rId1" Type="http://schemas.openxmlformats.org/officeDocument/2006/relationships/tags" Target="../tags/tag337.xml"/><Relationship Id="rId6" Type="http://schemas.openxmlformats.org/officeDocument/2006/relationships/tags" Target="../tags/tag338.xml"/><Relationship Id="rId11" Type="http://schemas.openxmlformats.org/officeDocument/2006/relationships/tags" Target="../tags/tag339.xml"/><Relationship Id="rId24" Type="http://schemas.openxmlformats.org/officeDocument/2006/relationships/tags" Target="../tags/tag340.xml"/><Relationship Id="rId32" Type="http://schemas.openxmlformats.org/officeDocument/2006/relationships/tags" Target="../tags/tag341.xml"/><Relationship Id="rId5" Type="http://schemas.openxmlformats.org/officeDocument/2006/relationships/tags" Target="../tags/tag342.xml"/><Relationship Id="rId15" Type="http://schemas.openxmlformats.org/officeDocument/2006/relationships/tags" Target="../tags/tag343.xml"/><Relationship Id="rId23" Type="http://schemas.openxmlformats.org/officeDocument/2006/relationships/tags" Target="../tags/tag344.xml"/><Relationship Id="rId28" Type="http://schemas.openxmlformats.org/officeDocument/2006/relationships/tags" Target="../tags/tag345.xml"/><Relationship Id="rId36" Type="http://schemas.openxmlformats.org/officeDocument/2006/relationships/chart" Target="../charts/chart18.xml"/><Relationship Id="rId10" Type="http://schemas.openxmlformats.org/officeDocument/2006/relationships/tags" Target="../tags/tag346.xml"/><Relationship Id="rId19" Type="http://schemas.openxmlformats.org/officeDocument/2006/relationships/tags" Target="../tags/tag347.xml"/><Relationship Id="rId31" Type="http://schemas.openxmlformats.org/officeDocument/2006/relationships/tags" Target="../tags/tag348.xml"/><Relationship Id="rId4" Type="http://schemas.openxmlformats.org/officeDocument/2006/relationships/tags" Target="../tags/tag349.xml"/><Relationship Id="rId9" Type="http://schemas.openxmlformats.org/officeDocument/2006/relationships/tags" Target="../tags/tag350.xml"/><Relationship Id="rId14" Type="http://schemas.openxmlformats.org/officeDocument/2006/relationships/tags" Target="../tags/tag351.xml"/><Relationship Id="rId22" Type="http://schemas.openxmlformats.org/officeDocument/2006/relationships/tags" Target="../tags/tag352.xml"/><Relationship Id="rId27" Type="http://schemas.openxmlformats.org/officeDocument/2006/relationships/tags" Target="../tags/tag353.xml"/><Relationship Id="rId30" Type="http://schemas.openxmlformats.org/officeDocument/2006/relationships/tags" Target="../tags/tag354.xml"/><Relationship Id="rId35" Type="http://schemas.openxmlformats.org/officeDocument/2006/relationships/chart" Target="../charts/chart19.xml"/><Relationship Id="rId8" Type="http://schemas.openxmlformats.org/officeDocument/2006/relationships/tags" Target="../tags/tag355.xml"/></Relationships>
</file>

<file path=ppt/slides/_rels/slide65.xml.rels><?xml version="1.0" encoding="UTF-8" standalone="yes"?>
<Relationships xmlns="http://schemas.openxmlformats.org/package/2006/relationships"><Relationship Id="rId26" Type="http://schemas.openxmlformats.org/officeDocument/2006/relationships/tags" Target="../tags/tag356.xml"/><Relationship Id="rId21" Type="http://schemas.openxmlformats.org/officeDocument/2006/relationships/tags" Target="../tags/tag357.xml"/><Relationship Id="rId42" Type="http://schemas.openxmlformats.org/officeDocument/2006/relationships/tags" Target="../tags/tag358.xml"/><Relationship Id="rId47" Type="http://schemas.openxmlformats.org/officeDocument/2006/relationships/tags" Target="../tags/tag359.xml"/><Relationship Id="rId63" Type="http://schemas.openxmlformats.org/officeDocument/2006/relationships/tags" Target="../tags/tag360.xml"/><Relationship Id="rId68" Type="http://schemas.openxmlformats.org/officeDocument/2006/relationships/tags" Target="../tags/tag361.xml"/><Relationship Id="rId84" Type="http://schemas.openxmlformats.org/officeDocument/2006/relationships/tags" Target="../tags/tag362.xml"/><Relationship Id="rId89" Type="http://schemas.openxmlformats.org/officeDocument/2006/relationships/tags" Target="../tags/tag363.xml"/><Relationship Id="rId16" Type="http://schemas.openxmlformats.org/officeDocument/2006/relationships/tags" Target="../tags/tag364.xml"/><Relationship Id="rId11" Type="http://schemas.openxmlformats.org/officeDocument/2006/relationships/tags" Target="../tags/tag365.xml"/><Relationship Id="rId32" Type="http://schemas.openxmlformats.org/officeDocument/2006/relationships/tags" Target="../tags/tag366.xml"/><Relationship Id="rId37" Type="http://schemas.openxmlformats.org/officeDocument/2006/relationships/tags" Target="../tags/tag367.xml"/><Relationship Id="rId53" Type="http://schemas.openxmlformats.org/officeDocument/2006/relationships/tags" Target="../tags/tag368.xml"/><Relationship Id="rId58" Type="http://schemas.openxmlformats.org/officeDocument/2006/relationships/tags" Target="../tags/tag369.xml"/><Relationship Id="rId74" Type="http://schemas.openxmlformats.org/officeDocument/2006/relationships/tags" Target="../tags/tag370.xml"/><Relationship Id="rId79" Type="http://schemas.openxmlformats.org/officeDocument/2006/relationships/tags" Target="../tags/tag371.xml"/><Relationship Id="rId5" Type="http://schemas.openxmlformats.org/officeDocument/2006/relationships/tags" Target="../tags/tag372.xml"/><Relationship Id="rId90" Type="http://schemas.openxmlformats.org/officeDocument/2006/relationships/tags" Target="../tags/tag373.xml"/><Relationship Id="rId95" Type="http://schemas.openxmlformats.org/officeDocument/2006/relationships/slideLayout" Target="../slideLayouts/slideLayout3.xml"/><Relationship Id="rId22" Type="http://schemas.openxmlformats.org/officeDocument/2006/relationships/tags" Target="../tags/tag374.xml"/><Relationship Id="rId27" Type="http://schemas.openxmlformats.org/officeDocument/2006/relationships/tags" Target="../tags/tag375.xml"/><Relationship Id="rId43" Type="http://schemas.openxmlformats.org/officeDocument/2006/relationships/tags" Target="../tags/tag376.xml"/><Relationship Id="rId48" Type="http://schemas.openxmlformats.org/officeDocument/2006/relationships/tags" Target="../tags/tag377.xml"/><Relationship Id="rId64" Type="http://schemas.openxmlformats.org/officeDocument/2006/relationships/tags" Target="../tags/tag378.xml"/><Relationship Id="rId69" Type="http://schemas.openxmlformats.org/officeDocument/2006/relationships/tags" Target="../tags/tag379.xml"/><Relationship Id="rId80" Type="http://schemas.openxmlformats.org/officeDocument/2006/relationships/tags" Target="../tags/tag380.xml"/><Relationship Id="rId85" Type="http://schemas.openxmlformats.org/officeDocument/2006/relationships/tags" Target="../tags/tag381.xml"/><Relationship Id="rId3" Type="http://schemas.openxmlformats.org/officeDocument/2006/relationships/tags" Target="../tags/tag382.xml"/><Relationship Id="rId12" Type="http://schemas.openxmlformats.org/officeDocument/2006/relationships/tags" Target="../tags/tag383.xml"/><Relationship Id="rId17" Type="http://schemas.openxmlformats.org/officeDocument/2006/relationships/tags" Target="../tags/tag384.xml"/><Relationship Id="rId25" Type="http://schemas.openxmlformats.org/officeDocument/2006/relationships/tags" Target="../tags/tag385.xml"/><Relationship Id="rId33" Type="http://schemas.openxmlformats.org/officeDocument/2006/relationships/tags" Target="../tags/tag386.xml"/><Relationship Id="rId38" Type="http://schemas.openxmlformats.org/officeDocument/2006/relationships/tags" Target="../tags/tag387.xml"/><Relationship Id="rId46" Type="http://schemas.openxmlformats.org/officeDocument/2006/relationships/tags" Target="../tags/tag388.xml"/><Relationship Id="rId59" Type="http://schemas.openxmlformats.org/officeDocument/2006/relationships/tags" Target="../tags/tag389.xml"/><Relationship Id="rId67" Type="http://schemas.openxmlformats.org/officeDocument/2006/relationships/tags" Target="../tags/tag390.xml"/><Relationship Id="rId20" Type="http://schemas.openxmlformats.org/officeDocument/2006/relationships/tags" Target="../tags/tag391.xml"/><Relationship Id="rId41" Type="http://schemas.openxmlformats.org/officeDocument/2006/relationships/tags" Target="../tags/tag392.xml"/><Relationship Id="rId54" Type="http://schemas.openxmlformats.org/officeDocument/2006/relationships/tags" Target="../tags/tag393.xml"/><Relationship Id="rId62" Type="http://schemas.openxmlformats.org/officeDocument/2006/relationships/tags" Target="../tags/tag394.xml"/><Relationship Id="rId70" Type="http://schemas.openxmlformats.org/officeDocument/2006/relationships/tags" Target="../tags/tag395.xml"/><Relationship Id="rId75" Type="http://schemas.openxmlformats.org/officeDocument/2006/relationships/tags" Target="../tags/tag396.xml"/><Relationship Id="rId83" Type="http://schemas.openxmlformats.org/officeDocument/2006/relationships/tags" Target="../tags/tag397.xml"/><Relationship Id="rId88" Type="http://schemas.openxmlformats.org/officeDocument/2006/relationships/tags" Target="../tags/tag398.xml"/><Relationship Id="rId91" Type="http://schemas.openxmlformats.org/officeDocument/2006/relationships/tags" Target="../tags/tag399.xml"/><Relationship Id="rId96" Type="http://schemas.openxmlformats.org/officeDocument/2006/relationships/oleObject" Target="../embeddings/oleObject18.bin"/><Relationship Id="rId6" Type="http://schemas.openxmlformats.org/officeDocument/2006/relationships/tags" Target="../tags/tag400.xml"/><Relationship Id="rId15" Type="http://schemas.openxmlformats.org/officeDocument/2006/relationships/tags" Target="../tags/tag401.xml"/><Relationship Id="rId23" Type="http://schemas.openxmlformats.org/officeDocument/2006/relationships/tags" Target="../tags/tag402.xml"/><Relationship Id="rId28" Type="http://schemas.openxmlformats.org/officeDocument/2006/relationships/tags" Target="../tags/tag403.xml"/><Relationship Id="rId36" Type="http://schemas.openxmlformats.org/officeDocument/2006/relationships/tags" Target="../tags/tag404.xml"/><Relationship Id="rId49" Type="http://schemas.openxmlformats.org/officeDocument/2006/relationships/tags" Target="../tags/tag405.xml"/><Relationship Id="rId57" Type="http://schemas.openxmlformats.org/officeDocument/2006/relationships/tags" Target="../tags/tag406.xml"/><Relationship Id="rId10" Type="http://schemas.openxmlformats.org/officeDocument/2006/relationships/tags" Target="../tags/tag407.xml"/><Relationship Id="rId31" Type="http://schemas.openxmlformats.org/officeDocument/2006/relationships/tags" Target="../tags/tag408.xml"/><Relationship Id="rId44" Type="http://schemas.openxmlformats.org/officeDocument/2006/relationships/tags" Target="../tags/tag409.xml"/><Relationship Id="rId52" Type="http://schemas.openxmlformats.org/officeDocument/2006/relationships/tags" Target="../tags/tag410.xml"/><Relationship Id="rId60" Type="http://schemas.openxmlformats.org/officeDocument/2006/relationships/tags" Target="../tags/tag411.xml"/><Relationship Id="rId65" Type="http://schemas.openxmlformats.org/officeDocument/2006/relationships/tags" Target="../tags/tag412.xml"/><Relationship Id="rId73" Type="http://schemas.openxmlformats.org/officeDocument/2006/relationships/tags" Target="../tags/tag413.xml"/><Relationship Id="rId78" Type="http://schemas.openxmlformats.org/officeDocument/2006/relationships/tags" Target="../tags/tag414.xml"/><Relationship Id="rId81" Type="http://schemas.openxmlformats.org/officeDocument/2006/relationships/tags" Target="../tags/tag415.xml"/><Relationship Id="rId86" Type="http://schemas.openxmlformats.org/officeDocument/2006/relationships/tags" Target="../tags/tag416.xml"/><Relationship Id="rId94" Type="http://schemas.openxmlformats.org/officeDocument/2006/relationships/tags" Target="../tags/tag417.xml"/><Relationship Id="rId99" Type="http://schemas.openxmlformats.org/officeDocument/2006/relationships/chart" Target="../charts/chart20.xml"/><Relationship Id="rId4" Type="http://schemas.openxmlformats.org/officeDocument/2006/relationships/tags" Target="../tags/tag418.xml"/><Relationship Id="rId9" Type="http://schemas.openxmlformats.org/officeDocument/2006/relationships/tags" Target="../tags/tag419.xml"/><Relationship Id="rId13" Type="http://schemas.openxmlformats.org/officeDocument/2006/relationships/tags" Target="../tags/tag420.xml"/><Relationship Id="rId18" Type="http://schemas.openxmlformats.org/officeDocument/2006/relationships/tags" Target="../tags/tag421.xml"/><Relationship Id="rId39" Type="http://schemas.openxmlformats.org/officeDocument/2006/relationships/tags" Target="../tags/tag422.xml"/><Relationship Id="rId34" Type="http://schemas.openxmlformats.org/officeDocument/2006/relationships/tags" Target="../tags/tag423.xml"/><Relationship Id="rId50" Type="http://schemas.openxmlformats.org/officeDocument/2006/relationships/tags" Target="../tags/tag424.xml"/><Relationship Id="rId55" Type="http://schemas.openxmlformats.org/officeDocument/2006/relationships/tags" Target="../tags/tag425.xml"/><Relationship Id="rId76" Type="http://schemas.openxmlformats.org/officeDocument/2006/relationships/tags" Target="../tags/tag426.xml"/><Relationship Id="rId97" Type="http://schemas.openxmlformats.org/officeDocument/2006/relationships/image" Target="../media/image2.emf"/><Relationship Id="rId7" Type="http://schemas.openxmlformats.org/officeDocument/2006/relationships/tags" Target="../tags/tag427.xml"/><Relationship Id="rId71" Type="http://schemas.openxmlformats.org/officeDocument/2006/relationships/tags" Target="../tags/tag428.xml"/><Relationship Id="rId92" Type="http://schemas.openxmlformats.org/officeDocument/2006/relationships/tags" Target="../tags/tag429.xml"/><Relationship Id="rId2" Type="http://schemas.openxmlformats.org/officeDocument/2006/relationships/tags" Target="../tags/tag430.xml"/><Relationship Id="rId29" Type="http://schemas.openxmlformats.org/officeDocument/2006/relationships/tags" Target="../tags/tag431.xml"/><Relationship Id="rId24" Type="http://schemas.openxmlformats.org/officeDocument/2006/relationships/tags" Target="../tags/tag432.xml"/><Relationship Id="rId40" Type="http://schemas.openxmlformats.org/officeDocument/2006/relationships/tags" Target="../tags/tag433.xml"/><Relationship Id="rId45" Type="http://schemas.openxmlformats.org/officeDocument/2006/relationships/tags" Target="../tags/tag434.xml"/><Relationship Id="rId66" Type="http://schemas.openxmlformats.org/officeDocument/2006/relationships/tags" Target="../tags/tag435.xml"/><Relationship Id="rId87" Type="http://schemas.openxmlformats.org/officeDocument/2006/relationships/tags" Target="../tags/tag436.xml"/><Relationship Id="rId61" Type="http://schemas.openxmlformats.org/officeDocument/2006/relationships/tags" Target="../tags/tag437.xml"/><Relationship Id="rId82" Type="http://schemas.openxmlformats.org/officeDocument/2006/relationships/tags" Target="../tags/tag438.xml"/><Relationship Id="rId19" Type="http://schemas.openxmlformats.org/officeDocument/2006/relationships/tags" Target="../tags/tag439.xml"/><Relationship Id="rId14" Type="http://schemas.openxmlformats.org/officeDocument/2006/relationships/tags" Target="../tags/tag440.xml"/><Relationship Id="rId30" Type="http://schemas.openxmlformats.org/officeDocument/2006/relationships/tags" Target="../tags/tag441.xml"/><Relationship Id="rId35" Type="http://schemas.openxmlformats.org/officeDocument/2006/relationships/tags" Target="../tags/tag442.xml"/><Relationship Id="rId56" Type="http://schemas.openxmlformats.org/officeDocument/2006/relationships/tags" Target="../tags/tag443.xml"/><Relationship Id="rId77" Type="http://schemas.openxmlformats.org/officeDocument/2006/relationships/tags" Target="../tags/tag444.xml"/><Relationship Id="rId8" Type="http://schemas.openxmlformats.org/officeDocument/2006/relationships/tags" Target="../tags/tag445.xml"/><Relationship Id="rId51" Type="http://schemas.openxmlformats.org/officeDocument/2006/relationships/tags" Target="../tags/tag446.xml"/><Relationship Id="rId72" Type="http://schemas.openxmlformats.org/officeDocument/2006/relationships/tags" Target="../tags/tag447.xml"/><Relationship Id="rId93" Type="http://schemas.openxmlformats.org/officeDocument/2006/relationships/tags" Target="../tags/tag448.xml"/><Relationship Id="rId98" Type="http://schemas.openxmlformats.org/officeDocument/2006/relationships/chart" Target="../charts/char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Марлье</a:t>
            </a:r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en-US" sz="5000" b="1">
                <a:solidFill>
                  <a:srgbClr val="FFFFFF"/>
                </a:solidFill>
                <a:latin typeface="Arial"/>
              </a:rPr>
              <a:t>Q3</a:t>
            </a:r>
            <a:r>
              <a:rPr lang="en-US" sz="5000" b="1">
                <a:solidFill>
                  <a:srgbClr val="FFFFFF"/>
                </a:solidFill>
                <a:latin typeface="Arial"/>
              </a:rPr>
              <a:t>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Выручка поставщиков </a:t>
            </a:r>
            <a:r>
              <a:rPr lang="en-US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FT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(3 430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 руб.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КПЭ на 2027 год – предложение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от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AdTech</a:t>
            </a:r>
            <a:r>
              <a:rPr lang="ru-RU" sz="1400" b="1">
                <a:solidFill>
                  <a:srgbClr val="000000"/>
                </a:solidFill>
              </a:rPr>
              <a:t>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Четыре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(+18%), полный год нового прайса и in-store оборудования 2026 г., новые направления — RMN и Content </a:t>
            </a:r>
            <a:r>
              <a:rPr lang="en-US" sz="1400">
                <a:solidFill>
                  <a:srgbClr val="000000"/>
                </a:solidFill>
              </a:rPr>
              <a:t>factory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соответствует </a:t>
            </a:r>
            <a:r>
              <a:rPr lang="en-US"/>
              <a:t>top down </a:t>
            </a:r>
            <a:r>
              <a:rPr lang="ru-RU"/>
              <a:t>целям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вне КУ (</a:t>
            </a:r>
            <a:r>
              <a:rPr lang="ru-RU" sz="1200" b="1">
                <a:solidFill>
                  <a:srgbClr val="000000"/>
                </a:solidFill>
              </a:rPr>
              <a:t>непоставщики</a:t>
            </a:r>
            <a:r>
              <a:rPr lang="ru-RU" sz="1200" b="1">
                <a:solidFill>
                  <a:srgbClr val="000000"/>
                </a:solidFill>
              </a:rPr>
              <a:t> и бренд бюджеты) - 2 272: рост </a:t>
            </a:r>
            <a:r>
              <a:rPr lang="en-US" sz="1200" b="1">
                <a:solidFill>
                  <a:srgbClr val="000000"/>
                </a:solidFill>
              </a:rPr>
              <a:t>vs top down </a:t>
            </a:r>
            <a:r>
              <a:rPr lang="ru-RU" sz="1200">
                <a:solidFill>
                  <a:srgbClr val="000000"/>
                </a:solidFill>
              </a:rPr>
              <a:t>за счёт запуска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r>
              <a:rPr lang="ru-RU" sz="1200">
                <a:solidFill>
                  <a:srgbClr val="000000"/>
                </a:solidFill>
              </a:rPr>
              <a:t> (+272 </a:t>
            </a:r>
            <a:r>
              <a:rPr lang="ru-RU" sz="1200">
                <a:solidFill>
                  <a:srgbClr val="000000"/>
                </a:solidFill>
              </a:rPr>
              <a:t>млн руб.) 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Управленческий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COGS (маркетинг)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90%+)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инфлюенс-маркетинг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traditional digital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Доля в коммерческом 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 учетом эффекта платформы. 2026-2027 гг. — бюджет рекламной выручки 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гг. — модель; 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 — денежная емкость инвентаря: коммерческая 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 50% внутренних заказчиков.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 инвентаря вырастет в 3,5 раза до ~61 млрд руб. к 2030 г. </a:t>
            </a:r>
            <a:br>
              <a:rPr lang="en-US" dirty="0"/>
            </a:br>
            <a:r>
              <a:rPr lang="ru-RU"/>
              <a:t>на росте</a:t>
            </a:r>
            <a:r>
              <a:rPr lang="en-US"/>
              <a:t> online GMV, DAC </a:t>
            </a:r>
            <a:r>
              <a:rPr lang="ru-RU"/>
              <a:t>и эффективности платформы</a:t>
            </a:r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31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31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</a:t>
            </a:r>
            <a:r>
              <a:rPr lang="en-US">
                <a:solidFill>
                  <a:srgbClr val="6E6E6E"/>
                </a:solidFill>
              </a:rPr>
              <a:t>: Ads Market Calc (</a:t>
            </a:r>
            <a:r>
              <a:rPr lang="ru-RU">
                <a:solidFill>
                  <a:srgbClr val="6E6E6E"/>
                </a:solidFill>
              </a:rPr>
              <a:t>внутренняя оценка рынка</a:t>
            </a:r>
            <a:r>
              <a:rPr lang="en-US">
                <a:solidFill>
                  <a:srgbClr val="6E6E6E"/>
                </a:solidFill>
              </a:rPr>
              <a:t>), WPP Media </a:t>
            </a:r>
            <a:r>
              <a:rPr lang="ru-RU">
                <a:solidFill>
                  <a:srgbClr val="6E6E6E"/>
                </a:solidFill>
              </a:rPr>
              <a:t>через </a:t>
            </a:r>
            <a:r>
              <a:rPr lang="en-US">
                <a:solidFill>
                  <a:srgbClr val="6E6E6E"/>
                </a:solidFill>
              </a:rPr>
              <a:t>Sostav</a:t>
            </a:r>
            <a:r>
              <a:rPr lang="ru-RU">
                <a:solidFill>
                  <a:srgbClr val="6E6E6E"/>
                </a:solidFill>
              </a:rPr>
              <a:t> (2025), Авито Реклама и</a:t>
            </a:r>
            <a:r>
              <a:rPr lang="en-US">
                <a:solidFill>
                  <a:srgbClr val="6E6E6E"/>
                </a:solidFill>
              </a:rPr>
              <a:t> Soloway (</a:t>
            </a:r>
            <a:r>
              <a:rPr lang="ru-RU">
                <a:solidFill>
                  <a:srgbClr val="6E6E6E"/>
                </a:solidFill>
              </a:rPr>
              <a:t>сентябрь 2026), НРА, внутреннее исследование</a:t>
            </a:r>
            <a:r>
              <a:rPr lang="en-US">
                <a:solidFill>
                  <a:srgbClr val="6E6E6E"/>
                </a:solidFill>
              </a:rPr>
              <a:t> Magnit ADS. </a:t>
            </a:r>
            <a:r>
              <a:rPr lang="ru-RU">
                <a:solidFill>
                  <a:srgbClr val="6E6E6E"/>
                </a:solidFill>
              </a:rPr>
              <a:t>Гипотезы — экспертная оценка</a:t>
            </a:r>
            <a:r>
              <a:rPr lang="en-US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 смещаются к транзакции: у места покупки растет роль перформанса, в начале пути — охватных медиа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 метрики, по которым рекламодатель оценивает канал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каналов по воронке</a:t>
            </a:r>
            <a:r>
              <a:rPr lang="en-US"/>
              <a:t>: Magnit ADS </a:t>
            </a:r>
            <a:r>
              <a:rPr lang="ru-RU"/>
              <a:t>закрывает путь </a:t>
            </a:r>
            <a:br>
              <a:rPr lang="en-US" dirty="0"/>
            </a:br>
            <a:r>
              <a:rPr lang="ru-RU"/>
              <a:t>покупателя от охвата до транзакции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~5,4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 / 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E-com &amp;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VK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In-store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коммерческие условия с поставщиками. Источник: инициативы руководителей направлений Магнит на 2027+ гг.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en-US">
                <a:solidFill>
                  <a:srgbClr val="FFFFFF"/>
                </a:solidFill>
                <a:latin typeface="Arial"/>
              </a:rPr>
              <a:t>BU2027 Overview</a:t>
            </a:r>
            <a:endParaRPr lang="en-US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сезонность, планы направлений и пререквизиты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+1 501: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на 3 млн (до 31,1 млн </a:t>
            </a:r>
            <a:r>
              <a:rPr lang="en-US" sz="1100">
                <a:solidFill>
                  <a:srgbClr val="000000"/>
                </a:solidFill>
              </a:rPr>
              <a:t>DAC)</a:t>
            </a:r>
            <a:endParaRPr lang="ru-RU" sz="1100">
              <a:solidFill>
                <a:srgbClr val="000000"/>
              </a:solidFill>
            </a:endParaRP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176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1 436: </a:t>
            </a:r>
            <a:r>
              <a:rPr lang="ru-RU" sz="1100">
                <a:solidFill>
                  <a:srgbClr val="000000"/>
                </a:solidFill>
              </a:rPr>
              <a:t>ФОТ </a:t>
            </a:r>
            <a:r>
              <a:rPr lang="en-US" sz="1100">
                <a:solidFill>
                  <a:srgbClr val="000000"/>
                </a:solidFill>
              </a:rPr>
              <a:t>AdTech</a:t>
            </a:r>
            <a:r>
              <a:rPr lang="ru-RU" sz="1100">
                <a:solidFill>
                  <a:srgbClr val="000000"/>
                </a:solidFill>
              </a:rPr>
              <a:t> 1 370 + команда Content </a:t>
            </a:r>
            <a:r>
              <a:rPr lang="en-US" sz="1100">
                <a:solidFill>
                  <a:srgbClr val="000000"/>
                </a:solidFill>
              </a:rPr>
              <a:t>factory</a:t>
            </a:r>
            <a:r>
              <a:rPr lang="ru-RU" sz="1100">
                <a:solidFill>
                  <a:srgbClr val="000000"/>
                </a:solidFill>
              </a:rPr>
              <a:t> 66; 354 FTE на конец 2027 г. (312 на конец 2026 г.), в 2027 г. штат работает полный год;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+18%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417517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— горизонталь, результат зависит от DAC (М+) и </a:t>
            </a:r>
            <a:r>
              <a:rPr lang="en-US" sz="1200">
                <a:solidFill>
                  <a:srgbClr val="000000"/>
                </a:solidFill>
              </a:rPr>
              <a:t>online</a:t>
            </a:r>
            <a:r>
              <a:rPr lang="en-US" sz="1200">
                <a:solidFill>
                  <a:srgbClr val="000000"/>
                </a:solidFill>
              </a:rPr>
              <a:t> GMV (</a:t>
            </a:r>
            <a:r>
              <a:rPr lang="en-US" sz="1200">
                <a:solidFill>
                  <a:srgbClr val="000000"/>
                </a:solidFill>
              </a:rPr>
              <a:t>FoodTech</a:t>
            </a:r>
            <a:r>
              <a:rPr lang="ru-RU" sz="1200">
                <a:solidFill>
                  <a:srgbClr val="000000"/>
                </a:solidFill>
              </a:rPr>
              <a:t>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закреплена за задачами команд Магнита; бюджет 2027 рассчитан на фактической доле </a:t>
            </a:r>
            <a:r>
              <a:rPr lang="en-US" sz="1200">
                <a:solidFill>
                  <a:srgbClr val="000000"/>
                </a:solidFill>
              </a:rPr>
              <a:t>AdTech</a:t>
            </a:r>
            <a:r>
              <a:rPr lang="ru-RU" sz="1200">
                <a:solidFill>
                  <a:srgbClr val="000000"/>
                </a:solidFill>
              </a:rPr>
              <a:t>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</a:t>
            </a:r>
            <a:r>
              <a:rPr lang="en-US" sz="1200" b="1">
                <a:solidFill>
                  <a:srgbClr val="000000"/>
                </a:solidFill>
              </a:rPr>
              <a:t>in-store</a:t>
            </a:r>
            <a:r>
              <a:rPr lang="ru-RU" sz="1200" b="1">
                <a:solidFill>
                  <a:srgbClr val="000000"/>
                </a:solidFill>
              </a:rPr>
              <a:t>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</a:t>
            </a:r>
            <a:r>
              <a:rPr lang="en-US" sz="1200">
                <a:solidFill>
                  <a:srgbClr val="000000"/>
                </a:solidFill>
              </a:rPr>
              <a:t>in-store</a:t>
            </a:r>
            <a:r>
              <a:rPr lang="ru-RU" sz="1200">
                <a:solidFill>
                  <a:srgbClr val="000000"/>
                </a:solidFill>
              </a:rPr>
              <a:t>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</a:t>
            </a:r>
            <a:r>
              <a:rPr lang="en-US" sz="1100">
                <a:solidFill>
                  <a:srgbClr val="000000"/>
                </a:solidFill>
              </a:rPr>
              <a:t>DAC </a:t>
            </a:r>
            <a:r>
              <a:rPr lang="ru-RU" sz="1100">
                <a:solidFill>
                  <a:srgbClr val="000000"/>
                </a:solidFill>
              </a:rPr>
              <a:t>на 3 млн в 2027 году (до 31,1 млн),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factory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инфлюенс-маркетинга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нано-креаторов: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</a:t>
            </a:r>
            <a:r>
              <a:rPr lang="en-US" sz="1200">
                <a:solidFill>
                  <a:srgbClr val="000000"/>
                </a:solidFill>
              </a:rPr>
              <a:t>BizDev</a:t>
            </a:r>
            <a:r>
              <a:rPr lang="en-US" sz="1200">
                <a:solidFill>
                  <a:srgbClr val="000000"/>
                </a:solidFill>
              </a:rPr>
              <a:t>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</a:t>
            </a:r>
            <a:r>
              <a:rPr lang="en-US" sz="1200">
                <a:solidFill>
                  <a:srgbClr val="000000"/>
                </a:solidFill>
              </a:rPr>
              <a:t>Cubic</a:t>
            </a:r>
            <a:r>
              <a:rPr lang="ru-RU" sz="1200">
                <a:solidFill>
                  <a:srgbClr val="000000"/>
                </a:solidFill>
              </a:rPr>
              <a:t>, </a:t>
            </a:r>
            <a:r>
              <a:rPr lang="en-US" sz="1200">
                <a:solidFill>
                  <a:srgbClr val="000000"/>
                </a:solidFill>
              </a:rPr>
              <a:t>InAppStory</a:t>
            </a:r>
            <a:r>
              <a:rPr lang="ru-RU" sz="1200">
                <a:solidFill>
                  <a:srgbClr val="000000"/>
                </a:solidFill>
              </a:rPr>
              <a:t>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Персонал и ФОТ, планы направлений,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 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 (25-26 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 из центрального маркетинга в контур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таргета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(9+3)’26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п.п.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конец года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In-store: парк вырастет до 81,4 тыс. устройств за счет шелф-баннеров и фасадных экранов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Парк In-store по типам оборудования, ед.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4191000"/>
        </p:xfrm>
        <a:graphic>
          <a:graphicData uri="http://schemas.openxmlformats.org/drawingml/2006/table">
            <a:tbl>
              <a:tblPr firstRow="1"/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+3 250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1 659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+428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2 310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6 121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77 721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81 419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+3 698</a:t>
                      </a:r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Ключевые изменения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КСО:</a:t>
            </a:r>
            <a:r>
              <a:rPr lang="ru-RU" sz="1200">
                <a:solidFill>
                  <a:srgbClr val="000000"/>
                </a:solidFill>
              </a:rPr>
              <a:t> 40,5 тыс. устройств, введенных в Q4 2026, работают весь год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Шелф-баннеры:</a:t>
            </a:r>
            <a:r>
              <a:rPr lang="ru-RU" sz="1200">
                <a:solidFill>
                  <a:srgbClr val="000000"/>
                </a:solidFill>
              </a:rPr>
              <a:t> парк вырастет в 2,2 раза, до 6,0 тыс.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Фасадные экраны:</a:t>
            </a:r>
            <a:r>
              <a:rPr lang="ru-RU" sz="1200">
                <a:solidFill>
                  <a:srgbClr val="000000"/>
                </a:solidFill>
              </a:rPr>
              <a:t> +428, до 1,7 тыс.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для монетизации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Платформа:</a:t>
            </a:r>
            <a:r>
              <a:rPr lang="ru-RU" sz="1200">
                <a:solidFill>
                  <a:srgbClr val="000000"/>
                </a:solidFill>
              </a:rPr>
              <a:t> весь in-store инвентарь подключен к единой рекламной платформе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Медиаконтент:</a:t>
            </a:r>
            <a:r>
              <a:rPr lang="ru-RU" sz="1200">
                <a:solidFill>
                  <a:srgbClr val="000000"/>
                </a:solidFill>
              </a:rPr>
              <a:t> запуск целевой системы управления медиаконтентом в 2027 г.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AdT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Эффективная монетизация = рекламные технологии + рост трафика и покрытия сценариев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Расширение инвентаря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40+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новых рекламных digital-форматов за 2025 г.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рекламные места и инструменты внутри и за пределами экосистемы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Рекламные показы растут </a:t>
            </a:r>
            <a:r>
              <a:rPr lang="ru-RU" sz="1400" b="1">
                <a:solidFill>
                  <a:srgbClr val="000000"/>
                </a:solidFill>
              </a:rPr>
              <a:t>в 1,5 раза</a:t>
            </a:r>
            <a:r>
              <a:rPr lang="ru-RU" sz="1400">
                <a:solidFill>
                  <a:srgbClr val="000000"/>
                </a:solidFill>
              </a:rPr>
              <a:t> год к году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Дикси, Азбуки Вкуса и внешних площадок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Эффективность рекламы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30+ млрд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рекламных показов в год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и ML-ранжирование вместо ручного квотирования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Данные о покупателе: аудитории, поведение, контекст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Оценка влияния рекламы на РТО: sales lift, ROI и ROAS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Сервис и продажи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ТОП-1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в ритейле в рейтинге AdIndex 2026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Full-service</a:t>
            </a:r>
            <a:r>
              <a:rPr lang="ru-RU" sz="1400">
                <a:solidFill>
                  <a:srgbClr val="000000"/>
                </a:solidFill>
              </a:rPr>
              <a:t> для топ-поставщиков с соблюдением SLA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для SMB и агентств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Единый медиакит, прайсинг и отчетность по всем кампаниям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Ценность для группы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~50%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инвентаря работает на внутренний маркетинг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зависит от роста аудитории экосистемы и покрытия пользовательских сценариев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выход за пределы собственного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+18%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Что дальше: потенциал 30+ млрд руб. внутреннего инвентаря и выход на внешний рынок рекламы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 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30+ млрд руб.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раскрывает рекламный потенциал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Потенциал растет вместе с аудиторией экосистемы и покрытием сценариев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рынок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Потенциал не ограничен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Не только монетизация собственного трафика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Борьба за бюджеты на внешних площадках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о покупателях масштабируются для подключения внешнего трафика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Performance в in-store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Новое направление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магазинах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indoor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Фотофиксация indoor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UGC и RMN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Новые направления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UGC-продвижение в соцсетях и ленте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Retail Media Network: бренд-бюджеты поставщиков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en-US">
                <a:solidFill>
                  <a:schemeClr val="dk1"/>
                </a:solidFill>
                <a:latin typeface="+mn-lt"/>
                <a:sym typeface="Montserrat"/>
              </a:rPr>
              <a:t>on track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14381"/>
              </p:ext>
            </p:extLst>
          </p:nvPr>
        </p:nvGraphicFramePr>
        <p:xfrm>
          <a:off x="364174" y="88660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kumimoji="0" sz="11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endParaRPr lang="ru-RU" sz="1100" b="1" i="0" u="none" strike="noStrike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2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Net </a:t>
            </a:r>
            <a:r>
              <a:rPr lang="en-US"/>
              <a:t>Revenue</a:t>
            </a:r>
            <a:r>
              <a:rPr lang="ru-RU"/>
              <a:t> 13 млрд руб. (+33% </a:t>
            </a:r>
            <a:r>
              <a:rPr lang="en-US"/>
              <a:t>vs 2026).</a:t>
            </a:r>
            <a:r>
              <a:rPr lang="ru-RU"/>
              <a:t> Внешняя выручка</a:t>
            </a:r>
            <a:r>
              <a:rPr lang="ru-RU"/>
              <a:t> (</a:t>
            </a:r>
            <a:r>
              <a:rPr lang="ru-RU"/>
              <a:t>непоставщики</a:t>
            </a:r>
            <a:r>
              <a:rPr lang="ru-RU"/>
              <a:t>, бренд бюджеты) составит 2,3 млрд руб.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Net Revenue +3 152 (+33%): COGS растёт на 1 091</a:t>
            </a:r>
            <a:r>
              <a:rPr lang="ru-RU" sz="1200">
                <a:solidFill>
                  <a:srgbClr val="000000"/>
                </a:solidFill>
              </a:rPr>
              <a:t>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— APP и In-store: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прайса, рост DAC на </a:t>
            </a:r>
            <a:r>
              <a:rPr lang="ru-RU" sz="1200">
                <a:solidFill>
                  <a:srgbClr val="000000"/>
                </a:solidFill>
              </a:rPr>
              <a:t>3 </a:t>
            </a:r>
            <a:r>
              <a:rPr lang="ru-RU" sz="1200">
                <a:solidFill>
                  <a:srgbClr val="000000"/>
                </a:solidFill>
              </a:rPr>
              <a:t>млн (до 31,1 млн </a:t>
            </a:r>
            <a:r>
              <a:rPr lang="en-US" sz="1200">
                <a:solidFill>
                  <a:srgbClr val="000000"/>
                </a:solidFill>
              </a:rPr>
              <a:t>DAC)</a:t>
            </a:r>
            <a:r>
              <a:rPr lang="ru-RU" sz="1200">
                <a:solidFill>
                  <a:srgbClr val="000000"/>
                </a:solidFill>
              </a:rPr>
              <a:t>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</a:t>
            </a:r>
            <a:r>
              <a:rPr lang="en-US" sz="1200">
                <a:solidFill>
                  <a:srgbClr val="000000"/>
                </a:solidFill>
              </a:rPr>
              <a:t>factory</a:t>
            </a:r>
            <a:endParaRPr lang="ru-RU" sz="1200">
              <a:solidFill>
                <a:srgbClr val="000000"/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516041009"/>
              </p:ext>
            </p:extLst>
          </p:nvPr>
        </p:nvGraphicFramePr>
        <p:xfrm>
          <a:off x="6130925" y="4402136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64956" y="5946826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7473057" y="4403723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7473057" y="6233933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255479" y="514956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695828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6" imgW="395" imgH="394" progId="TCLayout.ActiveDocument.1">
                  <p:embed/>
                </p:oleObj>
              </mc:Choice>
              <mc:Fallback>
                <p:oleObj name="think-cell Slide" r:id="rId96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7" name="Chart 136">
            <a:extLst>
              <a:ext uri="{FF2B5EF4-FFF2-40B4-BE49-F238E27FC236}">
                <a16:creationId xmlns:a16="http://schemas.microsoft.com/office/drawing/2014/main" id="{C7362BE8-5F2D-4835-A5C5-7CA37169EE57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2891194019"/>
              </p:ext>
            </p:extLst>
          </p:nvPr>
        </p:nvGraphicFramePr>
        <p:xfrm>
          <a:off x="303213" y="800100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68" name="Freeform: Shape 67">
            <a:extLst>
              <a:ext uri="{FF2B5EF4-FFF2-40B4-BE49-F238E27FC236}">
                <a16:creationId xmlns:a16="http://schemas.microsoft.com/office/drawing/2014/main" id="{98141F55-2D23-450B-9291-9F22F50E525C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98061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5" name="Freeform: Shape 64">
            <a:extLst>
              <a:ext uri="{FF2B5EF4-FFF2-40B4-BE49-F238E27FC236}">
                <a16:creationId xmlns:a16="http://schemas.microsoft.com/office/drawing/2014/main" id="{16EB6C40-F291-4FF4-B5DF-86841DCAE20D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9123363" y="2698750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2" name="Freeform: Shape 61">
            <a:extLst>
              <a:ext uri="{FF2B5EF4-FFF2-40B4-BE49-F238E27FC236}">
                <a16:creationId xmlns:a16="http://schemas.microsoft.com/office/drawing/2014/main" id="{A2611A0A-4795-4E1F-922F-F3F145ABF6E4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5689600" y="2698750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9" name="Freeform: Shape 58">
            <a:extLst>
              <a:ext uri="{FF2B5EF4-FFF2-40B4-BE49-F238E27FC236}">
                <a16:creationId xmlns:a16="http://schemas.microsoft.com/office/drawing/2014/main" id="{065275FC-E318-4467-BEAA-01E027413DD7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483076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14575BBB-674E-4AE1-A172-C3233665A17A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1397000" y="2698750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3" name="Freeform: Shape 52">
            <a:extLst>
              <a:ext uri="{FF2B5EF4-FFF2-40B4-BE49-F238E27FC236}">
                <a16:creationId xmlns:a16="http://schemas.microsoft.com/office/drawing/2014/main" id="{43EBD878-DEA4-4D0F-B8DB-2AF29E74972E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38163" y="2698750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07045409-65F7-4745-8004-23903F550041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1397000" y="2755900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6453EE5-F63C-4446-BE9C-E7E1970C1495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83076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4374F641-599C-4D63-A012-845B5B604B93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69875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123CCF0-239E-4F81-A433-17B2C3F3A558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689600" y="275590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EC7365A-9442-47E8-94A3-BF39AABA37D0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123363" y="275590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33851B00-E729-49C0-BB6D-D905521F1E48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E3A41834-AF17-44BF-80E7-63E5FD89D53D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98061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0F24554-3655-4F9E-9AC3-3BB825190D85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9123363" y="2698750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152E2B2-934F-4932-9482-4C83AE95822E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483076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DB97732-CD94-4550-A7D2-8E6AC18D7D42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69875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65FB86C-FAF6-4A39-831B-E1E90A778E0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538163" y="2755900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22CD099-9F01-4B2F-9563-3BCCE504EA60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1397000" y="2698750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63563" y="2973836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1273174" y="2973388"/>
            <a:ext cx="800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2389188" y="2368998"/>
            <a:ext cx="2873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252663" y="2973836"/>
            <a:ext cx="5588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3281363" y="2578548"/>
            <a:ext cx="217488" cy="136525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011488" y="2973836"/>
            <a:ext cx="7556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965575" y="2973836"/>
            <a:ext cx="5667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691062" y="2973388"/>
            <a:ext cx="8318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5791200" y="1681611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9148763" y="2973836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9224963" y="196894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700838" y="1199011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8194675" y="2973836"/>
            <a:ext cx="693738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224963" y="86404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10082213" y="887861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7316788" y="2973836"/>
            <a:ext cx="7302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4160839" y="2565848"/>
            <a:ext cx="174625" cy="136525"/>
          </a:xfrm>
          <a:prstGeom prst="rect">
            <a:avLst/>
          </a:prstGeom>
          <a:solidFill>
            <a:srgbClr val="C30C3E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50"/>
            </p:custDataLst>
          </p:nvPr>
        </p:nvSpPr>
        <p:spPr bwMode="gray">
          <a:xfrm>
            <a:off x="639762" y="2084836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6437313" y="2973388"/>
            <a:ext cx="773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2"/>
            </p:custDataLst>
          </p:nvPr>
        </p:nvSpPr>
        <p:spPr bwMode="gray">
          <a:xfrm>
            <a:off x="1498600" y="2092773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9948863" y="2973836"/>
            <a:ext cx="6175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5710238" y="2973836"/>
            <a:ext cx="51117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4932363" y="2432498"/>
            <a:ext cx="3492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7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8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2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3" name="Chart 152">
            <a:extLst>
              <a:ext uri="{FF2B5EF4-FFF2-40B4-BE49-F238E27FC236}">
                <a16:creationId xmlns:a16="http://schemas.microsoft.com/office/drawing/2014/main" id="{D26E328E-397B-40AB-8E34-E001B8B64283}"/>
              </a:ext>
            </a:extLst>
          </p:cNvPr>
          <p:cNvGraphicFramePr/>
          <p:nvPr>
            <p:custDataLst>
              <p:tags r:id="rId63"/>
            </p:custDataLst>
            <p:extLst>
              <p:ext uri="{D42A27DB-BD31-4B8C-83A1-F6EECF244321}">
                <p14:modId xmlns:p14="http://schemas.microsoft.com/office/powerpoint/2010/main" val="477376606"/>
              </p:ext>
            </p:extLst>
          </p:nvPr>
        </p:nvGraphicFramePr>
        <p:xfrm>
          <a:off x="303213" y="3740150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9"/>
          </a:graphicData>
        </a:graphic>
      </p:graphicFrame>
      <p:sp useBgFill="1">
        <p:nvSpPr>
          <p:cNvPr id="72" name="Freeform: Shape 71">
            <a:extLst>
              <a:ext uri="{FF2B5EF4-FFF2-40B4-BE49-F238E27FC236}">
                <a16:creationId xmlns:a16="http://schemas.microsoft.com/office/drawing/2014/main" id="{E558613D-8517-470B-9E8D-91A5F87A9E41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515938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5" name="Freeform: Shape 74">
            <a:extLst>
              <a:ext uri="{FF2B5EF4-FFF2-40B4-BE49-F238E27FC236}">
                <a16:creationId xmlns:a16="http://schemas.microsoft.com/office/drawing/2014/main" id="{EF924107-0A7C-4DCD-97F7-945D06C12E4A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277938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8" name="Freeform: Shape 77">
            <a:extLst>
              <a:ext uri="{FF2B5EF4-FFF2-40B4-BE49-F238E27FC236}">
                <a16:creationId xmlns:a16="http://schemas.microsoft.com/office/drawing/2014/main" id="{5B24ACA2-5AAD-435D-88DA-B2AB91A0B97A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2800350" y="5454650"/>
            <a:ext cx="500064" cy="192089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2" name="Freeform: Shape 81">
            <a:extLst>
              <a:ext uri="{FF2B5EF4-FFF2-40B4-BE49-F238E27FC236}">
                <a16:creationId xmlns:a16="http://schemas.microsoft.com/office/drawing/2014/main" id="{193874DF-07AE-4576-AF91-EE49E6CFAE1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084763" y="5454650"/>
            <a:ext cx="500063" cy="192089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8EBBA5C5-CB14-4AB4-92F2-A17240C4C187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845175" y="5454650"/>
            <a:ext cx="500064" cy="192089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008D0C2-69C7-47DD-A867-DC8CB428F26B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1F0C5DB-C59F-4F25-91E1-40D344A1497D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515938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4A3C3A8C-E03A-4C98-8D17-8746F8E531DE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5DBFD558-DF9A-4F91-BD7D-FD7BF61C0A98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277938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86161D2C-E6C0-4A0E-95EB-1E7396D8043B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45465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6C97436-4933-4083-AB7B-175305DBDCC0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2800350" y="551180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C3E39E56-E8B0-4118-A89E-1B7A0ADBE3AE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45465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AD0236EB-2BB6-4930-BC06-ABE308F0401E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084763" y="5511800"/>
            <a:ext cx="500063" cy="134939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CCB21F56-0174-4602-B735-4F9775D86668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45465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E753AF9-B2DF-45B5-BB40-FF8C9B8D9EEA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5845175" y="5511800"/>
            <a:ext cx="500064" cy="134939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1284288" y="5715448"/>
            <a:ext cx="4857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80"/>
            </p:custDataLst>
          </p:nvPr>
        </p:nvSpPr>
        <p:spPr bwMode="gray">
          <a:xfrm>
            <a:off x="2214562" y="5283648"/>
            <a:ext cx="147638" cy="136525"/>
          </a:xfrm>
          <a:prstGeom prst="rect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008188" y="5715448"/>
            <a:ext cx="55880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2790825" y="5715448"/>
            <a:ext cx="5175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3527426" y="5715448"/>
            <a:ext cx="5699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4330700" y="5715448"/>
            <a:ext cx="4841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5"/>
            </p:custDataLst>
          </p:nvPr>
        </p:nvSpPr>
        <p:spPr bwMode="gray">
          <a:xfrm>
            <a:off x="5211764" y="48613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083175" y="5715448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5786438" y="5715448"/>
            <a:ext cx="61753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642938" y="52677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9"/>
            </p:custDataLst>
          </p:nvPr>
        </p:nvSpPr>
        <p:spPr bwMode="gray">
          <a:xfrm>
            <a:off x="1404938" y="5178873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514350" y="5715448"/>
            <a:ext cx="5032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3724276" y="4194623"/>
            <a:ext cx="1746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211763" y="3804098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5972175" y="4564511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4"/>
            </p:custDataLst>
          </p:nvPr>
        </p:nvSpPr>
        <p:spPr bwMode="gray">
          <a:xfrm>
            <a:off x="2927350" y="5201098"/>
            <a:ext cx="2444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13128</Words>
  <Application>Microsoft Macintosh PowerPoint</Application>
  <PresentationFormat>Widescreen</PresentationFormat>
  <Paragraphs>2977</Paragraphs>
  <Slides>62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0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40</cp:revision>
  <dcterms:created xsi:type="dcterms:W3CDTF">2026-10-05T11:53:56Z</dcterms:created>
  <dcterms:modified xsi:type="dcterms:W3CDTF">2026-10-17T10:19:42Z</dcterms:modified>
  <cp:category/>
</cp:coreProperties>
</file>