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charts/chart6.xml" ContentType="application/vnd.openxmlformats-officedocument.drawingml.chart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4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4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charts/chart14.xml" ContentType="application/vnd.openxmlformats-officedocument.drawingml.chart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8.xml" ContentType="application/vnd.openxmlformats-officedocument.presentationml.slide+xml"/>
  <Override PartName="/ppt/tags/tag320.xml" ContentType="application/vnd.openxmlformats-officedocument.presentationml.tags+xml"/>
  <Override PartName="/ppt/embeddings/oleObject15.bin" ContentType="application/vnd.openxmlformats-officedocument.oleObject"/>
  <Override PartName="/ppt/slides/slide59.xml" ContentType="application/vnd.openxmlformats-officedocument.presentationml.slide+xml"/>
  <Override PartName="/ppt/tags/tag321.xml" ContentType="application/vnd.openxmlformats-officedocument.presentationml.tags+xml"/>
  <Override PartName="/ppt/embeddings/oleObject16.bin" ContentType="application/vnd.openxmlformats-officedocument.oleObject"/>
  <Override PartName="/ppt/slides/slide60.xml" ContentType="application/vnd.openxmlformats-officedocument.presentationml.slide+xml"/>
  <Override PartName="/ppt/tags/tag322.xml" ContentType="application/vnd.openxmlformats-officedocument.presentationml.tags+xml"/>
  <Override PartName="/ppt/embeddings/oleObject17.bin" ContentType="application/vnd.openxmlformats-officedocument.oleObject"/>
  <Override PartName="/ppt/slides/slide61.xml" ContentType="application/vnd.openxmlformats-officedocument.presentationml.slide+xml"/>
  <Override PartName="/ppt/tags/tag323.xml" ContentType="application/vnd.openxmlformats-officedocument.presentationml.tags+xml"/>
  <Override PartName="/ppt/embeddings/oleObject18.bin" ContentType="application/vnd.openxmlformats-officedocument.oleObject"/>
  <Override PartName="/ppt/slides/slide62.xml" ContentType="application/vnd.openxmlformats-officedocument.presentationml.slide+xml"/>
  <Override PartName="/ppt/tags/tag324.xml" ContentType="application/vnd.openxmlformats-officedocument.presentationml.tags+xml"/>
  <Override PartName="/ppt/embeddings/oleObject19.bin" ContentType="application/vnd.openxmlformats-officedocument.oleObject"/>
  <Override PartName="/ppt/slides/slide63.xml" ContentType="application/vnd.openxmlformats-officedocument.presentationml.slide+xml"/>
  <Override PartName="/ppt/tags/tag325.xml" ContentType="application/vnd.openxmlformats-officedocument.presentationml.tags+xml"/>
  <Override PartName="/ppt/embeddings/oleObject20.bin" ContentType="application/vnd.openxmlformats-officedocument.oleObject"/>
  <Override PartName="/ppt/charts/chart1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8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9"/>
  </p:notesMasterIdLst>
  <p:sldIdLst>
    <p:sldId id="345" r:id="rId2"/>
    <p:sldId id="548" r:id="rId3"/>
    <p:sldId id="2147480845" r:id="rId64"/>
    <p:sldId id="2147480846" r:id="rId65"/>
    <p:sldId id="2147480847" r:id="rId66"/>
    <p:sldId id="2147480848" r:id="rId67"/>
    <p:sldId id="2147480849" r:id="rId68"/>
    <p:sldId id="2147480850" r:id="rId69"/>
    <p:sldId id="549" r:id="rId8"/>
    <p:sldId id="550" r:id="rId9"/>
    <p:sldId id="539" r:id="rId10"/>
    <p:sldId id="507" r:id="rId11"/>
    <p:sldId id="508" r:id="rId12"/>
    <p:sldId id="537" r:id="rId13"/>
    <p:sldId id="441" r:id="rId14"/>
    <p:sldId id="509" r:id="rId15"/>
    <p:sldId id="545" r:id="rId16"/>
    <p:sldId id="460" r:id="rId17"/>
    <p:sldId id="511" r:id="rId18"/>
    <p:sldId id="530" r:id="rId19"/>
    <p:sldId id="531" r:id="rId20"/>
    <p:sldId id="514" r:id="rId21"/>
    <p:sldId id="515" r:id="rId22"/>
    <p:sldId id="516" r:id="rId23"/>
    <p:sldId id="471" r:id="rId24"/>
    <p:sldId id="546" r:id="rId25"/>
    <p:sldId id="532" r:id="rId26"/>
    <p:sldId id="533" r:id="rId27"/>
    <p:sldId id="535" r:id="rId28"/>
    <p:sldId id="365" r:id="rId29"/>
    <p:sldId id="538" r:id="rId30"/>
    <p:sldId id="412" r:id="rId31"/>
    <p:sldId id="541" r:id="rId32"/>
    <p:sldId id="415" r:id="rId33"/>
    <p:sldId id="433" r:id="rId34"/>
    <p:sldId id="366" r:id="rId35"/>
    <p:sldId id="404" r:id="rId36"/>
    <p:sldId id="483" r:id="rId37"/>
    <p:sldId id="432" r:id="rId38"/>
    <p:sldId id="475" r:id="rId39"/>
    <p:sldId id="506" r:id="rId40"/>
    <p:sldId id="489" r:id="rId41"/>
    <p:sldId id="543" r:id="rId42"/>
    <p:sldId id="484" r:id="rId43"/>
    <p:sldId id="542" r:id="rId44"/>
    <p:sldId id="468" r:id="rId45"/>
    <p:sldId id="547" r:id="rId46"/>
    <p:sldId id="2147480839" r:id="rId47"/>
    <p:sldId id="2147480841" r:id="rId48"/>
    <p:sldId id="2147480842" r:id="rId49"/>
    <p:sldId id="2147480844" r:id="rId50"/>
    <p:sldId id="430" r:id="rId51"/>
    <p:sldId id="411" r:id="rId52"/>
    <p:sldId id="408" r:id="rId53"/>
    <p:sldId id="427" r:id="rId54"/>
    <p:sldId id="421" r:id="rId55"/>
    <p:sldId id="422" r:id="rId56"/>
    <p:sldId id="424" r:id="rId57"/>
    <p:sldId id="528" r:id="rId5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94"/>
  </p:normalViewPr>
  <p:slideViewPr>
    <p:cSldViewPr snapToGrid="0">
      <p:cViewPr>
        <p:scale>
          <a:sx n="99" d="100"/>
          <a:sy n="99" d="100"/>
        </p:scale>
        <p:origin x="25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9" Type="http://schemas.openxmlformats.org/officeDocument/2006/relationships/slide" Target="slides/slide8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3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1011</c:v>
                </c:pt>
                <c:pt idx="9">
                  <c:v>979</c:v>
                </c:pt>
                <c:pt idx="10">
                  <c:v>1343</c:v>
                </c:pt>
                <c:pt idx="11">
                  <c:v>1764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3058.1180898758935</c:v>
                </c:pt>
                <c:pt idx="2">
                  <c:v>6487.923725043029</c:v>
                </c:pt>
                <c:pt idx="3">
                  <c:v>7499.458079795491</c:v>
                </c:pt>
                <c:pt idx="4">
                  <c:v>7843.287548716826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3058.1180898758935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8268.211595880057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3429.8056351671353</c:v>
                </c:pt>
                <c:pt idx="2">
                  <c:v>1011.5343547524621</c:v>
                </c:pt>
                <c:pt idx="3">
                  <c:v>343.8294689213344</c:v>
                </c:pt>
                <c:pt idx="4">
                  <c:v>424.92404716323017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+3 430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+1 012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+344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+425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8 268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3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16.10.2026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46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Действуй смело</a:t>
            </a:r>
          </a:p>
          <a:p>
            <a:pPr lvl="0"/>
            <a:r>
              <a:rPr lang="ru-RU" dirty="0">
                <a:effectLst/>
              </a:rPr>
              <a:t>Достигай невозможного</a:t>
            </a:r>
            <a:endParaRPr lang="en-US" dirty="0">
              <a:effectLst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 dirty="0">
                <a:effectLst/>
              </a:rPr>
              <a:t>Тема презентации. 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tags" Target="../tags/tag44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tags" Target="../tags/tag40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chart" Target="../charts/chart3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tags" Target="../tags/tag42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chart" Target="../charts/chart2.xml"/><Relationship Id="rId8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26" Type="http://schemas.openxmlformats.org/officeDocument/2006/relationships/tags" Target="../tags/tag71.xml"/><Relationship Id="rId39" Type="http://schemas.openxmlformats.org/officeDocument/2006/relationships/tags" Target="../tags/tag84.xml"/><Relationship Id="rId21" Type="http://schemas.openxmlformats.org/officeDocument/2006/relationships/tags" Target="../tags/tag66.xml"/><Relationship Id="rId34" Type="http://schemas.openxmlformats.org/officeDocument/2006/relationships/tags" Target="../tags/tag79.xml"/><Relationship Id="rId42" Type="http://schemas.openxmlformats.org/officeDocument/2006/relationships/tags" Target="../tags/tag87.xml"/><Relationship Id="rId47" Type="http://schemas.openxmlformats.org/officeDocument/2006/relationships/tags" Target="../tags/tag92.xml"/><Relationship Id="rId50" Type="http://schemas.openxmlformats.org/officeDocument/2006/relationships/tags" Target="../tags/tag95.xml"/><Relationship Id="rId55" Type="http://schemas.openxmlformats.org/officeDocument/2006/relationships/chart" Target="../charts/chart4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9" Type="http://schemas.openxmlformats.org/officeDocument/2006/relationships/tags" Target="../tags/tag74.xml"/><Relationship Id="rId11" Type="http://schemas.openxmlformats.org/officeDocument/2006/relationships/tags" Target="../tags/tag56.xml"/><Relationship Id="rId24" Type="http://schemas.openxmlformats.org/officeDocument/2006/relationships/tags" Target="../tags/tag69.xml"/><Relationship Id="rId32" Type="http://schemas.openxmlformats.org/officeDocument/2006/relationships/tags" Target="../tags/tag77.xml"/><Relationship Id="rId37" Type="http://schemas.openxmlformats.org/officeDocument/2006/relationships/tags" Target="../tags/tag82.xml"/><Relationship Id="rId40" Type="http://schemas.openxmlformats.org/officeDocument/2006/relationships/tags" Target="../tags/tag85.xml"/><Relationship Id="rId45" Type="http://schemas.openxmlformats.org/officeDocument/2006/relationships/tags" Target="../tags/tag90.xml"/><Relationship Id="rId53" Type="http://schemas.openxmlformats.org/officeDocument/2006/relationships/oleObject" Target="../embeddings/oleObject8.bin"/><Relationship Id="rId5" Type="http://schemas.openxmlformats.org/officeDocument/2006/relationships/tags" Target="../tags/tag50.xml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31" Type="http://schemas.openxmlformats.org/officeDocument/2006/relationships/tags" Target="../tags/tag76.xml"/><Relationship Id="rId44" Type="http://schemas.openxmlformats.org/officeDocument/2006/relationships/tags" Target="../tags/tag89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tags" Target="../tags/tag67.xml"/><Relationship Id="rId27" Type="http://schemas.openxmlformats.org/officeDocument/2006/relationships/tags" Target="../tags/tag72.xml"/><Relationship Id="rId30" Type="http://schemas.openxmlformats.org/officeDocument/2006/relationships/tags" Target="../tags/tag75.xml"/><Relationship Id="rId35" Type="http://schemas.openxmlformats.org/officeDocument/2006/relationships/tags" Target="../tags/tag80.xml"/><Relationship Id="rId43" Type="http://schemas.openxmlformats.org/officeDocument/2006/relationships/tags" Target="../tags/tag88.xml"/><Relationship Id="rId48" Type="http://schemas.openxmlformats.org/officeDocument/2006/relationships/tags" Target="../tags/tag93.xml"/><Relationship Id="rId8" Type="http://schemas.openxmlformats.org/officeDocument/2006/relationships/tags" Target="../tags/tag53.xml"/><Relationship Id="rId51" Type="http://schemas.openxmlformats.org/officeDocument/2006/relationships/tags" Target="../tags/tag96.xml"/><Relationship Id="rId3" Type="http://schemas.openxmlformats.org/officeDocument/2006/relationships/tags" Target="../tags/tag48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5" Type="http://schemas.openxmlformats.org/officeDocument/2006/relationships/tags" Target="../tags/tag70.xml"/><Relationship Id="rId33" Type="http://schemas.openxmlformats.org/officeDocument/2006/relationships/tags" Target="../tags/tag78.xml"/><Relationship Id="rId38" Type="http://schemas.openxmlformats.org/officeDocument/2006/relationships/tags" Target="../tags/tag83.xml"/><Relationship Id="rId46" Type="http://schemas.openxmlformats.org/officeDocument/2006/relationships/tags" Target="../tags/tag91.xml"/><Relationship Id="rId20" Type="http://schemas.openxmlformats.org/officeDocument/2006/relationships/tags" Target="../tags/tag65.xml"/><Relationship Id="rId41" Type="http://schemas.openxmlformats.org/officeDocument/2006/relationships/tags" Target="../tags/tag86.xml"/><Relationship Id="rId54" Type="http://schemas.openxmlformats.org/officeDocument/2006/relationships/image" Target="../media/image7.emf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5" Type="http://schemas.openxmlformats.org/officeDocument/2006/relationships/tags" Target="../tags/tag60.xml"/><Relationship Id="rId23" Type="http://schemas.openxmlformats.org/officeDocument/2006/relationships/tags" Target="../tags/tag68.xml"/><Relationship Id="rId28" Type="http://schemas.openxmlformats.org/officeDocument/2006/relationships/tags" Target="../tags/tag73.xml"/><Relationship Id="rId36" Type="http://schemas.openxmlformats.org/officeDocument/2006/relationships/tags" Target="../tags/tag81.xml"/><Relationship Id="rId49" Type="http://schemas.openxmlformats.org/officeDocument/2006/relationships/tags" Target="../tags/tag9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09.xml"/><Relationship Id="rId18" Type="http://schemas.openxmlformats.org/officeDocument/2006/relationships/tags" Target="../tags/tag114.xml"/><Relationship Id="rId26" Type="http://schemas.openxmlformats.org/officeDocument/2006/relationships/tags" Target="../tags/tag122.xml"/><Relationship Id="rId39" Type="http://schemas.openxmlformats.org/officeDocument/2006/relationships/tags" Target="../tags/tag135.xml"/><Relationship Id="rId21" Type="http://schemas.openxmlformats.org/officeDocument/2006/relationships/tags" Target="../tags/tag117.xml"/><Relationship Id="rId34" Type="http://schemas.openxmlformats.org/officeDocument/2006/relationships/tags" Target="../tags/tag130.xml"/><Relationship Id="rId42" Type="http://schemas.openxmlformats.org/officeDocument/2006/relationships/oleObject" Target="../embeddings/oleObject9.bin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tags" Target="../tags/tag116.xml"/><Relationship Id="rId29" Type="http://schemas.openxmlformats.org/officeDocument/2006/relationships/tags" Target="../tags/tag125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24" Type="http://schemas.openxmlformats.org/officeDocument/2006/relationships/tags" Target="../tags/tag120.xml"/><Relationship Id="rId32" Type="http://schemas.openxmlformats.org/officeDocument/2006/relationships/tags" Target="../tags/tag128.xml"/><Relationship Id="rId37" Type="http://schemas.openxmlformats.org/officeDocument/2006/relationships/tags" Target="../tags/tag133.xml"/><Relationship Id="rId40" Type="http://schemas.openxmlformats.org/officeDocument/2006/relationships/tags" Target="../tags/tag136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23" Type="http://schemas.openxmlformats.org/officeDocument/2006/relationships/tags" Target="../tags/tag119.xml"/><Relationship Id="rId28" Type="http://schemas.openxmlformats.org/officeDocument/2006/relationships/tags" Target="../tags/tag124.xml"/><Relationship Id="rId36" Type="http://schemas.openxmlformats.org/officeDocument/2006/relationships/tags" Target="../tags/tag132.xml"/><Relationship Id="rId10" Type="http://schemas.openxmlformats.org/officeDocument/2006/relationships/tags" Target="../tags/tag106.xml"/><Relationship Id="rId19" Type="http://schemas.openxmlformats.org/officeDocument/2006/relationships/tags" Target="../tags/tag115.xml"/><Relationship Id="rId31" Type="http://schemas.openxmlformats.org/officeDocument/2006/relationships/tags" Target="../tags/tag127.xml"/><Relationship Id="rId44" Type="http://schemas.openxmlformats.org/officeDocument/2006/relationships/chart" Target="../charts/chart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tags" Target="../tags/tag118.xml"/><Relationship Id="rId27" Type="http://schemas.openxmlformats.org/officeDocument/2006/relationships/tags" Target="../tags/tag123.xml"/><Relationship Id="rId30" Type="http://schemas.openxmlformats.org/officeDocument/2006/relationships/tags" Target="../tags/tag126.xml"/><Relationship Id="rId35" Type="http://schemas.openxmlformats.org/officeDocument/2006/relationships/tags" Target="../tags/tag131.xml"/><Relationship Id="rId43" Type="http://schemas.openxmlformats.org/officeDocument/2006/relationships/image" Target="../media/image8.emf"/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5" Type="http://schemas.openxmlformats.org/officeDocument/2006/relationships/tags" Target="../tags/tag121.xml"/><Relationship Id="rId33" Type="http://schemas.openxmlformats.org/officeDocument/2006/relationships/tags" Target="../tags/tag129.xml"/><Relationship Id="rId38" Type="http://schemas.openxmlformats.org/officeDocument/2006/relationships/tags" Target="../tags/tag1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4" Type="http://schemas.openxmlformats.org/officeDocument/2006/relationships/image" Target="../media/image10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tags" Target="../tags/tag167.xml"/><Relationship Id="rId21" Type="http://schemas.openxmlformats.org/officeDocument/2006/relationships/tags" Target="../tags/tag162.xml"/><Relationship Id="rId42" Type="http://schemas.openxmlformats.org/officeDocument/2006/relationships/tags" Target="../tags/tag183.xml"/><Relationship Id="rId47" Type="http://schemas.openxmlformats.org/officeDocument/2006/relationships/tags" Target="../tags/tag188.xml"/><Relationship Id="rId63" Type="http://schemas.openxmlformats.org/officeDocument/2006/relationships/tags" Target="../tags/tag204.xml"/><Relationship Id="rId68" Type="http://schemas.openxmlformats.org/officeDocument/2006/relationships/tags" Target="../tags/tag209.xml"/><Relationship Id="rId84" Type="http://schemas.openxmlformats.org/officeDocument/2006/relationships/tags" Target="../tags/tag225.xml"/><Relationship Id="rId89" Type="http://schemas.openxmlformats.org/officeDocument/2006/relationships/tags" Target="../tags/tag230.xml"/><Relationship Id="rId16" Type="http://schemas.openxmlformats.org/officeDocument/2006/relationships/tags" Target="../tags/tag157.xml"/><Relationship Id="rId11" Type="http://schemas.openxmlformats.org/officeDocument/2006/relationships/tags" Target="../tags/tag152.xml"/><Relationship Id="rId32" Type="http://schemas.openxmlformats.org/officeDocument/2006/relationships/tags" Target="../tags/tag173.xml"/><Relationship Id="rId37" Type="http://schemas.openxmlformats.org/officeDocument/2006/relationships/tags" Target="../tags/tag178.xml"/><Relationship Id="rId53" Type="http://schemas.openxmlformats.org/officeDocument/2006/relationships/tags" Target="../tags/tag194.xml"/><Relationship Id="rId58" Type="http://schemas.openxmlformats.org/officeDocument/2006/relationships/tags" Target="../tags/tag199.xml"/><Relationship Id="rId74" Type="http://schemas.openxmlformats.org/officeDocument/2006/relationships/tags" Target="../tags/tag215.xml"/><Relationship Id="rId79" Type="http://schemas.openxmlformats.org/officeDocument/2006/relationships/tags" Target="../tags/tag220.xml"/><Relationship Id="rId5" Type="http://schemas.openxmlformats.org/officeDocument/2006/relationships/tags" Target="../tags/tag146.xml"/><Relationship Id="rId90" Type="http://schemas.openxmlformats.org/officeDocument/2006/relationships/tags" Target="../tags/tag231.xml"/><Relationship Id="rId95" Type="http://schemas.openxmlformats.org/officeDocument/2006/relationships/oleObject" Target="../embeddings/oleObject12.bin"/><Relationship Id="rId22" Type="http://schemas.openxmlformats.org/officeDocument/2006/relationships/tags" Target="../tags/tag163.xml"/><Relationship Id="rId27" Type="http://schemas.openxmlformats.org/officeDocument/2006/relationships/tags" Target="../tags/tag168.xml"/><Relationship Id="rId43" Type="http://schemas.openxmlformats.org/officeDocument/2006/relationships/tags" Target="../tags/tag184.xml"/><Relationship Id="rId48" Type="http://schemas.openxmlformats.org/officeDocument/2006/relationships/tags" Target="../tags/tag189.xml"/><Relationship Id="rId64" Type="http://schemas.openxmlformats.org/officeDocument/2006/relationships/tags" Target="../tags/tag205.xml"/><Relationship Id="rId69" Type="http://schemas.openxmlformats.org/officeDocument/2006/relationships/tags" Target="../tags/tag210.xml"/><Relationship Id="rId80" Type="http://schemas.openxmlformats.org/officeDocument/2006/relationships/tags" Target="../tags/tag221.xml"/><Relationship Id="rId85" Type="http://schemas.openxmlformats.org/officeDocument/2006/relationships/tags" Target="../tags/tag226.xml"/><Relationship Id="rId3" Type="http://schemas.openxmlformats.org/officeDocument/2006/relationships/tags" Target="../tags/tag144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5" Type="http://schemas.openxmlformats.org/officeDocument/2006/relationships/tags" Target="../tags/tag166.xml"/><Relationship Id="rId33" Type="http://schemas.openxmlformats.org/officeDocument/2006/relationships/tags" Target="../tags/tag174.xml"/><Relationship Id="rId38" Type="http://schemas.openxmlformats.org/officeDocument/2006/relationships/tags" Target="../tags/tag179.xml"/><Relationship Id="rId46" Type="http://schemas.openxmlformats.org/officeDocument/2006/relationships/tags" Target="../tags/tag187.xml"/><Relationship Id="rId59" Type="http://schemas.openxmlformats.org/officeDocument/2006/relationships/tags" Target="../tags/tag200.xml"/><Relationship Id="rId67" Type="http://schemas.openxmlformats.org/officeDocument/2006/relationships/tags" Target="../tags/tag208.xml"/><Relationship Id="rId20" Type="http://schemas.openxmlformats.org/officeDocument/2006/relationships/tags" Target="../tags/tag161.xml"/><Relationship Id="rId41" Type="http://schemas.openxmlformats.org/officeDocument/2006/relationships/tags" Target="../tags/tag182.xml"/><Relationship Id="rId54" Type="http://schemas.openxmlformats.org/officeDocument/2006/relationships/tags" Target="../tags/tag195.xml"/><Relationship Id="rId62" Type="http://schemas.openxmlformats.org/officeDocument/2006/relationships/tags" Target="../tags/tag203.xml"/><Relationship Id="rId70" Type="http://schemas.openxmlformats.org/officeDocument/2006/relationships/tags" Target="../tags/tag211.xml"/><Relationship Id="rId75" Type="http://schemas.openxmlformats.org/officeDocument/2006/relationships/tags" Target="../tags/tag216.xml"/><Relationship Id="rId83" Type="http://schemas.openxmlformats.org/officeDocument/2006/relationships/tags" Target="../tags/tag224.xml"/><Relationship Id="rId88" Type="http://schemas.openxmlformats.org/officeDocument/2006/relationships/tags" Target="../tags/tag229.xml"/><Relationship Id="rId91" Type="http://schemas.openxmlformats.org/officeDocument/2006/relationships/tags" Target="../tags/tag232.xml"/><Relationship Id="rId96" Type="http://schemas.openxmlformats.org/officeDocument/2006/relationships/image" Target="../media/image4.emf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5" Type="http://schemas.openxmlformats.org/officeDocument/2006/relationships/tags" Target="../tags/tag156.xml"/><Relationship Id="rId23" Type="http://schemas.openxmlformats.org/officeDocument/2006/relationships/tags" Target="../tags/tag164.xml"/><Relationship Id="rId28" Type="http://schemas.openxmlformats.org/officeDocument/2006/relationships/tags" Target="../tags/tag169.xml"/><Relationship Id="rId36" Type="http://schemas.openxmlformats.org/officeDocument/2006/relationships/tags" Target="../tags/tag177.xml"/><Relationship Id="rId49" Type="http://schemas.openxmlformats.org/officeDocument/2006/relationships/tags" Target="../tags/tag190.xml"/><Relationship Id="rId57" Type="http://schemas.openxmlformats.org/officeDocument/2006/relationships/tags" Target="../tags/tag198.xml"/><Relationship Id="rId10" Type="http://schemas.openxmlformats.org/officeDocument/2006/relationships/tags" Target="../tags/tag151.xml"/><Relationship Id="rId31" Type="http://schemas.openxmlformats.org/officeDocument/2006/relationships/tags" Target="../tags/tag172.xml"/><Relationship Id="rId44" Type="http://schemas.openxmlformats.org/officeDocument/2006/relationships/tags" Target="../tags/tag185.xml"/><Relationship Id="rId52" Type="http://schemas.openxmlformats.org/officeDocument/2006/relationships/tags" Target="../tags/tag193.xml"/><Relationship Id="rId60" Type="http://schemas.openxmlformats.org/officeDocument/2006/relationships/tags" Target="../tags/tag201.xml"/><Relationship Id="rId65" Type="http://schemas.openxmlformats.org/officeDocument/2006/relationships/tags" Target="../tags/tag206.xml"/><Relationship Id="rId73" Type="http://schemas.openxmlformats.org/officeDocument/2006/relationships/tags" Target="../tags/tag214.xml"/><Relationship Id="rId78" Type="http://schemas.openxmlformats.org/officeDocument/2006/relationships/tags" Target="../tags/tag219.xml"/><Relationship Id="rId81" Type="http://schemas.openxmlformats.org/officeDocument/2006/relationships/tags" Target="../tags/tag222.xml"/><Relationship Id="rId86" Type="http://schemas.openxmlformats.org/officeDocument/2006/relationships/tags" Target="../tags/tag227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3" Type="http://schemas.openxmlformats.org/officeDocument/2006/relationships/tags" Target="../tags/tag154.xml"/><Relationship Id="rId18" Type="http://schemas.openxmlformats.org/officeDocument/2006/relationships/tags" Target="../tags/tag159.xml"/><Relationship Id="rId39" Type="http://schemas.openxmlformats.org/officeDocument/2006/relationships/tags" Target="../tags/tag180.xml"/><Relationship Id="rId34" Type="http://schemas.openxmlformats.org/officeDocument/2006/relationships/tags" Target="../tags/tag175.xml"/><Relationship Id="rId50" Type="http://schemas.openxmlformats.org/officeDocument/2006/relationships/tags" Target="../tags/tag191.xml"/><Relationship Id="rId55" Type="http://schemas.openxmlformats.org/officeDocument/2006/relationships/tags" Target="../tags/tag196.xml"/><Relationship Id="rId76" Type="http://schemas.openxmlformats.org/officeDocument/2006/relationships/tags" Target="../tags/tag217.xml"/><Relationship Id="rId97" Type="http://schemas.openxmlformats.org/officeDocument/2006/relationships/chart" Target="../charts/chart12.xml"/><Relationship Id="rId7" Type="http://schemas.openxmlformats.org/officeDocument/2006/relationships/tags" Target="../tags/tag148.xml"/><Relationship Id="rId71" Type="http://schemas.openxmlformats.org/officeDocument/2006/relationships/tags" Target="../tags/tag212.xml"/><Relationship Id="rId92" Type="http://schemas.openxmlformats.org/officeDocument/2006/relationships/tags" Target="../tags/tag233.xml"/><Relationship Id="rId2" Type="http://schemas.openxmlformats.org/officeDocument/2006/relationships/tags" Target="../tags/tag143.xml"/><Relationship Id="rId29" Type="http://schemas.openxmlformats.org/officeDocument/2006/relationships/tags" Target="../tags/tag170.xml"/><Relationship Id="rId24" Type="http://schemas.openxmlformats.org/officeDocument/2006/relationships/tags" Target="../tags/tag165.xml"/><Relationship Id="rId40" Type="http://schemas.openxmlformats.org/officeDocument/2006/relationships/tags" Target="../tags/tag181.xml"/><Relationship Id="rId45" Type="http://schemas.openxmlformats.org/officeDocument/2006/relationships/tags" Target="../tags/tag186.xml"/><Relationship Id="rId66" Type="http://schemas.openxmlformats.org/officeDocument/2006/relationships/tags" Target="../tags/tag207.xml"/><Relationship Id="rId87" Type="http://schemas.openxmlformats.org/officeDocument/2006/relationships/tags" Target="../tags/tag228.xml"/><Relationship Id="rId61" Type="http://schemas.openxmlformats.org/officeDocument/2006/relationships/tags" Target="../tags/tag202.xml"/><Relationship Id="rId82" Type="http://schemas.openxmlformats.org/officeDocument/2006/relationships/tags" Target="../tags/tag223.xml"/><Relationship Id="rId19" Type="http://schemas.openxmlformats.org/officeDocument/2006/relationships/tags" Target="../tags/tag160.xml"/><Relationship Id="rId14" Type="http://schemas.openxmlformats.org/officeDocument/2006/relationships/tags" Target="../tags/tag155.xml"/><Relationship Id="rId30" Type="http://schemas.openxmlformats.org/officeDocument/2006/relationships/tags" Target="../tags/tag171.xml"/><Relationship Id="rId35" Type="http://schemas.openxmlformats.org/officeDocument/2006/relationships/tags" Target="../tags/tag176.xml"/><Relationship Id="rId56" Type="http://schemas.openxmlformats.org/officeDocument/2006/relationships/tags" Target="../tags/tag197.xml"/><Relationship Id="rId77" Type="http://schemas.openxmlformats.org/officeDocument/2006/relationships/tags" Target="../tags/tag218.xml"/><Relationship Id="rId8" Type="http://schemas.openxmlformats.org/officeDocument/2006/relationships/tags" Target="../tags/tag149.xml"/><Relationship Id="rId51" Type="http://schemas.openxmlformats.org/officeDocument/2006/relationships/tags" Target="../tags/tag192.xml"/><Relationship Id="rId72" Type="http://schemas.openxmlformats.org/officeDocument/2006/relationships/tags" Target="../tags/tag213.xml"/><Relationship Id="rId93" Type="http://schemas.openxmlformats.org/officeDocument/2006/relationships/tags" Target="../tags/tag234.xml"/><Relationship Id="rId98" Type="http://schemas.openxmlformats.org/officeDocument/2006/relationships/chart" Target="../charts/chart1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tags" Target="../tags/tag247.xml"/><Relationship Id="rId18" Type="http://schemas.openxmlformats.org/officeDocument/2006/relationships/tags" Target="../tags/tag252.xml"/><Relationship Id="rId3" Type="http://schemas.openxmlformats.org/officeDocument/2006/relationships/tags" Target="../tags/tag237.xml"/><Relationship Id="rId21" Type="http://schemas.openxmlformats.org/officeDocument/2006/relationships/image" Target="../media/image4.emf"/><Relationship Id="rId7" Type="http://schemas.openxmlformats.org/officeDocument/2006/relationships/tags" Target="../tags/tag241.xml"/><Relationship Id="rId12" Type="http://schemas.openxmlformats.org/officeDocument/2006/relationships/tags" Target="../tags/tag246.xml"/><Relationship Id="rId17" Type="http://schemas.openxmlformats.org/officeDocument/2006/relationships/tags" Target="../tags/tag251.xml"/><Relationship Id="rId2" Type="http://schemas.openxmlformats.org/officeDocument/2006/relationships/tags" Target="../tags/tag236.xml"/><Relationship Id="rId16" Type="http://schemas.openxmlformats.org/officeDocument/2006/relationships/tags" Target="../tags/tag250.xml"/><Relationship Id="rId20" Type="http://schemas.openxmlformats.org/officeDocument/2006/relationships/oleObject" Target="../embeddings/oleObject13.bin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5" Type="http://schemas.openxmlformats.org/officeDocument/2006/relationships/tags" Target="../tags/tag239.xml"/><Relationship Id="rId15" Type="http://schemas.openxmlformats.org/officeDocument/2006/relationships/tags" Target="../tags/tag249.xml"/><Relationship Id="rId10" Type="http://schemas.openxmlformats.org/officeDocument/2006/relationships/tags" Target="../tags/tag244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48.xml"/><Relationship Id="rId22" Type="http://schemas.openxmlformats.org/officeDocument/2006/relationships/chart" Target="../charts/chart14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278.xml"/><Relationship Id="rId21" Type="http://schemas.openxmlformats.org/officeDocument/2006/relationships/tags" Target="../tags/tag273.xml"/><Relationship Id="rId42" Type="http://schemas.openxmlformats.org/officeDocument/2006/relationships/tags" Target="../tags/tag294.xml"/><Relationship Id="rId47" Type="http://schemas.openxmlformats.org/officeDocument/2006/relationships/tags" Target="../tags/tag299.xml"/><Relationship Id="rId63" Type="http://schemas.openxmlformats.org/officeDocument/2006/relationships/tags" Target="../tags/tag315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54.xml"/><Relationship Id="rId16" Type="http://schemas.openxmlformats.org/officeDocument/2006/relationships/tags" Target="../tags/tag268.xml"/><Relationship Id="rId29" Type="http://schemas.openxmlformats.org/officeDocument/2006/relationships/tags" Target="../tags/tag281.xml"/><Relationship Id="rId11" Type="http://schemas.openxmlformats.org/officeDocument/2006/relationships/tags" Target="../tags/tag263.xml"/><Relationship Id="rId24" Type="http://schemas.openxmlformats.org/officeDocument/2006/relationships/tags" Target="../tags/tag276.xml"/><Relationship Id="rId32" Type="http://schemas.openxmlformats.org/officeDocument/2006/relationships/tags" Target="../tags/tag284.xml"/><Relationship Id="rId37" Type="http://schemas.openxmlformats.org/officeDocument/2006/relationships/tags" Target="../tags/tag289.xml"/><Relationship Id="rId40" Type="http://schemas.openxmlformats.org/officeDocument/2006/relationships/tags" Target="../tags/tag292.xml"/><Relationship Id="rId45" Type="http://schemas.openxmlformats.org/officeDocument/2006/relationships/tags" Target="../tags/tag297.xml"/><Relationship Id="rId53" Type="http://schemas.openxmlformats.org/officeDocument/2006/relationships/tags" Target="../tags/tag305.xml"/><Relationship Id="rId58" Type="http://schemas.openxmlformats.org/officeDocument/2006/relationships/tags" Target="../tags/tag310.xml"/><Relationship Id="rId66" Type="http://schemas.openxmlformats.org/officeDocument/2006/relationships/tags" Target="../tags/tag318.xml"/><Relationship Id="rId5" Type="http://schemas.openxmlformats.org/officeDocument/2006/relationships/tags" Target="../tags/tag257.xml"/><Relationship Id="rId61" Type="http://schemas.openxmlformats.org/officeDocument/2006/relationships/tags" Target="../tags/tag313.xml"/><Relationship Id="rId19" Type="http://schemas.openxmlformats.org/officeDocument/2006/relationships/tags" Target="../tags/tag271.xml"/><Relationship Id="rId14" Type="http://schemas.openxmlformats.org/officeDocument/2006/relationships/tags" Target="../tags/tag266.xml"/><Relationship Id="rId22" Type="http://schemas.openxmlformats.org/officeDocument/2006/relationships/tags" Target="../tags/tag274.xml"/><Relationship Id="rId27" Type="http://schemas.openxmlformats.org/officeDocument/2006/relationships/tags" Target="../tags/tag279.xml"/><Relationship Id="rId30" Type="http://schemas.openxmlformats.org/officeDocument/2006/relationships/tags" Target="../tags/tag282.xml"/><Relationship Id="rId35" Type="http://schemas.openxmlformats.org/officeDocument/2006/relationships/tags" Target="../tags/tag287.xml"/><Relationship Id="rId43" Type="http://schemas.openxmlformats.org/officeDocument/2006/relationships/tags" Target="../tags/tag295.xml"/><Relationship Id="rId48" Type="http://schemas.openxmlformats.org/officeDocument/2006/relationships/tags" Target="../tags/tag300.xml"/><Relationship Id="rId56" Type="http://schemas.openxmlformats.org/officeDocument/2006/relationships/tags" Target="../tags/tag308.xml"/><Relationship Id="rId64" Type="http://schemas.openxmlformats.org/officeDocument/2006/relationships/tags" Target="../tags/tag316.xml"/><Relationship Id="rId69" Type="http://schemas.openxmlformats.org/officeDocument/2006/relationships/notesSlide" Target="../notesSlides/notesSlide15.xml"/><Relationship Id="rId8" Type="http://schemas.openxmlformats.org/officeDocument/2006/relationships/tags" Target="../tags/tag260.xml"/><Relationship Id="rId51" Type="http://schemas.openxmlformats.org/officeDocument/2006/relationships/tags" Target="../tags/tag303.xml"/><Relationship Id="rId72" Type="http://schemas.openxmlformats.org/officeDocument/2006/relationships/chart" Target="../charts/chart15.xml"/><Relationship Id="rId3" Type="http://schemas.openxmlformats.org/officeDocument/2006/relationships/tags" Target="../tags/tag255.xml"/><Relationship Id="rId12" Type="http://schemas.openxmlformats.org/officeDocument/2006/relationships/tags" Target="../tags/tag264.xml"/><Relationship Id="rId17" Type="http://schemas.openxmlformats.org/officeDocument/2006/relationships/tags" Target="../tags/tag269.xml"/><Relationship Id="rId25" Type="http://schemas.openxmlformats.org/officeDocument/2006/relationships/tags" Target="../tags/tag277.xml"/><Relationship Id="rId33" Type="http://schemas.openxmlformats.org/officeDocument/2006/relationships/tags" Target="../tags/tag285.xml"/><Relationship Id="rId38" Type="http://schemas.openxmlformats.org/officeDocument/2006/relationships/tags" Target="../tags/tag290.xml"/><Relationship Id="rId46" Type="http://schemas.openxmlformats.org/officeDocument/2006/relationships/tags" Target="../tags/tag298.xml"/><Relationship Id="rId59" Type="http://schemas.openxmlformats.org/officeDocument/2006/relationships/tags" Target="../tags/tag311.xml"/><Relationship Id="rId67" Type="http://schemas.openxmlformats.org/officeDocument/2006/relationships/tags" Target="../tags/tag319.xml"/><Relationship Id="rId20" Type="http://schemas.openxmlformats.org/officeDocument/2006/relationships/tags" Target="../tags/tag272.xml"/><Relationship Id="rId41" Type="http://schemas.openxmlformats.org/officeDocument/2006/relationships/tags" Target="../tags/tag293.xml"/><Relationship Id="rId54" Type="http://schemas.openxmlformats.org/officeDocument/2006/relationships/tags" Target="../tags/tag306.xml"/><Relationship Id="rId62" Type="http://schemas.openxmlformats.org/officeDocument/2006/relationships/tags" Target="../tags/tag314.xml"/><Relationship Id="rId70" Type="http://schemas.openxmlformats.org/officeDocument/2006/relationships/oleObject" Target="../embeddings/oleObject14.bin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5" Type="http://schemas.openxmlformats.org/officeDocument/2006/relationships/tags" Target="../tags/tag267.xml"/><Relationship Id="rId23" Type="http://schemas.openxmlformats.org/officeDocument/2006/relationships/tags" Target="../tags/tag275.xml"/><Relationship Id="rId28" Type="http://schemas.openxmlformats.org/officeDocument/2006/relationships/tags" Target="../tags/tag280.xml"/><Relationship Id="rId36" Type="http://schemas.openxmlformats.org/officeDocument/2006/relationships/tags" Target="../tags/tag288.xml"/><Relationship Id="rId49" Type="http://schemas.openxmlformats.org/officeDocument/2006/relationships/tags" Target="../tags/tag301.xml"/><Relationship Id="rId57" Type="http://schemas.openxmlformats.org/officeDocument/2006/relationships/tags" Target="../tags/tag309.xml"/><Relationship Id="rId10" Type="http://schemas.openxmlformats.org/officeDocument/2006/relationships/tags" Target="../tags/tag262.xml"/><Relationship Id="rId31" Type="http://schemas.openxmlformats.org/officeDocument/2006/relationships/tags" Target="../tags/tag283.xml"/><Relationship Id="rId44" Type="http://schemas.openxmlformats.org/officeDocument/2006/relationships/tags" Target="../tags/tag296.xml"/><Relationship Id="rId52" Type="http://schemas.openxmlformats.org/officeDocument/2006/relationships/tags" Target="../tags/tag304.xml"/><Relationship Id="rId60" Type="http://schemas.openxmlformats.org/officeDocument/2006/relationships/tags" Target="../tags/tag312.xml"/><Relationship Id="rId65" Type="http://schemas.openxmlformats.org/officeDocument/2006/relationships/tags" Target="../tags/tag317.xml"/><Relationship Id="rId73" Type="http://schemas.openxmlformats.org/officeDocument/2006/relationships/chart" Target="../charts/chart16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3" Type="http://schemas.openxmlformats.org/officeDocument/2006/relationships/tags" Target="../tags/tag265.xml"/><Relationship Id="rId18" Type="http://schemas.openxmlformats.org/officeDocument/2006/relationships/tags" Target="../tags/tag270.xml"/><Relationship Id="rId39" Type="http://schemas.openxmlformats.org/officeDocument/2006/relationships/tags" Target="../tags/tag291.xml"/><Relationship Id="rId34" Type="http://schemas.openxmlformats.org/officeDocument/2006/relationships/tags" Target="../tags/tag286.xml"/><Relationship Id="rId50" Type="http://schemas.openxmlformats.org/officeDocument/2006/relationships/tags" Target="../tags/tag302.xml"/><Relationship Id="rId55" Type="http://schemas.openxmlformats.org/officeDocument/2006/relationships/tags" Target="../tags/tag307.xml"/><Relationship Id="rId7" Type="http://schemas.openxmlformats.org/officeDocument/2006/relationships/tags" Target="../tags/tag259.xml"/><Relationship Id="rId71" Type="http://schemas.openxmlformats.org/officeDocument/2006/relationships/image" Target="../media/image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2" Type="http://schemas.openxmlformats.org/officeDocument/2006/relationships/tags" Target="../tags/tag320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2.emf"/></Relationships>
</file>

<file path=ppt/slides/_rels/slide59.xml.rels><?xml version='1.0' encoding='UTF-8' standalone='yes'?>
<Relationships xmlns="http://schemas.openxmlformats.org/package/2006/relationships"><Relationship Id="rId2" Type="http://schemas.openxmlformats.org/officeDocument/2006/relationships/tags" Target="../tags/tag321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s/_rels/slide60.xml.rels><?xml version='1.0' encoding='UTF-8' standalone='yes'?>
<Relationships xmlns="http://schemas.openxmlformats.org/package/2006/relationships"><Relationship Id="rId2" Type="http://schemas.openxmlformats.org/officeDocument/2006/relationships/tags" Target="../tags/tag322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5.emf"/></Relationships>
</file>

<file path=ppt/slides/_rels/slide61.xml.rels><?xml version='1.0' encoding='UTF-8' standalone='yes'?>
<Relationships xmlns="http://schemas.openxmlformats.org/package/2006/relationships"><Relationship Id="rId2" Type="http://schemas.openxmlformats.org/officeDocument/2006/relationships/tags" Target="../tags/tag323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6.emf"/></Relationships>
</file>

<file path=ppt/slides/_rels/slide62.xml.rels><?xml version='1.0' encoding='UTF-8' standalone='yes'?>
<Relationships xmlns="http://schemas.openxmlformats.org/package/2006/relationships"><Relationship Id="rId2" Type="http://schemas.openxmlformats.org/officeDocument/2006/relationships/tags" Target="../tags/tag324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9.bin"/><Relationship Id="rId6" Type="http://schemas.openxmlformats.org/officeDocument/2006/relationships/image" Target="../media/image11.emf"/></Relationships>
</file>

<file path=ppt/slides/_rels/slide63.xml.rels><?xml version='1.0' encoding='UTF-8' standalone='yes'?>
<Relationships xmlns="http://schemas.openxmlformats.org/package/2006/relationships"><Relationship Id="rId2" Type="http://schemas.openxmlformats.org/officeDocument/2006/relationships/tags" Target="../tags/tag325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20.bin"/><Relationship Id="rId6" Type="http://schemas.openxmlformats.org/officeDocument/2006/relationships/image" Target="../media/image12.emf"/><Relationship Id="rId7" Type="http://schemas.openxmlformats.org/officeDocument/2006/relationships/chart" Target="../charts/chart17.xml"/><Relationship Id="rId8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ru-RU" sz="5000" b="1" dirty="0">
                <a:solidFill>
                  <a:srgbClr val="FFFFFF"/>
                </a:solidFill>
                <a:latin typeface="Arial"/>
              </a:rPr>
              <a:t>Результаты сентября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ru-RU" sz="5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Корпоративные триггеры по Магнит </a:t>
            </a:r>
            <a:r>
              <a:rPr lang="en-US" dirty="0"/>
              <a:t>AdTech</a:t>
            </a:r>
            <a:r>
              <a:rPr lang="ru-RU" dirty="0"/>
              <a:t> на 2027 год</a:t>
            </a:r>
          </a:p>
          <a:p>
            <a:endParaRPr lang="ru-RU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dirty="0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новых инициатив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</a:t>
            </a:r>
            <a:r>
              <a:rPr lang="en-US" dirty="0"/>
              <a:t>ADS</a:t>
            </a:r>
            <a:r>
              <a:rPr lang="ru-RU" dirty="0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 b="1" dirty="0">
                <a:solidFill>
                  <a:srgbClr val="000000"/>
                </a:solidFill>
              </a:rPr>
              <a:t>+41%</a:t>
            </a:r>
            <a:r>
              <a:rPr lang="ru-RU" sz="1400" dirty="0">
                <a:solidFill>
                  <a:srgbClr val="000000"/>
                </a:solidFill>
              </a:rPr>
              <a:t>, доля в Retail Media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Драйверы: аудитория приложения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новый прайс с 09.2026, рост RMN и запуск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выше стратегии на </a:t>
            </a:r>
            <a:r>
              <a:rPr lang="ru-RU" sz="1400" b="1" dirty="0">
                <a:solidFill>
                  <a:srgbClr val="000000"/>
                </a:solidFill>
              </a:rPr>
              <a:t>1 618 млн руб.</a:t>
            </a:r>
            <a:r>
              <a:rPr lang="ru-RU" sz="1400" dirty="0">
                <a:solidFill>
                  <a:srgbClr val="000000"/>
                </a:solidFill>
              </a:rPr>
              <a:t>: RMN +850, DMP+Online +537, APP +445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годовой выручки приходится на Q4: сезонность цен и рост аудитории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OPEX с учётом COGS растёт на </a:t>
            </a:r>
            <a:r>
              <a:rPr lang="ru-RU" sz="1400" b="1" dirty="0">
                <a:solidFill>
                  <a:srgbClr val="000000"/>
                </a:solidFill>
              </a:rPr>
              <a:t>1 504 млн руб. (+67%); 73</a:t>
            </a:r>
            <a:r>
              <a:rPr lang="ru-RU" sz="1400" dirty="0">
                <a:solidFill>
                  <a:srgbClr val="000000"/>
                </a:solidFill>
              </a:rPr>
              <a:t>% прироста — расходы, привязанные к выручке: трафик DMP, агентства, креаторы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AT Platform: </a:t>
            </a:r>
            <a:r>
              <a:rPr lang="ru-RU" sz="1400" b="1" dirty="0">
                <a:solidFill>
                  <a:srgbClr val="000000"/>
                </a:solidFill>
              </a:rPr>
              <a:t>541 млн руб.</a:t>
            </a:r>
            <a:r>
              <a:rPr lang="ru-RU" sz="1400" dirty="0">
                <a:solidFill>
                  <a:srgbClr val="000000"/>
                </a:solidFill>
              </a:rPr>
              <a:t> (+94), из них 510 — капитализация ФОТ разработки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In-store: </a:t>
            </a:r>
            <a:r>
              <a:rPr lang="ru-RU" sz="1400" b="1" dirty="0">
                <a:solidFill>
                  <a:srgbClr val="000000"/>
                </a:solidFill>
              </a:rPr>
              <a:t>610 млн руб.</a:t>
            </a:r>
            <a:r>
              <a:rPr lang="ru-RU" sz="1400" dirty="0">
                <a:solidFill>
                  <a:srgbClr val="000000"/>
                </a:solidFill>
              </a:rPr>
              <a:t> (−123), в т.ч. система управления медиаконтентом 438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FCF </a:t>
            </a:r>
            <a:r>
              <a:rPr lang="ru-RU" sz="1400" b="1" dirty="0">
                <a:solidFill>
                  <a:srgbClr val="000000"/>
                </a:solidFill>
              </a:rPr>
              <a:t>9 673 млн руб.</a:t>
            </a:r>
            <a:r>
              <a:rPr lang="ru-RU" sz="1400" dirty="0">
                <a:solidFill>
                  <a:srgbClr val="000000"/>
                </a:solidFill>
              </a:rPr>
              <a:t> — на 962 млн руб. выше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Прирост Net Revenue 2 272 млн руб.: </a:t>
            </a:r>
            <a:r>
              <a:rPr lang="ru-RU" sz="1200" dirty="0">
                <a:solidFill>
                  <a:srgbClr val="000000"/>
                </a:solidFill>
              </a:rPr>
              <a:t>прирост выручки 4 243 за вычетом всего COGS 2027 (1 971)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Передача денег в форматы выросла до 2 272 (+272 к 2 000): </a:t>
            </a:r>
            <a:r>
              <a:rPr lang="ru-RU" sz="1200" dirty="0">
                <a:solidFill>
                  <a:srgbClr val="000000"/>
                </a:solidFill>
              </a:rPr>
              <a:t>за счёт запуска Content </a:t>
            </a:r>
            <a:r>
              <a:rPr lang="ru-RU" sz="1200" dirty="0" err="1">
                <a:solidFill>
                  <a:srgbClr val="000000"/>
                </a:solidFill>
              </a:rPr>
              <a:t>factory</a:t>
            </a:r>
            <a:r>
              <a:rPr lang="ru-RU" sz="1200" dirty="0">
                <a:solidFill>
                  <a:srgbClr val="000000"/>
                </a:solidFill>
              </a:rPr>
              <a:t> и финальных небольших корректировок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1 772 млн руб.: </a:t>
            </a:r>
            <a:r>
              <a:rPr lang="ru-RU" sz="1200" dirty="0">
                <a:solidFill>
                  <a:srgbClr val="000000"/>
                </a:solidFill>
              </a:rPr>
              <a:t>на 272 выше top-down — покрывается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>на уровне top-down и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CAPEX 1 151 млн руб.: </a:t>
            </a:r>
            <a:r>
              <a:rPr lang="ru-RU" sz="1200" dirty="0">
                <a:solidFill>
                  <a:srgbClr val="000000"/>
                </a:solidFill>
              </a:rPr>
              <a:t>ниже стратегии на −92 (−7%) и таргета на −149 (−11%), включая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FCF консолидированный −651 млн руб.: </a:t>
            </a:r>
            <a:r>
              <a:rPr lang="ru-RU" sz="1200" dirty="0">
                <a:solidFill>
                  <a:srgbClr val="000000"/>
                </a:solidFill>
              </a:rPr>
              <a:t>лучше top-down на 149 и стратегии на 107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Net</a:t>
            </a:r>
            <a:r>
              <a:rPr lang="ru-RU" sz="1600" b="1" dirty="0">
                <a:solidFill>
                  <a:srgbClr val="000000"/>
                </a:solidFill>
              </a:rPr>
              <a:t> </a:t>
            </a:r>
            <a:r>
              <a:rPr lang="ru-RU" sz="1600" b="1" dirty="0" err="1">
                <a:solidFill>
                  <a:srgbClr val="000000"/>
                </a:solidFill>
              </a:rPr>
              <a:t>Revenue</a:t>
            </a:r>
            <a:r>
              <a:rPr lang="ru-RU" sz="1600" b="1" dirty="0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+4 243 млн руб., Net Revenue +3 152 (+33%): COGS растёт на 1 091</a:t>
            </a:r>
            <a:r>
              <a:rPr lang="ru-RU" sz="1200" dirty="0">
                <a:solidFill>
                  <a:srgbClr val="000000"/>
                </a:solidFill>
              </a:rPr>
              <a:t> —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72% прироста — APP и In-store: </a:t>
            </a:r>
            <a:r>
              <a:rPr lang="ru-RU" sz="1200" dirty="0">
                <a:solidFill>
                  <a:srgbClr val="000000"/>
                </a:solidFill>
              </a:rPr>
              <a:t>полный год нового прайса, рост DAC на 18% и полный год оборудования, введённого 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 dirty="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и Content factory </a:t>
            </a:r>
            <a:r>
              <a:rPr lang="ru-RU" sz="1200" dirty="0">
                <a:solidFill>
                  <a:srgbClr val="000000"/>
                </a:solidFill>
              </a:rPr>
              <a:t>привлекают бренд-бюджеты поставщиков и внешних рекламодателей — +471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>2 272 − OPEX 1 772 — на уровне top-down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2 272 млн руб. — </a:t>
            </a:r>
            <a:r>
              <a:rPr lang="ru-RU" sz="1200" dirty="0">
                <a:solidFill>
                  <a:srgbClr val="000000"/>
                </a:solidFill>
              </a:rPr>
              <a:t>эта сумма может быть достигнута только в случае, если форматы не утилизируют весь рекламный инвентарь AdTech</a:t>
            </a: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60370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60370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ru-RU" sz="1200" b="1" dirty="0" err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60370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alt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alt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alt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alt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en-US" altLang="en-US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en-US" altLang="en-US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alt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en-US" altLang="en-US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alt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en-US" altLang="en-US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/>
              <a:t>4 243 </a:t>
            </a:r>
            <a:r>
              <a:rPr lang="ru-RU" sz="1400" b="1" dirty="0"/>
              <a:t>млн руб. </a:t>
            </a:r>
            <a:endParaRPr lang="en-US" sz="1400" b="1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altLang="en-US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b="1" dirty="0">
                <a:solidFill>
                  <a:schemeClr val="tx1"/>
                </a:solidFill>
                <a:effectLst/>
              </a:rPr>
              <a:t>2027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/>
                </a:solidFill>
              </a:rPr>
              <a:t>КУ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+1 573: </a:t>
            </a:r>
            <a:r>
              <a:rPr lang="ru-RU" sz="110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(+147); доход на устройство ниже (−1 264, в основном КСО −40%)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1 971: </a:t>
            </a:r>
            <a:r>
              <a:rPr lang="ru-RU" sz="1100" dirty="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 noProof="0" dirty="0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176; Net Revenue — 86% Gross Revenue (91% в FC 2026)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>ФОТ </a:t>
            </a:r>
            <a:r>
              <a:rPr lang="ru-RU" sz="1100" dirty="0" err="1">
                <a:solidFill>
                  <a:srgbClr val="000000"/>
                </a:solidFill>
              </a:rPr>
              <a:t>AdTech</a:t>
            </a:r>
            <a:r>
              <a:rPr lang="ru-RU" sz="1100" dirty="0">
                <a:solidFill>
                  <a:srgbClr val="000000"/>
                </a:solidFill>
              </a:rPr>
              <a:t> 1 370 + команда Content </a:t>
            </a:r>
            <a:r>
              <a:rPr lang="ru-RU" sz="1100" dirty="0" err="1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66; 354 FTE на конец 2027 г. (312 на конец 2026 г.), в 2027 г. штат работает полный год (</a:t>
            </a:r>
            <a:r>
              <a:rPr lang="ru-RU" sz="1100" dirty="0" err="1">
                <a:solidFill>
                  <a:srgbClr val="000000"/>
                </a:solidFill>
              </a:rPr>
              <a:t>full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year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run-rate</a:t>
            </a:r>
            <a:r>
              <a:rPr lang="ru-RU" sz="1100" dirty="0">
                <a:solidFill>
                  <a:srgbClr val="000000"/>
                </a:solidFill>
              </a:rPr>
              <a:t>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</a:t>
            </a:r>
            <a:r>
              <a:rPr lang="en-US" dirty="0"/>
              <a:t>Magnit 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>
                <a:solidFill>
                  <a:srgbClr val="6E6E6E"/>
                </a:solidFill>
              </a:rPr>
              <a:t>Magnit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+35% vs. +15% 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Magnit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Magnit ADS,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ru-RU" dirty="0" err="1">
                <a:solidFill>
                  <a:srgbClr val="6E6E6E"/>
                </a:solidFill>
              </a:rPr>
              <a:t>AdTech</a:t>
            </a:r>
            <a:r>
              <a:rPr lang="ru-RU" dirty="0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— </a:t>
            </a: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рынка и самый быстрорастущий сегмент; traditional digital растёт на 15%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Маркетплейсы занимают более 90% Retail Media; X5, Яндекс и маркетплейсы усиливают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  <a:r>
              <a:rPr lang="ru-RU" sz="1400" dirty="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1. </a:t>
            </a:r>
            <a:r>
              <a:rPr dirty="0" err="1">
                <a:solidFill>
                  <a:srgbClr val="6E6E6E"/>
                </a:solidFill>
              </a:rPr>
              <a:t>Доля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коммерческом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инвентаре</a:t>
            </a:r>
            <a:r>
              <a:rPr dirty="0">
                <a:solidFill>
                  <a:srgbClr val="6E6E6E"/>
                </a:solidFill>
              </a:rPr>
              <a:t> AdTech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учетом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эффекта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платформы</a:t>
            </a:r>
            <a:r>
              <a:rPr dirty="0">
                <a:solidFill>
                  <a:srgbClr val="6E6E6E"/>
                </a:solidFill>
              </a:rPr>
              <a:t>. 2026-2027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бюджет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рекламной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выручки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трейд-бюджетов</a:t>
            </a:r>
            <a:r>
              <a:rPr dirty="0">
                <a:solidFill>
                  <a:srgbClr val="6E6E6E"/>
                </a:solidFill>
              </a:rPr>
              <a:t> (APP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in-store), 2028-2030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модель</a:t>
            </a:r>
            <a:r>
              <a:rPr dirty="0">
                <a:solidFill>
                  <a:srgbClr val="6E6E6E"/>
                </a:solidFill>
              </a:rPr>
              <a:t>; </a:t>
            </a:r>
            <a:r>
              <a:rPr dirty="0" err="1">
                <a:solidFill>
                  <a:srgbClr val="6E6E6E"/>
                </a:solidFill>
              </a:rPr>
              <a:t>без</a:t>
            </a:r>
            <a:r>
              <a:rPr dirty="0">
                <a:solidFill>
                  <a:srgbClr val="6E6E6E"/>
                </a:solidFill>
              </a:rPr>
              <a:t> RMN, UGC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DMP + Online. </a:t>
            </a:r>
            <a:r>
              <a:rPr dirty="0" err="1">
                <a:solidFill>
                  <a:srgbClr val="6E6E6E"/>
                </a:solidFill>
              </a:rPr>
              <a:t>Капасити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денежная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емкость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инвентаря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коммерческая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часть</a:t>
            </a:r>
            <a:r>
              <a:rPr dirty="0">
                <a:solidFill>
                  <a:srgbClr val="6E6E6E"/>
                </a:solidFill>
              </a:rPr>
              <a:t> AdTech + </a:t>
            </a:r>
            <a:r>
              <a:rPr dirty="0" err="1">
                <a:solidFill>
                  <a:srgbClr val="6E6E6E"/>
                </a:solidFill>
              </a:rPr>
              <a:t>квота</a:t>
            </a:r>
            <a:r>
              <a:rPr dirty="0">
                <a:solidFill>
                  <a:srgbClr val="6E6E6E"/>
                </a:solidFill>
              </a:rPr>
              <a:t> 50% </a:t>
            </a:r>
            <a:r>
              <a:rPr dirty="0" err="1">
                <a:solidFill>
                  <a:srgbClr val="6E6E6E"/>
                </a:solidFill>
              </a:rPr>
              <a:t>внутренних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заказчиков</a:t>
            </a:r>
            <a:r>
              <a:rPr dirty="0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Источники</a:t>
            </a:r>
            <a:r>
              <a:rPr dirty="0">
                <a:solidFill>
                  <a:srgbClr val="6E6E6E"/>
                </a:solidFill>
              </a:rPr>
              <a:t>: Ads Market Calc (</a:t>
            </a:r>
            <a:r>
              <a:rPr dirty="0" err="1">
                <a:solidFill>
                  <a:srgbClr val="6E6E6E"/>
                </a:solidFill>
              </a:rPr>
              <a:t>внутренняя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рынка</a:t>
            </a:r>
            <a:r>
              <a:rPr dirty="0">
                <a:solidFill>
                  <a:srgbClr val="6E6E6E"/>
                </a:solidFill>
              </a:rPr>
              <a:t>), WPP Media </a:t>
            </a:r>
            <a:r>
              <a:rPr dirty="0" err="1">
                <a:solidFill>
                  <a:srgbClr val="6E6E6E"/>
                </a:solidFill>
              </a:rPr>
              <a:t>через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Sostav</a:t>
            </a:r>
            <a:r>
              <a:rPr dirty="0">
                <a:solidFill>
                  <a:srgbClr val="6E6E6E"/>
                </a:solidFill>
              </a:rPr>
              <a:t> (2025), Авито Реклама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Soloway (</a:t>
            </a:r>
            <a:r>
              <a:rPr dirty="0" err="1">
                <a:solidFill>
                  <a:srgbClr val="6E6E6E"/>
                </a:solidFill>
              </a:rPr>
              <a:t>сентябрь</a:t>
            </a:r>
            <a:r>
              <a:rPr dirty="0">
                <a:solidFill>
                  <a:srgbClr val="6E6E6E"/>
                </a:solidFill>
              </a:rPr>
              <a:t> 2026), НРА, </a:t>
            </a:r>
            <a:r>
              <a:rPr dirty="0" err="1">
                <a:solidFill>
                  <a:srgbClr val="6E6E6E"/>
                </a:solidFill>
              </a:rPr>
              <a:t>внутреннее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исследование</a:t>
            </a:r>
            <a:r>
              <a:rPr dirty="0">
                <a:solidFill>
                  <a:srgbClr val="6E6E6E"/>
                </a:solidFill>
              </a:rPr>
              <a:t> Magnit ADS. </a:t>
            </a:r>
            <a:r>
              <a:rPr dirty="0" err="1">
                <a:solidFill>
                  <a:srgbClr val="6E6E6E"/>
                </a:solidFill>
              </a:rPr>
              <a:t>Гипотезы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экспертная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lang="ru-RU" noProof="0" dirty="0"/>
              <a:t>бюджеты</a:t>
            </a:r>
            <a:r>
              <a:rPr dirty="0"/>
              <a:t> </a:t>
            </a:r>
            <a:r>
              <a:rPr lang="ru-RU" noProof="0" dirty="0"/>
              <a:t>смещаются к транзакции: у места покупки растет роль перформанса, в начале пути — охватных 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анализ</a:t>
            </a:r>
            <a:r>
              <a:rPr dirty="0">
                <a:solidFill>
                  <a:srgbClr val="6E6E6E"/>
                </a:solidFill>
              </a:rPr>
              <a:t> Magnit ADS; KPI — </a:t>
            </a:r>
            <a:r>
              <a:rPr dirty="0" err="1">
                <a:solidFill>
                  <a:srgbClr val="6E6E6E"/>
                </a:solidFill>
              </a:rPr>
              <a:t>ключевые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метрики</a:t>
            </a:r>
            <a:r>
              <a:rPr dirty="0">
                <a:solidFill>
                  <a:srgbClr val="6E6E6E"/>
                </a:solidFill>
              </a:rPr>
              <a:t>, </a:t>
            </a:r>
            <a:r>
              <a:rPr dirty="0" err="1">
                <a:solidFill>
                  <a:srgbClr val="6E6E6E"/>
                </a:solidFill>
              </a:rPr>
              <a:t>по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которым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рекламодатель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оценивает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канал</a:t>
            </a:r>
            <a:endParaRPr dirty="0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Матрица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Magnit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360°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стратегия </a:t>
            </a:r>
            <a:r>
              <a:rPr lang="en" dirty="0">
                <a:solidFill>
                  <a:srgbClr val="6E6E6E"/>
                </a:solidFill>
              </a:rPr>
              <a:t>Magnit AdTech 2026-2031 (</a:t>
            </a:r>
            <a:r>
              <a:rPr lang="ru-RU" dirty="0">
                <a:solidFill>
                  <a:srgbClr val="6E6E6E"/>
                </a:solidFill>
              </a:rPr>
              <a:t>потенциал инвентаря М+ и </a:t>
            </a:r>
            <a:r>
              <a:rPr lang="en" dirty="0">
                <a:solidFill>
                  <a:srgbClr val="6E6E6E"/>
                </a:solidFill>
              </a:rPr>
              <a:t>DAC </a:t>
            </a:r>
            <a:r>
              <a:rPr lang="ru-RU" dirty="0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кэшбэк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Magnit ADS</a:t>
            </a:r>
            <a:r>
              <a:rPr lang="en-US" dirty="0"/>
              <a:t>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Content factory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КУ — </a:t>
            </a:r>
            <a:r>
              <a:rPr dirty="0" err="1">
                <a:solidFill>
                  <a:srgbClr val="6E6E6E"/>
                </a:solidFill>
              </a:rPr>
              <a:t>коммерческие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условия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поставщиками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+1 573: </a:t>
            </a:r>
            <a:r>
              <a:rPr lang="ru-RU" sz="110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(+147); доход на устройство ниже (−1 264, в основном КСО −40%)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1 971: </a:t>
            </a:r>
            <a:r>
              <a:rPr lang="ru-RU" sz="1100" dirty="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 noProof="0" dirty="0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176; Net Revenue — 86% Gross Revenue (91% в FC 2026)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>ФОТ </a:t>
            </a:r>
            <a:r>
              <a:rPr lang="ru-RU" sz="1100" dirty="0" err="1">
                <a:solidFill>
                  <a:srgbClr val="000000"/>
                </a:solidFill>
              </a:rPr>
              <a:t>AdTech</a:t>
            </a:r>
            <a:r>
              <a:rPr lang="ru-RU" sz="1100" dirty="0">
                <a:solidFill>
                  <a:srgbClr val="000000"/>
                </a:solidFill>
              </a:rPr>
              <a:t> 1 370 + команда Content </a:t>
            </a:r>
            <a:r>
              <a:rPr lang="ru-RU" sz="1100" dirty="0" err="1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66; 354 FTE на конец 2027 г. (312 на конец 2026 г.), в 2027 г. штат работает полный год (</a:t>
            </a:r>
            <a:r>
              <a:rPr lang="ru-RU" sz="1100" dirty="0" err="1">
                <a:solidFill>
                  <a:srgbClr val="000000"/>
                </a:solidFill>
              </a:rPr>
              <a:t>full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year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run-rate</a:t>
            </a:r>
            <a:r>
              <a:rPr lang="ru-RU" sz="1100" dirty="0">
                <a:solidFill>
                  <a:srgbClr val="000000"/>
                </a:solidFill>
              </a:rPr>
              <a:t>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2 039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3 059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3 350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6 118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Январь — 2%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Декабрь — 17%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Маржа EBITDA растёт с 25% в январе до 83% в декабре: PEX равномерный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 вкл. COGS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</a:t>
            </a:r>
            <a:r>
              <a:rPr lang="ru-RU" sz="1200" dirty="0">
                <a:solidFill>
                  <a:srgbClr val="000000"/>
                </a:solidFill>
              </a:rPr>
              <a:t>не закладывался в стратегию: бренд-бюджеты поставщиков через отдельное ЮЛ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новые площадки (SmartTV, Авито, маркетплейсы) дают 420 млн руб.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ниже стратегии</a:t>
            </a:r>
            <a:r>
              <a:rPr lang="ru-RU" sz="1200" dirty="0">
                <a:solidFill>
                  <a:srgbClr val="000000"/>
                </a:solidFill>
              </a:rPr>
              <a:t> на 490: консервативный доход на устройство (в основном КСО) после кратного роста парка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вкл. COGS выше на 748: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и агентские вознаграждения (Marketing +742)</a:t>
            </a:r>
          </a:p>
        </p:txBody>
      </p:sp>
    </p:spTree>
    <p:extLst>
      <p:ext uri="{BB962C8B-B14F-4D97-AF65-F5344CB8AC3E}">
        <p14:creationId xmlns:p14="http://schemas.microsoft.com/office/powerpoint/2010/main" val="1476763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ru-RU" sz="1400" dirty="0">
                <a:solidFill>
                  <a:srgbClr val="000000"/>
                </a:solidFill>
              </a:rPr>
              <a:t>: </a:t>
            </a: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ru-RU" sz="1400" dirty="0">
                <a:solidFill>
                  <a:srgbClr val="000000"/>
                </a:solidFill>
              </a:rPr>
              <a:t>: </a:t>
            </a:r>
            <a:r>
              <a:rPr lang="ru-RU" sz="1400" b="1" dirty="0">
                <a:solidFill>
                  <a:srgbClr val="000000"/>
                </a:solidFill>
              </a:rPr>
              <a:t>113 млн руб.</a:t>
            </a:r>
            <a:r>
              <a:rPr lang="ru-RU" sz="1400" dirty="0">
                <a:solidFill>
                  <a:srgbClr val="000000"/>
                </a:solidFill>
              </a:rPr>
              <a:t>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 dirty="0">
                <a:solidFill>
                  <a:srgbClr val="000000"/>
                </a:solidFill>
              </a:rPr>
              <a:t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Квота 50%: </a:t>
            </a:r>
            <a:r>
              <a:rPr lang="ru-RU" sz="1200" dirty="0">
                <a:solidFill>
                  <a:srgbClr val="000000"/>
                </a:solidFill>
              </a:rPr>
              <a:t>половина инвентаря приложения и digital in-store закреплена за задачами команд Магнита; бюджет 2027 построен на фактической доле AdTech в показах 2026 г. по каждому плейсменту — рост внутренней квоты сверх 50% напрямую сокращает коммерческий инвентарь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 </a:t>
            </a:r>
            <a:r>
              <a:rPr lang="ru-RU" sz="1200" dirty="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 </a:t>
            </a:r>
            <a:r>
              <a:rPr lang="ru-RU" sz="1200" dirty="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 dirty="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Ввод 2027 г., +228: </a:t>
            </a:r>
            <a:r>
              <a:rPr lang="ru-RU" sz="1100" dirty="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 dirty="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Почему снижается: </a:t>
            </a:r>
            <a:r>
              <a:rPr lang="ru-RU" sz="1100" dirty="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 dirty="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 dirty="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Радио ×4 (506 → 2 024 руб.), +64; шелф-баннеры +5%, +53:</a:t>
            </a:r>
            <a:r>
              <a:rPr lang="en-US" sz="1100" b="1" dirty="0">
                <a:solidFill>
                  <a:srgbClr val="000000"/>
                </a:solidFill>
              </a:rPr>
              <a:t> </a:t>
            </a:r>
            <a:r>
              <a:rPr lang="ru-RU" sz="1100" dirty="0">
                <a:solidFill>
                  <a:srgbClr val="000000"/>
                </a:solidFill>
              </a:rPr>
              <a:t>регулирование спроса</a:t>
            </a:r>
            <a:endParaRPr lang="ru-RU" sz="1100" dirty="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— </a:t>
            </a:r>
            <a:r>
              <a:rPr lang="ru-RU" sz="1200" dirty="0">
                <a:solidFill>
                  <a:srgbClr val="000000"/>
                </a:solidFill>
              </a:rPr>
              <a:t>план команды DMP и интеграция брендов Центральным Маркетингом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= </a:t>
            </a:r>
            <a:r>
              <a:rPr lang="ru-RU" sz="1200" dirty="0">
                <a:solidFill>
                  <a:srgbClr val="000000"/>
                </a:solidFill>
              </a:rPr>
              <a:t>выручка × (1 − маржинальность), отражена в Marketing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Публикации = </a:t>
            </a:r>
            <a:r>
              <a:rPr lang="ru-RU" sz="1200" dirty="0">
                <a:solidFill>
                  <a:srgbClr val="000000"/>
                </a:solidFill>
              </a:rPr>
              <a:t>ячейки × креаторы × 60–70 единиц контента × 4 (дублирование)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BU 2027: </a:t>
            </a:r>
            <a:r>
              <a:rPr lang="ru-RU" sz="1200" dirty="0">
                <a:solidFill>
                  <a:srgbClr val="000000"/>
                </a:solidFill>
              </a:rPr>
              <a:t>850 млн руб., +</a:t>
            </a:r>
            <a:r>
              <a:rPr lang="en-US" sz="1200" dirty="0">
                <a:solidFill>
                  <a:srgbClr val="000000"/>
                </a:solidFill>
              </a:rPr>
              <a:t>43</a:t>
            </a:r>
            <a:r>
              <a:rPr lang="ru-RU" sz="1200" dirty="0">
                <a:solidFill>
                  <a:srgbClr val="000000"/>
                </a:solidFill>
              </a:rPr>
              <a:t>% к 2026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factory</a:t>
            </a:r>
            <a:r>
              <a:rPr lang="ru-RU" dirty="0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P&amp;L Content </a:t>
            </a:r>
            <a:r>
              <a:rPr lang="ru-RU" sz="1600" b="1" dirty="0" err="1">
                <a:solidFill>
                  <a:srgbClr val="000000"/>
                </a:solidFill>
              </a:rPr>
              <a:t>factory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 dirty="0">
                <a:solidFill>
                  <a:srgbClr val="000000"/>
                </a:solidFill>
              </a:rPr>
              <a:t>Content factory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 dirty="0" err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</a:t>
                      </a:r>
                      <a:r>
                        <a:rPr lang="ru-RU" sz="1200" b="0" i="1" kern="1200" dirty="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ru-RU" sz="1200" b="0" i="1" dirty="0" err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 dirty="0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— рынок </a:t>
            </a:r>
            <a:r>
              <a:rPr lang="ru-RU" sz="1050" dirty="0" err="1">
                <a:solidFill>
                  <a:srgbClr val="000000"/>
                </a:solidFill>
                <a:latin typeface="Arial"/>
              </a:rPr>
              <a:t>инфлюенс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 dirty="0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ru-RU" sz="1050" b="1" dirty="0" err="1">
                <a:solidFill>
                  <a:srgbClr val="000000"/>
                </a:solidFill>
                <a:latin typeface="Arial"/>
              </a:rPr>
              <a:t>Likee</a:t>
            </a:r>
            <a:r>
              <a:rPr lang="ru-RU" sz="1050" b="1" dirty="0">
                <a:solidFill>
                  <a:srgbClr val="000000"/>
                </a:solidFill>
                <a:latin typeface="Arial"/>
              </a:rPr>
              <a:t>, TikTok, YouTube, VK: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 dirty="0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 dirty="0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 dirty="0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Сеть </a:t>
            </a:r>
            <a:r>
              <a:rPr lang="ru-RU" sz="1050" b="1" dirty="0" err="1">
                <a:solidFill>
                  <a:srgbClr val="000000"/>
                </a:solidFill>
                <a:latin typeface="Arial"/>
              </a:rPr>
              <a:t>нано</a:t>
            </a:r>
            <a:r>
              <a:rPr lang="ru-RU" sz="1050" b="1" dirty="0">
                <a:solidFill>
                  <a:srgbClr val="000000"/>
                </a:solidFill>
                <a:latin typeface="Arial"/>
              </a:rPr>
              <a:t>-креаторов: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ru-RU" sz="1050" dirty="0" err="1">
                <a:solidFill>
                  <a:srgbClr val="000000"/>
                </a:solidFill>
                <a:latin typeface="Arial"/>
              </a:rPr>
              <a:t>in-app</a:t>
            </a:r>
            <a:endParaRPr lang="ru-RU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вкл. COGS +1 504 млн руб. (+67%): 73% прироста — расходы, привязанные к выручке DMP, агентств и CF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DMP: </a:t>
            </a:r>
            <a:r>
              <a:rPr lang="ru-RU" sz="1200" dirty="0">
                <a:solidFill>
                  <a:srgbClr val="000000"/>
                </a:solidFill>
              </a:rPr>
              <a:t>1 000 млн руб. 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Вознаграждения агентствам: </a:t>
            </a:r>
            <a:r>
              <a:rPr lang="ru-RU" sz="1200" dirty="0">
                <a:solidFill>
                  <a:srgbClr val="000000"/>
                </a:solidFill>
              </a:rPr>
              <a:t>795 млн руб., 66 млн руб. в месяц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Креаторы: 176 млн руб. (100% оплаты ячеек CF)</a:t>
            </a:r>
            <a:r>
              <a:rPr lang="ru-RU" sz="1200" dirty="0">
                <a:solidFill>
                  <a:srgbClr val="000000"/>
                </a:solidFill>
              </a:rPr>
              <a:t> при выручке CF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+28%: </a:t>
            </a:r>
            <a:r>
              <a:rPr lang="ru-RU" sz="1200" dirty="0">
                <a:solidFill>
                  <a:srgbClr val="000000"/>
                </a:solidFill>
              </a:rPr>
              <a:t>ФОТ AdTech +250 — full year run-rate штата, набранного в 2026 г., и +42 FTE (312 → 354 на конец года); +66 — команда Content factory; доля в выручке снижается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+4 243: APP +1 501, In-store +1 573</a:t>
            </a:r>
            <a:r>
              <a:rPr lang="ru-RU" sz="1200" dirty="0">
                <a:solidFill>
                  <a:srgbClr val="000000"/>
                </a:solidFill>
              </a:rPr>
              <a:t>, DMP, RMN и CF +1 169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Marketing −1 136: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(−489), агентские вознаграждения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−316 (+28%): </a:t>
            </a:r>
            <a:r>
              <a:rPr lang="ru-RU" sz="1200" dirty="0">
                <a:solidFill>
                  <a:srgbClr val="000000"/>
                </a:solidFill>
              </a:rPr>
              <a:t>ФОТ AdTech −250 — full year run-rate штата 2026 г. и +42 FTE (312 → 354 на конец года); команда Content factory −66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IT −34: </a:t>
            </a:r>
            <a:r>
              <a:rPr lang="ru-RU" sz="1200" dirty="0">
                <a:solidFill>
                  <a:srgbClr val="000000"/>
                </a:solidFill>
              </a:rPr>
              <a:t>техподдержка и сопровождение ПО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ФОТ разработки 510: </a:t>
            </a:r>
            <a:r>
              <a:rPr lang="ru-RU" sz="1200" dirty="0">
                <a:solidFill>
                  <a:srgbClr val="000000"/>
                </a:solidFill>
              </a:rPr>
              <a:t>27% ФОТ капитализируется — IT, Product, Analytics,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ИТ-закупки 31: </a:t>
            </a:r>
            <a:r>
              <a:rPr lang="ru-RU" sz="1200" dirty="0">
                <a:solidFill>
                  <a:srgbClr val="000000"/>
                </a:solidFill>
              </a:rPr>
              <a:t>MacBook 14 (найм 30 чел.), AI-инструменты 11, Optimacros 5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610: </a:t>
            </a:r>
            <a:r>
              <a:rPr lang="ru-RU" sz="1200" dirty="0">
                <a:solidFill>
                  <a:srgbClr val="000000"/>
                </a:solidFill>
              </a:rPr>
              <a:t>система управления медиаконтентом 438 и её внедрение 9, фасад и билборд БФ 82, фасадные экраны ТТ 80; интеграция медиа с КСО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Рост сегментов, где находится выручка </a:t>
            </a:r>
            <a:r>
              <a:rPr lang="en-US" dirty="0"/>
              <a:t>AdTech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сигнализирует </a:t>
            </a:r>
            <a:br>
              <a:rPr lang="ru-RU" dirty="0"/>
            </a:br>
            <a:r>
              <a:rPr lang="ru-RU" dirty="0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 dirty="0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 dirty="0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Изм. 9м г/г</a:t>
            </a:r>
            <a:r>
              <a:rPr lang="en-US" sz="1200" b="1" dirty="0">
                <a:solidFill>
                  <a:srgbClr val="FF452C"/>
                </a:solidFill>
                <a:latin typeface="Arial"/>
                <a:cs typeface="Arial"/>
              </a:rPr>
              <a:t> (25-26 </a:t>
            </a: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гг.)</a:t>
            </a:r>
            <a:endParaRPr lang="ru-RU" dirty="0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 dirty="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 dirty="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 dirty="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 dirty="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 dirty="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 dirty="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 dirty="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 dirty="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 dirty="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 dirty="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 dirty="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 dirty="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 dirty="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 dirty="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 dirty="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 dirty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 dirty="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 dirty="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en-US" sz="90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 dirty="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из центрального маркетинга в контур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таргета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9+3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)’26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ru-RU" sz="105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5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05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</a:t>
                      </a:r>
                      <a:r>
                        <a:rPr lang="ru-RU" sz="105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п.п</a:t>
                      </a:r>
                      <a:r>
                        <a:rPr lang="ru-RU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/>
                        <a:t>млн руб./чел.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  <a:endParaRPr kumimoji="0" lang="ru-RU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06948596"/>
              </p:ext>
            </p:ext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kumimoji="0" lang="ru-RU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3338219554"/>
              </p:ext>
            </p:ext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kumimoji="0" lang="ru-RU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8983117"/>
              </p:ext>
            </p:ext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kumimoji="0" lang="ru-RU" sz="1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en-US" sz="900" dirty="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 dirty="0">
                <a:solidFill>
                  <a:srgbClr val="6E6E6E"/>
                </a:solidFill>
                <a:latin typeface="+mn-lt"/>
              </a:rPr>
              <a:t>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49728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2151241400"/>
              </p:ext>
            </p:ext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50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Статус выполнения КПЭ: </a:t>
            </a:r>
            <a:r>
              <a:rPr lang="ru-RU" dirty="0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 dirty="0"/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35983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8793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146,6%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E-</a:t>
            </a:r>
            <a:r>
              <a:rPr kumimoji="0" lang="ru-RU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endParaRPr kumimoji="0" lang="ru-RU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4 607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1 409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3 050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+2 210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(1 940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(-8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(278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+1 181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(301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(126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Эффект увеличения продаж рекламы новым контрагентам и доступности instore инвентаря, а также подхода по совместному признанию выручки с FT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62067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6 546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1 409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4 989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3 789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4 264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1 548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766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106%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102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208%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351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150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-16%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854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1 029%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674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691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897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+338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(199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(150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+13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(-243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выручки (+351 млн руб.) и экономия OPEX (+503 млн руб.): рекласс ФОТ в CAPEX и закупка трафика ниже бюджета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3" name="Овал 8">
            <a:extLst>
              <a:ext uri="{FF2B5EF4-FFF2-40B4-BE49-F238E27FC236}">
                <a16:creationId xmlns:a16="http://schemas.microsoft.com/office/drawing/2014/main" id="{BBC10EF4-BCBD-42B4-9FF1-974B17A60F1E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(3 430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выручки с FT и рост продаж E-com, экономия OPEX (+425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4 785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Совместного с FT признания E-com выручки (3 430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(1 012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(344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72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600000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/>
        </p:nvGraphicFramePr>
        <p:xfrm>
          <a:off x="6393164" y="2970000"/>
          <a:ext cx="5434661" cy="32300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11773</Words>
  <Application>Microsoft Macintosh PowerPoint</Application>
  <PresentationFormat>Widescreen</PresentationFormat>
  <Paragraphs>2537</Paragraphs>
  <Slides>57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37</cp:revision>
  <dcterms:created xsi:type="dcterms:W3CDTF">2026-10-05T11:53:56Z</dcterms:created>
  <dcterms:modified xsi:type="dcterms:W3CDTF">2026-10-16T18:05:05Z</dcterms:modified>
  <cp:category/>
</cp:coreProperties>
</file>