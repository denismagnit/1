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43.xml" ContentType="application/vnd.openxmlformats-officedocument.presentationml.tags+xml"/>
  <Override PartName="/ppt/notesSlides/notesSlide6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charts/chart5.xml" ContentType="application/vnd.openxmlformats-officedocument.drawingml.chart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tags/tag13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40.xml" ContentType="application/vnd.openxmlformats-officedocument.presentationml.tags+xml"/>
  <Override PartName="/ppt/notesSlides/notesSlide10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143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charts/chart12.xml" ContentType="application/vnd.openxmlformats-officedocument.drawingml.chart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notesSlides/notesSlide27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327.xml" ContentType="application/vnd.openxmlformats-officedocument.presentationml.tags+xml"/>
  <Override PartName="/ppt/notesSlides/notesSlide28.xml" ContentType="application/vnd.openxmlformats-officedocument.presentationml.notesSlide+xml"/>
  <Override PartName="/ppt/tags/tag328.xml" ContentType="application/vnd.openxmlformats-officedocument.presentationml.tags+xml"/>
  <Override PartName="/ppt/notesSlides/notesSlide29.xml" ContentType="application/vnd.openxmlformats-officedocument.presentationml.notesSlide+xml"/>
  <Override PartName="/ppt/tags/tag329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9"/>
  </p:notesMasterIdLst>
  <p:sldIdLst>
    <p:sldId id="345" r:id="rId2"/>
    <p:sldId id="548" r:id="rId3"/>
    <p:sldId id="2147480855" r:id="rId4"/>
    <p:sldId id="2147480848" r:id="rId5"/>
    <p:sldId id="549" r:id="rId6"/>
    <p:sldId id="550" r:id="rId7"/>
    <p:sldId id="2147480862" r:id="rId8"/>
    <p:sldId id="507" r:id="rId9"/>
    <p:sldId id="2147480856" r:id="rId10"/>
    <p:sldId id="537" r:id="rId11"/>
    <p:sldId id="441" r:id="rId12"/>
    <p:sldId id="509" r:id="rId13"/>
    <p:sldId id="2147480863" r:id="rId14"/>
    <p:sldId id="545" r:id="rId15"/>
    <p:sldId id="511" r:id="rId16"/>
    <p:sldId id="2147480861" r:id="rId17"/>
    <p:sldId id="531" r:id="rId18"/>
    <p:sldId id="514" r:id="rId19"/>
    <p:sldId id="515" r:id="rId20"/>
    <p:sldId id="516" r:id="rId21"/>
    <p:sldId id="546" r:id="rId22"/>
    <p:sldId id="532" r:id="rId23"/>
    <p:sldId id="533" r:id="rId24"/>
    <p:sldId id="365" r:id="rId25"/>
    <p:sldId id="538" r:id="rId26"/>
    <p:sldId id="412" r:id="rId27"/>
    <p:sldId id="2147480854" r:id="rId28"/>
    <p:sldId id="433" r:id="rId29"/>
    <p:sldId id="366" r:id="rId30"/>
    <p:sldId id="404" r:id="rId31"/>
    <p:sldId id="483" r:id="rId32"/>
    <p:sldId id="475" r:id="rId33"/>
    <p:sldId id="506" r:id="rId34"/>
    <p:sldId id="543" r:id="rId35"/>
    <p:sldId id="484" r:id="rId36"/>
    <p:sldId id="542" r:id="rId37"/>
    <p:sldId id="2147480857" r:id="rId38"/>
    <p:sldId id="357" r:id="rId39"/>
    <p:sldId id="360" r:id="rId40"/>
    <p:sldId id="358" r:id="rId41"/>
    <p:sldId id="2147480858" r:id="rId42"/>
    <p:sldId id="256" r:id="rId43"/>
    <p:sldId id="257" r:id="rId44"/>
    <p:sldId id="258" r:id="rId45"/>
    <p:sldId id="259" r:id="rId46"/>
    <p:sldId id="260" r:id="rId47"/>
    <p:sldId id="261" r:id="rId48"/>
    <p:sldId id="262" r:id="rId49"/>
    <p:sldId id="263" r:id="rId50"/>
    <p:sldId id="264" r:id="rId51"/>
    <p:sldId id="265" r:id="rId52"/>
    <p:sldId id="266" r:id="rId53"/>
    <p:sldId id="2147480859" r:id="rId54"/>
    <p:sldId id="267" r:id="rId55"/>
    <p:sldId id="468" r:id="rId56"/>
    <p:sldId id="547" r:id="rId57"/>
    <p:sldId id="2147480839" r:id="rId58"/>
    <p:sldId id="551" r:id="rId59"/>
    <p:sldId id="2147480841" r:id="rId60"/>
    <p:sldId id="2147480860" r:id="rId61"/>
    <p:sldId id="2147480842" r:id="rId62"/>
    <p:sldId id="2147480844" r:id="rId63"/>
    <p:sldId id="552" r:id="rId64"/>
    <p:sldId id="553" r:id="rId65"/>
    <p:sldId id="554" r:id="rId66"/>
    <p:sldId id="2147480864" r:id="rId67"/>
    <p:sldId id="2147480865" r:id="rId68"/>
    <p:sldId id="430" r:id="rId69"/>
    <p:sldId id="535" r:id="rId70"/>
    <p:sldId id="489" r:id="rId71"/>
    <p:sldId id="421" r:id="rId72"/>
    <p:sldId id="422" r:id="rId73"/>
    <p:sldId id="424" r:id="rId74"/>
    <p:sldId id="528" r:id="rId75"/>
    <p:sldId id="411" r:id="rId76"/>
    <p:sldId id="408" r:id="rId77"/>
    <p:sldId id="427" r:id="rId7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52B"/>
    <a:srgbClr val="FFE3E0"/>
    <a:srgbClr val="595959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8"/>
    <p:restoredTop sz="94694"/>
  </p:normalViewPr>
  <p:slideViewPr>
    <p:cSldViewPr snapToGrid="0">
      <p:cViewPr>
        <p:scale>
          <a:sx n="116" d="100"/>
          <a:sy n="116" d="100"/>
        </p:scale>
        <p:origin x="113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6175084927657547E-3"/>
          <c:y val="0.13129251700680272"/>
          <c:w val="0.94596809756692435"/>
          <c:h val="0.4639148608440630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Лист1!$A$2:$A$5</cx:f>
        <cx:lvl ptCount="4"/>
      </cx:strDim>
      <cx:numDim type="val">
        <cx:f>Лист1!$B$2:$B$5</cx:f>
        <cx:lvl ptCount="4" formatCode="Основной">
          <cx:pt idx="0">312</cx:pt>
          <cx:pt idx="1">128</cx:pt>
          <cx:pt idx="2">-75</cx:pt>
          <cx:pt idx="3">365</cx:pt>
        </cx:lvl>
      </cx:numDim>
    </cx:data>
  </cx:chartData>
  <cx:chart>
    <cx:plotArea>
      <cx:plotAreaRegion>
        <cx:series layoutId="waterfall" uniqueId="{B2F340B9-53C5-3D4B-84F1-5831BAA83349}">
          <cx:tx>
            <cx:txData>
              <cx:f>Лист1!$B$1</cx:f>
              <cx:v>Ряд 1</cx:v>
            </cx:txData>
          </cx:tx>
          <cx:dataPt idx="0">
            <cx:spPr>
              <a:solidFill>
                <a:srgbClr val="FFFFFF">
                  <a:lumMod val="75000"/>
                </a:srgbClr>
              </a:solidFill>
            </cx:spPr>
          </cx:dataPt>
          <cx:dataPt idx="2">
            <cx:spPr>
              <a:solidFill>
                <a:srgbClr val="00B050"/>
              </a:solidFill>
            </cx:spPr>
          </cx:dataPt>
          <cx:dataPt idx="3">
            <cx:spPr>
              <a:solidFill>
                <a:srgbClr val="FFFFFF">
                  <a:lumMod val="65000"/>
                </a:srgbClr>
              </a:solidFill>
            </cx:spPr>
          </cx:dataPt>
          <cx:dataLabels pos="in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tx1"/>
                    </a:solidFill>
                  </a:defRPr>
                </a:pPr>
                <a:endParaRPr lang="ru-RU" sz="1197" b="0" i="0" u="none" strike="noStrike" baseline="0">
                  <a:solidFill>
                    <a:schemeClr val="tx1"/>
                  </a:solidFill>
                  <a:latin typeface="Arial" panose="020B0604020202020204"/>
                </a:endParaRPr>
              </a:p>
            </cx:txPr>
            <cx:visibility seriesName="0" categoryName="0" value="1"/>
          </cx:dataLabels>
          <cx:dataId val="0"/>
          <cx:layoutPr>
            <cx:subtotals>
              <cx:idx val="3"/>
            </cx:subtotals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00"/>
            </a:pPr>
            <a:endParaRPr lang="ru-RU" sz="1000" b="0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Arial" panose="020B0604020202020204"/>
            </a:endParaRPr>
          </a:p>
        </cx:txPr>
      </cx:axis>
      <cx:axis id="1" hidden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848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F740D-8434-9CAE-94AE-0F34A778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28CB2C-095B-7E17-3692-8D4EF2EC7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AAC6FF-4F18-0584-CDDD-C2B783468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6BC996-2B37-E1F9-66B9-20155FA64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772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ru-RU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38A29-48E2-5F53-701D-5DEED2CE6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345383-AD98-70F9-17DF-4BC8FABAF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DA731E-DD81-0A4C-C2BB-4D7FFADE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2E0BD-1D31-12D3-9EDA-DA2FB2941C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7832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6C69A-D2CD-5F88-FE9E-DD35F8B69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D39F4E-FDE3-E376-26F0-0D212A6A4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A2DB9F-3B0E-D2CF-6E0A-ECC60B9F6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00A2FF-DC50-FAE3-176F-2BB054D36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3949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8F41-60F8-05FE-3B8F-C5CCCB8D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9776D0-EF0E-D512-148A-149EB6BCB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0DBC295-9432-81E4-E132-5A83DE778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6200AF-C5BF-0FF8-89EC-1AD7325D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971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37F0D-F71E-510A-0D7D-E70E9F2B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107D10-547B-CC91-45B3-751DA0BAB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E791887-A282-8A08-FA0C-F1B873E68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6D99DC-91D7-6C23-1401-37D8F50C3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3785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d7cd5f6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d7cd5f64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sp>
        <p:nvSpPr>
          <p:cNvPr id="268" name="Google Shape;268;g37d7cd5f64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66</a:t>
            </a:fld>
            <a:endParaRPr lang="ru-RU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h3baecf588baa0b1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h3baecf588baa0b1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sp>
        <p:nvSpPr>
          <p:cNvPr id="283" name="Google Shape;283;h3baecf588baa0b1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3">
            <a:extLst>
              <a:ext uri="{FF2B5EF4-FFF2-40B4-BE49-F238E27FC236}">
                <a16:creationId xmlns:a16="http://schemas.microsoft.com/office/drawing/2014/main" id="{3F49912F-EE8E-4169-AE5E-6E7066A799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781" y="224059"/>
            <a:ext cx="7957096" cy="9083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E30613"/>
                </a:solidFill>
                <a:latin typeface="Montserrat Medium" panose="00000600000000000000" pitchFamily="2" charset="-52"/>
              </a:defRPr>
            </a:lvl1pPr>
            <a:lvl2pPr marL="4572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2pPr>
            <a:lvl3pPr marL="9144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3pPr>
            <a:lvl4pPr marL="13716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4pPr>
            <a:lvl5pPr marL="1828800" indent="0">
              <a:buNone/>
              <a:defRPr>
                <a:solidFill>
                  <a:srgbClr val="E30613"/>
                </a:solidFill>
                <a:latin typeface="Montserrat" panose="00000500000000000000" pitchFamily="2" charset="-52"/>
              </a:defRPr>
            </a:lvl5pPr>
          </a:lstStyle>
          <a:p>
            <a:pPr lvl="0"/>
            <a:r>
              <a:rPr lang="ru-RU"/>
              <a:t>ЗАГОЛОВОК СЛАЙДА В ДВЕ СТРОКИ. ШРИФТ </a:t>
            </a:r>
            <a:r>
              <a:rPr lang="en-US"/>
              <a:t>MONTSERRAT MEDIUM 24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10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нутренняя страница_2">
  <p:cSld name="Внутренняя страница_2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>
            <a:spLocks noGrp="1"/>
          </p:cNvSpPr>
          <p:nvPr>
            <p:ph type="body" idx="1"/>
          </p:nvPr>
        </p:nvSpPr>
        <p:spPr>
          <a:xfrm>
            <a:off x="542925" y="2328240"/>
            <a:ext cx="40752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190" name="Google Shape;190;p35"/>
          <p:cNvSpPr txBox="1">
            <a:spLocks noGrp="1"/>
          </p:cNvSpPr>
          <p:nvPr>
            <p:ph type="sldNum" idx="12"/>
          </p:nvPr>
        </p:nvSpPr>
        <p:spPr>
          <a:xfrm>
            <a:off x="11163300" y="6324600"/>
            <a:ext cx="485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2"/>
          </p:nvPr>
        </p:nvSpPr>
        <p:spPr>
          <a:xfrm>
            <a:off x="550863" y="512763"/>
            <a:ext cx="4078200" cy="12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192" name="Google Shape;192;p35"/>
          <p:cNvSpPr>
            <a:spLocks noGrp="1"/>
          </p:cNvSpPr>
          <p:nvPr>
            <p:ph type="pic" idx="3"/>
          </p:nvPr>
        </p:nvSpPr>
        <p:spPr>
          <a:xfrm>
            <a:off x="6172200" y="527050"/>
            <a:ext cx="5476800" cy="28227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5"/>
          <p:cNvSpPr>
            <a:spLocks noGrp="1"/>
          </p:cNvSpPr>
          <p:nvPr>
            <p:ph type="pic" idx="4"/>
          </p:nvPr>
        </p:nvSpPr>
        <p:spPr>
          <a:xfrm>
            <a:off x="6172200" y="3486150"/>
            <a:ext cx="5476800" cy="28449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35"/>
          <p:cNvSpPr txBox="1">
            <a:spLocks noGrp="1"/>
          </p:cNvSpPr>
          <p:nvPr>
            <p:ph type="body" idx="5"/>
          </p:nvPr>
        </p:nvSpPr>
        <p:spPr>
          <a:xfrm>
            <a:off x="1860895" y="6447674"/>
            <a:ext cx="393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68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нутренняя страница_6">
  <p:cSld name="Внутренняя страница_6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sldNum" idx="12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1"/>
          </p:nvPr>
        </p:nvSpPr>
        <p:spPr>
          <a:xfrm>
            <a:off x="554037" y="1934651"/>
            <a:ext cx="4075113" cy="214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2"/>
          </p:nvPr>
        </p:nvSpPr>
        <p:spPr>
          <a:xfrm>
            <a:off x="550863" y="512763"/>
            <a:ext cx="11090274" cy="126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3"/>
          </p:nvPr>
        </p:nvSpPr>
        <p:spPr>
          <a:xfrm>
            <a:off x="1860895" y="6447674"/>
            <a:ext cx="3933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2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12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tags" Target="../tags/tag35.xml"/><Relationship Id="rId21" Type="http://schemas.openxmlformats.org/officeDocument/2006/relationships/tags" Target="../tags/tag30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tags" Target="../tags/tag42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tags" Target="../tags/tag38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tags" Target="../tags/tag41.xml"/><Relationship Id="rId37" Type="http://schemas.openxmlformats.org/officeDocument/2006/relationships/chart" Target="../charts/chart2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36" Type="http://schemas.openxmlformats.org/officeDocument/2006/relationships/chart" Target="../charts/chart1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tags" Target="../tags/tag40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tags" Target="../tags/tag39.xml"/><Relationship Id="rId35" Type="http://schemas.openxmlformats.org/officeDocument/2006/relationships/notesSlide" Target="../notesSlides/notesSlide5.xml"/><Relationship Id="rId8" Type="http://schemas.openxmlformats.org/officeDocument/2006/relationships/tags" Target="../tags/tag17.xml"/><Relationship Id="rId3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26" Type="http://schemas.openxmlformats.org/officeDocument/2006/relationships/tags" Target="../tags/tag69.xml"/><Relationship Id="rId39" Type="http://schemas.openxmlformats.org/officeDocument/2006/relationships/tags" Target="../tags/tag82.xml"/><Relationship Id="rId21" Type="http://schemas.openxmlformats.org/officeDocument/2006/relationships/tags" Target="../tags/tag64.xml"/><Relationship Id="rId34" Type="http://schemas.openxmlformats.org/officeDocument/2006/relationships/tags" Target="../tags/tag77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50" Type="http://schemas.openxmlformats.org/officeDocument/2006/relationships/tags" Target="../tags/tag93.xml"/><Relationship Id="rId55" Type="http://schemas.openxmlformats.org/officeDocument/2006/relationships/chart" Target="../charts/chart3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9" Type="http://schemas.openxmlformats.org/officeDocument/2006/relationships/tags" Target="../tags/tag72.xml"/><Relationship Id="rId11" Type="http://schemas.openxmlformats.org/officeDocument/2006/relationships/tags" Target="../tags/tag54.xml"/><Relationship Id="rId24" Type="http://schemas.openxmlformats.org/officeDocument/2006/relationships/tags" Target="../tags/tag67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53" Type="http://schemas.openxmlformats.org/officeDocument/2006/relationships/oleObject" Target="../embeddings/oleObject7.bin"/><Relationship Id="rId5" Type="http://schemas.openxmlformats.org/officeDocument/2006/relationships/tags" Target="../tags/tag48.xml"/><Relationship Id="rId10" Type="http://schemas.openxmlformats.org/officeDocument/2006/relationships/tags" Target="../tags/tag53.xml"/><Relationship Id="rId19" Type="http://schemas.openxmlformats.org/officeDocument/2006/relationships/tags" Target="../tags/tag62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image" Target="../media/image7.emf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07.xml"/><Relationship Id="rId18" Type="http://schemas.openxmlformats.org/officeDocument/2006/relationships/tags" Target="../tags/tag112.xml"/><Relationship Id="rId26" Type="http://schemas.openxmlformats.org/officeDocument/2006/relationships/tags" Target="../tags/tag120.xml"/><Relationship Id="rId39" Type="http://schemas.openxmlformats.org/officeDocument/2006/relationships/tags" Target="../tags/tag133.xml"/><Relationship Id="rId21" Type="http://schemas.openxmlformats.org/officeDocument/2006/relationships/tags" Target="../tags/tag115.xml"/><Relationship Id="rId34" Type="http://schemas.openxmlformats.org/officeDocument/2006/relationships/tags" Target="../tags/tag128.xml"/><Relationship Id="rId42" Type="http://schemas.openxmlformats.org/officeDocument/2006/relationships/oleObject" Target="../embeddings/oleObject8.bin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6" Type="http://schemas.openxmlformats.org/officeDocument/2006/relationships/tags" Target="../tags/tag110.xml"/><Relationship Id="rId20" Type="http://schemas.openxmlformats.org/officeDocument/2006/relationships/tags" Target="../tags/tag114.xml"/><Relationship Id="rId29" Type="http://schemas.openxmlformats.org/officeDocument/2006/relationships/tags" Target="../tags/tag123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tags" Target="../tags/tag105.xml"/><Relationship Id="rId24" Type="http://schemas.openxmlformats.org/officeDocument/2006/relationships/tags" Target="../tags/tag118.xml"/><Relationship Id="rId32" Type="http://schemas.openxmlformats.org/officeDocument/2006/relationships/tags" Target="../tags/tag126.xml"/><Relationship Id="rId37" Type="http://schemas.openxmlformats.org/officeDocument/2006/relationships/tags" Target="../tags/tag131.xml"/><Relationship Id="rId40" Type="http://schemas.openxmlformats.org/officeDocument/2006/relationships/tags" Target="../tags/tag134.xml"/><Relationship Id="rId5" Type="http://schemas.openxmlformats.org/officeDocument/2006/relationships/tags" Target="../tags/tag99.xml"/><Relationship Id="rId15" Type="http://schemas.openxmlformats.org/officeDocument/2006/relationships/tags" Target="../tags/tag109.xml"/><Relationship Id="rId23" Type="http://schemas.openxmlformats.org/officeDocument/2006/relationships/tags" Target="../tags/tag117.xml"/><Relationship Id="rId28" Type="http://schemas.openxmlformats.org/officeDocument/2006/relationships/tags" Target="../tags/tag122.xml"/><Relationship Id="rId36" Type="http://schemas.openxmlformats.org/officeDocument/2006/relationships/tags" Target="../tags/tag130.xml"/><Relationship Id="rId10" Type="http://schemas.openxmlformats.org/officeDocument/2006/relationships/tags" Target="../tags/tag104.xml"/><Relationship Id="rId19" Type="http://schemas.openxmlformats.org/officeDocument/2006/relationships/tags" Target="../tags/tag113.xml"/><Relationship Id="rId31" Type="http://schemas.openxmlformats.org/officeDocument/2006/relationships/tags" Target="../tags/tag125.xml"/><Relationship Id="rId44" Type="http://schemas.openxmlformats.org/officeDocument/2006/relationships/chart" Target="../charts/chart5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tags" Target="../tags/tag108.xml"/><Relationship Id="rId22" Type="http://schemas.openxmlformats.org/officeDocument/2006/relationships/tags" Target="../tags/tag116.xml"/><Relationship Id="rId27" Type="http://schemas.openxmlformats.org/officeDocument/2006/relationships/tags" Target="../tags/tag121.xml"/><Relationship Id="rId30" Type="http://schemas.openxmlformats.org/officeDocument/2006/relationships/tags" Target="../tags/tag124.xml"/><Relationship Id="rId35" Type="http://schemas.openxmlformats.org/officeDocument/2006/relationships/tags" Target="../tags/tag129.xml"/><Relationship Id="rId43" Type="http://schemas.openxmlformats.org/officeDocument/2006/relationships/image" Target="../media/image8.emf"/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12" Type="http://schemas.openxmlformats.org/officeDocument/2006/relationships/tags" Target="../tags/tag106.xml"/><Relationship Id="rId17" Type="http://schemas.openxmlformats.org/officeDocument/2006/relationships/tags" Target="../tags/tag111.xml"/><Relationship Id="rId25" Type="http://schemas.openxmlformats.org/officeDocument/2006/relationships/tags" Target="../tags/tag119.xml"/><Relationship Id="rId33" Type="http://schemas.openxmlformats.org/officeDocument/2006/relationships/tags" Target="../tags/tag127.xml"/><Relationship Id="rId38" Type="http://schemas.openxmlformats.org/officeDocument/2006/relationships/tags" Target="../tags/tag13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Relationship Id="rId4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9.emf"/><Relationship Id="rId9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Relationship Id="rId6" Type="http://schemas.openxmlformats.org/officeDocument/2006/relationships/image" Target="../media/image18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46.xml"/><Relationship Id="rId7" Type="http://schemas.openxmlformats.org/officeDocument/2006/relationships/notesSlide" Target="../notesSlides/notesSlide2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0.png"/><Relationship Id="rId5" Type="http://schemas.openxmlformats.org/officeDocument/2006/relationships/tags" Target="../tags/tag148.xml"/><Relationship Id="rId10" Type="http://schemas.microsoft.com/office/2014/relationships/chartEx" Target="../charts/chartEx1.xml"/><Relationship Id="rId4" Type="http://schemas.openxmlformats.org/officeDocument/2006/relationships/tags" Target="../tags/tag147.xml"/><Relationship Id="rId9" Type="http://schemas.openxmlformats.org/officeDocument/2006/relationships/image" Target="../media/image4.emf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tags" Target="../tags/tag174.xml"/><Relationship Id="rId21" Type="http://schemas.openxmlformats.org/officeDocument/2006/relationships/tags" Target="../tags/tag169.xml"/><Relationship Id="rId42" Type="http://schemas.openxmlformats.org/officeDocument/2006/relationships/tags" Target="../tags/tag190.xml"/><Relationship Id="rId47" Type="http://schemas.openxmlformats.org/officeDocument/2006/relationships/tags" Target="../tags/tag195.xml"/><Relationship Id="rId63" Type="http://schemas.openxmlformats.org/officeDocument/2006/relationships/tags" Target="../tags/tag211.xml"/><Relationship Id="rId68" Type="http://schemas.openxmlformats.org/officeDocument/2006/relationships/tags" Target="../tags/tag216.xml"/><Relationship Id="rId84" Type="http://schemas.openxmlformats.org/officeDocument/2006/relationships/tags" Target="../tags/tag232.xml"/><Relationship Id="rId89" Type="http://schemas.openxmlformats.org/officeDocument/2006/relationships/tags" Target="../tags/tag237.xml"/><Relationship Id="rId16" Type="http://schemas.openxmlformats.org/officeDocument/2006/relationships/tags" Target="../tags/tag164.xml"/><Relationship Id="rId11" Type="http://schemas.openxmlformats.org/officeDocument/2006/relationships/tags" Target="../tags/tag159.xml"/><Relationship Id="rId32" Type="http://schemas.openxmlformats.org/officeDocument/2006/relationships/tags" Target="../tags/tag180.xml"/><Relationship Id="rId37" Type="http://schemas.openxmlformats.org/officeDocument/2006/relationships/tags" Target="../tags/tag185.xml"/><Relationship Id="rId53" Type="http://schemas.openxmlformats.org/officeDocument/2006/relationships/tags" Target="../tags/tag201.xml"/><Relationship Id="rId58" Type="http://schemas.openxmlformats.org/officeDocument/2006/relationships/tags" Target="../tags/tag206.xml"/><Relationship Id="rId74" Type="http://schemas.openxmlformats.org/officeDocument/2006/relationships/tags" Target="../tags/tag222.xml"/><Relationship Id="rId79" Type="http://schemas.openxmlformats.org/officeDocument/2006/relationships/tags" Target="../tags/tag227.xml"/><Relationship Id="rId5" Type="http://schemas.openxmlformats.org/officeDocument/2006/relationships/tags" Target="../tags/tag153.xml"/><Relationship Id="rId90" Type="http://schemas.openxmlformats.org/officeDocument/2006/relationships/tags" Target="../tags/tag238.xml"/><Relationship Id="rId95" Type="http://schemas.openxmlformats.org/officeDocument/2006/relationships/oleObject" Target="../embeddings/oleObject15.bin"/><Relationship Id="rId22" Type="http://schemas.openxmlformats.org/officeDocument/2006/relationships/tags" Target="../tags/tag170.xml"/><Relationship Id="rId27" Type="http://schemas.openxmlformats.org/officeDocument/2006/relationships/tags" Target="../tags/tag175.xml"/><Relationship Id="rId43" Type="http://schemas.openxmlformats.org/officeDocument/2006/relationships/tags" Target="../tags/tag191.xml"/><Relationship Id="rId48" Type="http://schemas.openxmlformats.org/officeDocument/2006/relationships/tags" Target="../tags/tag196.xml"/><Relationship Id="rId64" Type="http://schemas.openxmlformats.org/officeDocument/2006/relationships/tags" Target="../tags/tag212.xml"/><Relationship Id="rId69" Type="http://schemas.openxmlformats.org/officeDocument/2006/relationships/tags" Target="../tags/tag217.xml"/><Relationship Id="rId80" Type="http://schemas.openxmlformats.org/officeDocument/2006/relationships/tags" Target="../tags/tag228.xml"/><Relationship Id="rId85" Type="http://schemas.openxmlformats.org/officeDocument/2006/relationships/tags" Target="../tags/tag233.xml"/><Relationship Id="rId3" Type="http://schemas.openxmlformats.org/officeDocument/2006/relationships/tags" Target="../tags/tag151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5" Type="http://schemas.openxmlformats.org/officeDocument/2006/relationships/tags" Target="../tags/tag173.xml"/><Relationship Id="rId33" Type="http://schemas.openxmlformats.org/officeDocument/2006/relationships/tags" Target="../tags/tag181.xml"/><Relationship Id="rId38" Type="http://schemas.openxmlformats.org/officeDocument/2006/relationships/tags" Target="../tags/tag186.xml"/><Relationship Id="rId46" Type="http://schemas.openxmlformats.org/officeDocument/2006/relationships/tags" Target="../tags/tag194.xml"/><Relationship Id="rId59" Type="http://schemas.openxmlformats.org/officeDocument/2006/relationships/tags" Target="../tags/tag207.xml"/><Relationship Id="rId67" Type="http://schemas.openxmlformats.org/officeDocument/2006/relationships/tags" Target="../tags/tag215.xml"/><Relationship Id="rId20" Type="http://schemas.openxmlformats.org/officeDocument/2006/relationships/tags" Target="../tags/tag168.xml"/><Relationship Id="rId41" Type="http://schemas.openxmlformats.org/officeDocument/2006/relationships/tags" Target="../tags/tag189.xml"/><Relationship Id="rId54" Type="http://schemas.openxmlformats.org/officeDocument/2006/relationships/tags" Target="../tags/tag202.xml"/><Relationship Id="rId62" Type="http://schemas.openxmlformats.org/officeDocument/2006/relationships/tags" Target="../tags/tag210.xml"/><Relationship Id="rId70" Type="http://schemas.openxmlformats.org/officeDocument/2006/relationships/tags" Target="../tags/tag218.xml"/><Relationship Id="rId75" Type="http://schemas.openxmlformats.org/officeDocument/2006/relationships/tags" Target="../tags/tag223.xml"/><Relationship Id="rId83" Type="http://schemas.openxmlformats.org/officeDocument/2006/relationships/tags" Target="../tags/tag231.xml"/><Relationship Id="rId88" Type="http://schemas.openxmlformats.org/officeDocument/2006/relationships/tags" Target="../tags/tag236.xml"/><Relationship Id="rId91" Type="http://schemas.openxmlformats.org/officeDocument/2006/relationships/tags" Target="../tags/tag239.xml"/><Relationship Id="rId96" Type="http://schemas.openxmlformats.org/officeDocument/2006/relationships/image" Target="../media/image4.emf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5" Type="http://schemas.openxmlformats.org/officeDocument/2006/relationships/tags" Target="../tags/tag163.xml"/><Relationship Id="rId23" Type="http://schemas.openxmlformats.org/officeDocument/2006/relationships/tags" Target="../tags/tag171.xml"/><Relationship Id="rId28" Type="http://schemas.openxmlformats.org/officeDocument/2006/relationships/tags" Target="../tags/tag176.xml"/><Relationship Id="rId36" Type="http://schemas.openxmlformats.org/officeDocument/2006/relationships/tags" Target="../tags/tag184.xml"/><Relationship Id="rId49" Type="http://schemas.openxmlformats.org/officeDocument/2006/relationships/tags" Target="../tags/tag197.xml"/><Relationship Id="rId57" Type="http://schemas.openxmlformats.org/officeDocument/2006/relationships/tags" Target="../tags/tag205.xml"/><Relationship Id="rId10" Type="http://schemas.openxmlformats.org/officeDocument/2006/relationships/tags" Target="../tags/tag158.xml"/><Relationship Id="rId31" Type="http://schemas.openxmlformats.org/officeDocument/2006/relationships/tags" Target="../tags/tag179.xml"/><Relationship Id="rId44" Type="http://schemas.openxmlformats.org/officeDocument/2006/relationships/tags" Target="../tags/tag192.xml"/><Relationship Id="rId52" Type="http://schemas.openxmlformats.org/officeDocument/2006/relationships/tags" Target="../tags/tag200.xml"/><Relationship Id="rId60" Type="http://schemas.openxmlformats.org/officeDocument/2006/relationships/tags" Target="../tags/tag208.xml"/><Relationship Id="rId65" Type="http://schemas.openxmlformats.org/officeDocument/2006/relationships/tags" Target="../tags/tag213.xml"/><Relationship Id="rId73" Type="http://schemas.openxmlformats.org/officeDocument/2006/relationships/tags" Target="../tags/tag221.xml"/><Relationship Id="rId78" Type="http://schemas.openxmlformats.org/officeDocument/2006/relationships/tags" Target="../tags/tag226.xml"/><Relationship Id="rId81" Type="http://schemas.openxmlformats.org/officeDocument/2006/relationships/tags" Target="../tags/tag229.xml"/><Relationship Id="rId86" Type="http://schemas.openxmlformats.org/officeDocument/2006/relationships/tags" Target="../tags/tag234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3" Type="http://schemas.openxmlformats.org/officeDocument/2006/relationships/tags" Target="../tags/tag161.xml"/><Relationship Id="rId18" Type="http://schemas.openxmlformats.org/officeDocument/2006/relationships/tags" Target="../tags/tag166.xml"/><Relationship Id="rId39" Type="http://schemas.openxmlformats.org/officeDocument/2006/relationships/tags" Target="../tags/tag187.xml"/><Relationship Id="rId34" Type="http://schemas.openxmlformats.org/officeDocument/2006/relationships/tags" Target="../tags/tag182.xml"/><Relationship Id="rId50" Type="http://schemas.openxmlformats.org/officeDocument/2006/relationships/tags" Target="../tags/tag198.xml"/><Relationship Id="rId55" Type="http://schemas.openxmlformats.org/officeDocument/2006/relationships/tags" Target="../tags/tag203.xml"/><Relationship Id="rId76" Type="http://schemas.openxmlformats.org/officeDocument/2006/relationships/tags" Target="../tags/tag224.xml"/><Relationship Id="rId97" Type="http://schemas.openxmlformats.org/officeDocument/2006/relationships/chart" Target="../charts/chart10.xml"/><Relationship Id="rId7" Type="http://schemas.openxmlformats.org/officeDocument/2006/relationships/tags" Target="../tags/tag155.xml"/><Relationship Id="rId71" Type="http://schemas.openxmlformats.org/officeDocument/2006/relationships/tags" Target="../tags/tag219.xml"/><Relationship Id="rId92" Type="http://schemas.openxmlformats.org/officeDocument/2006/relationships/tags" Target="../tags/tag240.xml"/><Relationship Id="rId2" Type="http://schemas.openxmlformats.org/officeDocument/2006/relationships/tags" Target="../tags/tag150.xml"/><Relationship Id="rId29" Type="http://schemas.openxmlformats.org/officeDocument/2006/relationships/tags" Target="../tags/tag177.xml"/><Relationship Id="rId24" Type="http://schemas.openxmlformats.org/officeDocument/2006/relationships/tags" Target="../tags/tag172.xml"/><Relationship Id="rId40" Type="http://schemas.openxmlformats.org/officeDocument/2006/relationships/tags" Target="../tags/tag188.xml"/><Relationship Id="rId45" Type="http://schemas.openxmlformats.org/officeDocument/2006/relationships/tags" Target="../tags/tag193.xml"/><Relationship Id="rId66" Type="http://schemas.openxmlformats.org/officeDocument/2006/relationships/tags" Target="../tags/tag214.xml"/><Relationship Id="rId87" Type="http://schemas.openxmlformats.org/officeDocument/2006/relationships/tags" Target="../tags/tag235.xml"/><Relationship Id="rId61" Type="http://schemas.openxmlformats.org/officeDocument/2006/relationships/tags" Target="../tags/tag209.xml"/><Relationship Id="rId82" Type="http://schemas.openxmlformats.org/officeDocument/2006/relationships/tags" Target="../tags/tag230.xml"/><Relationship Id="rId19" Type="http://schemas.openxmlformats.org/officeDocument/2006/relationships/tags" Target="../tags/tag167.xml"/><Relationship Id="rId14" Type="http://schemas.openxmlformats.org/officeDocument/2006/relationships/tags" Target="../tags/tag162.xml"/><Relationship Id="rId30" Type="http://schemas.openxmlformats.org/officeDocument/2006/relationships/tags" Target="../tags/tag178.xml"/><Relationship Id="rId35" Type="http://schemas.openxmlformats.org/officeDocument/2006/relationships/tags" Target="../tags/tag183.xml"/><Relationship Id="rId56" Type="http://schemas.openxmlformats.org/officeDocument/2006/relationships/tags" Target="../tags/tag204.xml"/><Relationship Id="rId77" Type="http://schemas.openxmlformats.org/officeDocument/2006/relationships/tags" Target="../tags/tag225.xml"/><Relationship Id="rId8" Type="http://schemas.openxmlformats.org/officeDocument/2006/relationships/tags" Target="../tags/tag156.xml"/><Relationship Id="rId51" Type="http://schemas.openxmlformats.org/officeDocument/2006/relationships/tags" Target="../tags/tag199.xml"/><Relationship Id="rId72" Type="http://schemas.openxmlformats.org/officeDocument/2006/relationships/tags" Target="../tags/tag220.xml"/><Relationship Id="rId93" Type="http://schemas.openxmlformats.org/officeDocument/2006/relationships/tags" Target="../tags/tag241.xml"/><Relationship Id="rId98" Type="http://schemas.openxmlformats.org/officeDocument/2006/relationships/chart" Target="../charts/chart1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tags" Target="../tags/tag254.xml"/><Relationship Id="rId18" Type="http://schemas.openxmlformats.org/officeDocument/2006/relationships/tags" Target="../tags/tag259.xml"/><Relationship Id="rId3" Type="http://schemas.openxmlformats.org/officeDocument/2006/relationships/tags" Target="../tags/tag244.xml"/><Relationship Id="rId21" Type="http://schemas.openxmlformats.org/officeDocument/2006/relationships/image" Target="../media/image4.emf"/><Relationship Id="rId7" Type="http://schemas.openxmlformats.org/officeDocument/2006/relationships/tags" Target="../tags/tag248.xml"/><Relationship Id="rId12" Type="http://schemas.openxmlformats.org/officeDocument/2006/relationships/tags" Target="../tags/tag253.xml"/><Relationship Id="rId17" Type="http://schemas.openxmlformats.org/officeDocument/2006/relationships/tags" Target="../tags/tag258.xml"/><Relationship Id="rId2" Type="http://schemas.openxmlformats.org/officeDocument/2006/relationships/tags" Target="../tags/tag243.xml"/><Relationship Id="rId16" Type="http://schemas.openxmlformats.org/officeDocument/2006/relationships/tags" Target="../tags/tag257.xml"/><Relationship Id="rId20" Type="http://schemas.openxmlformats.org/officeDocument/2006/relationships/oleObject" Target="../embeddings/oleObject16.bin"/><Relationship Id="rId1" Type="http://schemas.openxmlformats.org/officeDocument/2006/relationships/tags" Target="../tags/tag242.xml"/><Relationship Id="rId6" Type="http://schemas.openxmlformats.org/officeDocument/2006/relationships/tags" Target="../tags/tag247.xml"/><Relationship Id="rId11" Type="http://schemas.openxmlformats.org/officeDocument/2006/relationships/tags" Target="../tags/tag252.xml"/><Relationship Id="rId5" Type="http://schemas.openxmlformats.org/officeDocument/2006/relationships/tags" Target="../tags/tag246.xml"/><Relationship Id="rId15" Type="http://schemas.openxmlformats.org/officeDocument/2006/relationships/tags" Target="../tags/tag256.xml"/><Relationship Id="rId10" Type="http://schemas.openxmlformats.org/officeDocument/2006/relationships/tags" Target="../tags/tag251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tags" Target="../tags/tag255.xml"/><Relationship Id="rId22" Type="http://schemas.openxmlformats.org/officeDocument/2006/relationships/chart" Target="../charts/chart12.xml"/></Relationships>
</file>

<file path=ppt/slides/_rels/slide62.xml.rels><?xml version="1.0" encoding="UTF-8" standalone="yes"?>
<Relationships xmlns="http://schemas.openxmlformats.org/package/2006/relationships"><Relationship Id="rId26" Type="http://schemas.openxmlformats.org/officeDocument/2006/relationships/tags" Target="../tags/tag285.xml"/><Relationship Id="rId21" Type="http://schemas.openxmlformats.org/officeDocument/2006/relationships/tags" Target="../tags/tag280.xml"/><Relationship Id="rId42" Type="http://schemas.openxmlformats.org/officeDocument/2006/relationships/tags" Target="../tags/tag301.xml"/><Relationship Id="rId47" Type="http://schemas.openxmlformats.org/officeDocument/2006/relationships/tags" Target="../tags/tag306.xml"/><Relationship Id="rId63" Type="http://schemas.openxmlformats.org/officeDocument/2006/relationships/tags" Target="../tags/tag322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61.xml"/><Relationship Id="rId16" Type="http://schemas.openxmlformats.org/officeDocument/2006/relationships/tags" Target="../tags/tag275.xml"/><Relationship Id="rId29" Type="http://schemas.openxmlformats.org/officeDocument/2006/relationships/tags" Target="../tags/tag288.xml"/><Relationship Id="rId11" Type="http://schemas.openxmlformats.org/officeDocument/2006/relationships/tags" Target="../tags/tag270.xml"/><Relationship Id="rId24" Type="http://schemas.openxmlformats.org/officeDocument/2006/relationships/tags" Target="../tags/tag283.xml"/><Relationship Id="rId32" Type="http://schemas.openxmlformats.org/officeDocument/2006/relationships/tags" Target="../tags/tag291.xml"/><Relationship Id="rId37" Type="http://schemas.openxmlformats.org/officeDocument/2006/relationships/tags" Target="../tags/tag296.xml"/><Relationship Id="rId40" Type="http://schemas.openxmlformats.org/officeDocument/2006/relationships/tags" Target="../tags/tag299.xml"/><Relationship Id="rId45" Type="http://schemas.openxmlformats.org/officeDocument/2006/relationships/tags" Target="../tags/tag304.xml"/><Relationship Id="rId53" Type="http://schemas.openxmlformats.org/officeDocument/2006/relationships/tags" Target="../tags/tag312.xml"/><Relationship Id="rId58" Type="http://schemas.openxmlformats.org/officeDocument/2006/relationships/tags" Target="../tags/tag317.xml"/><Relationship Id="rId66" Type="http://schemas.openxmlformats.org/officeDocument/2006/relationships/tags" Target="../tags/tag325.xml"/><Relationship Id="rId5" Type="http://schemas.openxmlformats.org/officeDocument/2006/relationships/tags" Target="../tags/tag264.xml"/><Relationship Id="rId61" Type="http://schemas.openxmlformats.org/officeDocument/2006/relationships/tags" Target="../tags/tag320.xml"/><Relationship Id="rId19" Type="http://schemas.openxmlformats.org/officeDocument/2006/relationships/tags" Target="../tags/tag278.xml"/><Relationship Id="rId14" Type="http://schemas.openxmlformats.org/officeDocument/2006/relationships/tags" Target="../tags/tag273.xml"/><Relationship Id="rId22" Type="http://schemas.openxmlformats.org/officeDocument/2006/relationships/tags" Target="../tags/tag281.xml"/><Relationship Id="rId27" Type="http://schemas.openxmlformats.org/officeDocument/2006/relationships/tags" Target="../tags/tag286.xml"/><Relationship Id="rId30" Type="http://schemas.openxmlformats.org/officeDocument/2006/relationships/tags" Target="../tags/tag289.xml"/><Relationship Id="rId35" Type="http://schemas.openxmlformats.org/officeDocument/2006/relationships/tags" Target="../tags/tag294.xml"/><Relationship Id="rId43" Type="http://schemas.openxmlformats.org/officeDocument/2006/relationships/tags" Target="../tags/tag302.xml"/><Relationship Id="rId48" Type="http://schemas.openxmlformats.org/officeDocument/2006/relationships/tags" Target="../tags/tag307.xml"/><Relationship Id="rId56" Type="http://schemas.openxmlformats.org/officeDocument/2006/relationships/tags" Target="../tags/tag315.xml"/><Relationship Id="rId64" Type="http://schemas.openxmlformats.org/officeDocument/2006/relationships/tags" Target="../tags/tag323.xml"/><Relationship Id="rId69" Type="http://schemas.openxmlformats.org/officeDocument/2006/relationships/notesSlide" Target="../notesSlides/notesSlide27.xml"/><Relationship Id="rId8" Type="http://schemas.openxmlformats.org/officeDocument/2006/relationships/tags" Target="../tags/tag267.xml"/><Relationship Id="rId51" Type="http://schemas.openxmlformats.org/officeDocument/2006/relationships/tags" Target="../tags/tag310.xml"/><Relationship Id="rId72" Type="http://schemas.openxmlformats.org/officeDocument/2006/relationships/chart" Target="../charts/chart13.xml"/><Relationship Id="rId3" Type="http://schemas.openxmlformats.org/officeDocument/2006/relationships/tags" Target="../tags/tag262.xml"/><Relationship Id="rId12" Type="http://schemas.openxmlformats.org/officeDocument/2006/relationships/tags" Target="../tags/tag271.xml"/><Relationship Id="rId17" Type="http://schemas.openxmlformats.org/officeDocument/2006/relationships/tags" Target="../tags/tag276.xml"/><Relationship Id="rId25" Type="http://schemas.openxmlformats.org/officeDocument/2006/relationships/tags" Target="../tags/tag284.xml"/><Relationship Id="rId33" Type="http://schemas.openxmlformats.org/officeDocument/2006/relationships/tags" Target="../tags/tag292.xml"/><Relationship Id="rId38" Type="http://schemas.openxmlformats.org/officeDocument/2006/relationships/tags" Target="../tags/tag297.xml"/><Relationship Id="rId46" Type="http://schemas.openxmlformats.org/officeDocument/2006/relationships/tags" Target="../tags/tag305.xml"/><Relationship Id="rId59" Type="http://schemas.openxmlformats.org/officeDocument/2006/relationships/tags" Target="../tags/tag318.xml"/><Relationship Id="rId67" Type="http://schemas.openxmlformats.org/officeDocument/2006/relationships/tags" Target="../tags/tag326.xml"/><Relationship Id="rId20" Type="http://schemas.openxmlformats.org/officeDocument/2006/relationships/tags" Target="../tags/tag279.xml"/><Relationship Id="rId41" Type="http://schemas.openxmlformats.org/officeDocument/2006/relationships/tags" Target="../tags/tag300.xml"/><Relationship Id="rId54" Type="http://schemas.openxmlformats.org/officeDocument/2006/relationships/tags" Target="../tags/tag313.xml"/><Relationship Id="rId62" Type="http://schemas.openxmlformats.org/officeDocument/2006/relationships/tags" Target="../tags/tag321.xml"/><Relationship Id="rId70" Type="http://schemas.openxmlformats.org/officeDocument/2006/relationships/oleObject" Target="../embeddings/oleObject17.bin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5" Type="http://schemas.openxmlformats.org/officeDocument/2006/relationships/tags" Target="../tags/tag274.xml"/><Relationship Id="rId23" Type="http://schemas.openxmlformats.org/officeDocument/2006/relationships/tags" Target="../tags/tag282.xml"/><Relationship Id="rId28" Type="http://schemas.openxmlformats.org/officeDocument/2006/relationships/tags" Target="../tags/tag287.xml"/><Relationship Id="rId36" Type="http://schemas.openxmlformats.org/officeDocument/2006/relationships/tags" Target="../tags/tag295.xml"/><Relationship Id="rId49" Type="http://schemas.openxmlformats.org/officeDocument/2006/relationships/tags" Target="../tags/tag308.xml"/><Relationship Id="rId57" Type="http://schemas.openxmlformats.org/officeDocument/2006/relationships/tags" Target="../tags/tag316.xml"/><Relationship Id="rId10" Type="http://schemas.openxmlformats.org/officeDocument/2006/relationships/tags" Target="../tags/tag269.xml"/><Relationship Id="rId31" Type="http://schemas.openxmlformats.org/officeDocument/2006/relationships/tags" Target="../tags/tag290.xml"/><Relationship Id="rId44" Type="http://schemas.openxmlformats.org/officeDocument/2006/relationships/tags" Target="../tags/tag303.xml"/><Relationship Id="rId52" Type="http://schemas.openxmlformats.org/officeDocument/2006/relationships/tags" Target="../tags/tag311.xml"/><Relationship Id="rId60" Type="http://schemas.openxmlformats.org/officeDocument/2006/relationships/tags" Target="../tags/tag319.xml"/><Relationship Id="rId65" Type="http://schemas.openxmlformats.org/officeDocument/2006/relationships/tags" Target="../tags/tag324.xml"/><Relationship Id="rId73" Type="http://schemas.openxmlformats.org/officeDocument/2006/relationships/chart" Target="../charts/chart14.xml"/><Relationship Id="rId4" Type="http://schemas.openxmlformats.org/officeDocument/2006/relationships/tags" Target="../tags/tag263.xml"/><Relationship Id="rId9" Type="http://schemas.openxmlformats.org/officeDocument/2006/relationships/tags" Target="../tags/tag268.xml"/><Relationship Id="rId13" Type="http://schemas.openxmlformats.org/officeDocument/2006/relationships/tags" Target="../tags/tag272.xml"/><Relationship Id="rId18" Type="http://schemas.openxmlformats.org/officeDocument/2006/relationships/tags" Target="../tags/tag277.xml"/><Relationship Id="rId39" Type="http://schemas.openxmlformats.org/officeDocument/2006/relationships/tags" Target="../tags/tag298.xml"/><Relationship Id="rId34" Type="http://schemas.openxmlformats.org/officeDocument/2006/relationships/tags" Target="../tags/tag293.xml"/><Relationship Id="rId50" Type="http://schemas.openxmlformats.org/officeDocument/2006/relationships/tags" Target="../tags/tag309.xml"/><Relationship Id="rId55" Type="http://schemas.openxmlformats.org/officeDocument/2006/relationships/tags" Target="../tags/tag314.xml"/><Relationship Id="rId7" Type="http://schemas.openxmlformats.org/officeDocument/2006/relationships/tags" Target="../tags/tag266.xml"/><Relationship Id="rId71" Type="http://schemas.openxmlformats.org/officeDocument/2006/relationships/image" Target="../media/image4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8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4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e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en-US" sz="5000" b="1">
                <a:solidFill>
                  <a:srgbClr val="FFFFFF"/>
                </a:solidFill>
                <a:latin typeface="Arial"/>
              </a:rPr>
              <a:t>Q3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en-US">
                <a:solidFill>
                  <a:schemeClr val="dk1"/>
                </a:solidFill>
                <a:latin typeface="+mn-lt"/>
                <a:sym typeface="Montserrat"/>
              </a:rPr>
              <a:t>on track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14381"/>
              </p:ext>
            </p:extLst>
          </p:nvPr>
        </p:nvGraphicFramePr>
        <p:xfrm>
          <a:off x="364174" y="88660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472437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</a:t>
            </a:r>
            <a:r>
              <a:rPr lang="en-US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(3 430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-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com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85725" marR="0" lvl="2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>
                <a:solidFill>
                  <a:srgbClr val="FFFFFF"/>
                </a:solidFill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>
                <a:solidFill>
                  <a:srgbClr val="FFFFFF"/>
                </a:solidFill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2533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6045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КПЭ на 2027 год – предложение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от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</a:t>
            </a:r>
            <a:r>
              <a:rPr lang="ru-RU">
                <a:solidFill>
                  <a:srgbClr val="6E6E6E"/>
                </a:solidFill>
              </a:rPr>
              <a:t>В</a:t>
            </a:r>
            <a:r>
              <a:rPr lang="ru-RU" sz="900">
                <a:solidFill>
                  <a:srgbClr val="6E6E6E"/>
                </a:solidFill>
              </a:rPr>
              <a:t>нутренняя оценка рынка Magnit ADS. Все финансовые показатели — млн руб. без НДС, сравнение с FC8+4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Четыре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(DAC +3 млн, до 31,1 млн), полный год нового прайса и in-store оборудования 2026 г.,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351900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соответствует </a:t>
            </a:r>
            <a:r>
              <a:rPr lang="en-US"/>
              <a:t>top down </a:t>
            </a:r>
            <a:r>
              <a:rPr lang="ru-RU"/>
              <a:t>целям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вне КУ (непоставщики и бренд бюджеты) - 2 272: рост </a:t>
            </a:r>
            <a:r>
              <a:rPr lang="en-US" sz="1400" b="1">
                <a:solidFill>
                  <a:srgbClr val="000000"/>
                </a:solidFill>
              </a:rPr>
              <a:t>vs top down </a:t>
            </a:r>
            <a:r>
              <a:rPr lang="ru-RU" sz="1400">
                <a:solidFill>
                  <a:srgbClr val="000000"/>
                </a:solidFill>
              </a:rPr>
              <a:t>за счёт запуска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r>
              <a:rPr lang="ru-RU" sz="1400">
                <a:solidFill>
                  <a:srgbClr val="000000"/>
                </a:solidFill>
              </a:rPr>
              <a:t> (+272 млн руб.) 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1 772 млн руб.: </a:t>
            </a:r>
            <a:r>
              <a:rPr lang="ru-RU" sz="14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EBITDA 500 млн руб.: </a:t>
            </a:r>
            <a:r>
              <a:rPr lang="ru-RU" sz="14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CAPEX 1 151 млн руб.: </a:t>
            </a:r>
            <a:r>
              <a:rPr lang="ru-RU" sz="1400">
                <a:solidFill>
                  <a:srgbClr val="000000"/>
                </a:solidFill>
              </a:rPr>
              <a:t>на 92 ниже стратегии и на 149 ниже таргета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4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44343" y="6591300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Net Revenue</a:t>
            </a:r>
            <a:r>
              <a:rPr lang="ru-RU"/>
              <a:t> 12,6 млрд руб. (+33% </a:t>
            </a:r>
            <a:r>
              <a:rPr lang="en-US"/>
              <a:t>vs 2026).</a:t>
            </a:r>
            <a:r>
              <a:rPr lang="ru-RU"/>
              <a:t> Внешняя выручка (непоставщики, бренд бюджеты) составит 2,3 млрд руб.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Net </a:t>
            </a:r>
            <a:r>
              <a:rPr lang="en-US" sz="1400" b="1">
                <a:solidFill>
                  <a:srgbClr val="000000"/>
                </a:solidFill>
              </a:rPr>
              <a:t>Revenue</a:t>
            </a:r>
            <a:r>
              <a:rPr lang="ru-RU" sz="1400" b="1">
                <a:solidFill>
                  <a:srgbClr val="000000"/>
                </a:solidFill>
              </a:rPr>
              <a:t> +3 152 (+33%): COGS растёт на 1 091</a:t>
            </a:r>
            <a:r>
              <a:rPr lang="ru-RU" sz="140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72% прироста — APP и In-</a:t>
            </a:r>
            <a:r>
              <a:rPr lang="en-US" sz="1400" b="1">
                <a:solidFill>
                  <a:srgbClr val="000000"/>
                </a:solidFill>
              </a:rPr>
              <a:t>store</a:t>
            </a:r>
            <a:r>
              <a:rPr lang="ru-RU" sz="1400" b="1">
                <a:solidFill>
                  <a:srgbClr val="000000"/>
                </a:solidFill>
              </a:rPr>
              <a:t>: </a:t>
            </a:r>
            <a:r>
              <a:rPr lang="ru-RU" sz="1400">
                <a:solidFill>
                  <a:srgbClr val="000000"/>
                </a:solidFill>
              </a:rPr>
              <a:t>полный год нового прайса, рост DAC на 3 млн (до 31,1 млн </a:t>
            </a:r>
            <a:r>
              <a:rPr lang="en-US" sz="1400">
                <a:solidFill>
                  <a:srgbClr val="000000"/>
                </a:solidFill>
              </a:rPr>
              <a:t>DAC)</a:t>
            </a:r>
            <a:r>
              <a:rPr lang="ru-RU" sz="1400">
                <a:solidFill>
                  <a:srgbClr val="000000"/>
                </a:solidFill>
              </a:rPr>
              <a:t> и полный год оборудования, введённого </a:t>
            </a:r>
            <a:br>
              <a:rPr lang="ru-RU" sz="1400" dirty="0">
                <a:solidFill>
                  <a:srgbClr val="000000"/>
                </a:solidFill>
              </a:rPr>
            </a:br>
            <a:r>
              <a:rPr lang="ru-RU" sz="1400">
                <a:solidFill>
                  <a:srgbClr val="000000"/>
                </a:solidFill>
              </a:rPr>
              <a:t>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4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149167311"/>
              </p:ext>
            </p:extLst>
          </p:nvPr>
        </p:nvGraphicFramePr>
        <p:xfrm>
          <a:off x="280988" y="1587500"/>
          <a:ext cx="7980362" cy="2416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5164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5164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5164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5164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5164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5164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5164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5164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5164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096603979"/>
              </p:ext>
            </p:extLst>
          </p:nvPr>
        </p:nvGraphicFramePr>
        <p:xfrm>
          <a:off x="1171574" y="4258823"/>
          <a:ext cx="6330951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1378062" y="5442134"/>
            <a:ext cx="752363" cy="55962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Внешние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деньги</a:t>
            </a:r>
            <a:br>
              <a:rPr lang="ru-RU" sz="1200" dirty="0">
                <a:solidFill>
                  <a:schemeClr val="tx1"/>
                </a:solidFill>
              </a:rPr>
            </a:br>
            <a:r>
              <a:rPr lang="ru-RU" sz="1200">
                <a:solidFill>
                  <a:schemeClr val="tx1"/>
                </a:solidFill>
              </a:rPr>
              <a:t>вне КУ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7238135" y="4990276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01302" y="4990276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9707" y="5442134"/>
            <a:ext cx="285967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Управленческий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</a:t>
            </a:r>
            <a:br>
              <a:rPr lang="ru-RU" sz="1600" b="1" dirty="0">
                <a:solidFill>
                  <a:srgbClr val="000000"/>
                </a:solidFill>
              </a:rPr>
            </a:br>
            <a:r>
              <a:rPr lang="ru-RU" sz="1600" b="1">
                <a:solidFill>
                  <a:srgbClr val="000000"/>
                </a:solidFill>
              </a:rPr>
              <a:t>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APP +1 501: </a:t>
            </a:r>
            <a:r>
              <a:rPr lang="ru-RU" sz="12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200">
                <a:solidFill>
                  <a:srgbClr val="000000"/>
                </a:solidFill>
              </a:rPr>
              <a:t>DAC)</a:t>
            </a: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+1 573: </a:t>
            </a:r>
            <a:r>
              <a:rPr lang="ru-RU" sz="12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DMP + Online +613: </a:t>
            </a:r>
            <a:r>
              <a:rPr lang="ru-RU" sz="1200">
                <a:solidFill>
                  <a:srgbClr val="000000"/>
                </a:solidFill>
              </a:rPr>
              <a:t>две трети прироста — новые площадки (</a:t>
            </a:r>
            <a:r>
              <a:rPr lang="en-US" sz="1200">
                <a:solidFill>
                  <a:srgbClr val="000000"/>
                </a:solidFill>
              </a:rPr>
              <a:t>SmartTV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ru-RU" sz="1200">
                <a:solidFill>
                  <a:srgbClr val="000000"/>
                </a:solidFill>
              </a:rPr>
              <a:t>Авито</a:t>
            </a:r>
            <a:r>
              <a:rPr lang="ru-RU" sz="1200">
                <a:solidFill>
                  <a:srgbClr val="000000"/>
                </a:solidFill>
              </a:rPr>
              <a:t>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Новые направления: </a:t>
            </a:r>
            <a:r>
              <a:rPr lang="ru-RU" sz="1200">
                <a:solidFill>
                  <a:srgbClr val="000000"/>
                </a:solidFill>
              </a:rPr>
              <a:t>RMN 850 (+258) 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COGS (маркетинг) 1 971: </a:t>
            </a:r>
            <a:r>
              <a:rPr lang="ru-RU" sz="12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1 436: </a:t>
            </a:r>
            <a:r>
              <a:rPr lang="ru-RU" sz="1200">
                <a:solidFill>
                  <a:srgbClr val="000000"/>
                </a:solidFill>
              </a:rPr>
              <a:t>ФОТ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1 370 + команда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en-US">
                <a:solidFill>
                  <a:srgbClr val="6E6E6E"/>
                </a:solidFill>
              </a:rPr>
              <a:t>E</a:t>
            </a:r>
            <a:r>
              <a:rPr lang="ru-RU">
                <a:solidFill>
                  <a:srgbClr val="6E6E6E"/>
                </a:solidFill>
              </a:rPr>
              <a:t> — прогноз. Источник: Внутренняя оценка рынка Magnit ADS,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</a:t>
            </a:r>
            <a:r>
              <a:rPr lang="en-US" sz="1400" b="1">
                <a:solidFill>
                  <a:srgbClr val="000000"/>
                </a:solidFill>
              </a:rPr>
              <a:t>traditional</a:t>
            </a:r>
            <a:r>
              <a:rPr lang="ru-RU" sz="1400" b="1">
                <a:solidFill>
                  <a:srgbClr val="000000"/>
                </a:solidFill>
              </a:rPr>
              <a:t> </a:t>
            </a:r>
            <a:r>
              <a:rPr lang="en-US" sz="1400" b="1">
                <a:solidFill>
                  <a:srgbClr val="000000"/>
                </a:solidFill>
              </a:rPr>
              <a:t>digital</a:t>
            </a:r>
            <a:r>
              <a:rPr lang="ru-RU" sz="1400" b="1">
                <a:solidFill>
                  <a:srgbClr val="000000"/>
                </a:solidFill>
              </a:rPr>
              <a:t>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</a:t>
            </a: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829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инфлюенс-маркетинг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</a:t>
            </a:r>
            <a:r>
              <a:rPr lang="en-US">
                <a:solidFill>
                  <a:srgbClr val="6E6E6E"/>
                </a:solidFill>
              </a:rPr>
              <a:t>Ads Market Calc</a:t>
            </a:r>
            <a:r>
              <a:rPr lang="ru-RU">
                <a:solidFill>
                  <a:srgbClr val="6E6E6E"/>
                </a:solidFill>
              </a:rPr>
              <a:t>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31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31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hink-cell data - do not delete" hidden="1">
            <a:extLst>
              <a:ext uri="{FF2B5EF4-FFF2-40B4-BE49-F238E27FC236}">
                <a16:creationId xmlns:a16="http://schemas.microsoft.com/office/drawing/2014/main" id="{29DD0553-C2CC-A7E6-DEF8-10513300D2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DD0553-C2CC-A7E6-DEF8-10513300D2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7220712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WPP Media через Sostav (2025), Авито Реклама и Soloway (сентябрь 2026), НРА, внутреннее исследование Magnit ADS. Гипотезы — экспертная оценка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 смещаются к транзакции: у места покупки растет роль перформанса, в начале пути — охватных медиа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1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1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1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1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4216400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4380991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4380991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4380991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4380991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8063992" y="4242816"/>
            <a:ext cx="375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8228583" y="4334256"/>
            <a:ext cx="3314397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8228583" y="4608576"/>
            <a:ext cx="3314397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8228583" y="5219700"/>
            <a:ext cx="3314397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8228583" y="5292852"/>
            <a:ext cx="3314397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13407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</a:t>
            </a:r>
            <a:r>
              <a:rPr lang="en-US" sz="900">
                <a:solidFill>
                  <a:srgbClr val="6E6E6E"/>
                </a:solidFill>
              </a:rPr>
              <a:t>AdIndex</a:t>
            </a:r>
            <a:r>
              <a:rPr lang="ru-RU" sz="900">
                <a:solidFill>
                  <a:srgbClr val="6E6E6E"/>
                </a:solidFill>
              </a:rPr>
              <a:t>, </a:t>
            </a:r>
            <a:r>
              <a:rPr lang="en-US" sz="900">
                <a:solidFill>
                  <a:srgbClr val="6E6E6E"/>
                </a:solidFill>
              </a:rPr>
              <a:t>Oborot.ru</a:t>
            </a:r>
            <a:r>
              <a:rPr lang="ru-RU" sz="900">
                <a:solidFill>
                  <a:srgbClr val="6E6E6E"/>
                </a:solidFill>
              </a:rPr>
              <a:t>), дайджест </a:t>
            </a:r>
            <a:r>
              <a:rPr lang="en-US" sz="900">
                <a:solidFill>
                  <a:srgbClr val="6E6E6E"/>
                </a:solidFill>
              </a:rPr>
              <a:t>E</a:t>
            </a:r>
            <a:r>
              <a:rPr lang="ru-RU" sz="900">
                <a:solidFill>
                  <a:srgbClr val="6E6E6E"/>
                </a:solidFill>
              </a:rPr>
              <a:t>-Retail Media АРИР за I кв. 2026, </a:t>
            </a:r>
            <a:r>
              <a:rPr lang="en-US" sz="900">
                <a:solidFill>
                  <a:srgbClr val="6E6E6E"/>
                </a:solidFill>
              </a:rPr>
              <a:t>Sostav</a:t>
            </a:r>
            <a:r>
              <a:rPr lang="ru-RU" sz="900">
                <a:solidFill>
                  <a:srgbClr val="6E6E6E"/>
                </a:solidFill>
              </a:rPr>
              <a:t>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44015"/>
              </p:ext>
            </p:extLst>
          </p:nvPr>
        </p:nvGraphicFramePr>
        <p:xfrm>
          <a:off x="368299" y="1037230"/>
          <a:ext cx="11459526" cy="5012970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kumimoji="0" sz="12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Сбер (Купер,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latin typeface="Arial"/>
              </a:rPr>
              <a:t>BU2027 Overview</a:t>
            </a: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сезонность, планы направлений и пререквизиты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+3 млн (до 31,1 млн)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41751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31,1 млн на конец 2027 г. (+3 млн)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 GMV (FoodTech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096000"/>
            <a:ext cx="9277350" cy="560000"/>
          </a:xfrm>
        </p:spPr>
        <p:txBody>
          <a:bodyPr/>
          <a:lstStyle/>
          <a:p>
            <a:r>
              <a:rPr lang="ru-RU" sz="800">
                <a:solidFill>
                  <a:srgbClr val="6E6E6E"/>
                </a:solidFill>
              </a:rPr>
              <a:t>млн руб. без НДС; 2026 — факт 8 мес. + прогноз 4 мес. 1. Показы рекламных CPM-плейсментов, проданные AdTech, без квоты внутренних заказчиков. 2. Взвешен по структуре показов, по прайсу до 09.2026. 3. Выручка / объём: в 2026 г. новый прайс действовал 4 мес. (сен.–дек.), поэтому средняя цена 2026 г. выше прайса до 09.2026 и её рост к 2027 г. ниже, чем по прайсу; для перформанса — с учётом сезонности. 4. Выручка по прайсу с учётом сезонных коэффициентов цены по месяцам. 5. В 2027 г. — с новыми форматами: приоритетный вывод в категории, брендированная категория, подборка «Покупайте с выгодой»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1000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CPM по прайсу, руб.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CPM, руб.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 по прайсу,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Средняя цена за день, тыс. руб.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  <a:r>
                        <a:rPr lang="ru-RU" sz="1100" b="1" baseline="300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по прайсу, тыс. руб.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с сезонностью, тыс. руб.</a:t>
                      </a:r>
                      <a:r>
                        <a:rPr lang="ru-RU" baseline="30000" sz="11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5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</a:t>
            </a:r>
            <a:r>
              <a:rPr lang="en-US" sz="1100">
                <a:solidFill>
                  <a:srgbClr val="000000"/>
                </a:solidFill>
              </a:rPr>
              <a:t>DAC </a:t>
            </a:r>
            <a:r>
              <a:rPr lang="ru-RU" sz="1100">
                <a:solidFill>
                  <a:srgbClr val="000000"/>
                </a:solidFill>
              </a:rPr>
              <a:t>на 3 млн в 2027 году (до 31,1 млн),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показы AdTech растут медленнее аудитории (+8%), а основной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Как считаем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Выручка = объём × средняя цена³: CPM +8% × +10%, сторис +18% × +25%, перформанс +12% × +15%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 2026,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 2027,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 дохода на устр.,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28 800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30 240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30 214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24 171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14 350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11 480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240 000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7 136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7 136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</a:t>
            </a:r>
            <a:r>
              <a:rPr lang="en-US" sz="1200">
                <a:solidFill>
                  <a:srgbClr val="000000"/>
                </a:solidFill>
              </a:rPr>
              <a:t>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</a:t>
            </a:r>
            <a:r>
              <a:rPr lang="en-US" sz="1200">
                <a:solidFill>
                  <a:srgbClr val="000000"/>
                </a:solidFill>
              </a:rPr>
              <a:t>Cubic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en-US" sz="1200">
                <a:solidFill>
                  <a:srgbClr val="000000"/>
                </a:solidFill>
              </a:rPr>
              <a:t>InAppStory</a:t>
            </a:r>
            <a:r>
              <a:rPr lang="ru-RU" sz="1200">
                <a:solidFill>
                  <a:srgbClr val="000000"/>
                </a:solidFill>
              </a:rPr>
              <a:t>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09DB9-1FB1-3DAD-4998-AE89D829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82BCC1A-CF7F-5BD0-835E-1A5ED5861E8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82BCC1A-CF7F-5BD0-835E-1A5ED5861E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F97CC15E-D697-13C1-9DA4-4177E17D94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1B1EF871-FB30-468F-EFB0-7FBAD802277A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Продукт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8540E57A-ED51-8929-FED3-80D4514385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Развитие форматов онлайн-инвентаря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1402751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7809-9F21-486C-D811-64AA4DE96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DE5692B-A644-9C53-1EEF-8D52BBB27A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780" y="224059"/>
            <a:ext cx="11129749" cy="908344"/>
          </a:xfrm>
        </p:spPr>
        <p:txBody>
          <a:bodyPr/>
          <a:lstStyle/>
          <a:p>
            <a:r>
              <a:rPr lang="en-US"/>
              <a:t>ADTECH</a:t>
            </a:r>
            <a:r>
              <a:rPr lang="ru-RU"/>
              <a:t> это функция, которая максимизирует уровень </a:t>
            </a:r>
            <a:br>
              <a:rPr lang="ru-RU" dirty="0"/>
            </a:br>
            <a:r>
              <a:rPr lang="ru-RU"/>
              <a:t>рекламной монетизации группы </a:t>
            </a:r>
          </a:p>
        </p:txBody>
      </p:sp>
      <p:sp>
        <p:nvSpPr>
          <p:cNvPr id="8" name="Google Shape;47;p5">
            <a:extLst>
              <a:ext uri="{FF2B5EF4-FFF2-40B4-BE49-F238E27FC236}">
                <a16:creationId xmlns:a16="http://schemas.microsoft.com/office/drawing/2014/main" id="{C1410773-F401-9E4B-34FA-EE82825D6785}"/>
              </a:ext>
            </a:extLst>
          </p:cNvPr>
          <p:cNvSpPr/>
          <p:nvPr/>
        </p:nvSpPr>
        <p:spPr>
          <a:xfrm>
            <a:off x="271597" y="1092647"/>
            <a:ext cx="10921105" cy="69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3000"/>
              <a:buFont typeface="Arial"/>
              <a:buNone/>
            </a:pPr>
            <a:r>
              <a:rPr lang="ru-RU">
                <a:solidFill>
                  <a:srgbClr val="442E28"/>
                </a:solidFill>
                <a:latin typeface="Montserrat" pitchFamily="2" charset="0"/>
                <a:ea typeface="Calibri"/>
                <a:cs typeface="Arial"/>
                <a:sym typeface="Arial"/>
              </a:rPr>
              <a:t>Мы раскрываем рекламный потенциал форматов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3000"/>
              <a:buFont typeface="Arial"/>
              <a:buNone/>
            </a:pPr>
            <a:r>
              <a:rPr lang="ru-RU">
                <a:solidFill>
                  <a:srgbClr val="442E28"/>
                </a:solidFill>
                <a:latin typeface="Montserrat" pitchFamily="2" charset="0"/>
                <a:ea typeface="Calibri"/>
                <a:cs typeface="Arial"/>
                <a:sym typeface="Arial"/>
              </a:rPr>
              <a:t>и зависим от роста аудитории экосистемы и покрытия пользовательских сценариев 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C27094E-A3B1-2F1D-DF5B-1F97507504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5"/>
          <a:stretch>
            <a:fillRect/>
          </a:stretch>
        </p:blipFill>
        <p:spPr bwMode="auto">
          <a:xfrm>
            <a:off x="1047045" y="1825255"/>
            <a:ext cx="9423218" cy="430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BF5053C-20DA-E544-065C-A73E4D41EAD9}"/>
              </a:ext>
            </a:extLst>
          </p:cNvPr>
          <p:cNvSpPr/>
          <p:nvPr/>
        </p:nvSpPr>
        <p:spPr>
          <a:xfrm>
            <a:off x="7287823" y="4911478"/>
            <a:ext cx="3520317" cy="14720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3862C71-A94A-4D86-4AED-999CF5AB52C1}"/>
              </a:ext>
            </a:extLst>
          </p:cNvPr>
          <p:cNvSpPr/>
          <p:nvPr/>
        </p:nvSpPr>
        <p:spPr>
          <a:xfrm>
            <a:off x="4449564" y="2931818"/>
            <a:ext cx="2565169" cy="886348"/>
          </a:xfrm>
          <a:prstGeom prst="rect">
            <a:avLst/>
          </a:prstGeom>
          <a:solidFill>
            <a:srgbClr val="ED0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>
                <a:solidFill>
                  <a:schemeClr val="bg1"/>
                </a:solidFill>
                <a:latin typeface="Montserrat" pitchFamily="2" charset="0"/>
                <a:ea typeface="Arial"/>
                <a:cs typeface="Arial"/>
                <a:sym typeface="Arial"/>
              </a:rPr>
              <a:t>Драйверы</a:t>
            </a:r>
            <a:r>
              <a:rPr lang="en-US" sz="2000" b="1">
                <a:solidFill>
                  <a:schemeClr val="bg1"/>
                </a:solidFill>
                <a:latin typeface="Montserrat" pitchFamily="2" charset="0"/>
                <a:ea typeface="Arial"/>
                <a:cs typeface="Arial"/>
                <a:sym typeface="Arial"/>
              </a:rPr>
              <a:t> ADTECH</a:t>
            </a:r>
            <a:endParaRPr lang="ru-RU" sz="2000" b="1">
              <a:solidFill>
                <a:schemeClr val="bg1"/>
              </a:solidFill>
              <a:latin typeface="Montserrat" pitchFamily="2" charset="0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08;p14">
            <a:extLst>
              <a:ext uri="{FF2B5EF4-FFF2-40B4-BE49-F238E27FC236}">
                <a16:creationId xmlns:a16="http://schemas.microsoft.com/office/drawing/2014/main" id="{AA3DD2A6-0881-B67B-BEA1-3B8226C7C773}"/>
              </a:ext>
            </a:extLst>
          </p:cNvPr>
          <p:cNvSpPr/>
          <p:nvPr/>
        </p:nvSpPr>
        <p:spPr>
          <a:xfrm>
            <a:off x="870865" y="1556324"/>
            <a:ext cx="777721" cy="145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527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C8261-6B9D-2892-08D6-18E3F7FD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BCF8FF6-C7C0-9B56-0CAD-6AAFAAF89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988" y="1750785"/>
            <a:ext cx="11029541" cy="908344"/>
          </a:xfrm>
        </p:spPr>
        <p:txBody>
          <a:bodyPr/>
          <a:lstStyle/>
          <a:p>
            <a:r>
              <a:rPr lang="ru-RU" sz="2800" b="0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Эффективная монетизация =</a:t>
            </a:r>
            <a:endParaRPr lang="ru-RU" sz="2800" b="0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EF3498CE-E219-919D-22F8-B74F488EB86D}"/>
              </a:ext>
            </a:extLst>
          </p:cNvPr>
          <p:cNvSpPr/>
          <p:nvPr/>
        </p:nvSpPr>
        <p:spPr>
          <a:xfrm>
            <a:off x="868470" y="2659129"/>
            <a:ext cx="4611757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Рекламные технологии</a:t>
            </a:r>
            <a:endParaRPr lang="ru-RU" sz="1100">
              <a:latin typeface="Montserrat" pitchFamily="2" charset="0"/>
            </a:endParaRPr>
          </a:p>
        </p:txBody>
      </p:sp>
      <p:sp>
        <p:nvSpPr>
          <p:cNvPr id="9" name="Текст 1">
            <a:extLst>
              <a:ext uri="{FF2B5EF4-FFF2-40B4-BE49-F238E27FC236}">
                <a16:creationId xmlns:a16="http://schemas.microsoft.com/office/drawing/2014/main" id="{49F35F54-0DDE-BA45-7193-0C748DA35996}"/>
              </a:ext>
            </a:extLst>
          </p:cNvPr>
          <p:cNvSpPr txBox="1">
            <a:spLocks/>
          </p:cNvSpPr>
          <p:nvPr/>
        </p:nvSpPr>
        <p:spPr>
          <a:xfrm>
            <a:off x="5414959" y="3682163"/>
            <a:ext cx="1077613" cy="90834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E30613"/>
                </a:solidFill>
                <a:latin typeface="Montserrat Medium" panose="00000600000000000000" pitchFamily="2" charset="-52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30613"/>
                </a:solidFill>
                <a:latin typeface="Montserrat" panose="000005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2C984E2-98AB-D41E-4214-35D0833C07A7}"/>
              </a:ext>
            </a:extLst>
          </p:cNvPr>
          <p:cNvSpPr/>
          <p:nvPr/>
        </p:nvSpPr>
        <p:spPr>
          <a:xfrm>
            <a:off x="6492572" y="2659129"/>
            <a:ext cx="4611757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>
                <a:solidFill>
                  <a:schemeClr val="tx1"/>
                </a:solidFill>
                <a:latin typeface="Montserrat" pitchFamily="2" charset="0"/>
                <a:ea typeface="Arial"/>
                <a:cs typeface="Arial"/>
                <a:sym typeface="Arial"/>
              </a:rPr>
              <a:t>Рост трафика и покрытия пользовательских сценариев </a:t>
            </a:r>
            <a:endParaRPr lang="ru-RU" sz="1100">
              <a:solidFill>
                <a:schemeClr val="tx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9456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78FC720-BB47-4423-02F3-CC7E8E21A9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8FC720-BB47-4423-02F3-CC7E8E21A9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D7D2EA3-287E-A3C5-7B05-81B36404DE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780" y="224059"/>
            <a:ext cx="10418801" cy="908344"/>
          </a:xfrm>
        </p:spPr>
        <p:txBody>
          <a:bodyPr/>
          <a:lstStyle/>
          <a:p>
            <a:r>
              <a:rPr lang="ru-RU"/>
              <a:t>Рекламные технологии: мы объединили все инструменты в общий технологический и коммерческий контур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23E040A9-3948-0631-DE2F-76DBF8D7118B}"/>
              </a:ext>
            </a:extLst>
          </p:cNvPr>
          <p:cNvSpPr/>
          <p:nvPr/>
        </p:nvSpPr>
        <p:spPr>
          <a:xfrm>
            <a:off x="609600" y="3760952"/>
            <a:ext cx="5383693" cy="2352008"/>
          </a:xfrm>
          <a:prstGeom prst="roundRect">
            <a:avLst>
              <a:gd name="adj" fmla="val 7328"/>
            </a:avLst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100">
              <a:latin typeface="Montserrat" pitchFamily="2" charset="0"/>
            </a:endParaRPr>
          </a:p>
        </p:txBody>
      </p:sp>
      <p:pic>
        <p:nvPicPr>
          <p:cNvPr id="5" name="Google Shape;202;p14" descr="preencoded.png">
            <a:extLst>
              <a:ext uri="{FF2B5EF4-FFF2-40B4-BE49-F238E27FC236}">
                <a16:creationId xmlns:a16="http://schemas.microsoft.com/office/drawing/2014/main" id="{40A2E10E-F069-F9C5-1990-07D40F89558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3;p14" descr="preencoded.png">
            <a:extLst>
              <a:ext uri="{FF2B5EF4-FFF2-40B4-BE49-F238E27FC236}">
                <a16:creationId xmlns:a16="http://schemas.microsoft.com/office/drawing/2014/main" id="{0EF1AA88-4161-8E9D-DB9C-9F6CC735E3F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79467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4;p14" descr="preencoded.png">
            <a:extLst>
              <a:ext uri="{FF2B5EF4-FFF2-40B4-BE49-F238E27FC236}">
                <a16:creationId xmlns:a16="http://schemas.microsoft.com/office/drawing/2014/main" id="{C4B7B0D7-ACEA-5134-8B6D-08509C02B75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49335" y="1288366"/>
            <a:ext cx="3548759" cy="23520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05;p14" descr="preencoded.png">
            <a:extLst>
              <a:ext uri="{FF2B5EF4-FFF2-40B4-BE49-F238E27FC236}">
                <a16:creationId xmlns:a16="http://schemas.microsoft.com/office/drawing/2014/main" id="{4E672D32-A5E1-8591-BBB1-9AD1A95F9EFF}"/>
              </a:ext>
            </a:extLst>
          </p:cNvPr>
          <p:cNvSpPr/>
          <p:nvPr/>
        </p:nvSpPr>
        <p:spPr>
          <a:xfrm>
            <a:off x="609600" y="3760952"/>
            <a:ext cx="5383693" cy="235232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 sz="1100">
              <a:latin typeface="Montserrat" pitchFamily="2" charset="0"/>
            </a:endParaRPr>
          </a:p>
        </p:txBody>
      </p:sp>
      <p:pic>
        <p:nvPicPr>
          <p:cNvPr id="9" name="Google Shape;206;p14" descr="preencoded.png">
            <a:extLst>
              <a:ext uri="{FF2B5EF4-FFF2-40B4-BE49-F238E27FC236}">
                <a16:creationId xmlns:a16="http://schemas.microsoft.com/office/drawing/2014/main" id="{9063655A-9031-436B-867C-0B28A682BDB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14401" y="3760952"/>
            <a:ext cx="5383693" cy="235232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8;p14">
            <a:extLst>
              <a:ext uri="{FF2B5EF4-FFF2-40B4-BE49-F238E27FC236}">
                <a16:creationId xmlns:a16="http://schemas.microsoft.com/office/drawing/2014/main" id="{F2A07F91-7869-3C39-35B5-744435387BB8}"/>
              </a:ext>
            </a:extLst>
          </p:cNvPr>
          <p:cNvSpPr/>
          <p:nvPr/>
        </p:nvSpPr>
        <p:spPr>
          <a:xfrm>
            <a:off x="870865" y="1556324"/>
            <a:ext cx="777721" cy="145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en-US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APP</a:t>
            </a:r>
            <a:endParaRPr lang="en-US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9;p14">
            <a:extLst>
              <a:ext uri="{FF2B5EF4-FFF2-40B4-BE49-F238E27FC236}">
                <a16:creationId xmlns:a16="http://schemas.microsoft.com/office/drawing/2014/main" id="{AE5024ED-9CE7-8329-9A0A-9CFEC6E89E3E}"/>
              </a:ext>
            </a:extLst>
          </p:cNvPr>
          <p:cNvSpPr/>
          <p:nvPr/>
        </p:nvSpPr>
        <p:spPr>
          <a:xfrm>
            <a:off x="870865" y="1920880"/>
            <a:ext cx="1263795" cy="1288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Баннеры, stories, полки, карточки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и другие форматы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0;p14">
            <a:extLst>
              <a:ext uri="{FF2B5EF4-FFF2-40B4-BE49-F238E27FC236}">
                <a16:creationId xmlns:a16="http://schemas.microsoft.com/office/drawing/2014/main" id="{8A24A933-8D06-023A-EFDD-FAEE12452FC2}"/>
              </a:ext>
            </a:extLst>
          </p:cNvPr>
          <p:cNvSpPr/>
          <p:nvPr/>
        </p:nvSpPr>
        <p:spPr>
          <a:xfrm rot="21561562">
            <a:off x="6702905" y="2327794"/>
            <a:ext cx="233664" cy="2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27"/>
              <a:buFont typeface="Arial"/>
              <a:buNone/>
            </a:pPr>
            <a:r>
              <a:rPr lang="ru-RU" sz="100" b="1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Скидка 50% на комбо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11;p14">
            <a:extLst>
              <a:ext uri="{FF2B5EF4-FFF2-40B4-BE49-F238E27FC236}">
                <a16:creationId xmlns:a16="http://schemas.microsoft.com/office/drawing/2014/main" id="{306B07F0-A3A3-F78C-FED8-99651C913449}"/>
              </a:ext>
            </a:extLst>
          </p:cNvPr>
          <p:cNvSpPr/>
          <p:nvPr/>
        </p:nvSpPr>
        <p:spPr>
          <a:xfrm rot="21561562">
            <a:off x="6703192" y="2356497"/>
            <a:ext cx="217684" cy="1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169"/>
              <a:buFont typeface="Arial"/>
              <a:buNone/>
            </a:pPr>
            <a:r>
              <a:rPr lang="ru-RU" sz="1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 магазинах Магнит у дома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2;p14">
            <a:extLst>
              <a:ext uri="{FF2B5EF4-FFF2-40B4-BE49-F238E27FC236}">
                <a16:creationId xmlns:a16="http://schemas.microsoft.com/office/drawing/2014/main" id="{12771769-BEAA-14A8-746C-1D6F8AB1E908}"/>
              </a:ext>
            </a:extLst>
          </p:cNvPr>
          <p:cNvSpPr/>
          <p:nvPr/>
        </p:nvSpPr>
        <p:spPr>
          <a:xfrm rot="21561562">
            <a:off x="6709958" y="2382418"/>
            <a:ext cx="78987" cy="1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>
              <a:lnSpc>
                <a:spcPct val="133742"/>
              </a:lnSpc>
              <a:spcBef>
                <a:spcPts val="0"/>
              </a:spcBef>
              <a:spcAft>
                <a:spcPts val="0"/>
              </a:spcAft>
              <a:buClr>
                <a:srgbClr val="FA007E"/>
              </a:buClr>
              <a:buSzPts val="163"/>
              <a:buFont typeface="Arial"/>
              <a:buNone/>
            </a:pPr>
            <a:r>
              <a:rPr lang="ru-RU" sz="100">
                <a:solidFill>
                  <a:srgbClr val="FA007E"/>
                </a:solidFill>
                <a:latin typeface="Montserrat" pitchFamily="2" charset="0"/>
                <a:ea typeface="Arial"/>
                <a:cs typeface="Arial"/>
                <a:sym typeface="Arial"/>
              </a:rPr>
              <a:t>По карте</a:t>
            </a:r>
            <a:endParaRPr lang="ru-RU" sz="1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13;p14">
            <a:extLst>
              <a:ext uri="{FF2B5EF4-FFF2-40B4-BE49-F238E27FC236}">
                <a16:creationId xmlns:a16="http://schemas.microsoft.com/office/drawing/2014/main" id="{99C6E895-4964-9FA6-182E-96BA659749F9}"/>
              </a:ext>
            </a:extLst>
          </p:cNvPr>
          <p:cNvSpPr/>
          <p:nvPr/>
        </p:nvSpPr>
        <p:spPr>
          <a:xfrm>
            <a:off x="4522505" y="1532020"/>
            <a:ext cx="714513" cy="166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КСО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14;p14">
            <a:extLst>
              <a:ext uri="{FF2B5EF4-FFF2-40B4-BE49-F238E27FC236}">
                <a16:creationId xmlns:a16="http://schemas.microsoft.com/office/drawing/2014/main" id="{AC80E9FD-0447-0CA3-ED3E-FEA277761D49}"/>
              </a:ext>
            </a:extLst>
          </p:cNvPr>
          <p:cNvSpPr/>
          <p:nvPr/>
        </p:nvSpPr>
        <p:spPr>
          <a:xfrm>
            <a:off x="4522505" y="1896577"/>
            <a:ext cx="1263795" cy="59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Заставки, баннеры, интерактив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5;p14">
            <a:extLst>
              <a:ext uri="{FF2B5EF4-FFF2-40B4-BE49-F238E27FC236}">
                <a16:creationId xmlns:a16="http://schemas.microsoft.com/office/drawing/2014/main" id="{334568E5-9D38-C05E-7804-1799B5F23D0D}"/>
              </a:ext>
            </a:extLst>
          </p:cNvPr>
          <p:cNvSpPr/>
          <p:nvPr/>
        </p:nvSpPr>
        <p:spPr>
          <a:xfrm>
            <a:off x="8192372" y="1532020"/>
            <a:ext cx="1203036" cy="461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Внешние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экраны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16;p14">
            <a:extLst>
              <a:ext uri="{FF2B5EF4-FFF2-40B4-BE49-F238E27FC236}">
                <a16:creationId xmlns:a16="http://schemas.microsoft.com/office/drawing/2014/main" id="{9A79831F-9A5E-1ED6-4702-6D06BC1B6B76}"/>
              </a:ext>
            </a:extLst>
          </p:cNvPr>
          <p:cNvSpPr/>
          <p:nvPr/>
        </p:nvSpPr>
        <p:spPr>
          <a:xfrm>
            <a:off x="8192372" y="2188222"/>
            <a:ext cx="1263795" cy="10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ТВ-экраны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 торговом зале, у входа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и в других зонах 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17;p14">
            <a:extLst>
              <a:ext uri="{FF2B5EF4-FFF2-40B4-BE49-F238E27FC236}">
                <a16:creationId xmlns:a16="http://schemas.microsoft.com/office/drawing/2014/main" id="{9BE5E34B-931C-229B-B2FB-2E0EC95BDC62}"/>
              </a:ext>
            </a:extLst>
          </p:cNvPr>
          <p:cNvSpPr/>
          <p:nvPr/>
        </p:nvSpPr>
        <p:spPr>
          <a:xfrm>
            <a:off x="852638" y="4004927"/>
            <a:ext cx="795948" cy="17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en-US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Web</a:t>
            </a:r>
            <a:endParaRPr lang="en-US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18;p14">
            <a:extLst>
              <a:ext uri="{FF2B5EF4-FFF2-40B4-BE49-F238E27FC236}">
                <a16:creationId xmlns:a16="http://schemas.microsoft.com/office/drawing/2014/main" id="{518F179C-5AF6-CCC2-C127-8BAB3887F37B}"/>
              </a:ext>
            </a:extLst>
          </p:cNvPr>
          <p:cNvSpPr/>
          <p:nvPr/>
        </p:nvSpPr>
        <p:spPr>
          <a:xfrm>
            <a:off x="852638" y="4369484"/>
            <a:ext cx="2047592" cy="59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Баннеры, спецпроекты, категории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9;p14">
            <a:extLst>
              <a:ext uri="{FF2B5EF4-FFF2-40B4-BE49-F238E27FC236}">
                <a16:creationId xmlns:a16="http://schemas.microsoft.com/office/drawing/2014/main" id="{3810D586-3EBF-DE00-D082-881EC86788B2}"/>
              </a:ext>
            </a:extLst>
          </p:cNvPr>
          <p:cNvSpPr/>
          <p:nvPr/>
        </p:nvSpPr>
        <p:spPr>
          <a:xfrm>
            <a:off x="6357439" y="4004927"/>
            <a:ext cx="2363540" cy="17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0E00"/>
              </a:buClr>
              <a:buSzPts val="3000"/>
              <a:buFont typeface="Arial"/>
              <a:buNone/>
            </a:pPr>
            <a:r>
              <a:rPr lang="ru-RU">
                <a:solidFill>
                  <a:srgbClr val="ED0E00"/>
                </a:solidFill>
                <a:latin typeface="Montserrat" pitchFamily="2" charset="0"/>
                <a:ea typeface="Arial"/>
                <a:cs typeface="Arial"/>
                <a:sym typeface="Arial"/>
              </a:rPr>
              <a:t>Новый инвентарь</a:t>
            </a:r>
            <a:endParaRPr lang="ru-RU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0;p14">
            <a:extLst>
              <a:ext uri="{FF2B5EF4-FFF2-40B4-BE49-F238E27FC236}">
                <a16:creationId xmlns:a16="http://schemas.microsoft.com/office/drawing/2014/main" id="{D6F6CD33-B1D9-A2E2-9C75-49D78A13FE31}"/>
              </a:ext>
            </a:extLst>
          </p:cNvPr>
          <p:cNvSpPr/>
          <p:nvPr/>
        </p:nvSpPr>
        <p:spPr>
          <a:xfrm>
            <a:off x="6357439" y="4369484"/>
            <a:ext cx="2047592" cy="82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E28"/>
              </a:buClr>
              <a:buSzPts val="2400"/>
              <a:buFont typeface="Arial"/>
              <a:buNone/>
            </a:pP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К платформе быстро подключаются </a:t>
            </a:r>
            <a:br>
              <a:rPr lang="ru-RU" sz="1100" noProof="0" dirty="0">
                <a:solidFill>
                  <a:schemeClr val="dk1"/>
                </a:solidFill>
                <a:latin typeface="Montserrat" pitchFamily="2" charset="0"/>
                <a:ea typeface="Calibri"/>
                <a:cs typeface="Calibri"/>
                <a:sym typeface="Calibri"/>
              </a:rPr>
            </a:br>
            <a:r>
              <a:rPr lang="ru-RU" sz="1400">
                <a:solidFill>
                  <a:srgbClr val="442E28"/>
                </a:solidFill>
                <a:latin typeface="Montserrat" pitchFamily="2" charset="0"/>
                <a:ea typeface="Arial"/>
                <a:cs typeface="Arial"/>
                <a:sym typeface="Arial"/>
              </a:rPr>
              <a:t>все новые типы инвентаря</a:t>
            </a:r>
            <a:endParaRPr lang="ru-RU" sz="1400">
              <a:solidFill>
                <a:schemeClr val="dk1"/>
              </a:solidFill>
              <a:latin typeface="Montserrat" pitchFamily="2" charset="0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221;p14">
            <a:extLst>
              <a:ext uri="{FF2B5EF4-FFF2-40B4-BE49-F238E27FC236}">
                <a16:creationId xmlns:a16="http://schemas.microsoft.com/office/drawing/2014/main" id="{E8737883-3B03-ED74-264C-2D29ECB95B61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75852" y="3550556"/>
            <a:ext cx="3687645" cy="2761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26506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F174E2F-157C-5987-CCCC-A782A01D5A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F174E2F-157C-5987-CCCC-A782A01D5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1"/>
          <p:cNvSpPr/>
          <p:nvPr/>
        </p:nvSpPr>
        <p:spPr>
          <a:xfrm>
            <a:off x="364176" y="885825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Media, Social Commerce и Performance уходят в нативные форматы, а бренд управляет ими сам из одного кабинета.</a:t>
            </a:r>
            <a:endParaRPr lang="ru-RU" sz="13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5DA8E-B1BB-B4B9-4D0E-3096CB6B70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353E2-B7FA-388A-B389-849F23A6ED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Онлайн-инвентарь: реклама встраивается в путь покупки</a:t>
            </a:r>
            <a:endParaRPr lang="ru-RU"/>
          </a:p>
          <a:p>
            <a:endParaRPr lang="ru-RU"/>
          </a:p>
        </p:txBody>
      </p:sp>
      <p:sp>
        <p:nvSpPr>
          <p:cNvPr id="100" name="Shape 101"/>
          <p:cNvSpPr/>
          <p:nvPr/>
        </p:nvSpPr>
        <p:spPr>
          <a:xfrm>
            <a:off x="3758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1" name="Shape 102"/>
          <p:cNvSpPr/>
          <p:nvPr/>
        </p:nvSpPr>
        <p:spPr>
          <a:xfrm>
            <a:off x="553660" y="1543685"/>
            <a:ext cx="7874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102" name="Shape 103"/>
          <p:cNvSpPr/>
          <p:nvPr/>
        </p:nvSpPr>
        <p:spPr>
          <a:xfrm>
            <a:off x="5536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Нативные форматы</a:t>
            </a:r>
          </a:p>
        </p:txBody>
      </p:sp>
      <p:sp>
        <p:nvSpPr>
          <p:cNvPr id="103" name="Shape 104"/>
          <p:cNvSpPr/>
          <p:nvPr/>
        </p:nvSpPr>
        <p:spPr>
          <a:xfrm>
            <a:off x="5536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4" name="Shape 105"/>
          <p:cNvSpPr/>
          <p:nvPr/>
        </p:nvSpPr>
        <p:spPr>
          <a:xfrm>
            <a:off x="5536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Shoppable banner, модальный формат, полки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Реклама внутри сценария покупки</a:t>
            </a:r>
          </a:p>
        </p:txBody>
      </p:sp>
      <p:sp>
        <p:nvSpPr>
          <p:cNvPr id="105" name="Shape 106"/>
          <p:cNvSpPr/>
          <p:nvPr/>
        </p:nvSpPr>
        <p:spPr>
          <a:xfrm>
            <a:off x="31952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06" name="Shape 107"/>
          <p:cNvSpPr/>
          <p:nvPr/>
        </p:nvSpPr>
        <p:spPr>
          <a:xfrm>
            <a:off x="3373060" y="1543685"/>
            <a:ext cx="14986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 COMMERCE</a:t>
            </a:r>
          </a:p>
        </p:txBody>
      </p:sp>
      <p:sp>
        <p:nvSpPr>
          <p:cNvPr id="107" name="Shape 108"/>
          <p:cNvSpPr/>
          <p:nvPr/>
        </p:nvSpPr>
        <p:spPr>
          <a:xfrm>
            <a:off x="33730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Контент у товара</a:t>
            </a:r>
          </a:p>
        </p:txBody>
      </p:sp>
      <p:sp>
        <p:nvSpPr>
          <p:cNvPr id="108" name="Shape 109"/>
          <p:cNvSpPr/>
          <p:nvPr/>
        </p:nvSpPr>
        <p:spPr>
          <a:xfrm>
            <a:off x="33730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09" name="Shape 110"/>
          <p:cNvSpPr/>
          <p:nvPr/>
        </p:nvSpPr>
        <p:spPr>
          <a:xfrm>
            <a:off x="33730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Видео блогера работает в каталоге и карточке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Путь: контент → товар → покупка</a:t>
            </a:r>
          </a:p>
        </p:txBody>
      </p:sp>
      <p:sp>
        <p:nvSpPr>
          <p:cNvPr id="110" name="Shape 111"/>
          <p:cNvSpPr/>
          <p:nvPr/>
        </p:nvSpPr>
        <p:spPr>
          <a:xfrm>
            <a:off x="60146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1" name="Shape 112"/>
          <p:cNvSpPr/>
          <p:nvPr/>
        </p:nvSpPr>
        <p:spPr>
          <a:xfrm>
            <a:off x="6192460" y="1543685"/>
            <a:ext cx="12192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PERFORMANCE</a:t>
            </a:r>
          </a:p>
        </p:txBody>
      </p:sp>
      <p:sp>
        <p:nvSpPr>
          <p:cNvPr id="112" name="Shape 113"/>
          <p:cNvSpPr/>
          <p:nvPr/>
        </p:nvSpPr>
        <p:spPr>
          <a:xfrm>
            <a:off x="61924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Не только поиск</a:t>
            </a:r>
          </a:p>
        </p:txBody>
      </p:sp>
      <p:sp>
        <p:nvSpPr>
          <p:cNvPr id="113" name="Shape 114"/>
          <p:cNvSpPr/>
          <p:nvPr/>
        </p:nvSpPr>
        <p:spPr>
          <a:xfrm>
            <a:off x="61924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4" name="Shape 115"/>
          <p:cNvSpPr/>
          <p:nvPr/>
        </p:nvSpPr>
        <p:spPr>
          <a:xfrm>
            <a:off x="61924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Товар в комбо, подборках и сценариях выбора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Растёт размер корзины</a:t>
            </a:r>
          </a:p>
        </p:txBody>
      </p:sp>
      <p:sp>
        <p:nvSpPr>
          <p:cNvPr id="115" name="Shape 116"/>
          <p:cNvSpPr/>
          <p:nvPr/>
        </p:nvSpPr>
        <p:spPr>
          <a:xfrm>
            <a:off x="8834060" y="1365885"/>
            <a:ext cx="2540000" cy="388620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6" name="Shape 117"/>
          <p:cNvSpPr/>
          <p:nvPr/>
        </p:nvSpPr>
        <p:spPr>
          <a:xfrm>
            <a:off x="9011860" y="1543685"/>
            <a:ext cx="12192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SELF-SERVICE</a:t>
            </a:r>
          </a:p>
        </p:txBody>
      </p:sp>
      <p:sp>
        <p:nvSpPr>
          <p:cNvPr id="117" name="Shape 118"/>
          <p:cNvSpPr/>
          <p:nvPr/>
        </p:nvSpPr>
        <p:spPr>
          <a:xfrm>
            <a:off x="9011860" y="1873885"/>
            <a:ext cx="218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151515"/>
                </a:solidFill>
              </a:rPr>
              <a:t>Видеть → управлять</a:t>
            </a:r>
          </a:p>
        </p:txBody>
      </p:sp>
      <p:sp>
        <p:nvSpPr>
          <p:cNvPr id="118" name="Shape 119"/>
          <p:cNvSpPr/>
          <p:nvPr/>
        </p:nvSpPr>
        <p:spPr>
          <a:xfrm>
            <a:off x="9011860" y="2165985"/>
            <a:ext cx="2184400" cy="2082800"/>
          </a:xfrm>
          <a:prstGeom prst="roundRect">
            <a:avLst>
              <a:gd name="adj" fmla="val 4396"/>
            </a:avLst>
          </a:prstGeom>
          <a:solidFill>
            <a:srgbClr val="F4F4F6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9" name="Shape 120"/>
          <p:cNvSpPr/>
          <p:nvPr/>
        </p:nvSpPr>
        <p:spPr>
          <a:xfrm>
            <a:off x="9011860" y="4350385"/>
            <a:ext cx="21844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Позиция в выдаче, ставки и продажи в одном экране</a:t>
            </a:r>
          </a:p>
          <a:p>
            <a:pPr marL="114300" indent="-114300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6B6B6B"/>
                </a:solidFill>
              </a:rPr>
              <a:t>Бренд сам запускает и оптимизирует</a:t>
            </a:r>
          </a:p>
        </p:txBody>
      </p:sp>
      <p:sp>
        <p:nvSpPr>
          <p:cNvPr id="120" name="Shape 121"/>
          <p:cNvSpPr/>
          <p:nvPr/>
        </p:nvSpPr>
        <p:spPr>
          <a:xfrm>
            <a:off x="375860" y="5442585"/>
            <a:ext cx="10998200" cy="40640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E7E7E9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21" name="Shape 122"/>
          <p:cNvSpPr/>
          <p:nvPr/>
        </p:nvSpPr>
        <p:spPr>
          <a:xfrm>
            <a:off x="553660" y="5518785"/>
            <a:ext cx="660400" cy="254000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2" name="Shape 123"/>
          <p:cNvSpPr/>
          <p:nvPr/>
        </p:nvSpPr>
        <p:spPr>
          <a:xfrm>
            <a:off x="1366460" y="5480685"/>
            <a:ext cx="990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ru-RU" sz="1200" b="1">
                <a:solidFill>
                  <a:srgbClr val="151515"/>
                </a:solidFill>
              </a:rPr>
              <a:t>Сегмент → контекст → триггер → показ: </a:t>
            </a:r>
            <a:r>
              <a:rPr lang="ru-RU" sz="1200">
                <a:solidFill>
                  <a:srgbClr val="6B6B6B"/>
                </a:solidFill>
              </a:rPr>
              <a:t>реклама выходит в нужный момент по корзине, гео, наличию, цене и действию пользователя</a:t>
            </a:r>
          </a:p>
        </p:txBody>
      </p:sp>
      <p:pic>
        <p:nvPicPr>
          <p:cNvPr id="123" name="Copied Picture 123" descr="/mnt/data/Shopable баннер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60" y="2216785"/>
            <a:ext cx="1212850" cy="1981200"/>
          </a:xfrm>
          <a:prstGeom prst="rect">
            <a:avLst/>
          </a:prstGeom>
        </p:spPr>
      </p:pic>
      <p:pic>
        <p:nvPicPr>
          <p:cNvPr id="124" name="Copied Picture 124" descr="/mnt/data/Видео блоггера в каталоге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610" y="2216785"/>
            <a:ext cx="1515110" cy="1981200"/>
          </a:xfrm>
          <a:prstGeom prst="rect">
            <a:avLst/>
          </a:prstGeom>
        </p:spPr>
      </p:pic>
      <p:pic>
        <p:nvPicPr>
          <p:cNvPr id="125" name="Copied Picture 125" descr="/mnt/data/Комбо предложение 0.png"/>
          <p:cNvPicPr>
            <a:picLocks noChangeAspect="1"/>
          </p:cNvPicPr>
          <p:nvPr/>
        </p:nvPicPr>
        <p:blipFill>
          <a:blip r:embed="rId8"/>
          <a:srcRect r="2112"/>
          <a:stretch>
            <a:fillRect/>
          </a:stretch>
        </p:blipFill>
        <p:spPr>
          <a:xfrm>
            <a:off x="6837620" y="2216785"/>
            <a:ext cx="895350" cy="1981200"/>
          </a:xfrm>
          <a:prstGeom prst="rect">
            <a:avLst/>
          </a:prstGeom>
        </p:spPr>
      </p:pic>
      <p:pic>
        <p:nvPicPr>
          <p:cNvPr id="126" name="Copied Picture 126" descr="/mnt/data/кабинет бренда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2660" y="2623185"/>
            <a:ext cx="2082800" cy="11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18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269480" y="658368"/>
            <a:ext cx="3794760" cy="5650992"/>
          </a:xfrm>
          <a:prstGeom prst="roundRect">
            <a:avLst>
              <a:gd name="adj" fmla="val 2892"/>
            </a:avLst>
          </a:prstGeom>
          <a:solidFill>
            <a:srgbClr val="FFFFFF">
              <a:alpha val="0"/>
            </a:srgbClr>
          </a:solidFill>
          <a:ln w="15240">
            <a:solidFill>
              <a:srgbClr val="DADAD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594360" y="123444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400" b="1">
                <a:solidFill>
                  <a:srgbClr val="151515"/>
                </a:solidFill>
              </a:rPr>
              <a:t>От охвата до покупки —</a:t>
            </a:r>
            <a:endParaRPr lang="ru-RU" sz="3400"/>
          </a:p>
          <a:p>
            <a:pPr marL="0" indent="0">
              <a:buNone/>
            </a:pPr>
            <a:r>
              <a:rPr lang="ru-RU" sz="3400" b="1">
                <a:solidFill>
                  <a:srgbClr val="151515"/>
                </a:solidFill>
              </a:rPr>
              <a:t>в одной рекламной платформе</a:t>
            </a:r>
            <a:endParaRPr lang="ru-RU" sz="3400"/>
          </a:p>
        </p:txBody>
      </p:sp>
      <p:sp>
        <p:nvSpPr>
          <p:cNvPr id="3" name="Text 1"/>
          <p:cNvSpPr/>
          <p:nvPr/>
        </p:nvSpPr>
        <p:spPr>
          <a:xfrm>
            <a:off x="621792" y="2852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E30613"/>
                </a:solidFill>
              </a:rPr>
              <a:t>Magnit Ads для брендов</a:t>
            </a:r>
            <a:endParaRPr lang="ru-RU" sz="1700"/>
          </a:p>
        </p:txBody>
      </p:sp>
      <p:pic>
        <p:nvPicPr>
          <p:cNvPr id="4" name="Image 0" descr="/mnt/data/Shopable банне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964" y="786384"/>
            <a:ext cx="2907792" cy="5394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B6B6B"/>
                </a:solidFill>
              </a:rPr>
              <a:t>Media  •  Social Commerce  •  Performance  •  Indoor  •  Data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42</a:t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Не набор форматов, а единая система коммуникации бренда с покупателем.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96112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Увидел</a:t>
            </a:r>
            <a:endParaRPr lang="ru-RU" sz="190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MEDIA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596896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10" name="Shape 8"/>
          <p:cNvSpPr/>
          <p:nvPr/>
        </p:nvSpPr>
        <p:spPr>
          <a:xfrm>
            <a:off x="2916936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081528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154680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2</a:t>
            </a:r>
            <a:endParaRPr lang="ru-RU" sz="900"/>
          </a:p>
        </p:txBody>
      </p:sp>
      <p:sp>
        <p:nvSpPr>
          <p:cNvPr id="13" name="Text 11"/>
          <p:cNvSpPr/>
          <p:nvPr/>
        </p:nvSpPr>
        <p:spPr>
          <a:xfrm>
            <a:off x="3081528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Вовлёкся</a:t>
            </a:r>
            <a:endParaRPr lang="ru-RU" sz="1900"/>
          </a:p>
        </p:txBody>
      </p:sp>
      <p:sp>
        <p:nvSpPr>
          <p:cNvPr id="14" name="Text 12"/>
          <p:cNvSpPr/>
          <p:nvPr/>
        </p:nvSpPr>
        <p:spPr>
          <a:xfrm>
            <a:off x="3081528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SOCIAL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855464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16" name="Shape 14"/>
          <p:cNvSpPr/>
          <p:nvPr/>
        </p:nvSpPr>
        <p:spPr>
          <a:xfrm>
            <a:off x="5175504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340096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413248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3</a:t>
            </a:r>
            <a:endParaRPr lang="ru-RU" sz="900"/>
          </a:p>
        </p:txBody>
      </p:sp>
      <p:sp>
        <p:nvSpPr>
          <p:cNvPr id="19" name="Text 17"/>
          <p:cNvSpPr/>
          <p:nvPr/>
        </p:nvSpPr>
        <p:spPr>
          <a:xfrm>
            <a:off x="5340096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Нашёл</a:t>
            </a:r>
            <a:endParaRPr lang="ru-RU" sz="1900"/>
          </a:p>
        </p:txBody>
      </p:sp>
      <p:sp>
        <p:nvSpPr>
          <p:cNvPr id="20" name="Text 18"/>
          <p:cNvSpPr/>
          <p:nvPr/>
        </p:nvSpPr>
        <p:spPr>
          <a:xfrm>
            <a:off x="5340096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PERFORMANCE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114032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22" name="Shape 20"/>
          <p:cNvSpPr/>
          <p:nvPr/>
        </p:nvSpPr>
        <p:spPr>
          <a:xfrm>
            <a:off x="7434072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7598664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7671816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4</a:t>
            </a:r>
            <a:endParaRPr lang="ru-RU" sz="900"/>
          </a:p>
        </p:txBody>
      </p:sp>
      <p:sp>
        <p:nvSpPr>
          <p:cNvPr id="25" name="Text 23"/>
          <p:cNvSpPr/>
          <p:nvPr/>
        </p:nvSpPr>
        <p:spPr>
          <a:xfrm>
            <a:off x="7598664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Купил</a:t>
            </a:r>
            <a:endParaRPr lang="ru-RU" sz="1900"/>
          </a:p>
        </p:txBody>
      </p:sp>
      <p:sp>
        <p:nvSpPr>
          <p:cNvPr id="26" name="Text 24"/>
          <p:cNvSpPr/>
          <p:nvPr/>
        </p:nvSpPr>
        <p:spPr>
          <a:xfrm>
            <a:off x="7598664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INDOOR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9372600" y="27889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>
                <a:solidFill>
                  <a:srgbClr val="B8B8BC"/>
                </a:solidFill>
              </a:rPr>
              <a:t>→</a:t>
            </a:r>
            <a:endParaRPr lang="ru-RU" sz="2000"/>
          </a:p>
        </p:txBody>
      </p:sp>
      <p:sp>
        <p:nvSpPr>
          <p:cNvPr id="28" name="Shape 26"/>
          <p:cNvSpPr/>
          <p:nvPr/>
        </p:nvSpPr>
        <p:spPr>
          <a:xfrm>
            <a:off x="9692640" y="19659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9857232" y="2194560"/>
            <a:ext cx="347472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9930384" y="22539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5</a:t>
            </a:r>
            <a:endParaRPr lang="ru-RU" sz="900"/>
          </a:p>
        </p:txBody>
      </p:sp>
      <p:sp>
        <p:nvSpPr>
          <p:cNvPr id="31" name="Text 29"/>
          <p:cNvSpPr/>
          <p:nvPr/>
        </p:nvSpPr>
        <p:spPr>
          <a:xfrm>
            <a:off x="9857232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900" b="1">
                <a:solidFill>
                  <a:srgbClr val="151515"/>
                </a:solidFill>
              </a:rPr>
              <a:t>Вернулся</a:t>
            </a:r>
            <a:endParaRPr lang="ru-RU" sz="1900"/>
          </a:p>
        </p:txBody>
      </p:sp>
      <p:sp>
        <p:nvSpPr>
          <p:cNvPr id="32" name="Text 30"/>
          <p:cNvSpPr/>
          <p:nvPr/>
        </p:nvSpPr>
        <p:spPr>
          <a:xfrm>
            <a:off x="9857232" y="33375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30613"/>
                </a:solidFill>
              </a:rPr>
              <a:t>DATA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685800" y="4892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Бренд получает единый путь: от контакта до измеримого действия.</a:t>
            </a:r>
            <a:endParaRPr lang="ru-RU" sz="180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DA2062F-B152-3789-AD9A-E0255A23F3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43</a:t>
            </a:fld>
            <a:endParaRPr lang="ru-RU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5C70DCE-F0E0-C9CA-CBA6-A6E89DAE8F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Одна платформа — весь путь покупателя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Новые форматы и поверхности — от охватных контактов до shoppable-механик.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0" descr="/mnt/data/Баннер в карточк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69" y="1901952"/>
            <a:ext cx="1843094" cy="3401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237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Баннер в карточке</a:t>
            </a:r>
            <a:endParaRPr lang="ru-RU" sz="1000"/>
          </a:p>
        </p:txBody>
      </p:sp>
      <p:sp>
        <p:nvSpPr>
          <p:cNvPr id="7" name="Shape 4"/>
          <p:cNvSpPr/>
          <p:nvPr/>
        </p:nvSpPr>
        <p:spPr>
          <a:xfrm>
            <a:off x="342900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/mnt/data/Shopable баннер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6316" y="1915090"/>
            <a:ext cx="2081679" cy="34015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5701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1515"/>
                </a:solidFill>
              </a:rPr>
              <a:t>Shoppable banner</a:t>
            </a:r>
            <a:endParaRPr lang="en-US" sz="100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/mnt/data/модальное окно с выбором товаров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775" y="1901952"/>
            <a:ext cx="1566042" cy="34015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9165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Модальный формат</a:t>
            </a:r>
            <a:endParaRPr lang="ru-RU" sz="1000"/>
          </a:p>
        </p:txBody>
      </p:sp>
      <p:sp>
        <p:nvSpPr>
          <p:cNvPr id="13" name="Shape 8"/>
          <p:cNvSpPr/>
          <p:nvPr/>
        </p:nvSpPr>
        <p:spPr>
          <a:xfrm>
            <a:off x="9098280" y="1783080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3" descr="/mnt/data/товарные полки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549" y="1924812"/>
            <a:ext cx="1465773" cy="34015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5468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b="1">
                <a:solidFill>
                  <a:srgbClr val="151515"/>
                </a:solidFill>
              </a:rPr>
              <a:t>Товарные полки</a:t>
            </a:r>
            <a:endParaRPr lang="ru-RU" sz="100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2876C15-DA88-1D30-0BC9-7CC9867163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44</a:t>
            </a:fld>
            <a:endParaRPr lang="ru-R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F177C60-9CF3-98F0-6F60-75763C97D6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Медиа: реклама становится частью пользовательского сценария</a:t>
            </a:r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mnt/data/масКОТ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45" y="981222"/>
            <a:ext cx="2103120" cy="4800600"/>
          </a:xfrm>
          <a:prstGeom prst="rect">
            <a:avLst/>
          </a:prstGeom>
        </p:spPr>
      </p:pic>
      <p:pic>
        <p:nvPicPr>
          <p:cNvPr id="4" name="Image 1" descr="/mnt/data/Товарная полка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897" y="981222"/>
            <a:ext cx="2320159" cy="294762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984DBA9-21C8-0700-EE31-88B50FF3D2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45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6798D-06BC-6A90-FFB2-9330AF5F0C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От баннера к нативному месту внутри покупки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Размещение у блогера получает вторую жизнь — уже рядом с товаром и покупкой.</a:t>
            </a:r>
            <a:endParaRPr lang="ru-RU" sz="1300"/>
          </a:p>
        </p:txBody>
      </p:sp>
      <p:pic>
        <p:nvPicPr>
          <p:cNvPr id="4" name="Image 0" descr="/mnt/data/Блоггерское размещение в ленте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64208"/>
            <a:ext cx="27889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8444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>
                <a:solidFill>
                  <a:srgbClr val="E30613"/>
                </a:solidFill>
              </a:rPr>
              <a:t>→</a:t>
            </a:r>
            <a:endParaRPr lang="ru-RU" sz="3000"/>
          </a:p>
        </p:txBody>
      </p:sp>
      <p:pic>
        <p:nvPicPr>
          <p:cNvPr id="6" name="Image 1" descr="/mnt/data/Видео блоггера в каталог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64208"/>
            <a:ext cx="3429000" cy="448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44968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>
                <a:solidFill>
                  <a:srgbClr val="E30613"/>
                </a:solidFill>
              </a:rPr>
              <a:t>→</a:t>
            </a:r>
            <a:endParaRPr lang="ru-RU" sz="3000"/>
          </a:p>
        </p:txBody>
      </p:sp>
      <p:sp>
        <p:nvSpPr>
          <p:cNvPr id="8" name="Shape 4"/>
          <p:cNvSpPr/>
          <p:nvPr/>
        </p:nvSpPr>
        <p:spPr>
          <a:xfrm>
            <a:off x="8275320" y="2240280"/>
            <a:ext cx="3246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8577072" y="26334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Контент → товар → покупка</a:t>
            </a:r>
            <a:endParaRPr lang="ru-RU" sz="1800"/>
          </a:p>
        </p:txBody>
      </p:sp>
      <p:sp>
        <p:nvSpPr>
          <p:cNvPr id="10" name="Text 6"/>
          <p:cNvSpPr/>
          <p:nvPr/>
        </p:nvSpPr>
        <p:spPr>
          <a:xfrm>
            <a:off x="8577072" y="331012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Бренд получает дополнительный контакт с аудиторией в тот момент, когда пользователь уже находится в shopping-сценарии.</a:t>
            </a:r>
            <a:endParaRPr lang="ru-RU" sz="1300"/>
          </a:p>
        </p:txBody>
      </p:sp>
      <p:sp>
        <p:nvSpPr>
          <p:cNvPr id="11" name="Shape 7"/>
          <p:cNvSpPr/>
          <p:nvPr/>
        </p:nvSpPr>
        <p:spPr>
          <a:xfrm>
            <a:off x="8577072" y="48006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8650224" y="486003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 → COMMERCE</a:t>
            </a:r>
            <a:endParaRPr lang="en-US" sz="90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CD177D-BAFD-A887-4058-228E765957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46</a:t>
            </a:fld>
            <a:endParaRPr lang="ru-R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46B61C-6CD5-ED27-9273-790353C0AC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Social Commerce: </a:t>
            </a:r>
            <a:r>
              <a:rPr lang="ru-RU">
                <a:solidFill>
                  <a:srgbClr val="151515"/>
                </a:solidFill>
              </a:rPr>
              <a:t>контент блогера продолжает работать внутри Магнита</a:t>
            </a:r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364176" y="90525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Не отдельная рекламная зона — контент встраивается прямо в товарный опыт.</a:t>
            </a:r>
            <a:endParaRPr lang="ru-RU" sz="13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405D8-E717-8A4B-91FB-FA9A5D8723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60A41-7FC0-55BC-7BFE-67A5B7EF6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Видео становится частью каталога и карточки товара</a:t>
            </a:r>
            <a:endParaRPr lang="ru-RU"/>
          </a:p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ABD6386-650C-2DCF-0231-284E9C9B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68" y="1664208"/>
            <a:ext cx="1952936" cy="433551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838322-D807-BF9E-8C63-DB4DD18EA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599" y="1664209"/>
            <a:ext cx="1908716" cy="42373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Новый кабинет показывает представленность бренда в поиске и позволяет на неё влиять.</a:t>
            </a:r>
            <a:endParaRPr lang="ru-RU" sz="1300"/>
          </a:p>
        </p:txBody>
      </p:sp>
      <p:pic>
        <p:nvPicPr>
          <p:cNvPr id="4" name="Image 0" descr="/mnt/data/кабинет бренд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36" y="1600200"/>
            <a:ext cx="8092020" cy="455886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600200"/>
            <a:ext cx="3063240" cy="438912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8796528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В одном экране</a:t>
            </a:r>
            <a:endParaRPr lang="ru-RU" sz="1800"/>
          </a:p>
        </p:txBody>
      </p:sp>
      <p:sp>
        <p:nvSpPr>
          <p:cNvPr id="7" name="Text 4"/>
          <p:cNvSpPr/>
          <p:nvPr/>
        </p:nvSpPr>
        <p:spPr>
          <a:xfrm>
            <a:off x="8796528" y="2670048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позиция товара в выдаче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ставка и статус продвижения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скорость продаж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показы, клики, корзина</a:t>
            </a:r>
            <a:endParaRPr lang="ru-RU" sz="1300"/>
          </a:p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• заказы и выручка</a:t>
            </a:r>
            <a:endParaRPr lang="ru-RU" sz="1300"/>
          </a:p>
        </p:txBody>
      </p:sp>
      <p:sp>
        <p:nvSpPr>
          <p:cNvPr id="8" name="Shape 5"/>
          <p:cNvSpPr/>
          <p:nvPr/>
        </p:nvSpPr>
        <p:spPr>
          <a:xfrm>
            <a:off x="8796528" y="512064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869680" y="518007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ВИДЕТЬ → УПРАВЛЯТЬ</a:t>
            </a:r>
            <a:endParaRPr lang="ru-RU" sz="9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B09929-4AE5-EAD1-2808-C5F9EAA971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865046B-6465-9577-7AE3-69F9ABBA0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Performance: </a:t>
            </a:r>
            <a:r>
              <a:rPr lang="ru-RU">
                <a:solidFill>
                  <a:srgbClr val="151515"/>
                </a:solidFill>
              </a:rPr>
              <a:t>управляем не только рекламой, но и позицией бренда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Меньше ручного взаимодействия — больше скорости и контроля у самого бренда.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914400" y="1947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87552" y="20071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Запустить</a:t>
            </a:r>
            <a:endParaRPr lang="ru-RU" sz="180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выбрать товары и начать продвижение</a:t>
            </a:r>
            <a:endParaRPr lang="ru-RU" sz="120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537960" y="19476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611112" y="20071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02</a:t>
            </a:r>
            <a:endParaRPr lang="ru-RU" sz="900"/>
          </a:p>
        </p:txBody>
      </p:sp>
      <p:sp>
        <p:nvSpPr>
          <p:cNvPr id="12" name="Text 10"/>
          <p:cNvSpPr/>
          <p:nvPr/>
        </p:nvSpPr>
        <p:spPr>
          <a:xfrm>
            <a:off x="7223760" y="1947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Управлять</a:t>
            </a:r>
            <a:endParaRPr lang="ru-RU" sz="1800"/>
          </a:p>
        </p:txBody>
      </p:sp>
      <p:sp>
        <p:nvSpPr>
          <p:cNvPr id="13" name="Text 11"/>
          <p:cNvSpPr/>
          <p:nvPr/>
        </p:nvSpPr>
        <p:spPr>
          <a:xfrm>
            <a:off x="7223760" y="24414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ставками, бюджетом и регионами</a:t>
            </a:r>
            <a:endParaRPr lang="ru-RU" sz="1200"/>
          </a:p>
        </p:txBody>
      </p:sp>
      <p:sp>
        <p:nvSpPr>
          <p:cNvPr id="14" name="Shape 12"/>
          <p:cNvSpPr/>
          <p:nvPr/>
        </p:nvSpPr>
        <p:spPr>
          <a:xfrm>
            <a:off x="685800" y="37490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914400" y="40050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87552" y="40645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03</a:t>
            </a:r>
            <a:endParaRPr lang="ru-RU" sz="900"/>
          </a:p>
        </p:txBody>
      </p:sp>
      <p:sp>
        <p:nvSpPr>
          <p:cNvPr id="17" name="Text 15"/>
          <p:cNvSpPr/>
          <p:nvPr/>
        </p:nvSpPr>
        <p:spPr>
          <a:xfrm>
            <a:off x="160020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Измерять</a:t>
            </a:r>
            <a:endParaRPr lang="ru-RU" sz="1800"/>
          </a:p>
        </p:txBody>
      </p:sp>
      <p:sp>
        <p:nvSpPr>
          <p:cNvPr id="18" name="Text 16"/>
          <p:cNvSpPr/>
          <p:nvPr/>
        </p:nvSpPr>
        <p:spPr>
          <a:xfrm>
            <a:off x="160020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позиции, продажи и эффективность</a:t>
            </a:r>
            <a:endParaRPr lang="ru-RU" sz="1200"/>
          </a:p>
        </p:txBody>
      </p:sp>
      <p:sp>
        <p:nvSpPr>
          <p:cNvPr id="19" name="Shape 17"/>
          <p:cNvSpPr/>
          <p:nvPr/>
        </p:nvSpPr>
        <p:spPr>
          <a:xfrm>
            <a:off x="6309360" y="3749040"/>
            <a:ext cx="521208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537960" y="4005072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611112" y="406450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04</a:t>
            </a:r>
            <a:endParaRPr lang="ru-RU" sz="900"/>
          </a:p>
        </p:txBody>
      </p:sp>
      <p:sp>
        <p:nvSpPr>
          <p:cNvPr id="22" name="Text 20"/>
          <p:cNvSpPr/>
          <p:nvPr/>
        </p:nvSpPr>
        <p:spPr>
          <a:xfrm>
            <a:off x="7223760" y="4005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Оптимизировать</a:t>
            </a:r>
            <a:endParaRPr lang="ru-RU" sz="1800"/>
          </a:p>
        </p:txBody>
      </p:sp>
      <p:sp>
        <p:nvSpPr>
          <p:cNvPr id="23" name="Text 21"/>
          <p:cNvSpPr/>
          <p:nvPr/>
        </p:nvSpPr>
        <p:spPr>
          <a:xfrm>
            <a:off x="7223760" y="44988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кампании без ожидания ручных операций</a:t>
            </a:r>
            <a:endParaRPr lang="ru-RU" sz="120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D3193E4-4D1A-5FC3-C91B-A8DD6174A8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49</a:t>
            </a:fld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00A6919-B58C-583B-8678-BE044AF4B4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Даём брендам прямой доступ к управлению</a:t>
            </a:r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4176" y="83610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Продвигаем товар в разных сценариях выбора и увеличиваем размер корзины.</a:t>
            </a:r>
            <a:endParaRPr lang="ru-RU" sz="1300"/>
          </a:p>
        </p:txBody>
      </p:sp>
      <p:pic>
        <p:nvPicPr>
          <p:cNvPr id="4" name="Image 0" descr="/mnt/data/Комбо предложение 0.png"/>
          <p:cNvPicPr>
            <a:picLocks noChangeAspect="1"/>
          </p:cNvPicPr>
          <p:nvPr/>
        </p:nvPicPr>
        <p:blipFill>
          <a:blip r:embed="rId3"/>
          <a:srcRect r="2112"/>
          <a:stretch>
            <a:fillRect/>
          </a:stretch>
        </p:blipFill>
        <p:spPr>
          <a:xfrm>
            <a:off x="1911096" y="1554480"/>
            <a:ext cx="2040794" cy="4526280"/>
          </a:xfrm>
          <a:prstGeom prst="rect">
            <a:avLst/>
          </a:prstGeom>
        </p:spPr>
      </p:pic>
      <p:pic>
        <p:nvPicPr>
          <p:cNvPr id="5" name="Image 1" descr="/mnt/data/Комбо предложение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081" y="1554480"/>
            <a:ext cx="2245325" cy="4526280"/>
          </a:xfrm>
          <a:prstGeom prst="rect">
            <a:avLst/>
          </a:prstGeom>
        </p:spPr>
      </p:pic>
      <p:pic>
        <p:nvPicPr>
          <p:cNvPr id="6" name="Image 2" descr="/mnt/data/Комбо предложение 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597" y="1554480"/>
            <a:ext cx="1840046" cy="452628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804519-4FEE-4BAB-5039-D877CA4184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50</a:t>
            </a:fld>
            <a:endParaRPr lang="ru-R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1465A-A12E-6CA5-5DC1-A63BF53FB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Performance </a:t>
            </a:r>
            <a:r>
              <a:rPr lang="ru-RU">
                <a:solidFill>
                  <a:srgbClr val="151515"/>
                </a:solidFill>
              </a:rPr>
              <a:t>выходит за пределы одной позиции в поиске</a:t>
            </a:r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КСО становится ещё одной управляемой рекламной поверхностью.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86968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60120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1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Сканирование</a:t>
            </a:r>
            <a:endParaRPr lang="ru-RU" sz="1700"/>
          </a:p>
        </p:txBody>
      </p:sp>
      <p:sp>
        <p:nvSpPr>
          <p:cNvPr id="8" name="Text 6"/>
          <p:cNvSpPr/>
          <p:nvPr/>
        </p:nvSpPr>
        <p:spPr>
          <a:xfrm>
            <a:off x="886968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Формат на экране во время формирования корзины</a:t>
            </a:r>
            <a:endParaRPr lang="ru-RU" sz="1200"/>
          </a:p>
        </p:txBody>
      </p:sp>
      <p:sp>
        <p:nvSpPr>
          <p:cNvPr id="9" name="Text 7"/>
          <p:cNvSpPr/>
          <p:nvPr/>
        </p:nvSpPr>
        <p:spPr>
          <a:xfrm>
            <a:off x="3136392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0" name="Shape 8"/>
          <p:cNvSpPr/>
          <p:nvPr/>
        </p:nvSpPr>
        <p:spPr>
          <a:xfrm>
            <a:off x="3502152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703320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776472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2</a:t>
            </a:r>
            <a:endParaRPr lang="ru-RU" sz="90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Карта лояльности</a:t>
            </a:r>
            <a:endParaRPr lang="ru-RU" sz="1700"/>
          </a:p>
        </p:txBody>
      </p:sp>
      <p:sp>
        <p:nvSpPr>
          <p:cNvPr id="14" name="Text 12"/>
          <p:cNvSpPr/>
          <p:nvPr/>
        </p:nvSpPr>
        <p:spPr>
          <a:xfrm>
            <a:off x="3703320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После идентификации понимаем профиль покупателя</a:t>
            </a:r>
            <a:endParaRPr lang="ru-RU" sz="1200"/>
          </a:p>
        </p:txBody>
      </p:sp>
      <p:sp>
        <p:nvSpPr>
          <p:cNvPr id="15" name="Text 13"/>
          <p:cNvSpPr/>
          <p:nvPr/>
        </p:nvSpPr>
        <p:spPr>
          <a:xfrm>
            <a:off x="5952744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6" name="Shape 14"/>
          <p:cNvSpPr/>
          <p:nvPr/>
        </p:nvSpPr>
        <p:spPr>
          <a:xfrm>
            <a:off x="6318504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519672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592824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3</a:t>
            </a:r>
            <a:endParaRPr lang="ru-RU" sz="900"/>
          </a:p>
        </p:txBody>
      </p:sp>
      <p:sp>
        <p:nvSpPr>
          <p:cNvPr id="19" name="Text 17"/>
          <p:cNvSpPr/>
          <p:nvPr/>
        </p:nvSpPr>
        <p:spPr>
          <a:xfrm>
            <a:off x="6519672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700" b="1">
                <a:solidFill>
                  <a:srgbClr val="151515"/>
                </a:solidFill>
              </a:rPr>
              <a:t>Персонализация</a:t>
            </a:r>
            <a:endParaRPr lang="ru-RU" sz="1700"/>
          </a:p>
        </p:txBody>
      </p:sp>
      <p:sp>
        <p:nvSpPr>
          <p:cNvPr id="20" name="Text 18"/>
          <p:cNvSpPr/>
          <p:nvPr/>
        </p:nvSpPr>
        <p:spPr>
          <a:xfrm>
            <a:off x="6519672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Подбираем релевантное предложение</a:t>
            </a:r>
            <a:endParaRPr lang="ru-RU" sz="1200"/>
          </a:p>
        </p:txBody>
      </p:sp>
      <p:sp>
        <p:nvSpPr>
          <p:cNvPr id="21" name="Text 19"/>
          <p:cNvSpPr/>
          <p:nvPr/>
        </p:nvSpPr>
        <p:spPr>
          <a:xfrm>
            <a:off x="87690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22" name="Shape 20"/>
          <p:cNvSpPr/>
          <p:nvPr/>
        </p:nvSpPr>
        <p:spPr>
          <a:xfrm>
            <a:off x="9134856" y="1874520"/>
            <a:ext cx="2423160" cy="320040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9336024" y="21214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409176" y="218084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4</a:t>
            </a:r>
            <a:endParaRPr lang="ru-RU" sz="900"/>
          </a:p>
        </p:txBody>
      </p:sp>
      <p:sp>
        <p:nvSpPr>
          <p:cNvPr id="25" name="Text 23"/>
          <p:cNvSpPr/>
          <p:nvPr/>
        </p:nvSpPr>
        <p:spPr>
          <a:xfrm>
            <a:off x="9336024" y="2788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51515"/>
                </a:solidFill>
              </a:rPr>
              <a:t>Post-checkout</a:t>
            </a:r>
            <a:endParaRPr lang="en-US" sz="1700"/>
          </a:p>
        </p:txBody>
      </p:sp>
      <p:sp>
        <p:nvSpPr>
          <p:cNvPr id="26" name="Text 24"/>
          <p:cNvSpPr/>
          <p:nvPr/>
        </p:nvSpPr>
        <p:spPr>
          <a:xfrm>
            <a:off x="9336024" y="35661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>
                <a:solidFill>
                  <a:srgbClr val="6B6B6B"/>
                </a:solidFill>
              </a:rPr>
              <a:t>Продолжаем коммуникацию после оплаты</a:t>
            </a:r>
            <a:endParaRPr lang="ru-RU" sz="1200"/>
          </a:p>
        </p:txBody>
      </p:sp>
      <p:sp>
        <p:nvSpPr>
          <p:cNvPr id="27" name="Text 25"/>
          <p:cNvSpPr/>
          <p:nvPr/>
        </p:nvSpPr>
        <p:spPr>
          <a:xfrm>
            <a:off x="713232" y="5488093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b="1">
                <a:solidFill>
                  <a:srgbClr val="151515"/>
                </a:solidFill>
              </a:rPr>
              <a:t>Реклама подстраивается под профиль покупателя, если он идентифицировался картой лояльности</a:t>
            </a:r>
            <a:endParaRPr lang="ru-RU" sz="160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E7BB026-6BC0-90ED-A2C7-077491C721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51</a:t>
            </a:fld>
            <a:endParaRPr lang="ru-RU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F3D036A-5A6F-5C1E-15B2-73F93E5CD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Indoor: </a:t>
            </a:r>
            <a:r>
              <a:rPr lang="ru-RU">
                <a:solidFill>
                  <a:srgbClr val="151515"/>
                </a:solidFill>
              </a:rPr>
              <a:t>персональная коммуникация прямо на кассе</a:t>
            </a:r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585216" y="1234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Показываем рекламу не только «кому», но и в правильный момент.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86968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8B8B90"/>
          </a:solidFill>
          <a:ln w="12700">
            <a:solidFill>
              <a:srgbClr val="8B8B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60120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СЕГМЕНТ</a:t>
            </a:r>
            <a:endParaRPr lang="ru-RU" sz="900"/>
          </a:p>
        </p:txBody>
      </p:sp>
      <p:sp>
        <p:nvSpPr>
          <p:cNvPr id="7" name="Text 5"/>
          <p:cNvSpPr/>
          <p:nvPr/>
        </p:nvSpPr>
        <p:spPr>
          <a:xfrm>
            <a:off x="886968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Кто этот покупатель?</a:t>
            </a:r>
            <a:endParaRPr lang="ru-RU" sz="1800"/>
          </a:p>
        </p:txBody>
      </p:sp>
      <p:sp>
        <p:nvSpPr>
          <p:cNvPr id="8" name="Text 6"/>
          <p:cNvSpPr/>
          <p:nvPr/>
        </p:nvSpPr>
        <p:spPr>
          <a:xfrm>
            <a:off x="3136392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9" name="Shape 7"/>
          <p:cNvSpPr/>
          <p:nvPr/>
        </p:nvSpPr>
        <p:spPr>
          <a:xfrm>
            <a:off x="3502152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703320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776472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КОНТЕКСТ</a:t>
            </a:r>
            <a:endParaRPr lang="ru-RU" sz="90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Что происходит сейчас?</a:t>
            </a:r>
            <a:endParaRPr lang="ru-RU" sz="1800"/>
          </a:p>
        </p:txBody>
      </p:sp>
      <p:sp>
        <p:nvSpPr>
          <p:cNvPr id="13" name="Text 11"/>
          <p:cNvSpPr/>
          <p:nvPr/>
        </p:nvSpPr>
        <p:spPr>
          <a:xfrm>
            <a:off x="5952744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4" name="Shape 12"/>
          <p:cNvSpPr/>
          <p:nvPr/>
        </p:nvSpPr>
        <p:spPr>
          <a:xfrm>
            <a:off x="6318504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519672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592824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ТРИГГЕР</a:t>
            </a:r>
            <a:endParaRPr lang="ru-RU" sz="900"/>
          </a:p>
        </p:txBody>
      </p:sp>
      <p:sp>
        <p:nvSpPr>
          <p:cNvPr id="17" name="Text 15"/>
          <p:cNvSpPr/>
          <p:nvPr/>
        </p:nvSpPr>
        <p:spPr>
          <a:xfrm>
            <a:off x="6519672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Какое событие наступило?</a:t>
            </a:r>
            <a:endParaRPr lang="ru-RU" sz="1800"/>
          </a:p>
        </p:txBody>
      </p:sp>
      <p:sp>
        <p:nvSpPr>
          <p:cNvPr id="18" name="Text 16"/>
          <p:cNvSpPr/>
          <p:nvPr/>
        </p:nvSpPr>
        <p:spPr>
          <a:xfrm>
            <a:off x="8769096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>
                <a:solidFill>
                  <a:srgbClr val="E30613"/>
                </a:solidFill>
              </a:rPr>
              <a:t>→</a:t>
            </a:r>
            <a:endParaRPr lang="ru-RU" sz="2000"/>
          </a:p>
        </p:txBody>
      </p:sp>
      <p:sp>
        <p:nvSpPr>
          <p:cNvPr id="19" name="Shape 17"/>
          <p:cNvSpPr/>
          <p:nvPr/>
        </p:nvSpPr>
        <p:spPr>
          <a:xfrm>
            <a:off x="9134856" y="2011680"/>
            <a:ext cx="24231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7E7E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9336024" y="228600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9409176" y="2345436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>
                <a:solidFill>
                  <a:srgbClr val="FFFFFF"/>
                </a:solidFill>
              </a:rPr>
              <a:t>ПОКАЗ</a:t>
            </a:r>
            <a:endParaRPr lang="ru-RU" sz="900"/>
          </a:p>
        </p:txBody>
      </p:sp>
      <p:sp>
        <p:nvSpPr>
          <p:cNvPr id="22" name="Text 20"/>
          <p:cNvSpPr/>
          <p:nvPr/>
        </p:nvSpPr>
        <p:spPr>
          <a:xfrm>
            <a:off x="9336024" y="3063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Что релевантно показать?</a:t>
            </a:r>
            <a:endParaRPr lang="ru-RU" sz="1800"/>
          </a:p>
        </p:txBody>
      </p:sp>
      <p:sp>
        <p:nvSpPr>
          <p:cNvPr id="23" name="Text 21"/>
          <p:cNvSpPr/>
          <p:nvPr/>
        </p:nvSpPr>
        <p:spPr>
          <a:xfrm>
            <a:off x="713232" y="4983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Примеры контекста: состав корзины • гео и магазин • наличие • цена и промо • действие пользователя • этап customer journey</a:t>
            </a:r>
            <a:endParaRPr lang="ru-RU" sz="130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E3CCD41-5CBC-EF2D-62F6-87294FA105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52</a:t>
            </a:fld>
            <a:endParaRPr lang="ru-RU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786E2E4-506F-872D-3D0E-1E25EABE14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rgbClr val="151515"/>
                </a:solidFill>
              </a:rPr>
              <a:t>Data: </a:t>
            </a:r>
            <a:r>
              <a:rPr lang="ru-RU">
                <a:solidFill>
                  <a:srgbClr val="151515"/>
                </a:solidFill>
              </a:rPr>
              <a:t>от статичных сегментов — к контексту и триггерам</a:t>
            </a:r>
            <a:endParaRPr lang="ru-RU"/>
          </a:p>
          <a:p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094D5B-06D6-02D5-D431-2F5CBFB468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237CBE-8A69-6F37-016A-C72D4D462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03681-7136-3949-EEB3-B81752648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Создаем плейсментами за пределами инфарструктуры Магнит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E69CBD-D195-48B9-753A-6481238CF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77" y="779426"/>
            <a:ext cx="5936641" cy="2226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7FF03-CB89-339F-6D3A-4155DCCB6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866" y="3087438"/>
            <a:ext cx="5643983" cy="306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556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u-RU" sz="2800"/>
          </a:p>
        </p:txBody>
      </p:sp>
      <p:sp>
        <p:nvSpPr>
          <p:cNvPr id="3" name="Text 1"/>
          <p:cNvSpPr/>
          <p:nvPr/>
        </p:nvSpPr>
        <p:spPr>
          <a:xfrm>
            <a:off x="364176" y="104698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>
                <a:solidFill>
                  <a:srgbClr val="6B6B6B"/>
                </a:solidFill>
              </a:rPr>
              <a:t>Единая точка доступа к покупателю — от первого контакта до продажи и повторной коммуникации.</a:t>
            </a:r>
            <a:endParaRPr lang="ru-RU" sz="1300"/>
          </a:p>
        </p:txBody>
      </p:sp>
      <p:sp>
        <p:nvSpPr>
          <p:cNvPr id="4" name="Shape 2"/>
          <p:cNvSpPr/>
          <p:nvPr/>
        </p:nvSpPr>
        <p:spPr>
          <a:xfrm>
            <a:off x="713232" y="1613916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86384" y="168706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MEDIA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2148840" y="1655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Больше форматов</a:t>
            </a:r>
            <a:endParaRPr lang="ru-RU" sz="1800"/>
          </a:p>
        </p:txBody>
      </p:sp>
      <p:sp>
        <p:nvSpPr>
          <p:cNvPr id="7" name="Shape 5"/>
          <p:cNvSpPr/>
          <p:nvPr/>
        </p:nvSpPr>
        <p:spPr>
          <a:xfrm>
            <a:off x="713232" y="2464308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86384" y="25374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SOCIAL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148840" y="2505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Контент рядом с покупкой</a:t>
            </a:r>
            <a:endParaRPr lang="ru-RU" sz="1800"/>
          </a:p>
        </p:txBody>
      </p:sp>
      <p:sp>
        <p:nvSpPr>
          <p:cNvPr id="10" name="Shape 8"/>
          <p:cNvSpPr/>
          <p:nvPr/>
        </p:nvSpPr>
        <p:spPr>
          <a:xfrm>
            <a:off x="713232" y="331470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86384" y="3387852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PERFORMANCE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148840" y="3355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Контроль цифровой полки</a:t>
            </a:r>
            <a:endParaRPr lang="ru-RU" sz="1800"/>
          </a:p>
        </p:txBody>
      </p:sp>
      <p:sp>
        <p:nvSpPr>
          <p:cNvPr id="13" name="Shape 11"/>
          <p:cNvSpPr/>
          <p:nvPr/>
        </p:nvSpPr>
        <p:spPr>
          <a:xfrm>
            <a:off x="713232" y="416509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86384" y="423824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INDOOR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148840" y="4206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Персонализация в магазине</a:t>
            </a:r>
            <a:endParaRPr lang="ru-RU" sz="1800"/>
          </a:p>
        </p:txBody>
      </p:sp>
      <p:sp>
        <p:nvSpPr>
          <p:cNvPr id="16" name="Shape 14"/>
          <p:cNvSpPr/>
          <p:nvPr/>
        </p:nvSpPr>
        <p:spPr>
          <a:xfrm>
            <a:off x="713232" y="5015484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86384" y="50886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2148840" y="5056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b="1">
                <a:solidFill>
                  <a:srgbClr val="151515"/>
                </a:solidFill>
              </a:rPr>
              <a:t>Правильный момент показа</a:t>
            </a:r>
            <a:endParaRPr lang="ru-RU" sz="1800"/>
          </a:p>
        </p:txBody>
      </p:sp>
      <p:sp>
        <p:nvSpPr>
          <p:cNvPr id="19" name="Shape 17"/>
          <p:cNvSpPr/>
          <p:nvPr/>
        </p:nvSpPr>
        <p:spPr>
          <a:xfrm>
            <a:off x="6995160" y="1508760"/>
            <a:ext cx="4434840" cy="4434840"/>
          </a:xfrm>
          <a:prstGeom prst="roundRect">
            <a:avLst>
              <a:gd name="adj" fmla="val 3093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635240" y="1938528"/>
            <a:ext cx="31546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Увидел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Вовлёкся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Нашёл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Купил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↓</a:t>
            </a:r>
            <a:endParaRPr lang="ru-RU" sz="2200"/>
          </a:p>
          <a:p>
            <a:pPr marL="0" indent="0" algn="ctr">
              <a:buNone/>
            </a:pPr>
            <a:r>
              <a:rPr lang="ru-RU" sz="2200" b="1">
                <a:solidFill>
                  <a:srgbClr val="FFFFFF"/>
                </a:solidFill>
              </a:rPr>
              <a:t>Вернулся</a:t>
            </a:r>
            <a:endParaRPr lang="ru-RU" sz="220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68A7572-E252-5363-B39E-CAAAFAE2E0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lang="ru-RU" b="0"/>
              <a:t>54</a:t>
            </a:fld>
            <a:endParaRPr lang="ru-R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13FA1F11-995F-3AF8-7F92-182B69462A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>
                <a:solidFill>
                  <a:srgbClr val="151515"/>
                </a:solidFill>
              </a:rPr>
              <a:t>Что получает бренд</a:t>
            </a:r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05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689463"/>
            <a:ext cx="1139754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РЕХ 2027 года ниже стратегии на 38 млн в результате снижения стоимости по новым вакансиям и перераспределения ресурсов между функциями: фактическая потребность сместилась в сторону non-tech с более низкооплачиваемыми ставками, при этом найм в tech скорректирован в меньшую сторону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>
                <a:solidFill>
                  <a:prstClr val="black"/>
                </a:solidFill>
                <a:latin typeface="Arial"/>
              </a:rPr>
              <a:t>Project</a:t>
            </a:r>
            <a:r>
              <a:rPr lang="ru-RU" sz="1200">
                <a:solidFill>
                  <a:prstClr val="black"/>
                </a:solidFill>
                <a:latin typeface="Arial"/>
              </a:rPr>
              <a:t> «Платформа монетизации данных» перенесен из центрального маркетинга в контур </a:t>
            </a:r>
            <a:r>
              <a:rPr lang="en-US" sz="1200">
                <a:solidFill>
                  <a:prstClr val="black"/>
                </a:solidFill>
                <a:latin typeface="Arial"/>
              </a:rPr>
              <a:t>AdTech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с 2027 г. (</a:t>
            </a:r>
            <a:r>
              <a:rPr lang="en-US" sz="1200">
                <a:solidFill>
                  <a:prstClr val="black"/>
                </a:solidFill>
                <a:latin typeface="Arial"/>
              </a:rPr>
              <a:t>PEX </a:t>
            </a:r>
            <a:r>
              <a:rPr lang="ru-RU" sz="1200">
                <a:solidFill>
                  <a:prstClr val="black"/>
                </a:solidFill>
                <a:latin typeface="Arial"/>
              </a:rPr>
              <a:t>бюджет 48 млн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таргета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719270"/>
              </p:ext>
            </p:extLst>
          </p:nvPr>
        </p:nvGraphicFramePr>
        <p:xfrm>
          <a:off x="697281" y="889000"/>
          <a:ext cx="10117464" cy="3598330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394003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37053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37053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37053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3705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394003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800686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CD4A-6790-518A-36F9-8C8E8596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D965DCD-95E6-ABCF-EA8A-790F4385AA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D965DCD-95E6-ABCF-EA8A-790F4385AA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A850837-87DD-6483-24BD-DFC150747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16E61E-1CB0-D0BE-6FF1-8F909D71E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FTE</a:t>
            </a:r>
            <a:r>
              <a:rPr lang="ru-RU"/>
              <a:t>: рост производительности и снижение потенциального роста численности</a:t>
            </a:r>
          </a:p>
          <a:p>
            <a:endParaRPr lang="ru-RU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AC67F1E7-DA9C-9FB7-74E7-34149194BA95}"/>
              </a:ext>
            </a:extLst>
          </p:cNvPr>
          <p:cNvGraphicFramePr>
            <a:graphicFrameLocks noGrp="1"/>
          </p:cNvGraphicFramePr>
          <p:nvPr/>
        </p:nvGraphicFramePr>
        <p:xfrm>
          <a:off x="364176" y="974798"/>
          <a:ext cx="5641133" cy="747124"/>
        </p:xfrm>
        <a:graphic>
          <a:graphicData uri="http://schemas.openxmlformats.org/drawingml/2006/table">
            <a:tbl>
              <a:tblPr/>
              <a:tblGrid>
                <a:gridCol w="1005444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81107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923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972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11305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5710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795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</a:tblGrid>
              <a:tr h="37356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73562"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CBC0F6-8F4C-8D47-36E9-04074D486612}"/>
              </a:ext>
            </a:extLst>
          </p:cNvPr>
          <p:cNvSpPr txBox="1"/>
          <p:nvPr/>
        </p:nvSpPr>
        <p:spPr>
          <a:xfrm>
            <a:off x="6287452" y="907717"/>
            <a:ext cx="5297485" cy="472437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производительности на 1 </a:t>
            </a:r>
            <a:r>
              <a:rPr lang="ru-RU" sz="1100" kern="0">
                <a:solidFill>
                  <a:srgbClr val="000000"/>
                </a:solidFill>
                <a:ea typeface="Montserrat"/>
                <a:cs typeface="Arial" panose="020B0604020202020204" pitchFamily="34" charset="0"/>
                <a:sym typeface="Montserrat"/>
              </a:rPr>
              <a:t>сотрудника растет на </a:t>
            </a: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5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млн</a:t>
            </a: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Б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ез оптимизации процессов и </a:t>
            </a:r>
            <a:r>
              <a:rPr lang="ru-RU" sz="1100" kern="0">
                <a:solidFill>
                  <a:srgbClr val="000000"/>
                </a:solidFill>
                <a:ea typeface="Montserrat"/>
                <a:cs typeface="Arial" panose="020B0604020202020204" pitchFamily="34" charset="0"/>
                <a:sym typeface="Montserrat"/>
              </a:rPr>
              <a:t>повышения производительности </a:t>
            </a:r>
            <a:r>
              <a:rPr lang="ru-RU" sz="1100" b="1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потенциальный рост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оцениваем +128 </a:t>
            </a: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FTE</a:t>
            </a: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в 2027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, вместо 53:</a:t>
            </a:r>
          </a:p>
          <a:p>
            <a:pPr marL="722313" lvl="1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tech </a:t>
            </a:r>
            <a:r>
              <a:rPr lang="ru-RU" sz="1100" kern="0">
                <a:solidFill>
                  <a:srgbClr val="000000"/>
                </a:solidFill>
                <a:latin typeface="Arial" panose="020B0604020202020204"/>
                <a:cs typeface="Arial" panose="020B0604020202020204" pitchFamily="34" charset="0"/>
                <a:sym typeface="Montserrat"/>
              </a:rPr>
              <a:t>оцениваем уменьшение на 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36</a:t>
            </a:r>
            <a:r>
              <a:rPr lang="en-US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 FTE</a:t>
            </a:r>
            <a:r>
              <a:rPr lang="ru-RU" kumimoji="0" sz="110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 panose="020B0604020202020204" pitchFamily="34" charset="0"/>
                <a:sym typeface="Montserrat"/>
              </a:rPr>
              <a:t> </a:t>
            </a:r>
          </a:p>
          <a:p>
            <a:pPr marL="722313" lvl="1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non-tech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- 39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FTE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 </a:t>
            </a: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72% новых вакансий приносят выручку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(контент-завод,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коммерция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, биздев)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.  Остальные функции растут для поддержки масштабирования. </a:t>
            </a: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</a:rPr>
              <a:t>Не растет численность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в ИТ (62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</a:rPr>
              <a:t>FTE)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</a:rPr>
              <a:t>, и минимальный прирост в операциях (78+3 </a:t>
            </a:r>
            <a:r>
              <a:rPr lang="en-US" sz="1100" kern="0">
                <a:solidFill>
                  <a:srgbClr val="000000"/>
                </a:solidFill>
                <a:cs typeface="Arial" panose="020B0604020202020204" pitchFamily="34" charset="0"/>
              </a:rPr>
              <a:t>FTE)</a:t>
            </a:r>
            <a:endParaRPr lang="ru-RU" sz="1100" kern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265113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Снижение числа потенциальных новых вакансий достигнут за счет: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Автоматизация: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автоматический сбор и консолидация финансовой отчетности, отчетности для поставщиков, автоматизация работы с внешними площадками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Стандартизация данных и процессов: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сбор дашбордов по единым стандартам, стандартизация отчетов, создание продакшен витрин вместо разовых выгрузок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ИИ: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внедрение ИИ-агентов в работе с библиотеками запросов, сценарии по данным, агентизация разработки и процессов выхода маркетинговых материалов</a:t>
            </a:r>
          </a:p>
          <a:p>
            <a:pPr marL="722313" lvl="1" indent="-265113">
              <a:buClr>
                <a:srgbClr val="000000"/>
              </a:buClr>
              <a:buFont typeface="Courier New" panose="02070309020205020404" pitchFamily="49" charset="0"/>
              <a:buChar char="o"/>
              <a:defRPr/>
            </a:pPr>
            <a:r>
              <a:rPr lang="ru-RU" sz="1100" b="1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Оптимизация работы: </a:t>
            </a:r>
            <a:r>
              <a:rPr lang="ru-RU" sz="1100" kern="0">
                <a:solidFill>
                  <a:srgbClr val="000000"/>
                </a:solidFill>
                <a:cs typeface="Arial" panose="020B0604020202020204" pitchFamily="34" charset="0"/>
                <a:sym typeface="Montserrat"/>
              </a:rPr>
              <a:t>оптимизация сегментации онлайн-кампаний и прайс-листа, увеличение нагрузки на текущие команды, оптимизация ценообразования, настройка процессов в кросс функциях при выводе новых рекламных продуктов</a:t>
            </a:r>
          </a:p>
          <a:p>
            <a:pPr marL="265113" lvl="0" indent="-265113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ru-RU" sz="1100" kern="0">
              <a:solidFill>
                <a:srgbClr val="000000"/>
              </a:solidFill>
              <a:cs typeface="Arial" panose="020B0604020202020204" pitchFamily="34" charset="0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kern="0">
              <a:solidFill>
                <a:srgbClr val="000000"/>
              </a:solidFill>
              <a:cs typeface="Arial" panose="020B0604020202020204" pitchFamily="34" charset="0"/>
              <a:sym typeface="Montserrat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Диаграмма 1">
                <a:extLst>
                  <a:ext uri="{FF2B5EF4-FFF2-40B4-BE49-F238E27FC236}">
                    <a16:creationId xmlns:a16="http://schemas.microsoft.com/office/drawing/2014/main" id="{5C4AB533-6477-BCED-7F29-50695ABABB8B}"/>
                  </a:ext>
                </a:extLst>
              </p:cNvPr>
              <p:cNvGraphicFramePr/>
              <p:nvPr/>
            </p:nvGraphicFramePr>
            <p:xfrm>
              <a:off x="541098" y="2251113"/>
              <a:ext cx="5464211" cy="352172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0"/>
              </a:graphicData>
            </a:graphic>
          </p:graphicFrame>
        </mc:Choice>
        <mc:Fallback xmlns="">
          <p:pic>
            <p:nvPicPr>
              <p:cNvPr id="2" name="Диаграмма 1">
                <a:extLst>
                  <a:ext uri="{FF2B5EF4-FFF2-40B4-BE49-F238E27FC236}">
                    <a16:creationId xmlns:a16="http://schemas.microsoft.com/office/drawing/2014/main" id="{5C4AB533-6477-BCED-7F29-50695ABABB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41098" y="2251113"/>
                <a:ext cx="5464211" cy="3521726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ectangle 16">
            <a:extLst>
              <a:ext uri="{FF2B5EF4-FFF2-40B4-BE49-F238E27FC236}">
                <a16:creationId xmlns:a16="http://schemas.microsoft.com/office/drawing/2014/main" id="{9446B0D7-0681-4D5D-244B-76963C2A1BF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11647" y="5582269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</a:rPr>
              <a:t>Core FTE 2026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15372D1D-A5E6-7B1A-E355-09E83087B535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182986" y="5475153"/>
            <a:ext cx="1444816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000">
                <a:solidFill>
                  <a:schemeClr val="tx1"/>
                </a:solidFill>
              </a:rPr>
              <a:t>Эффект автоматизации процессов и повышения производительности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E11B6501-A72E-6C82-3567-E3C2DC185168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910752" y="5590003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chemeClr val="tx1"/>
                </a:solidFill>
              </a:rPr>
              <a:t>Core FTE 2027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565BA1B5-FE91-C4D3-E143-657B88F82B92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2031496" y="5523221"/>
            <a:ext cx="10795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ru-RU" sz="1000">
                <a:solidFill>
                  <a:schemeClr val="tx1"/>
                </a:solidFill>
              </a:rPr>
              <a:t>Потенциальный рост по нагрузке</a:t>
            </a:r>
          </a:p>
        </p:txBody>
      </p:sp>
    </p:spTree>
    <p:extLst>
      <p:ext uri="{BB962C8B-B14F-4D97-AF65-F5344CB8AC3E}">
        <p14:creationId xmlns:p14="http://schemas.microsoft.com/office/powerpoint/2010/main" val="5442713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sz="1200">
                <a:solidFill>
                  <a:prstClr val="black"/>
                </a:solidFill>
                <a:latin typeface="Arial"/>
              </a:rPr>
              <a:t>Доп. найм для контент-завода, окупаемость в пределах года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37202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Рост </a:t>
            </a:r>
            <a:r>
              <a:rPr lang="en-US"/>
              <a:t>FTE </a:t>
            </a:r>
            <a:r>
              <a:rPr lang="ru-RU"/>
              <a:t>напрямую коррелирует с ростом выручки. Поддерживаем эффективный рост бизнеса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Рост направлений и выручки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Новые ставки </a:t>
            </a:r>
            <a:r>
              <a:rPr lang="ru-RU" sz="1400">
                <a:solidFill>
                  <a:srgbClr val="000000"/>
                </a:solidFill>
              </a:rPr>
              <a:t>напрямую завязаны на </a:t>
            </a:r>
            <a:r>
              <a:rPr lang="ru-RU" sz="1400" b="1">
                <a:solidFill>
                  <a:srgbClr val="000000"/>
                </a:solidFill>
              </a:rPr>
              <a:t>рост выручки от направлений. </a:t>
            </a:r>
            <a:r>
              <a:rPr lang="ru-RU" sz="1400">
                <a:solidFill>
                  <a:srgbClr val="000000"/>
                </a:solidFill>
              </a:rPr>
              <a:t>Общий прирост выручки </a:t>
            </a:r>
            <a:r>
              <a:rPr lang="en-US" sz="1400">
                <a:solidFill>
                  <a:srgbClr val="000000"/>
                </a:solidFill>
              </a:rPr>
              <a:t>AdTech </a:t>
            </a:r>
            <a:r>
              <a:rPr lang="ru-RU" sz="1400">
                <a:solidFill>
                  <a:srgbClr val="000000"/>
                </a:solidFill>
              </a:rPr>
              <a:t>в 2027 году составит  41%, прирост по численности составит </a:t>
            </a:r>
            <a:r>
              <a:rPr lang="en-US" sz="1400">
                <a:solidFill>
                  <a:srgbClr val="000000"/>
                </a:solidFill>
              </a:rPr>
              <a:t>17% FTE</a:t>
            </a:r>
            <a:endParaRPr lang="ru-RU" sz="14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72% новых вакансий </a:t>
            </a:r>
            <a:r>
              <a:rPr lang="ru-RU" sz="1400">
                <a:solidFill>
                  <a:srgbClr val="000000"/>
                </a:solidFill>
              </a:rPr>
              <a:t>приносят выручку (контент-завод, коммерция, биздев).  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Поддержка бизнес-функций под объем выручки и запуск новых схем работы с контрагентами (отдельное юр. лицо, </a:t>
            </a:r>
            <a:r>
              <a:rPr lang="en-US" sz="1400">
                <a:solidFill>
                  <a:srgbClr val="000000"/>
                </a:solidFill>
              </a:rPr>
              <a:t>RMN </a:t>
            </a:r>
            <a:r>
              <a:rPr lang="ru-RU" sz="1400">
                <a:solidFill>
                  <a:srgbClr val="000000"/>
                </a:solidFill>
              </a:rPr>
              <a:t>и пр.)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>
              <a:solidFill>
                <a:srgbClr val="000000"/>
              </a:solidFill>
            </a:endParaRPr>
          </a:p>
          <a:p>
            <a:pPr>
              <a:spcBef>
                <a:spcPts val="900"/>
              </a:spcBef>
            </a:pP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>
              <a:solidFill>
                <a:srgbClr val="000000"/>
              </a:solidFill>
            </a:endParaRP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endParaRPr lang="ru-RU" sz="1200" b="1">
              <a:solidFill>
                <a:srgbClr val="000000"/>
              </a:solidFill>
            </a:endParaRPr>
          </a:p>
          <a:p>
            <a:pPr marL="0" indent="0">
              <a:spcBef>
                <a:spcPts val="1200"/>
              </a:spcBef>
              <a:buNone/>
            </a:pPr>
            <a:endParaRPr lang="ru-RU" sz="1200">
              <a:solidFill>
                <a:srgbClr val="00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B2111A0-E513-4207-888F-CB237A8A5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396292"/>
              </p:ext>
            </p:extLst>
          </p:nvPr>
        </p:nvGraphicFramePr>
        <p:xfrm>
          <a:off x="457200" y="1462922"/>
          <a:ext cx="6934200" cy="3835958"/>
        </p:xfrm>
        <a:graphic>
          <a:graphicData uri="http://schemas.openxmlformats.org/drawingml/2006/table">
            <a:tbl>
              <a:tblPr/>
              <a:tblGrid>
                <a:gridCol w="2341756">
                  <a:extLst>
                    <a:ext uri="{9D8B030D-6E8A-4147-A177-3AD203B41FA5}">
                      <a16:colId xmlns:a16="http://schemas.microsoft.com/office/drawing/2014/main" val="1457408025"/>
                    </a:ext>
                  </a:extLst>
                </a:gridCol>
                <a:gridCol w="1326995">
                  <a:extLst>
                    <a:ext uri="{9D8B030D-6E8A-4147-A177-3AD203B41FA5}">
                      <a16:colId xmlns:a16="http://schemas.microsoft.com/office/drawing/2014/main" val="441432754"/>
                    </a:ext>
                  </a:extLst>
                </a:gridCol>
                <a:gridCol w="3265449">
                  <a:extLst>
                    <a:ext uri="{9D8B030D-6E8A-4147-A177-3AD203B41FA5}">
                      <a16:colId xmlns:a16="http://schemas.microsoft.com/office/drawing/2014/main" val="42272494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Направление бизнеса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Кол-во ставок на 2027  (FTE)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Прирост выручки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6350">
                      <a:noFill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854551"/>
                  </a:ext>
                </a:extLst>
              </a:tr>
              <a:tr h="93579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Контент-завод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+213 млн рублей (без учета ВГО), развитие нового направления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929754"/>
                  </a:ext>
                </a:extLst>
              </a:tr>
              <a:tr h="590814">
                <a:tc>
                  <a:txBody>
                    <a:bodyPr/>
                    <a:lstStyle/>
                    <a:p>
                      <a:pPr marL="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Развитие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</a:rPr>
                        <a:t>n-store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n-lt"/>
                        </a:rPr>
                        <a:t>digital</a:t>
                      </a:r>
                      <a:endParaRPr lang="ru-RU" sz="120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и 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</a:t>
                      </a:r>
                      <a:endParaRPr lang="ru-RU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+ 3 073 млн рублей выручки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896533"/>
                  </a:ext>
                </a:extLst>
              </a:tr>
              <a:tr h="187159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Поддержка бизнес-функций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Поддержка масштабирования бизнеса. Запуск отдельного юр. лица под RMN и бренд-бюджеты поставщиков. Включает в себя функции операций, финансов, маркетинг</a:t>
                      </a:r>
                    </a:p>
                  </a:txBody>
                  <a:tcPr marL="72000" marR="72000" marT="36000" marB="36000" anchor="ctr">
                    <a:lnL w="6350">
                      <a:noFill/>
                    </a:lnL>
                    <a:lnR w="6350">
                      <a:noFill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443354"/>
                  </a:ext>
                </a:extLst>
              </a:tr>
            </a:tbl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046EFB5-9FD4-40D0-A0EF-F92205C92E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5290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lang="ru-RU" kumimoji="0" sz="1400" b="1" i="0" u="none" strike="noStrike" kern="1200" cap="none" spc="0" normalizeH="0" baseline="3000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lang="en-US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lang="en-US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338052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36000" marR="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7156-6838-65B5-D6E9-8F600135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2A114BD-65C6-6B0B-5A30-FCCCDB5546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A114BD-65C6-6B0B-5A30-FCCCDB5546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6531C63-E8A6-3AFA-1E3F-9A51E2711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64EFC2-BEE6-3E29-6644-AE4B7912FE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Детальное обоснование ставок 2027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9EFFD6E2-002D-AFA2-54C8-8F665A091C1D}"/>
              </a:ext>
            </a:extLst>
          </p:cNvPr>
          <p:cNvGraphicFramePr>
            <a:graphicFrameLocks noGrp="1"/>
          </p:cNvGraphicFramePr>
          <p:nvPr/>
        </p:nvGraphicFramePr>
        <p:xfrm>
          <a:off x="364177" y="691438"/>
          <a:ext cx="10900427" cy="522922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58172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26234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603530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8941119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137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45483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2027* </a:t>
                      </a:r>
                    </a:p>
                    <a:p>
                      <a:pPr algn="ctr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14624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SOCIAL COM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Контент-завод </a:t>
                      </a:r>
                      <a:br>
                        <a:rPr lang="ru-RU" sz="1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1-5. команда менеджеров по работе с блогерами +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работают сразу с несколькими брендами и форматами: разработка визуальных концепций, шаблонов, гайдлайнов и презентационных материалов, в т.ч.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sales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-маркетинг материалы, необходимые команде продаж при взаимодействии с поставщиками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6-10: команда продюсеров +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ключевая роль внутри производственной ячейки: продюсер превращает задачи бренда в работающие идеи, ставит задания креаторам, контролирует качество и отвечает за результат контента. нужен специалист с опытом в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social-first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контенте, способный одновременно вести несколько брендов и большой объём производства, это роль на пересечении креатива, продакшена и работы с блогерами.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11-18: команда проджектов + рук команд: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управляет полным производственным циклом: планированием, загрузкой команды, сроками, статусами, согласованиями и взаимодействием со смежными подразделениями. при масштабе проекта эта роль необходима, чтобы креативная команда не тратила время на администрирование, а производство выполняло планы.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u="none" strike="noStrike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  <a:tr h="16863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BIZDEV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создание бизнес процессов, ценообразования и подбор инвентаря для локальных рекламодателей, от 50 млн. руб в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2. Ведущий менеджер: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аукцион по дополнительному месту продаж все сети. от 300 млн в год (ранее ставка была бизнес-партнера категории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food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(в процессе бюджетной кампании скорректировали)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Ведущий менеджер: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поиск партнеров и их подключение к RMN (50+ партнеров) страт проект (ранее ставка была бизнес-партнера категории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non-food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(в процессе бюджетной кампании скорректировали)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4.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разработка нового индор инвентаря персонализировано под каждого рекламодателя. (зарядки с экранами для Нац.Лотереи, монетизация партнерского мерчандайзинга, курьерские сумки и другое), инкрементальный доход от 50 млн. в год.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5.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Новые инициативы и спецпроекты для повышения рекламной выручки (страхование покупок, агрегатор лабораторий и др.). Инкрементальный доход от непоставщиков +100 млн руб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6. Менеджер проектов: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реализация РМН в части Digital In-Store, интеграция Лемана Про, Лента, М.Видео и новые сети. Инкрементальный доход от 50 млн. в год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7. Менеджер по развитию: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Интеграция рекламных обязательств в тендеры Магнит, работа с топ 100 КА, проведение тендеров на экслюзивную продажу рекламного инвентаря, инкрементальный доход+200 млн руб год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2538024"/>
                  </a:ext>
                </a:extLst>
              </a:tr>
              <a:tr h="2744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MARKETING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Дизайнер: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увеличение нагрузки на дизайн за счет увеличения объема рекламодателей, новых форматов, подключение новых рекламных площадок в рамках ГК Магнит: Дикси, АВ и др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2880650"/>
                  </a:ext>
                </a:extLst>
              </a:tr>
              <a:tr h="2744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 Главный специалист по размещению рекламы: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Под рост нагрузки по количеству запусков и увеличению кол-ва рекламодателей.</a:t>
                      </a:r>
                      <a:b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ru-RU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2, 3. Ведущий специалист по размещению рекламы: 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Фин план растет на 35%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YoY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(поставщики и не поставщики БЕЗ лояльности). Основной рост ожидаем за счет инвентаря Digital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Instore</a:t>
                      </a: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 Под рост запусков с поправкой на то, что их количество не соотносится с Адревом как 1:1, требуется плюс 20-22% FTE. С учетом наших планов по автоматизации и оптимизации процессов, закладываем в два раза меньше, + 10% к штату (2 FTE). 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904838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F9F9421-2E4A-9898-6D1B-08CAF3CD0DDB}"/>
              </a:ext>
            </a:extLst>
          </p:cNvPr>
          <p:cNvSpPr txBox="1"/>
          <p:nvPr/>
        </p:nvSpPr>
        <p:spPr>
          <a:xfrm>
            <a:off x="1728787" y="6367789"/>
            <a:ext cx="4529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100" i="1"/>
              <a:t>* Численность по ставкам, без учета ССЧ</a:t>
            </a:r>
          </a:p>
        </p:txBody>
      </p:sp>
    </p:spTree>
    <p:extLst>
      <p:ext uri="{BB962C8B-B14F-4D97-AF65-F5344CB8AC3E}">
        <p14:creationId xmlns:p14="http://schemas.microsoft.com/office/powerpoint/2010/main" val="36076854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936E-8563-A9C1-D53E-BE837A58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7B541C5-3932-1541-3E8A-C3E3C7B7CC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B541C5-3932-1541-3E8A-C3E3C7B7CC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CF72EB-F9F5-6059-F903-DDBC2DA93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20DBEC6C-D05C-B4F0-BB4C-44260079759C}"/>
              </a:ext>
            </a:extLst>
          </p:cNvPr>
          <p:cNvGraphicFramePr>
            <a:graphicFrameLocks noGrp="1"/>
          </p:cNvGraphicFramePr>
          <p:nvPr/>
        </p:nvGraphicFramePr>
        <p:xfrm>
          <a:off x="364177" y="691437"/>
          <a:ext cx="10900426" cy="5445755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58172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26233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910300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8634349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1372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61135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 </a:t>
                      </a:r>
                    </a:p>
                    <a:p>
                      <a:pPr algn="l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28686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PRODUCT</a:t>
                      </a:r>
                      <a:endParaRPr lang="en-US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1. Руководитель команды медийной рекламы. Масштаб медийного направления становится существенно больше: кроме развития собственного инвентаря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web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app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появляются Social Commerce,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shoppable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и нативные форматы,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indoor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, внешние SSP и новые модели монетизации. Здесь уже недостаточно управления отдельными продуктами — нужен единый владелец направления, который будет отвечать за стратегию развития медийной рекламы, синхронизировать несколько продуктовых потоков, определять приоритеты между форматами и поверхностями и отвечать за рост инвентаря, его монетизацию и эффективность для рекламодателей. Это также позволит снять часть операционного управления с CPO и сохранить единый вектор развития Media по мере роста команды.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2. Ведущий менеджер продукта: Поддержку подключения новых партнеров: Азбука Вкуса, Дикси и тд, что обеспечит рост трафика и выручки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3. Ведущий менеджер продукта: В 2027 году медийное направление сильно расширяется: запускаем новые нативные и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shoppable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-форматы, видео и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stories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, Social Commerce с переносом контента блогеров в приложение, персонализацию рекламы, новые поверхности и подключение внешних SSP. Текущего ресурса уже недостаточно, чтобы одновременно развивать базовую медийную платформу и выводить на рынок новые продукты. Дополнительный менеджер позволит выделить отдельный фокус на развитии форматов и инвентаря, их эффективности и масштабировании на все поверхности Магнит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4. Ведущий менеджер продукта: Дополнительный менеджер продукта на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. Performance развивается из инструмента продвижения отдельных SKU в полноценную систему управления присутствием бренда на цифровой полке. В планах — управление позициями бренда в поиске, новые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-форматы, автоматическое распределение бюджета, автоставки и автоподбор плейсментов, AI-ассистент и использование контекстуальных и триггерных сигналов. Это уже отдельный большой продуктовый контур со своей логикой аукциона, ML, аналитики и оптимизации. Дополнительный менеджер нужен, чтобы ускорить развитие этих инструментов и сделать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performance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полноценным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self-service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продуктом для брендов.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4834544"/>
                  </a:ext>
                </a:extLst>
              </a:tr>
              <a:tr h="19657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FINANCE</a:t>
                      </a:r>
                      <a:endParaRPr lang="en-US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1. Финансовый бизнес-партнёр In-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App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: планирование выручки и затрат, контроль маржинальности и P&amp;L, оценка финансового эффекта новых рекламных продуктов и тарифов, контроль исполнения бюджета и подготовка управленческой отчетности. Отдельная роль необходима из-за роста объема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digital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-инвентаря и необходимости оперативно принимать решения по экономике размещений.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2. Финансовый бизнес-партнёр In-Store: расчет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unit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-экономики и рентабельности рекламного инвентаря, финансовая оценка новых форматов и партнерских моделей, контроль план-факт по выручке и затратам, участие в ценообразовании и подготовке бизнес-кейсов. Ставка позволит обеспечить финансовый контроль при масштабировании и запуске новых </a:t>
                      </a:r>
                      <a:r>
                        <a:rPr lang="en-US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in-store</a:t>
                      </a: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 форматов.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3,4. Финансовый аналитик: План-факт анализ, подготовка регулярной управленческой отчетности, сбор и консолидация данных, контроль бюджета и KPI, анализ отклонений, подготовка финансовых моделей и презентационных материалов для принятия управленческих решений. Дополнительная ставка необходима для своевременного закрытия регулярного аналитического контура.</a:t>
                      </a:r>
                      <a:br>
                        <a:rPr lang="ru-RU" sz="1000" b="0" u="none" strike="noStrike" kern="1200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5. Финансовый бизнес-партнёр: Финансовое сопровождение прочих направлений монетизации: оценка бизнес-кейсов, планирование доходов и расходов, контроль финансовых KPI, анализ отклонений и подготовка рекомендаций по повышению эффективности. Роль необходима для единого финансового контура по новым источникам дохода и снижения риска разрозненного управления экономикой инициатив.</a:t>
                      </a:r>
                      <a:endParaRPr lang="ru-RU" sz="1000" b="0" u="none" strike="noStrike" kern="120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7912646"/>
                  </a:ext>
                </a:extLst>
              </a:tr>
            </a:tbl>
          </a:graphicData>
        </a:graphic>
      </p:graphicFrame>
      <p:sp>
        <p:nvSpPr>
          <p:cNvPr id="28" name="Овал 8">
            <a:extLst>
              <a:ext uri="{FF2B5EF4-FFF2-40B4-BE49-F238E27FC236}">
                <a16:creationId xmlns:a16="http://schemas.microsoft.com/office/drawing/2014/main" id="{7FB9AF32-4299-F962-7E8E-1B5B28B378C6}"/>
              </a:ext>
            </a:extLst>
          </p:cNvPr>
          <p:cNvSpPr/>
          <p:nvPr/>
        </p:nvSpPr>
        <p:spPr>
          <a:xfrm>
            <a:off x="2029800" y="88941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8">
            <a:extLst>
              <a:ext uri="{FF2B5EF4-FFF2-40B4-BE49-F238E27FC236}">
                <a16:creationId xmlns:a16="http://schemas.microsoft.com/office/drawing/2014/main" id="{4690F45B-BAB0-E7D7-0B12-7F1B7A0A480E}"/>
              </a:ext>
            </a:extLst>
          </p:cNvPr>
          <p:cNvSpPr/>
          <p:nvPr/>
        </p:nvSpPr>
        <p:spPr>
          <a:xfrm>
            <a:off x="2029800" y="922965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0D071AAE-17D6-E42C-07B8-DBF29402B1FE}"/>
              </a:ext>
            </a:extLst>
          </p:cNvPr>
          <p:cNvSpPr/>
          <p:nvPr/>
        </p:nvSpPr>
        <p:spPr>
          <a:xfrm>
            <a:off x="2029800" y="973294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B8DF65BB-C2E3-9246-30CF-7CFD3E3F8AC3}"/>
              </a:ext>
            </a:extLst>
          </p:cNvPr>
          <p:cNvSpPr txBox="1">
            <a:spLocks/>
          </p:cNvSpPr>
          <p:nvPr/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4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Детальное обоснование ставок 2027 (продолжение)</a:t>
            </a:r>
          </a:p>
        </p:txBody>
      </p:sp>
    </p:spTree>
    <p:extLst>
      <p:ext uri="{BB962C8B-B14F-4D97-AF65-F5344CB8AC3E}">
        <p14:creationId xmlns:p14="http://schemas.microsoft.com/office/powerpoint/2010/main" val="21930508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1797-A576-2D9B-674D-BF7AC6B3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627477E-46BB-3E6D-1A13-F4142BF89E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" imgW="395" imgH="394" progId="TCLayout.ActiveDocument.1">
                  <p:embed/>
                </p:oleObj>
              </mc:Choice>
              <mc:Fallback>
                <p:oleObj name="Слайд think-cell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27477E-46BB-3E6D-1A13-F4142BF89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162773D-5FC7-BEE3-8651-F78EF6540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860D2AE4-EBD2-D9BA-CCC7-48F67194BAAC}"/>
              </a:ext>
            </a:extLst>
          </p:cNvPr>
          <p:cNvGraphicFramePr>
            <a:graphicFrameLocks noGrp="1"/>
          </p:cNvGraphicFramePr>
          <p:nvPr/>
        </p:nvGraphicFramePr>
        <p:xfrm>
          <a:off x="364175" y="577133"/>
          <a:ext cx="11463650" cy="550720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18015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132756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957335">
                  <a:extLst>
                    <a:ext uri="{9D8B030D-6E8A-4147-A177-3AD203B41FA5}">
                      <a16:colId xmlns:a16="http://schemas.microsoft.com/office/drawing/2014/main" val="111183517"/>
                    </a:ext>
                  </a:extLst>
                </a:gridCol>
                <a:gridCol w="9080484">
                  <a:extLst>
                    <a:ext uri="{9D8B030D-6E8A-4147-A177-3AD203B41FA5}">
                      <a16:colId xmlns:a16="http://schemas.microsoft.com/office/drawing/2014/main" val="3776771907"/>
                    </a:ext>
                  </a:extLst>
                </a:gridCol>
                <a:gridCol w="75060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</a:tblGrid>
              <a:tr h="61135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u="none" strike="noStrike">
                          <a:solidFill>
                            <a:srgbClr val="000000"/>
                          </a:solidFill>
                          <a:effectLst/>
                        </a:rPr>
                        <a:t>Функция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Кол-во ставок на 2027 </a:t>
                      </a:r>
                    </a:p>
                    <a:p>
                      <a:pPr algn="l" fontAlgn="b">
                        <a:buNone/>
                      </a:pP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Обоснование ставок</a:t>
                      </a:r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9123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ANALYTICS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 Аналитик данных: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появляются новые механики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+: кешбэк онлайн, бонусы за отзывы,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daily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offer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. Чтобы поддержать стратегические проекты по эффективности механик и достичь бюджетов x2 по 2027 году относительно 2026 года нужен +1 аналитик на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M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+. На текущий момент 1.5 аналитика на этом направлении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2. Дата инженер: 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рост команды аналитики в два раза + масштабирование рекламной платформы на новые форматы (внутри магнита, Азбука, Дикси). Чтобы обеспечить рост трафика и вырастить утилизацию, при этом не просесть в качестве данных, необходимо +1 ставка дата инженера. На текущий момент на всех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AdTech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только два дата инженера.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9394797"/>
                  </a:ext>
                </a:extLst>
              </a:tr>
              <a:tr h="33201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COMMERCE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None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1.Менеджер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Ведет портфель ТОП поставщиков напитков, увеличиваем количество клиентов в работе на +80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2. 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Менеджер по работе с клиентами: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Охватываем длинный хвост поставщиков, порядка 1300 клиентов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Начальник отдела: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Объединяет всех поставщиков категорий Нон-фуд + напитки, табак. Увеличиваем покрытие клиентской базы в 2 раза (250+500) 30% в деньгах. + 150 клиентов из новых форматов: Аптеки, АВ, В1, Дикси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4. Начальник отдела: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Объединяет всех поставщиков категорий фуд. В структуре 2 команды между которыми поделены равнозначные куски категорий. Увеличиваем покрытие клиентов в категории в 2 раза(300-600), в деньгах + 30-35%. Также появляется новая роль BDM на новые форматы, задача роли будет продавать инвентарь AdTeсh для клиентов АВ, В1, Заряд, Дикси. Итого отдел из 13 человек. Напрямую руководителю отдела подчиняется: руководитель команды Фреш, руководитель команды Драй, медиапланер, BDM на новые форматы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. Менеджер по развитию новых форматов: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Охватываем новые форматы: Аптеки, АВ, В1, Дикси. +150 клиентов в нон фуде и 200+ клиентов в фуде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6. 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охватываем дополнительно 120 клиентов в категориях драй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7.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охватываем дополнительно 80 клиентов в категориях фреш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8. Руководитель команды: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отделение команды по работе с рекламными агентствами, где выделены фокусы на: рост инкриментальной выручки по ФМСГ / Работа с перфоманс и медиа командами РА/ Формирование долгосрочных и прочных отношений с рекламным рынком.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9. Менеджер внешних специальных проектов: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формирование и аккаунтинг стратегических проектов: 150-300 млн ( проекты) / 350 -500 млн ( диджитал проекты через ММТ); Проекты с внешним инвентарем и переговоры по СТВ интеграции и РМН ; Сим-Карты ( аккаунтинг и развитие); Диджитал бюджетирование ФМСГ через ММТ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10.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выделяем дополнительно под задачи кросс-функций с целью реализации и работы по Экосистемным продуктам и продажи в Азбуке вкуса / Дикси /B1/гроу-фуд/МА/МК / Финтех и М+ ( воронки составляют свыше 500 клиентов), ожидания как поддержка + доп деньги при среднем чеке в 500к - 250 млн +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11. Менеджер по работе с клиентами: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Доп ресурс на работу с инкриментальными бюджетами ФМСГ через ММТ по направлению РА : 50 млн / мес, Медиапланирвоание, Посткампейны, Аккаунтинг  </a:t>
                      </a:r>
                    </a:p>
                    <a:p>
                      <a:pPr marL="0" marR="0" lvl="0" indent="0" algn="l" defTabSz="914354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12. Менеджер по работе с поставщиками(кэшбэк на </a:t>
                      </a:r>
                      <a:r>
                        <a:rPr lang="en-US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sku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):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под рост планируемой выручки в 3 раза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YoY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3. Менеджер по работе с поставщиками(Любимая категория): 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увеличение кпэ на 2027 год по направлению любимой категории почти X3, на данную ставку заложено привлечение более 500 млн от поставщиков</a:t>
                      </a:r>
                      <a:br>
                        <a:rPr lang="ru-RU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ru-RU" sz="1000" b="1" u="none" strike="noStrike">
                          <a:solidFill>
                            <a:srgbClr val="000000"/>
                          </a:solidFill>
                          <a:effectLst/>
                        </a:rPr>
                        <a:t>14: Менеджер по работе с поставщиками(СVM):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Рост планируемой выручки в 1,7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YoY</a:t>
                      </a:r>
                      <a:r>
                        <a:rPr lang="ru-RU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 и добавление отдельно цели по Daily </a:t>
                      </a:r>
                      <a:r>
                        <a:rPr lang="en-US" sz="1000" b="0" u="none" strike="noStrike">
                          <a:solidFill>
                            <a:srgbClr val="000000"/>
                          </a:solidFill>
                          <a:effectLst/>
                        </a:rPr>
                        <a:t>offer</a:t>
                      </a:r>
                      <a:endParaRPr lang="ru-RU" sz="1000" b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228600" indent="-228600" algn="l" fontAlgn="b">
                        <a:buAutoNum type="arabicPeriod"/>
                      </a:pP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050" b="0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ctr" rtl="0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97644946"/>
                  </a:ext>
                </a:extLst>
              </a:tr>
            </a:tbl>
          </a:graphicData>
        </a:graphic>
      </p:graphicFrame>
      <p:sp>
        <p:nvSpPr>
          <p:cNvPr id="28" name="Овал 8">
            <a:extLst>
              <a:ext uri="{FF2B5EF4-FFF2-40B4-BE49-F238E27FC236}">
                <a16:creationId xmlns:a16="http://schemas.microsoft.com/office/drawing/2014/main" id="{90811C81-3FB6-D2B3-6721-1F09624D3F6A}"/>
              </a:ext>
            </a:extLst>
          </p:cNvPr>
          <p:cNvSpPr/>
          <p:nvPr/>
        </p:nvSpPr>
        <p:spPr>
          <a:xfrm>
            <a:off x="2029800" y="88941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8">
            <a:extLst>
              <a:ext uri="{FF2B5EF4-FFF2-40B4-BE49-F238E27FC236}">
                <a16:creationId xmlns:a16="http://schemas.microsoft.com/office/drawing/2014/main" id="{52067F7F-0D68-5348-ADDA-7FF9341C1268}"/>
              </a:ext>
            </a:extLst>
          </p:cNvPr>
          <p:cNvSpPr/>
          <p:nvPr/>
        </p:nvSpPr>
        <p:spPr>
          <a:xfrm>
            <a:off x="2029800" y="922965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C176DD78-1774-EAE3-9B7E-237995F418BA}"/>
              </a:ext>
            </a:extLst>
          </p:cNvPr>
          <p:cNvSpPr/>
          <p:nvPr/>
        </p:nvSpPr>
        <p:spPr>
          <a:xfrm>
            <a:off x="2029800" y="973294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1E5F50C6-9C49-2B59-0F0E-0A04B49E55C2}"/>
              </a:ext>
            </a:extLst>
          </p:cNvPr>
          <p:cNvSpPr txBox="1">
            <a:spLocks/>
          </p:cNvSpPr>
          <p:nvPr/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0"/>
              </a:spcBef>
              <a:buFontTx/>
              <a:buNone/>
              <a:defRPr sz="2400" b="1" i="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Детальное обоснование ставок 2027 (продолжение 2)</a:t>
            </a:r>
          </a:p>
        </p:txBody>
      </p:sp>
    </p:spTree>
    <p:extLst>
      <p:ext uri="{BB962C8B-B14F-4D97-AF65-F5344CB8AC3E}">
        <p14:creationId xmlns:p14="http://schemas.microsoft.com/office/powerpoint/2010/main" val="2465118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>
            <a:spLocks noGrp="1"/>
          </p:cNvSpPr>
          <p:nvPr>
            <p:ph type="sldNum" idx="12"/>
          </p:nvPr>
        </p:nvSpPr>
        <p:spPr>
          <a:xfrm>
            <a:off x="11163300" y="6324600"/>
            <a:ext cx="485700" cy="26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66</a:t>
            </a:fld>
            <a:endParaRPr lang="ru-RU"/>
          </a:p>
        </p:txBody>
      </p:sp>
      <p:sp>
        <p:nvSpPr>
          <p:cNvPr id="271" name="Google Shape;271;p49"/>
          <p:cNvSpPr txBox="1">
            <a:spLocks noGrp="1"/>
          </p:cNvSpPr>
          <p:nvPr>
            <p:ph type="body" idx="2"/>
          </p:nvPr>
        </p:nvSpPr>
        <p:spPr>
          <a:xfrm>
            <a:off x="550900" y="512775"/>
            <a:ext cx="9828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UGC-завод: генерируем контент от собственных креаторов, которыми управляем через MIP</a:t>
            </a:r>
          </a:p>
        </p:txBody>
      </p:sp>
      <p:sp>
        <p:nvSpPr>
          <p:cNvPr id="272" name="Google Shape;272;p49"/>
          <p:cNvSpPr/>
          <p:nvPr/>
        </p:nvSpPr>
        <p:spPr>
          <a:xfrm>
            <a:off x="1121669" y="3809836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С командой инфлюенс-маркетинга нанимаем менеджеров и UGC-креаторов</a:t>
            </a:r>
          </a:p>
        </p:txBody>
      </p:sp>
      <p:sp>
        <p:nvSpPr>
          <p:cNvPr id="273" name="Google Shape;273;p49"/>
          <p:cNvSpPr/>
          <p:nvPr/>
        </p:nvSpPr>
        <p:spPr>
          <a:xfrm>
            <a:off x="4244714" y="3809836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Создаем </a:t>
            </a:r>
            <a:r>
              <a:rPr lang="ru-RU" sz="1309" i="1"/>
              <a:t>собственные</a:t>
            </a:r>
            <a:r>
              <a:rPr lang="ru-RU" sz="1309"/>
              <a:t> аккаунты для ежедневной публикации контента в них + управляем загрузкой контента через MIP </a:t>
            </a:r>
          </a:p>
        </p:txBody>
      </p:sp>
      <p:sp>
        <p:nvSpPr>
          <p:cNvPr id="274" name="Google Shape;274;p49"/>
          <p:cNvSpPr/>
          <p:nvPr/>
        </p:nvSpPr>
        <p:spPr>
          <a:xfrm>
            <a:off x="7367685" y="3809798"/>
            <a:ext cx="2520000" cy="1999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351932" marR="0" lvl="0" indent="-2590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4"/>
              </a:buClr>
              <a:buSzPts val="1309"/>
              <a:buChar char="●"/>
            </a:pPr>
            <a:r>
              <a:rPr lang="ru-RU" sz="1309"/>
              <a:t>Модерируем аккаунты и владеем всем созданным контентом = не зависим от увольнений / найма новых креаторов</a:t>
            </a:r>
          </a:p>
          <a:p>
            <a:pPr marL="35193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309" b="1">
              <a:solidFill>
                <a:srgbClr val="FF0700"/>
              </a:solidFill>
            </a:endParaRPr>
          </a:p>
        </p:txBody>
      </p:sp>
      <p:sp>
        <p:nvSpPr>
          <p:cNvPr id="275" name="Google Shape;275;p49"/>
          <p:cNvSpPr/>
          <p:nvPr/>
        </p:nvSpPr>
        <p:spPr>
          <a:xfrm>
            <a:off x="1010324" y="3429000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1</a:t>
            </a:r>
          </a:p>
        </p:txBody>
      </p:sp>
      <p:sp>
        <p:nvSpPr>
          <p:cNvPr id="276" name="Google Shape;276;p49"/>
          <p:cNvSpPr/>
          <p:nvPr/>
        </p:nvSpPr>
        <p:spPr>
          <a:xfrm>
            <a:off x="4037018" y="3524758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2</a:t>
            </a:r>
          </a:p>
        </p:txBody>
      </p:sp>
      <p:sp>
        <p:nvSpPr>
          <p:cNvPr id="277" name="Google Shape;277;p49"/>
          <p:cNvSpPr/>
          <p:nvPr/>
        </p:nvSpPr>
        <p:spPr>
          <a:xfrm>
            <a:off x="7232038" y="3524758"/>
            <a:ext cx="539100" cy="539100"/>
          </a:xfrm>
          <a:prstGeom prst="ellipse">
            <a:avLst/>
          </a:prstGeom>
          <a:solidFill>
            <a:schemeClr val="dk2"/>
          </a:solidFill>
          <a:ln w="73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0375" tIns="70375" rIns="70375" bIns="703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24" b="1">
                <a:solidFill>
                  <a:schemeClr val="lt1"/>
                </a:solidFill>
              </a:rPr>
              <a:t>3</a:t>
            </a:r>
          </a:p>
        </p:txBody>
      </p:sp>
      <p:sp>
        <p:nvSpPr>
          <p:cNvPr id="278" name="Google Shape;278;p49"/>
          <p:cNvSpPr txBox="1"/>
          <p:nvPr/>
        </p:nvSpPr>
        <p:spPr>
          <a:xfrm>
            <a:off x="591575" y="1520113"/>
            <a:ext cx="10888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0" bIns="6857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 b="1"/>
              <a:t>Мы управляем  “штатными” креаторами, которые создают контент 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/>
              <a:t>для поставщиков и внутренних заказчиков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u-RU" sz="1500" b="1"/>
              <a:t>Продаем трафик в рамках комплексного инструмента “UGC-продвижение” вместе с размещениями коротких роликов в in-app ленте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500" b="1"/>
          </a:p>
        </p:txBody>
      </p:sp>
      <p:sp>
        <p:nvSpPr>
          <p:cNvPr id="279" name="Google Shape;279;p49"/>
          <p:cNvSpPr txBox="1">
            <a:spLocks noGrp="1"/>
          </p:cNvSpPr>
          <p:nvPr>
            <p:ph type="body" idx="2"/>
          </p:nvPr>
        </p:nvSpPr>
        <p:spPr>
          <a:xfrm>
            <a:off x="590575" y="3043837"/>
            <a:ext cx="9828300" cy="43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/>
              <a:t>Как это работает 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 txBox="1">
            <a:spLocks noGrp="1"/>
          </p:cNvSpPr>
          <p:nvPr>
            <p:ph type="sldNum" idx="12"/>
          </p:nvPr>
        </p:nvSpPr>
        <p:spPr>
          <a:xfrm>
            <a:off x="11155362" y="6362700"/>
            <a:ext cx="485700" cy="26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67</a:t>
            </a:fld>
            <a:endParaRPr lang="ru-RU"/>
          </a:p>
        </p:txBody>
      </p:sp>
      <p:sp>
        <p:nvSpPr>
          <p:cNvPr id="286" name="Google Shape;286;p50"/>
          <p:cNvSpPr txBox="1">
            <a:spLocks noGrp="1"/>
          </p:cNvSpPr>
          <p:nvPr>
            <p:ph type="body" idx="2"/>
          </p:nvPr>
        </p:nvSpPr>
        <p:spPr>
          <a:xfrm>
            <a:off x="550875" y="512768"/>
            <a:ext cx="11090400" cy="5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Структура 1 масштабиуремой ячейки UGC-завода</a:t>
            </a:r>
          </a:p>
        </p:txBody>
      </p:sp>
      <p:sp>
        <p:nvSpPr>
          <p:cNvPr id="287" name="Google Shape;287;p50"/>
          <p:cNvSpPr/>
          <p:nvPr/>
        </p:nvSpPr>
        <p:spPr>
          <a:xfrm>
            <a:off x="4816325" y="2679825"/>
            <a:ext cx="2438700" cy="24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UGC креаторы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(до 50 чел)</a:t>
            </a:r>
          </a:p>
        </p:txBody>
      </p:sp>
      <p:sp>
        <p:nvSpPr>
          <p:cNvPr id="288" name="Google Shape;288;p50"/>
          <p:cNvSpPr/>
          <p:nvPr/>
        </p:nvSpPr>
        <p:spPr>
          <a:xfrm>
            <a:off x="8920700" y="2787525"/>
            <a:ext cx="2438700" cy="86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In-app лента Магнит</a:t>
            </a:r>
          </a:p>
        </p:txBody>
      </p:sp>
      <p:sp>
        <p:nvSpPr>
          <p:cNvPr id="289" name="Google Shape;289;p50"/>
          <p:cNvSpPr/>
          <p:nvPr/>
        </p:nvSpPr>
        <p:spPr>
          <a:xfrm>
            <a:off x="8920700" y="4006875"/>
            <a:ext cx="2438700" cy="864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Соцсети</a:t>
            </a:r>
          </a:p>
        </p:txBody>
      </p:sp>
      <p:sp>
        <p:nvSpPr>
          <p:cNvPr id="290" name="Google Shape;290;p50"/>
          <p:cNvSpPr/>
          <p:nvPr/>
        </p:nvSpPr>
        <p:spPr>
          <a:xfrm>
            <a:off x="713250" y="1800475"/>
            <a:ext cx="5544300" cy="4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Менеджер ячейки</a:t>
            </a:r>
          </a:p>
        </p:txBody>
      </p:sp>
      <p:sp>
        <p:nvSpPr>
          <p:cNvPr id="291" name="Google Shape;291;p50"/>
          <p:cNvSpPr/>
          <p:nvPr/>
        </p:nvSpPr>
        <p:spPr>
          <a:xfrm>
            <a:off x="713250" y="2962549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Менеджер по работе с блогерами</a:t>
            </a:r>
          </a:p>
        </p:txBody>
      </p:sp>
      <p:sp>
        <p:nvSpPr>
          <p:cNvPr id="292" name="Google Shape;292;p50"/>
          <p:cNvSpPr/>
          <p:nvPr/>
        </p:nvSpPr>
        <p:spPr>
          <a:xfrm>
            <a:off x="713250" y="3688574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>
                <a:solidFill>
                  <a:schemeClr val="dk1"/>
                </a:solidFill>
              </a:rPr>
              <a:t>Контент-продюсер</a:t>
            </a:r>
            <a:endParaRPr lang="ru-RU" b="1"/>
          </a:p>
        </p:txBody>
      </p:sp>
      <p:sp>
        <p:nvSpPr>
          <p:cNvPr id="293" name="Google Shape;293;p50"/>
          <p:cNvSpPr/>
          <p:nvPr/>
        </p:nvSpPr>
        <p:spPr>
          <a:xfrm>
            <a:off x="713250" y="4414587"/>
            <a:ext cx="2760000" cy="61235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/>
              <a:t>Сценарист </a:t>
            </a:r>
          </a:p>
        </p:txBody>
      </p:sp>
      <p:cxnSp>
        <p:nvCxnSpPr>
          <p:cNvPr id="294" name="Google Shape;294;p50"/>
          <p:cNvCxnSpPr/>
          <p:nvPr/>
        </p:nvCxnSpPr>
        <p:spPr>
          <a:xfrm rot="10800000" flipH="1">
            <a:off x="8144400" y="3891825"/>
            <a:ext cx="694800" cy="14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95" name="Google Shape;295;p50"/>
          <p:cNvSpPr/>
          <p:nvPr/>
        </p:nvSpPr>
        <p:spPr>
          <a:xfrm>
            <a:off x="550875" y="2407500"/>
            <a:ext cx="7090800" cy="3140400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ru-RU"/>
          </a:p>
        </p:txBody>
      </p:sp>
      <p:pic>
        <p:nvPicPr>
          <p:cNvPr id="296" name="Google Shape;29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563" y="5039224"/>
            <a:ext cx="353398" cy="353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5050" y="5039225"/>
            <a:ext cx="353400" cy="35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298" name="Google Shape;29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72450" y="5039225"/>
            <a:ext cx="353400" cy="35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14700" y="5039233"/>
            <a:ext cx="353375" cy="3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13307</Words>
  <Application>Microsoft Macintosh PowerPoint</Application>
  <PresentationFormat>Widescreen</PresentationFormat>
  <Paragraphs>2583</Paragraphs>
  <Slides>77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86" baseType="lpstr">
      <vt:lpstr>Arha Magnit</vt:lpstr>
      <vt:lpstr>Arial</vt:lpstr>
      <vt:lpstr>Calibri</vt:lpstr>
      <vt:lpstr>Courier New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45</cp:revision>
  <dcterms:created xsi:type="dcterms:W3CDTF">2026-10-05T11:53:56Z</dcterms:created>
  <dcterms:modified xsi:type="dcterms:W3CDTF">2026-10-19T14:30:43Z</dcterms:modified>
  <cp:category/>
</cp:coreProperties>
</file>