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45.xml" ContentType="application/vnd.openxmlformats-officedocument.presentationml.tags+xml"/>
  <Override PartName="/ppt/notesSlides/notesSlide9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charts/chart6.xml" ContentType="application/vnd.openxmlformats-officedocument.drawingml.chart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14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4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charts/chart14.xml" ContentType="application/vnd.openxmlformats-officedocument.drawingml.chart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8.xml" ContentType="application/vnd.openxmlformats-officedocument.presentationml.slide+xml"/>
  <Override PartName="/ppt/tags/tag320.xml" ContentType="application/vnd.openxmlformats-officedocument.presentationml.tags+xml"/>
  <Override PartName="/ppt/embeddings/oleObject15.bin" ContentType="application/vnd.openxmlformats-officedocument.oleObject"/>
  <Override PartName="/ppt/slides/slide59.xml" ContentType="application/vnd.openxmlformats-officedocument.presentationml.slide+xml"/>
  <Override PartName="/ppt/tags/tag321.xml" ContentType="application/vnd.openxmlformats-officedocument.presentationml.tags+xml"/>
  <Override PartName="/ppt/embeddings/oleObject16.bin" ContentType="application/vnd.openxmlformats-officedocument.oleObject"/>
  <Override PartName="/ppt/slides/slide60.xml" ContentType="application/vnd.openxmlformats-officedocument.presentationml.slide+xml"/>
  <Override PartName="/ppt/tags/tag322.xml" ContentType="application/vnd.openxmlformats-officedocument.presentationml.tags+xml"/>
  <Override PartName="/ppt/embeddings/oleObject17.bin" ContentType="application/vnd.openxmlformats-officedocument.oleObject"/>
  <Override PartName="/ppt/slides/slide61.xml" ContentType="application/vnd.openxmlformats-officedocument.presentationml.slide+xml"/>
  <Override PartName="/ppt/tags/tag323.xml" ContentType="application/vnd.openxmlformats-officedocument.presentationml.tags+xml"/>
  <Override PartName="/ppt/embeddings/oleObject18.bin" ContentType="application/vnd.openxmlformats-officedocument.oleObject"/>
  <Override PartName="/ppt/slides/slide62.xml" ContentType="application/vnd.openxmlformats-officedocument.presentationml.slide+xml"/>
  <Override PartName="/ppt/tags/tag324.xml" ContentType="application/vnd.openxmlformats-officedocument.presentationml.tags+xml"/>
  <Override PartName="/ppt/embeddings/oleObject19.bin" ContentType="application/vnd.openxmlformats-officedocument.oleObject"/>
  <Override PartName="/ppt/slides/slide63.xml" ContentType="application/vnd.openxmlformats-officedocument.presentationml.slide+xml"/>
  <Override PartName="/ppt/tags/tag325.xml" ContentType="application/vnd.openxmlformats-officedocument.presentationml.tags+xml"/>
  <Override PartName="/ppt/embeddings/oleObject20.bin" ContentType="application/vnd.openxmlformats-officedocument.oleObject"/>
  <Override PartName="/ppt/charts/chart1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8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9"/>
  </p:notesMasterIdLst>
  <p:sldIdLst>
    <p:sldId id="345" r:id="rId2"/>
    <p:sldId id="548" r:id="rId3"/>
    <p:sldId id="2147480845" r:id="rId64"/>
    <p:sldId id="2147480846" r:id="rId65"/>
    <p:sldId id="2147480847" r:id="rId66"/>
    <p:sldId id="2147480848" r:id="rId67"/>
    <p:sldId id="2147480849" r:id="rId68"/>
    <p:sldId id="2147480850" r:id="rId69"/>
    <p:sldId id="549" r:id="rId8"/>
    <p:sldId id="550" r:id="rId9"/>
    <p:sldId id="539" r:id="rId10"/>
    <p:sldId id="507" r:id="rId11"/>
    <p:sldId id="508" r:id="rId12"/>
    <p:sldId id="537" r:id="rId13"/>
    <p:sldId id="441" r:id="rId14"/>
    <p:sldId id="509" r:id="rId15"/>
    <p:sldId id="545" r:id="rId16"/>
    <p:sldId id="460" r:id="rId17"/>
    <p:sldId id="511" r:id="rId18"/>
    <p:sldId id="530" r:id="rId19"/>
    <p:sldId id="531" r:id="rId20"/>
    <p:sldId id="514" r:id="rId21"/>
    <p:sldId id="515" r:id="rId22"/>
    <p:sldId id="516" r:id="rId23"/>
    <p:sldId id="471" r:id="rId24"/>
    <p:sldId id="546" r:id="rId25"/>
    <p:sldId id="532" r:id="rId26"/>
    <p:sldId id="533" r:id="rId27"/>
    <p:sldId id="535" r:id="rId28"/>
    <p:sldId id="365" r:id="rId29"/>
    <p:sldId id="538" r:id="rId30"/>
    <p:sldId id="412" r:id="rId31"/>
    <p:sldId id="541" r:id="rId32"/>
    <p:sldId id="415" r:id="rId33"/>
    <p:sldId id="433" r:id="rId34"/>
    <p:sldId id="366" r:id="rId35"/>
    <p:sldId id="404" r:id="rId36"/>
    <p:sldId id="483" r:id="rId37"/>
    <p:sldId id="432" r:id="rId38"/>
    <p:sldId id="475" r:id="rId39"/>
    <p:sldId id="506" r:id="rId40"/>
    <p:sldId id="489" r:id="rId41"/>
    <p:sldId id="543" r:id="rId42"/>
    <p:sldId id="484" r:id="rId43"/>
    <p:sldId id="542" r:id="rId44"/>
    <p:sldId id="468" r:id="rId45"/>
    <p:sldId id="547" r:id="rId46"/>
    <p:sldId id="2147480839" r:id="rId47"/>
    <p:sldId id="2147480841" r:id="rId48"/>
    <p:sldId id="2147480842" r:id="rId49"/>
    <p:sldId id="2147480844" r:id="rId50"/>
    <p:sldId id="430" r:id="rId51"/>
    <p:sldId id="411" r:id="rId52"/>
    <p:sldId id="408" r:id="rId53"/>
    <p:sldId id="427" r:id="rId54"/>
    <p:sldId id="421" r:id="rId55"/>
    <p:sldId id="422" r:id="rId56"/>
    <p:sldId id="424" r:id="rId57"/>
    <p:sldId id="528" r:id="rId58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4694"/>
  </p:normalViewPr>
  <p:slideViewPr>
    <p:cSldViewPr snapToGrid="0">
      <p:cViewPr>
        <p:scale>
          <a:sx n="99" d="100"/>
          <a:sy n="99" d="100"/>
        </p:scale>
        <p:origin x="25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9" Type="http://schemas.openxmlformats.org/officeDocument/2006/relationships/slide" Target="slides/slide8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3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14566.23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489.68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−490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184-4F9C-93FB-BCB2E91AC74D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84-4F9C-93FB-BCB2E91AC74D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184-4F9C-93FB-BCB2E91AC74D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184-4F9C-93FB-BCB2E91AC74D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84-4F9C-93FB-BCB2E91AC74D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84-4F9C-93FB-BCB2E91AC74D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84-4F9C-93FB-BCB2E91AC74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184-4F9C-93FB-BCB2E91AC74D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184-4F9C-93FB-BCB2E91AC74D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184-4F9C-93FB-BCB2E91AC74D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184-4F9C-93FB-BCB2E91AC74D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184-4F9C-93FB-BCB2E91AC74D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184-4F9C-93FB-BCB2E91AC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8246864"/>
        <c:axId val="1"/>
      </c:barChart>
      <c:catAx>
        <c:axId val="3482468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482468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E2B-4DAF-A04D-3042B4B526EB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2B-4DAF-A04D-3042B4B526EB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E2B-4DAF-A04D-3042B4B526EB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B-4DAF-A04D-3042B4B526EB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E2B-4DAF-A04D-3042B4B526EB}"/>
              </c:ext>
            </c:extLst>
          </c:dPt>
          <c:dPt>
            <c:idx val="6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E2B-4DAF-A04D-3042B4B526EB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E2B-4DAF-A04D-3042B4B526EB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E2B-4DAF-A04D-3042B4B526EB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2B-4DAF-A04D-3042B4B526EB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2B-4DAF-A04D-3042B4B52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3603904"/>
        <c:axId val="1"/>
      </c:barChart>
      <c:catAx>
        <c:axId val="713603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3603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724915445321308E-2"/>
          <c:y val="8.0190930787589501E-2"/>
          <c:w val="0.97655016910935744"/>
          <c:h val="0.839618138424821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D15-4254-A274-58FE18D1374A}"/>
                </c:ext>
              </c:extLst>
            </c:dLbl>
            <c:dLbl>
              <c:idx val="1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D15-4254-A274-58FE18D1374A}"/>
                </c:ext>
              </c:extLst>
            </c:dLbl>
            <c:dLbl>
              <c:idx val="2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D15-4254-A274-58FE18D1374A}"/>
                </c:ext>
              </c:extLst>
            </c:dLbl>
            <c:dLbl>
              <c:idx val="3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D15-4254-A274-58FE18D137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118.80315204081633</c:v>
                </c:pt>
                <c:pt idx="1">
                  <c:v>115.23905747959184</c:v>
                </c:pt>
                <c:pt idx="2">
                  <c:v>147.98743571428571</c:v>
                </c:pt>
                <c:pt idx="3">
                  <c:v>145.02768699999999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15-4254-A274-58FE18D1374A}"/>
            </c:ext>
          </c:extLst>
        </c:ser>
        <c:ser>
          <c:idx val="1"/>
          <c:order val="1"/>
          <c:spPr>
            <a:solidFill>
              <a:srgbClr val="666666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3.7284210526315746</c:v>
                </c:pt>
                <c:pt idx="1">
                  <c:v>3.5420000000000016</c:v>
                </c:pt>
                <c:pt idx="2">
                  <c:v>3.7284210526315746</c:v>
                </c:pt>
                <c:pt idx="3">
                  <c:v>3.5420000000000016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15-4254-A274-58FE18D13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00708816"/>
        <c:axId val="1"/>
      </c:barChart>
      <c:catAx>
        <c:axId val="30070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1.7158567669172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70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534523643464919E-3"/>
          <c:y val="4.2763157894736843E-2"/>
          <c:w val="0.98549309527130702"/>
          <c:h val="0.91447368421052633"/>
        </c:manualLayout>
      </c:layout>
      <c:lineChart>
        <c:grouping val="standard"/>
        <c:varyColors val="0"/>
        <c:ser>
          <c:idx val="0"/>
          <c:order val="0"/>
          <c:spPr>
            <a:ln w="28575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F40-4688-B62D-6A6FE35F0F20}"/>
              </c:ext>
            </c:extLst>
          </c:dPt>
          <c:val>
            <c:numRef>
              <c:f>Sheet1!$A$1:$N$1</c:f>
              <c:numCache>
                <c:formatCode>General</c:formatCode>
                <c:ptCount val="14"/>
                <c:pt idx="0">
                  <c:v>2064.9069000000004</c:v>
                </c:pt>
                <c:pt idx="1">
                  <c:v>2220.3300000000004</c:v>
                </c:pt>
                <c:pt idx="2">
                  <c:v>2520</c:v>
                </c:pt>
                <c:pt idx="3">
                  <c:v>2714</c:v>
                </c:pt>
                <c:pt idx="4">
                  <c:v>2879</c:v>
                </c:pt>
                <c:pt idx="5">
                  <c:v>3089</c:v>
                </c:pt>
                <c:pt idx="6">
                  <c:v>3032</c:v>
                </c:pt>
                <c:pt idx="7">
                  <c:v>3035</c:v>
                </c:pt>
                <c:pt idx="8">
                  <c:v>2822</c:v>
                </c:pt>
                <c:pt idx="9">
                  <c:v>2770</c:v>
                </c:pt>
                <c:pt idx="10">
                  <c:v>2935.1874360322581</c:v>
                </c:pt>
                <c:pt idx="11">
                  <c:v>3197.1255558219436</c:v>
                </c:pt>
                <c:pt idx="12">
                  <c:v>3803.1560937609493</c:v>
                </c:pt>
                <c:pt idx="13">
                  <c:v>3803.1560937609493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4F40-4688-B62D-6A6FE35F0F20}"/>
            </c:ext>
          </c:extLst>
        </c:ser>
        <c:ser>
          <c:idx val="1"/>
          <c:order val="1"/>
          <c:spPr>
            <a:ln w="28575" cmpd="sng" algn="ctr">
              <a:solidFill>
                <a:srgbClr val="FF452C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4F40-4688-B62D-6A6FE35F0F20}"/>
              </c:ext>
            </c:extLst>
          </c:dPt>
          <c:val>
            <c:numRef>
              <c:f>Sheet1!$A$2:$N$2</c:f>
              <c:numCache>
                <c:formatCode>General</c:formatCode>
                <c:ptCount val="14"/>
                <c:pt idx="0">
                  <c:v>3803.1560937609493</c:v>
                </c:pt>
                <c:pt idx="1">
                  <c:v>4485.5951540326369</c:v>
                </c:pt>
                <c:pt idx="2">
                  <c:v>4985.3374382022221</c:v>
                </c:pt>
                <c:pt idx="3">
                  <c:v>5174.1840321726031</c:v>
                </c:pt>
                <c:pt idx="4">
                  <c:v>5319.4200494762244</c:v>
                </c:pt>
                <c:pt idx="5">
                  <c:v>5531.6556602699802</c:v>
                </c:pt>
                <c:pt idx="6">
                  <c:v>5507.7149704813992</c:v>
                </c:pt>
                <c:pt idx="7">
                  <c:v>4958.7361989237006</c:v>
                </c:pt>
                <c:pt idx="8">
                  <c:v>3138.6863685870048</c:v>
                </c:pt>
                <c:pt idx="9">
                  <c:v>2660.379726707607</c:v>
                </c:pt>
                <c:pt idx="10">
                  <c:v>2874.2128847076069</c:v>
                </c:pt>
                <c:pt idx="11">
                  <c:v>3194.8185467625717</c:v>
                </c:pt>
                <c:pt idx="12">
                  <c:v>3913.2109080715336</c:v>
                </c:pt>
                <c:pt idx="13">
                  <c:v>3913.2109080715336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D-4F40-4688-B62D-6A6FE35F0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4968880"/>
        <c:axId val="1"/>
      </c:lineChart>
      <c:catAx>
        <c:axId val="1124968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0"/>
          <c:min val="15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124968880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57364552137218E-2"/>
          <c:y val="0.26473859844271413"/>
          <c:w val="0.97168527089572554"/>
          <c:h val="0.5483870967741935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37263626251390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D4-4FD3-9D32-017A516D59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4-4FD3-9D32-017A516D5975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D4-4FD3-9D32-017A516D5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00948016"/>
        <c:axId val="1"/>
      </c:barChart>
      <c:catAx>
        <c:axId val="11009480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009480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5831692913381E-2"/>
          <c:y val="6.5541495754017298E-2"/>
          <c:w val="0.94616916830708664"/>
          <c:h val="0.93445858654222436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Факт 2026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6.4532952251410758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F1-4BA8-A001-E0458BBE0912}"/>
                </c:ext>
              </c:extLst>
            </c:dLbl>
            <c:dLbl>
              <c:idx val="6"/>
              <c:layout>
                <c:manualLayout>
                  <c:x val="-2.591156201979166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279</c:v>
                </c:pt>
                <c:pt idx="1">
                  <c:v>439</c:v>
                </c:pt>
                <c:pt idx="2">
                  <c:v>434</c:v>
                </c:pt>
                <c:pt idx="3">
                  <c:v>455</c:v>
                </c:pt>
                <c:pt idx="4">
                  <c:v>699</c:v>
                </c:pt>
                <c:pt idx="5">
                  <c:v>1199</c:v>
                </c:pt>
                <c:pt idx="6">
                  <c:v>1065</c:v>
                </c:pt>
                <c:pt idx="7">
                  <c:v>964</c:v>
                </c:pt>
                <c:pt idx="8">
                  <c:v>1011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F1-4BA8-A001-E0458BBE09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Прогноз 2026</c:v>
                </c:pt>
              </c:strCache>
            </c:strRef>
          </c:tx>
          <c:spPr>
            <a:ln w="28575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diamond"/>
            <c:size val="8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Лист1!$C$2:$C$13</c:f>
              <c:numCache>
                <c:formatCode>General</c:formatCode>
                <c:ptCount val="12"/>
                <c:pt idx="8">
                  <c:v>1011</c:v>
                </c:pt>
                <c:pt idx="9">
                  <c:v>979</c:v>
                </c:pt>
                <c:pt idx="10">
                  <c:v>1343</c:v>
                </c:pt>
                <c:pt idx="11">
                  <c:v>1764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F1-4BA8-A001-E0458BBE091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Бюджет 2026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tx1"/>
              </a:solidFill>
              <a:ln w="9525">
                <a:solidFill>
                  <a:schemeClr val="tx1">
                    <a:alpha val="97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480025481983976E-2"/>
                  <c:y val="2.742585777076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F1-4BA8-A001-E0458BBE0912}"/>
                </c:ext>
              </c:extLst>
            </c:dLbl>
            <c:dLbl>
              <c:idx val="2"/>
              <c:layout>
                <c:manualLayout>
                  <c:x val="-3.8293395775672451E-2"/>
                  <c:y val="-2.9415399057341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F1-4BA8-A001-E0458BBE0912}"/>
                </c:ext>
              </c:extLst>
            </c:dLbl>
            <c:dLbl>
              <c:idx val="3"/>
              <c:layout>
                <c:manualLayout>
                  <c:x val="-4.0480025481984018E-2"/>
                  <c:y val="-2.69440400648156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F1-4BA8-A001-E0458BBE0912}"/>
                </c:ext>
              </c:extLst>
            </c:dLbl>
            <c:dLbl>
              <c:idx val="9"/>
              <c:layout>
                <c:manualLayout>
                  <c:x val="-4.3759970041451268E-2"/>
                  <c:y val="-2.3237001576026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Лист1!$D$2:$D$13</c:f>
              <c:numCache>
                <c:formatCode>General</c:formatCode>
                <c:ptCount val="12"/>
                <c:pt idx="0">
                  <c:v>228</c:v>
                </c:pt>
                <c:pt idx="1">
                  <c:v>168</c:v>
                </c:pt>
                <c:pt idx="2">
                  <c:v>264</c:v>
                </c:pt>
                <c:pt idx="3">
                  <c:v>267</c:v>
                </c:pt>
                <c:pt idx="4">
                  <c:v>294</c:v>
                </c:pt>
                <c:pt idx="5">
                  <c:v>344</c:v>
                </c:pt>
                <c:pt idx="6">
                  <c:v>393</c:v>
                </c:pt>
                <c:pt idx="7">
                  <c:v>537</c:v>
                </c:pt>
                <c:pt idx="8">
                  <c:v>660</c:v>
                </c:pt>
                <c:pt idx="9">
                  <c:v>831</c:v>
                </c:pt>
                <c:pt idx="10">
                  <c:v>877</c:v>
                </c:pt>
                <c:pt idx="11">
                  <c:v>984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9F1-4BA8-A001-E0458BBE0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4981536"/>
        <c:axId val="1894979872"/>
      </c:lineChart>
      <c:catAx>
        <c:axId val="189498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4979872"/>
        <c:crosses val="autoZero"/>
        <c:auto val="1"/>
        <c:lblAlgn val="ctr"/>
        <c:lblOffset val="100"/>
        <c:noMultiLvlLbl val="0"/>
      </c:catAx>
      <c:valAx>
        <c:axId val="1894979872"/>
        <c:scaling>
          <c:orientation val="minMax"/>
          <c:max val="2700"/>
        </c:scaling>
        <c:delete val="1"/>
        <c:axPos val="l"/>
        <c:numFmt formatCode="General" sourceLinked="1"/>
        <c:majorTickMark val="none"/>
        <c:minorTickMark val="none"/>
        <c:tickLblPos val="nextTo"/>
        <c:crossAx val="189498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103100393700789E-2"/>
          <c:y val="1.2089462786158536E-2"/>
          <c:w val="0.89999991391221623"/>
          <c:h val="4.7637682425699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3058.1180898758935</c:v>
                </c:pt>
                <c:pt idx="2">
                  <c:v>6487.923725043029</c:v>
                </c:pt>
                <c:pt idx="3">
                  <c:v>7499.458079795491</c:v>
                </c:pt>
                <c:pt idx="4">
                  <c:v>7843.287548716826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262626"/>
            </a:solidFill>
          </c:spPr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3058.1180898758935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8268.211595880057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Изменение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3429.8056351671353</c:v>
                </c:pt>
                <c:pt idx="2">
                  <c:v>1011.5343547524621</c:v>
                </c:pt>
                <c:pt idx="3">
                  <c:v>343.8294689213344</c:v>
                </c:pt>
                <c:pt idx="4">
                  <c:v>424.92404716323017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3 058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+3 430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+1 012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+344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+425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8 268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3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en-RU" smtClean="0"/>
              <a:t>16.10.2026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35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46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E14-7C29-47E9-9897-4D374DDC2AC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36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Действуй смело</a:t>
            </a:r>
          </a:p>
          <a:p>
            <a:pPr lvl="0"/>
            <a:r>
              <a:rPr lang="ru-RU" dirty="0">
                <a:effectLst/>
              </a:rPr>
              <a:t>Достигай невозможного</a:t>
            </a:r>
            <a:endParaRPr lang="en-US" dirty="0">
              <a:effectLst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 dirty="0">
                <a:effectLst/>
              </a:rPr>
              <a:t>Тема презентации. 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tags" Target="../tags/tag3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33" Type="http://schemas.openxmlformats.org/officeDocument/2006/relationships/tags" Target="../tags/tag44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29" Type="http://schemas.openxmlformats.org/officeDocument/2006/relationships/tags" Target="../tags/tag40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32" Type="http://schemas.openxmlformats.org/officeDocument/2006/relationships/tags" Target="../tags/tag43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36" Type="http://schemas.openxmlformats.org/officeDocument/2006/relationships/chart" Target="../charts/chart3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tags" Target="../tags/tag42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tags" Target="../tags/tag41.xml"/><Relationship Id="rId35" Type="http://schemas.openxmlformats.org/officeDocument/2006/relationships/chart" Target="../charts/chart2.xml"/><Relationship Id="rId8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58.xml"/><Relationship Id="rId18" Type="http://schemas.openxmlformats.org/officeDocument/2006/relationships/tags" Target="../tags/tag63.xml"/><Relationship Id="rId26" Type="http://schemas.openxmlformats.org/officeDocument/2006/relationships/tags" Target="../tags/tag71.xml"/><Relationship Id="rId39" Type="http://schemas.openxmlformats.org/officeDocument/2006/relationships/tags" Target="../tags/tag84.xml"/><Relationship Id="rId21" Type="http://schemas.openxmlformats.org/officeDocument/2006/relationships/tags" Target="../tags/tag66.xml"/><Relationship Id="rId34" Type="http://schemas.openxmlformats.org/officeDocument/2006/relationships/tags" Target="../tags/tag79.xml"/><Relationship Id="rId42" Type="http://schemas.openxmlformats.org/officeDocument/2006/relationships/tags" Target="../tags/tag87.xml"/><Relationship Id="rId47" Type="http://schemas.openxmlformats.org/officeDocument/2006/relationships/tags" Target="../tags/tag92.xml"/><Relationship Id="rId50" Type="http://schemas.openxmlformats.org/officeDocument/2006/relationships/tags" Target="../tags/tag95.xml"/><Relationship Id="rId55" Type="http://schemas.openxmlformats.org/officeDocument/2006/relationships/chart" Target="../charts/chart4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9" Type="http://schemas.openxmlformats.org/officeDocument/2006/relationships/tags" Target="../tags/tag74.xml"/><Relationship Id="rId11" Type="http://schemas.openxmlformats.org/officeDocument/2006/relationships/tags" Target="../tags/tag56.xml"/><Relationship Id="rId24" Type="http://schemas.openxmlformats.org/officeDocument/2006/relationships/tags" Target="../tags/tag69.xml"/><Relationship Id="rId32" Type="http://schemas.openxmlformats.org/officeDocument/2006/relationships/tags" Target="../tags/tag77.xml"/><Relationship Id="rId37" Type="http://schemas.openxmlformats.org/officeDocument/2006/relationships/tags" Target="../tags/tag82.xml"/><Relationship Id="rId40" Type="http://schemas.openxmlformats.org/officeDocument/2006/relationships/tags" Target="../tags/tag85.xml"/><Relationship Id="rId45" Type="http://schemas.openxmlformats.org/officeDocument/2006/relationships/tags" Target="../tags/tag90.xml"/><Relationship Id="rId53" Type="http://schemas.openxmlformats.org/officeDocument/2006/relationships/oleObject" Target="../embeddings/oleObject8.bin"/><Relationship Id="rId5" Type="http://schemas.openxmlformats.org/officeDocument/2006/relationships/tags" Target="../tags/tag50.xml"/><Relationship Id="rId10" Type="http://schemas.openxmlformats.org/officeDocument/2006/relationships/tags" Target="../tags/tag55.xml"/><Relationship Id="rId19" Type="http://schemas.openxmlformats.org/officeDocument/2006/relationships/tags" Target="../tags/tag64.xml"/><Relationship Id="rId31" Type="http://schemas.openxmlformats.org/officeDocument/2006/relationships/tags" Target="../tags/tag76.xml"/><Relationship Id="rId44" Type="http://schemas.openxmlformats.org/officeDocument/2006/relationships/tags" Target="../tags/tag89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tags" Target="../tags/tag67.xml"/><Relationship Id="rId27" Type="http://schemas.openxmlformats.org/officeDocument/2006/relationships/tags" Target="../tags/tag72.xml"/><Relationship Id="rId30" Type="http://schemas.openxmlformats.org/officeDocument/2006/relationships/tags" Target="../tags/tag75.xml"/><Relationship Id="rId35" Type="http://schemas.openxmlformats.org/officeDocument/2006/relationships/tags" Target="../tags/tag80.xml"/><Relationship Id="rId43" Type="http://schemas.openxmlformats.org/officeDocument/2006/relationships/tags" Target="../tags/tag88.xml"/><Relationship Id="rId48" Type="http://schemas.openxmlformats.org/officeDocument/2006/relationships/tags" Target="../tags/tag93.xml"/><Relationship Id="rId8" Type="http://schemas.openxmlformats.org/officeDocument/2006/relationships/tags" Target="../tags/tag53.xml"/><Relationship Id="rId51" Type="http://schemas.openxmlformats.org/officeDocument/2006/relationships/tags" Target="../tags/tag96.xml"/><Relationship Id="rId3" Type="http://schemas.openxmlformats.org/officeDocument/2006/relationships/tags" Target="../tags/tag48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5" Type="http://schemas.openxmlformats.org/officeDocument/2006/relationships/tags" Target="../tags/tag70.xml"/><Relationship Id="rId33" Type="http://schemas.openxmlformats.org/officeDocument/2006/relationships/tags" Target="../tags/tag78.xml"/><Relationship Id="rId38" Type="http://schemas.openxmlformats.org/officeDocument/2006/relationships/tags" Target="../tags/tag83.xml"/><Relationship Id="rId46" Type="http://schemas.openxmlformats.org/officeDocument/2006/relationships/tags" Target="../tags/tag91.xml"/><Relationship Id="rId20" Type="http://schemas.openxmlformats.org/officeDocument/2006/relationships/tags" Target="../tags/tag65.xml"/><Relationship Id="rId41" Type="http://schemas.openxmlformats.org/officeDocument/2006/relationships/tags" Target="../tags/tag86.xml"/><Relationship Id="rId54" Type="http://schemas.openxmlformats.org/officeDocument/2006/relationships/image" Target="../media/image7.emf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5" Type="http://schemas.openxmlformats.org/officeDocument/2006/relationships/tags" Target="../tags/tag60.xml"/><Relationship Id="rId23" Type="http://schemas.openxmlformats.org/officeDocument/2006/relationships/tags" Target="../tags/tag68.xml"/><Relationship Id="rId28" Type="http://schemas.openxmlformats.org/officeDocument/2006/relationships/tags" Target="../tags/tag73.xml"/><Relationship Id="rId36" Type="http://schemas.openxmlformats.org/officeDocument/2006/relationships/tags" Target="../tags/tag81.xml"/><Relationship Id="rId49" Type="http://schemas.openxmlformats.org/officeDocument/2006/relationships/tags" Target="../tags/tag9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09.xml"/><Relationship Id="rId18" Type="http://schemas.openxmlformats.org/officeDocument/2006/relationships/tags" Target="../tags/tag114.xml"/><Relationship Id="rId26" Type="http://schemas.openxmlformats.org/officeDocument/2006/relationships/tags" Target="../tags/tag122.xml"/><Relationship Id="rId39" Type="http://schemas.openxmlformats.org/officeDocument/2006/relationships/tags" Target="../tags/tag135.xml"/><Relationship Id="rId21" Type="http://schemas.openxmlformats.org/officeDocument/2006/relationships/tags" Target="../tags/tag117.xml"/><Relationship Id="rId34" Type="http://schemas.openxmlformats.org/officeDocument/2006/relationships/tags" Target="../tags/tag130.xml"/><Relationship Id="rId42" Type="http://schemas.openxmlformats.org/officeDocument/2006/relationships/oleObject" Target="../embeddings/oleObject9.bin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0" Type="http://schemas.openxmlformats.org/officeDocument/2006/relationships/tags" Target="../tags/tag116.xml"/><Relationship Id="rId29" Type="http://schemas.openxmlformats.org/officeDocument/2006/relationships/tags" Target="../tags/tag125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24" Type="http://schemas.openxmlformats.org/officeDocument/2006/relationships/tags" Target="../tags/tag120.xml"/><Relationship Id="rId32" Type="http://schemas.openxmlformats.org/officeDocument/2006/relationships/tags" Target="../tags/tag128.xml"/><Relationship Id="rId37" Type="http://schemas.openxmlformats.org/officeDocument/2006/relationships/tags" Target="../tags/tag133.xml"/><Relationship Id="rId40" Type="http://schemas.openxmlformats.org/officeDocument/2006/relationships/tags" Target="../tags/tag136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23" Type="http://schemas.openxmlformats.org/officeDocument/2006/relationships/tags" Target="../tags/tag119.xml"/><Relationship Id="rId28" Type="http://schemas.openxmlformats.org/officeDocument/2006/relationships/tags" Target="../tags/tag124.xml"/><Relationship Id="rId36" Type="http://schemas.openxmlformats.org/officeDocument/2006/relationships/tags" Target="../tags/tag132.xml"/><Relationship Id="rId10" Type="http://schemas.openxmlformats.org/officeDocument/2006/relationships/tags" Target="../tags/tag106.xml"/><Relationship Id="rId19" Type="http://schemas.openxmlformats.org/officeDocument/2006/relationships/tags" Target="../tags/tag115.xml"/><Relationship Id="rId31" Type="http://schemas.openxmlformats.org/officeDocument/2006/relationships/tags" Target="../tags/tag127.xml"/><Relationship Id="rId44" Type="http://schemas.openxmlformats.org/officeDocument/2006/relationships/chart" Target="../charts/chart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Relationship Id="rId22" Type="http://schemas.openxmlformats.org/officeDocument/2006/relationships/tags" Target="../tags/tag118.xml"/><Relationship Id="rId27" Type="http://schemas.openxmlformats.org/officeDocument/2006/relationships/tags" Target="../tags/tag123.xml"/><Relationship Id="rId30" Type="http://schemas.openxmlformats.org/officeDocument/2006/relationships/tags" Target="../tags/tag126.xml"/><Relationship Id="rId35" Type="http://schemas.openxmlformats.org/officeDocument/2006/relationships/tags" Target="../tags/tag131.xml"/><Relationship Id="rId43" Type="http://schemas.openxmlformats.org/officeDocument/2006/relationships/image" Target="../media/image8.emf"/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5" Type="http://schemas.openxmlformats.org/officeDocument/2006/relationships/tags" Target="../tags/tag121.xml"/><Relationship Id="rId33" Type="http://schemas.openxmlformats.org/officeDocument/2006/relationships/tags" Target="../tags/tag129.xml"/><Relationship Id="rId38" Type="http://schemas.openxmlformats.org/officeDocument/2006/relationships/tags" Target="../tags/tag1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Relationship Id="rId4" Type="http://schemas.openxmlformats.org/officeDocument/2006/relationships/image" Target="../media/image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4" Type="http://schemas.openxmlformats.org/officeDocument/2006/relationships/image" Target="../media/image10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tags" Target="../tags/tag167.xml"/><Relationship Id="rId21" Type="http://schemas.openxmlformats.org/officeDocument/2006/relationships/tags" Target="../tags/tag162.xml"/><Relationship Id="rId42" Type="http://schemas.openxmlformats.org/officeDocument/2006/relationships/tags" Target="../tags/tag183.xml"/><Relationship Id="rId47" Type="http://schemas.openxmlformats.org/officeDocument/2006/relationships/tags" Target="../tags/tag188.xml"/><Relationship Id="rId63" Type="http://schemas.openxmlformats.org/officeDocument/2006/relationships/tags" Target="../tags/tag204.xml"/><Relationship Id="rId68" Type="http://schemas.openxmlformats.org/officeDocument/2006/relationships/tags" Target="../tags/tag209.xml"/><Relationship Id="rId84" Type="http://schemas.openxmlformats.org/officeDocument/2006/relationships/tags" Target="../tags/tag225.xml"/><Relationship Id="rId89" Type="http://schemas.openxmlformats.org/officeDocument/2006/relationships/tags" Target="../tags/tag230.xml"/><Relationship Id="rId16" Type="http://schemas.openxmlformats.org/officeDocument/2006/relationships/tags" Target="../tags/tag157.xml"/><Relationship Id="rId11" Type="http://schemas.openxmlformats.org/officeDocument/2006/relationships/tags" Target="../tags/tag152.xml"/><Relationship Id="rId32" Type="http://schemas.openxmlformats.org/officeDocument/2006/relationships/tags" Target="../tags/tag173.xml"/><Relationship Id="rId37" Type="http://schemas.openxmlformats.org/officeDocument/2006/relationships/tags" Target="../tags/tag178.xml"/><Relationship Id="rId53" Type="http://schemas.openxmlformats.org/officeDocument/2006/relationships/tags" Target="../tags/tag194.xml"/><Relationship Id="rId58" Type="http://schemas.openxmlformats.org/officeDocument/2006/relationships/tags" Target="../tags/tag199.xml"/><Relationship Id="rId74" Type="http://schemas.openxmlformats.org/officeDocument/2006/relationships/tags" Target="../tags/tag215.xml"/><Relationship Id="rId79" Type="http://schemas.openxmlformats.org/officeDocument/2006/relationships/tags" Target="../tags/tag220.xml"/><Relationship Id="rId5" Type="http://schemas.openxmlformats.org/officeDocument/2006/relationships/tags" Target="../tags/tag146.xml"/><Relationship Id="rId90" Type="http://schemas.openxmlformats.org/officeDocument/2006/relationships/tags" Target="../tags/tag231.xml"/><Relationship Id="rId95" Type="http://schemas.openxmlformats.org/officeDocument/2006/relationships/oleObject" Target="../embeddings/oleObject12.bin"/><Relationship Id="rId22" Type="http://schemas.openxmlformats.org/officeDocument/2006/relationships/tags" Target="../tags/tag163.xml"/><Relationship Id="rId27" Type="http://schemas.openxmlformats.org/officeDocument/2006/relationships/tags" Target="../tags/tag168.xml"/><Relationship Id="rId43" Type="http://schemas.openxmlformats.org/officeDocument/2006/relationships/tags" Target="../tags/tag184.xml"/><Relationship Id="rId48" Type="http://schemas.openxmlformats.org/officeDocument/2006/relationships/tags" Target="../tags/tag189.xml"/><Relationship Id="rId64" Type="http://schemas.openxmlformats.org/officeDocument/2006/relationships/tags" Target="../tags/tag205.xml"/><Relationship Id="rId69" Type="http://schemas.openxmlformats.org/officeDocument/2006/relationships/tags" Target="../tags/tag210.xml"/><Relationship Id="rId80" Type="http://schemas.openxmlformats.org/officeDocument/2006/relationships/tags" Target="../tags/tag221.xml"/><Relationship Id="rId85" Type="http://schemas.openxmlformats.org/officeDocument/2006/relationships/tags" Target="../tags/tag226.xml"/><Relationship Id="rId3" Type="http://schemas.openxmlformats.org/officeDocument/2006/relationships/tags" Target="../tags/tag144.xml"/><Relationship Id="rId12" Type="http://schemas.openxmlformats.org/officeDocument/2006/relationships/tags" Target="../tags/tag153.xml"/><Relationship Id="rId17" Type="http://schemas.openxmlformats.org/officeDocument/2006/relationships/tags" Target="../tags/tag158.xml"/><Relationship Id="rId25" Type="http://schemas.openxmlformats.org/officeDocument/2006/relationships/tags" Target="../tags/tag166.xml"/><Relationship Id="rId33" Type="http://schemas.openxmlformats.org/officeDocument/2006/relationships/tags" Target="../tags/tag174.xml"/><Relationship Id="rId38" Type="http://schemas.openxmlformats.org/officeDocument/2006/relationships/tags" Target="../tags/tag179.xml"/><Relationship Id="rId46" Type="http://schemas.openxmlformats.org/officeDocument/2006/relationships/tags" Target="../tags/tag187.xml"/><Relationship Id="rId59" Type="http://schemas.openxmlformats.org/officeDocument/2006/relationships/tags" Target="../tags/tag200.xml"/><Relationship Id="rId67" Type="http://schemas.openxmlformats.org/officeDocument/2006/relationships/tags" Target="../tags/tag208.xml"/><Relationship Id="rId20" Type="http://schemas.openxmlformats.org/officeDocument/2006/relationships/tags" Target="../tags/tag161.xml"/><Relationship Id="rId41" Type="http://schemas.openxmlformats.org/officeDocument/2006/relationships/tags" Target="../tags/tag182.xml"/><Relationship Id="rId54" Type="http://schemas.openxmlformats.org/officeDocument/2006/relationships/tags" Target="../tags/tag195.xml"/><Relationship Id="rId62" Type="http://schemas.openxmlformats.org/officeDocument/2006/relationships/tags" Target="../tags/tag203.xml"/><Relationship Id="rId70" Type="http://schemas.openxmlformats.org/officeDocument/2006/relationships/tags" Target="../tags/tag211.xml"/><Relationship Id="rId75" Type="http://schemas.openxmlformats.org/officeDocument/2006/relationships/tags" Target="../tags/tag216.xml"/><Relationship Id="rId83" Type="http://schemas.openxmlformats.org/officeDocument/2006/relationships/tags" Target="../tags/tag224.xml"/><Relationship Id="rId88" Type="http://schemas.openxmlformats.org/officeDocument/2006/relationships/tags" Target="../tags/tag229.xml"/><Relationship Id="rId91" Type="http://schemas.openxmlformats.org/officeDocument/2006/relationships/tags" Target="../tags/tag232.xml"/><Relationship Id="rId96" Type="http://schemas.openxmlformats.org/officeDocument/2006/relationships/image" Target="../media/image4.emf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5" Type="http://schemas.openxmlformats.org/officeDocument/2006/relationships/tags" Target="../tags/tag156.xml"/><Relationship Id="rId23" Type="http://schemas.openxmlformats.org/officeDocument/2006/relationships/tags" Target="../tags/tag164.xml"/><Relationship Id="rId28" Type="http://schemas.openxmlformats.org/officeDocument/2006/relationships/tags" Target="../tags/tag169.xml"/><Relationship Id="rId36" Type="http://schemas.openxmlformats.org/officeDocument/2006/relationships/tags" Target="../tags/tag177.xml"/><Relationship Id="rId49" Type="http://schemas.openxmlformats.org/officeDocument/2006/relationships/tags" Target="../tags/tag190.xml"/><Relationship Id="rId57" Type="http://schemas.openxmlformats.org/officeDocument/2006/relationships/tags" Target="../tags/tag198.xml"/><Relationship Id="rId10" Type="http://schemas.openxmlformats.org/officeDocument/2006/relationships/tags" Target="../tags/tag151.xml"/><Relationship Id="rId31" Type="http://schemas.openxmlformats.org/officeDocument/2006/relationships/tags" Target="../tags/tag172.xml"/><Relationship Id="rId44" Type="http://schemas.openxmlformats.org/officeDocument/2006/relationships/tags" Target="../tags/tag185.xml"/><Relationship Id="rId52" Type="http://schemas.openxmlformats.org/officeDocument/2006/relationships/tags" Target="../tags/tag193.xml"/><Relationship Id="rId60" Type="http://schemas.openxmlformats.org/officeDocument/2006/relationships/tags" Target="../tags/tag201.xml"/><Relationship Id="rId65" Type="http://schemas.openxmlformats.org/officeDocument/2006/relationships/tags" Target="../tags/tag206.xml"/><Relationship Id="rId73" Type="http://schemas.openxmlformats.org/officeDocument/2006/relationships/tags" Target="../tags/tag214.xml"/><Relationship Id="rId78" Type="http://schemas.openxmlformats.org/officeDocument/2006/relationships/tags" Target="../tags/tag219.xml"/><Relationship Id="rId81" Type="http://schemas.openxmlformats.org/officeDocument/2006/relationships/tags" Target="../tags/tag222.xml"/><Relationship Id="rId86" Type="http://schemas.openxmlformats.org/officeDocument/2006/relationships/tags" Target="../tags/tag227.xml"/><Relationship Id="rId94" Type="http://schemas.openxmlformats.org/officeDocument/2006/relationships/slideLayout" Target="../slideLayouts/slideLayout3.xml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3" Type="http://schemas.openxmlformats.org/officeDocument/2006/relationships/tags" Target="../tags/tag154.xml"/><Relationship Id="rId18" Type="http://schemas.openxmlformats.org/officeDocument/2006/relationships/tags" Target="../tags/tag159.xml"/><Relationship Id="rId39" Type="http://schemas.openxmlformats.org/officeDocument/2006/relationships/tags" Target="../tags/tag180.xml"/><Relationship Id="rId34" Type="http://schemas.openxmlformats.org/officeDocument/2006/relationships/tags" Target="../tags/tag175.xml"/><Relationship Id="rId50" Type="http://schemas.openxmlformats.org/officeDocument/2006/relationships/tags" Target="../tags/tag191.xml"/><Relationship Id="rId55" Type="http://schemas.openxmlformats.org/officeDocument/2006/relationships/tags" Target="../tags/tag196.xml"/><Relationship Id="rId76" Type="http://schemas.openxmlformats.org/officeDocument/2006/relationships/tags" Target="../tags/tag217.xml"/><Relationship Id="rId97" Type="http://schemas.openxmlformats.org/officeDocument/2006/relationships/chart" Target="../charts/chart12.xml"/><Relationship Id="rId7" Type="http://schemas.openxmlformats.org/officeDocument/2006/relationships/tags" Target="../tags/tag148.xml"/><Relationship Id="rId71" Type="http://schemas.openxmlformats.org/officeDocument/2006/relationships/tags" Target="../tags/tag212.xml"/><Relationship Id="rId92" Type="http://schemas.openxmlformats.org/officeDocument/2006/relationships/tags" Target="../tags/tag233.xml"/><Relationship Id="rId2" Type="http://schemas.openxmlformats.org/officeDocument/2006/relationships/tags" Target="../tags/tag143.xml"/><Relationship Id="rId29" Type="http://schemas.openxmlformats.org/officeDocument/2006/relationships/tags" Target="../tags/tag170.xml"/><Relationship Id="rId24" Type="http://schemas.openxmlformats.org/officeDocument/2006/relationships/tags" Target="../tags/tag165.xml"/><Relationship Id="rId40" Type="http://schemas.openxmlformats.org/officeDocument/2006/relationships/tags" Target="../tags/tag181.xml"/><Relationship Id="rId45" Type="http://schemas.openxmlformats.org/officeDocument/2006/relationships/tags" Target="../tags/tag186.xml"/><Relationship Id="rId66" Type="http://schemas.openxmlformats.org/officeDocument/2006/relationships/tags" Target="../tags/tag207.xml"/><Relationship Id="rId87" Type="http://schemas.openxmlformats.org/officeDocument/2006/relationships/tags" Target="../tags/tag228.xml"/><Relationship Id="rId61" Type="http://schemas.openxmlformats.org/officeDocument/2006/relationships/tags" Target="../tags/tag202.xml"/><Relationship Id="rId82" Type="http://schemas.openxmlformats.org/officeDocument/2006/relationships/tags" Target="../tags/tag223.xml"/><Relationship Id="rId19" Type="http://schemas.openxmlformats.org/officeDocument/2006/relationships/tags" Target="../tags/tag160.xml"/><Relationship Id="rId14" Type="http://schemas.openxmlformats.org/officeDocument/2006/relationships/tags" Target="../tags/tag155.xml"/><Relationship Id="rId30" Type="http://schemas.openxmlformats.org/officeDocument/2006/relationships/tags" Target="../tags/tag171.xml"/><Relationship Id="rId35" Type="http://schemas.openxmlformats.org/officeDocument/2006/relationships/tags" Target="../tags/tag176.xml"/><Relationship Id="rId56" Type="http://schemas.openxmlformats.org/officeDocument/2006/relationships/tags" Target="../tags/tag197.xml"/><Relationship Id="rId77" Type="http://schemas.openxmlformats.org/officeDocument/2006/relationships/tags" Target="../tags/tag218.xml"/><Relationship Id="rId8" Type="http://schemas.openxmlformats.org/officeDocument/2006/relationships/tags" Target="../tags/tag149.xml"/><Relationship Id="rId51" Type="http://schemas.openxmlformats.org/officeDocument/2006/relationships/tags" Target="../tags/tag192.xml"/><Relationship Id="rId72" Type="http://schemas.openxmlformats.org/officeDocument/2006/relationships/tags" Target="../tags/tag213.xml"/><Relationship Id="rId93" Type="http://schemas.openxmlformats.org/officeDocument/2006/relationships/tags" Target="../tags/tag234.xml"/><Relationship Id="rId98" Type="http://schemas.openxmlformats.org/officeDocument/2006/relationships/chart" Target="../charts/chart1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tags" Target="../tags/tag247.xml"/><Relationship Id="rId18" Type="http://schemas.openxmlformats.org/officeDocument/2006/relationships/tags" Target="../tags/tag252.xml"/><Relationship Id="rId3" Type="http://schemas.openxmlformats.org/officeDocument/2006/relationships/tags" Target="../tags/tag237.xml"/><Relationship Id="rId21" Type="http://schemas.openxmlformats.org/officeDocument/2006/relationships/image" Target="../media/image4.emf"/><Relationship Id="rId7" Type="http://schemas.openxmlformats.org/officeDocument/2006/relationships/tags" Target="../tags/tag241.xml"/><Relationship Id="rId12" Type="http://schemas.openxmlformats.org/officeDocument/2006/relationships/tags" Target="../tags/tag246.xml"/><Relationship Id="rId17" Type="http://schemas.openxmlformats.org/officeDocument/2006/relationships/tags" Target="../tags/tag251.xml"/><Relationship Id="rId2" Type="http://schemas.openxmlformats.org/officeDocument/2006/relationships/tags" Target="../tags/tag236.xml"/><Relationship Id="rId16" Type="http://schemas.openxmlformats.org/officeDocument/2006/relationships/tags" Target="../tags/tag250.xml"/><Relationship Id="rId20" Type="http://schemas.openxmlformats.org/officeDocument/2006/relationships/oleObject" Target="../embeddings/oleObject13.bin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tags" Target="../tags/tag245.xml"/><Relationship Id="rId5" Type="http://schemas.openxmlformats.org/officeDocument/2006/relationships/tags" Target="../tags/tag239.xml"/><Relationship Id="rId15" Type="http://schemas.openxmlformats.org/officeDocument/2006/relationships/tags" Target="../tags/tag249.xml"/><Relationship Id="rId10" Type="http://schemas.openxmlformats.org/officeDocument/2006/relationships/tags" Target="../tags/tag244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4" Type="http://schemas.openxmlformats.org/officeDocument/2006/relationships/tags" Target="../tags/tag248.xml"/><Relationship Id="rId22" Type="http://schemas.openxmlformats.org/officeDocument/2006/relationships/chart" Target="../charts/chart14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tags" Target="../tags/tag278.xml"/><Relationship Id="rId21" Type="http://schemas.openxmlformats.org/officeDocument/2006/relationships/tags" Target="../tags/tag273.xml"/><Relationship Id="rId42" Type="http://schemas.openxmlformats.org/officeDocument/2006/relationships/tags" Target="../tags/tag294.xml"/><Relationship Id="rId47" Type="http://schemas.openxmlformats.org/officeDocument/2006/relationships/tags" Target="../tags/tag299.xml"/><Relationship Id="rId63" Type="http://schemas.openxmlformats.org/officeDocument/2006/relationships/tags" Target="../tags/tag315.xml"/><Relationship Id="rId68" Type="http://schemas.openxmlformats.org/officeDocument/2006/relationships/slideLayout" Target="../slideLayouts/slideLayout3.xml"/><Relationship Id="rId2" Type="http://schemas.openxmlformats.org/officeDocument/2006/relationships/tags" Target="../tags/tag254.xml"/><Relationship Id="rId16" Type="http://schemas.openxmlformats.org/officeDocument/2006/relationships/tags" Target="../tags/tag268.xml"/><Relationship Id="rId29" Type="http://schemas.openxmlformats.org/officeDocument/2006/relationships/tags" Target="../tags/tag281.xml"/><Relationship Id="rId11" Type="http://schemas.openxmlformats.org/officeDocument/2006/relationships/tags" Target="../tags/tag263.xml"/><Relationship Id="rId24" Type="http://schemas.openxmlformats.org/officeDocument/2006/relationships/tags" Target="../tags/tag276.xml"/><Relationship Id="rId32" Type="http://schemas.openxmlformats.org/officeDocument/2006/relationships/tags" Target="../tags/tag284.xml"/><Relationship Id="rId37" Type="http://schemas.openxmlformats.org/officeDocument/2006/relationships/tags" Target="../tags/tag289.xml"/><Relationship Id="rId40" Type="http://schemas.openxmlformats.org/officeDocument/2006/relationships/tags" Target="../tags/tag292.xml"/><Relationship Id="rId45" Type="http://schemas.openxmlformats.org/officeDocument/2006/relationships/tags" Target="../tags/tag297.xml"/><Relationship Id="rId53" Type="http://schemas.openxmlformats.org/officeDocument/2006/relationships/tags" Target="../tags/tag305.xml"/><Relationship Id="rId58" Type="http://schemas.openxmlformats.org/officeDocument/2006/relationships/tags" Target="../tags/tag310.xml"/><Relationship Id="rId66" Type="http://schemas.openxmlformats.org/officeDocument/2006/relationships/tags" Target="../tags/tag318.xml"/><Relationship Id="rId5" Type="http://schemas.openxmlformats.org/officeDocument/2006/relationships/tags" Target="../tags/tag257.xml"/><Relationship Id="rId61" Type="http://schemas.openxmlformats.org/officeDocument/2006/relationships/tags" Target="../tags/tag313.xml"/><Relationship Id="rId19" Type="http://schemas.openxmlformats.org/officeDocument/2006/relationships/tags" Target="../tags/tag271.xml"/><Relationship Id="rId14" Type="http://schemas.openxmlformats.org/officeDocument/2006/relationships/tags" Target="../tags/tag266.xml"/><Relationship Id="rId22" Type="http://schemas.openxmlformats.org/officeDocument/2006/relationships/tags" Target="../tags/tag274.xml"/><Relationship Id="rId27" Type="http://schemas.openxmlformats.org/officeDocument/2006/relationships/tags" Target="../tags/tag279.xml"/><Relationship Id="rId30" Type="http://schemas.openxmlformats.org/officeDocument/2006/relationships/tags" Target="../tags/tag282.xml"/><Relationship Id="rId35" Type="http://schemas.openxmlformats.org/officeDocument/2006/relationships/tags" Target="../tags/tag287.xml"/><Relationship Id="rId43" Type="http://schemas.openxmlformats.org/officeDocument/2006/relationships/tags" Target="../tags/tag295.xml"/><Relationship Id="rId48" Type="http://schemas.openxmlformats.org/officeDocument/2006/relationships/tags" Target="../tags/tag300.xml"/><Relationship Id="rId56" Type="http://schemas.openxmlformats.org/officeDocument/2006/relationships/tags" Target="../tags/tag308.xml"/><Relationship Id="rId64" Type="http://schemas.openxmlformats.org/officeDocument/2006/relationships/tags" Target="../tags/tag316.xml"/><Relationship Id="rId69" Type="http://schemas.openxmlformats.org/officeDocument/2006/relationships/notesSlide" Target="../notesSlides/notesSlide15.xml"/><Relationship Id="rId8" Type="http://schemas.openxmlformats.org/officeDocument/2006/relationships/tags" Target="../tags/tag260.xml"/><Relationship Id="rId51" Type="http://schemas.openxmlformats.org/officeDocument/2006/relationships/tags" Target="../tags/tag303.xml"/><Relationship Id="rId72" Type="http://schemas.openxmlformats.org/officeDocument/2006/relationships/chart" Target="../charts/chart15.xml"/><Relationship Id="rId3" Type="http://schemas.openxmlformats.org/officeDocument/2006/relationships/tags" Target="../tags/tag255.xml"/><Relationship Id="rId12" Type="http://schemas.openxmlformats.org/officeDocument/2006/relationships/tags" Target="../tags/tag264.xml"/><Relationship Id="rId17" Type="http://schemas.openxmlformats.org/officeDocument/2006/relationships/tags" Target="../tags/tag269.xml"/><Relationship Id="rId25" Type="http://schemas.openxmlformats.org/officeDocument/2006/relationships/tags" Target="../tags/tag277.xml"/><Relationship Id="rId33" Type="http://schemas.openxmlformats.org/officeDocument/2006/relationships/tags" Target="../tags/tag285.xml"/><Relationship Id="rId38" Type="http://schemas.openxmlformats.org/officeDocument/2006/relationships/tags" Target="../tags/tag290.xml"/><Relationship Id="rId46" Type="http://schemas.openxmlformats.org/officeDocument/2006/relationships/tags" Target="../tags/tag298.xml"/><Relationship Id="rId59" Type="http://schemas.openxmlformats.org/officeDocument/2006/relationships/tags" Target="../tags/tag311.xml"/><Relationship Id="rId67" Type="http://schemas.openxmlformats.org/officeDocument/2006/relationships/tags" Target="../tags/tag319.xml"/><Relationship Id="rId20" Type="http://schemas.openxmlformats.org/officeDocument/2006/relationships/tags" Target="../tags/tag272.xml"/><Relationship Id="rId41" Type="http://schemas.openxmlformats.org/officeDocument/2006/relationships/tags" Target="../tags/tag293.xml"/><Relationship Id="rId54" Type="http://schemas.openxmlformats.org/officeDocument/2006/relationships/tags" Target="../tags/tag306.xml"/><Relationship Id="rId62" Type="http://schemas.openxmlformats.org/officeDocument/2006/relationships/tags" Target="../tags/tag314.xml"/><Relationship Id="rId70" Type="http://schemas.openxmlformats.org/officeDocument/2006/relationships/oleObject" Target="../embeddings/oleObject14.bin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5" Type="http://schemas.openxmlformats.org/officeDocument/2006/relationships/tags" Target="../tags/tag267.xml"/><Relationship Id="rId23" Type="http://schemas.openxmlformats.org/officeDocument/2006/relationships/tags" Target="../tags/tag275.xml"/><Relationship Id="rId28" Type="http://schemas.openxmlformats.org/officeDocument/2006/relationships/tags" Target="../tags/tag280.xml"/><Relationship Id="rId36" Type="http://schemas.openxmlformats.org/officeDocument/2006/relationships/tags" Target="../tags/tag288.xml"/><Relationship Id="rId49" Type="http://schemas.openxmlformats.org/officeDocument/2006/relationships/tags" Target="../tags/tag301.xml"/><Relationship Id="rId57" Type="http://schemas.openxmlformats.org/officeDocument/2006/relationships/tags" Target="../tags/tag309.xml"/><Relationship Id="rId10" Type="http://schemas.openxmlformats.org/officeDocument/2006/relationships/tags" Target="../tags/tag262.xml"/><Relationship Id="rId31" Type="http://schemas.openxmlformats.org/officeDocument/2006/relationships/tags" Target="../tags/tag283.xml"/><Relationship Id="rId44" Type="http://schemas.openxmlformats.org/officeDocument/2006/relationships/tags" Target="../tags/tag296.xml"/><Relationship Id="rId52" Type="http://schemas.openxmlformats.org/officeDocument/2006/relationships/tags" Target="../tags/tag304.xml"/><Relationship Id="rId60" Type="http://schemas.openxmlformats.org/officeDocument/2006/relationships/tags" Target="../tags/tag312.xml"/><Relationship Id="rId65" Type="http://schemas.openxmlformats.org/officeDocument/2006/relationships/tags" Target="../tags/tag317.xml"/><Relationship Id="rId73" Type="http://schemas.openxmlformats.org/officeDocument/2006/relationships/chart" Target="../charts/chart16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3" Type="http://schemas.openxmlformats.org/officeDocument/2006/relationships/tags" Target="../tags/tag265.xml"/><Relationship Id="rId18" Type="http://schemas.openxmlformats.org/officeDocument/2006/relationships/tags" Target="../tags/tag270.xml"/><Relationship Id="rId39" Type="http://schemas.openxmlformats.org/officeDocument/2006/relationships/tags" Target="../tags/tag291.xml"/><Relationship Id="rId34" Type="http://schemas.openxmlformats.org/officeDocument/2006/relationships/tags" Target="../tags/tag286.xml"/><Relationship Id="rId50" Type="http://schemas.openxmlformats.org/officeDocument/2006/relationships/tags" Target="../tags/tag302.xml"/><Relationship Id="rId55" Type="http://schemas.openxmlformats.org/officeDocument/2006/relationships/tags" Target="../tags/tag307.xml"/><Relationship Id="rId7" Type="http://schemas.openxmlformats.org/officeDocument/2006/relationships/tags" Target="../tags/tag259.xml"/><Relationship Id="rId71" Type="http://schemas.openxmlformats.org/officeDocument/2006/relationships/image" Target="../media/image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2" Type="http://schemas.openxmlformats.org/officeDocument/2006/relationships/tags" Target="../tags/tag320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2.emf"/></Relationships>
</file>

<file path=ppt/slides/_rels/slide59.xml.rels><?xml version='1.0' encoding='UTF-8' standalone='yes'?>
<Relationships xmlns="http://schemas.openxmlformats.org/package/2006/relationships"><Relationship Id="rId2" Type="http://schemas.openxmlformats.org/officeDocument/2006/relationships/tags" Target="../tags/tag321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s/_rels/slide60.xml.rels><?xml version='1.0' encoding='UTF-8' standalone='yes'?>
<Relationships xmlns="http://schemas.openxmlformats.org/package/2006/relationships"><Relationship Id="rId2" Type="http://schemas.openxmlformats.org/officeDocument/2006/relationships/tags" Target="../tags/tag322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5.emf"/></Relationships>
</file>

<file path=ppt/slides/_rels/slide61.xml.rels><?xml version='1.0' encoding='UTF-8' standalone='yes'?>
<Relationships xmlns="http://schemas.openxmlformats.org/package/2006/relationships"><Relationship Id="rId2" Type="http://schemas.openxmlformats.org/officeDocument/2006/relationships/tags" Target="../tags/tag323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6.emf"/></Relationships>
</file>

<file path=ppt/slides/_rels/slide62.xml.rels><?xml version='1.0' encoding='UTF-8' standalone='yes'?>
<Relationships xmlns="http://schemas.openxmlformats.org/package/2006/relationships"><Relationship Id="rId2" Type="http://schemas.openxmlformats.org/officeDocument/2006/relationships/tags" Target="../tags/tag324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9.bin"/><Relationship Id="rId6" Type="http://schemas.openxmlformats.org/officeDocument/2006/relationships/image" Target="../media/image11.emf"/></Relationships>
</file>

<file path=ppt/slides/_rels/slide63.xml.rels><?xml version='1.0' encoding='UTF-8' standalone='yes'?>
<Relationships xmlns="http://schemas.openxmlformats.org/package/2006/relationships"><Relationship Id="rId2" Type="http://schemas.openxmlformats.org/officeDocument/2006/relationships/tags" Target="../tags/tag325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20.bin"/><Relationship Id="rId6" Type="http://schemas.openxmlformats.org/officeDocument/2006/relationships/image" Target="../media/image12.emf"/><Relationship Id="rId7" Type="http://schemas.openxmlformats.org/officeDocument/2006/relationships/chart" Target="../charts/chart17.xml"/><Relationship Id="rId8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ru-RU" sz="5000" b="1" dirty="0">
                <a:solidFill>
                  <a:srgbClr val="FFFFFF"/>
                </a:solidFill>
                <a:latin typeface="Arial"/>
              </a:rPr>
              <a:t>Результаты сентября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ru-RU" sz="5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Корпоративные триггеры по Магнит </a:t>
            </a:r>
            <a:r>
              <a:rPr lang="en-US" dirty="0"/>
              <a:t>AdTech</a:t>
            </a:r>
            <a:r>
              <a:rPr lang="ru-RU" dirty="0"/>
              <a:t> на 2027 год</a:t>
            </a:r>
          </a:p>
          <a:p>
            <a:endParaRPr lang="ru-RU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dirty="0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новых инициатив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Executive Summary: бюджет Magnit </a:t>
            </a:r>
            <a:r>
              <a:rPr lang="en-US" dirty="0"/>
              <a:t>ADS</a:t>
            </a:r>
            <a:r>
              <a:rPr lang="ru-RU" dirty="0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 dirty="0">
                <a:solidFill>
                  <a:srgbClr val="000000"/>
                </a:solidFill>
              </a:rPr>
              <a:t>1,2 трлн руб.</a:t>
            </a:r>
            <a:r>
              <a:rPr lang="ru-RU" sz="1400" dirty="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 dirty="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AdTech растёт быстрее рынка: </a:t>
            </a:r>
            <a:r>
              <a:rPr lang="ru-RU" sz="1400" dirty="0">
                <a:solidFill>
                  <a:srgbClr val="000000"/>
                </a:solidFill>
              </a:rPr>
              <a:t xml:space="preserve">+41% против +35% у Retail Media, доля в сегменте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Три драйвера роста: </a:t>
            </a:r>
            <a:r>
              <a:rPr lang="ru-RU" sz="1400" dirty="0">
                <a:solidFill>
                  <a:srgbClr val="000000"/>
                </a:solidFill>
              </a:rPr>
              <a:t xml:space="preserve">аудитория приложения (+18%), полный год нового прайса и новые направления — RMN и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Выручка на 1 618 млн руб. выше стратегии: </a:t>
            </a:r>
            <a:r>
              <a:rPr lang="ru-RU" sz="1400" dirty="0">
                <a:solidFill>
                  <a:srgbClr val="000000"/>
                </a:solidFill>
              </a:rPr>
              <a:t xml:space="preserve">основной вклад — RMN (+850, не закладывался в стратегию) и DMP+Online (+537)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42% годовой выручки приходится на Q4: </a:t>
            </a:r>
            <a:r>
              <a:rPr lang="ru-RU" sz="1400" dirty="0">
                <a:solidFill>
                  <a:srgbClr val="000000"/>
                </a:solidFill>
              </a:rPr>
              <a:t xml:space="preserve">сезонность цен и рост аудитории к концу года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OPEX с учётом COGS растёт на 1 504 млн руб. (+67%): </a:t>
            </a:r>
            <a:r>
              <a:rPr lang="ru-RU" sz="1400" dirty="0">
                <a:solidFill>
                  <a:srgbClr val="000000"/>
                </a:solidFill>
              </a:rPr>
              <a:t xml:space="preserve">73% прироста — переменные расходы, которые масштабируются вместе с выручкой (трафик DMP, агентства, креаторы)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AT Platform: 541 млн руб. (+94), </a:t>
            </a:r>
            <a:r>
              <a:rPr lang="ru-RU" sz="1400" dirty="0">
                <a:solidFill>
                  <a:srgbClr val="000000"/>
                </a:solidFill>
              </a:rPr>
              <a:t xml:space="preserve">основная часть — капитализация ФОТ разработки (510)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In-store: 610 млн руб. (−123), </a:t>
            </a:r>
            <a:r>
              <a:rPr lang="ru-RU" sz="1400" dirty="0">
                <a:solidFill>
                  <a:srgbClr val="000000"/>
                </a:solidFill>
              </a:rPr>
              <a:t xml:space="preserve">в т.ч. система управления медиаконтентом (438)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FCF 9 673 млн руб., </a:t>
            </a:r>
            <a:r>
              <a:rPr lang="ru-RU" sz="1400" dirty="0">
                <a:solidFill>
                  <a:srgbClr val="000000"/>
                </a:solidFill>
              </a:rPr>
              <a:t xml:space="preserve">на 962 млн руб. выше стратегии: рост EBITDA при CAPEX на уровне 2026 г.</a:t>
            </a:r>
          </a:p>
        </p:txBody>
      </p:sp>
    </p:spTree>
    <p:extLst>
      <p:ext uri="{BB962C8B-B14F-4D97-AF65-F5344CB8AC3E}">
        <p14:creationId xmlns:p14="http://schemas.microsoft.com/office/powerpoint/2010/main" val="1282774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2027 на уровне top-down: EBITDA 500 млн руб., форматам — 2,3 млрд руб. прироста Net Revenue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Прирост Net Revenue для форматов 2 272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прирост выручки 4 243 за вычетом COGS 2027 (1 971)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Превышение таргета 2 000 на 272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запуск Content factory и финальные корректировки выручки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OPEX 1 772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на 272 выше top-down, что компенсируется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EBITDA 500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на уровне top-down,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CAPEX 1 151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на 92 ниже стратегии и на 149 ниже таргета, с учётом 50 общего стрейча на ОМНИ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Консолидированный FCF −651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на 149 лучше top-down за счёт CAPEX, на 107 лучше стратегии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Net Revenue +3,2 млрд руб.: форматам передаём 2,3 млрд руб. прироста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Net</a:t>
            </a:r>
            <a:r>
              <a:rPr lang="ru-RU" sz="1600" b="1" dirty="0">
                <a:solidFill>
                  <a:srgbClr val="000000"/>
                </a:solidFill>
              </a:rPr>
              <a:t> </a:t>
            </a:r>
            <a:r>
              <a:rPr lang="ru-RU" sz="1600" b="1" dirty="0" err="1">
                <a:solidFill>
                  <a:srgbClr val="000000"/>
                </a:solidFill>
              </a:rPr>
              <a:t>Revenue</a:t>
            </a:r>
            <a:r>
              <a:rPr lang="ru-RU" sz="1600" b="1" dirty="0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Net Revenue +3 152 млн руб. (+33%) </a:t>
            </a:r>
            <a:r>
              <a:rPr lang="ru-RU" sz="1200" dirty="0">
                <a:solidFill>
                  <a:srgbClr val="000000"/>
                </a:solidFill>
              </a:rPr>
              <a:t xml:space="preserve">при росте выручки на 4 243 млн руб.; COGS (+1 091) растёт пропорционально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72% прироста дают APP и In-store: </a:t>
            </a:r>
            <a:r>
              <a:rPr lang="ru-RU" sz="1200" dirty="0">
                <a:solidFill>
                  <a:srgbClr val="000000"/>
                </a:solidFill>
              </a:rPr>
              <a:t xml:space="preserve">полный год нового прайса и оборудования, введённого в 2026 г., рост DAC на 18%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Растёт общая утилизация </a:t>
            </a:r>
            <a:r>
              <a:rPr lang="ru-RU" sz="1200" dirty="0">
                <a:solidFill>
                  <a:srgbClr val="000000"/>
                </a:solidFill>
              </a:rPr>
              <a:t>рекламного инвентаря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Внешние деньги вне КУ +471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бренд-бюджеты поставщиков через RMN и внешние рекламодатели Content factory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EBITDA 500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(2 272 − OPEX 1 772) — на уровне top-down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Прирост для форматов 2 272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рассчитан при текущем распределении рекламного инвентаря между AdTech и форматами</a:t>
            </a:r>
          </a:p>
        </p:txBody>
      </p:sp>
      <p:sp>
        <p:nvSpPr>
          <p:cNvPr id="129" name="Card 0 bg"/>
          <p:cNvSpPr/>
          <p:nvPr/>
        </p:nvSpPr>
        <p:spPr>
          <a:xfrm>
            <a:off x="364175" y="5007250"/>
            <a:ext cx="4046093" cy="4308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0" name="Card 0 label"/>
          <p:cNvSpPr txBox="1"/>
          <p:nvPr/>
        </p:nvSpPr>
        <p:spPr>
          <a:xfrm>
            <a:off x="441433" y="5007250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Весь COGS 2027 г.</a:t>
            </a:r>
          </a:p>
        </p:txBody>
      </p:sp>
      <p:sp>
        <p:nvSpPr>
          <p:cNvPr id="131" name="Card 0 value"/>
          <p:cNvSpPr txBox="1"/>
          <p:nvPr/>
        </p:nvSpPr>
        <p:spPr>
          <a:xfrm>
            <a:off x="3057171" y="5007250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595959"/>
                </a:solidFill>
                <a:latin typeface="Arial"/>
              </a:rPr>
              <a:t> -1 971</a:t>
            </a:r>
          </a:p>
        </p:txBody>
      </p:sp>
      <p:sp>
        <p:nvSpPr>
          <p:cNvPr id="132" name="Card 1 bg"/>
          <p:cNvSpPr/>
          <p:nvPr/>
        </p:nvSpPr>
        <p:spPr>
          <a:xfrm>
            <a:off x="364175" y="5603709"/>
            <a:ext cx="4046093" cy="430887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" name="Card 1 label"/>
          <p:cNvSpPr txBox="1"/>
          <p:nvPr/>
        </p:nvSpPr>
        <p:spPr>
          <a:xfrm>
            <a:off x="441433" y="5603709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Прирост Net </a:t>
            </a:r>
            <a:r>
              <a:rPr lang="ru-RU" sz="1200" b="1" dirty="0" err="1">
                <a:solidFill>
                  <a:srgbClr val="000000"/>
                </a:solidFill>
                <a:latin typeface="Arial"/>
              </a:rPr>
              <a:t>Revenue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 для форматов</a:t>
            </a:r>
          </a:p>
        </p:txBody>
      </p:sp>
      <p:sp>
        <p:nvSpPr>
          <p:cNvPr id="134" name="Card 1 value"/>
          <p:cNvSpPr txBox="1"/>
          <p:nvPr/>
        </p:nvSpPr>
        <p:spPr>
          <a:xfrm>
            <a:off x="3057171" y="5603709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FF452C"/>
                </a:solidFill>
                <a:latin typeface="Arial"/>
              </a:rPr>
              <a:t>2 272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alt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alt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alt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alt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en-US" altLang="en-US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en-US" altLang="en-US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alt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en-US" altLang="en-US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alt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en-US" altLang="en-US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1EE37413-5A59-E639-7382-D66E48FA6F25}"/>
              </a:ext>
            </a:extLst>
          </p:cNvPr>
          <p:cNvSpPr/>
          <p:nvPr/>
        </p:nvSpPr>
        <p:spPr>
          <a:xfrm rot="5400000">
            <a:off x="3773279" y="1749822"/>
            <a:ext cx="242515" cy="4977605"/>
          </a:xfrm>
          <a:prstGeom prst="rightBrace">
            <a:avLst>
              <a:gd name="adj1" fmla="val 4124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DFA06-3F77-C77F-1131-E1950B5BB4FD}"/>
              </a:ext>
            </a:extLst>
          </p:cNvPr>
          <p:cNvSpPr txBox="1"/>
          <p:nvPr/>
        </p:nvSpPr>
        <p:spPr>
          <a:xfrm>
            <a:off x="3551744" y="4374653"/>
            <a:ext cx="1995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/>
              <a:t>4 243 </a:t>
            </a:r>
            <a:r>
              <a:rPr lang="ru-RU" sz="1400" b="1" dirty="0"/>
              <a:t>млн руб. </a:t>
            </a:r>
            <a:endParaRPr lang="en-US" sz="1400" b="1" dirty="0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</p:nvPr>
        </p:nvGraphicFramePr>
        <p:xfrm>
          <a:off x="5470525" y="4499153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704556" y="604384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altLang="en-US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6812657" y="450074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812657" y="633095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b="1" dirty="0">
                <a:solidFill>
                  <a:schemeClr val="tx1"/>
                </a:solidFill>
                <a:effectLst/>
              </a:rPr>
              <a:t>2027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595079" y="5246580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altLang="en-US" sz="1200" dirty="0">
                <a:solidFill>
                  <a:schemeClr val="tx1"/>
                </a:solidFill>
              </a:rPr>
              <a:t>КУ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УО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APP +1 501: </a:t>
            </a:r>
            <a:r>
              <a:rPr lang="ru-RU" sz="1100" dirty="0">
                <a:solidFill>
                  <a:srgbClr val="000000"/>
                </a:solidFill>
              </a:rPr>
              <a:t xml:space="preserve">~60% (+873) — полный год нового прайса, ~40%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In-store +1 573: </a:t>
            </a:r>
            <a:r>
              <a:rPr lang="ru-RU" sz="1100" dirty="0">
                <a:solidFill>
                  <a:srgbClr val="000000"/>
                </a:solidFill>
              </a:rPr>
              <a:t xml:space="preserve"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DMP + Online +613: </a:t>
            </a:r>
            <a:r>
              <a:rPr lang="ru-RU" sz="1100" dirty="0">
                <a:solidFill>
                  <a:srgbClr val="000000"/>
                </a:solidFill>
              </a:rPr>
              <a:t xml:space="preserve"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Новые направления: </a:t>
            </a:r>
            <a:r>
              <a:rPr lang="ru-RU" sz="1100" dirty="0">
                <a:solidFill>
                  <a:srgbClr val="000000"/>
                </a:solidFill>
              </a:rPr>
              <a:t xml:space="preserve"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COGS 1 971: </a:t>
            </a:r>
            <a:r>
              <a:rPr lang="ru-RU" sz="1100" dirty="0">
                <a:solidFill>
                  <a:srgbClr val="000000"/>
                </a:solidFill>
              </a:rPr>
              <a:t xml:space="preserve">закупка трафика DMP (1 000), агентские вознаграждения (795), креаторы (176); Net Revenue — 86% Gross Revenue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PEX 1 436 (+28%): </a:t>
            </a:r>
            <a:r>
              <a:rPr lang="ru-RU" sz="1100" dirty="0">
                <a:solidFill>
                  <a:srgbClr val="000000"/>
                </a:solidFill>
              </a:rPr>
              <a:t xml:space="preserve">полный год работы штата, набранного в 2026 г., и +42 FTE (до 354); 27% ФОТ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Рынок, тренды, конкуренты, драйверы роста и роль </a:t>
            </a:r>
            <a:r>
              <a:rPr lang="en-US" dirty="0"/>
              <a:t>Magnit ADS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анализ </a:t>
            </a:r>
            <a:r>
              <a:rPr lang="en-US" dirty="0">
                <a:solidFill>
                  <a:srgbClr val="6E6E6E"/>
                </a:solidFill>
              </a:rPr>
              <a:t>Magnit ADS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 dirty="0"/>
              <a:t>Рынок ритейл медиа опережает темпы роста </a:t>
            </a:r>
            <a:br>
              <a:rPr lang="en-US" dirty="0"/>
            </a:br>
            <a:r>
              <a:rPr lang="ru-RU" dirty="0"/>
              <a:t>традиционного </a:t>
            </a:r>
            <a:r>
              <a:rPr lang="en-US" dirty="0"/>
              <a:t>digital +35% vs. +15% YoY</a:t>
            </a:r>
            <a:endParaRPr lang="ru-RU" dirty="0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kumimoji="0" lang="ru-RU" sz="10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 dirty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 dirty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 dirty="0">
                <a:solidFill>
                  <a:srgbClr val="000000"/>
                </a:solidFill>
              </a:rPr>
              <a:t>Позиция Magnit </a:t>
            </a:r>
            <a:r>
              <a:rPr lang="ru-RU" sz="1400" dirty="0" err="1">
                <a:solidFill>
                  <a:srgbClr val="000000"/>
                </a:solidFill>
              </a:rPr>
              <a:t>AdTech</a:t>
            </a:r>
            <a:r>
              <a:rPr lang="ru-RU" sz="1400" dirty="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 dirty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 dirty="0">
                <a:latin typeface="Arial"/>
                <a:cs typeface="Arial"/>
                <a:sym typeface="Arial"/>
              </a:rPr>
              <a:t>digital (+15% YoY)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1. Оценка </a:t>
            </a:r>
            <a:r>
              <a:rPr lang="en" dirty="0">
                <a:solidFill>
                  <a:srgbClr val="6E6E6E"/>
                </a:solidFill>
              </a:rPr>
              <a:t>Magnit ADS, </a:t>
            </a:r>
            <a:r>
              <a:rPr lang="ru-RU" dirty="0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 dirty="0" err="1">
                <a:solidFill>
                  <a:srgbClr val="6E6E6E"/>
                </a:solidFill>
              </a:rPr>
              <a:t>инфлюенс</a:t>
            </a:r>
            <a:r>
              <a:rPr lang="ru-RU" dirty="0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ru-RU" dirty="0" err="1">
                <a:solidFill>
                  <a:srgbClr val="6E6E6E"/>
                </a:solidFill>
              </a:rPr>
              <a:t>AdTech</a:t>
            </a:r>
            <a:r>
              <a:rPr lang="ru-RU" dirty="0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 dirty="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 dirty="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 dirty="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 dirty="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ru-RU" sz="1200" dirty="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 dirty="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ru-RU" sz="1200" dirty="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ru-RU" sz="1200" dirty="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 dirty="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 dirty="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 dirty="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 dirty="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 dirty="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 dirty="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 dirty="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 dirty="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 dirty="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 dirty="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 dirty="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 dirty="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 dirty="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 dirty="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 dirty="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в 2027 г. вырастет на 35%, до 1,2 трлн руб.;</a:t>
            </a:r>
            <a:br>
              <a:rPr lang="ru-RU" dirty="0"/>
            </a:br>
            <a:r>
              <a:rPr lang="ru-RU" dirty="0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 dirty="0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 dirty="0">
                <a:solidFill>
                  <a:srgbClr val="000000"/>
                </a:solidFill>
              </a:rPr>
              <a:t>2,9 трлн руб.</a:t>
            </a:r>
            <a:r>
              <a:rPr lang="ru-RU" sz="1400" dirty="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Retail Media растёт вдвое быстрее traditional digital </a:t>
            </a:r>
            <a:r>
              <a:rPr lang="ru-RU" sz="1400" dirty="0">
                <a:solidFill>
                  <a:srgbClr val="000000"/>
                </a:solidFill>
              </a:rPr>
              <a:t xml:space="preserve">(+35% против +15%) и перераспределяет бюджеты в свою пользу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b="1" lang="ru-RU" sz="1400" dirty="0">
                <a:solidFill>
                  <a:srgbClr val="000000"/>
                </a:solidFill>
              </a:rPr>
              <a:t xml:space="preserve">Более 90% Retail Media приходится на маркетплейсы; </a:t>
            </a:r>
            <a:r>
              <a:rPr lang="ru-RU" sz="1400" dirty="0">
                <a:solidFill>
                  <a:srgbClr val="000000"/>
                </a:solidFill>
              </a:rPr>
              <a:t xml:space="preserve">офлайн-ритейл (X5, Яндекс) усиливает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  <a:r>
              <a:rPr lang="ru-RU" sz="1400" dirty="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 dirty="0">
                <a:solidFill>
                  <a:srgbClr val="000000"/>
                </a:solidFill>
              </a:rPr>
              <a:t>0,5%</a:t>
            </a:r>
            <a:r>
              <a:rPr lang="ru-RU" sz="1400" dirty="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1. </a:t>
            </a:r>
            <a:r>
              <a:rPr dirty="0" err="1">
                <a:solidFill>
                  <a:srgbClr val="6E6E6E"/>
                </a:solidFill>
              </a:rPr>
              <a:t>Доля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коммерческом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инвентаре</a:t>
            </a:r>
            <a:r>
              <a:rPr dirty="0">
                <a:solidFill>
                  <a:srgbClr val="6E6E6E"/>
                </a:solidFill>
              </a:rPr>
              <a:t> AdTech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учетом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эффекта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платформы</a:t>
            </a:r>
            <a:r>
              <a:rPr dirty="0">
                <a:solidFill>
                  <a:srgbClr val="6E6E6E"/>
                </a:solidFill>
              </a:rPr>
              <a:t>. 2026-2027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— </a:t>
            </a:r>
            <a:r>
              <a:rPr dirty="0" err="1">
                <a:solidFill>
                  <a:srgbClr val="6E6E6E"/>
                </a:solidFill>
              </a:rPr>
              <a:t>бюджет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рекламной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выручки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трейд-бюджетов</a:t>
            </a:r>
            <a:r>
              <a:rPr dirty="0">
                <a:solidFill>
                  <a:srgbClr val="6E6E6E"/>
                </a:solidFill>
              </a:rPr>
              <a:t> (APP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in-store), 2028-2030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— </a:t>
            </a:r>
            <a:r>
              <a:rPr dirty="0" err="1">
                <a:solidFill>
                  <a:srgbClr val="6E6E6E"/>
                </a:solidFill>
              </a:rPr>
              <a:t>модель</a:t>
            </a:r>
            <a:r>
              <a:rPr dirty="0">
                <a:solidFill>
                  <a:srgbClr val="6E6E6E"/>
                </a:solidFill>
              </a:rPr>
              <a:t>; </a:t>
            </a:r>
            <a:r>
              <a:rPr dirty="0" err="1">
                <a:solidFill>
                  <a:srgbClr val="6E6E6E"/>
                </a:solidFill>
              </a:rPr>
              <a:t>без</a:t>
            </a:r>
            <a:r>
              <a:rPr dirty="0">
                <a:solidFill>
                  <a:srgbClr val="6E6E6E"/>
                </a:solidFill>
              </a:rPr>
              <a:t> RMN, UGC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DMP + Online. </a:t>
            </a:r>
            <a:r>
              <a:rPr dirty="0" err="1">
                <a:solidFill>
                  <a:srgbClr val="6E6E6E"/>
                </a:solidFill>
              </a:rPr>
              <a:t>Капасити</a:t>
            </a:r>
            <a:r>
              <a:rPr dirty="0">
                <a:solidFill>
                  <a:srgbClr val="6E6E6E"/>
                </a:solidFill>
              </a:rPr>
              <a:t> — </a:t>
            </a:r>
            <a:r>
              <a:rPr dirty="0" err="1">
                <a:solidFill>
                  <a:srgbClr val="6E6E6E"/>
                </a:solidFill>
              </a:rPr>
              <a:t>денежная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емкость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инвентаря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коммерческая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часть</a:t>
            </a:r>
            <a:r>
              <a:rPr dirty="0">
                <a:solidFill>
                  <a:srgbClr val="6E6E6E"/>
                </a:solidFill>
              </a:rPr>
              <a:t> AdTech + </a:t>
            </a:r>
            <a:r>
              <a:rPr dirty="0" err="1">
                <a:solidFill>
                  <a:srgbClr val="6E6E6E"/>
                </a:solidFill>
              </a:rPr>
              <a:t>квота</a:t>
            </a:r>
            <a:r>
              <a:rPr dirty="0">
                <a:solidFill>
                  <a:srgbClr val="6E6E6E"/>
                </a:solidFill>
              </a:rPr>
              <a:t> 50% </a:t>
            </a:r>
            <a:r>
              <a:rPr dirty="0" err="1">
                <a:solidFill>
                  <a:srgbClr val="6E6E6E"/>
                </a:solidFill>
              </a:rPr>
              <a:t>внутренних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заказчиков</a:t>
            </a:r>
            <a:r>
              <a:rPr dirty="0">
                <a:solidFill>
                  <a:srgbClr val="6E6E6E"/>
                </a:solidFill>
              </a:rPr>
              <a:t>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Капасити</a:t>
            </a:r>
            <a:r>
              <a:rPr dirty="0"/>
              <a:t> </a:t>
            </a:r>
            <a:r>
              <a:rPr dirty="0" err="1"/>
              <a:t>инвентаря</a:t>
            </a:r>
            <a:r>
              <a:rPr dirty="0"/>
              <a:t> </a:t>
            </a:r>
            <a:r>
              <a:rPr dirty="0" err="1"/>
              <a:t>вырастет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3,5 </a:t>
            </a:r>
            <a:r>
              <a:rPr dirty="0" err="1"/>
              <a:t>раза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~61 </a:t>
            </a:r>
            <a:r>
              <a:rPr dirty="0" err="1"/>
              <a:t>млрд</a:t>
            </a:r>
            <a:r>
              <a:rPr dirty="0"/>
              <a:t> </a:t>
            </a:r>
            <a:r>
              <a:rPr dirty="0" err="1"/>
              <a:t>руб</a:t>
            </a:r>
            <a:r>
              <a:rPr dirty="0"/>
              <a:t>. </a:t>
            </a:r>
            <a:r>
              <a:rPr dirty="0" err="1"/>
              <a:t>к</a:t>
            </a:r>
            <a:r>
              <a:rPr dirty="0"/>
              <a:t> 2030 </a:t>
            </a:r>
            <a:r>
              <a:rPr dirty="0" err="1"/>
              <a:t>г</a:t>
            </a:r>
            <a:r>
              <a:rPr dirty="0"/>
              <a:t>. </a:t>
            </a:r>
            <a:br>
              <a:rPr lang="en-US" dirty="0"/>
            </a:b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росте</a:t>
            </a:r>
            <a:r>
              <a:rPr dirty="0"/>
              <a:t> online GMV, DAC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платформы</a:t>
            </a:r>
            <a:endParaRPr dirty="0"/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 dirty="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 dirty="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 dirty="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 dirty="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 dirty="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 dirty="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 dirty="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 dirty="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 dirty="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 dirty="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 dirty="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 dirty="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 dirty="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 dirty="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 dirty="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 dirty="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altLang="en-US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altLang="en-US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altLang="en-US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altLang="en-US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altLang="en-US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Источники</a:t>
            </a:r>
            <a:r>
              <a:rPr dirty="0">
                <a:solidFill>
                  <a:srgbClr val="6E6E6E"/>
                </a:solidFill>
              </a:rPr>
              <a:t>: Ads Market Calc (</a:t>
            </a:r>
            <a:r>
              <a:rPr dirty="0" err="1">
                <a:solidFill>
                  <a:srgbClr val="6E6E6E"/>
                </a:solidFill>
              </a:rPr>
              <a:t>внутренняя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рынка</a:t>
            </a:r>
            <a:r>
              <a:rPr dirty="0">
                <a:solidFill>
                  <a:srgbClr val="6E6E6E"/>
                </a:solidFill>
              </a:rPr>
              <a:t>), WPP Media </a:t>
            </a:r>
            <a:r>
              <a:rPr dirty="0" err="1">
                <a:solidFill>
                  <a:srgbClr val="6E6E6E"/>
                </a:solidFill>
              </a:rPr>
              <a:t>через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Sostav</a:t>
            </a:r>
            <a:r>
              <a:rPr dirty="0">
                <a:solidFill>
                  <a:srgbClr val="6E6E6E"/>
                </a:solidFill>
              </a:rPr>
              <a:t> (2025), Авито Реклама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Soloway (</a:t>
            </a:r>
            <a:r>
              <a:rPr dirty="0" err="1">
                <a:solidFill>
                  <a:srgbClr val="6E6E6E"/>
                </a:solidFill>
              </a:rPr>
              <a:t>сентябрь</a:t>
            </a:r>
            <a:r>
              <a:rPr dirty="0">
                <a:solidFill>
                  <a:srgbClr val="6E6E6E"/>
                </a:solidFill>
              </a:rPr>
              <a:t> 2026), НРА, </a:t>
            </a:r>
            <a:r>
              <a:rPr dirty="0" err="1">
                <a:solidFill>
                  <a:srgbClr val="6E6E6E"/>
                </a:solidFill>
              </a:rPr>
              <a:t>внутреннее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исследование</a:t>
            </a:r>
            <a:r>
              <a:rPr dirty="0">
                <a:solidFill>
                  <a:srgbClr val="6E6E6E"/>
                </a:solidFill>
              </a:rPr>
              <a:t> Magnit ADS. </a:t>
            </a:r>
            <a:r>
              <a:rPr dirty="0" err="1">
                <a:solidFill>
                  <a:srgbClr val="6E6E6E"/>
                </a:solidFill>
              </a:rPr>
              <a:t>Гипотезы</a:t>
            </a:r>
            <a:r>
              <a:rPr dirty="0">
                <a:solidFill>
                  <a:srgbClr val="6E6E6E"/>
                </a:solidFill>
              </a:rPr>
              <a:t> — </a:t>
            </a:r>
            <a:r>
              <a:rPr dirty="0" err="1">
                <a:solidFill>
                  <a:srgbClr val="6E6E6E"/>
                </a:solidFill>
              </a:rPr>
              <a:t>экспертная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FMCG-</a:t>
            </a:r>
            <a:r>
              <a:rPr lang="ru-RU" noProof="0" dirty="0"/>
              <a:t>бюджеты</a:t>
            </a:r>
            <a:r>
              <a:rPr dirty="0"/>
              <a:t> </a:t>
            </a:r>
            <a:r>
              <a:rPr lang="ru-RU" noProof="0" dirty="0"/>
              <a:t>смещаются к транзакции: у места покупки растет роль перформанса, в начале пути — охватных медиа</a:t>
            </a:r>
            <a:endParaRPr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 dirty="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 dirty="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 dirty="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 dirty="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 dirty="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 dirty="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 dirty="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 dirty="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 dirty="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 dirty="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 dirty="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 dirty="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 dirty="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 dirty="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 dirty="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 dirty="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 dirty="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 dirty="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Трейд — якорь, бренд — точка роста ритейл-медиа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— трейд у транзакции; бренд-бюджеты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— зона RMN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989524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анализ</a:t>
            </a:r>
            <a:r>
              <a:rPr dirty="0">
                <a:solidFill>
                  <a:srgbClr val="6E6E6E"/>
                </a:solidFill>
              </a:rPr>
              <a:t> Magnit ADS; KPI — </a:t>
            </a:r>
            <a:r>
              <a:rPr dirty="0" err="1">
                <a:solidFill>
                  <a:srgbClr val="6E6E6E"/>
                </a:solidFill>
              </a:rPr>
              <a:t>ключевые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метрики</a:t>
            </a:r>
            <a:r>
              <a:rPr dirty="0">
                <a:solidFill>
                  <a:srgbClr val="6E6E6E"/>
                </a:solidFill>
              </a:rPr>
              <a:t>, </a:t>
            </a:r>
            <a:r>
              <a:rPr dirty="0" err="1">
                <a:solidFill>
                  <a:srgbClr val="6E6E6E"/>
                </a:solidFill>
              </a:rPr>
              <a:t>по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которым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рекламодатель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оценивает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канал</a:t>
            </a:r>
            <a:endParaRPr dirty="0">
              <a:solidFill>
                <a:srgbClr val="6E6E6E"/>
              </a:solidFill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Матрица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воронке</a:t>
            </a:r>
            <a:r>
              <a:rPr dirty="0"/>
              <a:t>: Magnit ADS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покупателя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охвата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lang="ru-RU" dirty="0"/>
              <a:t> на 360°</a:t>
            </a:r>
            <a:endParaRPr baseline="30000"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 dirty="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 dirty="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 dirty="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 dirty="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 dirty="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 dirty="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 dirty="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 dirty="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 dirty="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стратегия </a:t>
            </a:r>
            <a:r>
              <a:rPr lang="en" dirty="0">
                <a:solidFill>
                  <a:srgbClr val="6E6E6E"/>
                </a:solidFill>
              </a:rPr>
              <a:t>Magnit AdTech 2026-2031 (</a:t>
            </a:r>
            <a:r>
              <a:rPr lang="ru-RU" dirty="0">
                <a:solidFill>
                  <a:srgbClr val="6E6E6E"/>
                </a:solidFill>
              </a:rPr>
              <a:t>потенциал инвентаря М+ и </a:t>
            </a:r>
            <a:r>
              <a:rPr lang="en" dirty="0">
                <a:solidFill>
                  <a:srgbClr val="6E6E6E"/>
                </a:solidFill>
              </a:rPr>
              <a:t>DAC </a:t>
            </a:r>
            <a:r>
              <a:rPr lang="ru-RU" dirty="0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М+ как перформанс-инструмент: кэшбэк баллами – </a:t>
            </a:r>
            <a:br>
              <a:rPr lang="en-US" dirty="0"/>
            </a:br>
            <a:r>
              <a:rPr lang="ru-RU" dirty="0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 dirty="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 dirty="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 dirty="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 dirty="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 dirty="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 dirty="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 dirty="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 dirty="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 dirty="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 dirty="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 dirty="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 dirty="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 dirty="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 dirty="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 dirty="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~</a:t>
            </a:r>
            <a:r>
              <a:rPr lang="en-US" sz="2200" b="1" dirty="0">
                <a:solidFill>
                  <a:srgbClr val="FF452C"/>
                </a:solidFill>
                <a:latin typeface="Arial"/>
                <a:cs typeface="Arial"/>
              </a:rPr>
              <a:t>5,4</a:t>
            </a: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 млрд руб.</a:t>
            </a:r>
            <a:endParaRPr lang="ru-RU" sz="1200" dirty="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Retail Media </a:t>
            </a:r>
            <a:r>
              <a:rPr lang="ru-RU" dirty="0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AdTech</a:t>
            </a:r>
            <a:r>
              <a:rPr lang="ru-RU" dirty="0">
                <a:solidFill>
                  <a:sysClr val="windowText" lastClr="000000"/>
                </a:solidFill>
              </a:rPr>
              <a:t>-игроков на рынке РФ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19928"/>
              </p:ext>
            </p:extLst>
          </p:nvPr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ru-RU" sz="1200" b="1" dirty="0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en-US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Magnit ADS</a:t>
            </a:r>
            <a:r>
              <a:rPr lang="en-US" dirty="0"/>
              <a:t> </a:t>
            </a:r>
            <a:r>
              <a:rPr lang="ru-RU" dirty="0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Показы AdTech: </a:t>
            </a:r>
            <a:r>
              <a:rPr lang="ru-RU" sz="1400" b="1" dirty="0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 dirty="0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 dirty="0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Модальное окно: </a:t>
            </a:r>
            <a:r>
              <a:rPr lang="ru-RU" sz="1400" b="1" dirty="0">
                <a:solidFill>
                  <a:srgbClr val="000000"/>
                </a:solidFill>
              </a:rPr>
              <a:t>600 → 1 000 руб.</a:t>
            </a:r>
            <a:r>
              <a:rPr lang="ru-RU" sz="1400" dirty="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 dirty="0">
                <a:solidFill>
                  <a:srgbClr val="000000"/>
                </a:solidFill>
              </a:rPr>
              <a:t>68 → 86 тыс. руб.</a:t>
            </a:r>
            <a:r>
              <a:rPr lang="ru-RU" sz="1400" dirty="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70 → 100 тыс. руб.</a:t>
            </a:r>
            <a:r>
              <a:rPr lang="ru-RU" sz="1400" dirty="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213 млн руб.</a:t>
            </a:r>
            <a:r>
              <a:rPr lang="ru-RU" sz="1400" dirty="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DMP: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2027 г. в рамках медиа-инвентаря будет задействован максимальный потенциал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 dirty="0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/>
              <a:t>Среднесрочный рост рекламной выручки </a:t>
            </a:r>
            <a:r>
              <a:rPr lang="ru-RU" sz="1400" dirty="0"/>
              <a:t>за счет развития аукционных механик в поиске и рекомендациях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 dirty="0">
                <a:solidFill>
                  <a:srgbClr val="FF452C"/>
                </a:solidFill>
              </a:rPr>
              <a:t>digital </a:t>
            </a:r>
            <a:r>
              <a:rPr lang="ru-RU" sz="1600" b="1" dirty="0">
                <a:solidFill>
                  <a:srgbClr val="FF452C"/>
                </a:solidFill>
              </a:rPr>
              <a:t>In-</a:t>
            </a:r>
            <a:r>
              <a:rPr lang="ru-RU" sz="1600" b="1" dirty="0" err="1">
                <a:solidFill>
                  <a:srgbClr val="FF452C"/>
                </a:solidFill>
              </a:rPr>
              <a:t>store</a:t>
            </a:r>
            <a:endParaRPr lang="ru-RU" sz="1600" b="1" dirty="0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 dirty="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RMN:</a:t>
            </a:r>
            <a:r>
              <a:rPr lang="ru-RU" sz="1400" dirty="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Social commerce: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Content factory (</a:t>
            </a:r>
            <a:r>
              <a:rPr lang="ru-RU" sz="1400" dirty="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DMP + Online:</a:t>
            </a:r>
            <a:r>
              <a:rPr lang="ru-RU" sz="1400" dirty="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90%+ </a:t>
            </a:r>
            <a:r>
              <a:rPr lang="ru-RU" sz="1200" dirty="0"/>
              <a:t>маржинальность инвентаря</a:t>
            </a:r>
          </a:p>
          <a:p>
            <a:pPr algn="ctr"/>
            <a:r>
              <a:rPr lang="ru-RU" sz="800" i="1" dirty="0"/>
              <a:t>Необходим фокус Коммерции на </a:t>
            </a:r>
            <a:r>
              <a:rPr lang="en-US" sz="800" i="1" dirty="0"/>
              <a:t>AdTech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КУ — </a:t>
            </a:r>
            <a:r>
              <a:rPr dirty="0" err="1">
                <a:solidFill>
                  <a:srgbClr val="6E6E6E"/>
                </a:solidFill>
              </a:rPr>
              <a:t>коммерческие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условия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поставщиками</a:t>
            </a:r>
            <a:r>
              <a:rPr dirty="0">
                <a:solidFill>
                  <a:srgbClr val="6E6E6E"/>
                </a:solidFill>
              </a:rPr>
              <a:t>. </a:t>
            </a: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инициативы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руководителей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направлений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Магнит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</a:t>
            </a:r>
            <a:r>
              <a:rPr dirty="0">
                <a:solidFill>
                  <a:srgbClr val="6E6E6E"/>
                </a:solidFill>
              </a:rPr>
              <a:t> 2027+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 dirty="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 dirty="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 dirty="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ru-RU" sz="1200" dirty="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 dirty="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 dirty="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 dirty="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 dirty="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 dirty="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 dirty="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 dirty="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 dirty="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 dirty="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 dirty="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 dirty="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 dirty="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 dirty="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 dirty="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 dirty="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ru-RU" sz="1200" dirty="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 dirty="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 dirty="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ru-RU" sz="1200" dirty="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 dirty="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 dirty="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 dirty="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 dirty="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 dirty="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 dirty="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 dirty="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 dirty="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 dirty="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Обновление роли </a:t>
            </a:r>
            <a:r>
              <a:rPr lang="en-US" dirty="0"/>
              <a:t>AdTech </a:t>
            </a:r>
            <a:r>
              <a:rPr lang="ru-RU" dirty="0"/>
              <a:t>для максимизации </a:t>
            </a:r>
            <a:br>
              <a:rPr lang="ru-RU" dirty="0"/>
            </a:br>
            <a:r>
              <a:rPr lang="ru-RU" dirty="0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 dirty="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 dirty="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 dirty="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 dirty="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 dirty="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 dirty="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 dirty="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 dirty="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 dirty="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 dirty="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 dirty="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APP +1 501: </a:t>
            </a:r>
            <a:r>
              <a:rPr lang="ru-RU" sz="1100" dirty="0">
                <a:solidFill>
                  <a:srgbClr val="000000"/>
                </a:solidFill>
              </a:rPr>
              <a:t xml:space="preserve">~60% (+873) — полный год нового прайса, ~40%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In-store +1 573: </a:t>
            </a:r>
            <a:r>
              <a:rPr lang="ru-RU" sz="1100" dirty="0">
                <a:solidFill>
                  <a:srgbClr val="000000"/>
                </a:solidFill>
              </a:rPr>
              <a:t xml:space="preserve"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DMP + Online +613: </a:t>
            </a:r>
            <a:r>
              <a:rPr lang="ru-RU" sz="1100" dirty="0">
                <a:solidFill>
                  <a:srgbClr val="000000"/>
                </a:solidFill>
              </a:rPr>
              <a:t xml:space="preserve"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Новые направления: </a:t>
            </a:r>
            <a:r>
              <a:rPr lang="ru-RU" sz="1100" dirty="0">
                <a:solidFill>
                  <a:srgbClr val="000000"/>
                </a:solidFill>
              </a:rPr>
              <a:t xml:space="preserve"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COGS 1 971: </a:t>
            </a:r>
            <a:r>
              <a:rPr lang="ru-RU" sz="1100" dirty="0">
                <a:solidFill>
                  <a:srgbClr val="000000"/>
                </a:solidFill>
              </a:rPr>
              <a:t xml:space="preserve">закупка трафика DMP (1 000), агентские вознаграждения (795), креаторы (176); Net Revenue — 86% Gross Revenue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PEX 1 436 (+28%): </a:t>
            </a:r>
            <a:r>
              <a:rPr lang="ru-RU" sz="1100" dirty="0">
                <a:solidFill>
                  <a:srgbClr val="000000"/>
                </a:solidFill>
              </a:rPr>
              <a:t xml:space="preserve">полный год работы штата, набранного в 2026 г., и +42 FTE (до 354); 27% ФОТ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Q1: </a:t>
            </a:r>
            <a:r>
              <a:rPr lang="ru-RU" sz="1200" b="1" dirty="0">
                <a:solidFill>
                  <a:srgbClr val="000000"/>
                </a:solidFill>
              </a:rPr>
              <a:t>2 039</a:t>
            </a:r>
            <a:r>
              <a:rPr lang="ru-RU" sz="1200" dirty="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Q2: </a:t>
            </a:r>
            <a:r>
              <a:rPr lang="ru-RU" sz="1200" b="1" dirty="0">
                <a:solidFill>
                  <a:srgbClr val="000000"/>
                </a:solidFill>
              </a:rPr>
              <a:t>3 059</a:t>
            </a:r>
            <a:r>
              <a:rPr lang="ru-RU" sz="1200" dirty="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Q3: </a:t>
            </a:r>
            <a:r>
              <a:rPr lang="ru-RU" sz="1200" b="1" dirty="0">
                <a:solidFill>
                  <a:srgbClr val="000000"/>
                </a:solidFill>
              </a:rPr>
              <a:t>3 350</a:t>
            </a:r>
            <a:r>
              <a:rPr lang="ru-RU" sz="1200" dirty="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Q4: </a:t>
            </a:r>
            <a:r>
              <a:rPr lang="ru-RU" sz="1200" b="1" dirty="0"/>
              <a:t>6 118</a:t>
            </a:r>
            <a:r>
              <a:rPr lang="ru-RU" sz="1200" dirty="0"/>
              <a:t> </a:t>
            </a:r>
            <a:r>
              <a:rPr lang="ru-RU" sz="1200" dirty="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 xml:space="preserve">Январь — 2% годового плана, декабрь — 17%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b="1" lang="ru-RU" sz="1200" dirty="0">
                <a:solidFill>
                  <a:srgbClr val="000000"/>
                </a:solidFill>
              </a:rPr>
              <a:t xml:space="preserve">Q4 — 42% годовой выручки: </a:t>
            </a:r>
            <a:r>
              <a:rPr lang="ru-RU" sz="1200" dirty="0">
                <a:solidFill>
                  <a:srgbClr val="000000"/>
                </a:solidFill>
              </a:rPr>
              <a:t xml:space="preserve">сезонный пик рекламных бюджетов и рост аудитории к концу года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b="1" lang="ru-RU" sz="1200" dirty="0">
                <a:solidFill>
                  <a:srgbClr val="000000"/>
                </a:solidFill>
              </a:rPr>
              <a:t xml:space="preserve">При равномерном PEX </a:t>
            </a:r>
            <a:r>
              <a:rPr lang="ru-RU" sz="1200" dirty="0">
                <a:solidFill>
                  <a:srgbClr val="000000"/>
                </a:solidFill>
              </a:rPr>
              <a:t xml:space="preserve">маржа EBITDA растёт с 25% в январе до 83% в декабре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выше стратегии: выручка +1 618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484"/>
              </p:ext>
            </p:extLst>
          </p:nvPr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OPEX вкл. COGS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(3 743)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(748)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RMN (+850) — более половины превышения: </a:t>
            </a:r>
            <a:r>
              <a:rPr lang="ru-RU" sz="1200" dirty="0">
                <a:solidFill>
                  <a:srgbClr val="000000"/>
                </a:solidFill>
              </a:rPr>
              <a:t xml:space="preserve">направление не закладывалось в стратегию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DMP + Online +537 к стратегии: </a:t>
            </a:r>
            <a:r>
              <a:rPr lang="ru-RU" sz="1200" dirty="0">
                <a:solidFill>
                  <a:srgbClr val="000000"/>
                </a:solidFill>
              </a:rPr>
              <a:t xml:space="preserve">в основном новые площадки — SmartTV, Авито, маркетплейсы (420)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In-store на 490 ниже стратегии: </a:t>
            </a:r>
            <a:r>
              <a:rPr lang="ru-RU" sz="1200" dirty="0">
                <a:solidFill>
                  <a:srgbClr val="000000"/>
                </a:solidFill>
              </a:rPr>
              <a:t xml:space="preserve">консервативная оценка дохода на устройство после расширения парка, в первую очередь по КСО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OPEX с COGS выше стратегии на 748: </a:t>
            </a:r>
            <a:r>
              <a:rPr lang="ru-RU" sz="1200" dirty="0">
                <a:solidFill>
                  <a:srgbClr val="000000"/>
                </a:solidFill>
              </a:rPr>
              <a:t xml:space="preserve">в основном Marketing (+742) — закупка трафика DMP и агентские вознаграждения, связанные с ростом выручки</a:t>
            </a:r>
          </a:p>
        </p:txBody>
      </p:sp>
    </p:spTree>
    <p:extLst>
      <p:ext uri="{BB962C8B-B14F-4D97-AF65-F5344CB8AC3E}">
        <p14:creationId xmlns:p14="http://schemas.microsoft.com/office/powerpoint/2010/main" val="1476763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 dirty="0">
                <a:solidFill>
                  <a:srgbClr val="000000"/>
                </a:solidFill>
              </a:rPr>
              <a:t>1 000 руб.</a:t>
            </a:r>
            <a:r>
              <a:rPr lang="ru-RU" sz="1400" dirty="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Перформанс: </a:t>
            </a:r>
            <a:r>
              <a:rPr lang="ru-RU" sz="1400" b="1" dirty="0">
                <a:solidFill>
                  <a:srgbClr val="000000"/>
                </a:solidFill>
              </a:rPr>
              <a:t>2,3 тыс.</a:t>
            </a:r>
            <a:r>
              <a:rPr lang="ru-RU" sz="1400" dirty="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313</a:t>
            </a:r>
            <a:r>
              <a:rPr lang="ru-RU" sz="1400" dirty="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Ввод </a:t>
            </a:r>
            <a:r>
              <a:rPr lang="ru-RU" sz="1400" b="1" dirty="0">
                <a:solidFill>
                  <a:srgbClr val="000000"/>
                </a:solidFill>
              </a:rPr>
              <a:t>3 250</a:t>
            </a:r>
            <a:r>
              <a:rPr lang="ru-RU" sz="1400" dirty="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OLV: </a:t>
            </a:r>
            <a:r>
              <a:rPr lang="ru-RU" sz="1400" b="1" dirty="0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Онлайн+ТВ: </a:t>
            </a:r>
            <a:r>
              <a:rPr lang="ru-RU" sz="1400" b="1" dirty="0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 xml:space="preserve"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 xml:space="preserve"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 xml:space="preserve"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Зависимость от экосистемы: </a:t>
            </a:r>
            <a:r>
              <a:rPr lang="ru-RU" sz="1200" dirty="0">
                <a:solidFill>
                  <a:srgbClr val="000000"/>
                </a:solidFill>
              </a:rPr>
              <a:t>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Квота 50%: </a:t>
            </a:r>
            <a:r>
              <a:rPr lang="ru-RU" sz="1200" dirty="0">
                <a:solidFill>
                  <a:srgbClr val="000000"/>
                </a:solidFill>
              </a:rPr>
              <a:t xml:space="preserve">половина инвентаря приложения и in-store закреплена за задачами команд Магнита; бюджет 2027 рассчитан на фактической доле AdTech в показах 2026 г.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Верификация in-store: </a:t>
            </a:r>
            <a:r>
              <a:rPr lang="ru-RU" sz="1200" dirty="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Пересмотр целей: </a:t>
            </a:r>
            <a:r>
              <a:rPr lang="ru-RU" sz="1200" dirty="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DAC растёт с 24,8 до 29,3 млн (+18%),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Устройства — на начало года; на конец 2027 г. — 81 419 (ввод 3 250 шелф-баннеров, 428 фасадных экранов, 20 медиафасадов).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 dirty="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Ввод 2027 г., +228: </a:t>
            </a:r>
            <a:r>
              <a:rPr lang="ru-RU" sz="1100" dirty="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 dirty="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Почему снижается: </a:t>
            </a:r>
            <a:r>
              <a:rPr lang="ru-RU" sz="1100" dirty="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 dirty="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 dirty="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Радио ×4 (506 → 2 024 руб.), +64; шелф-баннеры +5%, +53:</a:t>
            </a:r>
            <a:r>
              <a:rPr lang="en-US" sz="1100" b="1" dirty="0">
                <a:solidFill>
                  <a:srgbClr val="000000"/>
                </a:solidFill>
              </a:rPr>
              <a:t> </a:t>
            </a:r>
            <a:r>
              <a:rPr lang="ru-RU" sz="1100" dirty="0">
                <a:solidFill>
                  <a:srgbClr val="000000"/>
                </a:solidFill>
              </a:rPr>
              <a:t>регулирование спроса</a:t>
            </a:r>
            <a:endParaRPr lang="ru-RU" sz="1100" dirty="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 dirty="0">
                <a:solidFill>
                  <a:srgbClr val="000000"/>
                </a:solidFill>
              </a:rPr>
              <a:t>5 + 5</a:t>
            </a:r>
            <a:r>
              <a:rPr lang="ru-RU" sz="1400" dirty="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Введено </a:t>
            </a:r>
            <a:r>
              <a:rPr lang="ru-RU" sz="1400" b="1" dirty="0">
                <a:solidFill>
                  <a:srgbClr val="000000"/>
                </a:solidFill>
              </a:rPr>
              <a:t>2 725</a:t>
            </a:r>
            <a:r>
              <a:rPr lang="ru-RU" sz="1400" dirty="0">
                <a:solidFill>
                  <a:srgbClr val="000000"/>
                </a:solidFill>
              </a:rPr>
              <a:t> шелф-баннеров и </a:t>
            </a:r>
            <a:r>
              <a:rPr lang="ru-RU" sz="1400" b="1" dirty="0">
                <a:solidFill>
                  <a:srgbClr val="000000"/>
                </a:solidFill>
              </a:rPr>
              <a:t>831</a:t>
            </a:r>
            <a:r>
              <a:rPr lang="ru-RU" sz="1400" dirty="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Еще </a:t>
            </a:r>
            <a:r>
              <a:rPr lang="ru-RU" sz="1400" b="1" dirty="0">
                <a:solidFill>
                  <a:srgbClr val="000000"/>
                </a:solidFill>
              </a:rPr>
              <a:t>3 250</a:t>
            </a:r>
            <a:r>
              <a:rPr lang="ru-RU" sz="1400" dirty="0">
                <a:solidFill>
                  <a:srgbClr val="000000"/>
                </a:solidFill>
              </a:rPr>
              <a:t> шелф-баннеров, </a:t>
            </a:r>
            <a:r>
              <a:rPr lang="ru-RU" sz="1400" b="1" dirty="0">
                <a:solidFill>
                  <a:srgbClr val="000000"/>
                </a:solidFill>
              </a:rPr>
              <a:t>428</a:t>
            </a:r>
            <a:r>
              <a:rPr lang="ru-RU" sz="1400" dirty="0">
                <a:solidFill>
                  <a:srgbClr val="000000"/>
                </a:solidFill>
              </a:rPr>
              <a:t> фасадных экранов, </a:t>
            </a:r>
            <a:r>
              <a:rPr lang="ru-RU" sz="1400" b="1" dirty="0">
                <a:solidFill>
                  <a:srgbClr val="000000"/>
                </a:solidFill>
              </a:rPr>
              <a:t>20</a:t>
            </a:r>
            <a:r>
              <a:rPr lang="ru-RU" sz="1400" dirty="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Выручка — </a:t>
            </a:r>
            <a:r>
              <a:rPr lang="ru-RU" sz="1200" dirty="0">
                <a:solidFill>
                  <a:srgbClr val="000000"/>
                </a:solidFill>
              </a:rPr>
              <a:t xml:space="preserve">план команды DMP и интеграции брендов через Центральный маркетинг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Маржинальность 37,5%: </a:t>
            </a:r>
            <a:r>
              <a:rPr lang="ru-RU" sz="1200" dirty="0">
                <a:solidFill>
                  <a:srgbClr val="000000"/>
                </a:solidFill>
              </a:rPr>
              <a:t xml:space="preserve">закупка трафика — 1 000 из 1 600 млн руб. выручки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Analytics: </a:t>
            </a:r>
            <a:r>
              <a:rPr lang="ru-RU" sz="1200" dirty="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Объём контента: </a:t>
            </a:r>
            <a:r>
              <a:rPr lang="ru-RU" sz="1200" dirty="0">
                <a:solidFill>
                  <a:srgbClr val="000000"/>
                </a:solidFill>
              </a:rPr>
              <a:t xml:space="preserve">60–70 роликов в месяц на креатора, каждый публикуется в 4 соцсетях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 dirty="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ru-RU" sz="10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Отдельное ЮЛ </a:t>
            </a:r>
            <a:r>
              <a:rPr lang="ru-RU" sz="1200" dirty="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лист «Content factory»,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factory</a:t>
            </a:r>
            <a:r>
              <a:rPr lang="ru-RU" dirty="0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P&amp;L Content </a:t>
            </a:r>
            <a:r>
              <a:rPr lang="ru-RU" sz="1600" b="1" dirty="0" err="1">
                <a:solidFill>
                  <a:srgbClr val="000000"/>
                </a:solidFill>
              </a:rPr>
              <a:t>factory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 dirty="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 dirty="0">
                <a:solidFill>
                  <a:srgbClr val="000000"/>
                </a:solidFill>
              </a:rPr>
              <a:t>Content factory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 dirty="0" err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</a:t>
                      </a:r>
                      <a:r>
                        <a:rPr lang="ru-RU" sz="1200" b="0" i="1" kern="1200" dirty="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ru-RU" sz="1200" b="0" i="1" dirty="0" err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 dirty="0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— рынок </a:t>
            </a:r>
            <a:r>
              <a:rPr lang="ru-RU" sz="1050" dirty="0" err="1">
                <a:solidFill>
                  <a:srgbClr val="000000"/>
                </a:solidFill>
                <a:latin typeface="Arial"/>
              </a:rPr>
              <a:t>инфлюенс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 dirty="0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ru-RU" sz="1050" b="1" dirty="0" err="1">
                <a:solidFill>
                  <a:srgbClr val="000000"/>
                </a:solidFill>
                <a:latin typeface="Arial"/>
              </a:rPr>
              <a:t>Likee</a:t>
            </a:r>
            <a:r>
              <a:rPr lang="ru-RU" sz="1050" b="1" dirty="0">
                <a:solidFill>
                  <a:srgbClr val="000000"/>
                </a:solidFill>
                <a:latin typeface="Arial"/>
              </a:rPr>
              <a:t>, TikTok, YouTube, VK: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 dirty="0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 dirty="0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 dirty="0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Сеть </a:t>
            </a:r>
            <a:r>
              <a:rPr lang="ru-RU" sz="1050" b="1" dirty="0" err="1">
                <a:solidFill>
                  <a:srgbClr val="000000"/>
                </a:solidFill>
                <a:latin typeface="Arial"/>
              </a:rPr>
              <a:t>нано</a:t>
            </a:r>
            <a:r>
              <a:rPr lang="ru-RU" sz="1050" b="1" dirty="0">
                <a:solidFill>
                  <a:srgbClr val="000000"/>
                </a:solidFill>
                <a:latin typeface="Arial"/>
              </a:rPr>
              <a:t>-креаторов: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ru-RU" sz="1050" dirty="0" err="1">
                <a:solidFill>
                  <a:srgbClr val="000000"/>
                </a:solidFill>
                <a:latin typeface="Arial"/>
              </a:rPr>
              <a:t>in-app</a:t>
            </a:r>
            <a:endParaRPr lang="ru-RU" sz="105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6 ячеек</a:t>
            </a:r>
            <a:r>
              <a:rPr lang="ru-RU" sz="1400" dirty="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Блогерская платформа MIP и </a:t>
            </a:r>
            <a:r>
              <a:rPr lang="ru-RU" sz="1400" dirty="0" err="1">
                <a:solidFill>
                  <a:srgbClr val="000000"/>
                </a:solidFill>
              </a:rPr>
              <a:t>shoppable</a:t>
            </a:r>
            <a:r>
              <a:rPr lang="ru-RU" sz="1400" dirty="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площадки: </a:t>
            </a:r>
            <a:r>
              <a:rPr lang="ru-RU" sz="1400" b="1" dirty="0">
                <a:solidFill>
                  <a:srgbClr val="000000"/>
                </a:solidFill>
              </a:rPr>
              <a:t>SmartTV, Авито,</a:t>
            </a:r>
            <a:r>
              <a:rPr lang="ru-RU" sz="1400" dirty="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OPEX с COGS +1 504 млн руб. (+67%): 73% прироста — переменные расходы, которые масштабируются вместе с выручкой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Закупка трафика DMP 1 000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Агентские вознаграждения 795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— 30% выручки, привлечённой через агентства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Креаторы 176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— оплата ячеек Content factory при внешней выручке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PEX +28% — медленнее выручки, </a:t>
            </a:r>
            <a:r>
              <a:rPr lang="ru-RU" sz="1200" dirty="0">
                <a:solidFill>
                  <a:srgbClr val="000000"/>
                </a:solidFill>
              </a:rPr>
              <a:t xml:space="preserve">доля в выручке снижается: +250 — полный год штата 2026 г. и +42 FTE, +66 — команда Content factory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EBITDA +2 739 млн руб. (+34%): 65%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Выручка +4 243: </a:t>
            </a:r>
            <a:r>
              <a:rPr lang="ru-RU" sz="1200" dirty="0">
                <a:solidFill>
                  <a:srgbClr val="000000"/>
                </a:solidFill>
              </a:rPr>
              <a:t xml:space="preserve">72% прироста дают APP и In-store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Marketing −1 136 — в основном переменные расходы: </a:t>
            </a:r>
            <a:r>
              <a:rPr lang="ru-RU" sz="1200" dirty="0">
                <a:solidFill>
                  <a:srgbClr val="000000"/>
                </a:solidFill>
              </a:rPr>
              <a:t xml:space="preserve">трафик DMP (−489), агентские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PEX −316: </a:t>
            </a:r>
            <a:r>
              <a:rPr lang="ru-RU" sz="1200" dirty="0">
                <a:solidFill>
                  <a:srgbClr val="000000"/>
                </a:solidFill>
              </a:rPr>
              <a:t xml:space="preserve">полный год работы штата 2026 г. (−250) и команда Content factory (−66)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IT −34: </a:t>
            </a:r>
            <a:r>
              <a:rPr lang="ru-RU" sz="1200" dirty="0">
                <a:solidFill>
                  <a:srgbClr val="000000"/>
                </a:solidFill>
              </a:rPr>
              <a:t xml:space="preserve">поддержка и сопровождение ПО, всего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ФОТ разработки 510: </a:t>
            </a:r>
            <a:r>
              <a:rPr lang="ru-RU" sz="1200" dirty="0">
                <a:solidFill>
                  <a:srgbClr val="000000"/>
                </a:solidFill>
              </a:rPr>
              <a:t xml:space="preserve">капитализируется 27% ФОТ IT, Product, Analytics и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ИТ-закупки 31: </a:t>
            </a:r>
            <a:r>
              <a:rPr lang="ru-RU" sz="1200" dirty="0">
                <a:solidFill>
                  <a:srgbClr val="000000"/>
                </a:solidFill>
              </a:rPr>
              <a:t xml:space="preserve">техника под найм 30 человек (14), AI-инструменты (11), Optimacros (5)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In-store 610, </a:t>
            </a:r>
            <a:r>
              <a:rPr lang="ru-RU" sz="1200" dirty="0">
                <a:solidFill>
                  <a:srgbClr val="000000"/>
                </a:solidFill>
              </a:rPr>
              <a:t xml:space="preserve">в т.ч. система управления медиаконтентом 438; интеграция медиа с КСО в бюджет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 dirty="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45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Рост сегментов, где находится выручка </a:t>
            </a:r>
            <a:r>
              <a:rPr lang="en-US" dirty="0"/>
              <a:t>AdTech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сигнализирует </a:t>
            </a:r>
            <a:br>
              <a:rPr lang="ru-RU" dirty="0"/>
            </a:br>
            <a:r>
              <a:rPr lang="ru-RU" dirty="0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 dirty="0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 dirty="0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Изм. 9м г/г</a:t>
            </a:r>
            <a:r>
              <a:rPr lang="en-US" sz="1200" b="1" dirty="0">
                <a:solidFill>
                  <a:srgbClr val="FF452C"/>
                </a:solidFill>
                <a:latin typeface="Arial"/>
                <a:cs typeface="Arial"/>
              </a:rPr>
              <a:t> (25-26 </a:t>
            </a: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гг.)</a:t>
            </a:r>
            <a:endParaRPr lang="ru-RU" dirty="0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 dirty="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 dirty="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 dirty="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 dirty="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 dirty="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 dirty="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 dirty="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 dirty="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 dirty="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 dirty="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 dirty="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 dirty="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 dirty="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 dirty="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 dirty="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 dirty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 dirty="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 dirty="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en-US" sz="900">
                <a:solidFill>
                  <a:srgbClr val="6E6E6E"/>
                </a:solidFill>
                <a:latin typeface="+mn-lt"/>
              </a:rPr>
              <a:t>1 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 dirty="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875730"/>
            <a:ext cx="113975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PEX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2027 ниже стратегии на 38 млн руб. за счет более корректного бюджетирования ставок под потребности бизнеса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Project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«Платформа монетизации данных» перенесен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из центрального маркетинга в контур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AdTech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 2027 г. 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48 млн руб.,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</a:t>
            </a: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таргета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69151"/>
              </p:ext>
            </p:extLst>
          </p:nvPr>
        </p:nvGraphicFramePr>
        <p:xfrm>
          <a:off x="697281" y="889000"/>
          <a:ext cx="10117464" cy="3886204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42552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’26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9+3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)’26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64018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ru-RU" sz="105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5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05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</a:t>
                      </a:r>
                      <a:r>
                        <a:rPr lang="ru-RU" sz="105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п.п</a:t>
                      </a:r>
                      <a:r>
                        <a:rPr lang="ru-RU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/>
                        <a:t>млн руб./чел.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902285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  <a:endParaRPr kumimoji="0" lang="ru-RU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395" imgH="394" progId="TCLayout.ActiveDocument.1">
                  <p:embed/>
                </p:oleObj>
              </mc:Choice>
              <mc:Fallback>
                <p:oleObj name="think-cell Slide" r:id="rId95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8" name="Chart 137">
            <a:extLst>
              <a:ext uri="{FF2B5EF4-FFF2-40B4-BE49-F238E27FC236}">
                <a16:creationId xmlns:a16="http://schemas.microsoft.com/office/drawing/2014/main" id="{3E5F1F7C-F97C-415E-9204-1D41D86AF726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506948596"/>
              </p:ext>
            </p:extLst>
          </p:nvPr>
        </p:nvGraphicFramePr>
        <p:xfrm>
          <a:off x="303213" y="800548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907AC657-FE82-4F5A-98D1-BFE03DDC9F0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98061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FA114FA-386F-4A45-B909-DD01631DD90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123363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9EC308CE-88AE-41A8-A475-9154AFC260F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5689600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F2DC10A-EC99-4F95-A4B4-1DE3DB54A92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307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48615165-C98C-4D09-A566-686EC8EA73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397000" y="2699198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" name="Freeform: Shape 4">
            <a:extLst>
              <a:ext uri="{FF2B5EF4-FFF2-40B4-BE49-F238E27FC236}">
                <a16:creationId xmlns:a16="http://schemas.microsoft.com/office/drawing/2014/main" id="{68BDA687-A858-477E-838B-F8E81A46D42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5381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FB707B-2384-4225-BA79-3B23D6007A4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397000" y="275634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C2E206-7B2A-452C-8CB1-35DBD966F1B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8307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6333203-66F9-4B6B-9F0A-CB1B749F50E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5689600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3A3EE2-B247-49D6-BAC4-91A48941746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DF1CD7-BA5E-49C5-86DF-EA1A78F8E832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123363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286CD78-2652-408B-9050-9CE9D5BD72E4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98061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E87D30-2744-4F14-998B-F87E00040F61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76E1B26-E7DD-4649-96FC-000E60B6A258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123363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3BC383-1601-493A-8C1F-CCC86150877D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48307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8BD0BA-87F4-4F15-995B-0360BFCD0C0B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5381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338E25-1F3B-4787-9DFE-549526F3FA00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81965B-9423-4822-AF14-A189BE50C5C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1397000" y="269919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1338" y="2973836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404938" y="2973836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08238" y="2368998"/>
            <a:ext cx="247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kumimoji="0" lang="ru-RU" altLang="en-US" sz="1000" b="0" i="0" u="none" strike="noStrike" kern="1200" cap="none" spc="0" normalizeH="0" baseline="0" noProof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kumimoji="0" lang="ru-RU" sz="1000" b="0" i="0" u="none" strike="noStrike" kern="120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219325" y="2973836"/>
            <a:ext cx="627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3276600" y="2578548"/>
            <a:ext cx="227013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kumimoji="0" lang="ru-RU" altLang="en-US" sz="1000" b="0" i="0" u="none" strike="noStrike" kern="1200" cap="none" spc="0" normalizeH="0" baseline="0" noProof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kumimoji="0" lang="ru-RU" sz="1000" b="0" i="0" u="none" strike="noStrike" kern="120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959100" y="2973836"/>
            <a:ext cx="8604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924300" y="2973836"/>
            <a:ext cx="6492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845050" y="2973836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786438" y="168161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128125" y="2973836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9228138" y="1968948"/>
            <a:ext cx="3444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705600" y="1199011"/>
            <a:ext cx="236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8150224" y="2973836"/>
            <a:ext cx="78105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221788" y="864048"/>
            <a:ext cx="3556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10077450" y="88786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264400" y="2973836"/>
            <a:ext cx="8366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4159250" y="2565848"/>
            <a:ext cx="177800" cy="136525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647700" y="2084836"/>
            <a:ext cx="3349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561138" y="2973836"/>
            <a:ext cx="5254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1487488" y="2092773"/>
            <a:ext cx="373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kumimoji="0" lang="ru-RU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9913938" y="2973836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5700713" y="2973836"/>
            <a:ext cx="5318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4926013" y="2432498"/>
            <a:ext cx="363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Согласованный доп. найм для контент-завода, окупаемость в пределах года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7" name="Chart 156">
            <a:extLst>
              <a:ext uri="{FF2B5EF4-FFF2-40B4-BE49-F238E27FC236}">
                <a16:creationId xmlns:a16="http://schemas.microsoft.com/office/drawing/2014/main" id="{92666AAB-C2D7-414C-A8D5-698171721015}"/>
              </a:ext>
            </a:extLst>
          </p:cNvPr>
          <p:cNvGraphicFramePr/>
          <p:nvPr>
            <p:custDataLst>
              <p:tags r:id="rId62"/>
            </p:custDataLst>
            <p:extLst>
              <p:ext uri="{D42A27DB-BD31-4B8C-83A1-F6EECF244321}">
                <p14:modId xmlns:p14="http://schemas.microsoft.com/office/powerpoint/2010/main" val="3338219554"/>
              </p:ext>
            </p:extLst>
          </p:nvPr>
        </p:nvGraphicFramePr>
        <p:xfrm>
          <a:off x="303213" y="3740598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9D3FC29A-03F0-4BA1-B3FE-D933512A006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15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118A0AC9-29ED-46B9-A6BE-9C4CE08B56DB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277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E4484FC-E69F-43A4-9DC2-15C9999AB43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2800350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B922B032-4B6A-40F8-8398-1EC6365C99A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5084763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6ACE4B7C-66BD-4D3B-AF0C-335B0F349F38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845175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50E9D71-DDA0-4867-BED3-2843BF39E84C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15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3DF8D4-4877-466D-9EB7-AD089407B6FA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D58D4DC-8E7D-48DA-96B1-970B89F2B2F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277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B7C2974-30C8-4BA3-A012-2BBF68F32C7F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CA1F14-85D1-405E-88FC-CE3DF23ECB5D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00350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642E4A1-3729-4D4C-BDE1-88473AD7882E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D996FD9-47DE-46CC-994B-267663F4239C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5084763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4DACB82-27F9-496B-BBC0-5A5A85C83F0A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59B65F6-A57C-4FDB-82C2-42C22D343485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845175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AA491B5-5093-4F63-87DE-056D512B743F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258888" y="5715448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2222500" y="5283648"/>
            <a:ext cx="130175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kumimoji="0" lang="ru-RU" altLang="en-US" sz="1000" b="0" i="0" u="none" strike="noStrike" kern="1200" cap="none" spc="0" normalizeH="0" baseline="0" noProof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kumimoji="0" lang="ru-RU" sz="1000" b="0" i="0" u="none" strike="noStrike" kern="120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974850" y="5715448"/>
            <a:ext cx="6270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787650" y="5715448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3484563" y="5715448"/>
            <a:ext cx="6556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4295775" y="5715448"/>
            <a:ext cx="5524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4"/>
            </p:custDataLst>
          </p:nvPr>
        </p:nvSpPr>
        <p:spPr bwMode="gray">
          <a:xfrm>
            <a:off x="5207000" y="4861373"/>
            <a:ext cx="2555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5062538" y="5715448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751513" y="5715448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7"/>
            </p:custDataLst>
          </p:nvPr>
        </p:nvSpPr>
        <p:spPr bwMode="gray">
          <a:xfrm>
            <a:off x="627063" y="5267773"/>
            <a:ext cx="2762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1411288" y="5178873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kumimoji="0" lang="ru-RU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492125" y="571544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0"/>
            </p:custDataLst>
          </p:nvPr>
        </p:nvSpPr>
        <p:spPr bwMode="gray">
          <a:xfrm>
            <a:off x="3716338" y="4194623"/>
            <a:ext cx="1905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5202238" y="3804098"/>
            <a:ext cx="2651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972175" y="4564511"/>
            <a:ext cx="246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2933700" y="5201098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0468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142CEA1-99F4-4574-A5E9-425A86727A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4" progId="TCLayout.ActiveDocument.1">
                  <p:embed/>
                </p:oleObj>
              </mc:Choice>
              <mc:Fallback>
                <p:oleObj name="think-cell Slide" r:id="rId20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2CEA1-99F4-4574-A5E9-425A86727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8342B784-DAF1-4F67-8060-CB1D1E7243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Динамика стоимости ШР контура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 dirty="0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61" name="Chart 3">
            <a:extLst>
              <a:ext uri="{FF2B5EF4-FFF2-40B4-BE49-F238E27FC236}">
                <a16:creationId xmlns:a16="http://schemas.microsoft.com/office/drawing/2014/main" id="{C9275DC2-F268-42B7-9C30-5E8AEEE510C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48983117"/>
              </p:ext>
            </p:extLst>
          </p:nvPr>
        </p:nvGraphicFramePr>
        <p:xfrm>
          <a:off x="303213" y="2685594"/>
          <a:ext cx="7040562" cy="332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5F820AB2-4CA9-420D-9C9B-A67D5973101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55613" y="5795507"/>
            <a:ext cx="15779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94EB7-FC41-4B33-83E1-0B3C57330C6A}" type="datetime'''''''''С''''''тои''''''м''''о''''ст''ь ШР ''20''''2''6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5893CC0A-DE5A-4838-BF45-C2E542B61F9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266950" y="5795507"/>
            <a:ext cx="13954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AE9C1-20B8-4AC3-B77D-5095CE87BAB2}" type="datetime'B''''''U'''' ''''''20''''26'','''' ''б''е''''''з'''' ''ОСВ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2026, без ОСВ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D6F18824-F041-4FF9-8295-B8976CA4FC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895724" y="5795507"/>
            <a:ext cx="15763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91A91-EEB6-451D-93C7-8D920EF8656B}" type="datetime'''''С''т''''о''''''''имост''ь'' Ш''Р'' 2''0''''2''''''''7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DAC92FBD-B69A-47D6-B5E1-94D24233360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703888" y="5795507"/>
            <a:ext cx="13938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A334D-F4A6-4851-8C81-C9158EB0E35B}" type="datetime'''BU ''''''''''202''7,'' б''''ез'''''''''' ''''''О''''''С''В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2027, без ОСВ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415760-995E-4EFA-8DE1-88F7697CAB3F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173163" y="3441244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2ECCCC-3A30-4405-80E2-704F8BB9B062}" type="datetime'''''''''''''''''''''''''''''''''''''''''''''''''''4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65A1E1-4516-448A-8477-314665144E46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2892425" y="3507919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1541C1-D7B8-4DFE-891E-585E9326F2A2}" type="datetime'''''''''''''''''''''''''''''''''''''''4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CF475B-EEBF-432A-AAC4-EF0B843E1AA6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611688" y="290308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E53B12-C351-4E91-A476-277EC289F42B}" type="datetime'''4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1D2EEB-7A1B-417B-B735-D389F93E4524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329363" y="296023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9E5824-DB05-4BF1-AF6B-7CC1E5ECF789}" type="datetime'''''''''''''''''''''''''''''''''''''''''''''''4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A7D83D-B158-4D7B-B7BF-2381D5ED1750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101725" y="3276144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BB44F-E510-4444-8DAE-DC5EFCDB3028}" type="datetime'''''''''''1''''2''''''''''''''''''''''''3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9A10F5-CD27-44B3-8DFD-70F7EBBA7B8C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833688" y="3342819"/>
            <a:ext cx="2619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5A6B40-6135-4FFD-BE67-9CEAF3829074}" type="datetime'''''''''''''''''11''''''''''''''''''''''''''9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ru-RU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F3FA55A-E5B7-4BE8-A746-E3C863924F62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40250" y="2737982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0B395F-C4F5-47D5-8DCE-CD6DC9D6B4E2}" type="datetime'''''''''''''''''''''''''''''''''1''''''''''''5''2''''''''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kumimoji="0" lang="ru-RU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B43D90-E470-44B4-A235-1F3326C7F4DC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6248400" y="2795132"/>
            <a:ext cx="3063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A4A661-07F0-4B6B-B47D-4158FDB075EF}" type="datetime'''''''''''''''''''''''''''''''''''''''''1''''''4''9''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0" lang="ru-RU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7E55974-64E7-4F6C-B8CD-A4894380DD67}"/>
              </a:ext>
            </a:extLst>
          </p:cNvPr>
          <p:cNvSpPr txBox="1"/>
          <p:nvPr/>
        </p:nvSpPr>
        <p:spPr>
          <a:xfrm>
            <a:off x="8302171" y="1615939"/>
            <a:ext cx="34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0000500000000000000" pitchFamily="2" charset="-52"/>
                <a:ea typeface="+mn-ea"/>
                <a:cs typeface="+mn-cs"/>
              </a:rPr>
              <a:t>В 2027 г. комплектность увеличилась с 97% до 98%, из-за низкого процента текучести по 2026 г.</a:t>
            </a:r>
          </a:p>
        </p:txBody>
      </p:sp>
      <p:sp>
        <p:nvSpPr>
          <p:cNvPr id="29" name="Номер слайда 3">
            <a:extLst>
              <a:ext uri="{FF2B5EF4-FFF2-40B4-BE49-F238E27FC236}">
                <a16:creationId xmlns:a16="http://schemas.microsoft.com/office/drawing/2014/main" id="{5DBFE8FF-868E-4667-8484-575FEA7AE144}"/>
              </a:ext>
            </a:extLst>
          </p:cNvPr>
          <p:cNvSpPr txBox="1">
            <a:spLocks/>
          </p:cNvSpPr>
          <p:nvPr/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000" b="0" kern="1200">
                <a:solidFill>
                  <a:srgbClr val="FF452C"/>
                </a:solidFill>
                <a:latin typeface="Arial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62F8B-6287-4A1D-B049-850DFDC2CB43}"/>
              </a:ext>
            </a:extLst>
          </p:cNvPr>
          <p:cNvSpPr txBox="1"/>
          <p:nvPr/>
        </p:nvSpPr>
        <p:spPr>
          <a:xfrm>
            <a:off x="371984" y="1108234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Стоимость ШР контура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 PEX</a:t>
            </a:r>
            <a:r>
              <a:rPr kumimoji="0" lang="ru-RU" sz="1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C1006-850E-46A6-8D92-7BD71F7CA6B4}"/>
              </a:ext>
            </a:extLst>
          </p:cNvPr>
          <p:cNvSpPr txBox="1"/>
          <p:nvPr/>
        </p:nvSpPr>
        <p:spPr>
          <a:xfrm>
            <a:off x="547036" y="250094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  <p:sp>
        <p:nvSpPr>
          <p:cNvPr id="101" name="Текст 5">
            <a:extLst>
              <a:ext uri="{FF2B5EF4-FFF2-40B4-BE49-F238E27FC236}">
                <a16:creationId xmlns:a16="http://schemas.microsoft.com/office/drawing/2014/main" id="{C2CD0DFB-EDAA-4B50-889E-9230B11C7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7466" y="6315178"/>
            <a:ext cx="8890000" cy="339337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en-US" sz="900" dirty="0">
                <a:solidFill>
                  <a:srgbClr val="6E6E6E"/>
                </a:solidFill>
                <a:latin typeface="+mn-lt"/>
              </a:rPr>
              <a:t>1 </a:t>
            </a:r>
            <a:r>
              <a:rPr lang="ru-RU" sz="900" dirty="0">
                <a:solidFill>
                  <a:srgbClr val="6E6E6E"/>
                </a:solidFill>
                <a:latin typeface="+mn-lt"/>
              </a:rPr>
              <a:t>– На декабрь соответствующего года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C629C24-1F93-4E93-BC2A-AA6E5C188D7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88938" y="1523544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811B90C-5B01-4A6F-8ACF-56F2DAD0635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417888" y="1523544"/>
            <a:ext cx="214313" cy="160338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46032B-2B65-423F-8992-09F12F3A854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54050" y="1518782"/>
            <a:ext cx="26622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735F91-C67D-4BEB-990A-55233DD31875}" type="datetime'Нен''орм''иру''''е''''мы''''''е ''''''п''одраз''де''лен''ия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Ненормируемые подразделения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A452EA-9496-49AE-B989-7A3CFC2BA4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683000" y="1518782"/>
            <a:ext cx="5461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84A1A1-9BF8-4626-8831-6E80F4C6AF9A}" type="datetime'''''P''''''''''''r''''''oj''''''''''''e''''c''''''''''t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Project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988A16-4075-446A-BDAE-FE4BE6BE36C9}"/>
              </a:ext>
            </a:extLst>
          </p:cNvPr>
          <p:cNvSpPr txBox="1"/>
          <p:nvPr/>
        </p:nvSpPr>
        <p:spPr>
          <a:xfrm>
            <a:off x="3957714" y="198825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98%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</p:spTree>
    <p:extLst>
      <p:ext uri="{BB962C8B-B14F-4D97-AF65-F5344CB8AC3E}">
        <p14:creationId xmlns:p14="http://schemas.microsoft.com/office/powerpoint/2010/main" val="7576090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5198CCB-CAC7-4E96-94CF-E81AAA7978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95" imgH="394" progId="TCLayout.ActiveDocument.1">
                  <p:embed/>
                </p:oleObj>
              </mc:Choice>
              <mc:Fallback>
                <p:oleObj name="think-cell Slide" r:id="rId70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198CCB-CAC7-4E96-94CF-E81AAA797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B32245ED-C725-40BD-9C91-DEDDB0003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Динамика резервов на отпуска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44D9FD44-C1E4-4B11-AC52-35AE0C46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AD5B0-D4EC-4753-A91F-D726B6688734}"/>
              </a:ext>
            </a:extLst>
          </p:cNvPr>
          <p:cNvSpPr txBox="1"/>
          <p:nvPr/>
        </p:nvSpPr>
        <p:spPr>
          <a:xfrm>
            <a:off x="371985" y="1037200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Динамика резервов на отпуска 2026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дни</a:t>
            </a: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69160662-EC69-4545-A528-91C8D383DE5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07556" y="1820863"/>
          <a:ext cx="8649398" cy="193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29826C4-F0E0-451D-BADC-430DA822152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127621" y="2994025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E3460F8-D0DA-4C59-BCEA-40415488EDFF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V="1">
            <a:off x="7127621" y="3219450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FFE79DC7-8472-4C55-BDFC-6B624B70B8B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8505380" y="2722563"/>
            <a:ext cx="20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663B8480-C344-4033-93BD-341244E1659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9160510" y="2722563"/>
            <a:ext cx="20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726BD7B-136C-430C-8D74-EA1F15D4B93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26782" y="3719513"/>
            <a:ext cx="5984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93675F-BA0B-409A-A873-3EAEA7DED6A0}" type="datetime'''''Я''''''''''''''''н''в''''''''''''''''а''''''''''рь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Январь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59877593-E021-4743-B552-AECB2F47C0B8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662684" y="3379788"/>
            <a:ext cx="4381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E4265-4276-4BB7-B6D2-A406D374A178}" type="datetime'''2''''''''''.52''''''0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2.520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9DD11E1F-7C6E-4841-B58E-F26F60E9C4D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1656334" y="2025650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54CD2-2E6B-46D2-BD27-C9403A36AA05}" type="datetime'''''4''''''''''.''''9''''8''''''''''''''''''5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4.985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CEC7A33-D398-4E84-8CA8-91ACC673C935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524572" y="3719513"/>
            <a:ext cx="7143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A066B0-3589-4719-B9E3-4B7A61333553}" type="datetime'''''''''''''''''Ф''''''е''''''''''''''в''''р''''а''л''''''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Февраль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5D40BF5A-7C2E-4324-8E24-6BD80F868138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332102" y="3303588"/>
            <a:ext cx="4095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50FDD0-8935-4A71-86B6-B6B304E7B080}" type="datetime'''''''''''''2''''''.''''''''''''''''''''''''714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41D788EE-66A8-49C6-B81A-CBD8B74E8892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333498" y="1951038"/>
            <a:ext cx="4079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62645A-43CF-4183-99CA-DC7F3EEB6580}" type="datetime'5''''''.''''''17''''''''''''4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5.174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1B5120F-9FFB-4ACB-A6D8-F2F9D2F71C9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325560" y="3719513"/>
            <a:ext cx="42386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A675AA-A970-45FE-840E-16EA783A9709}" type="datetime'''''''''''''''''''''''''''''''''''Ма''''р''т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Март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FC4046D0-CF35-4A54-A53B-779C8C7581CF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972371" y="3238500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A7B23-6F6C-437A-ACF0-6CD8A75357B3}" type="datetime'''''''''''''''''''''''''''''''''''''''''''''''2.8''''''79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C8321F44-74DF-4777-8F81-A0101DF17302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996184" y="1893888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34EC14-3BCA-42E4-BD1F-BBBFD5EB48BC}" type="datetime'''''5''''''''''''''''''.''''''3''''1''''''''''''''9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5.319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EF55518-A08C-4AC1-9CDB-112B23601A1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888425" y="3719513"/>
            <a:ext cx="609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843C-21D2-43AC-A57A-86E8D4B7BE26}" type="datetime'''Апр''''''''''''''''''е''''''''''л''ь''''''''''''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Апрель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EB8E6F3A-97EC-431A-84CE-67FB6840A36C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622738" y="3155950"/>
            <a:ext cx="4524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379BD-933C-49A1-8CD0-882668246F79}" type="datetime'''''''''''''''''''3.''08''''''''''''''9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3.089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9D36DCC-9CCF-44BD-A25F-8C68DCE50202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3638613" y="1811338"/>
            <a:ext cx="4206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213D1A-51AE-4AB2-ABA7-CB661A333EC3}" type="datetime'5''''''''''''''''''''.''''''''''''5''3''''''''''2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8DD0257F-A5E8-41CD-BD20-36162445088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72142" y="3719513"/>
            <a:ext cx="352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0BD22C-D20A-4109-BCE6-C02D77A77CE2}" type="datetime'М''''''''''''''''''''''''''''''''ай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Май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71A01645-1293-4FF5-8A69-90D5BCEFA9D1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4287013" y="3178175"/>
            <a:ext cx="4365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09685-6705-4769-A5D3-F4470A856FF1}" type="datetime'''''''''''''''''''''''''''''3''''''.''''''''''''''''032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2C6EB692-CD30-401D-8C12-81EE6A63ED7E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282249" y="182086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FC8EAC-5997-44DE-B9DF-6CCE62B30F11}" type="datetime'''''''''''''''''5''.''''''''''''''5''''''0''''''''''8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5.508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D513218-5FDC-4B5A-B367-2F642B1BD6C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275899" y="3719513"/>
            <a:ext cx="4587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5660A-3AEE-4826-9F8A-C4CA4A99846D}" type="datetime'''''Ию''''''''''''''''''''''''''''''''''''''''н''''''ь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Июнь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8AD674DA-B018-45B4-A525-050DD921E04F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4942333" y="317817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2089BB-BFB4-43F0-9DDE-A3132DF523CB}" type="datetime'3''''''''.''''''''''''03''''''5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F96255E0-EBB9-4904-99D5-D41A55BB8AD4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4937379" y="2035175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73D3FB-723B-4DF9-A174-335BB3D28A94}" type="datetime'''4.''''''''''''''''''9''''''''59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4.959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E6BEAA3E-2954-4B1C-9603-3156CCFB2E0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934204" y="3719513"/>
            <a:ext cx="4524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D1412C-EFDE-4CB4-A56B-FF13D33A1CCB}" type="datetime'''''''''''''''''''''И''ю''''''''''л''''''''''ь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Июль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FDE9E720-F5A4-4A32-86FA-2B953EF17859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5598669" y="326072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50CAC3-056B-4693-BD8F-3DE25CCD3592}" type="datetime'2''''''''''''''''''''''''''''''''''''.8''2''2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2.822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B4B20133-8D77-4106-9547-E0528F693B76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619115" y="2749550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BBF051-494F-47CA-A615-8AAE57DB518C}" type="datetime'''3''''''.13''''''''9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3.139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ECC013C8-C010-4CAA-91E7-B4EAE5757F6A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5549456" y="3719513"/>
            <a:ext cx="5334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C7D70-B858-4289-A31A-0E439FE34975}" type="datetime'А''''в''''''''''г''''''''у''''''''с''''''''''''''''т''''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Август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ED7F6AEE-C56B-413B-9245-B8A96C1C0B94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6248844" y="28940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889EB-BD38-4AD5-B2E6-CDA178480799}" type="datetime'''''''2''''.''''''''''''''''''7''''''''''''''''70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2.770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4447913-FDD3-452E-8A7C-E2638CC9F73D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6247257" y="3324225"/>
            <a:ext cx="4492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0F8D95-6A99-42C0-AF27-41E0CD031A0E}" type="datetime'2''.''''''''6''''''''''''''''60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2.660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3F5F4875-4A8E-454C-B890-DF6DD4BC9CAE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6085332" y="3719513"/>
            <a:ext cx="7731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F12790-3916-4EAF-AAC0-4FFAAA0126B1}" type="datetime'''''''''''''''С''''''''''ен''тя''''''''''''б''''''р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Сентябрь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C70CDA3B-3E06-46FA-ADBC-D65D9C320DE2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914705" y="2828925"/>
            <a:ext cx="4270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344FC-DDE2-4690-97BA-1DF4743FE0C9}" type="datetime'''''''''''2''''.''''9''''''''''''35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2.935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01C3DDA2-4DEF-4594-8C91-0BA477284B59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359092" y="3509963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03C317-DC32-422C-84B2-8A1AF8306066}" type="datetime'''''''''''''2''''.''06''''''''''''5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2.065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02E54FF-02FB-4754-A240-9432FB22292A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6902196" y="3240088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46075D-2057-4DA3-9628-9EFE52F23324}" type="datetime'''''''''''''2''''''''''''''''''''''.''''''87''4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04101FE-CD12-4092-B863-1F1E0FDD00A2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70776" y="24622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7A6BC9-7D42-4E25-9A1E-F508E020A0D0}" type="datetime'3''''.''''8''03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A7CC30C3-8EDE-492A-98F7-E4E4A0140B40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784721" y="3719513"/>
            <a:ext cx="6858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C6C8B-490D-40B8-8998-B8D01EAEFE24}" type="datetime'''О''к''т''''''''''''''''''''''''''''я''б''р''''''''''''ь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Октябрь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F69D31B7-B93F-4408-85E0-0030B8FE965D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7582726" y="2727325"/>
            <a:ext cx="400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8D1032-B7A9-4E3B-AB95-7B05357A8872}" type="datetime'''3''.''''''''''''''''''''1''''''''''97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72477DF7-18BC-4AFF-AEAF-660F38A66D1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78797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8C7BD1-5F94-4DA7-BDF3-63F575E1E916}" type="datetime'''''''''Ост''ат''ок на на''ч''а''л''''''''о'''' ''''''''года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начало года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CE168C9B-9191-4241-BE45-4C675A71EB5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474585" y="3719513"/>
            <a:ext cx="6175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7D175-12A4-441A-BC7A-33D376268122}" type="datetime'''Н''''''''''''''о''''яб''''''р''''''''''''''''''''''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Ноябрь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BF039152-F9FF-407C-896A-AB195408BBCB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8216646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C1E9D8-2D41-44B0-8700-93D88D6B914A}" type="datetime'''3''''''''''.''''''''''''''''''803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9CBAFD68-F482-4ADD-83EC-7E35EEBC17B6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8476107" y="2525713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210A2-B542-4CA1-AFE8-3A68082B6AD3}" type="datetime'''''3.''''''''''''''''''''''''9''''''13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9C76CA0B-D88A-43BE-A70E-18FDF9FA713A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006157" y="3497263"/>
            <a:ext cx="4397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A6FC22-4DA4-41B8-8421-7D610D178FD6}" type="datetime'2''.''22''''''''''''''''''''''''''''''0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2.220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4B79C3A0-C9BF-4330-A0E1-F1966720A221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7585710" y="3114675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A46D3C-DADA-448D-9D1F-5215198D9168}" type="datetime'''''''3''''''.''''''''''''''''''''''1''''''9''''''''''''5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F13FFABF-8D9D-498A-9EFA-1F80C95AEA3B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8871775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BCEAB-58D6-4D46-8FC9-B4FBB2AE9CA4}" type="datetime'''''''''''3''''''''''''''''.''8''''''0''''''''''''''''''3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66F408D1-1911-4122-B947-DE54A9248CFF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131236" y="2525713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A27193-225E-4A5B-BB02-FD2107FC82ED}" type="datetime'''3''''''''''''''''''''''.9''''''''''''1''''''''''3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BAE2088-3A7A-4A66-A26A-4048FDA345E1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93457" y="2220913"/>
            <a:ext cx="4651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AF32D-43C6-4482-B230-C3D13C513DA3}" type="datetime'''''4''''''''''''''''''''''''.''''''''''''''''4''''''''8''6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4.486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340DAF8D-6E43-4292-ACB1-0796E9A1B764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8802719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9AAD-13E9-4445-B60D-175B00CE57B2}" type="datetime'О''''с''т''ато''''к'''''' ''на'' ''''кон''''е''ц'' г''о''да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конец года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B1BF5C66-ADA3-41FB-8A3A-B97F033CF015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091424" y="3719513"/>
            <a:ext cx="695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9DFAC-71FD-48ED-8772-8F1B676890E9}" type="datetime'''''Дек''''''''''а''''''''''б''''''''''р''''''''''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Декабрь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8" name="Прямая соединительная линия 197">
            <a:extLst>
              <a:ext uri="{FF2B5EF4-FFF2-40B4-BE49-F238E27FC236}">
                <a16:creationId xmlns:a16="http://schemas.microsoft.com/office/drawing/2014/main" id="{058442B3-D21C-4199-8E5B-7C6CFB0801A6}"/>
              </a:ext>
            </a:extLst>
          </p:cNvPr>
          <p:cNvCxnSpPr/>
          <p:nvPr>
            <p:custDataLst>
              <p:tags r:id="rId49"/>
            </p:custDataLst>
          </p:nvPr>
        </p:nvCxnSpPr>
        <p:spPr bwMode="gray">
          <a:xfrm>
            <a:off x="460375" y="1489075"/>
            <a:ext cx="296863" cy="0"/>
          </a:xfrm>
          <a:prstGeom prst="line">
            <a:avLst/>
          </a:prstGeom>
          <a:ln w="28575" cap="rnd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id="{436D1145-95AD-4BAF-B153-A00F97FAE4C0}"/>
              </a:ext>
            </a:extLst>
          </p:cNvPr>
          <p:cNvCxnSpPr/>
          <p:nvPr>
            <p:custDataLst>
              <p:tags r:id="rId50"/>
            </p:custDataLst>
          </p:nvPr>
        </p:nvCxnSpPr>
        <p:spPr bwMode="gray">
          <a:xfrm>
            <a:off x="1306512" y="1489075"/>
            <a:ext cx="296863" cy="0"/>
          </a:xfrm>
          <a:prstGeom prst="line">
            <a:avLst/>
          </a:prstGeom>
          <a:ln w="28575" cap="rnd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Ромб 201">
            <a:extLst>
              <a:ext uri="{FF2B5EF4-FFF2-40B4-BE49-F238E27FC236}">
                <a16:creationId xmlns:a16="http://schemas.microsoft.com/office/drawing/2014/main" id="{70036F63-13AC-4206-B8A6-9416619F49CB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57212" y="1438275"/>
            <a:ext cx="101600" cy="101600"/>
          </a:xfrm>
          <a:prstGeom prst="diamond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Ромб 202">
            <a:extLst>
              <a:ext uri="{FF2B5EF4-FFF2-40B4-BE49-F238E27FC236}">
                <a16:creationId xmlns:a16="http://schemas.microsoft.com/office/drawing/2014/main" id="{1B4E199A-F282-4B38-9D53-756AB2CDF354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403350" y="1438275"/>
            <a:ext cx="101600" cy="101600"/>
          </a:xfrm>
          <a:prstGeom prst="diamond">
            <a:avLst/>
          </a:prstGeom>
          <a:solidFill>
            <a:srgbClr val="FF452C"/>
          </a:solidFill>
          <a:ln w="9525" cap="flat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DA9CE187-493D-4E37-BDCA-845701A9A6D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22325" y="1404938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BB035-4285-48E8-B255-F21162CEBB7F}" type="datetime'''''''''''''''''''''''2''0''''''''''''''''''''2''''''''''6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191B661-0ED5-4F78-8C25-024423F7B5C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668463" y="1404938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1083E-BE73-4471-8105-F67EB6BD88DF}" type="datetime'20''2''''''''''''''''''7''''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15" name="Таблица 214">
            <a:extLst>
              <a:ext uri="{FF2B5EF4-FFF2-40B4-BE49-F238E27FC236}">
                <a16:creationId xmlns:a16="http://schemas.microsoft.com/office/drawing/2014/main" id="{57A8F848-5A79-4256-9E11-93CFA5A3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49728"/>
              </p:ext>
            </p:extLst>
          </p:nvPr>
        </p:nvGraphicFramePr>
        <p:xfrm>
          <a:off x="9626600" y="1066800"/>
          <a:ext cx="2184400" cy="239395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73598262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9745465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8907730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Год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13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январь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5,6%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55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февраль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5827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март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5228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апрель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02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275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июнь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9793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-5,1%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2046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август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-17,0%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6119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сентябрь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-4,5%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151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октябрь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3234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ноябрь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439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декабрь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6,7%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331541"/>
                  </a:ext>
                </a:extLst>
              </a:tr>
            </a:tbl>
          </a:graphicData>
        </a:graphic>
      </p:graphicFrame>
      <p:sp>
        <p:nvSpPr>
          <p:cNvPr id="225" name="TextBox 224">
            <a:extLst>
              <a:ext uri="{FF2B5EF4-FFF2-40B4-BE49-F238E27FC236}">
                <a16:creationId xmlns:a16="http://schemas.microsoft.com/office/drawing/2014/main" id="{807CB5F2-0937-4F65-9F03-CB1E80A3E015}"/>
              </a:ext>
            </a:extLst>
          </p:cNvPr>
          <p:cNvSpPr txBox="1"/>
          <p:nvPr/>
        </p:nvSpPr>
        <p:spPr>
          <a:xfrm>
            <a:off x="6116184" y="4377722"/>
            <a:ext cx="5588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 течение 2026 года ожидается рост резервов на отпуск, что связано, в первую очередь, с наймом новых сотрудников, которые еще не приобрели право на отпуск в 2026 году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 год запланирован без прироста среднего количества дней на человека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FFD84D9-84D7-4CC8-B1A8-7AE830D408C1}"/>
              </a:ext>
            </a:extLst>
          </p:cNvPr>
          <p:cNvSpPr txBox="1"/>
          <p:nvPr/>
        </p:nvSpPr>
        <p:spPr>
          <a:xfrm>
            <a:off x="369887" y="4265277"/>
            <a:ext cx="5671771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Распределение сотрудников с неиспользованными отпусками на конец года</a:t>
            </a: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1E11D37A-D88D-42BA-AE3E-68C3FE669B32}"/>
              </a:ext>
            </a:extLst>
          </p:cNvPr>
          <p:cNvGraphicFramePr/>
          <p:nvPr>
            <p:custDataLst>
              <p:tags r:id="rId55"/>
            </p:custDataLst>
            <p:extLst>
              <p:ext uri="{D42A27DB-BD31-4B8C-83A1-F6EECF244321}">
                <p14:modId xmlns:p14="http://schemas.microsoft.com/office/powerpoint/2010/main" val="2151241400"/>
              </p:ext>
            </p:extLst>
          </p:nvPr>
        </p:nvGraphicFramePr>
        <p:xfrm>
          <a:off x="303213" y="5153002"/>
          <a:ext cx="5830887" cy="927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8367E371-C7CE-4C03-810A-C3A7FE360F3D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900112" y="5908929"/>
            <a:ext cx="860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1CA6B-1FEA-43EF-941B-8ABFB75E33C2}" type="datetime'''41''-''''''''''''''''''''''6''''''0'' ''д''''н''ей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41-60 дней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9BFE9603-6BD7-46F7-9046-0AA7863E38BA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759075" y="5908929"/>
            <a:ext cx="9175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3C843F-B3DE-4EDD-9084-F127865DC498}" type="datetime'''61''''''''''''''-10''0'''' ''''''''''д''''н''''''''''ей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61-100 дней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FD22412F-27FA-4A05-A949-049EF00F80D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4730750" y="5908929"/>
            <a:ext cx="7524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734856-C337-4F2E-BB41-48C7380BB8E1}" type="datetime'1''''''0''''''1''''''''''+'''' дн''''''''е''''й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101+ дней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1E9CCD6-697A-40CB-875B-22DD8F62E3DA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159385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9ABC3-1D43-4B74-9ACA-245484E15F38}" type="datetime'''0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6EB6F67F-4B40-407C-916A-C618D59F5E39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280670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7B8A52-B795-4844-9484-B8BDB551B28B}" type="datetime'''''''''''0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DB810767-2BC7-4EEC-8F89-6298C62921CD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3481388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30205A-170F-44DB-8DE6-6CF859D90B28}" type="datetime'''''''''''''''''''''''''''''''''0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DF0911E4-82DC-411E-BE3E-25F58BE9A9B8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4695825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90257-22D5-455A-85B5-3D16F481BC2E}" type="datetime'''''''''''''''''''''''''''''''''''''''''0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77438B5D-2BD3-48F3-8490-E57B5AEE6FFD}"/>
              </a:ext>
            </a:extLst>
          </p:cNvPr>
          <p:cNvSpPr/>
          <p:nvPr>
            <p:custDataLst>
              <p:tags r:id="rId63"/>
            </p:custDataLst>
          </p:nvPr>
        </p:nvSpPr>
        <p:spPr bwMode="gray">
          <a:xfrm>
            <a:off x="5370513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7DD57A-8464-4783-BB04-4BE375AA2DD6}" type="datetime'''''''''''''''''''0''''''''''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6081C616-5ABC-441E-A1E5-379217062E38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46087" y="4854552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B9868070-0F19-4D56-A1BF-31E510C7494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181100" y="4854552"/>
            <a:ext cx="214313" cy="16033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B2FB4F8D-4875-4B09-BFE1-39BD81E68D61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11200" y="4849789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331EA-40A0-444A-BD37-C5E520AA3017}" type="datetime'''''''''2''''0''''''''''2''''''''6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F0DEA67-02E8-4F81-9389-E229C66F0829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446212" y="4849789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663475-1665-4B53-866A-67665FDAFA7A}" type="datetime'''''''''''''''2''''''''''0''''''''''2''''''''''7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7959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50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Конкуренты развивают self-service кабинеты </a:t>
            </a:r>
            <a:br>
              <a:rPr lang="ru-RU" dirty="0"/>
            </a:br>
            <a:r>
              <a:rPr lang="ru-RU" dirty="0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 dirty="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 dirty="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 dirty="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 dirty="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 dirty="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 dirty="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 dirty="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 dirty="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ru-RU" sz="1200" dirty="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 dirty="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 dirty="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 dirty="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APP и web:</a:t>
            </a:r>
            <a:r>
              <a:rPr lang="ru-RU" sz="1400" dirty="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In-store:</a:t>
            </a:r>
            <a:r>
              <a:rPr lang="ru-RU" sz="1400" dirty="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Внешний:</a:t>
            </a:r>
            <a:r>
              <a:rPr lang="ru-RU" sz="1400" dirty="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01.09.2025</a:t>
            </a:r>
            <a:r>
              <a:rPr lang="ru-RU" sz="1400" dirty="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13.10.2025</a:t>
            </a:r>
            <a:r>
              <a:rPr lang="ru-RU" sz="1400" dirty="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01.03.2026</a:t>
            </a:r>
            <a:r>
              <a:rPr lang="ru-RU" sz="1400" dirty="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27.03.2026</a:t>
            </a:r>
            <a:r>
              <a:rPr lang="ru-RU" sz="1400" dirty="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20.04.2026</a:t>
            </a:r>
            <a:r>
              <a:rPr lang="ru-RU" sz="1400" dirty="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4 года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Триггеры и акции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Супергео и остатки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Внешние данные — </a:t>
            </a:r>
            <a:r>
              <a:rPr lang="ru-RU" sz="1400" b="1" dirty="0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  <a:r>
              <a:rPr lang="ru-RU" sz="1400" dirty="0">
                <a:solidFill>
                  <a:srgbClr val="000000"/>
                </a:solidFill>
              </a:rPr>
              <a:t>, автостратегии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KPI Коммерции — </a:t>
            </a:r>
            <a:r>
              <a:rPr lang="ru-RU" sz="1400" b="1" dirty="0">
                <a:solidFill>
                  <a:srgbClr val="000000"/>
                </a:solidFill>
              </a:rPr>
              <a:t>абсолютный прирост</a:t>
            </a:r>
            <a:r>
              <a:rPr lang="ru-RU" sz="1400" dirty="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Network — </a:t>
            </a:r>
            <a:r>
              <a:rPr lang="ru-RU" sz="1400" b="1" dirty="0">
                <a:solidFill>
                  <a:srgbClr val="000000"/>
                </a:solidFill>
              </a:rPr>
              <a:t>отдельное ЮЛ</a:t>
            </a:r>
            <a:r>
              <a:rPr lang="ru-RU" sz="1400" dirty="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Self-service</a:t>
            </a:r>
            <a:r>
              <a:rPr lang="ru-RU" sz="1400" dirty="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Инвентарь:</a:t>
            </a:r>
            <a:r>
              <a:rPr lang="ru-RU" sz="1200" dirty="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Эффективность:</a:t>
            </a:r>
            <a:r>
              <a:rPr lang="ru-RU" sz="1200" dirty="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Execution:</a:t>
            </a:r>
            <a:r>
              <a:rPr lang="ru-RU" sz="1200" dirty="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Продажи:</a:t>
            </a:r>
            <a:r>
              <a:rPr lang="ru-RU" sz="1200" dirty="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Объем трейд-бюджетов:</a:t>
            </a:r>
            <a:r>
              <a:rPr lang="ru-RU" sz="1200" dirty="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Единый КПЭ:</a:t>
            </a:r>
            <a:r>
              <a:rPr lang="ru-RU" sz="1200" dirty="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0185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D65656BD-BDC7-4AB7-9502-886BF31B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Статус выполнения КПЭ: </a:t>
            </a:r>
            <a:r>
              <a:rPr lang="ru-RU" dirty="0">
                <a:solidFill>
                  <a:schemeClr val="dk1"/>
                </a:solidFill>
                <a:latin typeface="+mn-lt"/>
                <a:sym typeface="Montserrat"/>
              </a:rPr>
              <a:t>т</a:t>
            </a:r>
            <a: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риггеры КПЭ выполняются </a:t>
            </a:r>
            <a:b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</a:br>
            <a: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в полном объеме</a:t>
            </a:r>
            <a:endParaRPr lang="ru-RU" dirty="0"/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335983"/>
              </p:ext>
            </p:extLst>
          </p:nvPr>
        </p:nvGraphicFramePr>
        <p:xfrm>
          <a:off x="364174" y="93915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3000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en-US" sz="1100" b="1" i="0" u="none" strike="noStrike" baseline="3000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en-US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8793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выполнения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бюджета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(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Выплата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премии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)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выполнения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бюджета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(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Выплата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премии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)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146,6%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4CBD42-8B3D-4B5C-8D9E-FA37F778EAED}"/>
              </a:ext>
            </a:extLst>
          </p:cNvPr>
          <p:cNvSpPr txBox="1"/>
          <p:nvPr/>
        </p:nvSpPr>
        <p:spPr>
          <a:xfrm>
            <a:off x="326464" y="3847656"/>
            <a:ext cx="1026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Расчет EBITDA, применимый к КПЭ выполняется без учета базовой выручки E-</a:t>
            </a:r>
            <a:r>
              <a:rPr kumimoji="0" lang="ru-RU" sz="1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</a:t>
            </a: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Расшифровка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  <a:endParaRPr kumimoji="0" lang="ru-RU" sz="1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11" name="Google Shape;315;p47">
            <a:extLst>
              <a:ext uri="{FF2B5EF4-FFF2-40B4-BE49-F238E27FC236}">
                <a16:creationId xmlns:a16="http://schemas.microsoft.com/office/drawing/2014/main" id="{424E3A06-3193-4916-98C3-B1A49BE3B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65435"/>
              </p:ext>
            </p:extLst>
          </p:nvPr>
        </p:nvGraphicFramePr>
        <p:xfrm>
          <a:off x="364174" y="4259720"/>
          <a:ext cx="2867833" cy="19156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ontserrat"/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AdTech EBITDA, </a:t>
                      </a:r>
                      <a:r>
                        <a:rPr lang="en-GB" sz="110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sz="11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4 607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1 409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1 499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(1 557)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3 050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39E7C9-4688-44BB-819A-7672B8A8DC45}"/>
              </a:ext>
            </a:extLst>
          </p:cNvPr>
          <p:cNvSpPr/>
          <p:nvPr/>
        </p:nvSpPr>
        <p:spPr>
          <a:xfrm rot="16200000">
            <a:off x="43676" y="4790599"/>
            <a:ext cx="385576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7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E46B5DC-FF39-41BA-9F91-CE8DE528923E}"/>
              </a:ext>
            </a:extLst>
          </p:cNvPr>
          <p:cNvSpPr/>
          <p:nvPr/>
        </p:nvSpPr>
        <p:spPr>
          <a:xfrm rot="16200000">
            <a:off x="-48515" y="5334907"/>
            <a:ext cx="56996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7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9M 2026 MAGNIT ADS YTD BU vs YTD ACT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+2 210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(1 940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(-8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(278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+1 181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поставщикам (301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(126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(754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ФОТ +20 млн руб.: рекласс ФОТ в CAPEX в сентябре, индексация (+22 млн руб.); перерасход по премиям и STI (-66 млн руб.), отпускным (-47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(+254 млн руб.), по вознаграждениям РА (+91 млн руб.), маркетинг ВГО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ноутбуках и облачном хранении данных (+31 млн руб.), сдвиг по рекламному сбору (+25 млн руб.), подбор, обучение, HR-бренд (+13 млн руб.), резерв отпусков (-28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Эффект увеличения продаж рекламы новым контрагентам и доступности instore инвентаря, а также подхода по совместному признанию выручки с FT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ФОТ, частично компенсирован реклассом ФОТ в CAPEX в сентябре (-180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закупке оборудования +281 млн руб. Экономия за счет снижения тендерной цены закупки +102 млн руб.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62067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2 048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3 198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2 210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6 546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1 409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(1 955)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(1 557)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(791)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(1 047)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4 989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3 789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(1 070)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4 394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4 264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1 548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Сентябрь 2026 Magnit ADS financial review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766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395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106%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102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208%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351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53%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150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163%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(11)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-16%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289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-84%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(577)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(75)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-87%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(99)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-145%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(468)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854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1 029%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(216)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494%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674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691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897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55707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+338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(199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(-11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(150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+13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(-243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(244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(+166 млн руб.); доначисление резерва STI (-16 млн руб.), отпускные (-7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(+325 млн руб.), по вознаграждениям РА (+31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(-2 млн руб.), резерв отпусков (-5 млн руб.), аренда (+2 млн руб.), IT (+1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выручки (+351 млн руб.) и экономия OPEX (+503 млн руб.): рекласс ФОТ в CAPEX и закупка трафика ниже бюджета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(-180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целевая система управления медиаконтентом (206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Овал 8">
            <a:extLst>
              <a:ext uri="{FF2B5EF4-FFF2-40B4-BE49-F238E27FC236}">
                <a16:creationId xmlns:a16="http://schemas.microsoft.com/office/drawing/2014/main" id="{6DD61664-2957-4AE6-956B-768D34D413C8}"/>
              </a:ext>
            </a:extLst>
          </p:cNvPr>
          <p:cNvSpPr/>
          <p:nvPr/>
        </p:nvSpPr>
        <p:spPr>
          <a:xfrm>
            <a:off x="6763736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B0E809-DE6D-433D-B29F-A88526481BA8}"/>
              </a:ext>
            </a:extLst>
          </p:cNvPr>
          <p:cNvSpPr/>
          <p:nvPr/>
        </p:nvSpPr>
        <p:spPr>
          <a:xfrm>
            <a:off x="6763736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5457E264-C436-47F0-8CD9-C364A845370E}"/>
              </a:ext>
            </a:extLst>
          </p:cNvPr>
          <p:cNvSpPr/>
          <p:nvPr/>
        </p:nvSpPr>
        <p:spPr>
          <a:xfrm>
            <a:off x="6763736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1" name="Овал 8">
            <a:extLst>
              <a:ext uri="{FF2B5EF4-FFF2-40B4-BE49-F238E27FC236}">
                <a16:creationId xmlns:a16="http://schemas.microsoft.com/office/drawing/2014/main" id="{24569A11-7FD3-4A55-BE8D-493888BBBB63}"/>
              </a:ext>
            </a:extLst>
          </p:cNvPr>
          <p:cNvSpPr/>
          <p:nvPr/>
        </p:nvSpPr>
        <p:spPr>
          <a:xfrm>
            <a:off x="6763736" y="3104274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2" name="Овал 8">
            <a:extLst>
              <a:ext uri="{FF2B5EF4-FFF2-40B4-BE49-F238E27FC236}">
                <a16:creationId xmlns:a16="http://schemas.microsoft.com/office/drawing/2014/main" id="{918442A0-B014-4841-B4A2-2735753C9202}"/>
              </a:ext>
            </a:extLst>
          </p:cNvPr>
          <p:cNvSpPr/>
          <p:nvPr/>
        </p:nvSpPr>
        <p:spPr>
          <a:xfrm>
            <a:off x="6763736" y="360756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33" name="Овал 8">
            <a:extLst>
              <a:ext uri="{FF2B5EF4-FFF2-40B4-BE49-F238E27FC236}">
                <a16:creationId xmlns:a16="http://schemas.microsoft.com/office/drawing/2014/main" id="{BBC10EF4-BCBD-42B4-9FF1-974B17A60F1E}"/>
              </a:ext>
            </a:extLst>
          </p:cNvPr>
          <p:cNvSpPr/>
          <p:nvPr/>
        </p:nvSpPr>
        <p:spPr>
          <a:xfrm>
            <a:off x="6763736" y="411083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4" name="Овал 8">
            <a:extLst>
              <a:ext uri="{FF2B5EF4-FFF2-40B4-BE49-F238E27FC236}">
                <a16:creationId xmlns:a16="http://schemas.microsoft.com/office/drawing/2014/main" id="{D28840EB-76EB-4C10-A67D-23E9A5CED7EC}"/>
              </a:ext>
            </a:extLst>
          </p:cNvPr>
          <p:cNvSpPr/>
          <p:nvPr/>
        </p:nvSpPr>
        <p:spPr>
          <a:xfrm>
            <a:off x="6763736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5" name="Овал 8">
            <a:extLst>
              <a:ext uri="{FF2B5EF4-FFF2-40B4-BE49-F238E27FC236}">
                <a16:creationId xmlns:a16="http://schemas.microsoft.com/office/drawing/2014/main" id="{B3EA53C5-2A57-48DB-A16F-12780C0A4892}"/>
              </a:ext>
            </a:extLst>
          </p:cNvPr>
          <p:cNvSpPr/>
          <p:nvPr/>
        </p:nvSpPr>
        <p:spPr>
          <a:xfrm>
            <a:off x="6763736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(3 430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выручки с FT и рост продаж E-com, экономия OPEX (+425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+2 231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(1 490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(654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(88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-837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(-1 084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(-30 млн руб.), отпускные (-24 млн руб.), налоги (-11 млн руб.); индексация не закладывается (+28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(+51 млн руб.), маркетинг ВГО (-14 млн руб.), вознаграждения блогерам (-3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(+13 млн руб.), IT (+11 млн руб.), резерв отпусков (+6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E-com (+2 231 млн руб.) перекрывает Non-E-com ниже бюджета: Instore (-414 млн руб.), MIP, Magnit Market, DMP (-423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 (в Q4 закупок не запланировано)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204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531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27860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2 454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1 303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4 086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(807)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3 279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3 170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143C22B8-F547-4826-81BC-55F958EEDE9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1086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6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3C22B8-F547-4826-81BC-55F958EED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B3273D9-68C1-40FC-80A5-CB5F19D430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025F59-A55B-4047-B72D-C8F4BA72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7F061-B44F-4053-964C-EB1C5E55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Обзор основных метрик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B0163E-06FD-45F7-9923-854A23C30E26}"/>
              </a:ext>
            </a:extLst>
          </p:cNvPr>
          <p:cNvSpPr txBox="1"/>
          <p:nvPr/>
        </p:nvSpPr>
        <p:spPr>
          <a:xfrm>
            <a:off x="6393164" y="643938"/>
            <a:ext cx="5434661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Перевыполнение бюджетного таргета в 2026 г. на 4 785 млн руб. (факт 9М + прогноз), за счет: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Совместного с FT признания E-com выручки (3 430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E-com выручки сверх бюджета без учета FT (1 012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продаж non-Ecom инвентаря (344 млн руб.)</a:t>
            </a:r>
          </a:p>
        </p:txBody>
      </p: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F76425C9-AAFC-4031-9659-0CDEE587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505577"/>
              </p:ext>
            </p:extLst>
          </p:nvPr>
        </p:nvGraphicFramePr>
        <p:xfrm>
          <a:off x="364175" y="999459"/>
          <a:ext cx="5808025" cy="513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364175" y="643938"/>
            <a:ext cx="36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AdTech Revenue, 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млн руб.</a:t>
            </a:r>
          </a:p>
        </p:txBody>
      </p:sp>
      <p:sp>
        <p:nvSpPr>
          <p:cNvPr id="72" name="Bridge title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6300000" y="2600000"/>
            <a:ext cx="5434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Мост EBITDA: бюджет → прогноз 9+3, млн руб.</a:t>
            </a:r>
          </a:p>
        </p:txBody>
      </p:sp>
      <p:graphicFrame>
        <p:nvGraphicFramePr>
          <p:cNvPr id="73" name="EBITDA bridge"/>
          <p:cNvGraphicFramePr>
            <a:graphicFrameLocks noGrp="1"/>
          </p:cNvGraphicFramePr>
          <p:nvPr/>
        </p:nvGraphicFramePr>
        <p:xfrm>
          <a:off x="6393164" y="2970000"/>
          <a:ext cx="5434661" cy="32300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  <p:extLst>
      <p:ext uri="{BB962C8B-B14F-4D97-AF65-F5344CB8AC3E}">
        <p14:creationId xmlns:p14="http://schemas.microsoft.com/office/powerpoint/2010/main" val="33392121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3oyTH6ygzwe7.FrILIy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fHw9APP6ABOlMi.ZPWqg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Qo5Kv70NidHADFNoMXg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VAo7h0GIhqe_nHpYyOa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QU180O8wNCp5IDz3U9dw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K7AT08W2ea.9FBSh4Sj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yy9uATyVWXz0j1vd34HQ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1G1MlYpSwu.hEgmWH3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Jt8AZw4jythQmu0bbq7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dlfHpD0bOpp1NXZ4PUfg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3jazTBfHpkni9YIsFNw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K9JBRa0i7tYdO8gtXm5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5cFe6N7NWCJGZsPV_OxQ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74qig36EQpHm0HglIjj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0wdi2yVfWvklazBBSLjg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AFoCGkqwAjlPrDa5cGs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Kj2jC6mvwYbSM0aQ9XmQ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UV7hVykWMgjcd.4Zr.f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QUmGJOlhU.btC2ZlStr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RH8T4IjosfEKQP9EGDSQ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L.5uMW4y4e1qe.NNDzWQ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kCan5AXb92JFa.ckx5PQ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717g3P.8n7h5ZBqylhE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SV9xU104DyaRtYT8Xktg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gOuWHVGQqwEGvrN97WS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m6E7M08bST.FU9gFf77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TakoA602z3Awhuzz87XQ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CAub09J4QmchXgolvJV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BFTPUWdhcaddiZ.8tnT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3ISrcOcNhyYGaJCMpm2w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Ao6L.M5_0xHDmGbUQZyw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VFh9OPkZGifqMxpoXwew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fv2SWJ7anhJ_SRNBOqlQ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wKK0fBYHy0hg4wWhR4xg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nozPmW2X1N37uSt3HAv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ls9MBB4ZNpml6OBV4Mn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gMJRh1g45udQuQ06uRTQ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hWhapbfW7WL.PtSAU2ug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9B4n6QLZdhiKx4cs.yA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FKB3KgO1T5yXaNd7lpw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vTuLezUSMk0Pir7NLjr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NSfG3EZLACnBmOjg6EGA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PlwSDHAJM5hPdRFAUwcA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w3.RvIOI6cHCFv1uP0Q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.ZVuRdm_GXQynASbFu6A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Ix41fNxi2bZ._tWIFfLQ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naUlQjeHsUb.w1HPzDtA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I5kKY27DMeaIqSHxarc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BRixDObrkpC9Aht9iJxg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XERSv53YZO2lbApuLcEQ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j.qElN2RJFlV.yLP8R4A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zk6PaQDhQKq7yPQBc.8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szuTUhcDFsf3Ri.oyR5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g1twlpEoL5SKUCuS8W3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9jl1uJqJN7XUIw9AmjW7g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fLb.HjhzgHPBmmzH22b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vtugPe1eaVejlOOLmO7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ihGTha6CtidFt1hGI9Q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Fk1nrbdJKWAbD17qSRV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B5qLVrCS0l0Wa5IzOEE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6NwGuQjtaEm7v.wI6HkA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WboLU3omcXZ8Xf02G5g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9w8QJOp9FS7quszxQZvQ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rP4pELBvafEJ2uZe9Vtw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Gmw76my.eX2T44yDkdN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QnsJ5mGURUyiSRKV7pug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7jn8R.iL67j1k_w_pbkA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bBbq86Vk1azQbrXa24aw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dbvuMcgKcjFIN_2w8mAw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1J.oSAhKNfjDT0xRQEK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DBdHdZwDSJ_rSddn54F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7kCU14LQNCj3ZI805_o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tJVgQ7t8Xp07RGOAAlx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piq1i76COMP20MMP4Scw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ELrrLUVk6eMmk2DrxldQ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agMklw2ze3Y4l1_yyByA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IOYQLYNde8WvPJvWz8gA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raoeQAz5btpi7L3a8xF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QQ1tNsMRFG3VA5SeDfg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8yCbGiDE_4ZCYbs2jS_g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3r_GZEvgxQH8Lv8K9fd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vm9FjHb4Ms5sq8IB4r_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PDnQ36h1EiCZ1lWtwI4g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1966</TotalTime>
  <Words>11773</Words>
  <Application>Microsoft Macintosh PowerPoint</Application>
  <PresentationFormat>Widescreen</PresentationFormat>
  <Paragraphs>2537</Paragraphs>
  <Slides>57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37</cp:revision>
  <dcterms:created xsi:type="dcterms:W3CDTF">2026-10-05T11:53:56Z</dcterms:created>
  <dcterms:modified xsi:type="dcterms:W3CDTF">2026-10-16T18:05:05Z</dcterms:modified>
  <cp:category/>
</cp:coreProperties>
</file>